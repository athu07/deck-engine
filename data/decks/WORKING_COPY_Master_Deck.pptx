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sldIdLst>
    <p:sldId id="2147483328" r:id="rId2"/>
    <p:sldId id="2147483329" r:id="rId3"/>
    <p:sldId id="2147483452" r:id="rId4"/>
    <p:sldId id="2147483451" r:id="rId5"/>
    <p:sldId id="2147483330" r:id="rId6"/>
    <p:sldId id="2147483433" r:id="rId7"/>
    <p:sldId id="2147483434" r:id="rId8"/>
    <p:sldId id="2147483327" r:id="rId9"/>
    <p:sldId id="2147483331" r:id="rId10"/>
    <p:sldId id="320" r:id="rId11"/>
    <p:sldId id="260" r:id="rId12"/>
    <p:sldId id="2147483426" r:id="rId13"/>
    <p:sldId id="2147483332" r:id="rId14"/>
    <p:sldId id="2147483323" r:id="rId15"/>
    <p:sldId id="2147483416" r:id="rId16"/>
    <p:sldId id="2147483418" r:id="rId17"/>
    <p:sldId id="2147483449" r:id="rId18"/>
    <p:sldId id="2147483448" r:id="rId19"/>
    <p:sldId id="2147483447" r:id="rId20"/>
    <p:sldId id="2147483320" r:id="rId21"/>
    <p:sldId id="272" r:id="rId22"/>
    <p:sldId id="2147483343" r:id="rId23"/>
    <p:sldId id="2147483446" r:id="rId24"/>
    <p:sldId id="317" r:id="rId25"/>
    <p:sldId id="2147483344" r:id="rId26"/>
    <p:sldId id="268" r:id="rId27"/>
    <p:sldId id="2147483427" r:id="rId28"/>
    <p:sldId id="2147483428" r:id="rId29"/>
    <p:sldId id="2147483429" r:id="rId30"/>
    <p:sldId id="273" r:id="rId31"/>
    <p:sldId id="2147483423" r:id="rId32"/>
    <p:sldId id="2147483430" r:id="rId33"/>
    <p:sldId id="2147483431" r:id="rId34"/>
    <p:sldId id="2147483432" r:id="rId35"/>
    <p:sldId id="2147483444" r:id="rId36"/>
    <p:sldId id="2147483305" r:id="rId37"/>
    <p:sldId id="266" r:id="rId38"/>
    <p:sldId id="299" r:id="rId39"/>
    <p:sldId id="2147483445" r:id="rId40"/>
    <p:sldId id="328" r:id="rId41"/>
    <p:sldId id="2147483456" r:id="rId42"/>
    <p:sldId id="256" r:id="rId43"/>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A9D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07B231-5917-4D27-9560-84CF15DF6D5F}" v="2" dt="2026-07-21T09:03:22.0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63" d="100"/>
          <a:sy n="63" d="100"/>
        </p:scale>
        <p:origin x="61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thithia Krishna" userId="8971351e-3361-4746-ac7a-8958c8a01642" providerId="ADAL" clId="{539FE816-794F-49A8-93C3-F6B81266B4DF}"/>
    <pc:docChg chg="custSel addSld modSld">
      <pc:chgData name="Athithia Krishna" userId="8971351e-3361-4746-ac7a-8958c8a01642" providerId="ADAL" clId="{539FE816-794F-49A8-93C3-F6B81266B4DF}" dt="2026-07-21T09:03:22.047" v="13"/>
      <pc:docMkLst>
        <pc:docMk/>
      </pc:docMkLst>
      <pc:sldChg chg="add">
        <pc:chgData name="Athithia Krishna" userId="8971351e-3361-4746-ac7a-8958c8a01642" providerId="ADAL" clId="{539FE816-794F-49A8-93C3-F6B81266B4DF}" dt="2026-07-21T09:03:22.047" v="13"/>
        <pc:sldMkLst>
          <pc:docMk/>
          <pc:sldMk cId="0" sldId="256"/>
        </pc:sldMkLst>
      </pc:sldChg>
      <pc:sldChg chg="addSp delSp mod">
        <pc:chgData name="Athithia Krishna" userId="8971351e-3361-4746-ac7a-8958c8a01642" providerId="ADAL" clId="{539FE816-794F-49A8-93C3-F6B81266B4DF}" dt="2026-07-21T09:01:13.928" v="2" actId="478"/>
        <pc:sldMkLst>
          <pc:docMk/>
          <pc:sldMk cId="0" sldId="2147483328"/>
        </pc:sldMkLst>
        <pc:spChg chg="add">
          <ac:chgData name="Athithia Krishna" userId="8971351e-3361-4746-ac7a-8958c8a01642" providerId="ADAL" clId="{539FE816-794F-49A8-93C3-F6B81266B4DF}" dt="2026-07-21T09:01:10.649" v="1" actId="22"/>
          <ac:spMkLst>
            <pc:docMk/>
            <pc:sldMk cId="0" sldId="2147483328"/>
            <ac:spMk id="42" creationId="{D5B95804-3138-A790-74EB-85C230F2A5AB}"/>
          </ac:spMkLst>
        </pc:spChg>
        <pc:picChg chg="del">
          <ac:chgData name="Athithia Krishna" userId="8971351e-3361-4746-ac7a-8958c8a01642" providerId="ADAL" clId="{539FE816-794F-49A8-93C3-F6B81266B4DF}" dt="2026-07-21T09:01:09.718" v="0" actId="478"/>
          <ac:picMkLst>
            <pc:docMk/>
            <pc:sldMk cId="0" sldId="2147483328"/>
            <ac:picMk id="10" creationId="{00000000-0000-0000-0000-000000000000}"/>
          </ac:picMkLst>
        </pc:picChg>
        <pc:picChg chg="add">
          <ac:chgData name="Athithia Krishna" userId="8971351e-3361-4746-ac7a-8958c8a01642" providerId="ADAL" clId="{539FE816-794F-49A8-93C3-F6B81266B4DF}" dt="2026-07-21T09:01:10.649" v="1" actId="22"/>
          <ac:picMkLst>
            <pc:docMk/>
            <pc:sldMk cId="0" sldId="2147483328"/>
            <ac:picMk id="40" creationId="{AD729F10-2A32-258E-5636-C84113F55214}"/>
          </ac:picMkLst>
        </pc:picChg>
        <pc:picChg chg="add del">
          <ac:chgData name="Athithia Krishna" userId="8971351e-3361-4746-ac7a-8958c8a01642" providerId="ADAL" clId="{539FE816-794F-49A8-93C3-F6B81266B4DF}" dt="2026-07-21T09:01:13.928" v="2" actId="478"/>
          <ac:picMkLst>
            <pc:docMk/>
            <pc:sldMk cId="0" sldId="2147483328"/>
            <ac:picMk id="44" creationId="{3575D419-04C4-CA79-A9FA-51D32A732C83}"/>
          </ac:picMkLst>
        </pc:picChg>
      </pc:sldChg>
      <pc:sldChg chg="addSp delSp mod">
        <pc:chgData name="Athithia Krishna" userId="8971351e-3361-4746-ac7a-8958c8a01642" providerId="ADAL" clId="{539FE816-794F-49A8-93C3-F6B81266B4DF}" dt="2026-07-21T09:01:36.998" v="4" actId="22"/>
        <pc:sldMkLst>
          <pc:docMk/>
          <pc:sldMk cId="0" sldId="2147483329"/>
        </pc:sldMkLst>
        <pc:spChg chg="add">
          <ac:chgData name="Athithia Krishna" userId="8971351e-3361-4746-ac7a-8958c8a01642" providerId="ADAL" clId="{539FE816-794F-49A8-93C3-F6B81266B4DF}" dt="2026-07-21T09:01:36.998" v="4" actId="22"/>
          <ac:spMkLst>
            <pc:docMk/>
            <pc:sldMk cId="0" sldId="2147483329"/>
            <ac:spMk id="3" creationId="{6251CF81-51BC-B20D-5405-1576566CB6D1}"/>
          </ac:spMkLst>
        </pc:spChg>
        <pc:spChg chg="del">
          <ac:chgData name="Athithia Krishna" userId="8971351e-3361-4746-ac7a-8958c8a01642" providerId="ADAL" clId="{539FE816-794F-49A8-93C3-F6B81266B4DF}" dt="2026-07-21T09:01:35.831" v="3" actId="478"/>
          <ac:spMkLst>
            <pc:docMk/>
            <pc:sldMk cId="0" sldId="2147483329"/>
            <ac:spMk id="11" creationId="{00000000-0000-0000-0000-000000000000}"/>
          </ac:spMkLst>
        </pc:spChg>
        <pc:spChg chg="del">
          <ac:chgData name="Athithia Krishna" userId="8971351e-3361-4746-ac7a-8958c8a01642" providerId="ADAL" clId="{539FE816-794F-49A8-93C3-F6B81266B4DF}" dt="2026-07-21T09:01:35.831" v="3" actId="478"/>
          <ac:spMkLst>
            <pc:docMk/>
            <pc:sldMk cId="0" sldId="2147483329"/>
            <ac:spMk id="12" creationId="{00000000-0000-0000-0000-000000000000}"/>
          </ac:spMkLst>
        </pc:spChg>
        <pc:spChg chg="del">
          <ac:chgData name="Athithia Krishna" userId="8971351e-3361-4746-ac7a-8958c8a01642" providerId="ADAL" clId="{539FE816-794F-49A8-93C3-F6B81266B4DF}" dt="2026-07-21T09:01:35.831" v="3" actId="478"/>
          <ac:spMkLst>
            <pc:docMk/>
            <pc:sldMk cId="0" sldId="2147483329"/>
            <ac:spMk id="13" creationId="{00000000-0000-0000-0000-000000000000}"/>
          </ac:spMkLst>
        </pc:spChg>
        <pc:spChg chg="del">
          <ac:chgData name="Athithia Krishna" userId="8971351e-3361-4746-ac7a-8958c8a01642" providerId="ADAL" clId="{539FE816-794F-49A8-93C3-F6B81266B4DF}" dt="2026-07-21T09:01:35.831" v="3" actId="478"/>
          <ac:spMkLst>
            <pc:docMk/>
            <pc:sldMk cId="0" sldId="2147483329"/>
            <ac:spMk id="22" creationId="{00000000-0000-0000-0000-000000000000}"/>
          </ac:spMkLst>
        </pc:spChg>
        <pc:spChg chg="del">
          <ac:chgData name="Athithia Krishna" userId="8971351e-3361-4746-ac7a-8958c8a01642" providerId="ADAL" clId="{539FE816-794F-49A8-93C3-F6B81266B4DF}" dt="2026-07-21T09:01:35.831" v="3" actId="478"/>
          <ac:spMkLst>
            <pc:docMk/>
            <pc:sldMk cId="0" sldId="2147483329"/>
            <ac:spMk id="23" creationId="{00000000-0000-0000-0000-000000000000}"/>
          </ac:spMkLst>
        </pc:spChg>
        <pc:spChg chg="del">
          <ac:chgData name="Athithia Krishna" userId="8971351e-3361-4746-ac7a-8958c8a01642" providerId="ADAL" clId="{539FE816-794F-49A8-93C3-F6B81266B4DF}" dt="2026-07-21T09:01:35.831" v="3" actId="478"/>
          <ac:spMkLst>
            <pc:docMk/>
            <pc:sldMk cId="0" sldId="2147483329"/>
            <ac:spMk id="25" creationId="{00000000-0000-0000-0000-000000000000}"/>
          </ac:spMkLst>
        </pc:spChg>
        <pc:spChg chg="del">
          <ac:chgData name="Athithia Krishna" userId="8971351e-3361-4746-ac7a-8958c8a01642" providerId="ADAL" clId="{539FE816-794F-49A8-93C3-F6B81266B4DF}" dt="2026-07-21T09:01:35.831" v="3" actId="478"/>
          <ac:spMkLst>
            <pc:docMk/>
            <pc:sldMk cId="0" sldId="2147483329"/>
            <ac:spMk id="26" creationId="{00000000-0000-0000-0000-000000000000}"/>
          </ac:spMkLst>
        </pc:spChg>
        <pc:spChg chg="del">
          <ac:chgData name="Athithia Krishna" userId="8971351e-3361-4746-ac7a-8958c8a01642" providerId="ADAL" clId="{539FE816-794F-49A8-93C3-F6B81266B4DF}" dt="2026-07-21T09:01:35.831" v="3" actId="478"/>
          <ac:spMkLst>
            <pc:docMk/>
            <pc:sldMk cId="0" sldId="2147483329"/>
            <ac:spMk id="28" creationId="{00000000-0000-0000-0000-000000000000}"/>
          </ac:spMkLst>
        </pc:spChg>
        <pc:spChg chg="del">
          <ac:chgData name="Athithia Krishna" userId="8971351e-3361-4746-ac7a-8958c8a01642" providerId="ADAL" clId="{539FE816-794F-49A8-93C3-F6B81266B4DF}" dt="2026-07-21T09:01:35.831" v="3" actId="478"/>
          <ac:spMkLst>
            <pc:docMk/>
            <pc:sldMk cId="0" sldId="2147483329"/>
            <ac:spMk id="29" creationId="{00000000-0000-0000-0000-000000000000}"/>
          </ac:spMkLst>
        </pc:spChg>
        <pc:spChg chg="add">
          <ac:chgData name="Athithia Krishna" userId="8971351e-3361-4746-ac7a-8958c8a01642" providerId="ADAL" clId="{539FE816-794F-49A8-93C3-F6B81266B4DF}" dt="2026-07-21T09:01:36.998" v="4" actId="22"/>
          <ac:spMkLst>
            <pc:docMk/>
            <pc:sldMk cId="0" sldId="2147483329"/>
            <ac:spMk id="40" creationId="{334F1DA2-2E2A-07EB-F9C9-E437459F6A4A}"/>
          </ac:spMkLst>
        </pc:spChg>
        <pc:spChg chg="add">
          <ac:chgData name="Athithia Krishna" userId="8971351e-3361-4746-ac7a-8958c8a01642" providerId="ADAL" clId="{539FE816-794F-49A8-93C3-F6B81266B4DF}" dt="2026-07-21T09:01:36.998" v="4" actId="22"/>
          <ac:spMkLst>
            <pc:docMk/>
            <pc:sldMk cId="0" sldId="2147483329"/>
            <ac:spMk id="44" creationId="{5CA2CEF8-0E01-5FD7-103D-44B8E7CF3DB0}"/>
          </ac:spMkLst>
        </pc:spChg>
        <pc:spChg chg="add">
          <ac:chgData name="Athithia Krishna" userId="8971351e-3361-4746-ac7a-8958c8a01642" providerId="ADAL" clId="{539FE816-794F-49A8-93C3-F6B81266B4DF}" dt="2026-07-21T09:01:36.998" v="4" actId="22"/>
          <ac:spMkLst>
            <pc:docMk/>
            <pc:sldMk cId="0" sldId="2147483329"/>
            <ac:spMk id="46" creationId="{29CC2507-6071-700F-886B-CD7E47AD2547}"/>
          </ac:spMkLst>
        </pc:spChg>
        <pc:spChg chg="add">
          <ac:chgData name="Athithia Krishna" userId="8971351e-3361-4746-ac7a-8958c8a01642" providerId="ADAL" clId="{539FE816-794F-49A8-93C3-F6B81266B4DF}" dt="2026-07-21T09:01:36.998" v="4" actId="22"/>
          <ac:spMkLst>
            <pc:docMk/>
            <pc:sldMk cId="0" sldId="2147483329"/>
            <ac:spMk id="50" creationId="{73CBA601-76A7-6547-F4B1-DB909E3F8DF2}"/>
          </ac:spMkLst>
        </pc:spChg>
        <pc:spChg chg="add">
          <ac:chgData name="Athithia Krishna" userId="8971351e-3361-4746-ac7a-8958c8a01642" providerId="ADAL" clId="{539FE816-794F-49A8-93C3-F6B81266B4DF}" dt="2026-07-21T09:01:36.998" v="4" actId="22"/>
          <ac:spMkLst>
            <pc:docMk/>
            <pc:sldMk cId="0" sldId="2147483329"/>
            <ac:spMk id="52" creationId="{C3BCB01F-1E20-C8A3-302E-6DF6DE56C557}"/>
          </ac:spMkLst>
        </pc:spChg>
        <pc:picChg chg="del">
          <ac:chgData name="Athithia Krishna" userId="8971351e-3361-4746-ac7a-8958c8a01642" providerId="ADAL" clId="{539FE816-794F-49A8-93C3-F6B81266B4DF}" dt="2026-07-21T09:01:35.831" v="3" actId="478"/>
          <ac:picMkLst>
            <pc:docMk/>
            <pc:sldMk cId="0" sldId="2147483329"/>
            <ac:picMk id="21" creationId="{00000000-0000-0000-0000-000000000000}"/>
          </ac:picMkLst>
        </pc:picChg>
        <pc:picChg chg="add">
          <ac:chgData name="Athithia Krishna" userId="8971351e-3361-4746-ac7a-8958c8a01642" providerId="ADAL" clId="{539FE816-794F-49A8-93C3-F6B81266B4DF}" dt="2026-07-21T09:01:36.998" v="4" actId="22"/>
          <ac:picMkLst>
            <pc:docMk/>
            <pc:sldMk cId="0" sldId="2147483329"/>
            <ac:picMk id="42" creationId="{37ADDEB3-4F89-7DC2-83AE-784EB7520B5C}"/>
          </ac:picMkLst>
        </pc:picChg>
        <pc:picChg chg="add">
          <ac:chgData name="Athithia Krishna" userId="8971351e-3361-4746-ac7a-8958c8a01642" providerId="ADAL" clId="{539FE816-794F-49A8-93C3-F6B81266B4DF}" dt="2026-07-21T09:01:36.998" v="4" actId="22"/>
          <ac:picMkLst>
            <pc:docMk/>
            <pc:sldMk cId="0" sldId="2147483329"/>
            <ac:picMk id="48" creationId="{418D492C-990A-6F23-C9AB-EF1157960D2B}"/>
          </ac:picMkLst>
        </pc:picChg>
      </pc:sldChg>
      <pc:sldChg chg="delSp modSp mod">
        <pc:chgData name="Athithia Krishna" userId="8971351e-3361-4746-ac7a-8958c8a01642" providerId="ADAL" clId="{539FE816-794F-49A8-93C3-F6B81266B4DF}" dt="2026-07-21T09:02:23.508" v="11" actId="1036"/>
        <pc:sldMkLst>
          <pc:docMk/>
          <pc:sldMk cId="3821239965" sldId="2147483331"/>
        </pc:sldMkLst>
        <pc:spChg chg="del">
          <ac:chgData name="Athithia Krishna" userId="8971351e-3361-4746-ac7a-8958c8a01642" providerId="ADAL" clId="{539FE816-794F-49A8-93C3-F6B81266B4DF}" dt="2026-07-21T09:02:03.195" v="5" actId="478"/>
          <ac:spMkLst>
            <pc:docMk/>
            <pc:sldMk cId="3821239965" sldId="2147483331"/>
            <ac:spMk id="43" creationId="{00000000-0000-0000-0000-000000000000}"/>
          </ac:spMkLst>
        </pc:spChg>
        <pc:spChg chg="mod">
          <ac:chgData name="Athithia Krishna" userId="8971351e-3361-4746-ac7a-8958c8a01642" providerId="ADAL" clId="{539FE816-794F-49A8-93C3-F6B81266B4DF}" dt="2026-07-21T09:02:23.508" v="11" actId="1036"/>
          <ac:spMkLst>
            <pc:docMk/>
            <pc:sldMk cId="3821239965" sldId="2147483331"/>
            <ac:spMk id="44" creationId="{00000000-0000-0000-0000-000000000000}"/>
          </ac:spMkLst>
        </pc:spChg>
      </pc:sldChg>
      <pc:sldChg chg="add">
        <pc:chgData name="Athithia Krishna" userId="8971351e-3361-4746-ac7a-8958c8a01642" providerId="ADAL" clId="{539FE816-794F-49A8-93C3-F6B81266B4DF}" dt="2026-07-21T09:02:50.232" v="12"/>
        <pc:sldMkLst>
          <pc:docMk/>
          <pc:sldMk cId="0" sldId="21474834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FAE9F7-9452-4374-B978-FE6603E0B5F3}" type="datetimeFigureOut">
              <a:t>7/21/2026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0FB33C-7C9E-4B02-AA78-CF059E19D148}" type="slidenum">
              <a:t>‹#›</a:t>
            </a:fld>
            <a:endParaRPr lang="en-GB"/>
          </a:p>
        </p:txBody>
      </p:sp>
    </p:spTree>
    <p:extLst>
      <p:ext uri="{BB962C8B-B14F-4D97-AF65-F5344CB8AC3E}">
        <p14:creationId xmlns:p14="http://schemas.microsoft.com/office/powerpoint/2010/main" val="3642643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J2W_ID: CS01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CS02B</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CS137</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CS61</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3759F-D684-2B53-71A3-1873919979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B25E1F-F7FC-A264-368E-2EA22A4D6B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B15D19-27F9-D83D-845C-8CB0D0D3F639}"/>
              </a:ext>
            </a:extLst>
          </p:cNvPr>
          <p:cNvSpPr>
            <a:spLocks noGrp="1"/>
          </p:cNvSpPr>
          <p:nvPr>
            <p:ph type="body" idx="1"/>
          </p:nvPr>
        </p:nvSpPr>
        <p:spPr/>
        <p:txBody>
          <a:bodyPr/>
          <a:lstStyle/>
          <a:p>
            <a:r>
              <a:t>J2W_ID: CS62</a:t>
            </a:r>
          </a:p>
        </p:txBody>
      </p:sp>
      <p:sp>
        <p:nvSpPr>
          <p:cNvPr id="4" name="Slide Number Placeholder 3">
            <a:extLst>
              <a:ext uri="{FF2B5EF4-FFF2-40B4-BE49-F238E27FC236}">
                <a16:creationId xmlns:a16="http://schemas.microsoft.com/office/drawing/2014/main" id="{7AC283EC-4EEC-FDF0-9715-A2D0D76EEB5D}"/>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1397087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CS04</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CS06</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571011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J2W_ID: CS138</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CS139</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9790505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39C72-50B3-E3AF-D46A-682D935D8A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30CD18-B2E7-2213-3ADC-CC79A8BDC6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C5F7EF-8EE2-A756-31A6-FE6C1D6C1B5D}"/>
              </a:ext>
            </a:extLst>
          </p:cNvPr>
          <p:cNvSpPr>
            <a:spLocks noGrp="1"/>
          </p:cNvSpPr>
          <p:nvPr>
            <p:ph type="body" idx="1"/>
          </p:nvPr>
        </p:nvSpPr>
        <p:spPr/>
        <p:txBody>
          <a:bodyPr/>
          <a:lstStyle/>
          <a:p>
            <a:r>
              <a:t>J2W_ID: CS09</a:t>
            </a:r>
          </a:p>
        </p:txBody>
      </p:sp>
      <p:sp>
        <p:nvSpPr>
          <p:cNvPr id="4" name="Slide Number Placeholder 3">
            <a:extLst>
              <a:ext uri="{FF2B5EF4-FFF2-40B4-BE49-F238E27FC236}">
                <a16:creationId xmlns:a16="http://schemas.microsoft.com/office/drawing/2014/main" id="{0488B3FC-01B1-6FC7-0489-6B130E9F03D2}"/>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3465072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CS05</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293538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CS10</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CS11</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CS12</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D86C0-AD46-EC4B-79D9-AEE72304EE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C7AAD1-CA6D-9293-72A0-309B906687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A076AA-23DD-F8A5-C2E5-3CCEF96F760C}"/>
              </a:ext>
            </a:extLst>
          </p:cNvPr>
          <p:cNvSpPr>
            <a:spLocks noGrp="1"/>
          </p:cNvSpPr>
          <p:nvPr>
            <p:ph type="body" idx="1"/>
          </p:nvPr>
        </p:nvSpPr>
        <p:spPr/>
        <p:txBody>
          <a:bodyPr/>
          <a:lstStyle/>
          <a:p>
            <a:r>
              <a:t>J2W_ID: CS63</a:t>
            </a:r>
          </a:p>
        </p:txBody>
      </p:sp>
      <p:sp>
        <p:nvSpPr>
          <p:cNvPr id="4" name="Slide Number Placeholder 3">
            <a:extLst>
              <a:ext uri="{FF2B5EF4-FFF2-40B4-BE49-F238E27FC236}">
                <a16:creationId xmlns:a16="http://schemas.microsoft.com/office/drawing/2014/main" id="{4972F1CE-2E64-05CF-A3EB-E46AE3C40096}"/>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4188883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083C3-033A-38F9-9ED1-6CB54ABF16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D686B-41F6-7B9E-FE96-E5605D31A8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610103-2C13-4357-EBA2-746614E6B1E3}"/>
              </a:ext>
            </a:extLst>
          </p:cNvPr>
          <p:cNvSpPr>
            <a:spLocks noGrp="1"/>
          </p:cNvSpPr>
          <p:nvPr>
            <p:ph type="body" idx="1"/>
          </p:nvPr>
        </p:nvSpPr>
        <p:spPr/>
        <p:txBody>
          <a:bodyPr/>
          <a:lstStyle/>
          <a:p>
            <a:r>
              <a:t>J2W_ID: CS65</a:t>
            </a:r>
          </a:p>
        </p:txBody>
      </p:sp>
      <p:sp>
        <p:nvSpPr>
          <p:cNvPr id="4" name="Slide Number Placeholder 3">
            <a:extLst>
              <a:ext uri="{FF2B5EF4-FFF2-40B4-BE49-F238E27FC236}">
                <a16:creationId xmlns:a16="http://schemas.microsoft.com/office/drawing/2014/main" id="{5A60070C-B650-0ADD-4F79-E128A4AEFC6C}"/>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8007673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EAC2A-AFE3-3AD3-EA69-EDF5A23455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481DAE-A0BC-5424-8E02-2248C3631C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B070DB-DE8B-5ECB-28C7-E87B7CB5B654}"/>
              </a:ext>
            </a:extLst>
          </p:cNvPr>
          <p:cNvSpPr>
            <a:spLocks noGrp="1"/>
          </p:cNvSpPr>
          <p:nvPr>
            <p:ph type="body" idx="1"/>
          </p:nvPr>
        </p:nvSpPr>
        <p:spPr/>
        <p:txBody>
          <a:bodyPr/>
          <a:lstStyle/>
          <a:p>
            <a:r>
              <a:t>J2W_ID: CS66</a:t>
            </a:r>
          </a:p>
        </p:txBody>
      </p:sp>
      <p:sp>
        <p:nvSpPr>
          <p:cNvPr id="4" name="Slide Number Placeholder 3">
            <a:extLst>
              <a:ext uri="{FF2B5EF4-FFF2-40B4-BE49-F238E27FC236}">
                <a16:creationId xmlns:a16="http://schemas.microsoft.com/office/drawing/2014/main" id="{419901B6-9345-5574-0EEA-A330B26F180B}"/>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6837762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CS13</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1735871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CS140</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022365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CS141</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CS142</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J2W_ID: CS143</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CS144</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CS145</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391190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CS14</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35169020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CS15</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CS16</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CS146</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350226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CS68</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24140004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82EEA-3085-13E8-584F-9DB1BB1C51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BD695A-8813-98FA-0375-DA314DBB60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137F7E-9DAC-DD80-84EA-6F843A2F33FD}"/>
              </a:ext>
            </a:extLst>
          </p:cNvPr>
          <p:cNvSpPr>
            <a:spLocks noGrp="1"/>
          </p:cNvSpPr>
          <p:nvPr>
            <p:ph type="body" idx="1"/>
          </p:nvPr>
        </p:nvSpPr>
        <p:spPr/>
        <p:txBody>
          <a:bodyPr/>
          <a:lstStyle/>
          <a:p>
            <a:r>
              <a:t>J2W_ID: CS17</a:t>
            </a:r>
          </a:p>
        </p:txBody>
      </p:sp>
      <p:sp>
        <p:nvSpPr>
          <p:cNvPr id="4" name="Slide Number Placeholder 3">
            <a:extLst>
              <a:ext uri="{FF2B5EF4-FFF2-40B4-BE49-F238E27FC236}">
                <a16:creationId xmlns:a16="http://schemas.microsoft.com/office/drawing/2014/main" id="{880812CB-0C05-4306-1A51-5CD003DFFE60}"/>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4354771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CS18</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37733899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CS19</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229009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CS147</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CS07</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CS148</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7435162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CS08</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6955186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CS149</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21/07/2026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21/07/2026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21/07/2026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21/07/2026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21/07/2026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21/07/2026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21/07/2026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21/07/2026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21/07/2026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21/07/2026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21/07/2026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42138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7912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21/07/2026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jpeg"/><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jpe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3.png"/><Relationship Id="rId7"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18" Type="http://schemas.openxmlformats.org/officeDocument/2006/relationships/image" Target="../media/image44.pn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png"/><Relationship Id="rId17" Type="http://schemas.openxmlformats.org/officeDocument/2006/relationships/image" Target="../media/image43.png"/><Relationship Id="rId2" Type="http://schemas.openxmlformats.org/officeDocument/2006/relationships/notesSlide" Target="../notesSlides/notesSlide4.xml"/><Relationship Id="rId16" Type="http://schemas.openxmlformats.org/officeDocument/2006/relationships/image" Target="../media/image42.png"/><Relationship Id="rId20" Type="http://schemas.openxmlformats.org/officeDocument/2006/relationships/image" Target="../media/image46.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5" Type="http://schemas.openxmlformats.org/officeDocument/2006/relationships/image" Target="../media/image41.png"/><Relationship Id="rId10" Type="http://schemas.openxmlformats.org/officeDocument/2006/relationships/image" Target="../media/image36.png"/><Relationship Id="rId19" Type="http://schemas.openxmlformats.org/officeDocument/2006/relationships/image" Target="../media/image45.png"/><Relationship Id="rId4" Type="http://schemas.openxmlformats.org/officeDocument/2006/relationships/image" Target="../media/image30.png"/><Relationship Id="rId9" Type="http://schemas.openxmlformats.org/officeDocument/2006/relationships/image" Target="../media/image35.png"/><Relationship Id="rId14" Type="http://schemas.openxmlformats.org/officeDocument/2006/relationships/image" Target="../media/image40.png"/></Relationships>
</file>

<file path=ppt/slides/_rels/slide5.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jpe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50.png"/><Relationship Id="rId5" Type="http://schemas.openxmlformats.org/officeDocument/2006/relationships/image" Target="../media/image49.jpeg"/><Relationship Id="rId4" Type="http://schemas.openxmlformats.org/officeDocument/2006/relationships/image" Target="../media/image48.png"/><Relationship Id="rId9" Type="http://schemas.openxmlformats.org/officeDocument/2006/relationships/image" Target="../media/image53.png"/></Relationships>
</file>

<file path=ppt/slides/_rels/slide6.xml.rels><?xml version="1.0" encoding="UTF-8" standalone="yes"?>
<Relationships xmlns="http://schemas.openxmlformats.org/package/2006/relationships"><Relationship Id="rId8" Type="http://schemas.openxmlformats.org/officeDocument/2006/relationships/image" Target="../media/image56.jpeg"/><Relationship Id="rId3" Type="http://schemas.openxmlformats.org/officeDocument/2006/relationships/image" Target="../media/image54.png"/><Relationship Id="rId7" Type="http://schemas.openxmlformats.org/officeDocument/2006/relationships/image" Target="../media/image55.jpe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49.jpeg"/><Relationship Id="rId5" Type="http://schemas.openxmlformats.org/officeDocument/2006/relationships/image" Target="../media/image51.jpeg"/><Relationship Id="rId4" Type="http://schemas.openxmlformats.org/officeDocument/2006/relationships/image" Target="../media/image26.png"/><Relationship Id="rId9" Type="http://schemas.openxmlformats.org/officeDocument/2006/relationships/image" Target="../media/image57.jpeg"/></Relationships>
</file>

<file path=ppt/slides/_rels/slide7.xml.rels><?xml version="1.0" encoding="UTF-8" standalone="yes"?>
<Relationships xmlns="http://schemas.openxmlformats.org/package/2006/relationships"><Relationship Id="rId8" Type="http://schemas.openxmlformats.org/officeDocument/2006/relationships/image" Target="../media/image56.jpeg"/><Relationship Id="rId3" Type="http://schemas.openxmlformats.org/officeDocument/2006/relationships/image" Target="../media/image54.png"/><Relationship Id="rId7" Type="http://schemas.openxmlformats.org/officeDocument/2006/relationships/image" Target="../media/image55.jpe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49.jpeg"/><Relationship Id="rId5" Type="http://schemas.openxmlformats.org/officeDocument/2006/relationships/image" Target="../media/image51.jpeg"/><Relationship Id="rId10" Type="http://schemas.openxmlformats.org/officeDocument/2006/relationships/image" Target="../media/image59.jpeg"/><Relationship Id="rId4" Type="http://schemas.openxmlformats.org/officeDocument/2006/relationships/image" Target="../media/image26.png"/><Relationship Id="rId9" Type="http://schemas.openxmlformats.org/officeDocument/2006/relationships/image" Target="../media/image58.jpeg"/></Relationships>
</file>

<file path=ppt/slides/_rels/slide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9.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23.png"/><Relationship Id="rId7" Type="http://schemas.openxmlformats.org/officeDocument/2006/relationships/image" Target="../media/image64.png"/><Relationship Id="rId12" Type="http://schemas.openxmlformats.org/officeDocument/2006/relationships/image" Target="../media/image69.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26.png"/><Relationship Id="rId11" Type="http://schemas.openxmlformats.org/officeDocument/2006/relationships/image" Target="../media/image68.png"/><Relationship Id="rId5" Type="http://schemas.openxmlformats.org/officeDocument/2006/relationships/image" Target="../media/image25.png"/><Relationship Id="rId10" Type="http://schemas.openxmlformats.org/officeDocument/2006/relationships/image" Target="../media/image67.png"/><Relationship Id="rId4" Type="http://schemas.openxmlformats.org/officeDocument/2006/relationships/image" Target="../media/image24.png"/><Relationship Id="rId9" Type="http://schemas.openxmlformats.org/officeDocument/2006/relationships/image" Target="../media/image66.png"/></Relationships>
</file>

<file path=ppt/slides/_rels/slide10.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73.png"/><Relationship Id="rId5" Type="http://schemas.openxmlformats.org/officeDocument/2006/relationships/image" Target="../media/image72.png"/><Relationship Id="rId10" Type="http://schemas.openxmlformats.org/officeDocument/2006/relationships/image" Target="../media/image77.png"/><Relationship Id="rId4" Type="http://schemas.openxmlformats.org/officeDocument/2006/relationships/image" Target="../media/image71.png"/><Relationship Id="rId9" Type="http://schemas.openxmlformats.org/officeDocument/2006/relationships/image" Target="../media/image76.jpeg"/></Relationships>
</file>

<file path=ppt/slides/_rels/slide11.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30.png"/><Relationship Id="rId7" Type="http://schemas.openxmlformats.org/officeDocument/2006/relationships/image" Target="../media/image80.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79.png"/><Relationship Id="rId5" Type="http://schemas.openxmlformats.org/officeDocument/2006/relationships/image" Target="../media/image78.png"/><Relationship Id="rId10" Type="http://schemas.openxmlformats.org/officeDocument/2006/relationships/image" Target="../media/image83.png"/><Relationship Id="rId4" Type="http://schemas.openxmlformats.org/officeDocument/2006/relationships/image" Target="../media/image31.png"/><Relationship Id="rId9" Type="http://schemas.openxmlformats.org/officeDocument/2006/relationships/image" Target="../media/image82.png"/></Relationships>
</file>

<file path=ppt/slides/_rels/slide12.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2.png"/><Relationship Id="rId3" Type="http://schemas.openxmlformats.org/officeDocument/2006/relationships/image" Target="../media/image84.png"/><Relationship Id="rId7" Type="http://schemas.openxmlformats.org/officeDocument/2006/relationships/image" Target="../media/image86.png"/><Relationship Id="rId12" Type="http://schemas.openxmlformats.org/officeDocument/2006/relationships/image" Target="../media/image91.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85.png"/><Relationship Id="rId11" Type="http://schemas.openxmlformats.org/officeDocument/2006/relationships/image" Target="../media/image90.png"/><Relationship Id="rId5" Type="http://schemas.openxmlformats.org/officeDocument/2006/relationships/image" Target="../media/image25.png"/><Relationship Id="rId10" Type="http://schemas.openxmlformats.org/officeDocument/2006/relationships/image" Target="../media/image89.png"/><Relationship Id="rId4" Type="http://schemas.openxmlformats.org/officeDocument/2006/relationships/image" Target="../media/image24.png"/><Relationship Id="rId9" Type="http://schemas.openxmlformats.org/officeDocument/2006/relationships/image" Target="../media/image88.png"/><Relationship Id="rId14" Type="http://schemas.openxmlformats.org/officeDocument/2006/relationships/image" Target="../media/image93.png"/></Relationships>
</file>

<file path=ppt/slides/_rels/slide13.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image" Target="../media/image24.png"/><Relationship Id="rId7" Type="http://schemas.openxmlformats.org/officeDocument/2006/relationships/image" Target="../media/image95.png"/><Relationship Id="rId12" Type="http://schemas.openxmlformats.org/officeDocument/2006/relationships/image" Target="../media/image100.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94.png"/><Relationship Id="rId11" Type="http://schemas.openxmlformats.org/officeDocument/2006/relationships/image" Target="../media/image99.png"/><Relationship Id="rId5" Type="http://schemas.openxmlformats.org/officeDocument/2006/relationships/image" Target="../media/image63.png"/><Relationship Id="rId10" Type="http://schemas.openxmlformats.org/officeDocument/2006/relationships/image" Target="../media/image98.png"/><Relationship Id="rId4" Type="http://schemas.openxmlformats.org/officeDocument/2006/relationships/image" Target="../media/image25.png"/><Relationship Id="rId9" Type="http://schemas.openxmlformats.org/officeDocument/2006/relationships/image" Target="../media/image97.png"/></Relationships>
</file>

<file path=ppt/slides/_rels/slide14.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101.png"/><Relationship Id="rId7" Type="http://schemas.openxmlformats.org/officeDocument/2006/relationships/image" Target="../media/image105.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104.png"/><Relationship Id="rId5" Type="http://schemas.openxmlformats.org/officeDocument/2006/relationships/image" Target="../media/image103.png"/><Relationship Id="rId10" Type="http://schemas.openxmlformats.org/officeDocument/2006/relationships/image" Target="../media/image108.png"/><Relationship Id="rId4" Type="http://schemas.openxmlformats.org/officeDocument/2006/relationships/image" Target="../media/image102.png"/><Relationship Id="rId9" Type="http://schemas.openxmlformats.org/officeDocument/2006/relationships/image" Target="../media/image107.png"/></Relationships>
</file>

<file path=ppt/slides/_rels/slide15.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54.png"/><Relationship Id="rId7" Type="http://schemas.openxmlformats.org/officeDocument/2006/relationships/image" Target="../media/image110.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109.png"/><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8" Type="http://schemas.openxmlformats.org/officeDocument/2006/relationships/image" Target="../media/image114.png"/><Relationship Id="rId3" Type="http://schemas.openxmlformats.org/officeDocument/2006/relationships/image" Target="../media/image60.png"/><Relationship Id="rId7" Type="http://schemas.openxmlformats.org/officeDocument/2006/relationships/image" Target="../media/image113.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112.png"/><Relationship Id="rId11" Type="http://schemas.openxmlformats.org/officeDocument/2006/relationships/image" Target="../media/image117.png"/><Relationship Id="rId5" Type="http://schemas.openxmlformats.org/officeDocument/2006/relationships/image" Target="../media/image84.png"/><Relationship Id="rId10" Type="http://schemas.openxmlformats.org/officeDocument/2006/relationships/image" Target="../media/image116.png"/><Relationship Id="rId4" Type="http://schemas.openxmlformats.org/officeDocument/2006/relationships/image" Target="../media/image61.png"/><Relationship Id="rId9" Type="http://schemas.openxmlformats.org/officeDocument/2006/relationships/image" Target="../media/image115.png"/></Relationships>
</file>

<file path=ppt/slides/_rels/slide17.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image" Target="../media/image30.png"/><Relationship Id="rId7" Type="http://schemas.openxmlformats.org/officeDocument/2006/relationships/image" Target="../media/image119.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118.png"/><Relationship Id="rId11" Type="http://schemas.openxmlformats.org/officeDocument/2006/relationships/image" Target="../media/image123.png"/><Relationship Id="rId5" Type="http://schemas.openxmlformats.org/officeDocument/2006/relationships/image" Target="../media/image85.png"/><Relationship Id="rId10" Type="http://schemas.openxmlformats.org/officeDocument/2006/relationships/image" Target="../media/image122.png"/><Relationship Id="rId4" Type="http://schemas.openxmlformats.org/officeDocument/2006/relationships/image" Target="../media/image31.png"/><Relationship Id="rId9" Type="http://schemas.openxmlformats.org/officeDocument/2006/relationships/image" Target="../media/image121.png"/></Relationships>
</file>

<file path=ppt/slides/_rels/slide18.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124.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109.png"/><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8" Type="http://schemas.openxmlformats.org/officeDocument/2006/relationships/image" Target="../media/image130.png"/><Relationship Id="rId13" Type="http://schemas.openxmlformats.org/officeDocument/2006/relationships/image" Target="../media/image135.png"/><Relationship Id="rId3" Type="http://schemas.openxmlformats.org/officeDocument/2006/relationships/image" Target="../media/image125.svg"/><Relationship Id="rId7" Type="http://schemas.openxmlformats.org/officeDocument/2006/relationships/image" Target="../media/image129.png"/><Relationship Id="rId12" Type="http://schemas.openxmlformats.org/officeDocument/2006/relationships/image" Target="../media/image134.pn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128.png"/><Relationship Id="rId11" Type="http://schemas.openxmlformats.org/officeDocument/2006/relationships/image" Target="../media/image133.png"/><Relationship Id="rId5" Type="http://schemas.openxmlformats.org/officeDocument/2006/relationships/image" Target="../media/image127.png"/><Relationship Id="rId10" Type="http://schemas.openxmlformats.org/officeDocument/2006/relationships/image" Target="../media/image132.png"/><Relationship Id="rId4" Type="http://schemas.openxmlformats.org/officeDocument/2006/relationships/image" Target="../media/image126.png"/><Relationship Id="rId9" Type="http://schemas.openxmlformats.org/officeDocument/2006/relationships/image" Target="../media/image131.png"/></Relationships>
</file>

<file path=ppt/slides/_rels/slide20.xml.rels><?xml version="1.0" encoding="UTF-8" standalone="yes"?>
<Relationships xmlns="http://schemas.openxmlformats.org/package/2006/relationships"><Relationship Id="rId8" Type="http://schemas.openxmlformats.org/officeDocument/2006/relationships/image" Target="../media/image139.png"/><Relationship Id="rId3" Type="http://schemas.openxmlformats.org/officeDocument/2006/relationships/image" Target="../media/image30.png"/><Relationship Id="rId7" Type="http://schemas.openxmlformats.org/officeDocument/2006/relationships/image" Target="../media/image138.pn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137.png"/><Relationship Id="rId5" Type="http://schemas.openxmlformats.org/officeDocument/2006/relationships/image" Target="../media/image136.png"/><Relationship Id="rId4" Type="http://schemas.openxmlformats.org/officeDocument/2006/relationships/image" Target="../media/image31.png"/><Relationship Id="rId9" Type="http://schemas.openxmlformats.org/officeDocument/2006/relationships/image" Target="../media/image140.png"/></Relationships>
</file>

<file path=ppt/slides/_rels/slide2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41.png"/><Relationship Id="rId7"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26.png"/><Relationship Id="rId5" Type="http://schemas.openxmlformats.org/officeDocument/2006/relationships/image" Target="../media/image143.png"/><Relationship Id="rId4" Type="http://schemas.openxmlformats.org/officeDocument/2006/relationships/image" Target="../media/image142.png"/></Relationships>
</file>

<file path=ppt/slides/_rels/slide22.xml.rels><?xml version="1.0" encoding="UTF-8" standalone="yes"?>
<Relationships xmlns="http://schemas.openxmlformats.org/package/2006/relationships"><Relationship Id="rId8" Type="http://schemas.openxmlformats.org/officeDocument/2006/relationships/image" Target="../media/image149.png"/><Relationship Id="rId13" Type="http://schemas.openxmlformats.org/officeDocument/2006/relationships/image" Target="../media/image154.png"/><Relationship Id="rId18" Type="http://schemas.openxmlformats.org/officeDocument/2006/relationships/image" Target="../media/image159.png"/><Relationship Id="rId3" Type="http://schemas.openxmlformats.org/officeDocument/2006/relationships/image" Target="../media/image144.png"/><Relationship Id="rId21" Type="http://schemas.openxmlformats.org/officeDocument/2006/relationships/image" Target="../media/image162.png"/><Relationship Id="rId7" Type="http://schemas.openxmlformats.org/officeDocument/2006/relationships/image" Target="../media/image148.png"/><Relationship Id="rId12" Type="http://schemas.openxmlformats.org/officeDocument/2006/relationships/image" Target="../media/image153.png"/><Relationship Id="rId17" Type="http://schemas.openxmlformats.org/officeDocument/2006/relationships/image" Target="../media/image158.png"/><Relationship Id="rId2" Type="http://schemas.openxmlformats.org/officeDocument/2006/relationships/notesSlide" Target="../notesSlides/notesSlide22.xml"/><Relationship Id="rId16" Type="http://schemas.openxmlformats.org/officeDocument/2006/relationships/image" Target="../media/image157.png"/><Relationship Id="rId20" Type="http://schemas.openxmlformats.org/officeDocument/2006/relationships/image" Target="../media/image161.png"/><Relationship Id="rId1" Type="http://schemas.openxmlformats.org/officeDocument/2006/relationships/slideLayout" Target="../slideLayouts/slideLayout12.xml"/><Relationship Id="rId6" Type="http://schemas.openxmlformats.org/officeDocument/2006/relationships/image" Target="../media/image147.png"/><Relationship Id="rId11" Type="http://schemas.openxmlformats.org/officeDocument/2006/relationships/image" Target="../media/image152.png"/><Relationship Id="rId5" Type="http://schemas.openxmlformats.org/officeDocument/2006/relationships/image" Target="../media/image146.png"/><Relationship Id="rId15" Type="http://schemas.openxmlformats.org/officeDocument/2006/relationships/image" Target="../media/image156.png"/><Relationship Id="rId10" Type="http://schemas.openxmlformats.org/officeDocument/2006/relationships/image" Target="../media/image151.png"/><Relationship Id="rId19" Type="http://schemas.openxmlformats.org/officeDocument/2006/relationships/image" Target="../media/image160.png"/><Relationship Id="rId4" Type="http://schemas.openxmlformats.org/officeDocument/2006/relationships/image" Target="../media/image145.png"/><Relationship Id="rId9" Type="http://schemas.openxmlformats.org/officeDocument/2006/relationships/image" Target="../media/image150.png"/><Relationship Id="rId14" Type="http://schemas.openxmlformats.org/officeDocument/2006/relationships/image" Target="../media/image155.png"/></Relationships>
</file>

<file path=ppt/slides/_rels/slide23.xml.rels><?xml version="1.0" encoding="UTF-8" standalone="yes"?>
<Relationships xmlns="http://schemas.openxmlformats.org/package/2006/relationships"><Relationship Id="rId8" Type="http://schemas.openxmlformats.org/officeDocument/2006/relationships/image" Target="../media/image168.png"/><Relationship Id="rId3" Type="http://schemas.openxmlformats.org/officeDocument/2006/relationships/image" Target="../media/image163.png"/><Relationship Id="rId7" Type="http://schemas.openxmlformats.org/officeDocument/2006/relationships/image" Target="../media/image167.pn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166.png"/><Relationship Id="rId5" Type="http://schemas.openxmlformats.org/officeDocument/2006/relationships/image" Target="../media/image165.png"/><Relationship Id="rId4" Type="http://schemas.openxmlformats.org/officeDocument/2006/relationships/image" Target="../media/image164.pn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8" Type="http://schemas.openxmlformats.org/officeDocument/2006/relationships/image" Target="../media/image174.png"/><Relationship Id="rId13" Type="http://schemas.openxmlformats.org/officeDocument/2006/relationships/image" Target="../media/image179.png"/><Relationship Id="rId3" Type="http://schemas.openxmlformats.org/officeDocument/2006/relationships/image" Target="../media/image169.png"/><Relationship Id="rId7" Type="http://schemas.openxmlformats.org/officeDocument/2006/relationships/image" Target="../media/image173.png"/><Relationship Id="rId12" Type="http://schemas.openxmlformats.org/officeDocument/2006/relationships/image" Target="../media/image178.pn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172.png"/><Relationship Id="rId11" Type="http://schemas.openxmlformats.org/officeDocument/2006/relationships/image" Target="../media/image177.png"/><Relationship Id="rId5" Type="http://schemas.openxmlformats.org/officeDocument/2006/relationships/image" Target="../media/image171.png"/><Relationship Id="rId15" Type="http://schemas.openxmlformats.org/officeDocument/2006/relationships/image" Target="../media/image181.png"/><Relationship Id="rId10" Type="http://schemas.openxmlformats.org/officeDocument/2006/relationships/image" Target="../media/image176.png"/><Relationship Id="rId4" Type="http://schemas.openxmlformats.org/officeDocument/2006/relationships/image" Target="../media/image170.png"/><Relationship Id="rId9" Type="http://schemas.openxmlformats.org/officeDocument/2006/relationships/image" Target="../media/image175.png"/><Relationship Id="rId14" Type="http://schemas.openxmlformats.org/officeDocument/2006/relationships/image" Target="../media/image180.png"/></Relationships>
</file>

<file path=ppt/slides/_rels/slide26.xml.rels><?xml version="1.0" encoding="UTF-8" standalone="yes"?>
<Relationships xmlns="http://schemas.openxmlformats.org/package/2006/relationships"><Relationship Id="rId8" Type="http://schemas.openxmlformats.org/officeDocument/2006/relationships/image" Target="../media/image184.png"/><Relationship Id="rId13" Type="http://schemas.openxmlformats.org/officeDocument/2006/relationships/image" Target="../media/image189.png"/><Relationship Id="rId3" Type="http://schemas.openxmlformats.org/officeDocument/2006/relationships/image" Target="../media/image60.png"/><Relationship Id="rId7" Type="http://schemas.openxmlformats.org/officeDocument/2006/relationships/image" Target="../media/image183.png"/><Relationship Id="rId12" Type="http://schemas.openxmlformats.org/officeDocument/2006/relationships/image" Target="../media/image188.png"/><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182.png"/><Relationship Id="rId11" Type="http://schemas.openxmlformats.org/officeDocument/2006/relationships/image" Target="../media/image187.png"/><Relationship Id="rId5" Type="http://schemas.openxmlformats.org/officeDocument/2006/relationships/image" Target="../media/image62.png"/><Relationship Id="rId10" Type="http://schemas.openxmlformats.org/officeDocument/2006/relationships/image" Target="../media/image186.png"/><Relationship Id="rId4" Type="http://schemas.openxmlformats.org/officeDocument/2006/relationships/image" Target="../media/image61.png"/><Relationship Id="rId9" Type="http://schemas.openxmlformats.org/officeDocument/2006/relationships/image" Target="../media/image185.png"/><Relationship Id="rId14" Type="http://schemas.openxmlformats.org/officeDocument/2006/relationships/image" Target="../media/image190.png"/></Relationships>
</file>

<file path=ppt/slides/_rels/slide27.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2.png"/><Relationship Id="rId3" Type="http://schemas.openxmlformats.org/officeDocument/2006/relationships/image" Target="../media/image84.png"/><Relationship Id="rId7" Type="http://schemas.openxmlformats.org/officeDocument/2006/relationships/image" Target="../media/image86.png"/><Relationship Id="rId12" Type="http://schemas.openxmlformats.org/officeDocument/2006/relationships/image" Target="../media/image91.png"/><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image" Target="../media/image85.png"/><Relationship Id="rId11" Type="http://schemas.openxmlformats.org/officeDocument/2006/relationships/image" Target="../media/image90.png"/><Relationship Id="rId5" Type="http://schemas.openxmlformats.org/officeDocument/2006/relationships/image" Target="../media/image25.png"/><Relationship Id="rId10" Type="http://schemas.openxmlformats.org/officeDocument/2006/relationships/image" Target="../media/image89.png"/><Relationship Id="rId4" Type="http://schemas.openxmlformats.org/officeDocument/2006/relationships/image" Target="../media/image24.png"/><Relationship Id="rId9" Type="http://schemas.openxmlformats.org/officeDocument/2006/relationships/image" Target="../media/image88.png"/><Relationship Id="rId14" Type="http://schemas.openxmlformats.org/officeDocument/2006/relationships/image" Target="../media/image93.png"/></Relationships>
</file>

<file path=ppt/slides/_rels/slide28.xml.rels><?xml version="1.0" encoding="UTF-8" standalone="yes"?>
<Relationships xmlns="http://schemas.openxmlformats.org/package/2006/relationships"><Relationship Id="rId8" Type="http://schemas.openxmlformats.org/officeDocument/2006/relationships/image" Target="../media/image194.png"/><Relationship Id="rId3" Type="http://schemas.openxmlformats.org/officeDocument/2006/relationships/image" Target="../media/image106.png"/><Relationship Id="rId7" Type="http://schemas.openxmlformats.org/officeDocument/2006/relationships/image" Target="../media/image193.png"/><Relationship Id="rId12" Type="http://schemas.openxmlformats.org/officeDocument/2006/relationships/image" Target="../media/image198.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192.png"/><Relationship Id="rId11" Type="http://schemas.openxmlformats.org/officeDocument/2006/relationships/image" Target="../media/image197.png"/><Relationship Id="rId5" Type="http://schemas.openxmlformats.org/officeDocument/2006/relationships/image" Target="../media/image191.png"/><Relationship Id="rId10" Type="http://schemas.openxmlformats.org/officeDocument/2006/relationships/image" Target="../media/image196.png"/><Relationship Id="rId4" Type="http://schemas.openxmlformats.org/officeDocument/2006/relationships/image" Target="../media/image107.png"/><Relationship Id="rId9" Type="http://schemas.openxmlformats.org/officeDocument/2006/relationships/image" Target="../media/image195.png"/></Relationships>
</file>

<file path=ppt/slides/_rels/slide29.xml.rels><?xml version="1.0" encoding="UTF-8" standalone="yes"?>
<Relationships xmlns="http://schemas.openxmlformats.org/package/2006/relationships"><Relationship Id="rId8" Type="http://schemas.openxmlformats.org/officeDocument/2006/relationships/image" Target="../media/image204.png"/><Relationship Id="rId13" Type="http://schemas.openxmlformats.org/officeDocument/2006/relationships/image" Target="../media/image209.png"/><Relationship Id="rId3" Type="http://schemas.openxmlformats.org/officeDocument/2006/relationships/image" Target="../media/image199.png"/><Relationship Id="rId7" Type="http://schemas.openxmlformats.org/officeDocument/2006/relationships/image" Target="../media/image203.png"/><Relationship Id="rId12" Type="http://schemas.openxmlformats.org/officeDocument/2006/relationships/image" Target="../media/image208.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202.png"/><Relationship Id="rId11" Type="http://schemas.openxmlformats.org/officeDocument/2006/relationships/image" Target="../media/image207.png"/><Relationship Id="rId5" Type="http://schemas.openxmlformats.org/officeDocument/2006/relationships/image" Target="../media/image201.png"/><Relationship Id="rId10" Type="http://schemas.openxmlformats.org/officeDocument/2006/relationships/image" Target="../media/image206.png"/><Relationship Id="rId4" Type="http://schemas.openxmlformats.org/officeDocument/2006/relationships/image" Target="../media/image200.png"/><Relationship Id="rId9" Type="http://schemas.openxmlformats.org/officeDocument/2006/relationships/image" Target="../media/image205.png"/></Relationships>
</file>

<file path=ppt/slides/_rels/slide3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10.png"/><Relationship Id="rId7"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138.png"/><Relationship Id="rId5" Type="http://schemas.openxmlformats.org/officeDocument/2006/relationships/image" Target="../media/image212.png"/><Relationship Id="rId4" Type="http://schemas.openxmlformats.org/officeDocument/2006/relationships/image" Target="../media/image211.png"/></Relationships>
</file>

<file path=ppt/slides/_rels/slide3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213.png"/><Relationship Id="rId5" Type="http://schemas.openxmlformats.org/officeDocument/2006/relationships/image" Target="../media/image25.png"/><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2.png"/><Relationship Id="rId3" Type="http://schemas.openxmlformats.org/officeDocument/2006/relationships/image" Target="../media/image84.png"/><Relationship Id="rId7" Type="http://schemas.openxmlformats.org/officeDocument/2006/relationships/image" Target="../media/image86.png"/><Relationship Id="rId12" Type="http://schemas.openxmlformats.org/officeDocument/2006/relationships/image" Target="../media/image91.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85.png"/><Relationship Id="rId11" Type="http://schemas.openxmlformats.org/officeDocument/2006/relationships/image" Target="../media/image90.png"/><Relationship Id="rId5" Type="http://schemas.openxmlformats.org/officeDocument/2006/relationships/image" Target="../media/image25.png"/><Relationship Id="rId10" Type="http://schemas.openxmlformats.org/officeDocument/2006/relationships/image" Target="../media/image89.png"/><Relationship Id="rId4" Type="http://schemas.openxmlformats.org/officeDocument/2006/relationships/image" Target="../media/image24.png"/><Relationship Id="rId9" Type="http://schemas.openxmlformats.org/officeDocument/2006/relationships/image" Target="../media/image88.png"/><Relationship Id="rId14" Type="http://schemas.openxmlformats.org/officeDocument/2006/relationships/image" Target="../media/image93.png"/></Relationships>
</file>

<file path=ppt/slides/_rels/slide33.xml.rels><?xml version="1.0" encoding="UTF-8" standalone="yes"?>
<Relationships xmlns="http://schemas.openxmlformats.org/package/2006/relationships"><Relationship Id="rId8" Type="http://schemas.openxmlformats.org/officeDocument/2006/relationships/image" Target="../media/image215.png"/><Relationship Id="rId3" Type="http://schemas.openxmlformats.org/officeDocument/2006/relationships/image" Target="../media/image24.png"/><Relationship Id="rId7" Type="http://schemas.openxmlformats.org/officeDocument/2006/relationships/image" Target="../media/image214.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128.png"/><Relationship Id="rId5" Type="http://schemas.openxmlformats.org/officeDocument/2006/relationships/image" Target="../media/image62.png"/><Relationship Id="rId4" Type="http://schemas.openxmlformats.org/officeDocument/2006/relationships/image" Target="../media/image61.png"/><Relationship Id="rId9" Type="http://schemas.openxmlformats.org/officeDocument/2006/relationships/image" Target="../media/image216.png"/></Relationships>
</file>

<file path=ppt/slides/_rels/slide34.xml.rels><?xml version="1.0" encoding="UTF-8" standalone="yes"?>
<Relationships xmlns="http://schemas.openxmlformats.org/package/2006/relationships"><Relationship Id="rId8" Type="http://schemas.openxmlformats.org/officeDocument/2006/relationships/image" Target="../media/image221.png"/><Relationship Id="rId13" Type="http://schemas.openxmlformats.org/officeDocument/2006/relationships/image" Target="../media/image226.png"/><Relationship Id="rId3" Type="http://schemas.openxmlformats.org/officeDocument/2006/relationships/image" Target="../media/image47.png"/><Relationship Id="rId7" Type="http://schemas.openxmlformats.org/officeDocument/2006/relationships/image" Target="../media/image220.png"/><Relationship Id="rId12" Type="http://schemas.openxmlformats.org/officeDocument/2006/relationships/image" Target="../media/image225.png"/><Relationship Id="rId2" Type="http://schemas.openxmlformats.org/officeDocument/2006/relationships/notesSlide" Target="../notesSlides/notesSlide34.xml"/><Relationship Id="rId1" Type="http://schemas.openxmlformats.org/officeDocument/2006/relationships/slideLayout" Target="../slideLayouts/slideLayout12.xml"/><Relationship Id="rId6" Type="http://schemas.openxmlformats.org/officeDocument/2006/relationships/image" Target="../media/image219.png"/><Relationship Id="rId11" Type="http://schemas.openxmlformats.org/officeDocument/2006/relationships/image" Target="../media/image224.png"/><Relationship Id="rId5" Type="http://schemas.openxmlformats.org/officeDocument/2006/relationships/image" Target="../media/image218.png"/><Relationship Id="rId15" Type="http://schemas.openxmlformats.org/officeDocument/2006/relationships/image" Target="../media/image53.png"/><Relationship Id="rId10" Type="http://schemas.openxmlformats.org/officeDocument/2006/relationships/image" Target="../media/image223.png"/><Relationship Id="rId4" Type="http://schemas.openxmlformats.org/officeDocument/2006/relationships/image" Target="../media/image217.png"/><Relationship Id="rId9" Type="http://schemas.openxmlformats.org/officeDocument/2006/relationships/image" Target="../media/image222.png"/><Relationship Id="rId14" Type="http://schemas.openxmlformats.org/officeDocument/2006/relationships/image" Target="../media/image52.png"/></Relationships>
</file>

<file path=ppt/slides/_rels/slide35.xml.rels><?xml version="1.0" encoding="UTF-8" standalone="yes"?>
<Relationships xmlns="http://schemas.openxmlformats.org/package/2006/relationships"><Relationship Id="rId3" Type="http://schemas.openxmlformats.org/officeDocument/2006/relationships/image" Target="../media/image22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230.png"/><Relationship Id="rId5" Type="http://schemas.openxmlformats.org/officeDocument/2006/relationships/image" Target="../media/image229.png"/><Relationship Id="rId4" Type="http://schemas.openxmlformats.org/officeDocument/2006/relationships/image" Target="../media/image228.png"/></Relationships>
</file>

<file path=ppt/slides/_rels/slide36.xml.rels><?xml version="1.0" encoding="UTF-8" standalone="yes"?>
<Relationships xmlns="http://schemas.openxmlformats.org/package/2006/relationships"><Relationship Id="rId8" Type="http://schemas.openxmlformats.org/officeDocument/2006/relationships/image" Target="../media/image233.png"/><Relationship Id="rId13" Type="http://schemas.openxmlformats.org/officeDocument/2006/relationships/image" Target="../media/image238.png"/><Relationship Id="rId3" Type="http://schemas.openxmlformats.org/officeDocument/2006/relationships/image" Target="../media/image25.png"/><Relationship Id="rId7" Type="http://schemas.openxmlformats.org/officeDocument/2006/relationships/image" Target="../media/image232.png"/><Relationship Id="rId12" Type="http://schemas.openxmlformats.org/officeDocument/2006/relationships/image" Target="../media/image237.png"/><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image" Target="../media/image231.png"/><Relationship Id="rId11" Type="http://schemas.openxmlformats.org/officeDocument/2006/relationships/image" Target="../media/image236.png"/><Relationship Id="rId5" Type="http://schemas.openxmlformats.org/officeDocument/2006/relationships/image" Target="../media/image138.png"/><Relationship Id="rId10" Type="http://schemas.openxmlformats.org/officeDocument/2006/relationships/image" Target="../media/image235.png"/><Relationship Id="rId4" Type="http://schemas.openxmlformats.org/officeDocument/2006/relationships/image" Target="../media/image24.png"/><Relationship Id="rId9" Type="http://schemas.openxmlformats.org/officeDocument/2006/relationships/image" Target="../media/image234.png"/><Relationship Id="rId14" Type="http://schemas.openxmlformats.org/officeDocument/2006/relationships/image" Target="../media/image239.png"/></Relationships>
</file>

<file path=ppt/slides/_rels/slide37.xml.rels><?xml version="1.0" encoding="UTF-8" standalone="yes"?>
<Relationships xmlns="http://schemas.openxmlformats.org/package/2006/relationships"><Relationship Id="rId8" Type="http://schemas.openxmlformats.org/officeDocument/2006/relationships/image" Target="../media/image244.png"/><Relationship Id="rId13" Type="http://schemas.openxmlformats.org/officeDocument/2006/relationships/image" Target="../media/image249.png"/><Relationship Id="rId3" Type="http://schemas.openxmlformats.org/officeDocument/2006/relationships/image" Target="../media/image47.png"/><Relationship Id="rId7" Type="http://schemas.openxmlformats.org/officeDocument/2006/relationships/image" Target="../media/image243.png"/><Relationship Id="rId12" Type="http://schemas.openxmlformats.org/officeDocument/2006/relationships/image" Target="../media/image248.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242.png"/><Relationship Id="rId11" Type="http://schemas.openxmlformats.org/officeDocument/2006/relationships/image" Target="../media/image247.png"/><Relationship Id="rId5" Type="http://schemas.openxmlformats.org/officeDocument/2006/relationships/image" Target="../media/image241.png"/><Relationship Id="rId15" Type="http://schemas.openxmlformats.org/officeDocument/2006/relationships/image" Target="../media/image53.png"/><Relationship Id="rId10" Type="http://schemas.openxmlformats.org/officeDocument/2006/relationships/image" Target="../media/image246.png"/><Relationship Id="rId4" Type="http://schemas.openxmlformats.org/officeDocument/2006/relationships/image" Target="../media/image240.png"/><Relationship Id="rId9" Type="http://schemas.openxmlformats.org/officeDocument/2006/relationships/image" Target="../media/image245.png"/><Relationship Id="rId14" Type="http://schemas.openxmlformats.org/officeDocument/2006/relationships/image" Target="../media/image52.png"/></Relationships>
</file>

<file path=ppt/slides/_rels/slide38.xml.rels><?xml version="1.0" encoding="UTF-8" standalone="yes"?>
<Relationships xmlns="http://schemas.openxmlformats.org/package/2006/relationships"><Relationship Id="rId8" Type="http://schemas.openxmlformats.org/officeDocument/2006/relationships/image" Target="../media/image253.jpeg"/><Relationship Id="rId3" Type="http://schemas.openxmlformats.org/officeDocument/2006/relationships/image" Target="../media/image52.png"/><Relationship Id="rId7" Type="http://schemas.openxmlformats.org/officeDocument/2006/relationships/image" Target="../media/image252.jpe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251.png"/><Relationship Id="rId11" Type="http://schemas.openxmlformats.org/officeDocument/2006/relationships/image" Target="../media/image256.jpeg"/><Relationship Id="rId5" Type="http://schemas.openxmlformats.org/officeDocument/2006/relationships/image" Target="../media/image250.png"/><Relationship Id="rId10" Type="http://schemas.openxmlformats.org/officeDocument/2006/relationships/image" Target="../media/image255.jpeg"/><Relationship Id="rId4" Type="http://schemas.openxmlformats.org/officeDocument/2006/relationships/image" Target="../media/image53.png"/><Relationship Id="rId9" Type="http://schemas.openxmlformats.org/officeDocument/2006/relationships/image" Target="../media/image254.jpeg"/></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9.xml"/><Relationship Id="rId1" Type="http://schemas.openxmlformats.org/officeDocument/2006/relationships/slideLayout" Target="../slideLayouts/slideLayout12.xml"/><Relationship Id="rId5" Type="http://schemas.openxmlformats.org/officeDocument/2006/relationships/image" Target="../media/image257.png"/><Relationship Id="rId4" Type="http://schemas.openxmlformats.org/officeDocument/2006/relationships/image" Target="../media/image31.png"/></Relationships>
</file>

<file path=ppt/slides/_rels/slide40.xml.rels><?xml version="1.0" encoding="UTF-8" standalone="yes"?>
<Relationships xmlns="http://schemas.openxmlformats.org/package/2006/relationships"><Relationship Id="rId3" Type="http://schemas.openxmlformats.org/officeDocument/2006/relationships/hyperlink" Target="https://datacoe.vercel.app/" TargetMode="External"/><Relationship Id="rId7" Type="http://schemas.openxmlformats.org/officeDocument/2006/relationships/image" Target="../media/image258.png"/><Relationship Id="rId2" Type="http://schemas.openxmlformats.org/officeDocument/2006/relationships/image" Target="../media/image108.png"/><Relationship Id="rId1" Type="http://schemas.openxmlformats.org/officeDocument/2006/relationships/slideLayout" Target="../slideLayouts/slideLayout13.xml"/><Relationship Id="rId6" Type="http://schemas.openxmlformats.org/officeDocument/2006/relationships/hyperlink" Target="https://data-coe.vercel.app/" TargetMode="External"/><Relationship Id="rId5" Type="http://schemas.openxmlformats.org/officeDocument/2006/relationships/image" Target="../media/image52.png"/><Relationship Id="rId4" Type="http://schemas.openxmlformats.org/officeDocument/2006/relationships/image" Target="../media/image53.png"/></Relationships>
</file>

<file path=ppt/slides/_rels/slide41.xml.rels><?xml version="1.0" encoding="UTF-8" standalone="yes"?>
<Relationships xmlns="http://schemas.openxmlformats.org/package/2006/relationships"><Relationship Id="rId8" Type="http://schemas.openxmlformats.org/officeDocument/2006/relationships/image" Target="../media/image264.png"/><Relationship Id="rId13" Type="http://schemas.openxmlformats.org/officeDocument/2006/relationships/image" Target="../media/image269.png"/><Relationship Id="rId3" Type="http://schemas.openxmlformats.org/officeDocument/2006/relationships/image" Target="../media/image259.png"/><Relationship Id="rId7" Type="http://schemas.openxmlformats.org/officeDocument/2006/relationships/image" Target="../media/image263.png"/><Relationship Id="rId12" Type="http://schemas.openxmlformats.org/officeDocument/2006/relationships/image" Target="../media/image268.png"/><Relationship Id="rId17" Type="http://schemas.openxmlformats.org/officeDocument/2006/relationships/image" Target="../media/image273.png"/><Relationship Id="rId2" Type="http://schemas.openxmlformats.org/officeDocument/2006/relationships/notesSlide" Target="../notesSlides/notesSlide40.xml"/><Relationship Id="rId16" Type="http://schemas.openxmlformats.org/officeDocument/2006/relationships/image" Target="../media/image272.png"/><Relationship Id="rId1" Type="http://schemas.openxmlformats.org/officeDocument/2006/relationships/slideLayout" Target="../slideLayouts/slideLayout12.xml"/><Relationship Id="rId6" Type="http://schemas.openxmlformats.org/officeDocument/2006/relationships/image" Target="../media/image262.png"/><Relationship Id="rId11" Type="http://schemas.openxmlformats.org/officeDocument/2006/relationships/image" Target="../media/image267.png"/><Relationship Id="rId5" Type="http://schemas.openxmlformats.org/officeDocument/2006/relationships/image" Target="../media/image261.png"/><Relationship Id="rId15" Type="http://schemas.openxmlformats.org/officeDocument/2006/relationships/image" Target="../media/image271.png"/><Relationship Id="rId10" Type="http://schemas.openxmlformats.org/officeDocument/2006/relationships/image" Target="../media/image266.png"/><Relationship Id="rId4" Type="http://schemas.openxmlformats.org/officeDocument/2006/relationships/image" Target="../media/image260.png"/><Relationship Id="rId9" Type="http://schemas.openxmlformats.org/officeDocument/2006/relationships/image" Target="../media/image265.png"/><Relationship Id="rId14" Type="http://schemas.openxmlformats.org/officeDocument/2006/relationships/image" Target="../media/image270.png"/></Relationships>
</file>

<file path=ppt/slides/_rels/slide42.xml.rels><?xml version="1.0" encoding="UTF-8" standalone="yes"?>
<Relationships xmlns="http://schemas.openxmlformats.org/package/2006/relationships"><Relationship Id="rId8" Type="http://schemas.openxmlformats.org/officeDocument/2006/relationships/image" Target="../media/image277.png"/><Relationship Id="rId3" Type="http://schemas.openxmlformats.org/officeDocument/2006/relationships/image" Target="../media/image260.png"/><Relationship Id="rId7" Type="http://schemas.openxmlformats.org/officeDocument/2006/relationships/image" Target="../media/image276.pn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275.png"/><Relationship Id="rId5" Type="http://schemas.openxmlformats.org/officeDocument/2006/relationships/image" Target="../media/image274.png"/><Relationship Id="rId4" Type="http://schemas.openxmlformats.org/officeDocument/2006/relationships/image" Target="../media/image26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w="12700">
            <a:solidFill>
              <a:srgbClr val="FFFFFF">
                <a:alpha val="0"/>
              </a:srgbClr>
            </a:solidFill>
            <a:prstDash val="solid"/>
          </a:ln>
        </p:spPr>
        <p:txBody>
          <a:bodyPr/>
          <a:lstStyle/>
          <a:p>
            <a:endParaRPr lang="en-US"/>
          </a:p>
        </p:txBody>
      </p:sp>
      <p:sp>
        <p:nvSpPr>
          <p:cNvPr id="3" name="Shape 1"/>
          <p:cNvSpPr/>
          <p:nvPr/>
        </p:nvSpPr>
        <p:spPr>
          <a:xfrm>
            <a:off x="305" y="0"/>
            <a:ext cx="12191695" cy="6858000"/>
          </a:xfrm>
          <a:prstGeom prst="rect">
            <a:avLst/>
          </a:prstGeom>
          <a:solidFill>
            <a:srgbClr val="FFFFFF"/>
          </a:solidFill>
          <a:ln w="12700">
            <a:solidFill>
              <a:srgbClr val="FFFFFF">
                <a:alpha val="0"/>
              </a:srgbClr>
            </a:solidFill>
            <a:prstDash val="solid"/>
          </a:ln>
        </p:spPr>
        <p:txBody>
          <a:bodyPr/>
          <a:lstStyle/>
          <a:p>
            <a:pPr algn="ctr"/>
            <a:endParaRPr lang="en-US"/>
          </a:p>
        </p:txBody>
      </p:sp>
      <p:pic>
        <p:nvPicPr>
          <p:cNvPr id="4" name="Image 0" descr="preencoded.png"/>
          <p:cNvPicPr>
            <a:picLocks noChangeAspect="1"/>
          </p:cNvPicPr>
          <p:nvPr/>
        </p:nvPicPr>
        <p:blipFill>
          <a:blip r:embed="rId3"/>
          <a:srcRect/>
          <a:stretch/>
        </p:blipFill>
        <p:spPr>
          <a:xfrm>
            <a:off x="9334195" y="0"/>
            <a:ext cx="2857500" cy="2857500"/>
          </a:xfrm>
          <a:prstGeom prst="rect">
            <a:avLst/>
          </a:prstGeom>
        </p:spPr>
      </p:pic>
      <p:sp>
        <p:nvSpPr>
          <p:cNvPr id="5" name="Shape 2"/>
          <p:cNvSpPr/>
          <p:nvPr/>
        </p:nvSpPr>
        <p:spPr>
          <a:xfrm>
            <a:off x="0" y="5905195"/>
            <a:ext cx="3810305" cy="952805"/>
          </a:xfrm>
          <a:custGeom>
            <a:avLst/>
            <a:gdLst/>
            <a:ahLst/>
            <a:cxnLst/>
            <a:rect l="l" t="t" r="r" b="b"/>
            <a:pathLst>
              <a:path w="3810305" h="952805">
                <a:moveTo>
                  <a:pt x="0" y="952805"/>
                </a:moveTo>
                <a:lnTo>
                  <a:pt x="3810305" y="952805"/>
                </a:lnTo>
                <a:lnTo>
                  <a:pt x="0" y="0"/>
                </a:lnTo>
                <a:close/>
              </a:path>
            </a:pathLst>
          </a:custGeom>
          <a:solidFill>
            <a:srgbClr val="D62839">
              <a:alpha val="3000"/>
            </a:srgbClr>
          </a:solidFill>
          <a:ln/>
        </p:spPr>
        <p:txBody>
          <a:bodyPr/>
          <a:lstStyle/>
          <a:p>
            <a:endParaRPr lang="en-US"/>
          </a:p>
        </p:txBody>
      </p:sp>
      <p:pic>
        <p:nvPicPr>
          <p:cNvPr id="6" name="Image 1" descr="preencoded.png"/>
          <p:cNvPicPr>
            <a:picLocks noChangeAspect="1"/>
          </p:cNvPicPr>
          <p:nvPr/>
        </p:nvPicPr>
        <p:blipFill>
          <a:blip r:embed="rId4"/>
          <a:srcRect l="-202" r="-202"/>
          <a:stretch/>
        </p:blipFill>
        <p:spPr>
          <a:xfrm>
            <a:off x="0" y="0"/>
            <a:ext cx="8128102" cy="75895"/>
          </a:xfrm>
          <a:prstGeom prst="rect">
            <a:avLst/>
          </a:prstGeom>
        </p:spPr>
      </p:pic>
      <p:pic>
        <p:nvPicPr>
          <p:cNvPr id="7" name="Image 2" descr="preencoded.png"/>
          <p:cNvPicPr>
            <a:picLocks noChangeAspect="1"/>
          </p:cNvPicPr>
          <p:nvPr/>
        </p:nvPicPr>
        <p:blipFill>
          <a:blip r:embed="rId5"/>
          <a:srcRect l="-197" r="-197"/>
          <a:stretch/>
        </p:blipFill>
        <p:spPr>
          <a:xfrm>
            <a:off x="8128102" y="0"/>
            <a:ext cx="4063594" cy="75895"/>
          </a:xfrm>
          <a:prstGeom prst="rect">
            <a:avLst/>
          </a:prstGeom>
        </p:spPr>
      </p:pic>
      <p:sp>
        <p:nvSpPr>
          <p:cNvPr id="8" name="Text 3"/>
          <p:cNvSpPr txBox="1"/>
          <p:nvPr/>
        </p:nvSpPr>
        <p:spPr>
          <a:xfrm>
            <a:off x="2774290" y="3881628"/>
            <a:ext cx="6648602" cy="267005"/>
          </a:xfrm>
          <a:prstGeom prst="rect">
            <a:avLst/>
          </a:prstGeom>
          <a:noFill/>
          <a:ln/>
        </p:spPr>
        <p:txBody>
          <a:bodyPr wrap="square" lIns="0" tIns="0" rIns="0" bIns="0" rtlCol="0" anchor="ctr"/>
          <a:lstStyle/>
          <a:p>
            <a:pPr marL="0" indent="0" algn="ctr">
              <a:buNone/>
            </a:pPr>
            <a:r>
              <a:rPr lang="en-US" sz="1500" b="1">
                <a:solidFill>
                  <a:srgbClr val="4B5563"/>
                </a:solidFill>
                <a:latin typeface="Roboto Condensed" pitchFamily="34" charset="0"/>
                <a:ea typeface="Roboto Condensed" pitchFamily="34" charset="-122"/>
                <a:cs typeface="Roboto Condensed" pitchFamily="34" charset="-120"/>
              </a:rPr>
              <a:t>BUSINESS DRIVERS</a:t>
            </a:r>
            <a:r>
              <a:rPr lang="en-US" sz="1200" b="1">
                <a:solidFill>
                  <a:srgbClr val="D62839"/>
                </a:solidFill>
                <a:latin typeface="Raleway" pitchFamily="34" charset="0"/>
                <a:ea typeface="Raleway" pitchFamily="34" charset="-122"/>
                <a:cs typeface="Raleway" pitchFamily="34" charset="-120"/>
              </a:rPr>
              <a:t>|</a:t>
            </a:r>
            <a:r>
              <a:rPr lang="en-US" sz="1500" b="1">
                <a:solidFill>
                  <a:srgbClr val="4B5563"/>
                </a:solidFill>
                <a:latin typeface="Roboto Condensed" pitchFamily="34" charset="0"/>
                <a:ea typeface="Roboto Condensed" pitchFamily="34" charset="-122"/>
                <a:cs typeface="Roboto Condensed" pitchFamily="34" charset="-120"/>
              </a:rPr>
              <a:t> TECHNOLOGY ACCELERATORS </a:t>
            </a:r>
            <a:r>
              <a:rPr lang="en-US" sz="1200" b="1">
                <a:solidFill>
                  <a:srgbClr val="D62839"/>
                </a:solidFill>
                <a:latin typeface="Raleway" pitchFamily="34" charset="0"/>
                <a:ea typeface="Raleway" pitchFamily="34" charset="-122"/>
                <a:cs typeface="Raleway" pitchFamily="34" charset="-120"/>
              </a:rPr>
              <a:t>|</a:t>
            </a:r>
            <a:r>
              <a:rPr lang="en-US" sz="1500" b="1">
                <a:solidFill>
                  <a:srgbClr val="4B5563"/>
                </a:solidFill>
                <a:latin typeface="Roboto Condensed" pitchFamily="34" charset="0"/>
                <a:ea typeface="Roboto Condensed" pitchFamily="34" charset="-122"/>
                <a:cs typeface="Roboto Condensed" pitchFamily="34" charset="-120"/>
              </a:rPr>
              <a:t> GAME CHANGERS </a:t>
            </a:r>
            <a:endParaRPr lang="en-US" sz="1200"/>
          </a:p>
        </p:txBody>
      </p:sp>
      <p:sp>
        <p:nvSpPr>
          <p:cNvPr id="9" name="Text 4"/>
          <p:cNvSpPr txBox="1"/>
          <p:nvPr/>
        </p:nvSpPr>
        <p:spPr>
          <a:xfrm>
            <a:off x="4153205" y="4262933"/>
            <a:ext cx="3893515" cy="305410"/>
          </a:xfrm>
          <a:prstGeom prst="rect">
            <a:avLst/>
          </a:prstGeom>
          <a:noFill/>
          <a:ln/>
        </p:spPr>
        <p:txBody>
          <a:bodyPr wrap="square" lIns="0" tIns="0" rIns="0" bIns="0" rtlCol="0" anchor="ctr"/>
          <a:lstStyle/>
          <a:p>
            <a:pPr marL="0" indent="0" algn="ctr">
              <a:buNone/>
            </a:pPr>
            <a:r>
              <a:rPr lang="en-US" sz="1800" i="1">
                <a:solidFill>
                  <a:srgbClr val="D62839"/>
                </a:solidFill>
                <a:latin typeface="Raleway" pitchFamily="34" charset="0"/>
                <a:ea typeface="Raleway" pitchFamily="34" charset="-122"/>
                <a:cs typeface="Raleway" pitchFamily="34" charset="-120"/>
              </a:rPr>
              <a:t>Energy. Excellence. Innovation.</a:t>
            </a:r>
            <a:endParaRPr lang="en-US" sz="1800"/>
          </a:p>
        </p:txBody>
      </p:sp>
      <p:sp>
        <p:nvSpPr>
          <p:cNvPr id="11" name="Text 5"/>
          <p:cNvSpPr txBox="1"/>
          <p:nvPr/>
        </p:nvSpPr>
        <p:spPr>
          <a:xfrm>
            <a:off x="1287018" y="2262226"/>
            <a:ext cx="9475927" cy="1143000"/>
          </a:xfrm>
          <a:prstGeom prst="rect">
            <a:avLst/>
          </a:prstGeom>
          <a:noFill/>
          <a:ln/>
        </p:spPr>
        <p:txBody>
          <a:bodyPr wrap="square" lIns="0" tIns="0" rIns="0" bIns="0" rtlCol="0" anchor="ctr"/>
          <a:lstStyle/>
          <a:p>
            <a:pPr marL="0" indent="0" algn="ctr">
              <a:buNone/>
            </a:pPr>
            <a:r>
              <a:rPr lang="en-US" sz="3600" b="1" dirty="0">
                <a:solidFill>
                  <a:srgbClr val="1F2937"/>
                </a:solidFill>
                <a:latin typeface="Oswald" pitchFamily="34" charset="0"/>
                <a:ea typeface="Oswald" pitchFamily="34" charset="-122"/>
                <a:cs typeface="Oswald" pitchFamily="34" charset="-120"/>
              </a:rPr>
              <a:t> Building the Enterprise Operating Model​</a:t>
            </a:r>
          </a:p>
          <a:p>
            <a:pPr marL="0" indent="0" algn="ctr">
              <a:buNone/>
            </a:pPr>
            <a:r>
              <a:rPr lang="en-US" sz="3600" b="1" dirty="0">
                <a:solidFill>
                  <a:srgbClr val="1F2937"/>
                </a:solidFill>
                <a:latin typeface="Oswald" pitchFamily="34" charset="0"/>
                <a:ea typeface="Oswald" pitchFamily="34" charset="-122"/>
                <a:cs typeface="Oswald" pitchFamily="34" charset="-120"/>
              </a:rPr>
              <a:t>for the Next Decade​</a:t>
            </a:r>
          </a:p>
        </p:txBody>
      </p:sp>
      <p:pic>
        <p:nvPicPr>
          <p:cNvPr id="12" name="Image 4" descr="preencoded.png"/>
          <p:cNvPicPr>
            <a:picLocks noChangeAspect="1"/>
          </p:cNvPicPr>
          <p:nvPr/>
        </p:nvPicPr>
        <p:blipFill>
          <a:blip r:embed="rId6"/>
          <a:srcRect t="-400" b="-400"/>
          <a:stretch/>
        </p:blipFill>
        <p:spPr>
          <a:xfrm>
            <a:off x="5639105" y="3596335"/>
            <a:ext cx="914400" cy="57607"/>
          </a:xfrm>
          <a:prstGeom prst="rect">
            <a:avLst/>
          </a:prstGeom>
        </p:spPr>
      </p:pic>
      <p:sp>
        <p:nvSpPr>
          <p:cNvPr id="13" name="Shape 6"/>
          <p:cNvSpPr/>
          <p:nvPr/>
        </p:nvSpPr>
        <p:spPr>
          <a:xfrm>
            <a:off x="0" y="5238598"/>
            <a:ext cx="12191695" cy="1619402"/>
          </a:xfrm>
          <a:prstGeom prst="rect">
            <a:avLst/>
          </a:prstGeom>
          <a:solidFill>
            <a:srgbClr val="F9FAFB"/>
          </a:solidFill>
          <a:ln/>
        </p:spPr>
        <p:txBody>
          <a:bodyPr/>
          <a:lstStyle/>
          <a:p>
            <a:endParaRPr lang="en-US"/>
          </a:p>
        </p:txBody>
      </p:sp>
      <p:sp>
        <p:nvSpPr>
          <p:cNvPr id="14" name="Shape 7"/>
          <p:cNvSpPr/>
          <p:nvPr/>
        </p:nvSpPr>
        <p:spPr>
          <a:xfrm>
            <a:off x="0" y="5238598"/>
            <a:ext cx="12191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15" name="Shape 8"/>
          <p:cNvSpPr/>
          <p:nvPr/>
        </p:nvSpPr>
        <p:spPr>
          <a:xfrm>
            <a:off x="10201961" y="5362956"/>
            <a:ext cx="9144" cy="1380744"/>
          </a:xfrm>
          <a:prstGeom prst="rect">
            <a:avLst/>
          </a:prstGeom>
          <a:solidFill>
            <a:srgbClr val="D1D5DB"/>
          </a:solidFill>
          <a:ln w="12700">
            <a:solidFill>
              <a:srgbClr val="D1D5DB">
                <a:alpha val="0"/>
              </a:srgbClr>
            </a:solidFill>
            <a:prstDash val="solid"/>
          </a:ln>
        </p:spPr>
        <p:txBody>
          <a:bodyPr/>
          <a:lstStyle/>
          <a:p>
            <a:endParaRPr lang="en-US"/>
          </a:p>
        </p:txBody>
      </p:sp>
      <p:sp>
        <p:nvSpPr>
          <p:cNvPr id="16" name="Text 9"/>
          <p:cNvSpPr txBox="1"/>
          <p:nvPr/>
        </p:nvSpPr>
        <p:spPr>
          <a:xfrm>
            <a:off x="457200" y="5362956"/>
            <a:ext cx="9630461" cy="191110"/>
          </a:xfrm>
          <a:prstGeom prst="rect">
            <a:avLst/>
          </a:prstGeom>
          <a:noFill/>
          <a:ln/>
        </p:spPr>
        <p:txBody>
          <a:bodyPr wrap="square" lIns="0" tIns="0" rIns="0" bIns="0" rtlCol="0" anchor="ctr"/>
          <a:lstStyle/>
          <a:p>
            <a:pPr marL="0" indent="0" algn="l">
              <a:buNone/>
            </a:pPr>
            <a:r>
              <a:rPr lang="en-US" sz="1000" b="1" kern="0" spc="52">
                <a:solidFill>
                  <a:srgbClr val="2A9D8F"/>
                </a:solidFill>
                <a:latin typeface="Roboto Condensed" pitchFamily="34" charset="0"/>
                <a:ea typeface="Roboto Condensed" pitchFamily="34" charset="-122"/>
                <a:cs typeface="Roboto Condensed" pitchFamily="34" charset="-120"/>
              </a:rPr>
              <a:t>Trusted by:</a:t>
            </a:r>
            <a:endParaRPr lang="en-US" sz="1000"/>
          </a:p>
        </p:txBody>
      </p:sp>
      <p:sp>
        <p:nvSpPr>
          <p:cNvPr id="17" name="Shape 10"/>
          <p:cNvSpPr/>
          <p:nvPr/>
        </p:nvSpPr>
        <p:spPr>
          <a:xfrm>
            <a:off x="10362895" y="560527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18" name="Image 5" descr="preencoded.png"/>
          <p:cNvPicPr>
            <a:picLocks noChangeAspect="1"/>
          </p:cNvPicPr>
          <p:nvPr/>
        </p:nvPicPr>
        <p:blipFill>
          <a:blip r:embed="rId7"/>
          <a:srcRect/>
          <a:stretch/>
        </p:blipFill>
        <p:spPr>
          <a:xfrm>
            <a:off x="10577779" y="5672023"/>
            <a:ext cx="114300" cy="114300"/>
          </a:xfrm>
          <a:prstGeom prst="rect">
            <a:avLst/>
          </a:prstGeom>
        </p:spPr>
      </p:pic>
      <p:sp>
        <p:nvSpPr>
          <p:cNvPr id="19" name="Text 11"/>
          <p:cNvSpPr txBox="1"/>
          <p:nvPr/>
        </p:nvSpPr>
        <p:spPr>
          <a:xfrm>
            <a:off x="10767974" y="5605272"/>
            <a:ext cx="8101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ISO 9001:2015</a:t>
            </a:r>
            <a:endParaRPr lang="en-US" sz="900"/>
          </a:p>
        </p:txBody>
      </p:sp>
      <p:sp>
        <p:nvSpPr>
          <p:cNvPr id="20" name="Shape 12"/>
          <p:cNvSpPr/>
          <p:nvPr/>
        </p:nvSpPr>
        <p:spPr>
          <a:xfrm>
            <a:off x="10362895" y="5928970"/>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1" name="Image 6" descr="preencoded.png"/>
          <p:cNvPicPr>
            <a:picLocks noChangeAspect="1"/>
          </p:cNvPicPr>
          <p:nvPr/>
        </p:nvPicPr>
        <p:blipFill>
          <a:blip r:embed="rId8"/>
          <a:srcRect/>
          <a:stretch/>
        </p:blipFill>
        <p:spPr>
          <a:xfrm>
            <a:off x="10554919" y="5995721"/>
            <a:ext cx="114300" cy="114300"/>
          </a:xfrm>
          <a:prstGeom prst="rect">
            <a:avLst/>
          </a:prstGeom>
        </p:spPr>
      </p:pic>
      <p:sp>
        <p:nvSpPr>
          <p:cNvPr id="22" name="Text 13"/>
          <p:cNvSpPr txBox="1"/>
          <p:nvPr/>
        </p:nvSpPr>
        <p:spPr>
          <a:xfrm>
            <a:off x="10745114" y="5928970"/>
            <a:ext cx="857707"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CMMI Certified</a:t>
            </a:r>
            <a:endParaRPr lang="en-US" sz="900"/>
          </a:p>
        </p:txBody>
      </p:sp>
      <p:sp>
        <p:nvSpPr>
          <p:cNvPr id="23" name="Shape 14"/>
          <p:cNvSpPr/>
          <p:nvPr/>
        </p:nvSpPr>
        <p:spPr>
          <a:xfrm>
            <a:off x="10362895" y="625358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4" name="Image 7" descr="preencoded.png"/>
          <p:cNvPicPr>
            <a:picLocks noChangeAspect="1"/>
          </p:cNvPicPr>
          <p:nvPr/>
        </p:nvPicPr>
        <p:blipFill>
          <a:blip r:embed="rId9"/>
          <a:srcRect l="-133" r="-133"/>
          <a:stretch/>
        </p:blipFill>
        <p:spPr>
          <a:xfrm>
            <a:off x="10537546" y="6319418"/>
            <a:ext cx="85954" cy="114300"/>
          </a:xfrm>
          <a:prstGeom prst="rect">
            <a:avLst/>
          </a:prstGeom>
        </p:spPr>
      </p:pic>
      <p:sp>
        <p:nvSpPr>
          <p:cNvPr id="25" name="Text 15"/>
          <p:cNvSpPr txBox="1"/>
          <p:nvPr/>
        </p:nvSpPr>
        <p:spPr>
          <a:xfrm>
            <a:off x="10699394" y="6253582"/>
            <a:ext cx="9244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Women-Owned</a:t>
            </a:r>
            <a:endParaRPr lang="en-US" sz="900"/>
          </a:p>
        </p:txBody>
      </p:sp>
      <p:pic>
        <p:nvPicPr>
          <p:cNvPr id="26" name="Image 8" descr="preencoded.png"/>
          <p:cNvPicPr>
            <a:picLocks noChangeAspect="1"/>
          </p:cNvPicPr>
          <p:nvPr/>
        </p:nvPicPr>
        <p:blipFill>
          <a:blip r:embed="rId10">
            <a:alphaModFix amt="90000"/>
          </a:blip>
          <a:srcRect/>
          <a:stretch/>
        </p:blipFill>
        <p:spPr>
          <a:xfrm>
            <a:off x="457200" y="5700370"/>
            <a:ext cx="428854" cy="428854"/>
          </a:xfrm>
          <a:prstGeom prst="rect">
            <a:avLst/>
          </a:prstGeom>
        </p:spPr>
      </p:pic>
      <p:pic>
        <p:nvPicPr>
          <p:cNvPr id="27" name="Image 9" descr="preencoded.png"/>
          <p:cNvPicPr>
            <a:picLocks noChangeAspect="1"/>
          </p:cNvPicPr>
          <p:nvPr/>
        </p:nvPicPr>
        <p:blipFill>
          <a:blip r:embed="rId11">
            <a:alphaModFix amt="90000"/>
          </a:blip>
          <a:srcRect l="2016" r="2016"/>
          <a:stretch/>
        </p:blipFill>
        <p:spPr>
          <a:xfrm>
            <a:off x="1578254" y="5805526"/>
            <a:ext cx="1143000" cy="228600"/>
          </a:xfrm>
          <a:prstGeom prst="rect">
            <a:avLst/>
          </a:prstGeom>
        </p:spPr>
      </p:pic>
      <p:pic>
        <p:nvPicPr>
          <p:cNvPr id="28" name="Image 10" descr="preencoded.png"/>
          <p:cNvPicPr>
            <a:picLocks noChangeAspect="1"/>
          </p:cNvPicPr>
          <p:nvPr/>
        </p:nvPicPr>
        <p:blipFill>
          <a:blip r:embed="rId12">
            <a:alphaModFix amt="90000"/>
          </a:blip>
          <a:srcRect t="569" b="569"/>
          <a:stretch/>
        </p:blipFill>
        <p:spPr>
          <a:xfrm>
            <a:off x="3413455" y="5639105"/>
            <a:ext cx="838505" cy="552298"/>
          </a:xfrm>
          <a:prstGeom prst="rect">
            <a:avLst/>
          </a:prstGeom>
        </p:spPr>
      </p:pic>
      <p:pic>
        <p:nvPicPr>
          <p:cNvPr id="29" name="Image 11" descr="preencoded.png"/>
          <p:cNvPicPr>
            <a:picLocks noChangeAspect="1"/>
          </p:cNvPicPr>
          <p:nvPr/>
        </p:nvPicPr>
        <p:blipFill>
          <a:blip r:embed="rId13">
            <a:alphaModFix amt="90000"/>
          </a:blip>
          <a:srcRect t="563" b="563"/>
          <a:stretch/>
        </p:blipFill>
        <p:spPr>
          <a:xfrm>
            <a:off x="4935017" y="5648249"/>
            <a:ext cx="809244" cy="533095"/>
          </a:xfrm>
          <a:prstGeom prst="rect">
            <a:avLst/>
          </a:prstGeom>
        </p:spPr>
      </p:pic>
      <p:pic>
        <p:nvPicPr>
          <p:cNvPr id="30" name="Image 12" descr="preencoded.png"/>
          <p:cNvPicPr>
            <a:picLocks noChangeAspect="1"/>
          </p:cNvPicPr>
          <p:nvPr/>
        </p:nvPicPr>
        <p:blipFill>
          <a:blip r:embed="rId14">
            <a:alphaModFix amt="90000"/>
          </a:blip>
          <a:srcRect t="267" b="267"/>
          <a:stretch/>
        </p:blipFill>
        <p:spPr>
          <a:xfrm>
            <a:off x="6427318" y="5648249"/>
            <a:ext cx="952805" cy="533095"/>
          </a:xfrm>
          <a:prstGeom prst="rect">
            <a:avLst/>
          </a:prstGeom>
        </p:spPr>
      </p:pic>
      <p:pic>
        <p:nvPicPr>
          <p:cNvPr id="31" name="Image 13" descr="preencoded.png"/>
          <p:cNvPicPr>
            <a:picLocks noChangeAspect="1"/>
          </p:cNvPicPr>
          <p:nvPr/>
        </p:nvPicPr>
        <p:blipFill>
          <a:blip r:embed="rId15">
            <a:alphaModFix amt="90000"/>
          </a:blip>
          <a:srcRect/>
          <a:stretch/>
        </p:blipFill>
        <p:spPr>
          <a:xfrm>
            <a:off x="8067751" y="5662879"/>
            <a:ext cx="504749" cy="504749"/>
          </a:xfrm>
          <a:prstGeom prst="rect">
            <a:avLst/>
          </a:prstGeom>
        </p:spPr>
      </p:pic>
      <p:pic>
        <p:nvPicPr>
          <p:cNvPr id="32" name="Image 14" descr="preencoded.png"/>
          <p:cNvPicPr>
            <a:picLocks noChangeAspect="1"/>
          </p:cNvPicPr>
          <p:nvPr/>
        </p:nvPicPr>
        <p:blipFill>
          <a:blip r:embed="rId16">
            <a:alphaModFix amt="90000"/>
          </a:blip>
          <a:srcRect t="525" b="525"/>
          <a:stretch/>
        </p:blipFill>
        <p:spPr>
          <a:xfrm>
            <a:off x="9265615" y="5662879"/>
            <a:ext cx="714146" cy="504749"/>
          </a:xfrm>
          <a:prstGeom prst="rect">
            <a:avLst/>
          </a:prstGeom>
        </p:spPr>
      </p:pic>
      <p:pic>
        <p:nvPicPr>
          <p:cNvPr id="33" name="Image 15" descr="preencoded.png"/>
          <p:cNvPicPr>
            <a:picLocks noChangeAspect="1"/>
          </p:cNvPicPr>
          <p:nvPr/>
        </p:nvPicPr>
        <p:blipFill>
          <a:blip r:embed="rId17">
            <a:alphaModFix amt="90000"/>
          </a:blip>
          <a:srcRect l="688" r="688"/>
          <a:stretch/>
        </p:blipFill>
        <p:spPr>
          <a:xfrm>
            <a:off x="457200" y="6445606"/>
            <a:ext cx="1067105" cy="190195"/>
          </a:xfrm>
          <a:prstGeom prst="rect">
            <a:avLst/>
          </a:prstGeom>
        </p:spPr>
      </p:pic>
      <p:pic>
        <p:nvPicPr>
          <p:cNvPr id="34" name="Image 16" descr="preencoded.png"/>
          <p:cNvPicPr>
            <a:picLocks noChangeAspect="1"/>
          </p:cNvPicPr>
          <p:nvPr/>
        </p:nvPicPr>
        <p:blipFill>
          <a:blip r:embed="rId18">
            <a:alphaModFix amt="90000"/>
          </a:blip>
          <a:srcRect l="960" r="960"/>
          <a:stretch/>
        </p:blipFill>
        <p:spPr>
          <a:xfrm>
            <a:off x="2056486" y="6390742"/>
            <a:ext cx="1466698" cy="304495"/>
          </a:xfrm>
          <a:prstGeom prst="rect">
            <a:avLst/>
          </a:prstGeom>
        </p:spPr>
      </p:pic>
      <p:pic>
        <p:nvPicPr>
          <p:cNvPr id="35" name="Image 17" descr="preencoded.png"/>
          <p:cNvPicPr>
            <a:picLocks noChangeAspect="1"/>
          </p:cNvPicPr>
          <p:nvPr/>
        </p:nvPicPr>
        <p:blipFill>
          <a:blip r:embed="rId19">
            <a:alphaModFix amt="90000"/>
          </a:blip>
          <a:srcRect t="311" b="311"/>
          <a:stretch/>
        </p:blipFill>
        <p:spPr>
          <a:xfrm>
            <a:off x="4055364" y="6325819"/>
            <a:ext cx="828446" cy="428854"/>
          </a:xfrm>
          <a:prstGeom prst="rect">
            <a:avLst/>
          </a:prstGeom>
        </p:spPr>
      </p:pic>
      <p:pic>
        <p:nvPicPr>
          <p:cNvPr id="36" name="Image 18" descr="preencoded.png"/>
          <p:cNvPicPr>
            <a:picLocks noChangeAspect="1"/>
          </p:cNvPicPr>
          <p:nvPr/>
        </p:nvPicPr>
        <p:blipFill>
          <a:blip r:embed="rId20">
            <a:alphaModFix amt="90000"/>
          </a:blip>
          <a:srcRect t="385" b="385"/>
          <a:stretch/>
        </p:blipFill>
        <p:spPr>
          <a:xfrm>
            <a:off x="5410505" y="6325819"/>
            <a:ext cx="771754" cy="428854"/>
          </a:xfrm>
          <a:prstGeom prst="rect">
            <a:avLst/>
          </a:prstGeom>
        </p:spPr>
      </p:pic>
      <p:pic>
        <p:nvPicPr>
          <p:cNvPr id="38" name="Image 20" descr="preencoded.png"/>
          <p:cNvPicPr>
            <a:picLocks noChangeAspect="1"/>
          </p:cNvPicPr>
          <p:nvPr/>
        </p:nvPicPr>
        <p:blipFill>
          <a:blip r:embed="rId21">
            <a:alphaModFix amt="90000"/>
          </a:blip>
          <a:srcRect t="77" b="77"/>
          <a:stretch/>
        </p:blipFill>
        <p:spPr>
          <a:xfrm>
            <a:off x="7669073" y="6368796"/>
            <a:ext cx="629107" cy="342900"/>
          </a:xfrm>
          <a:prstGeom prst="rect">
            <a:avLst/>
          </a:prstGeom>
        </p:spPr>
      </p:pic>
      <p:pic>
        <p:nvPicPr>
          <p:cNvPr id="39" name="Image 21" descr="preencoded.png"/>
          <p:cNvPicPr>
            <a:picLocks noChangeAspect="1"/>
          </p:cNvPicPr>
          <p:nvPr/>
        </p:nvPicPr>
        <p:blipFill>
          <a:blip r:embed="rId22">
            <a:alphaModFix amt="90000"/>
          </a:blip>
          <a:srcRect l="1712" r="1712"/>
          <a:stretch/>
        </p:blipFill>
        <p:spPr>
          <a:xfrm>
            <a:off x="8829446" y="6420002"/>
            <a:ext cx="1143000" cy="247802"/>
          </a:xfrm>
          <a:prstGeom prst="rect">
            <a:avLst/>
          </a:prstGeom>
        </p:spPr>
      </p:pic>
      <p:pic>
        <p:nvPicPr>
          <p:cNvPr id="97" name="Picture 96" descr="Exclusive: Pure Storage's Everpure rebrand has one small problem: The brand  already exists - SDxCentral">
            <a:extLst>
              <a:ext uri="{FF2B5EF4-FFF2-40B4-BE49-F238E27FC236}">
                <a16:creationId xmlns:a16="http://schemas.microsoft.com/office/drawing/2014/main" id="{431B8AA5-2EE7-C68D-5346-7C18CD3AB9CF}"/>
              </a:ext>
            </a:extLst>
          </p:cNvPr>
          <p:cNvPicPr>
            <a:picLocks noChangeAspect="1"/>
          </p:cNvPicPr>
          <p:nvPr/>
        </p:nvPicPr>
        <p:blipFill>
          <a:blip r:embed="rId23"/>
          <a:stretch>
            <a:fillRect/>
          </a:stretch>
        </p:blipFill>
        <p:spPr>
          <a:xfrm>
            <a:off x="6427318" y="6420002"/>
            <a:ext cx="952805" cy="285841"/>
          </a:xfrm>
          <a:prstGeom prst="rect">
            <a:avLst/>
          </a:prstGeom>
        </p:spPr>
      </p:pic>
      <p:pic>
        <p:nvPicPr>
          <p:cNvPr id="40" name="Image 3" descr="preencoded.png">
            <a:extLst>
              <a:ext uri="{FF2B5EF4-FFF2-40B4-BE49-F238E27FC236}">
                <a16:creationId xmlns:a16="http://schemas.microsoft.com/office/drawing/2014/main" id="{AD729F10-2A32-258E-5636-C84113F55214}"/>
              </a:ext>
            </a:extLst>
          </p:cNvPr>
          <p:cNvPicPr>
            <a:picLocks noChangeAspect="1"/>
          </p:cNvPicPr>
          <p:nvPr/>
        </p:nvPicPr>
        <p:blipFill>
          <a:blip r:embed="rId24"/>
          <a:srcRect l="141" r="141"/>
          <a:stretch/>
        </p:blipFill>
        <p:spPr>
          <a:xfrm>
            <a:off x="3793181" y="875538"/>
            <a:ext cx="1770998" cy="856792"/>
          </a:xfrm>
          <a:prstGeom prst="rect">
            <a:avLst/>
          </a:prstGeom>
        </p:spPr>
      </p:pic>
      <p:sp>
        <p:nvSpPr>
          <p:cNvPr id="42" name="Text 5">
            <a:extLst>
              <a:ext uri="{FF2B5EF4-FFF2-40B4-BE49-F238E27FC236}">
                <a16:creationId xmlns:a16="http://schemas.microsoft.com/office/drawing/2014/main" id="{D5B95804-3138-A790-74EB-85C230F2A5AB}"/>
              </a:ext>
            </a:extLst>
          </p:cNvPr>
          <p:cNvSpPr txBox="1"/>
          <p:nvPr/>
        </p:nvSpPr>
        <p:spPr>
          <a:xfrm>
            <a:off x="5724849" y="790953"/>
            <a:ext cx="741372" cy="1143000"/>
          </a:xfrm>
          <a:prstGeom prst="rect">
            <a:avLst/>
          </a:prstGeom>
          <a:noFill/>
          <a:ln/>
        </p:spPr>
        <p:txBody>
          <a:bodyPr wrap="square" lIns="0" tIns="0" rIns="0" bIns="0" rtlCol="0" anchor="ctr"/>
          <a:lstStyle/>
          <a:p>
            <a:pPr marL="0" indent="0" algn="ctr">
              <a:buNone/>
            </a:pPr>
            <a:r>
              <a:rPr lang="en-US" sz="3600" b="1" dirty="0">
                <a:solidFill>
                  <a:srgbClr val="1F2937"/>
                </a:solidFill>
                <a:latin typeface="Oswald" pitchFamily="34" charset="0"/>
                <a:ea typeface="Oswald" pitchFamily="34" charset="-122"/>
                <a:cs typeface="Oswald" pitchFamily="34" charset="-120"/>
              </a:rPr>
              <a:t>&lt;&gt;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8953805" y="-571500"/>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8000"/>
          </a:blip>
          <a:srcRect/>
          <a:stretch/>
        </p:blipFill>
        <p:spPr>
          <a:xfrm>
            <a:off x="-381305" y="3715207"/>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513893"/>
            <a:ext cx="57607" cy="476402"/>
          </a:xfrm>
          <a:prstGeom prst="rect">
            <a:avLst/>
          </a:prstGeom>
        </p:spPr>
      </p:pic>
      <p:sp>
        <p:nvSpPr>
          <p:cNvPr id="9" name="Shape 3"/>
          <p:cNvSpPr/>
          <p:nvPr/>
        </p:nvSpPr>
        <p:spPr>
          <a:xfrm>
            <a:off x="609905" y="1387090"/>
            <a:ext cx="10972190" cy="1450129"/>
          </a:xfrm>
          <a:prstGeom prst="roundRect">
            <a:avLst>
              <a:gd name="adj" fmla="val 2853"/>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387090"/>
            <a:ext cx="47549" cy="1450129"/>
          </a:xfrm>
          <a:prstGeom prst="roundRect">
            <a:avLst>
              <a:gd name="adj" fmla="val 132625"/>
            </a:avLst>
          </a:prstGeom>
          <a:solidFill>
            <a:srgbClr val="111827"/>
          </a:solidFill>
          <a:ln w="12700">
            <a:solidFill>
              <a:srgbClr val="111827">
                <a:alpha val="0"/>
              </a:srgbClr>
            </a:solidFill>
            <a:prstDash val="solid"/>
          </a:ln>
        </p:spPr>
        <p:txBody>
          <a:bodyPr/>
          <a:lstStyle/>
          <a:p>
            <a:endParaRPr lang="en-US"/>
          </a:p>
        </p:txBody>
      </p:sp>
      <p:sp>
        <p:nvSpPr>
          <p:cNvPr id="14" name="Shape 8"/>
          <p:cNvSpPr/>
          <p:nvPr/>
        </p:nvSpPr>
        <p:spPr>
          <a:xfrm>
            <a:off x="609905"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5" name="Shape 9"/>
          <p:cNvSpPr/>
          <p:nvPr/>
        </p:nvSpPr>
        <p:spPr>
          <a:xfrm>
            <a:off x="4343400"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6" name="Shape 10"/>
          <p:cNvSpPr/>
          <p:nvPr/>
        </p:nvSpPr>
        <p:spPr>
          <a:xfrm>
            <a:off x="8076895" y="49533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7" name="Text 11"/>
          <p:cNvSpPr txBox="1"/>
          <p:nvPr/>
        </p:nvSpPr>
        <p:spPr>
          <a:xfrm>
            <a:off x="819302" y="466344"/>
            <a:ext cx="3810305" cy="342900"/>
          </a:xfrm>
          <a:prstGeom prst="rect">
            <a:avLst/>
          </a:prstGeom>
          <a:noFill/>
          <a:ln/>
        </p:spPr>
        <p:txBody>
          <a:bodyPr wrap="none" lIns="0" tIns="0" rIns="0" bIns="0" rtlCol="0" anchor="ctr"/>
          <a:lstStyle/>
          <a:p>
            <a:pPr marL="0" indent="0" algn="l">
              <a:buNone/>
            </a:pPr>
            <a:r>
              <a:rPr lang="en-US" sz="2400" b="1" dirty="0">
                <a:solidFill>
                  <a:srgbClr val="111827"/>
                </a:solidFill>
                <a:latin typeface="Oswald" pitchFamily="34" charset="0"/>
                <a:ea typeface="Oswald" pitchFamily="34" charset="-122"/>
                <a:cs typeface="Oswald" pitchFamily="34" charset="-120"/>
              </a:rPr>
              <a:t>WHO WE ARE</a:t>
            </a:r>
            <a:endParaRPr lang="en-US" sz="2400" dirty="0"/>
          </a:p>
        </p:txBody>
      </p:sp>
      <p:sp>
        <p:nvSpPr>
          <p:cNvPr id="18" name="Text 12"/>
          <p:cNvSpPr txBox="1"/>
          <p:nvPr/>
        </p:nvSpPr>
        <p:spPr>
          <a:xfrm>
            <a:off x="819302" y="858622"/>
            <a:ext cx="4496105" cy="152705"/>
          </a:xfrm>
          <a:prstGeom prst="rect">
            <a:avLst/>
          </a:prstGeom>
          <a:noFill/>
          <a:ln/>
        </p:spPr>
        <p:txBody>
          <a:bodyPr wrap="none" lIns="0" tIns="0" rIns="0" bIns="0" rtlCol="0" anchor="ctr"/>
          <a:lstStyle/>
          <a:p>
            <a:pPr marL="0" indent="0" algn="l">
              <a:buNone/>
            </a:pPr>
            <a:r>
              <a:rPr lang="en-US" sz="1500" b="1" kern="0" spc="52" dirty="0">
                <a:solidFill>
                  <a:srgbClr val="2A9D8F"/>
                </a:solidFill>
                <a:latin typeface="Roboto Condensed" pitchFamily="34" charset="0"/>
                <a:ea typeface="Roboto Condensed" pitchFamily="34" charset="-122"/>
                <a:cs typeface="Roboto Condensed" pitchFamily="34" charset="-120"/>
              </a:rPr>
              <a:t>The AI-native GCC platform - a decade in the making</a:t>
            </a:r>
            <a:endParaRPr lang="en-US" sz="1500" dirty="0"/>
          </a:p>
        </p:txBody>
      </p:sp>
      <p:sp>
        <p:nvSpPr>
          <p:cNvPr id="19" name="Text 13"/>
          <p:cNvSpPr txBox="1"/>
          <p:nvPr/>
        </p:nvSpPr>
        <p:spPr>
          <a:xfrm>
            <a:off x="990295" y="1465380"/>
            <a:ext cx="6967162" cy="648310"/>
          </a:xfrm>
          <a:prstGeom prst="rect">
            <a:avLst/>
          </a:prstGeom>
          <a:noFill/>
          <a:ln/>
        </p:spPr>
        <p:txBody>
          <a:bodyPr wrap="square" lIns="0" tIns="0" rIns="0" bIns="0" rtlCol="0" anchor="ctr"/>
          <a:lstStyle/>
          <a:p>
            <a:pPr marL="0" indent="0" algn="l">
              <a:buNone/>
            </a:pPr>
            <a:r>
              <a:rPr lang="en-US" sz="1900" b="1" dirty="0">
                <a:solidFill>
                  <a:srgbClr val="111827"/>
                </a:solidFill>
                <a:latin typeface="Oswald" pitchFamily="34" charset="0"/>
                <a:ea typeface="Oswald" pitchFamily="34" charset="-122"/>
                <a:cs typeface="Oswald" pitchFamily="34" charset="-120"/>
              </a:rPr>
              <a:t>J2W is the AI-native GCC platform for the Fortune 1000 and beyond.</a:t>
            </a:r>
            <a:endParaRPr lang="en-US" sz="1900" dirty="0"/>
          </a:p>
        </p:txBody>
      </p:sp>
      <p:sp>
        <p:nvSpPr>
          <p:cNvPr id="20" name="Text 14"/>
          <p:cNvSpPr txBox="1"/>
          <p:nvPr/>
        </p:nvSpPr>
        <p:spPr>
          <a:xfrm>
            <a:off x="990294" y="1977901"/>
            <a:ext cx="9144915" cy="685800"/>
          </a:xfrm>
          <a:prstGeom prst="rect">
            <a:avLst/>
          </a:prstGeom>
          <a:noFill/>
          <a:ln/>
        </p:spPr>
        <p:txBody>
          <a:bodyPr wrap="square" lIns="0" tIns="0" rIns="0" bIns="0" rtlCol="0" anchor="ctr"/>
          <a:lstStyle/>
          <a:p>
            <a:pPr marL="0" indent="0" algn="l">
              <a:buNone/>
            </a:pPr>
            <a:r>
              <a:rPr lang="en-US" sz="1100" dirty="0">
                <a:solidFill>
                  <a:srgbClr val="4B5563"/>
                </a:solidFill>
                <a:latin typeface="Raleway" pitchFamily="34" charset="0"/>
                <a:ea typeface="Raleway" pitchFamily="34" charset="-122"/>
                <a:cs typeface="Raleway" pitchFamily="34" charset="-120"/>
              </a:rPr>
              <a:t>Ten years building nothing but GCCs - so we solve the next problem before it shows up, deliver ROI in weeks where the industry takes quarters, and turn the GCC from a cost line into an innovation engine.</a:t>
            </a:r>
            <a:endParaRPr lang="en-US" sz="1100" dirty="0"/>
          </a:p>
        </p:txBody>
      </p:sp>
      <p:pic>
        <p:nvPicPr>
          <p:cNvPr id="30" name="Image 7" descr="gen-dedup-32cd67bc95385c5507b78533d3bab6e6.png"/>
          <p:cNvPicPr>
            <a:picLocks noChangeAspect="1"/>
          </p:cNvPicPr>
          <p:nvPr/>
        </p:nvPicPr>
        <p:blipFill>
          <a:blip r:embed="rId7"/>
          <a:srcRect l="-400" r="-400"/>
          <a:stretch/>
        </p:blipFill>
        <p:spPr>
          <a:xfrm>
            <a:off x="800100" y="5191049"/>
            <a:ext cx="38405" cy="571500"/>
          </a:xfrm>
          <a:prstGeom prst="rect">
            <a:avLst/>
          </a:prstGeom>
        </p:spPr>
      </p:pic>
      <p:sp>
        <p:nvSpPr>
          <p:cNvPr id="31" name="Text 21"/>
          <p:cNvSpPr txBox="1"/>
          <p:nvPr/>
        </p:nvSpPr>
        <p:spPr>
          <a:xfrm>
            <a:off x="990295"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5,500+</a:t>
            </a:r>
            <a:endParaRPr lang="en-US" sz="3100" dirty="0"/>
          </a:p>
        </p:txBody>
      </p:sp>
      <p:sp>
        <p:nvSpPr>
          <p:cNvPr id="32" name="Text 22"/>
          <p:cNvSpPr txBox="1"/>
          <p:nvPr/>
        </p:nvSpPr>
        <p:spPr>
          <a:xfrm>
            <a:off x="990295"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Industry &amp; tech experts</a:t>
            </a:r>
            <a:endParaRPr lang="en-US" sz="1200" dirty="0"/>
          </a:p>
        </p:txBody>
      </p:sp>
      <p:pic>
        <p:nvPicPr>
          <p:cNvPr id="33" name="Image 8" descr="gen-dedup-3d17221e8cd76f10a3e0815681bf2023.png"/>
          <p:cNvPicPr>
            <a:picLocks noChangeAspect="1"/>
          </p:cNvPicPr>
          <p:nvPr/>
        </p:nvPicPr>
        <p:blipFill>
          <a:blip r:embed="rId8"/>
          <a:srcRect l="-400" r="-400"/>
          <a:stretch/>
        </p:blipFill>
        <p:spPr>
          <a:xfrm>
            <a:off x="4533595" y="5191049"/>
            <a:ext cx="38405" cy="571500"/>
          </a:xfrm>
          <a:prstGeom prst="rect">
            <a:avLst/>
          </a:prstGeom>
        </p:spPr>
      </p:pic>
      <p:sp>
        <p:nvSpPr>
          <p:cNvPr id="34" name="Text 23"/>
          <p:cNvSpPr txBox="1"/>
          <p:nvPr/>
        </p:nvSpPr>
        <p:spPr>
          <a:xfrm>
            <a:off x="4724705" y="5191049"/>
            <a:ext cx="1705356"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8</a:t>
            </a:r>
            <a:endParaRPr lang="en-US" sz="3100" dirty="0"/>
          </a:p>
        </p:txBody>
      </p:sp>
      <p:sp>
        <p:nvSpPr>
          <p:cNvPr id="35" name="Text 24"/>
          <p:cNvSpPr txBox="1"/>
          <p:nvPr/>
        </p:nvSpPr>
        <p:spPr>
          <a:xfrm>
            <a:off x="4724705" y="5707685"/>
            <a:ext cx="202905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Countries with footprint</a:t>
            </a:r>
            <a:endParaRPr lang="en-US" sz="1200" dirty="0"/>
          </a:p>
        </p:txBody>
      </p:sp>
      <p:pic>
        <p:nvPicPr>
          <p:cNvPr id="36" name="Image 9" descr="gen-dedup-32cd67bc95385c5507b78533d3bab6e6.png"/>
          <p:cNvPicPr>
            <a:picLocks noChangeAspect="1"/>
          </p:cNvPicPr>
          <p:nvPr/>
        </p:nvPicPr>
        <p:blipFill>
          <a:blip r:embed="rId7"/>
          <a:srcRect l="-400" r="-400"/>
          <a:stretch/>
        </p:blipFill>
        <p:spPr>
          <a:xfrm>
            <a:off x="8268005" y="5191049"/>
            <a:ext cx="38405" cy="571500"/>
          </a:xfrm>
          <a:prstGeom prst="rect">
            <a:avLst/>
          </a:prstGeom>
        </p:spPr>
      </p:pic>
      <p:sp>
        <p:nvSpPr>
          <p:cNvPr id="37" name="Text 25"/>
          <p:cNvSpPr txBox="1"/>
          <p:nvPr/>
        </p:nvSpPr>
        <p:spPr>
          <a:xfrm>
            <a:off x="8458200"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60+</a:t>
            </a:r>
            <a:endParaRPr lang="en-US" sz="3100" dirty="0"/>
          </a:p>
        </p:txBody>
      </p:sp>
      <p:sp>
        <p:nvSpPr>
          <p:cNvPr id="38" name="Text 26"/>
          <p:cNvSpPr txBox="1"/>
          <p:nvPr/>
        </p:nvSpPr>
        <p:spPr>
          <a:xfrm>
            <a:off x="8458200"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AI-enabled capabilities</a:t>
            </a:r>
            <a:endParaRPr lang="en-US" sz="1200" dirty="0"/>
          </a:p>
        </p:txBody>
      </p:sp>
      <p:sp>
        <p:nvSpPr>
          <p:cNvPr id="3" name="Shape 5">
            <a:extLst>
              <a:ext uri="{FF2B5EF4-FFF2-40B4-BE49-F238E27FC236}">
                <a16:creationId xmlns:a16="http://schemas.microsoft.com/office/drawing/2014/main" id="{6251CF81-51BC-B20D-5405-1576566CB6D1}"/>
              </a:ext>
            </a:extLst>
          </p:cNvPr>
          <p:cNvSpPr/>
          <p:nvPr/>
        </p:nvSpPr>
        <p:spPr>
          <a:xfrm>
            <a:off x="609904" y="3238805"/>
            <a:ext cx="7181697"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40" name="Shape 6">
            <a:extLst>
              <a:ext uri="{FF2B5EF4-FFF2-40B4-BE49-F238E27FC236}">
                <a16:creationId xmlns:a16="http://schemas.microsoft.com/office/drawing/2014/main" id="{334F1DA2-2E2A-07EB-F9C9-E437459F6A4A}"/>
              </a:ext>
            </a:extLst>
          </p:cNvPr>
          <p:cNvSpPr/>
          <p:nvPr/>
        </p:nvSpPr>
        <p:spPr>
          <a:xfrm>
            <a:off x="8076895"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pic>
        <p:nvPicPr>
          <p:cNvPr id="42" name="Image 4" descr="gen-dedup-3d17221e8cd76f10a3e0815681bf2023.png">
            <a:extLst>
              <a:ext uri="{FF2B5EF4-FFF2-40B4-BE49-F238E27FC236}">
                <a16:creationId xmlns:a16="http://schemas.microsoft.com/office/drawing/2014/main" id="{37ADDEB3-4F89-7DC2-83AE-784EB7520B5C}"/>
              </a:ext>
            </a:extLst>
          </p:cNvPr>
          <p:cNvPicPr>
            <a:picLocks noChangeAspect="1"/>
          </p:cNvPicPr>
          <p:nvPr/>
        </p:nvPicPr>
        <p:blipFill>
          <a:blip r:embed="rId8"/>
          <a:srcRect l="-400" r="-400"/>
          <a:stretch/>
        </p:blipFill>
        <p:spPr>
          <a:xfrm>
            <a:off x="800100" y="3476549"/>
            <a:ext cx="38405" cy="571500"/>
          </a:xfrm>
          <a:prstGeom prst="rect">
            <a:avLst/>
          </a:prstGeom>
        </p:spPr>
      </p:pic>
      <p:sp>
        <p:nvSpPr>
          <p:cNvPr id="44" name="Text 15">
            <a:extLst>
              <a:ext uri="{FF2B5EF4-FFF2-40B4-BE49-F238E27FC236}">
                <a16:creationId xmlns:a16="http://schemas.microsoft.com/office/drawing/2014/main" id="{5CA2CEF8-0E01-5FD7-103D-44B8E7CF3DB0}"/>
              </a:ext>
            </a:extLst>
          </p:cNvPr>
          <p:cNvSpPr txBox="1"/>
          <p:nvPr/>
        </p:nvSpPr>
        <p:spPr>
          <a:xfrm>
            <a:off x="990295" y="3476549"/>
            <a:ext cx="1552651"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10+</a:t>
            </a:r>
            <a:endParaRPr lang="en-US" sz="3100" dirty="0"/>
          </a:p>
        </p:txBody>
      </p:sp>
      <p:sp>
        <p:nvSpPr>
          <p:cNvPr id="46" name="Text 16">
            <a:extLst>
              <a:ext uri="{FF2B5EF4-FFF2-40B4-BE49-F238E27FC236}">
                <a16:creationId xmlns:a16="http://schemas.microsoft.com/office/drawing/2014/main" id="{29CC2507-6071-700F-886B-CD7E47AD2547}"/>
              </a:ext>
            </a:extLst>
          </p:cNvPr>
          <p:cNvSpPr txBox="1"/>
          <p:nvPr/>
        </p:nvSpPr>
        <p:spPr>
          <a:xfrm>
            <a:off x="990295" y="3993185"/>
            <a:ext cx="1848002"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Years GCC leadership</a:t>
            </a:r>
            <a:endParaRPr lang="en-US" sz="1200" dirty="0"/>
          </a:p>
        </p:txBody>
      </p:sp>
      <p:pic>
        <p:nvPicPr>
          <p:cNvPr id="48" name="Image 5" descr="gen-dedup-32cd67bc95385c5507b78533d3bab6e6.png">
            <a:extLst>
              <a:ext uri="{FF2B5EF4-FFF2-40B4-BE49-F238E27FC236}">
                <a16:creationId xmlns:a16="http://schemas.microsoft.com/office/drawing/2014/main" id="{418D492C-990A-6F23-C9AB-EF1157960D2B}"/>
              </a:ext>
            </a:extLst>
          </p:cNvPr>
          <p:cNvPicPr>
            <a:picLocks noChangeAspect="1"/>
          </p:cNvPicPr>
          <p:nvPr/>
        </p:nvPicPr>
        <p:blipFill>
          <a:blip r:embed="rId7"/>
          <a:srcRect l="-400" r="-400"/>
          <a:stretch/>
        </p:blipFill>
        <p:spPr>
          <a:xfrm>
            <a:off x="8267090" y="3476549"/>
            <a:ext cx="38405" cy="571500"/>
          </a:xfrm>
          <a:prstGeom prst="rect">
            <a:avLst/>
          </a:prstGeom>
        </p:spPr>
      </p:pic>
      <p:sp>
        <p:nvSpPr>
          <p:cNvPr id="50" name="Text 17">
            <a:extLst>
              <a:ext uri="{FF2B5EF4-FFF2-40B4-BE49-F238E27FC236}">
                <a16:creationId xmlns:a16="http://schemas.microsoft.com/office/drawing/2014/main" id="{73CBA601-76A7-6547-F4B1-DB909E3F8DF2}"/>
              </a:ext>
            </a:extLst>
          </p:cNvPr>
          <p:cNvSpPr txBox="1"/>
          <p:nvPr/>
        </p:nvSpPr>
        <p:spPr>
          <a:xfrm>
            <a:off x="8458200" y="3476549"/>
            <a:ext cx="17913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330+</a:t>
            </a:r>
            <a:endParaRPr lang="en-US" sz="3100" dirty="0"/>
          </a:p>
        </p:txBody>
      </p:sp>
      <p:sp>
        <p:nvSpPr>
          <p:cNvPr id="52" name="Text 18">
            <a:extLst>
              <a:ext uri="{FF2B5EF4-FFF2-40B4-BE49-F238E27FC236}">
                <a16:creationId xmlns:a16="http://schemas.microsoft.com/office/drawing/2014/main" id="{C3BCB01F-1E20-C8A3-302E-6DF6DE56C557}"/>
              </a:ext>
            </a:extLst>
          </p:cNvPr>
          <p:cNvSpPr txBox="1"/>
          <p:nvPr/>
        </p:nvSpPr>
        <p:spPr>
          <a:xfrm>
            <a:off x="8458200" y="3993185"/>
            <a:ext cx="2131466"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GCCs built: greenfield &amp; brownfield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6">
            <a:extLst>
              <a:ext uri="{FF2B5EF4-FFF2-40B4-BE49-F238E27FC236}">
                <a16:creationId xmlns:a16="http://schemas.microsoft.com/office/drawing/2014/main" id="{BC38BC13-DFC1-F89E-0089-AA5AA093AE76}"/>
              </a:ext>
            </a:extLst>
          </p:cNvPr>
          <p:cNvSpPr/>
          <p:nvPr/>
        </p:nvSpPr>
        <p:spPr>
          <a:xfrm>
            <a:off x="609595" y="3248406"/>
            <a:ext cx="5295445"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4" name="Shape 2"/>
          <p:cNvSpPr/>
          <p:nvPr/>
        </p:nvSpPr>
        <p:spPr>
          <a:xfrm>
            <a:off x="8953805" y="-571500"/>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8000"/>
          </a:blip>
          <a:srcRect/>
          <a:stretch/>
        </p:blipFill>
        <p:spPr>
          <a:xfrm>
            <a:off x="-381305" y="3715207"/>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513893"/>
            <a:ext cx="57607" cy="476402"/>
          </a:xfrm>
          <a:prstGeom prst="rect">
            <a:avLst/>
          </a:prstGeom>
        </p:spPr>
      </p:pic>
      <p:sp>
        <p:nvSpPr>
          <p:cNvPr id="9" name="Shape 3"/>
          <p:cNvSpPr/>
          <p:nvPr/>
        </p:nvSpPr>
        <p:spPr>
          <a:xfrm>
            <a:off x="609905" y="1387090"/>
            <a:ext cx="10972190" cy="1450129"/>
          </a:xfrm>
          <a:prstGeom prst="roundRect">
            <a:avLst>
              <a:gd name="adj" fmla="val 2853"/>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387090"/>
            <a:ext cx="47549" cy="1450129"/>
          </a:xfrm>
          <a:prstGeom prst="roundRect">
            <a:avLst>
              <a:gd name="adj" fmla="val 132625"/>
            </a:avLst>
          </a:prstGeom>
          <a:solidFill>
            <a:srgbClr val="111827"/>
          </a:solidFill>
          <a:ln w="12700">
            <a:solidFill>
              <a:srgbClr val="111827">
                <a:alpha val="0"/>
              </a:srgbClr>
            </a:solidFill>
            <a:prstDash val="solid"/>
          </a:ln>
        </p:spPr>
        <p:txBody>
          <a:bodyPr/>
          <a:lstStyle/>
          <a:p>
            <a:endParaRPr lang="en-US"/>
          </a:p>
        </p:txBody>
      </p:sp>
      <p:sp>
        <p:nvSpPr>
          <p:cNvPr id="12" name="Shape 6"/>
          <p:cNvSpPr/>
          <p:nvPr/>
        </p:nvSpPr>
        <p:spPr>
          <a:xfrm>
            <a:off x="6057745" y="3238805"/>
            <a:ext cx="554324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5" name="Shape 9"/>
          <p:cNvSpPr/>
          <p:nvPr/>
        </p:nvSpPr>
        <p:spPr>
          <a:xfrm>
            <a:off x="609594" y="4953305"/>
            <a:ext cx="5295445"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6" name="Shape 10"/>
          <p:cNvSpPr/>
          <p:nvPr/>
        </p:nvSpPr>
        <p:spPr>
          <a:xfrm>
            <a:off x="6057745" y="4953305"/>
            <a:ext cx="554324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7" name="Text 11"/>
          <p:cNvSpPr txBox="1"/>
          <p:nvPr/>
        </p:nvSpPr>
        <p:spPr>
          <a:xfrm>
            <a:off x="819302" y="466344"/>
            <a:ext cx="3810305" cy="342900"/>
          </a:xfrm>
          <a:prstGeom prst="rect">
            <a:avLst/>
          </a:prstGeom>
          <a:noFill/>
          <a:ln/>
        </p:spPr>
        <p:txBody>
          <a:bodyPr wrap="none" lIns="0" tIns="0" rIns="0" bIns="0" rtlCol="0" anchor="ctr"/>
          <a:lstStyle/>
          <a:p>
            <a:pPr marL="0" indent="0" algn="l">
              <a:buNone/>
            </a:pPr>
            <a:r>
              <a:rPr lang="en-US" sz="2400" b="1" dirty="0">
                <a:solidFill>
                  <a:srgbClr val="111827"/>
                </a:solidFill>
                <a:latin typeface="Oswald" pitchFamily="34" charset="0"/>
                <a:ea typeface="Oswald" pitchFamily="34" charset="-122"/>
                <a:cs typeface="Oswald" pitchFamily="34" charset="-120"/>
              </a:rPr>
              <a:t>WHO WE ARE</a:t>
            </a:r>
            <a:endParaRPr lang="en-US" sz="2400" dirty="0"/>
          </a:p>
        </p:txBody>
      </p:sp>
      <p:sp>
        <p:nvSpPr>
          <p:cNvPr id="18" name="Text 12"/>
          <p:cNvSpPr txBox="1"/>
          <p:nvPr/>
        </p:nvSpPr>
        <p:spPr>
          <a:xfrm>
            <a:off x="819302" y="858622"/>
            <a:ext cx="4496105" cy="152705"/>
          </a:xfrm>
          <a:prstGeom prst="rect">
            <a:avLst/>
          </a:prstGeom>
          <a:noFill/>
          <a:ln/>
        </p:spPr>
        <p:txBody>
          <a:bodyPr wrap="none" lIns="0" tIns="0" rIns="0" bIns="0" rtlCol="0" anchor="ctr"/>
          <a:lstStyle/>
          <a:p>
            <a:pPr marL="0" indent="0" algn="l">
              <a:buNone/>
            </a:pPr>
            <a:r>
              <a:rPr lang="en-US" sz="1500" b="1" kern="0" spc="52" dirty="0">
                <a:solidFill>
                  <a:srgbClr val="2A9D8F"/>
                </a:solidFill>
                <a:latin typeface="Roboto Condensed" pitchFamily="34" charset="0"/>
                <a:ea typeface="Roboto Condensed" pitchFamily="34" charset="-122"/>
                <a:cs typeface="Roboto Condensed" pitchFamily="34" charset="-120"/>
              </a:rPr>
              <a:t>The AI-native GCC platform - a decade in the making</a:t>
            </a:r>
            <a:endParaRPr lang="en-US" sz="1500" dirty="0"/>
          </a:p>
        </p:txBody>
      </p:sp>
      <p:sp>
        <p:nvSpPr>
          <p:cNvPr id="19" name="Text 13"/>
          <p:cNvSpPr txBox="1"/>
          <p:nvPr/>
        </p:nvSpPr>
        <p:spPr>
          <a:xfrm>
            <a:off x="990295" y="1465380"/>
            <a:ext cx="6967162" cy="648310"/>
          </a:xfrm>
          <a:prstGeom prst="rect">
            <a:avLst/>
          </a:prstGeom>
          <a:noFill/>
          <a:ln/>
        </p:spPr>
        <p:txBody>
          <a:bodyPr wrap="square" lIns="0" tIns="0" rIns="0" bIns="0" rtlCol="0" anchor="ctr"/>
          <a:lstStyle/>
          <a:p>
            <a:pPr marL="0" indent="0" algn="l">
              <a:buNone/>
            </a:pPr>
            <a:r>
              <a:rPr lang="en-US" sz="1900" b="1" dirty="0">
                <a:solidFill>
                  <a:srgbClr val="111827"/>
                </a:solidFill>
                <a:latin typeface="Oswald" pitchFamily="34" charset="0"/>
                <a:ea typeface="Oswald" pitchFamily="34" charset="-122"/>
                <a:cs typeface="Oswald" pitchFamily="34" charset="-120"/>
              </a:rPr>
              <a:t>J2W is the AI-native GCC platform for the Fortune 1000 and beyond.</a:t>
            </a:r>
            <a:endParaRPr lang="en-US" sz="1900" dirty="0"/>
          </a:p>
        </p:txBody>
      </p:sp>
      <p:sp>
        <p:nvSpPr>
          <p:cNvPr id="20" name="Text 14"/>
          <p:cNvSpPr txBox="1"/>
          <p:nvPr/>
        </p:nvSpPr>
        <p:spPr>
          <a:xfrm>
            <a:off x="990294" y="1977901"/>
            <a:ext cx="9144915" cy="685800"/>
          </a:xfrm>
          <a:prstGeom prst="rect">
            <a:avLst/>
          </a:prstGeom>
          <a:noFill/>
          <a:ln/>
        </p:spPr>
        <p:txBody>
          <a:bodyPr wrap="square" lIns="0" tIns="0" rIns="0" bIns="0" rtlCol="0" anchor="ctr"/>
          <a:lstStyle/>
          <a:p>
            <a:pPr marL="0" indent="0" algn="l">
              <a:buNone/>
            </a:pPr>
            <a:r>
              <a:rPr lang="en-US" sz="1100" dirty="0">
                <a:solidFill>
                  <a:srgbClr val="4B5563"/>
                </a:solidFill>
                <a:latin typeface="Raleway" pitchFamily="34" charset="0"/>
                <a:ea typeface="Raleway" pitchFamily="34" charset="-122"/>
                <a:cs typeface="Raleway" pitchFamily="34" charset="-120"/>
              </a:rPr>
              <a:t>Ten years building nothing but GCCs - so we solve the next problem before it shows up, deliver ROI in weeks where the industry takes quarters, and turn the GCC from a cost line into an innovation engine.</a:t>
            </a:r>
            <a:endParaRPr lang="en-US" sz="1100" dirty="0"/>
          </a:p>
        </p:txBody>
      </p:sp>
      <p:pic>
        <p:nvPicPr>
          <p:cNvPr id="21" name="Image 4" descr="gen-dedup-3d17221e8cd76f10a3e0815681bf2023.png"/>
          <p:cNvPicPr>
            <a:picLocks noChangeAspect="1"/>
          </p:cNvPicPr>
          <p:nvPr/>
        </p:nvPicPr>
        <p:blipFill>
          <a:blip r:embed="rId7"/>
          <a:srcRect l="-400" r="-400"/>
          <a:stretch/>
        </p:blipFill>
        <p:spPr>
          <a:xfrm>
            <a:off x="800100" y="3476549"/>
            <a:ext cx="38405" cy="571500"/>
          </a:xfrm>
          <a:prstGeom prst="rect">
            <a:avLst/>
          </a:prstGeom>
        </p:spPr>
      </p:pic>
      <p:sp>
        <p:nvSpPr>
          <p:cNvPr id="22" name="Text 15"/>
          <p:cNvSpPr txBox="1"/>
          <p:nvPr/>
        </p:nvSpPr>
        <p:spPr>
          <a:xfrm>
            <a:off x="990295" y="3476549"/>
            <a:ext cx="1552651"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10+</a:t>
            </a:r>
            <a:endParaRPr lang="en-US" sz="3100" dirty="0"/>
          </a:p>
        </p:txBody>
      </p:sp>
      <p:sp>
        <p:nvSpPr>
          <p:cNvPr id="23" name="Text 16"/>
          <p:cNvSpPr txBox="1"/>
          <p:nvPr/>
        </p:nvSpPr>
        <p:spPr>
          <a:xfrm>
            <a:off x="990295" y="3993185"/>
            <a:ext cx="1848002"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Years GCC leadership</a:t>
            </a:r>
            <a:endParaRPr lang="en-US" sz="1200" dirty="0"/>
          </a:p>
        </p:txBody>
      </p:sp>
      <p:pic>
        <p:nvPicPr>
          <p:cNvPr id="24" name="Image 5" descr="gen-dedup-32cd67bc95385c5507b78533d3bab6e6.png"/>
          <p:cNvPicPr>
            <a:picLocks noChangeAspect="1"/>
          </p:cNvPicPr>
          <p:nvPr/>
        </p:nvPicPr>
        <p:blipFill>
          <a:blip r:embed="rId8"/>
          <a:srcRect l="-400" r="-400"/>
          <a:stretch/>
        </p:blipFill>
        <p:spPr>
          <a:xfrm>
            <a:off x="6247941" y="3476549"/>
            <a:ext cx="38405" cy="571500"/>
          </a:xfrm>
          <a:prstGeom prst="rect">
            <a:avLst/>
          </a:prstGeom>
        </p:spPr>
      </p:pic>
      <p:sp>
        <p:nvSpPr>
          <p:cNvPr id="25" name="Text 17"/>
          <p:cNvSpPr txBox="1"/>
          <p:nvPr/>
        </p:nvSpPr>
        <p:spPr>
          <a:xfrm>
            <a:off x="6439051" y="3476549"/>
            <a:ext cx="17913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320+</a:t>
            </a:r>
            <a:endParaRPr lang="en-US" sz="3100" dirty="0"/>
          </a:p>
        </p:txBody>
      </p:sp>
      <p:sp>
        <p:nvSpPr>
          <p:cNvPr id="26" name="Text 18"/>
          <p:cNvSpPr txBox="1"/>
          <p:nvPr/>
        </p:nvSpPr>
        <p:spPr>
          <a:xfrm>
            <a:off x="6439051" y="3993185"/>
            <a:ext cx="2131466"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Enterprise clients served</a:t>
            </a:r>
            <a:endParaRPr lang="en-US" sz="1200" dirty="0"/>
          </a:p>
        </p:txBody>
      </p:sp>
      <p:pic>
        <p:nvPicPr>
          <p:cNvPr id="33" name="Image 8" descr="gen-dedup-3d17221e8cd76f10a3e0815681bf2023.png"/>
          <p:cNvPicPr>
            <a:picLocks noChangeAspect="1"/>
          </p:cNvPicPr>
          <p:nvPr/>
        </p:nvPicPr>
        <p:blipFill>
          <a:blip r:embed="rId7"/>
          <a:srcRect l="-400" r="-400"/>
          <a:stretch/>
        </p:blipFill>
        <p:spPr>
          <a:xfrm>
            <a:off x="799790" y="5191049"/>
            <a:ext cx="38405" cy="571500"/>
          </a:xfrm>
          <a:prstGeom prst="rect">
            <a:avLst/>
          </a:prstGeom>
        </p:spPr>
      </p:pic>
      <p:sp>
        <p:nvSpPr>
          <p:cNvPr id="34" name="Text 23"/>
          <p:cNvSpPr txBox="1"/>
          <p:nvPr/>
        </p:nvSpPr>
        <p:spPr>
          <a:xfrm>
            <a:off x="990900" y="5191049"/>
            <a:ext cx="1705356"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8</a:t>
            </a:r>
            <a:endParaRPr lang="en-US" sz="3100" dirty="0"/>
          </a:p>
        </p:txBody>
      </p:sp>
      <p:sp>
        <p:nvSpPr>
          <p:cNvPr id="35" name="Text 24"/>
          <p:cNvSpPr txBox="1"/>
          <p:nvPr/>
        </p:nvSpPr>
        <p:spPr>
          <a:xfrm>
            <a:off x="990900" y="5707685"/>
            <a:ext cx="202905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Countries with footprint</a:t>
            </a:r>
            <a:endParaRPr lang="en-US" sz="1200" dirty="0"/>
          </a:p>
        </p:txBody>
      </p:sp>
      <p:pic>
        <p:nvPicPr>
          <p:cNvPr id="36" name="Image 9" descr="gen-dedup-32cd67bc95385c5507b78533d3bab6e6.png"/>
          <p:cNvPicPr>
            <a:picLocks noChangeAspect="1"/>
          </p:cNvPicPr>
          <p:nvPr/>
        </p:nvPicPr>
        <p:blipFill>
          <a:blip r:embed="rId8"/>
          <a:srcRect l="-400" r="-400"/>
          <a:stretch/>
        </p:blipFill>
        <p:spPr>
          <a:xfrm>
            <a:off x="6248855" y="5191049"/>
            <a:ext cx="38405" cy="571500"/>
          </a:xfrm>
          <a:prstGeom prst="rect">
            <a:avLst/>
          </a:prstGeom>
        </p:spPr>
      </p:pic>
      <p:sp>
        <p:nvSpPr>
          <p:cNvPr id="37" name="Text 25"/>
          <p:cNvSpPr txBox="1"/>
          <p:nvPr/>
        </p:nvSpPr>
        <p:spPr>
          <a:xfrm>
            <a:off x="6439050"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60+</a:t>
            </a:r>
            <a:endParaRPr lang="en-US" sz="3100" dirty="0"/>
          </a:p>
        </p:txBody>
      </p:sp>
      <p:sp>
        <p:nvSpPr>
          <p:cNvPr id="38" name="Text 26"/>
          <p:cNvSpPr txBox="1"/>
          <p:nvPr/>
        </p:nvSpPr>
        <p:spPr>
          <a:xfrm>
            <a:off x="6439050"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AI-enabled capabilities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gen-dedup-eae513f7589b684705cecd0a1fd419bd.png"/>
          <p:cNvPicPr>
            <a:picLocks noChangeAspect="1"/>
          </p:cNvPicPr>
          <p:nvPr/>
        </p:nvPicPr>
        <p:blipFill>
          <a:blip r:embed="rId3">
            <a:alphaModFix amt="15000"/>
          </a:blip>
          <a:srcRect l="-38540" r="-38540"/>
          <a:stretch/>
        </p:blipFill>
        <p:spPr>
          <a:xfrm>
            <a:off x="286207" y="1143000"/>
            <a:ext cx="8096098" cy="4572000"/>
          </a:xfrm>
          <a:prstGeom prst="rect">
            <a:avLst/>
          </a:prstGeom>
        </p:spPr>
      </p:pic>
      <p:pic>
        <p:nvPicPr>
          <p:cNvPr id="3" name="Image 1" descr="gen-dedup-37abb9d8cc081a24feb608c288538026.png"/>
          <p:cNvPicPr>
            <a:picLocks noChangeAspect="1"/>
          </p:cNvPicPr>
          <p:nvPr/>
        </p:nvPicPr>
        <p:blipFill>
          <a:blip r:embed="rId4"/>
          <a:srcRect l="-198" r="-198"/>
          <a:stretch/>
        </p:blipFill>
        <p:spPr>
          <a:xfrm>
            <a:off x="0" y="0"/>
            <a:ext cx="8124444" cy="75895"/>
          </a:xfrm>
          <a:prstGeom prst="rect">
            <a:avLst/>
          </a:prstGeom>
        </p:spPr>
      </p:pic>
      <p:pic>
        <p:nvPicPr>
          <p:cNvPr id="4" name="Image 2" descr="gen-dedup-c2c9136402f20c216bf7cbcc052ad1a0.png"/>
          <p:cNvPicPr>
            <a:picLocks noChangeAspect="1"/>
          </p:cNvPicPr>
          <p:nvPr/>
        </p:nvPicPr>
        <p:blipFill>
          <a:blip r:embed="rId5"/>
          <a:srcRect l="-202" r="-202"/>
          <a:stretch/>
        </p:blipFill>
        <p:spPr>
          <a:xfrm>
            <a:off x="8124444" y="0"/>
            <a:ext cx="4067251" cy="75895"/>
          </a:xfrm>
          <a:prstGeom prst="rect">
            <a:avLst/>
          </a:prstGeom>
        </p:spPr>
      </p:pic>
      <p:pic>
        <p:nvPicPr>
          <p:cNvPr id="5" name="Image 3" descr="gen-dedup-c8fa2eb184fc8de7f554dc71374b921a.png"/>
          <p:cNvPicPr>
            <a:picLocks noChangeAspect="1"/>
          </p:cNvPicPr>
          <p:nvPr/>
        </p:nvPicPr>
        <p:blipFill>
          <a:blip r:embed="rId6"/>
          <a:srcRect t="-1" b="-1"/>
          <a:stretch/>
        </p:blipFill>
        <p:spPr>
          <a:xfrm>
            <a:off x="0" y="0"/>
            <a:ext cx="12191695" cy="6858000"/>
          </a:xfrm>
          <a:prstGeom prst="rect">
            <a:avLst/>
          </a:prstGeom>
        </p:spPr>
      </p:pic>
      <p:sp>
        <p:nvSpPr>
          <p:cNvPr id="6" name="Shape 0"/>
          <p:cNvSpPr/>
          <p:nvPr/>
        </p:nvSpPr>
        <p:spPr>
          <a:xfrm>
            <a:off x="8715146" y="1333195"/>
            <a:ext cx="2924251" cy="4781398"/>
          </a:xfrm>
          <a:prstGeom prst="roundRect">
            <a:avLst>
              <a:gd name="adj" fmla="val 2595"/>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7" name="Shape 1"/>
          <p:cNvSpPr/>
          <p:nvPr/>
        </p:nvSpPr>
        <p:spPr>
          <a:xfrm>
            <a:off x="609905" y="6286500"/>
            <a:ext cx="10992002" cy="400507"/>
          </a:xfrm>
          <a:prstGeom prst="roundRect">
            <a:avLst>
              <a:gd name="adj" fmla="val 14384"/>
            </a:avLst>
          </a:prstGeom>
          <a:solidFill>
            <a:srgbClr val="F8FAFC"/>
          </a:solidFill>
          <a:ln w="12700">
            <a:solidFill>
              <a:srgbClr val="E2E8F0"/>
            </a:solidFill>
            <a:prstDash val="solid"/>
          </a:ln>
        </p:spPr>
        <p:txBody>
          <a:bodyPr/>
          <a:lstStyle/>
          <a:p>
            <a:endParaRPr lang="en-US"/>
          </a:p>
        </p:txBody>
      </p:sp>
      <p:sp>
        <p:nvSpPr>
          <p:cNvPr id="8" name="Shape 2"/>
          <p:cNvSpPr/>
          <p:nvPr/>
        </p:nvSpPr>
        <p:spPr>
          <a:xfrm>
            <a:off x="1714500" y="3000146"/>
            <a:ext cx="95098" cy="95098"/>
          </a:xfrm>
          <a:prstGeom prst="ellipse">
            <a:avLst/>
          </a:prstGeom>
          <a:solidFill>
            <a:srgbClr val="2A9D8F"/>
          </a:solidFill>
          <a:ln w="12700">
            <a:solidFill>
              <a:srgbClr val="FFFFFF">
                <a:alpha val="0"/>
              </a:srgbClr>
            </a:solidFill>
            <a:prstDash val="solid"/>
          </a:ln>
        </p:spPr>
        <p:txBody>
          <a:bodyPr/>
          <a:lstStyle/>
          <a:p>
            <a:endParaRPr lang="en-US"/>
          </a:p>
        </p:txBody>
      </p:sp>
      <p:sp>
        <p:nvSpPr>
          <p:cNvPr id="9" name="Shape 3"/>
          <p:cNvSpPr/>
          <p:nvPr/>
        </p:nvSpPr>
        <p:spPr>
          <a:xfrm>
            <a:off x="4190695" y="2238451"/>
            <a:ext cx="95098" cy="95098"/>
          </a:xfrm>
          <a:prstGeom prst="ellipse">
            <a:avLst/>
          </a:prstGeom>
          <a:solidFill>
            <a:srgbClr val="2A9D8F"/>
          </a:solidFill>
          <a:ln w="12700">
            <a:solidFill>
              <a:srgbClr val="FFFFFF">
                <a:alpha val="0"/>
              </a:srgbClr>
            </a:solidFill>
            <a:prstDash val="solid"/>
          </a:ln>
        </p:spPr>
        <p:txBody>
          <a:bodyPr/>
          <a:lstStyle/>
          <a:p>
            <a:endParaRPr lang="en-US"/>
          </a:p>
        </p:txBody>
      </p:sp>
      <p:sp>
        <p:nvSpPr>
          <p:cNvPr id="10" name="Shape 4"/>
          <p:cNvSpPr/>
          <p:nvPr/>
        </p:nvSpPr>
        <p:spPr>
          <a:xfrm>
            <a:off x="4762195" y="2333549"/>
            <a:ext cx="95098" cy="95098"/>
          </a:xfrm>
          <a:prstGeom prst="ellipse">
            <a:avLst/>
          </a:prstGeom>
          <a:solidFill>
            <a:srgbClr val="2A9D8F"/>
          </a:solidFill>
          <a:ln w="12700">
            <a:solidFill>
              <a:srgbClr val="FFFFFF">
                <a:alpha val="0"/>
              </a:srgbClr>
            </a:solidFill>
            <a:prstDash val="solid"/>
          </a:ln>
        </p:spPr>
        <p:txBody>
          <a:bodyPr/>
          <a:lstStyle/>
          <a:p>
            <a:endParaRPr lang="en-US"/>
          </a:p>
        </p:txBody>
      </p:sp>
      <p:sp>
        <p:nvSpPr>
          <p:cNvPr id="11" name="Shape 5"/>
          <p:cNvSpPr/>
          <p:nvPr/>
        </p:nvSpPr>
        <p:spPr>
          <a:xfrm>
            <a:off x="5524805" y="3191256"/>
            <a:ext cx="95098" cy="95098"/>
          </a:xfrm>
          <a:prstGeom prst="ellipse">
            <a:avLst/>
          </a:prstGeom>
          <a:solidFill>
            <a:srgbClr val="2A9D8F"/>
          </a:solidFill>
          <a:ln w="12700">
            <a:solidFill>
              <a:srgbClr val="FFFFFF">
                <a:alpha val="0"/>
              </a:srgbClr>
            </a:solidFill>
            <a:prstDash val="solid"/>
          </a:ln>
        </p:spPr>
        <p:txBody>
          <a:bodyPr/>
          <a:lstStyle/>
          <a:p>
            <a:endParaRPr lang="en-US"/>
          </a:p>
        </p:txBody>
      </p:sp>
      <p:sp>
        <p:nvSpPr>
          <p:cNvPr id="12" name="Shape 6"/>
          <p:cNvSpPr/>
          <p:nvPr/>
        </p:nvSpPr>
        <p:spPr>
          <a:xfrm>
            <a:off x="7810805" y="3666744"/>
            <a:ext cx="95098" cy="95098"/>
          </a:xfrm>
          <a:prstGeom prst="ellipse">
            <a:avLst/>
          </a:prstGeom>
          <a:solidFill>
            <a:srgbClr val="2A9D8F"/>
          </a:solidFill>
          <a:ln w="12700">
            <a:solidFill>
              <a:srgbClr val="FFFFFF">
                <a:alpha val="0"/>
              </a:srgbClr>
            </a:solidFill>
            <a:prstDash val="solid"/>
          </a:ln>
        </p:spPr>
        <p:txBody>
          <a:bodyPr/>
          <a:lstStyle/>
          <a:p>
            <a:endParaRPr lang="en-US"/>
          </a:p>
        </p:txBody>
      </p:sp>
      <p:sp>
        <p:nvSpPr>
          <p:cNvPr id="13" name="Shape 7"/>
          <p:cNvSpPr/>
          <p:nvPr/>
        </p:nvSpPr>
        <p:spPr>
          <a:xfrm>
            <a:off x="6858000" y="4143146"/>
            <a:ext cx="95098" cy="95098"/>
          </a:xfrm>
          <a:prstGeom prst="ellipse">
            <a:avLst/>
          </a:prstGeom>
          <a:solidFill>
            <a:srgbClr val="2A9D8F"/>
          </a:solidFill>
          <a:ln w="12700">
            <a:solidFill>
              <a:srgbClr val="FFFFFF">
                <a:alpha val="0"/>
              </a:srgbClr>
            </a:solidFill>
            <a:prstDash val="solid"/>
          </a:ln>
        </p:spPr>
        <p:txBody>
          <a:bodyPr/>
          <a:lstStyle/>
          <a:p>
            <a:endParaRPr lang="en-US"/>
          </a:p>
        </p:txBody>
      </p:sp>
      <p:sp>
        <p:nvSpPr>
          <p:cNvPr id="14" name="Shape 8"/>
          <p:cNvSpPr/>
          <p:nvPr/>
        </p:nvSpPr>
        <p:spPr>
          <a:xfrm>
            <a:off x="6953098" y="4429354"/>
            <a:ext cx="95098" cy="95098"/>
          </a:xfrm>
          <a:prstGeom prst="ellipse">
            <a:avLst/>
          </a:prstGeom>
          <a:solidFill>
            <a:srgbClr val="2A9D8F"/>
          </a:solidFill>
          <a:ln w="12700">
            <a:solidFill>
              <a:srgbClr val="FFFFFF">
                <a:alpha val="0"/>
              </a:srgbClr>
            </a:solidFill>
            <a:prstDash val="solid"/>
          </a:ln>
        </p:spPr>
        <p:txBody>
          <a:bodyPr/>
          <a:lstStyle/>
          <a:p>
            <a:endParaRPr lang="en-US"/>
          </a:p>
        </p:txBody>
      </p:sp>
      <p:pic>
        <p:nvPicPr>
          <p:cNvPr id="15" name="Image 4" descr="gen-dedup-f6de3db2c0e3a0458fdfe03bdecc5f42.png"/>
          <p:cNvPicPr>
            <a:picLocks noChangeAspect="1"/>
          </p:cNvPicPr>
          <p:nvPr/>
        </p:nvPicPr>
        <p:blipFill>
          <a:blip r:embed="rId7"/>
          <a:srcRect/>
          <a:stretch/>
        </p:blipFill>
        <p:spPr>
          <a:xfrm>
            <a:off x="6163056" y="3400654"/>
            <a:ext cx="209398" cy="209398"/>
          </a:xfrm>
          <a:prstGeom prst="rect">
            <a:avLst/>
          </a:prstGeom>
        </p:spPr>
      </p:pic>
      <p:pic>
        <p:nvPicPr>
          <p:cNvPr id="16" name="Image 5" descr="gen-dedup-c86e8c174ca8fa1030f905d340dc1437.png"/>
          <p:cNvPicPr>
            <a:picLocks noChangeAspect="1"/>
          </p:cNvPicPr>
          <p:nvPr/>
        </p:nvPicPr>
        <p:blipFill>
          <a:blip r:embed="rId8"/>
          <a:srcRect l="-400" r="-400"/>
          <a:stretch/>
        </p:blipFill>
        <p:spPr>
          <a:xfrm>
            <a:off x="609905" y="685800"/>
            <a:ext cx="57607" cy="571500"/>
          </a:xfrm>
          <a:prstGeom prst="rect">
            <a:avLst/>
          </a:prstGeom>
        </p:spPr>
      </p:pic>
      <p:sp>
        <p:nvSpPr>
          <p:cNvPr id="17" name="Text 9"/>
          <p:cNvSpPr txBox="1"/>
          <p:nvPr/>
        </p:nvSpPr>
        <p:spPr>
          <a:xfrm>
            <a:off x="819302" y="647395"/>
            <a:ext cx="9525305" cy="342900"/>
          </a:xfrm>
          <a:prstGeom prst="rect">
            <a:avLst/>
          </a:prstGeom>
          <a:noFill/>
          <a:ln/>
        </p:spPr>
        <p:txBody>
          <a:bodyPr wrap="none" lIns="0" tIns="0" rIns="0" bIns="0" rtlCol="0" anchor="ctr"/>
          <a:lstStyle/>
          <a:p>
            <a:pPr marL="0" indent="0" algn="l">
              <a:buNone/>
            </a:pPr>
            <a:r>
              <a:rPr lang="en-US" sz="2400" b="1" dirty="0">
                <a:solidFill>
                  <a:srgbClr val="111827"/>
                </a:solidFill>
                <a:latin typeface="Oswald" pitchFamily="34" charset="0"/>
                <a:ea typeface="Oswald" pitchFamily="34" charset="-122"/>
                <a:cs typeface="Oswald" pitchFamily="34" charset="-120"/>
              </a:rPr>
              <a:t>GLOBAL FOOTPRINT &amp; INDUSTRIES WE SERVE</a:t>
            </a:r>
            <a:endParaRPr lang="en-US" sz="2400" dirty="0"/>
          </a:p>
        </p:txBody>
      </p:sp>
      <p:sp>
        <p:nvSpPr>
          <p:cNvPr id="18" name="Text 10"/>
          <p:cNvSpPr txBox="1"/>
          <p:nvPr/>
        </p:nvSpPr>
        <p:spPr>
          <a:xfrm>
            <a:off x="819302" y="1039673"/>
            <a:ext cx="9525305" cy="181051"/>
          </a:xfrm>
          <a:prstGeom prst="rect">
            <a:avLst/>
          </a:prstGeom>
          <a:noFill/>
          <a:ln/>
        </p:spPr>
        <p:txBody>
          <a:bodyPr wrap="none" lIns="0" tIns="0" rIns="0" bIns="0" rtlCol="0" anchor="ctr"/>
          <a:lstStyle/>
          <a:p>
            <a:pPr marL="0" indent="0" algn="l">
              <a:buNone/>
            </a:pPr>
            <a:r>
              <a:rPr lang="en-US" sz="1500" b="1" kern="0" spc="60" dirty="0">
                <a:solidFill>
                  <a:srgbClr val="2A9D8F"/>
                </a:solidFill>
                <a:latin typeface="Roboto Condensed" pitchFamily="34" charset="0"/>
                <a:ea typeface="Roboto Condensed" pitchFamily="34" charset="-122"/>
                <a:cs typeface="Roboto Condensed" pitchFamily="34" charset="-120"/>
              </a:rPr>
              <a:t>8 Global Locations | 8 Core Industries</a:t>
            </a:r>
            <a:endParaRPr lang="en-US" sz="1500" dirty="0"/>
          </a:p>
        </p:txBody>
      </p:sp>
      <p:sp>
        <p:nvSpPr>
          <p:cNvPr id="19" name="Shape 11"/>
          <p:cNvSpPr/>
          <p:nvPr/>
        </p:nvSpPr>
        <p:spPr>
          <a:xfrm>
            <a:off x="1538935" y="3143707"/>
            <a:ext cx="448056" cy="286207"/>
          </a:xfrm>
          <a:prstGeom prst="roundRect">
            <a:avLst>
              <a:gd name="adj" fmla="val 13419"/>
            </a:avLst>
          </a:prstGeom>
          <a:solidFill>
            <a:srgbClr val="FFFFFF"/>
          </a:solidFill>
          <a:ln w="12700">
            <a:solidFill>
              <a:srgbClr val="2A9D8F"/>
            </a:solidFill>
            <a:prstDash val="solid"/>
          </a:ln>
        </p:spPr>
        <p:txBody>
          <a:bodyPr/>
          <a:lstStyle/>
          <a:p>
            <a:endParaRPr lang="en-US"/>
          </a:p>
        </p:txBody>
      </p:sp>
      <p:sp>
        <p:nvSpPr>
          <p:cNvPr id="20" name="Text 12"/>
          <p:cNvSpPr txBox="1"/>
          <p:nvPr/>
        </p:nvSpPr>
        <p:spPr>
          <a:xfrm>
            <a:off x="1538935" y="3143707"/>
            <a:ext cx="448056" cy="286207"/>
          </a:xfrm>
          <a:prstGeom prst="rect">
            <a:avLst/>
          </a:prstGeom>
          <a:solidFill>
            <a:srgbClr val="FFFFFF">
              <a:alpha val="0"/>
            </a:srgbClr>
          </a:solidFill>
          <a:ln>
            <a:solidFill>
              <a:srgbClr val="FFFFFF">
                <a:alpha val="0"/>
              </a:srgbClr>
            </a:solidFill>
          </a:ln>
        </p:spPr>
        <p:txBody>
          <a:bodyPr wrap="square" lIns="63500" tIns="25400" rIns="63500" bIns="25400" rtlCol="0" anchor="ctr"/>
          <a:lstStyle/>
          <a:p>
            <a:pPr marL="0" indent="0" algn="ctr">
              <a:buNone/>
            </a:pPr>
            <a:r>
              <a:rPr lang="en-US" sz="800" b="1" dirty="0">
                <a:solidFill>
                  <a:srgbClr val="2A9D8F"/>
                </a:solidFill>
                <a:latin typeface="Raleway" pitchFamily="34" charset="0"/>
                <a:ea typeface="Raleway" pitchFamily="34" charset="-122"/>
                <a:cs typeface="Raleway" pitchFamily="34" charset="-120"/>
              </a:rPr>
              <a:t>Dallas</a:t>
            </a:r>
            <a:endParaRPr lang="en-US" sz="800" dirty="0"/>
          </a:p>
        </p:txBody>
      </p:sp>
      <p:sp>
        <p:nvSpPr>
          <p:cNvPr id="21" name="Shape 13"/>
          <p:cNvSpPr/>
          <p:nvPr/>
        </p:nvSpPr>
        <p:spPr>
          <a:xfrm>
            <a:off x="4097426" y="2000707"/>
            <a:ext cx="286207" cy="286207"/>
          </a:xfrm>
          <a:prstGeom prst="roundRect">
            <a:avLst>
              <a:gd name="adj" fmla="val 13419"/>
            </a:avLst>
          </a:prstGeom>
          <a:solidFill>
            <a:srgbClr val="FFFFFF"/>
          </a:solidFill>
          <a:ln w="12700">
            <a:solidFill>
              <a:srgbClr val="2A9D8F"/>
            </a:solidFill>
            <a:prstDash val="solid"/>
          </a:ln>
        </p:spPr>
        <p:txBody>
          <a:bodyPr/>
          <a:lstStyle/>
          <a:p>
            <a:endParaRPr lang="en-US"/>
          </a:p>
        </p:txBody>
      </p:sp>
      <p:sp>
        <p:nvSpPr>
          <p:cNvPr id="22" name="Text 14"/>
          <p:cNvSpPr txBox="1"/>
          <p:nvPr/>
        </p:nvSpPr>
        <p:spPr>
          <a:xfrm>
            <a:off x="4097426" y="2000707"/>
            <a:ext cx="286207" cy="286207"/>
          </a:xfrm>
          <a:prstGeom prst="rect">
            <a:avLst/>
          </a:prstGeom>
          <a:solidFill>
            <a:srgbClr val="FFFFFF">
              <a:alpha val="0"/>
            </a:srgbClr>
          </a:solidFill>
          <a:ln>
            <a:solidFill>
              <a:srgbClr val="FFFFFF">
                <a:alpha val="0"/>
              </a:srgbClr>
            </a:solidFill>
          </a:ln>
        </p:spPr>
        <p:txBody>
          <a:bodyPr wrap="square" lIns="63500" tIns="25400" rIns="63500" bIns="25400" rtlCol="0" anchor="ctr"/>
          <a:lstStyle/>
          <a:p>
            <a:pPr marL="0" indent="0" algn="ctr">
              <a:buNone/>
            </a:pPr>
            <a:r>
              <a:rPr lang="en-US" sz="800" b="1" dirty="0">
                <a:solidFill>
                  <a:srgbClr val="2A9D8F"/>
                </a:solidFill>
                <a:latin typeface="Raleway" pitchFamily="34" charset="0"/>
                <a:ea typeface="Raleway" pitchFamily="34" charset="-122"/>
                <a:cs typeface="Raleway" pitchFamily="34" charset="-120"/>
              </a:rPr>
              <a:t>UK</a:t>
            </a:r>
            <a:endParaRPr lang="en-US" sz="800" dirty="0"/>
          </a:p>
        </p:txBody>
      </p:sp>
      <p:sp>
        <p:nvSpPr>
          <p:cNvPr id="23" name="Shape 15"/>
          <p:cNvSpPr/>
          <p:nvPr/>
        </p:nvSpPr>
        <p:spPr>
          <a:xfrm>
            <a:off x="4567428" y="2095805"/>
            <a:ext cx="485546" cy="286207"/>
          </a:xfrm>
          <a:prstGeom prst="roundRect">
            <a:avLst>
              <a:gd name="adj" fmla="val 13419"/>
            </a:avLst>
          </a:prstGeom>
          <a:solidFill>
            <a:srgbClr val="FFFFFF"/>
          </a:solidFill>
          <a:ln w="12700">
            <a:solidFill>
              <a:srgbClr val="2A9D8F"/>
            </a:solidFill>
            <a:prstDash val="solid"/>
          </a:ln>
        </p:spPr>
        <p:txBody>
          <a:bodyPr/>
          <a:lstStyle/>
          <a:p>
            <a:endParaRPr lang="en-US"/>
          </a:p>
        </p:txBody>
      </p:sp>
      <p:sp>
        <p:nvSpPr>
          <p:cNvPr id="24" name="Text 16"/>
          <p:cNvSpPr txBox="1"/>
          <p:nvPr/>
        </p:nvSpPr>
        <p:spPr>
          <a:xfrm>
            <a:off x="4567428" y="2095805"/>
            <a:ext cx="486461" cy="286207"/>
          </a:xfrm>
          <a:prstGeom prst="rect">
            <a:avLst/>
          </a:prstGeom>
          <a:solidFill>
            <a:srgbClr val="FFFFFF">
              <a:alpha val="0"/>
            </a:srgbClr>
          </a:solidFill>
          <a:ln>
            <a:solidFill>
              <a:srgbClr val="FFFFFF">
                <a:alpha val="0"/>
              </a:srgbClr>
            </a:solidFill>
          </a:ln>
        </p:spPr>
        <p:txBody>
          <a:bodyPr wrap="square" lIns="63500" tIns="25400" rIns="63500" bIns="25400" rtlCol="0" anchor="ctr"/>
          <a:lstStyle/>
          <a:p>
            <a:pPr marL="0" indent="0" algn="ctr">
              <a:buNone/>
            </a:pPr>
            <a:r>
              <a:rPr lang="en-US" sz="800" b="1" dirty="0">
                <a:solidFill>
                  <a:srgbClr val="2A9D8F"/>
                </a:solidFill>
                <a:latin typeface="Raleway" pitchFamily="34" charset="0"/>
                <a:ea typeface="Raleway" pitchFamily="34" charset="-122"/>
                <a:cs typeface="Raleway" pitchFamily="34" charset="-120"/>
              </a:rPr>
              <a:t>Poland</a:t>
            </a:r>
            <a:endParaRPr lang="en-US" sz="800" dirty="0"/>
          </a:p>
        </p:txBody>
      </p:sp>
      <p:sp>
        <p:nvSpPr>
          <p:cNvPr id="25" name="Shape 17"/>
          <p:cNvSpPr/>
          <p:nvPr/>
        </p:nvSpPr>
        <p:spPr>
          <a:xfrm>
            <a:off x="5400446" y="3333902"/>
            <a:ext cx="342900" cy="286207"/>
          </a:xfrm>
          <a:prstGeom prst="roundRect">
            <a:avLst>
              <a:gd name="adj" fmla="val 13419"/>
            </a:avLst>
          </a:prstGeom>
          <a:solidFill>
            <a:srgbClr val="FFFFFF"/>
          </a:solidFill>
          <a:ln w="12700">
            <a:solidFill>
              <a:srgbClr val="2A9D8F"/>
            </a:solidFill>
            <a:prstDash val="solid"/>
          </a:ln>
        </p:spPr>
        <p:txBody>
          <a:bodyPr/>
          <a:lstStyle/>
          <a:p>
            <a:endParaRPr lang="en-US"/>
          </a:p>
        </p:txBody>
      </p:sp>
      <p:sp>
        <p:nvSpPr>
          <p:cNvPr id="26" name="Text 18"/>
          <p:cNvSpPr txBox="1"/>
          <p:nvPr/>
        </p:nvSpPr>
        <p:spPr>
          <a:xfrm>
            <a:off x="5400446" y="3333902"/>
            <a:ext cx="342900" cy="286207"/>
          </a:xfrm>
          <a:prstGeom prst="rect">
            <a:avLst/>
          </a:prstGeom>
          <a:solidFill>
            <a:srgbClr val="FFFFFF">
              <a:alpha val="0"/>
            </a:srgbClr>
          </a:solidFill>
          <a:ln>
            <a:solidFill>
              <a:srgbClr val="FFFFFF">
                <a:alpha val="0"/>
              </a:srgbClr>
            </a:solidFill>
          </a:ln>
        </p:spPr>
        <p:txBody>
          <a:bodyPr wrap="square" lIns="63500" tIns="25400" rIns="63500" bIns="25400" rtlCol="0" anchor="ctr"/>
          <a:lstStyle/>
          <a:p>
            <a:pPr marL="0" indent="0" algn="ctr">
              <a:buNone/>
            </a:pPr>
            <a:r>
              <a:rPr lang="en-US" sz="800" b="1" dirty="0">
                <a:solidFill>
                  <a:srgbClr val="2A9D8F"/>
                </a:solidFill>
                <a:latin typeface="Raleway" pitchFamily="34" charset="0"/>
                <a:ea typeface="Raleway" pitchFamily="34" charset="-122"/>
                <a:cs typeface="Raleway" pitchFamily="34" charset="-120"/>
              </a:rPr>
              <a:t>UAE</a:t>
            </a:r>
            <a:endParaRPr lang="en-US" sz="800" dirty="0"/>
          </a:p>
        </p:txBody>
      </p:sp>
      <p:sp>
        <p:nvSpPr>
          <p:cNvPr id="27" name="Shape 19"/>
          <p:cNvSpPr/>
          <p:nvPr/>
        </p:nvSpPr>
        <p:spPr>
          <a:xfrm>
            <a:off x="7467905" y="3810305"/>
            <a:ext cx="694944" cy="286207"/>
          </a:xfrm>
          <a:prstGeom prst="roundRect">
            <a:avLst>
              <a:gd name="adj" fmla="val 13419"/>
            </a:avLst>
          </a:prstGeom>
          <a:solidFill>
            <a:srgbClr val="FFFFFF"/>
          </a:solidFill>
          <a:ln w="12700">
            <a:solidFill>
              <a:srgbClr val="2A9D8F"/>
            </a:solidFill>
            <a:prstDash val="solid"/>
          </a:ln>
        </p:spPr>
        <p:txBody>
          <a:bodyPr/>
          <a:lstStyle/>
          <a:p>
            <a:endParaRPr lang="en-US"/>
          </a:p>
        </p:txBody>
      </p:sp>
      <p:sp>
        <p:nvSpPr>
          <p:cNvPr id="28" name="Text 20"/>
          <p:cNvSpPr txBox="1"/>
          <p:nvPr/>
        </p:nvSpPr>
        <p:spPr>
          <a:xfrm>
            <a:off x="7467905" y="3810305"/>
            <a:ext cx="695858" cy="286207"/>
          </a:xfrm>
          <a:prstGeom prst="rect">
            <a:avLst/>
          </a:prstGeom>
          <a:solidFill>
            <a:srgbClr val="FFFFFF">
              <a:alpha val="0"/>
            </a:srgbClr>
          </a:solidFill>
          <a:ln>
            <a:solidFill>
              <a:srgbClr val="FFFFFF">
                <a:alpha val="0"/>
              </a:srgbClr>
            </a:solidFill>
          </a:ln>
        </p:spPr>
        <p:txBody>
          <a:bodyPr wrap="square" lIns="63500" tIns="25400" rIns="63500" bIns="25400" rtlCol="0" anchor="ctr"/>
          <a:lstStyle/>
          <a:p>
            <a:pPr marL="0" indent="0" algn="ctr">
              <a:buNone/>
            </a:pPr>
            <a:r>
              <a:rPr lang="en-US" sz="800" b="1" dirty="0">
                <a:solidFill>
                  <a:srgbClr val="2A9D8F"/>
                </a:solidFill>
                <a:latin typeface="Raleway" pitchFamily="34" charset="0"/>
                <a:ea typeface="Raleway" pitchFamily="34" charset="-122"/>
                <a:cs typeface="Raleway" pitchFamily="34" charset="-120"/>
              </a:rPr>
              <a:t>Philippines</a:t>
            </a:r>
            <a:endParaRPr lang="en-US" sz="800" dirty="0"/>
          </a:p>
        </p:txBody>
      </p:sp>
      <p:sp>
        <p:nvSpPr>
          <p:cNvPr id="29" name="Shape 21"/>
          <p:cNvSpPr/>
          <p:nvPr/>
        </p:nvSpPr>
        <p:spPr>
          <a:xfrm>
            <a:off x="6477610" y="4286707"/>
            <a:ext cx="571500" cy="286207"/>
          </a:xfrm>
          <a:prstGeom prst="roundRect">
            <a:avLst>
              <a:gd name="adj" fmla="val 13419"/>
            </a:avLst>
          </a:prstGeom>
          <a:solidFill>
            <a:srgbClr val="FFFFFF"/>
          </a:solidFill>
          <a:ln w="12700">
            <a:solidFill>
              <a:srgbClr val="2A9D8F"/>
            </a:solidFill>
            <a:prstDash val="solid"/>
          </a:ln>
        </p:spPr>
        <p:txBody>
          <a:bodyPr/>
          <a:lstStyle/>
          <a:p>
            <a:endParaRPr lang="en-US"/>
          </a:p>
        </p:txBody>
      </p:sp>
      <p:sp>
        <p:nvSpPr>
          <p:cNvPr id="30" name="Text 22"/>
          <p:cNvSpPr txBox="1"/>
          <p:nvPr/>
        </p:nvSpPr>
        <p:spPr>
          <a:xfrm>
            <a:off x="6477610" y="4286707"/>
            <a:ext cx="571500" cy="286207"/>
          </a:xfrm>
          <a:prstGeom prst="rect">
            <a:avLst/>
          </a:prstGeom>
          <a:solidFill>
            <a:srgbClr val="FFFFFF">
              <a:alpha val="0"/>
            </a:srgbClr>
          </a:solidFill>
          <a:ln>
            <a:solidFill>
              <a:srgbClr val="FFFFFF">
                <a:alpha val="0"/>
              </a:srgbClr>
            </a:solidFill>
          </a:ln>
        </p:spPr>
        <p:txBody>
          <a:bodyPr wrap="square" lIns="63500" tIns="25400" rIns="63500" bIns="25400" rtlCol="0" anchor="ctr"/>
          <a:lstStyle/>
          <a:p>
            <a:pPr marL="0" indent="0" algn="ctr">
              <a:buNone/>
            </a:pPr>
            <a:r>
              <a:rPr lang="en-US" sz="800" b="1" dirty="0">
                <a:solidFill>
                  <a:srgbClr val="2A9D8F"/>
                </a:solidFill>
                <a:latin typeface="Raleway" pitchFamily="34" charset="0"/>
                <a:ea typeface="Raleway" pitchFamily="34" charset="-122"/>
                <a:cs typeface="Raleway" pitchFamily="34" charset="-120"/>
              </a:rPr>
              <a:t>Malaysia</a:t>
            </a:r>
            <a:endParaRPr lang="en-US" sz="800" dirty="0"/>
          </a:p>
        </p:txBody>
      </p:sp>
      <p:sp>
        <p:nvSpPr>
          <p:cNvPr id="31" name="Shape 23"/>
          <p:cNvSpPr/>
          <p:nvPr/>
        </p:nvSpPr>
        <p:spPr>
          <a:xfrm>
            <a:off x="6725412" y="4572000"/>
            <a:ext cx="647395" cy="286207"/>
          </a:xfrm>
          <a:prstGeom prst="roundRect">
            <a:avLst>
              <a:gd name="adj" fmla="val 13419"/>
            </a:avLst>
          </a:prstGeom>
          <a:solidFill>
            <a:srgbClr val="FFFFFF"/>
          </a:solidFill>
          <a:ln w="12700">
            <a:solidFill>
              <a:srgbClr val="2A9D8F"/>
            </a:solidFill>
            <a:prstDash val="solid"/>
          </a:ln>
        </p:spPr>
        <p:txBody>
          <a:bodyPr/>
          <a:lstStyle/>
          <a:p>
            <a:endParaRPr lang="en-US"/>
          </a:p>
        </p:txBody>
      </p:sp>
      <p:sp>
        <p:nvSpPr>
          <p:cNvPr id="32" name="Text 24"/>
          <p:cNvSpPr txBox="1"/>
          <p:nvPr/>
        </p:nvSpPr>
        <p:spPr>
          <a:xfrm>
            <a:off x="6725412" y="4572000"/>
            <a:ext cx="648310" cy="286207"/>
          </a:xfrm>
          <a:prstGeom prst="rect">
            <a:avLst/>
          </a:prstGeom>
          <a:solidFill>
            <a:srgbClr val="FFFFFF">
              <a:alpha val="0"/>
            </a:srgbClr>
          </a:solidFill>
          <a:ln>
            <a:solidFill>
              <a:srgbClr val="FFFFFF">
                <a:alpha val="0"/>
              </a:srgbClr>
            </a:solidFill>
          </a:ln>
        </p:spPr>
        <p:txBody>
          <a:bodyPr wrap="square" lIns="63500" tIns="25400" rIns="63500" bIns="25400" rtlCol="0" anchor="ctr"/>
          <a:lstStyle/>
          <a:p>
            <a:pPr marL="0" indent="0" algn="ctr">
              <a:buNone/>
            </a:pPr>
            <a:r>
              <a:rPr lang="en-US" sz="800" b="1" dirty="0">
                <a:solidFill>
                  <a:srgbClr val="2A9D8F"/>
                </a:solidFill>
                <a:latin typeface="Raleway" pitchFamily="34" charset="0"/>
                <a:ea typeface="Raleway" pitchFamily="34" charset="-122"/>
                <a:cs typeface="Raleway" pitchFamily="34" charset="-120"/>
              </a:rPr>
              <a:t>Singapore</a:t>
            </a:r>
            <a:endParaRPr lang="en-US" sz="800" dirty="0"/>
          </a:p>
        </p:txBody>
      </p:sp>
      <p:sp>
        <p:nvSpPr>
          <p:cNvPr id="33" name="Shape 25"/>
          <p:cNvSpPr/>
          <p:nvPr/>
        </p:nvSpPr>
        <p:spPr>
          <a:xfrm>
            <a:off x="5898794" y="3619195"/>
            <a:ext cx="685800" cy="333756"/>
          </a:xfrm>
          <a:prstGeom prst="roundRect">
            <a:avLst>
              <a:gd name="adj" fmla="val 11507"/>
            </a:avLst>
          </a:prstGeom>
          <a:solidFill>
            <a:srgbClr val="D62839"/>
          </a:solidFill>
          <a:ln w="12700">
            <a:solidFill>
              <a:srgbClr val="FFFFFF">
                <a:alpha val="0"/>
              </a:srgbClr>
            </a:solidFill>
            <a:prstDash val="solid"/>
          </a:ln>
        </p:spPr>
        <p:txBody>
          <a:bodyPr/>
          <a:lstStyle/>
          <a:p>
            <a:endParaRPr lang="en-US"/>
          </a:p>
        </p:txBody>
      </p:sp>
      <p:sp>
        <p:nvSpPr>
          <p:cNvPr id="34" name="Text 26"/>
          <p:cNvSpPr txBox="1"/>
          <p:nvPr/>
        </p:nvSpPr>
        <p:spPr>
          <a:xfrm>
            <a:off x="5898794" y="3619195"/>
            <a:ext cx="685800" cy="3337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ctr">
              <a:buNone/>
            </a:pPr>
            <a:r>
              <a:rPr lang="en-US" sz="800" b="1" dirty="0">
                <a:solidFill>
                  <a:srgbClr val="FFFFFF"/>
                </a:solidFill>
                <a:latin typeface="Raleway" pitchFamily="34" charset="0"/>
                <a:ea typeface="Raleway" pitchFamily="34" charset="-122"/>
                <a:cs typeface="Raleway" pitchFamily="34" charset="-120"/>
              </a:rPr>
              <a:t>India Hub</a:t>
            </a:r>
            <a:endParaRPr lang="en-US" sz="800" dirty="0"/>
          </a:p>
        </p:txBody>
      </p:sp>
      <p:sp>
        <p:nvSpPr>
          <p:cNvPr id="35" name="Shape 27"/>
          <p:cNvSpPr/>
          <p:nvPr/>
        </p:nvSpPr>
        <p:spPr>
          <a:xfrm>
            <a:off x="8906256" y="1867205"/>
            <a:ext cx="2523744" cy="9144"/>
          </a:xfrm>
          <a:prstGeom prst="rect">
            <a:avLst/>
          </a:prstGeom>
          <a:solidFill>
            <a:srgbClr val="E2E8F0"/>
          </a:solidFill>
          <a:ln w="12700">
            <a:solidFill>
              <a:srgbClr val="E2E8F0">
                <a:alpha val="0"/>
              </a:srgbClr>
            </a:solidFill>
            <a:prstDash val="solid"/>
          </a:ln>
        </p:spPr>
        <p:txBody>
          <a:bodyPr/>
          <a:lstStyle/>
          <a:p>
            <a:endParaRPr lang="en-US"/>
          </a:p>
        </p:txBody>
      </p:sp>
      <p:sp>
        <p:nvSpPr>
          <p:cNvPr id="36" name="Text 28"/>
          <p:cNvSpPr txBox="1"/>
          <p:nvPr/>
        </p:nvSpPr>
        <p:spPr>
          <a:xfrm>
            <a:off x="9158630" y="1524305"/>
            <a:ext cx="2272284" cy="248717"/>
          </a:xfrm>
          <a:prstGeom prst="rect">
            <a:avLst/>
          </a:prstGeom>
          <a:solidFill>
            <a:srgbClr val="FFFFFF">
              <a:alpha val="0"/>
            </a:srgbClr>
          </a:solidFill>
          <a:ln>
            <a:solidFill>
              <a:srgbClr val="FFFFFF">
                <a:alpha val="0"/>
              </a:srgbClr>
            </a:solidFill>
          </a:ln>
        </p:spPr>
        <p:txBody>
          <a:bodyPr wrap="none" lIns="0" tIns="0" rIns="0" bIns="0" rtlCol="0" anchor="ctr"/>
          <a:lstStyle/>
          <a:p>
            <a:pPr marL="0" indent="0" algn="l">
              <a:buNone/>
            </a:pPr>
            <a:r>
              <a:rPr lang="en-US" sz="1300" b="1" dirty="0">
                <a:solidFill>
                  <a:srgbClr val="111827"/>
                </a:solidFill>
                <a:latin typeface="Oswald" pitchFamily="34" charset="0"/>
                <a:ea typeface="Oswald" pitchFamily="34" charset="-122"/>
                <a:cs typeface="Oswald" pitchFamily="34" charset="-120"/>
              </a:rPr>
              <a:t>INDUSTRIES WE SERVE</a:t>
            </a:r>
            <a:endParaRPr lang="en-US" sz="1300" dirty="0"/>
          </a:p>
        </p:txBody>
      </p:sp>
      <p:pic>
        <p:nvPicPr>
          <p:cNvPr id="37" name="Image 6" descr="gen-dedup-a3ba9c707eb1f0939238c0b2ee690b47.png"/>
          <p:cNvPicPr>
            <a:picLocks noChangeAspect="1"/>
          </p:cNvPicPr>
          <p:nvPr/>
        </p:nvPicPr>
        <p:blipFill>
          <a:blip r:embed="rId9"/>
          <a:srcRect t="-20" b="-20"/>
          <a:stretch/>
        </p:blipFill>
        <p:spPr>
          <a:xfrm>
            <a:off x="8906256" y="2018995"/>
            <a:ext cx="2523744" cy="295351"/>
          </a:xfrm>
          <a:prstGeom prst="rect">
            <a:avLst/>
          </a:prstGeom>
        </p:spPr>
      </p:pic>
      <p:pic>
        <p:nvPicPr>
          <p:cNvPr id="38" name="Image 7" descr="gen-dedup-2bd0b0fa7484346ccc3fd816b7451a75.png"/>
          <p:cNvPicPr>
            <a:picLocks noChangeAspect="1"/>
          </p:cNvPicPr>
          <p:nvPr/>
        </p:nvPicPr>
        <p:blipFill>
          <a:blip r:embed="rId10"/>
          <a:srcRect l="-21233" r="-21233"/>
          <a:stretch/>
        </p:blipFill>
        <p:spPr>
          <a:xfrm>
            <a:off x="9048902" y="2100377"/>
            <a:ext cx="190195" cy="133502"/>
          </a:xfrm>
          <a:prstGeom prst="rect">
            <a:avLst/>
          </a:prstGeom>
        </p:spPr>
      </p:pic>
      <p:sp>
        <p:nvSpPr>
          <p:cNvPr id="39" name="Text 29"/>
          <p:cNvSpPr txBox="1"/>
          <p:nvPr/>
        </p:nvSpPr>
        <p:spPr>
          <a:xfrm>
            <a:off x="9353398" y="2018995"/>
            <a:ext cx="267005" cy="295351"/>
          </a:xfrm>
          <a:prstGeom prst="rect">
            <a:avLst/>
          </a:prstGeom>
          <a:noFill/>
          <a:ln/>
        </p:spPr>
        <p:txBody>
          <a:bodyPr wrap="square" lIns="0" tIns="0" rIns="0" bIns="0" rtlCol="0" anchor="ctr"/>
          <a:lstStyle/>
          <a:p>
            <a:pPr marL="0" indent="0" algn="l">
              <a:buNone/>
            </a:pPr>
            <a:r>
              <a:rPr lang="en-US" sz="900" b="1" dirty="0">
                <a:solidFill>
                  <a:srgbClr val="111827"/>
                </a:solidFill>
                <a:latin typeface="Raleway" pitchFamily="34" charset="0"/>
                <a:ea typeface="Raleway" pitchFamily="34" charset="-122"/>
                <a:cs typeface="Raleway" pitchFamily="34" charset="-120"/>
              </a:rPr>
              <a:t>BFSI</a:t>
            </a:r>
            <a:endParaRPr lang="en-US" sz="900" dirty="0"/>
          </a:p>
        </p:txBody>
      </p:sp>
      <p:pic>
        <p:nvPicPr>
          <p:cNvPr id="40" name="Image 8" descr="gen-dedup-a3ba9c707eb1f0939238c0b2ee690b47.png"/>
          <p:cNvPicPr>
            <a:picLocks noChangeAspect="1"/>
          </p:cNvPicPr>
          <p:nvPr/>
        </p:nvPicPr>
        <p:blipFill>
          <a:blip r:embed="rId9"/>
          <a:srcRect t="-20" b="-20"/>
          <a:stretch/>
        </p:blipFill>
        <p:spPr>
          <a:xfrm>
            <a:off x="8906256" y="2391156"/>
            <a:ext cx="2523744" cy="295351"/>
          </a:xfrm>
          <a:prstGeom prst="rect">
            <a:avLst/>
          </a:prstGeom>
        </p:spPr>
      </p:pic>
      <p:pic>
        <p:nvPicPr>
          <p:cNvPr id="41" name="Image 9" descr="gen-dedup-87254bd47463b9ac5fc2428135379ff4.png"/>
          <p:cNvPicPr>
            <a:picLocks noChangeAspect="1"/>
          </p:cNvPicPr>
          <p:nvPr/>
        </p:nvPicPr>
        <p:blipFill>
          <a:blip r:embed="rId11"/>
          <a:srcRect l="-21233" r="-21233"/>
          <a:stretch/>
        </p:blipFill>
        <p:spPr>
          <a:xfrm>
            <a:off x="9048902" y="2471623"/>
            <a:ext cx="190195" cy="133502"/>
          </a:xfrm>
          <a:prstGeom prst="rect">
            <a:avLst/>
          </a:prstGeom>
        </p:spPr>
      </p:pic>
      <p:sp>
        <p:nvSpPr>
          <p:cNvPr id="42" name="Text 30"/>
          <p:cNvSpPr txBox="1"/>
          <p:nvPr/>
        </p:nvSpPr>
        <p:spPr>
          <a:xfrm>
            <a:off x="9353398" y="2391156"/>
            <a:ext cx="1515161" cy="295351"/>
          </a:xfrm>
          <a:prstGeom prst="rect">
            <a:avLst/>
          </a:prstGeom>
          <a:noFill/>
          <a:ln/>
        </p:spPr>
        <p:txBody>
          <a:bodyPr wrap="square" lIns="0" tIns="0" rIns="0" bIns="0" rtlCol="0" anchor="ctr"/>
          <a:lstStyle/>
          <a:p>
            <a:pPr marL="0" indent="0" algn="l">
              <a:buNone/>
            </a:pPr>
            <a:r>
              <a:rPr lang="en-US" sz="900" b="1" dirty="0">
                <a:solidFill>
                  <a:srgbClr val="111827"/>
                </a:solidFill>
                <a:latin typeface="Raleway" pitchFamily="34" charset="0"/>
                <a:ea typeface="Raleway" pitchFamily="34" charset="-122"/>
                <a:cs typeface="Raleway" pitchFamily="34" charset="-120"/>
              </a:rPr>
              <a:t>Healthcare &amp; Life Science</a:t>
            </a:r>
            <a:endParaRPr lang="en-US" sz="900" dirty="0"/>
          </a:p>
        </p:txBody>
      </p:sp>
      <p:pic>
        <p:nvPicPr>
          <p:cNvPr id="43" name="Image 10" descr="gen-dedup-a3ba9c707eb1f0939238c0b2ee690b47.png"/>
          <p:cNvPicPr>
            <a:picLocks noChangeAspect="1"/>
          </p:cNvPicPr>
          <p:nvPr/>
        </p:nvPicPr>
        <p:blipFill>
          <a:blip r:embed="rId9"/>
          <a:srcRect t="-20" b="-20"/>
          <a:stretch/>
        </p:blipFill>
        <p:spPr>
          <a:xfrm>
            <a:off x="8906256" y="2762402"/>
            <a:ext cx="2523744" cy="295351"/>
          </a:xfrm>
          <a:prstGeom prst="rect">
            <a:avLst/>
          </a:prstGeom>
        </p:spPr>
      </p:pic>
      <p:pic>
        <p:nvPicPr>
          <p:cNvPr id="44" name="Image 11" descr="gen-dedup-6a9e002375939ddd6a79ac98f2a4d902.png"/>
          <p:cNvPicPr>
            <a:picLocks noChangeAspect="1"/>
          </p:cNvPicPr>
          <p:nvPr/>
        </p:nvPicPr>
        <p:blipFill>
          <a:blip r:embed="rId12"/>
          <a:srcRect l="-13318" r="-13318"/>
          <a:stretch/>
        </p:blipFill>
        <p:spPr>
          <a:xfrm>
            <a:off x="9048902" y="2842870"/>
            <a:ext cx="190195" cy="133502"/>
          </a:xfrm>
          <a:prstGeom prst="rect">
            <a:avLst/>
          </a:prstGeom>
        </p:spPr>
      </p:pic>
      <p:sp>
        <p:nvSpPr>
          <p:cNvPr id="45" name="Text 31"/>
          <p:cNvSpPr txBox="1"/>
          <p:nvPr/>
        </p:nvSpPr>
        <p:spPr>
          <a:xfrm>
            <a:off x="9353398" y="2762402"/>
            <a:ext cx="1086307" cy="295351"/>
          </a:xfrm>
          <a:prstGeom prst="rect">
            <a:avLst/>
          </a:prstGeom>
          <a:noFill/>
          <a:ln/>
        </p:spPr>
        <p:txBody>
          <a:bodyPr wrap="square" lIns="0" tIns="0" rIns="0" bIns="0" rtlCol="0" anchor="ctr"/>
          <a:lstStyle/>
          <a:p>
            <a:pPr marL="0" indent="0" algn="l">
              <a:buNone/>
            </a:pPr>
            <a:r>
              <a:rPr lang="en-US" sz="900" b="1" dirty="0">
                <a:solidFill>
                  <a:srgbClr val="111827"/>
                </a:solidFill>
                <a:latin typeface="Raleway" pitchFamily="34" charset="0"/>
                <a:ea typeface="Raleway" pitchFamily="34" charset="-122"/>
                <a:cs typeface="Raleway" pitchFamily="34" charset="-120"/>
              </a:rPr>
              <a:t>Retail &amp; Consumer</a:t>
            </a:r>
            <a:endParaRPr lang="en-US" sz="900" dirty="0"/>
          </a:p>
        </p:txBody>
      </p:sp>
      <p:pic>
        <p:nvPicPr>
          <p:cNvPr id="46" name="Image 12" descr="gen-dedup-a3ba9c707eb1f0939238c0b2ee690b47.png"/>
          <p:cNvPicPr>
            <a:picLocks noChangeAspect="1"/>
          </p:cNvPicPr>
          <p:nvPr/>
        </p:nvPicPr>
        <p:blipFill>
          <a:blip r:embed="rId9"/>
          <a:srcRect t="-20" b="-20"/>
          <a:stretch/>
        </p:blipFill>
        <p:spPr>
          <a:xfrm>
            <a:off x="8906256" y="3133649"/>
            <a:ext cx="2523744" cy="295351"/>
          </a:xfrm>
          <a:prstGeom prst="rect">
            <a:avLst/>
          </a:prstGeom>
        </p:spPr>
      </p:pic>
      <p:pic>
        <p:nvPicPr>
          <p:cNvPr id="47" name="Image 13" descr="gen-dedup-1ac84738dfd443b955249e948e0d73ca.png"/>
          <p:cNvPicPr>
            <a:picLocks noChangeAspect="1"/>
          </p:cNvPicPr>
          <p:nvPr/>
        </p:nvPicPr>
        <p:blipFill>
          <a:blip r:embed="rId13"/>
          <a:srcRect l="-21233" r="-21233"/>
          <a:stretch/>
        </p:blipFill>
        <p:spPr>
          <a:xfrm>
            <a:off x="9048902" y="3215030"/>
            <a:ext cx="190195" cy="133502"/>
          </a:xfrm>
          <a:prstGeom prst="rect">
            <a:avLst/>
          </a:prstGeom>
        </p:spPr>
      </p:pic>
      <p:sp>
        <p:nvSpPr>
          <p:cNvPr id="48" name="Text 32"/>
          <p:cNvSpPr txBox="1"/>
          <p:nvPr/>
        </p:nvSpPr>
        <p:spPr>
          <a:xfrm>
            <a:off x="9353398" y="3133649"/>
            <a:ext cx="1686154" cy="295351"/>
          </a:xfrm>
          <a:prstGeom prst="rect">
            <a:avLst/>
          </a:prstGeom>
          <a:noFill/>
          <a:ln/>
        </p:spPr>
        <p:txBody>
          <a:bodyPr wrap="square" lIns="0" tIns="0" rIns="0" bIns="0" rtlCol="0" anchor="ctr"/>
          <a:lstStyle/>
          <a:p>
            <a:pPr marL="0" indent="0" algn="l">
              <a:buNone/>
            </a:pPr>
            <a:r>
              <a:rPr lang="en-US" sz="900" b="1" dirty="0">
                <a:solidFill>
                  <a:srgbClr val="111827"/>
                </a:solidFill>
                <a:latin typeface="Raleway" pitchFamily="34" charset="0"/>
                <a:ea typeface="Raleway" pitchFamily="34" charset="-122"/>
                <a:cs typeface="Raleway" pitchFamily="34" charset="-120"/>
              </a:rPr>
              <a:t>Automotive &amp; Manufacturing</a:t>
            </a:r>
            <a:endParaRPr lang="en-US" sz="900" dirty="0"/>
          </a:p>
        </p:txBody>
      </p:sp>
      <p:pic>
        <p:nvPicPr>
          <p:cNvPr id="49" name="Image 14" descr="gen-dedup-a3ba9c707eb1f0939238c0b2ee690b47.png"/>
          <p:cNvPicPr>
            <a:picLocks noChangeAspect="1"/>
          </p:cNvPicPr>
          <p:nvPr/>
        </p:nvPicPr>
        <p:blipFill>
          <a:blip r:embed="rId9"/>
          <a:srcRect t="-20" b="-20"/>
          <a:stretch/>
        </p:blipFill>
        <p:spPr>
          <a:xfrm>
            <a:off x="8906256" y="3504895"/>
            <a:ext cx="2523744" cy="295351"/>
          </a:xfrm>
          <a:prstGeom prst="rect">
            <a:avLst/>
          </a:prstGeom>
        </p:spPr>
      </p:pic>
      <p:pic>
        <p:nvPicPr>
          <p:cNvPr id="50" name="Image 15" descr="gen-dedup-a6d5727770eb2c467ca0fcfb922fbe99.png"/>
          <p:cNvPicPr>
            <a:picLocks noChangeAspect="1"/>
          </p:cNvPicPr>
          <p:nvPr/>
        </p:nvPicPr>
        <p:blipFill>
          <a:blip r:embed="rId14"/>
          <a:srcRect l="-6986" r="-6986"/>
          <a:stretch/>
        </p:blipFill>
        <p:spPr>
          <a:xfrm>
            <a:off x="9048902" y="3586277"/>
            <a:ext cx="190195" cy="133502"/>
          </a:xfrm>
          <a:prstGeom prst="rect">
            <a:avLst/>
          </a:prstGeom>
        </p:spPr>
      </p:pic>
      <p:sp>
        <p:nvSpPr>
          <p:cNvPr id="51" name="Text 33"/>
          <p:cNvSpPr txBox="1"/>
          <p:nvPr/>
        </p:nvSpPr>
        <p:spPr>
          <a:xfrm>
            <a:off x="9353398" y="3504895"/>
            <a:ext cx="1124712" cy="295351"/>
          </a:xfrm>
          <a:prstGeom prst="rect">
            <a:avLst/>
          </a:prstGeom>
          <a:noFill/>
          <a:ln/>
        </p:spPr>
        <p:txBody>
          <a:bodyPr wrap="square" lIns="0" tIns="0" rIns="0" bIns="0" rtlCol="0" anchor="ctr"/>
          <a:lstStyle/>
          <a:p>
            <a:pPr marL="0" indent="0" algn="l">
              <a:buNone/>
            </a:pPr>
            <a:r>
              <a:rPr lang="en-US" sz="900" b="1" dirty="0">
                <a:solidFill>
                  <a:srgbClr val="111827"/>
                </a:solidFill>
                <a:latin typeface="Raleway" pitchFamily="34" charset="0"/>
                <a:ea typeface="Raleway" pitchFamily="34" charset="-122"/>
                <a:cs typeface="Raleway" pitchFamily="34" charset="-120"/>
              </a:rPr>
              <a:t>Technology &amp; SaaS</a:t>
            </a:r>
            <a:endParaRPr lang="en-US" sz="900" dirty="0"/>
          </a:p>
        </p:txBody>
      </p:sp>
      <p:pic>
        <p:nvPicPr>
          <p:cNvPr id="52" name="Image 16" descr="gen-dedup-a3ba9c707eb1f0939238c0b2ee690b47.png"/>
          <p:cNvPicPr>
            <a:picLocks noChangeAspect="1"/>
          </p:cNvPicPr>
          <p:nvPr/>
        </p:nvPicPr>
        <p:blipFill>
          <a:blip r:embed="rId9"/>
          <a:srcRect t="-20" b="-20"/>
          <a:stretch/>
        </p:blipFill>
        <p:spPr>
          <a:xfrm>
            <a:off x="8906256" y="3877056"/>
            <a:ext cx="2523744" cy="295351"/>
          </a:xfrm>
          <a:prstGeom prst="rect">
            <a:avLst/>
          </a:prstGeom>
        </p:spPr>
      </p:pic>
      <p:pic>
        <p:nvPicPr>
          <p:cNvPr id="53" name="Image 17" descr="gen-dedup-f9e079124fd14560a869c5b2316619e3.png"/>
          <p:cNvPicPr>
            <a:picLocks noChangeAspect="1"/>
          </p:cNvPicPr>
          <p:nvPr/>
        </p:nvPicPr>
        <p:blipFill>
          <a:blip r:embed="rId15"/>
          <a:srcRect l="-13318" r="-13318"/>
          <a:stretch/>
        </p:blipFill>
        <p:spPr>
          <a:xfrm>
            <a:off x="9048902" y="3957523"/>
            <a:ext cx="190195" cy="133502"/>
          </a:xfrm>
          <a:prstGeom prst="rect">
            <a:avLst/>
          </a:prstGeom>
        </p:spPr>
      </p:pic>
      <p:sp>
        <p:nvSpPr>
          <p:cNvPr id="54" name="Text 34"/>
          <p:cNvSpPr txBox="1"/>
          <p:nvPr/>
        </p:nvSpPr>
        <p:spPr>
          <a:xfrm>
            <a:off x="9353398" y="3877056"/>
            <a:ext cx="1228954" cy="295351"/>
          </a:xfrm>
          <a:prstGeom prst="rect">
            <a:avLst/>
          </a:prstGeom>
          <a:noFill/>
          <a:ln/>
        </p:spPr>
        <p:txBody>
          <a:bodyPr wrap="square" lIns="0" tIns="0" rIns="0" bIns="0" rtlCol="0" anchor="ctr"/>
          <a:lstStyle/>
          <a:p>
            <a:pPr marL="0" indent="0" algn="l">
              <a:buNone/>
            </a:pPr>
            <a:r>
              <a:rPr lang="en-US" sz="900" b="1" dirty="0">
                <a:solidFill>
                  <a:srgbClr val="111827"/>
                </a:solidFill>
                <a:latin typeface="Raleway" pitchFamily="34" charset="0"/>
                <a:ea typeface="Raleway" pitchFamily="34" charset="-122"/>
                <a:cs typeface="Raleway" pitchFamily="34" charset="-120"/>
              </a:rPr>
              <a:t>Telecommunications</a:t>
            </a:r>
            <a:endParaRPr lang="en-US" sz="900" dirty="0"/>
          </a:p>
        </p:txBody>
      </p:sp>
      <p:pic>
        <p:nvPicPr>
          <p:cNvPr id="55" name="Image 18" descr="gen-dedup-a3ba9c707eb1f0939238c0b2ee690b47.png"/>
          <p:cNvPicPr>
            <a:picLocks noChangeAspect="1"/>
          </p:cNvPicPr>
          <p:nvPr/>
        </p:nvPicPr>
        <p:blipFill>
          <a:blip r:embed="rId9"/>
          <a:srcRect t="-20" b="-20"/>
          <a:stretch/>
        </p:blipFill>
        <p:spPr>
          <a:xfrm>
            <a:off x="8906256" y="4248302"/>
            <a:ext cx="2523744" cy="295351"/>
          </a:xfrm>
          <a:prstGeom prst="rect">
            <a:avLst/>
          </a:prstGeom>
        </p:spPr>
      </p:pic>
      <p:pic>
        <p:nvPicPr>
          <p:cNvPr id="56" name="Image 19" descr="gen-dedup-451e9eae7293a4bc33edf7b5ccafce38.png"/>
          <p:cNvPicPr>
            <a:picLocks noChangeAspect="1"/>
          </p:cNvPicPr>
          <p:nvPr/>
        </p:nvPicPr>
        <p:blipFill>
          <a:blip r:embed="rId16"/>
          <a:srcRect l="-31409" r="-31409"/>
          <a:stretch/>
        </p:blipFill>
        <p:spPr>
          <a:xfrm>
            <a:off x="9048902" y="4328770"/>
            <a:ext cx="190195" cy="133502"/>
          </a:xfrm>
          <a:prstGeom prst="rect">
            <a:avLst/>
          </a:prstGeom>
        </p:spPr>
      </p:pic>
      <p:sp>
        <p:nvSpPr>
          <p:cNvPr id="57" name="Text 35"/>
          <p:cNvSpPr txBox="1"/>
          <p:nvPr/>
        </p:nvSpPr>
        <p:spPr>
          <a:xfrm>
            <a:off x="9353398" y="4248302"/>
            <a:ext cx="1105510" cy="295351"/>
          </a:xfrm>
          <a:prstGeom prst="rect">
            <a:avLst/>
          </a:prstGeom>
          <a:noFill/>
          <a:ln/>
        </p:spPr>
        <p:txBody>
          <a:bodyPr wrap="square" lIns="0" tIns="0" rIns="0" bIns="0" rtlCol="0" anchor="ctr"/>
          <a:lstStyle/>
          <a:p>
            <a:pPr marL="0" indent="0" algn="l">
              <a:buNone/>
            </a:pPr>
            <a:r>
              <a:rPr lang="en-US" sz="900" b="1" dirty="0">
                <a:solidFill>
                  <a:srgbClr val="111827"/>
                </a:solidFill>
                <a:latin typeface="Raleway" pitchFamily="34" charset="0"/>
                <a:ea typeface="Raleway" pitchFamily="34" charset="-122"/>
                <a:cs typeface="Raleway" pitchFamily="34" charset="-120"/>
              </a:rPr>
              <a:t>Energies &amp; Utilities</a:t>
            </a:r>
            <a:endParaRPr lang="en-US" sz="900" dirty="0"/>
          </a:p>
        </p:txBody>
      </p:sp>
      <p:pic>
        <p:nvPicPr>
          <p:cNvPr id="58" name="Image 20" descr="gen-dedup-a3ba9c707eb1f0939238c0b2ee690b47.png"/>
          <p:cNvPicPr>
            <a:picLocks noChangeAspect="1"/>
          </p:cNvPicPr>
          <p:nvPr/>
        </p:nvPicPr>
        <p:blipFill>
          <a:blip r:embed="rId9"/>
          <a:srcRect t="-20" b="-20"/>
          <a:stretch/>
        </p:blipFill>
        <p:spPr>
          <a:xfrm>
            <a:off x="8906256" y="4619549"/>
            <a:ext cx="2523744" cy="295351"/>
          </a:xfrm>
          <a:prstGeom prst="rect">
            <a:avLst/>
          </a:prstGeom>
        </p:spPr>
      </p:pic>
      <p:pic>
        <p:nvPicPr>
          <p:cNvPr id="59" name="Image 21" descr="gen-dedup-40abce9d65960ad896b885d7512e550b.png"/>
          <p:cNvPicPr>
            <a:picLocks noChangeAspect="1"/>
          </p:cNvPicPr>
          <p:nvPr/>
        </p:nvPicPr>
        <p:blipFill>
          <a:blip r:embed="rId17"/>
          <a:srcRect l="-21233" r="-21233"/>
          <a:stretch/>
        </p:blipFill>
        <p:spPr>
          <a:xfrm>
            <a:off x="9048902" y="4700930"/>
            <a:ext cx="190195" cy="133502"/>
          </a:xfrm>
          <a:prstGeom prst="rect">
            <a:avLst/>
          </a:prstGeom>
        </p:spPr>
      </p:pic>
      <p:sp>
        <p:nvSpPr>
          <p:cNvPr id="60" name="Text 36"/>
          <p:cNvSpPr txBox="1"/>
          <p:nvPr/>
        </p:nvSpPr>
        <p:spPr>
          <a:xfrm>
            <a:off x="9353398" y="4619549"/>
            <a:ext cx="1248156" cy="295351"/>
          </a:xfrm>
          <a:prstGeom prst="rect">
            <a:avLst/>
          </a:prstGeom>
          <a:noFill/>
          <a:ln/>
        </p:spPr>
        <p:txBody>
          <a:bodyPr wrap="square" lIns="0" tIns="0" rIns="0" bIns="0" rtlCol="0" anchor="ctr"/>
          <a:lstStyle/>
          <a:p>
            <a:pPr marL="0" indent="0" algn="l">
              <a:buNone/>
            </a:pPr>
            <a:r>
              <a:rPr lang="en-US" sz="900" b="1" dirty="0">
                <a:solidFill>
                  <a:srgbClr val="111827"/>
                </a:solidFill>
                <a:latin typeface="Raleway" pitchFamily="34" charset="0"/>
                <a:ea typeface="Raleway" pitchFamily="34" charset="-122"/>
                <a:cs typeface="Raleway" pitchFamily="34" charset="-120"/>
              </a:rPr>
              <a:t>Professional Services</a:t>
            </a:r>
            <a:endParaRPr lang="en-US" sz="900" dirty="0"/>
          </a:p>
        </p:txBody>
      </p:sp>
      <p:pic>
        <p:nvPicPr>
          <p:cNvPr id="61" name="Image 22" descr="gen-dedup-a24ca5efa244217182f79dc248b17d8b.png"/>
          <p:cNvPicPr>
            <a:picLocks noChangeAspect="1"/>
          </p:cNvPicPr>
          <p:nvPr/>
        </p:nvPicPr>
        <p:blipFill>
          <a:blip r:embed="rId18"/>
          <a:srcRect t="-22432" b="-22432"/>
          <a:stretch/>
        </p:blipFill>
        <p:spPr>
          <a:xfrm>
            <a:off x="8906256" y="1573682"/>
            <a:ext cx="133502" cy="171907"/>
          </a:xfrm>
          <a:prstGeom prst="rect">
            <a:avLst/>
          </a:prstGeom>
        </p:spPr>
      </p:pic>
      <p:sp>
        <p:nvSpPr>
          <p:cNvPr id="62" name="Text 37"/>
          <p:cNvSpPr txBox="1"/>
          <p:nvPr/>
        </p:nvSpPr>
        <p:spPr>
          <a:xfrm>
            <a:off x="942746" y="6362395"/>
            <a:ext cx="3224174" cy="124358"/>
          </a:xfrm>
          <a:prstGeom prst="rect">
            <a:avLst/>
          </a:prstGeom>
          <a:noFill/>
          <a:ln/>
        </p:spPr>
        <p:txBody>
          <a:bodyPr wrap="none" lIns="0" tIns="0" rIns="0" bIns="0" rtlCol="0" anchor="ctr"/>
          <a:lstStyle/>
          <a:p>
            <a:pPr marL="0" indent="0" algn="l">
              <a:buNone/>
            </a:pPr>
            <a:r>
              <a:rPr lang="en-US" sz="800" dirty="0">
                <a:solidFill>
                  <a:srgbClr val="64748B"/>
                </a:solidFill>
                <a:latin typeface="Raleway" pitchFamily="34" charset="0"/>
                <a:ea typeface="Raleway" pitchFamily="34" charset="-122"/>
                <a:cs typeface="Raleway" pitchFamily="34" charset="-120"/>
              </a:rPr>
              <a:t>Connecting global expertise with the India Delivery Hub</a:t>
            </a:r>
            <a:endParaRPr lang="en-US" sz="800" dirty="0"/>
          </a:p>
        </p:txBody>
      </p:sp>
      <p:sp>
        <p:nvSpPr>
          <p:cNvPr id="63" name="Text 38"/>
          <p:cNvSpPr txBox="1"/>
          <p:nvPr/>
        </p:nvSpPr>
        <p:spPr>
          <a:xfrm>
            <a:off x="9831629" y="6362395"/>
            <a:ext cx="1886407" cy="124358"/>
          </a:xfrm>
          <a:prstGeom prst="rect">
            <a:avLst/>
          </a:prstGeom>
          <a:noFill/>
          <a:ln/>
        </p:spPr>
        <p:txBody>
          <a:bodyPr wrap="none" lIns="0" tIns="0" rIns="0" bIns="0" rtlCol="0" anchor="ctr"/>
          <a:lstStyle/>
          <a:p>
            <a:pPr marL="0" indent="0" algn="l">
              <a:buNone/>
            </a:pPr>
            <a:r>
              <a:rPr lang="en-US" sz="800" dirty="0">
                <a:solidFill>
                  <a:srgbClr val="64748B"/>
                </a:solidFill>
                <a:latin typeface="Raleway" pitchFamily="34" charset="0"/>
                <a:ea typeface="Raleway" pitchFamily="34" charset="-122"/>
                <a:cs typeface="Raleway" pitchFamily="34" charset="-120"/>
              </a:rPr>
              <a:t>Proven cross-industry scalability</a:t>
            </a:r>
            <a:endParaRPr lang="en-US" sz="800" dirty="0"/>
          </a:p>
        </p:txBody>
      </p:sp>
      <p:pic>
        <p:nvPicPr>
          <p:cNvPr id="64" name="Image 23" descr="gen-dedup-1a59845541d7fd4fb2a1972088c3d49f.png"/>
          <p:cNvPicPr>
            <a:picLocks noChangeAspect="1"/>
          </p:cNvPicPr>
          <p:nvPr/>
        </p:nvPicPr>
        <p:blipFill>
          <a:blip r:embed="rId19"/>
          <a:srcRect t="-11170" b="-11170"/>
          <a:stretch/>
        </p:blipFill>
        <p:spPr>
          <a:xfrm>
            <a:off x="800100" y="6366053"/>
            <a:ext cx="85954" cy="105156"/>
          </a:xfrm>
          <a:prstGeom prst="rect">
            <a:avLst/>
          </a:prstGeom>
        </p:spPr>
      </p:pic>
      <p:pic>
        <p:nvPicPr>
          <p:cNvPr id="65" name="Image 24" descr="gen-dedup-d522b7b7ebdde5571aa98d9631dd96ee.png"/>
          <p:cNvPicPr>
            <a:picLocks noChangeAspect="1"/>
          </p:cNvPicPr>
          <p:nvPr/>
        </p:nvPicPr>
        <p:blipFill>
          <a:blip r:embed="rId20"/>
          <a:srcRect t="-11170" b="-11170"/>
          <a:stretch/>
        </p:blipFill>
        <p:spPr>
          <a:xfrm>
            <a:off x="9688982" y="6366053"/>
            <a:ext cx="85954" cy="10515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9430207" y="-571500"/>
            <a:ext cx="3333902" cy="3333902"/>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preencoded.png"/>
          <p:cNvPicPr>
            <a:picLocks noChangeAspect="1"/>
          </p:cNvPicPr>
          <p:nvPr/>
        </p:nvPicPr>
        <p:blipFill>
          <a:blip r:embed="rId3"/>
          <a:srcRect l="-360" r="-360"/>
          <a:stretch/>
        </p:blipFill>
        <p:spPr>
          <a:xfrm>
            <a:off x="609905" y="485546"/>
            <a:ext cx="57607" cy="381305"/>
          </a:xfrm>
          <a:prstGeom prst="rect">
            <a:avLst/>
          </a:prstGeom>
        </p:spPr>
      </p:pic>
      <p:sp>
        <p:nvSpPr>
          <p:cNvPr id="6" name="Text 3"/>
          <p:cNvSpPr txBox="1"/>
          <p:nvPr/>
        </p:nvSpPr>
        <p:spPr>
          <a:xfrm>
            <a:off x="819302" y="342900"/>
            <a:ext cx="5912510" cy="381305"/>
          </a:xfrm>
          <a:prstGeom prst="rect">
            <a:avLst/>
          </a:prstGeom>
          <a:noFill/>
          <a:ln/>
        </p:spPr>
        <p:txBody>
          <a:bodyPr wrap="square" lIns="0" tIns="0" rIns="0" bIns="0" rtlCol="0" anchor="ctr"/>
          <a:lstStyle/>
          <a:p>
            <a:pPr marL="0" indent="0" algn="l">
              <a:buNone/>
            </a:pPr>
            <a:r>
              <a:rPr lang="en-US" sz="2700" b="1" kern="0" spc="-67">
                <a:solidFill>
                  <a:srgbClr val="111827"/>
                </a:solidFill>
                <a:latin typeface="Oswald" pitchFamily="34" charset="0"/>
                <a:ea typeface="Oswald" pitchFamily="34" charset="-122"/>
                <a:cs typeface="Oswald" pitchFamily="34" charset="-120"/>
              </a:rPr>
              <a:t>Architects of Transformation</a:t>
            </a:r>
            <a:endParaRPr lang="en-US" sz="2700"/>
          </a:p>
        </p:txBody>
      </p:sp>
      <p:sp>
        <p:nvSpPr>
          <p:cNvPr id="7" name="Text 4"/>
          <p:cNvSpPr txBox="1"/>
          <p:nvPr/>
        </p:nvSpPr>
        <p:spPr>
          <a:xfrm>
            <a:off x="819302" y="743407"/>
            <a:ext cx="5811012" cy="267005"/>
          </a:xfrm>
          <a:prstGeom prst="rect">
            <a:avLst/>
          </a:prstGeom>
          <a:noFill/>
          <a:ln/>
        </p:spPr>
        <p:txBody>
          <a:bodyPr wrap="square" lIns="0" tIns="0" rIns="0" bIns="0" rtlCol="0" anchor="ctr"/>
          <a:lstStyle/>
          <a:p>
            <a:pPr marL="0" indent="0" algn="l">
              <a:buNone/>
            </a:pPr>
            <a:r>
              <a:rPr lang="en-US" sz="1500" b="1" kern="0" spc="75" dirty="0">
                <a:solidFill>
                  <a:srgbClr val="2A9D8F"/>
                </a:solidFill>
                <a:latin typeface="Roboto Condensed" pitchFamily="34" charset="0"/>
                <a:ea typeface="Roboto Condensed" pitchFamily="34" charset="-122"/>
                <a:cs typeface="Roboto Condensed" pitchFamily="34" charset="-120"/>
              </a:rPr>
              <a:t>Visionary Leadership Driving Enterprise Excellence</a:t>
            </a:r>
            <a:endParaRPr lang="en-US" sz="1500" dirty="0"/>
          </a:p>
        </p:txBody>
      </p:sp>
      <p:pic>
        <p:nvPicPr>
          <p:cNvPr id="8" name="Image 1" descr="preencoded.png"/>
          <p:cNvPicPr>
            <a:picLocks noChangeAspect="1"/>
          </p:cNvPicPr>
          <p:nvPr/>
        </p:nvPicPr>
        <p:blipFill>
          <a:blip r:embed="rId4"/>
          <a:srcRect t="-6" b="-6"/>
          <a:stretch/>
        </p:blipFill>
        <p:spPr>
          <a:xfrm>
            <a:off x="609905" y="1123798"/>
            <a:ext cx="5372100" cy="3715207"/>
          </a:xfrm>
          <a:prstGeom prst="rect">
            <a:avLst/>
          </a:prstGeom>
        </p:spPr>
      </p:pic>
      <p:sp>
        <p:nvSpPr>
          <p:cNvPr id="9" name="Shape 5"/>
          <p:cNvSpPr/>
          <p:nvPr/>
        </p:nvSpPr>
        <p:spPr>
          <a:xfrm>
            <a:off x="919886" y="1339596"/>
            <a:ext cx="809244" cy="809244"/>
          </a:xfrm>
          <a:prstGeom prst="ellipse">
            <a:avLst/>
          </a:prstGeom>
          <a:noFill/>
          <a:ln w="38100">
            <a:solidFill>
              <a:srgbClr val="FFFFFF"/>
            </a:solidFill>
            <a:prstDash val="solid"/>
          </a:ln>
          <a:effectLst>
            <a:outerShdw blurRad="101600" dist="38100" dir="16200000" algn="bl" rotWithShape="0">
              <a:srgbClr val="000000">
                <a:alpha val="10000"/>
              </a:srgbClr>
            </a:outerShdw>
          </a:effectLst>
        </p:spPr>
        <p:txBody>
          <a:bodyPr/>
          <a:lstStyle/>
          <a:p>
            <a:endParaRPr lang="en-US"/>
          </a:p>
        </p:txBody>
      </p:sp>
      <p:pic>
        <p:nvPicPr>
          <p:cNvPr id="10" name="Image 2" descr="preencoded.png"/>
          <p:cNvPicPr>
            <a:picLocks noChangeAspect="1"/>
          </p:cNvPicPr>
          <p:nvPr/>
        </p:nvPicPr>
        <p:blipFill>
          <a:blip r:embed="rId5"/>
          <a:srcRect/>
          <a:stretch/>
        </p:blipFill>
        <p:spPr>
          <a:xfrm>
            <a:off x="948233" y="1367942"/>
            <a:ext cx="752551" cy="752551"/>
          </a:xfrm>
          <a:prstGeom prst="rect">
            <a:avLst/>
          </a:prstGeom>
        </p:spPr>
      </p:pic>
      <p:sp>
        <p:nvSpPr>
          <p:cNvPr id="11" name="Text 6"/>
          <p:cNvSpPr txBox="1"/>
          <p:nvPr/>
        </p:nvSpPr>
        <p:spPr>
          <a:xfrm>
            <a:off x="817474" y="2224735"/>
            <a:ext cx="1020470" cy="219456"/>
          </a:xfrm>
          <a:prstGeom prst="rect">
            <a:avLst/>
          </a:prstGeom>
          <a:noFill/>
          <a:ln/>
        </p:spPr>
        <p:txBody>
          <a:bodyPr wrap="square" lIns="0" tIns="0" rIns="0" bIns="0" rtlCol="0" anchor="ctr"/>
          <a:lstStyle/>
          <a:p>
            <a:pPr marL="0" indent="0" algn="ctr">
              <a:buNone/>
            </a:pPr>
            <a:r>
              <a:rPr lang="en-US" sz="1300" b="1">
                <a:solidFill>
                  <a:srgbClr val="1F2937"/>
                </a:solidFill>
                <a:latin typeface="Oswald" pitchFamily="34" charset="0"/>
                <a:ea typeface="Oswald" pitchFamily="34" charset="-122"/>
                <a:cs typeface="Oswald" pitchFamily="34" charset="-120"/>
              </a:rPr>
              <a:t>Priti Sawant</a:t>
            </a:r>
            <a:endParaRPr lang="en-US" sz="1300"/>
          </a:p>
        </p:txBody>
      </p:sp>
      <p:sp>
        <p:nvSpPr>
          <p:cNvPr id="12" name="Text 7"/>
          <p:cNvSpPr txBox="1"/>
          <p:nvPr/>
        </p:nvSpPr>
        <p:spPr>
          <a:xfrm>
            <a:off x="789127" y="2457907"/>
            <a:ext cx="1074420" cy="152705"/>
          </a:xfrm>
          <a:prstGeom prst="rect">
            <a:avLst/>
          </a:prstGeom>
          <a:noFill/>
          <a:ln/>
        </p:spPr>
        <p:txBody>
          <a:bodyPr wrap="square" lIns="0" tIns="0" rIns="0" bIns="0" rtlCol="0" anchor="ctr"/>
          <a:lstStyle/>
          <a:p>
            <a:pPr marL="0" indent="0" algn="ctr">
              <a:buNone/>
            </a:pPr>
            <a:r>
              <a:rPr lang="en-US" sz="900" b="1" kern="0" spc="22" dirty="0">
                <a:solidFill>
                  <a:srgbClr val="2A9D8F"/>
                </a:solidFill>
                <a:latin typeface="Roboto Condensed" pitchFamily="34" charset="0"/>
                <a:ea typeface="Roboto Condensed" pitchFamily="34" charset="-122"/>
                <a:cs typeface="Roboto Condensed" pitchFamily="34" charset="-120"/>
              </a:rPr>
              <a:t>Founder &amp; CEO</a:t>
            </a:r>
            <a:endParaRPr lang="en-US" sz="900" dirty="0"/>
          </a:p>
        </p:txBody>
      </p:sp>
      <p:sp>
        <p:nvSpPr>
          <p:cNvPr id="13" name="Text 8"/>
          <p:cNvSpPr txBox="1"/>
          <p:nvPr/>
        </p:nvSpPr>
        <p:spPr>
          <a:xfrm>
            <a:off x="2025396" y="1557311"/>
            <a:ext cx="3867912" cy="1552651"/>
          </a:xfrm>
          <a:prstGeom prst="rect">
            <a:avLst/>
          </a:prstGeom>
          <a:noFill/>
          <a:ln/>
        </p:spPr>
        <p:txBody>
          <a:bodyPr wrap="square" lIns="0" tIns="0" rIns="0" bIns="0" rtlCol="0" anchor="ctr"/>
          <a:lstStyle/>
          <a:p>
            <a:pPr marL="0" indent="0" algn="just">
              <a:buNone/>
            </a:pPr>
            <a:r>
              <a:rPr lang="en-US" sz="1100" dirty="0">
                <a:solidFill>
                  <a:srgbClr val="4B5563"/>
                </a:solidFill>
                <a:latin typeface="Raleway" pitchFamily="34" charset="0"/>
                <a:ea typeface="Raleway" pitchFamily="34" charset="-122"/>
                <a:cs typeface="Raleway" pitchFamily="34" charset="-120"/>
              </a:rPr>
              <a:t>Priti Sawant is a serial entrepreneur, category creator, and a pioneer of India’s Global Capability Center (GCC) ecosystem. With 20+ years of experience, she has built and scaled businesses at the intersection of technology and enterprise transformation. She began her journey at Accenture and later led Magna Infotech-scaling it from pre-revenue to a market leader, creating India’s first GCC-focused model, and delivering a successful exit and public listing (IPO). She is a 2-time entrepreneur, having built two successful, leading companies solving for GCCs in India.</a:t>
            </a:r>
            <a:endParaRPr lang="en-US" sz="1100" dirty="0"/>
          </a:p>
        </p:txBody>
      </p:sp>
      <p:sp>
        <p:nvSpPr>
          <p:cNvPr id="14" name="Text 9"/>
          <p:cNvSpPr txBox="1"/>
          <p:nvPr/>
        </p:nvSpPr>
        <p:spPr>
          <a:xfrm>
            <a:off x="2025396" y="3527888"/>
            <a:ext cx="3867912" cy="1381658"/>
          </a:xfrm>
          <a:prstGeom prst="rect">
            <a:avLst/>
          </a:prstGeom>
          <a:noFill/>
          <a:ln/>
        </p:spPr>
        <p:txBody>
          <a:bodyPr wrap="square" lIns="0" tIns="0" rIns="0" bIns="0" rtlCol="0" anchor="ctr"/>
          <a:lstStyle/>
          <a:p>
            <a:pPr marL="0" indent="0" algn="just">
              <a:buNone/>
            </a:pPr>
            <a:r>
              <a:rPr lang="en-US" sz="1100">
                <a:solidFill>
                  <a:srgbClr val="4B5563"/>
                </a:solidFill>
                <a:latin typeface="Raleway" pitchFamily="34" charset="0"/>
                <a:ea typeface="Raleway" pitchFamily="34" charset="-122"/>
                <a:cs typeface="Raleway" pitchFamily="34" charset="-120"/>
              </a:rPr>
              <a:t>She founded JoulestoWatts, backed by Manipal Global Education Services. Today, J2W operates across 8 countries, enabling 300+ GCCs, deploying 5,200+ professionals, and building 4 in-house products, with strong Fortune 500 partnerships. Recognised by Forbes Japan, she is also a TiE Charter Member, startup mentor, and a strong advocate of gender diversity, having built organisations with 40%+ women representation and 50% women-led leadership roles.</a:t>
            </a:r>
            <a:endParaRPr lang="en-US" sz="1100"/>
          </a:p>
        </p:txBody>
      </p:sp>
      <p:pic>
        <p:nvPicPr>
          <p:cNvPr id="15" name="Image 3" descr="preencoded.png"/>
          <p:cNvPicPr>
            <a:picLocks noChangeAspect="1"/>
          </p:cNvPicPr>
          <p:nvPr/>
        </p:nvPicPr>
        <p:blipFill>
          <a:blip r:embed="rId6"/>
          <a:srcRect t="-6" b="-6"/>
          <a:stretch/>
        </p:blipFill>
        <p:spPr>
          <a:xfrm>
            <a:off x="6210605" y="1123798"/>
            <a:ext cx="5372100" cy="3715207"/>
          </a:xfrm>
          <a:prstGeom prst="rect">
            <a:avLst/>
          </a:prstGeom>
        </p:spPr>
      </p:pic>
      <p:sp>
        <p:nvSpPr>
          <p:cNvPr id="16" name="Shape 10"/>
          <p:cNvSpPr/>
          <p:nvPr/>
        </p:nvSpPr>
        <p:spPr>
          <a:xfrm>
            <a:off x="6520586" y="1339596"/>
            <a:ext cx="809244" cy="809244"/>
          </a:xfrm>
          <a:prstGeom prst="ellipse">
            <a:avLst/>
          </a:prstGeom>
          <a:noFill/>
          <a:ln w="38100">
            <a:solidFill>
              <a:srgbClr val="FFFFFF"/>
            </a:solidFill>
            <a:prstDash val="solid"/>
          </a:ln>
          <a:effectLst>
            <a:outerShdw blurRad="101600" dist="38100" dir="16200000" algn="bl" rotWithShape="0">
              <a:srgbClr val="000000">
                <a:alpha val="10000"/>
              </a:srgbClr>
            </a:outerShdw>
          </a:effectLst>
        </p:spPr>
        <p:txBody>
          <a:bodyPr/>
          <a:lstStyle/>
          <a:p>
            <a:endParaRPr lang="en-US"/>
          </a:p>
        </p:txBody>
      </p:sp>
      <p:pic>
        <p:nvPicPr>
          <p:cNvPr id="17" name="Image 4" descr="preencoded.png"/>
          <p:cNvPicPr>
            <a:picLocks noChangeAspect="1"/>
          </p:cNvPicPr>
          <p:nvPr/>
        </p:nvPicPr>
        <p:blipFill>
          <a:blip r:embed="rId7"/>
          <a:srcRect b="1042"/>
          <a:stretch/>
        </p:blipFill>
        <p:spPr>
          <a:xfrm>
            <a:off x="6548933" y="1367942"/>
            <a:ext cx="752551" cy="752551"/>
          </a:xfrm>
          <a:prstGeom prst="rect">
            <a:avLst/>
          </a:prstGeom>
        </p:spPr>
      </p:pic>
      <p:sp>
        <p:nvSpPr>
          <p:cNvPr id="18" name="Text 11"/>
          <p:cNvSpPr txBox="1"/>
          <p:nvPr/>
        </p:nvSpPr>
        <p:spPr>
          <a:xfrm>
            <a:off x="6411773" y="2224735"/>
            <a:ext cx="1032358" cy="219456"/>
          </a:xfrm>
          <a:prstGeom prst="rect">
            <a:avLst/>
          </a:prstGeom>
          <a:noFill/>
          <a:ln/>
        </p:spPr>
        <p:txBody>
          <a:bodyPr wrap="square" lIns="0" tIns="0" rIns="0" bIns="0" rtlCol="0" anchor="ctr"/>
          <a:lstStyle/>
          <a:p>
            <a:pPr marL="0" indent="0" algn="ctr">
              <a:buNone/>
            </a:pPr>
            <a:r>
              <a:rPr lang="en-US" sz="1300" b="1">
                <a:solidFill>
                  <a:srgbClr val="1F2937"/>
                </a:solidFill>
                <a:latin typeface="Oswald" pitchFamily="34" charset="0"/>
                <a:ea typeface="Oswald" pitchFamily="34" charset="-122"/>
                <a:cs typeface="Oswald" pitchFamily="34" charset="-120"/>
              </a:rPr>
              <a:t>Priya Mohan</a:t>
            </a:r>
            <a:endParaRPr lang="en-US" sz="1300"/>
          </a:p>
        </p:txBody>
      </p:sp>
      <p:sp>
        <p:nvSpPr>
          <p:cNvPr id="19" name="Text 12"/>
          <p:cNvSpPr txBox="1"/>
          <p:nvPr/>
        </p:nvSpPr>
        <p:spPr>
          <a:xfrm>
            <a:off x="6781190" y="2457907"/>
            <a:ext cx="295351" cy="152705"/>
          </a:xfrm>
          <a:prstGeom prst="rect">
            <a:avLst/>
          </a:prstGeom>
          <a:noFill/>
          <a:ln/>
        </p:spPr>
        <p:txBody>
          <a:bodyPr wrap="square" lIns="0" tIns="0" rIns="0" bIns="0" rtlCol="0" anchor="ctr"/>
          <a:lstStyle/>
          <a:p>
            <a:pPr marL="0" indent="0" algn="ctr">
              <a:buNone/>
            </a:pPr>
            <a:r>
              <a:rPr lang="en-US" sz="1100" b="1" kern="0" spc="22" dirty="0">
                <a:solidFill>
                  <a:srgbClr val="D62839"/>
                </a:solidFill>
                <a:latin typeface="Roboto Condensed" pitchFamily="34" charset="0"/>
                <a:ea typeface="Roboto Condensed" pitchFamily="34" charset="-122"/>
                <a:cs typeface="Roboto Condensed" pitchFamily="34" charset="-120"/>
              </a:rPr>
              <a:t>coo</a:t>
            </a:r>
            <a:endParaRPr lang="en-US" sz="1100" dirty="0"/>
          </a:p>
        </p:txBody>
      </p:sp>
      <p:sp>
        <p:nvSpPr>
          <p:cNvPr id="20" name="Text 13"/>
          <p:cNvSpPr txBox="1"/>
          <p:nvPr/>
        </p:nvSpPr>
        <p:spPr>
          <a:xfrm>
            <a:off x="7626096" y="1557311"/>
            <a:ext cx="3867912" cy="1552651"/>
          </a:xfrm>
          <a:prstGeom prst="rect">
            <a:avLst/>
          </a:prstGeom>
          <a:noFill/>
          <a:ln/>
        </p:spPr>
        <p:txBody>
          <a:bodyPr wrap="square" lIns="0" tIns="0" rIns="0" bIns="0" rtlCol="0" anchor="ctr"/>
          <a:lstStyle/>
          <a:p>
            <a:pPr marL="0" indent="0" algn="just">
              <a:buNone/>
            </a:pPr>
            <a:r>
              <a:rPr lang="en-US" sz="1100">
                <a:solidFill>
                  <a:srgbClr val="4B5563"/>
                </a:solidFill>
                <a:latin typeface="Raleway" pitchFamily="34" charset="0"/>
                <a:ea typeface="Raleway" pitchFamily="34" charset="-122"/>
                <a:cs typeface="Raleway" pitchFamily="34" charset="-120"/>
              </a:rPr>
              <a:t>Priya Mohan is a seasoned operator, investor, and entrepreneur with 20+ years spanning venture capital, high-growth startups, and investment banking. She was most recently a Partner at General Catalyst India, where she led India investments and co-creation opportunities across transformative, economy-shaping companies. Previously, as Managing Partner at Venture Highway, she held board seats across marquee portfolio companies in multiple sectors. Before investing, she co-founded Vidyartha, an EdTech platform which she successfully exited to Byju's.</a:t>
            </a:r>
            <a:endParaRPr lang="en-US" sz="1100"/>
          </a:p>
        </p:txBody>
      </p:sp>
      <p:sp>
        <p:nvSpPr>
          <p:cNvPr id="21" name="Text 14"/>
          <p:cNvSpPr txBox="1"/>
          <p:nvPr/>
        </p:nvSpPr>
        <p:spPr>
          <a:xfrm>
            <a:off x="7626096" y="3527888"/>
            <a:ext cx="3867912" cy="1209751"/>
          </a:xfrm>
          <a:prstGeom prst="rect">
            <a:avLst/>
          </a:prstGeom>
          <a:noFill/>
          <a:ln/>
        </p:spPr>
        <p:txBody>
          <a:bodyPr wrap="square" lIns="0" tIns="0" rIns="0" bIns="0" rtlCol="0" anchor="ctr"/>
          <a:lstStyle/>
          <a:p>
            <a:pPr marL="0" indent="0" algn="just">
              <a:buNone/>
            </a:pPr>
            <a:r>
              <a:rPr lang="en-US" sz="1100" dirty="0">
                <a:solidFill>
                  <a:srgbClr val="4B5563"/>
                </a:solidFill>
                <a:latin typeface="Raleway" pitchFamily="34" charset="0"/>
                <a:ea typeface="Raleway" pitchFamily="34" charset="-122"/>
                <a:cs typeface="Raleway" pitchFamily="34" charset="-120"/>
              </a:rPr>
              <a:t>Her earlier career included 9 years in investment banking and equity research - structuring and executing complex transactions across private equity raises, secondary sales, and buyouts. A Chartered Accountant and Management Graduate from the Indian School of Business (ISB), Priya was a state guest of the United States under the IVLP program and is a member of the Kamalnayan Bajaj Aspen Fellowship (Cohort X).</a:t>
            </a:r>
            <a:endParaRPr lang="en-US" sz="1100" dirty="0"/>
          </a:p>
        </p:txBody>
      </p:sp>
      <p:pic>
        <p:nvPicPr>
          <p:cNvPr id="54" name="Image 15" descr="preencoded.png"/>
          <p:cNvPicPr>
            <a:picLocks noChangeAspect="1"/>
          </p:cNvPicPr>
          <p:nvPr/>
        </p:nvPicPr>
        <p:blipFill>
          <a:blip r:embed="rId8"/>
          <a:srcRect l="-202" r="-202"/>
          <a:stretch/>
        </p:blipFill>
        <p:spPr>
          <a:xfrm>
            <a:off x="0" y="0"/>
            <a:ext cx="8128102" cy="75895"/>
          </a:xfrm>
          <a:prstGeom prst="rect">
            <a:avLst/>
          </a:prstGeom>
        </p:spPr>
      </p:pic>
      <p:pic>
        <p:nvPicPr>
          <p:cNvPr id="55" name="Image 16" descr="preencoded.png"/>
          <p:cNvPicPr>
            <a:picLocks noChangeAspect="1"/>
          </p:cNvPicPr>
          <p:nvPr/>
        </p:nvPicPr>
        <p:blipFill>
          <a:blip r:embed="rId9"/>
          <a:srcRect l="-197" r="-197"/>
          <a:stretch/>
        </p:blipFill>
        <p:spPr>
          <a:xfrm>
            <a:off x="8128102" y="0"/>
            <a:ext cx="4063594" cy="7589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667598" y="-751535"/>
            <a:ext cx="4286707" cy="4286707"/>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debd4e3596836e8640379be3057665ef.png"/>
          <p:cNvPicPr>
            <a:picLocks noChangeAspect="1"/>
          </p:cNvPicPr>
          <p:nvPr/>
        </p:nvPicPr>
        <p:blipFill>
          <a:blip r:embed="rId3">
            <a:alphaModFix amt="5000"/>
          </a:blip>
          <a:srcRect/>
          <a:stretch/>
        </p:blipFill>
        <p:spPr>
          <a:xfrm>
            <a:off x="-476402" y="3047695"/>
            <a:ext cx="2857500" cy="2857500"/>
          </a:xfrm>
          <a:prstGeom prst="rect">
            <a:avLst/>
          </a:prstGeom>
        </p:spPr>
      </p:pic>
      <p:pic>
        <p:nvPicPr>
          <p:cNvPr id="6" name="Image 1" descr="gen-dedup-ef527bea2207a14ec6e8d4c8ae9cdc45.png"/>
          <p:cNvPicPr>
            <a:picLocks noChangeAspect="1"/>
          </p:cNvPicPr>
          <p:nvPr/>
        </p:nvPicPr>
        <p:blipFill>
          <a:blip r:embed="rId4"/>
          <a:srcRect l="-384" r="-384"/>
          <a:stretch/>
        </p:blipFill>
        <p:spPr>
          <a:xfrm>
            <a:off x="609905" y="457200"/>
            <a:ext cx="57607" cy="476402"/>
          </a:xfrm>
          <a:prstGeom prst="rect">
            <a:avLst/>
          </a:prstGeom>
        </p:spPr>
      </p:pic>
      <p:sp>
        <p:nvSpPr>
          <p:cNvPr id="7" name="Shape 3"/>
          <p:cNvSpPr/>
          <p:nvPr/>
        </p:nvSpPr>
        <p:spPr>
          <a:xfrm>
            <a:off x="1714500" y="1285646"/>
            <a:ext cx="4304995" cy="2667305"/>
          </a:xfrm>
          <a:prstGeom prst="roundRect">
            <a:avLst>
              <a:gd name="adj" fmla="val 1959"/>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8" name="Shape 4"/>
          <p:cNvSpPr/>
          <p:nvPr/>
        </p:nvSpPr>
        <p:spPr>
          <a:xfrm>
            <a:off x="1714500" y="1285646"/>
            <a:ext cx="4304995" cy="38405"/>
          </a:xfrm>
          <a:prstGeom prst="roundRect">
            <a:avLst>
              <a:gd name="adj" fmla="val 136054"/>
            </a:avLst>
          </a:prstGeom>
          <a:solidFill>
            <a:srgbClr val="2A9D8F"/>
          </a:solidFill>
          <a:ln w="12700">
            <a:solidFill>
              <a:srgbClr val="2A9D8F">
                <a:alpha val="0"/>
              </a:srgbClr>
            </a:solidFill>
            <a:prstDash val="solid"/>
          </a:ln>
        </p:spPr>
        <p:txBody>
          <a:bodyPr/>
          <a:lstStyle/>
          <a:p>
            <a:endParaRPr lang="en-US"/>
          </a:p>
        </p:txBody>
      </p:sp>
      <p:sp>
        <p:nvSpPr>
          <p:cNvPr id="9" name="Shape 5"/>
          <p:cNvSpPr/>
          <p:nvPr/>
        </p:nvSpPr>
        <p:spPr>
          <a:xfrm>
            <a:off x="6191402" y="1285646"/>
            <a:ext cx="4304995" cy="2667305"/>
          </a:xfrm>
          <a:prstGeom prst="roundRect">
            <a:avLst>
              <a:gd name="adj" fmla="val 1959"/>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10" name="Shape 6"/>
          <p:cNvSpPr/>
          <p:nvPr/>
        </p:nvSpPr>
        <p:spPr>
          <a:xfrm>
            <a:off x="6191402" y="1285646"/>
            <a:ext cx="4304995" cy="38405"/>
          </a:xfrm>
          <a:prstGeom prst="roundRect">
            <a:avLst>
              <a:gd name="adj" fmla="val 136054"/>
            </a:avLst>
          </a:prstGeom>
          <a:solidFill>
            <a:srgbClr val="D62839"/>
          </a:solidFill>
          <a:ln w="12700">
            <a:solidFill>
              <a:srgbClr val="D62839">
                <a:alpha val="0"/>
              </a:srgbClr>
            </a:solidFill>
            <a:prstDash val="solid"/>
          </a:ln>
        </p:spPr>
        <p:txBody>
          <a:bodyPr/>
          <a:lstStyle/>
          <a:p>
            <a:endParaRPr lang="en-US"/>
          </a:p>
        </p:txBody>
      </p:sp>
      <p:sp>
        <p:nvSpPr>
          <p:cNvPr id="11" name="Shape 7"/>
          <p:cNvSpPr/>
          <p:nvPr/>
        </p:nvSpPr>
        <p:spPr>
          <a:xfrm>
            <a:off x="609905" y="4095598"/>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12" name="Shape 8"/>
          <p:cNvSpPr/>
          <p:nvPr/>
        </p:nvSpPr>
        <p:spPr>
          <a:xfrm>
            <a:off x="609905" y="4095598"/>
            <a:ext cx="3590849" cy="38405"/>
          </a:xfrm>
          <a:prstGeom prst="roundRect">
            <a:avLst>
              <a:gd name="adj" fmla="val 143755"/>
            </a:avLst>
          </a:prstGeom>
          <a:solidFill>
            <a:srgbClr val="2A9D8F"/>
          </a:solidFill>
          <a:ln w="12700">
            <a:solidFill>
              <a:srgbClr val="2A9D8F">
                <a:alpha val="0"/>
              </a:srgbClr>
            </a:solidFill>
            <a:prstDash val="solid"/>
          </a:ln>
        </p:spPr>
        <p:txBody>
          <a:bodyPr/>
          <a:lstStyle/>
          <a:p>
            <a:endParaRPr lang="en-US"/>
          </a:p>
        </p:txBody>
      </p:sp>
      <p:sp>
        <p:nvSpPr>
          <p:cNvPr id="13" name="Shape 9"/>
          <p:cNvSpPr/>
          <p:nvPr/>
        </p:nvSpPr>
        <p:spPr>
          <a:xfrm>
            <a:off x="4304995" y="4095598"/>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14" name="Shape 10"/>
          <p:cNvSpPr/>
          <p:nvPr/>
        </p:nvSpPr>
        <p:spPr>
          <a:xfrm>
            <a:off x="4304995" y="4095598"/>
            <a:ext cx="3590849" cy="38405"/>
          </a:xfrm>
          <a:prstGeom prst="roundRect">
            <a:avLst>
              <a:gd name="adj" fmla="val 143755"/>
            </a:avLst>
          </a:prstGeom>
          <a:solidFill>
            <a:srgbClr val="D62839"/>
          </a:solidFill>
          <a:ln w="12700">
            <a:solidFill>
              <a:srgbClr val="D62839">
                <a:alpha val="0"/>
              </a:srgbClr>
            </a:solidFill>
            <a:prstDash val="solid"/>
          </a:ln>
        </p:spPr>
        <p:txBody>
          <a:bodyPr/>
          <a:lstStyle/>
          <a:p>
            <a:endParaRPr lang="en-US"/>
          </a:p>
        </p:txBody>
      </p:sp>
      <p:sp>
        <p:nvSpPr>
          <p:cNvPr id="15" name="Shape 11"/>
          <p:cNvSpPr/>
          <p:nvPr/>
        </p:nvSpPr>
        <p:spPr>
          <a:xfrm>
            <a:off x="8001000" y="4095598"/>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16" name="Shape 12"/>
          <p:cNvSpPr/>
          <p:nvPr/>
        </p:nvSpPr>
        <p:spPr>
          <a:xfrm>
            <a:off x="8001000" y="4095598"/>
            <a:ext cx="3590849" cy="38405"/>
          </a:xfrm>
          <a:prstGeom prst="roundRect">
            <a:avLst>
              <a:gd name="adj" fmla="val 143755"/>
            </a:avLst>
          </a:prstGeom>
          <a:solidFill>
            <a:srgbClr val="2A9D8F"/>
          </a:solidFill>
          <a:ln w="12700">
            <a:solidFill>
              <a:srgbClr val="2A9D8F">
                <a:alpha val="0"/>
              </a:srgbClr>
            </a:solidFill>
            <a:prstDash val="solid"/>
          </a:ln>
        </p:spPr>
        <p:txBody>
          <a:bodyPr/>
          <a:lstStyle/>
          <a:p>
            <a:endParaRPr lang="en-US"/>
          </a:p>
        </p:txBody>
      </p:sp>
      <p:sp>
        <p:nvSpPr>
          <p:cNvPr id="17" name="Text 13"/>
          <p:cNvSpPr txBox="1"/>
          <p:nvPr/>
        </p:nvSpPr>
        <p:spPr>
          <a:xfrm>
            <a:off x="819302" y="381305"/>
            <a:ext cx="10478110" cy="362102"/>
          </a:xfrm>
          <a:prstGeom prst="rect">
            <a:avLst/>
          </a:prstGeom>
          <a:noFill/>
          <a:ln/>
        </p:spPr>
        <p:txBody>
          <a:bodyPr wrap="none" lIns="0" tIns="0" rIns="0" bIns="0" rtlCol="0" anchor="ctr"/>
          <a:lstStyle/>
          <a:p>
            <a:pPr marL="0" indent="0" algn="l">
              <a:buNone/>
            </a:pPr>
            <a:r>
              <a:rPr lang="en-US" sz="2500" b="1" kern="0" spc="-25">
                <a:solidFill>
                  <a:srgbClr val="111827"/>
                </a:solidFill>
                <a:latin typeface="Oswald" pitchFamily="34" charset="0"/>
                <a:ea typeface="Oswald" pitchFamily="34" charset="-122"/>
                <a:cs typeface="Oswald" pitchFamily="34" charset="-120"/>
              </a:rPr>
              <a:t>ARCHITECTS OF TRANSFORMATION</a:t>
            </a:r>
            <a:endParaRPr lang="en-US" sz="2500"/>
          </a:p>
        </p:txBody>
      </p:sp>
      <p:sp>
        <p:nvSpPr>
          <p:cNvPr id="18" name="Text 14"/>
          <p:cNvSpPr txBox="1"/>
          <p:nvPr/>
        </p:nvSpPr>
        <p:spPr>
          <a:xfrm>
            <a:off x="819302" y="794614"/>
            <a:ext cx="10478110" cy="181051"/>
          </a:xfrm>
          <a:prstGeom prst="rect">
            <a:avLst/>
          </a:prstGeom>
          <a:noFill/>
          <a:ln/>
        </p:spPr>
        <p:txBody>
          <a:bodyPr wrap="none" lIns="0" tIns="0" rIns="0" bIns="0" rtlCol="0" anchor="ctr"/>
          <a:lstStyle/>
          <a:p>
            <a:pPr marL="0" indent="0" algn="l">
              <a:buNone/>
            </a:pPr>
            <a:r>
              <a:rPr lang="en-US" sz="1200" b="1" kern="0" spc="60" dirty="0">
                <a:solidFill>
                  <a:srgbClr val="2A9D8F"/>
                </a:solidFill>
                <a:latin typeface="Roboto Condensed" pitchFamily="34" charset="0"/>
                <a:ea typeface="Roboto Condensed" pitchFamily="34" charset="-122"/>
                <a:cs typeface="Roboto Condensed" pitchFamily="34" charset="-120"/>
              </a:rPr>
              <a:t>A Seasoned Team Uniting Technology, Strategy, And Workforce Excellence</a:t>
            </a:r>
            <a:endParaRPr lang="en-US" sz="1200" dirty="0"/>
          </a:p>
        </p:txBody>
      </p:sp>
      <p:sp>
        <p:nvSpPr>
          <p:cNvPr id="19" name="Shape 15"/>
          <p:cNvSpPr/>
          <p:nvPr/>
        </p:nvSpPr>
        <p:spPr>
          <a:xfrm>
            <a:off x="3476549" y="1429207"/>
            <a:ext cx="761695" cy="761695"/>
          </a:xfrm>
          <a:prstGeom prst="ellipse">
            <a:avLst/>
          </a:prstGeom>
          <a:solidFill>
            <a:srgbClr val="F3F4F6"/>
          </a:solidFill>
          <a:ln w="25400">
            <a:solidFill>
              <a:srgbClr val="E5E7EB"/>
            </a:solidFill>
            <a:prstDash val="solid"/>
          </a:ln>
        </p:spPr>
        <p:txBody>
          <a:bodyPr/>
          <a:lstStyle/>
          <a:p>
            <a:endParaRPr lang="en-US"/>
          </a:p>
        </p:txBody>
      </p:sp>
      <p:sp>
        <p:nvSpPr>
          <p:cNvPr id="20" name="Text 16"/>
          <p:cNvSpPr/>
          <p:nvPr/>
        </p:nvSpPr>
        <p:spPr>
          <a:xfrm>
            <a:off x="3476549" y="1429207"/>
            <a:ext cx="762610" cy="762610"/>
          </a:xfrm>
          <a:prstGeom prst="rect">
            <a:avLst/>
          </a:prstGeom>
          <a:solidFill>
            <a:srgbClr val="FFFFFF">
              <a:alpha val="0"/>
            </a:srgbClr>
          </a:solidFill>
          <a:ln>
            <a:solidFill>
              <a:srgbClr val="FFFFFF">
                <a:alpha val="0"/>
              </a:srgbClr>
            </a:solidFill>
          </a:ln>
        </p:spPr>
        <p:txBody>
          <a:bodyPr wrap="none" lIns="0" tIns="0" rIns="0" bIns="0" rtlCol="0" anchor="ctr"/>
          <a:lstStyle/>
          <a:p>
            <a:pPr marL="0" indent="0" algn="ctr">
              <a:buNone/>
            </a:pPr>
            <a:r>
              <a:rPr lang="en-US" sz="1000" b="1">
                <a:solidFill>
                  <a:srgbClr val="9CA3AF"/>
                </a:solidFill>
                <a:latin typeface="Raleway" pitchFamily="34" charset="0"/>
                <a:ea typeface="Raleway" pitchFamily="34" charset="-122"/>
                <a:cs typeface="Raleway" pitchFamily="34" charset="-120"/>
              </a:rPr>
              <a:t>Photo</a:t>
            </a:r>
            <a:endParaRPr lang="en-US" sz="1000"/>
          </a:p>
        </p:txBody>
      </p:sp>
      <p:sp>
        <p:nvSpPr>
          <p:cNvPr id="21" name="Text 17"/>
          <p:cNvSpPr txBox="1"/>
          <p:nvPr/>
        </p:nvSpPr>
        <p:spPr>
          <a:xfrm>
            <a:off x="3294583" y="2266798"/>
            <a:ext cx="1133856" cy="286207"/>
          </a:xfrm>
          <a:prstGeom prst="rect">
            <a:avLst/>
          </a:prstGeom>
          <a:noFill/>
          <a:ln/>
        </p:spPr>
        <p:txBody>
          <a:bodyPr wrap="none" lIns="0" tIns="0" rIns="0" bIns="0" rtlCol="0" anchor="ctr"/>
          <a:lstStyle/>
          <a:p>
            <a:pPr marL="0" indent="0" algn="ctr">
              <a:buNone/>
            </a:pPr>
            <a:r>
              <a:rPr lang="en-US" sz="1500" b="1">
                <a:solidFill>
                  <a:srgbClr val="111827"/>
                </a:solidFill>
                <a:latin typeface="Oswald" pitchFamily="34" charset="0"/>
                <a:ea typeface="Oswald" pitchFamily="34" charset="-122"/>
                <a:cs typeface="Oswald" pitchFamily="34" charset="-120"/>
              </a:rPr>
              <a:t>Priti Sawant</a:t>
            </a:r>
            <a:endParaRPr lang="en-US" sz="1500"/>
          </a:p>
        </p:txBody>
      </p:sp>
      <p:sp>
        <p:nvSpPr>
          <p:cNvPr id="22" name="Text 18"/>
          <p:cNvSpPr txBox="1"/>
          <p:nvPr/>
        </p:nvSpPr>
        <p:spPr>
          <a:xfrm>
            <a:off x="3254350" y="2572207"/>
            <a:ext cx="1207008" cy="143561"/>
          </a:xfrm>
          <a:prstGeom prst="rect">
            <a:avLst/>
          </a:prstGeom>
          <a:noFill/>
          <a:ln/>
        </p:spPr>
        <p:txBody>
          <a:bodyPr wrap="none" lIns="0" tIns="0" rIns="0" bIns="0" rtlCol="0" anchor="ctr"/>
          <a:lstStyle/>
          <a:p>
            <a:pPr marL="0" indent="0" algn="ctr">
              <a:buNone/>
            </a:pPr>
            <a:r>
              <a:rPr lang="en-US" sz="900" b="1" kern="0" spc="49">
                <a:solidFill>
                  <a:srgbClr val="2A9D8F"/>
                </a:solidFill>
                <a:latin typeface="Roboto Condensed" pitchFamily="34" charset="0"/>
                <a:ea typeface="Roboto Condensed" pitchFamily="34" charset="-122"/>
                <a:cs typeface="Roboto Condensed" pitchFamily="34" charset="-120"/>
              </a:rPr>
              <a:t>FOUNDER &amp; CEO</a:t>
            </a:r>
            <a:endParaRPr lang="en-US" sz="900"/>
          </a:p>
        </p:txBody>
      </p:sp>
      <p:sp>
        <p:nvSpPr>
          <p:cNvPr id="23" name="Text 19"/>
          <p:cNvSpPr txBox="1"/>
          <p:nvPr/>
        </p:nvSpPr>
        <p:spPr>
          <a:xfrm>
            <a:off x="1857146" y="2790749"/>
            <a:ext cx="4000500" cy="876910"/>
          </a:xfrm>
          <a:prstGeom prst="rect">
            <a:avLst/>
          </a:prstGeom>
          <a:noFill/>
          <a:ln/>
        </p:spPr>
        <p:txBody>
          <a:bodyPr wrap="square" lIns="0" tIns="0" rIns="0" bIns="0" rtlCol="0" anchor="ctr"/>
          <a:lstStyle/>
          <a:p>
            <a:pPr marL="0" indent="0" algn="ctr">
              <a:buNone/>
            </a:pPr>
            <a:r>
              <a:rPr lang="en-US" sz="1000">
                <a:solidFill>
                  <a:srgbClr val="4B5563"/>
                </a:solidFill>
                <a:latin typeface="Raleway" pitchFamily="34" charset="0"/>
                <a:ea typeface="Raleway" pitchFamily="34" charset="-122"/>
                <a:cs typeface="Raleway" pitchFamily="34" charset="-120"/>
              </a:rPr>
              <a:t>Serial entrepreneur and pioneer of India's GCC ecosystem. 20+ years building businesses at the intersection of technology and enterprise transformation. Founded J2W, operating across 8 countries, 300+ GCCs, 5,200+ professionals. Forbes Japan featured. TiE Charter Member.</a:t>
            </a:r>
            <a:endParaRPr lang="en-US" sz="1000"/>
          </a:p>
        </p:txBody>
      </p:sp>
      <p:sp>
        <p:nvSpPr>
          <p:cNvPr id="24" name="Shape 20"/>
          <p:cNvSpPr/>
          <p:nvPr/>
        </p:nvSpPr>
        <p:spPr>
          <a:xfrm>
            <a:off x="7953451" y="1429207"/>
            <a:ext cx="761695" cy="761695"/>
          </a:xfrm>
          <a:prstGeom prst="ellipse">
            <a:avLst/>
          </a:prstGeom>
          <a:solidFill>
            <a:srgbClr val="F3F4F6"/>
          </a:solidFill>
          <a:ln w="25400">
            <a:solidFill>
              <a:srgbClr val="E5E7EB"/>
            </a:solidFill>
            <a:prstDash val="solid"/>
          </a:ln>
        </p:spPr>
        <p:txBody>
          <a:bodyPr/>
          <a:lstStyle/>
          <a:p>
            <a:endParaRPr lang="en-US"/>
          </a:p>
        </p:txBody>
      </p:sp>
      <p:sp>
        <p:nvSpPr>
          <p:cNvPr id="25" name="Text 21"/>
          <p:cNvSpPr/>
          <p:nvPr/>
        </p:nvSpPr>
        <p:spPr>
          <a:xfrm>
            <a:off x="7953451" y="1429207"/>
            <a:ext cx="762610" cy="762610"/>
          </a:xfrm>
          <a:prstGeom prst="rect">
            <a:avLst/>
          </a:prstGeom>
          <a:solidFill>
            <a:srgbClr val="FFFFFF">
              <a:alpha val="0"/>
            </a:srgbClr>
          </a:solidFill>
          <a:ln>
            <a:solidFill>
              <a:srgbClr val="FFFFFF">
                <a:alpha val="0"/>
              </a:srgbClr>
            </a:solidFill>
          </a:ln>
        </p:spPr>
        <p:txBody>
          <a:bodyPr wrap="none" lIns="0" tIns="0" rIns="0" bIns="0" rtlCol="0" anchor="ctr"/>
          <a:lstStyle/>
          <a:p>
            <a:pPr marL="0" indent="0" algn="ctr">
              <a:buNone/>
            </a:pPr>
            <a:r>
              <a:rPr lang="en-US" sz="1000" b="1">
                <a:solidFill>
                  <a:srgbClr val="9CA3AF"/>
                </a:solidFill>
                <a:latin typeface="Raleway" pitchFamily="34" charset="0"/>
                <a:ea typeface="Raleway" pitchFamily="34" charset="-122"/>
                <a:cs typeface="Raleway" pitchFamily="34" charset="-120"/>
              </a:rPr>
              <a:t>Photo</a:t>
            </a:r>
            <a:endParaRPr lang="en-US" sz="1000"/>
          </a:p>
        </p:txBody>
      </p:sp>
      <p:sp>
        <p:nvSpPr>
          <p:cNvPr id="26" name="Text 22"/>
          <p:cNvSpPr txBox="1"/>
          <p:nvPr/>
        </p:nvSpPr>
        <p:spPr>
          <a:xfrm>
            <a:off x="7764170" y="2266798"/>
            <a:ext cx="1144829" cy="286207"/>
          </a:xfrm>
          <a:prstGeom prst="rect">
            <a:avLst/>
          </a:prstGeom>
          <a:noFill/>
          <a:ln/>
        </p:spPr>
        <p:txBody>
          <a:bodyPr wrap="none" lIns="0" tIns="0" rIns="0" bIns="0" rtlCol="0" anchor="ctr"/>
          <a:lstStyle/>
          <a:p>
            <a:pPr marL="0" indent="0" algn="ctr">
              <a:buNone/>
            </a:pPr>
            <a:r>
              <a:rPr lang="en-US" sz="1500" b="1">
                <a:solidFill>
                  <a:srgbClr val="111827"/>
                </a:solidFill>
                <a:latin typeface="Oswald" pitchFamily="34" charset="0"/>
                <a:ea typeface="Oswald" pitchFamily="34" charset="-122"/>
                <a:cs typeface="Oswald" pitchFamily="34" charset="-120"/>
              </a:rPr>
              <a:t>Priya Mohan</a:t>
            </a:r>
            <a:endParaRPr lang="en-US" sz="1500"/>
          </a:p>
        </p:txBody>
      </p:sp>
      <p:sp>
        <p:nvSpPr>
          <p:cNvPr id="27" name="Text 23"/>
          <p:cNvSpPr txBox="1"/>
          <p:nvPr/>
        </p:nvSpPr>
        <p:spPr>
          <a:xfrm>
            <a:off x="8214970" y="2572207"/>
            <a:ext cx="247802" cy="143561"/>
          </a:xfrm>
          <a:prstGeom prst="rect">
            <a:avLst/>
          </a:prstGeom>
          <a:noFill/>
          <a:ln/>
        </p:spPr>
        <p:txBody>
          <a:bodyPr wrap="none" lIns="0" tIns="0" rIns="0" bIns="0" rtlCol="0" anchor="ctr"/>
          <a:lstStyle/>
          <a:p>
            <a:pPr marL="0" indent="0" algn="ctr">
              <a:buNone/>
            </a:pPr>
            <a:r>
              <a:rPr lang="en-US" sz="900" b="1" kern="0" spc="49">
                <a:solidFill>
                  <a:srgbClr val="D62839"/>
                </a:solidFill>
                <a:latin typeface="Roboto Condensed" pitchFamily="34" charset="0"/>
                <a:ea typeface="Roboto Condensed" pitchFamily="34" charset="-122"/>
                <a:cs typeface="Roboto Condensed" pitchFamily="34" charset="-120"/>
              </a:rPr>
              <a:t>COO</a:t>
            </a:r>
            <a:endParaRPr lang="en-US" sz="900"/>
          </a:p>
        </p:txBody>
      </p:sp>
      <p:sp>
        <p:nvSpPr>
          <p:cNvPr id="28" name="Text 24"/>
          <p:cNvSpPr txBox="1"/>
          <p:nvPr/>
        </p:nvSpPr>
        <p:spPr>
          <a:xfrm>
            <a:off x="6334049" y="2790749"/>
            <a:ext cx="4000500" cy="695858"/>
          </a:xfrm>
          <a:prstGeom prst="rect">
            <a:avLst/>
          </a:prstGeom>
          <a:noFill/>
          <a:ln/>
        </p:spPr>
        <p:txBody>
          <a:bodyPr wrap="square" lIns="0" tIns="0" rIns="0" bIns="0" rtlCol="0" anchor="ctr"/>
          <a:lstStyle/>
          <a:p>
            <a:pPr marL="0" indent="0" algn="ctr">
              <a:buNone/>
            </a:pPr>
            <a:r>
              <a:rPr lang="en-US" sz="1000">
                <a:solidFill>
                  <a:srgbClr val="4B5563"/>
                </a:solidFill>
                <a:latin typeface="Raleway" pitchFamily="34" charset="0"/>
                <a:ea typeface="Raleway" pitchFamily="34" charset="-122"/>
                <a:cs typeface="Raleway" pitchFamily="34" charset="-120"/>
              </a:rPr>
              <a:t>Seasoned operator, investor, and entrepreneur with 20+ years in venture capital and investment banking. Ex-General Catalyst &amp; Venture Highway. Co-founded Vidyartha, exited to BYJU'S. CA &amp; ISB alumna. Kamalnayan Bajaj Aspen Fellow.</a:t>
            </a:r>
            <a:endParaRPr lang="en-US" sz="1000"/>
          </a:p>
        </p:txBody>
      </p:sp>
      <p:sp>
        <p:nvSpPr>
          <p:cNvPr id="31" name="Text 27"/>
          <p:cNvSpPr txBox="1"/>
          <p:nvPr/>
        </p:nvSpPr>
        <p:spPr>
          <a:xfrm>
            <a:off x="1821485" y="5178349"/>
            <a:ext cx="1156716"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Vineet Shukla</a:t>
            </a:r>
            <a:endParaRPr lang="en-US" sz="1300"/>
          </a:p>
        </p:txBody>
      </p:sp>
      <p:sp>
        <p:nvSpPr>
          <p:cNvPr id="32" name="Text 28"/>
          <p:cNvSpPr txBox="1"/>
          <p:nvPr/>
        </p:nvSpPr>
        <p:spPr>
          <a:xfrm>
            <a:off x="1503274" y="5445354"/>
            <a:ext cx="1791310" cy="133502"/>
          </a:xfrm>
          <a:prstGeom prst="rect">
            <a:avLst/>
          </a:prstGeom>
          <a:noFill/>
          <a:ln/>
        </p:spPr>
        <p:txBody>
          <a:bodyPr wrap="none" lIns="0" tIns="0" rIns="0" bIns="0" rtlCol="0" anchor="ctr"/>
          <a:lstStyle/>
          <a:p>
            <a:pPr marL="0" indent="0" algn="ctr">
              <a:buNone/>
            </a:pPr>
            <a:r>
              <a:rPr lang="en-US" sz="900" b="1" kern="0" spc="45">
                <a:solidFill>
                  <a:srgbClr val="2A9D8F"/>
                </a:solidFill>
                <a:latin typeface="Roboto Condensed" pitchFamily="34" charset="0"/>
                <a:ea typeface="Roboto Condensed" pitchFamily="34" charset="-122"/>
                <a:cs typeface="Roboto Condensed" pitchFamily="34" charset="-120"/>
              </a:rPr>
              <a:t>CHIEF TECHNOLOGY OFFICER</a:t>
            </a:r>
            <a:endParaRPr lang="en-US" sz="900"/>
          </a:p>
        </p:txBody>
      </p:sp>
      <p:sp>
        <p:nvSpPr>
          <p:cNvPr id="33" name="Text 29"/>
          <p:cNvSpPr txBox="1"/>
          <p:nvPr/>
        </p:nvSpPr>
        <p:spPr>
          <a:xfrm>
            <a:off x="904646" y="5688076"/>
            <a:ext cx="3286354" cy="486461"/>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20+ years experience, 15 in financial services. AI, data science &amp; ML leader. Patent holder. Scales enterprise AI transformations. IIM Bangalore MBA.</a:t>
            </a:r>
            <a:endParaRPr lang="en-US" sz="900"/>
          </a:p>
        </p:txBody>
      </p:sp>
      <p:sp>
        <p:nvSpPr>
          <p:cNvPr id="34" name="Shape 30"/>
          <p:cNvSpPr/>
          <p:nvPr/>
        </p:nvSpPr>
        <p:spPr>
          <a:xfrm>
            <a:off x="5710428" y="4339844"/>
            <a:ext cx="761695" cy="761695"/>
          </a:xfrm>
          <a:prstGeom prst="ellipse">
            <a:avLst/>
          </a:prstGeom>
          <a:solidFill>
            <a:srgbClr val="F3F4F6"/>
          </a:solidFill>
          <a:ln w="25400">
            <a:solidFill>
              <a:srgbClr val="E5E7EB"/>
            </a:solidFill>
            <a:prstDash val="solid"/>
          </a:ln>
        </p:spPr>
        <p:txBody>
          <a:bodyPr/>
          <a:lstStyle/>
          <a:p>
            <a:endParaRPr lang="en-US"/>
          </a:p>
        </p:txBody>
      </p:sp>
      <p:sp>
        <p:nvSpPr>
          <p:cNvPr id="35" name="Text 31"/>
          <p:cNvSpPr/>
          <p:nvPr/>
        </p:nvSpPr>
        <p:spPr>
          <a:xfrm>
            <a:off x="5710428" y="4339844"/>
            <a:ext cx="762610" cy="762610"/>
          </a:xfrm>
          <a:prstGeom prst="rect">
            <a:avLst/>
          </a:prstGeom>
          <a:solidFill>
            <a:srgbClr val="FFFFFF">
              <a:alpha val="0"/>
            </a:srgbClr>
          </a:solidFill>
          <a:ln>
            <a:solidFill>
              <a:srgbClr val="FFFFFF">
                <a:alpha val="0"/>
              </a:srgbClr>
            </a:solidFill>
          </a:ln>
        </p:spPr>
        <p:txBody>
          <a:bodyPr wrap="none" lIns="0" tIns="0" rIns="0" bIns="0" rtlCol="0" anchor="ctr"/>
          <a:lstStyle/>
          <a:p>
            <a:pPr marL="0" indent="0" algn="ctr">
              <a:buNone/>
            </a:pPr>
            <a:r>
              <a:rPr lang="en-US" sz="1000" b="1">
                <a:solidFill>
                  <a:srgbClr val="9CA3AF"/>
                </a:solidFill>
                <a:latin typeface="Raleway" pitchFamily="34" charset="0"/>
                <a:ea typeface="Raleway" pitchFamily="34" charset="-122"/>
                <a:cs typeface="Raleway" pitchFamily="34" charset="-120"/>
              </a:rPr>
              <a:t>Photo</a:t>
            </a:r>
            <a:endParaRPr lang="en-US" sz="1000"/>
          </a:p>
        </p:txBody>
      </p:sp>
      <p:sp>
        <p:nvSpPr>
          <p:cNvPr id="36" name="Text 32"/>
          <p:cNvSpPr txBox="1"/>
          <p:nvPr/>
        </p:nvSpPr>
        <p:spPr>
          <a:xfrm>
            <a:off x="5512003" y="5178349"/>
            <a:ext cx="1167689"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Daniel Dsouza</a:t>
            </a:r>
            <a:endParaRPr lang="en-US" sz="1300"/>
          </a:p>
        </p:txBody>
      </p:sp>
      <p:sp>
        <p:nvSpPr>
          <p:cNvPr id="37" name="Text 33"/>
          <p:cNvSpPr txBox="1"/>
          <p:nvPr/>
        </p:nvSpPr>
        <p:spPr>
          <a:xfrm>
            <a:off x="4998110" y="5445354"/>
            <a:ext cx="2188159" cy="133502"/>
          </a:xfrm>
          <a:prstGeom prst="rect">
            <a:avLst/>
          </a:prstGeom>
          <a:noFill/>
          <a:ln/>
        </p:spPr>
        <p:txBody>
          <a:bodyPr wrap="none" lIns="0" tIns="0" rIns="0" bIns="0" rtlCol="0" anchor="ctr"/>
          <a:lstStyle/>
          <a:p>
            <a:pPr marL="0" indent="0" algn="ctr">
              <a:buNone/>
            </a:pPr>
            <a:r>
              <a:rPr lang="en-US" sz="900" b="1" kern="0" spc="45">
                <a:solidFill>
                  <a:srgbClr val="D62839"/>
                </a:solidFill>
                <a:latin typeface="Roboto Condensed" pitchFamily="34" charset="0"/>
                <a:ea typeface="Roboto Condensed" pitchFamily="34" charset="-122"/>
                <a:cs typeface="Roboto Condensed" pitchFamily="34" charset="-120"/>
              </a:rPr>
              <a:t>HEAD OF ARTIFICIAL INTELLIGENCE</a:t>
            </a:r>
            <a:endParaRPr lang="en-US" sz="900"/>
          </a:p>
        </p:txBody>
      </p:sp>
      <p:sp>
        <p:nvSpPr>
          <p:cNvPr id="38" name="Text 34"/>
          <p:cNvSpPr txBox="1"/>
          <p:nvPr/>
        </p:nvSpPr>
        <p:spPr>
          <a:xfrm>
            <a:off x="4600651" y="5688076"/>
            <a:ext cx="3286354" cy="486461"/>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Enterprise AI transformation leader. INSEAD MBA. AWS Certified Architect &amp; PMP. Expertise in AI strategy, architecture and cross-geography team leadership.</a:t>
            </a:r>
            <a:endParaRPr lang="en-US" sz="900"/>
          </a:p>
        </p:txBody>
      </p:sp>
      <p:sp>
        <p:nvSpPr>
          <p:cNvPr id="39" name="Shape 35"/>
          <p:cNvSpPr/>
          <p:nvPr/>
        </p:nvSpPr>
        <p:spPr>
          <a:xfrm>
            <a:off x="9405518" y="4339844"/>
            <a:ext cx="761695" cy="761695"/>
          </a:xfrm>
          <a:prstGeom prst="ellipse">
            <a:avLst/>
          </a:prstGeom>
          <a:solidFill>
            <a:srgbClr val="F3F4F6"/>
          </a:solidFill>
          <a:ln w="25400">
            <a:solidFill>
              <a:srgbClr val="E5E7EB"/>
            </a:solidFill>
            <a:prstDash val="solid"/>
          </a:ln>
        </p:spPr>
        <p:txBody>
          <a:bodyPr/>
          <a:lstStyle/>
          <a:p>
            <a:endParaRPr lang="en-US"/>
          </a:p>
        </p:txBody>
      </p:sp>
      <p:sp>
        <p:nvSpPr>
          <p:cNvPr id="40" name="Text 36"/>
          <p:cNvSpPr/>
          <p:nvPr/>
        </p:nvSpPr>
        <p:spPr>
          <a:xfrm>
            <a:off x="9405518" y="4339844"/>
            <a:ext cx="762610" cy="762610"/>
          </a:xfrm>
          <a:prstGeom prst="rect">
            <a:avLst/>
          </a:prstGeom>
          <a:solidFill>
            <a:srgbClr val="FFFFFF">
              <a:alpha val="0"/>
            </a:srgbClr>
          </a:solidFill>
          <a:ln>
            <a:solidFill>
              <a:srgbClr val="FFFFFF">
                <a:alpha val="0"/>
              </a:srgbClr>
            </a:solidFill>
          </a:ln>
        </p:spPr>
        <p:txBody>
          <a:bodyPr wrap="none" lIns="0" tIns="0" rIns="0" bIns="0" rtlCol="0" anchor="ctr"/>
          <a:lstStyle/>
          <a:p>
            <a:pPr marL="0" indent="0" algn="ctr">
              <a:buNone/>
            </a:pPr>
            <a:r>
              <a:rPr lang="en-US" sz="1000" b="1">
                <a:solidFill>
                  <a:srgbClr val="9CA3AF"/>
                </a:solidFill>
                <a:latin typeface="Raleway" pitchFamily="34" charset="0"/>
                <a:ea typeface="Raleway" pitchFamily="34" charset="-122"/>
                <a:cs typeface="Raleway" pitchFamily="34" charset="-120"/>
              </a:rPr>
              <a:t>Photo</a:t>
            </a:r>
            <a:endParaRPr lang="en-US" sz="1000"/>
          </a:p>
        </p:txBody>
      </p:sp>
      <p:sp>
        <p:nvSpPr>
          <p:cNvPr id="41" name="Text 37"/>
          <p:cNvSpPr txBox="1"/>
          <p:nvPr/>
        </p:nvSpPr>
        <p:spPr>
          <a:xfrm>
            <a:off x="9322308" y="5178349"/>
            <a:ext cx="929945"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Kunal Shah</a:t>
            </a:r>
            <a:endParaRPr lang="en-US" sz="1300"/>
          </a:p>
        </p:txBody>
      </p:sp>
      <p:sp>
        <p:nvSpPr>
          <p:cNvPr id="42" name="Text 38"/>
          <p:cNvSpPr txBox="1"/>
          <p:nvPr/>
        </p:nvSpPr>
        <p:spPr>
          <a:xfrm>
            <a:off x="8810244" y="5445354"/>
            <a:ext cx="1961388" cy="133502"/>
          </a:xfrm>
          <a:prstGeom prst="rect">
            <a:avLst/>
          </a:prstGeom>
          <a:noFill/>
          <a:ln/>
        </p:spPr>
        <p:txBody>
          <a:bodyPr wrap="none" lIns="0" tIns="0" rIns="0" bIns="0" rtlCol="0" anchor="ctr"/>
          <a:lstStyle/>
          <a:p>
            <a:pPr marL="0" indent="0" algn="ctr">
              <a:buNone/>
            </a:pPr>
            <a:r>
              <a:rPr lang="en-US" sz="900" b="1" kern="0" spc="45">
                <a:solidFill>
                  <a:srgbClr val="2A9D8F"/>
                </a:solidFill>
                <a:latin typeface="Roboto Condensed" pitchFamily="34" charset="0"/>
                <a:ea typeface="Roboto Condensed" pitchFamily="34" charset="-122"/>
                <a:cs typeface="Roboto Condensed" pitchFamily="34" charset="-120"/>
              </a:rPr>
              <a:t>HEAD - GLOBAL BFSI STRATEGY</a:t>
            </a:r>
            <a:endParaRPr lang="en-US" sz="900"/>
          </a:p>
        </p:txBody>
      </p:sp>
      <p:sp>
        <p:nvSpPr>
          <p:cNvPr id="43" name="Text 39"/>
          <p:cNvSpPr txBox="1"/>
          <p:nvPr/>
        </p:nvSpPr>
        <p:spPr>
          <a:xfrm>
            <a:off x="8295741" y="5644997"/>
            <a:ext cx="3146959" cy="648310"/>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Industry-recognized AI, data science &amp; ML leader. 20+ years in BFSI. Ex JP Morgan &amp; CLSA. Scales enterprise AI transformations. Drives measurable ROI for banks &amp; fintechs.</a:t>
            </a:r>
            <a:endParaRPr lang="en-US" sz="900"/>
          </a:p>
        </p:txBody>
      </p:sp>
      <p:pic>
        <p:nvPicPr>
          <p:cNvPr id="46" name="Image 4" descr="preencoded.png">
            <a:extLst>
              <a:ext uri="{FF2B5EF4-FFF2-40B4-BE49-F238E27FC236}">
                <a16:creationId xmlns:a16="http://schemas.microsoft.com/office/drawing/2014/main" id="{C6614DD8-D2D3-3E59-136C-61594D6E82DB}"/>
              </a:ext>
            </a:extLst>
          </p:cNvPr>
          <p:cNvPicPr>
            <a:picLocks noChangeAspect="1"/>
          </p:cNvPicPr>
          <p:nvPr/>
        </p:nvPicPr>
        <p:blipFill>
          <a:blip r:embed="rId5"/>
          <a:srcRect b="1042"/>
          <a:stretch/>
        </p:blipFill>
        <p:spPr>
          <a:xfrm>
            <a:off x="7895844" y="1398828"/>
            <a:ext cx="857707" cy="857707"/>
          </a:xfrm>
          <a:prstGeom prst="rect">
            <a:avLst/>
          </a:prstGeom>
        </p:spPr>
      </p:pic>
      <p:pic>
        <p:nvPicPr>
          <p:cNvPr id="48" name="Image 2" descr="preencoded.png">
            <a:extLst>
              <a:ext uri="{FF2B5EF4-FFF2-40B4-BE49-F238E27FC236}">
                <a16:creationId xmlns:a16="http://schemas.microsoft.com/office/drawing/2014/main" id="{3C07FD42-E1E3-E85C-D27C-13F1FA4C86FB}"/>
              </a:ext>
            </a:extLst>
          </p:cNvPr>
          <p:cNvPicPr>
            <a:picLocks noChangeAspect="1"/>
          </p:cNvPicPr>
          <p:nvPr/>
        </p:nvPicPr>
        <p:blipFill>
          <a:blip r:embed="rId6"/>
          <a:srcRect/>
          <a:stretch/>
        </p:blipFill>
        <p:spPr>
          <a:xfrm>
            <a:off x="3472994" y="1429207"/>
            <a:ext cx="783996" cy="783996"/>
          </a:xfrm>
          <a:prstGeom prst="rect">
            <a:avLst/>
          </a:prstGeom>
        </p:spPr>
      </p:pic>
      <p:pic>
        <p:nvPicPr>
          <p:cNvPr id="49" name="Picture 48">
            <a:extLst>
              <a:ext uri="{FF2B5EF4-FFF2-40B4-BE49-F238E27FC236}">
                <a16:creationId xmlns:a16="http://schemas.microsoft.com/office/drawing/2014/main" id="{21381C72-F8AC-4843-BD6E-BF2328463577}"/>
              </a:ext>
            </a:extLst>
          </p:cNvPr>
          <p:cNvPicPr>
            <a:picLocks noChangeAspect="1"/>
          </p:cNvPicPr>
          <p:nvPr/>
        </p:nvPicPr>
        <p:blipFill>
          <a:blip r:embed="rId7"/>
          <a:stretch>
            <a:fillRect/>
          </a:stretch>
        </p:blipFill>
        <p:spPr>
          <a:xfrm>
            <a:off x="1949958" y="4383736"/>
            <a:ext cx="761695" cy="761695"/>
          </a:xfrm>
          <a:prstGeom prst="ellipse">
            <a:avLst/>
          </a:prstGeom>
          <a:ln>
            <a:solidFill>
              <a:schemeClr val="bg2">
                <a:lumMod val="50000"/>
              </a:schemeClr>
            </a:solidFill>
          </a:ln>
        </p:spPr>
      </p:pic>
      <p:pic>
        <p:nvPicPr>
          <p:cNvPr id="51" name="Picture 50">
            <a:extLst>
              <a:ext uri="{FF2B5EF4-FFF2-40B4-BE49-F238E27FC236}">
                <a16:creationId xmlns:a16="http://schemas.microsoft.com/office/drawing/2014/main" id="{1E4787F7-0E35-B225-403B-21A9F0D68FCA}"/>
              </a:ext>
            </a:extLst>
          </p:cNvPr>
          <p:cNvPicPr>
            <a:picLocks noChangeAspect="1"/>
          </p:cNvPicPr>
          <p:nvPr/>
        </p:nvPicPr>
        <p:blipFill>
          <a:blip r:embed="rId8"/>
          <a:stretch>
            <a:fillRect/>
          </a:stretch>
        </p:blipFill>
        <p:spPr>
          <a:xfrm>
            <a:off x="5710428" y="4311358"/>
            <a:ext cx="791235" cy="791235"/>
          </a:xfrm>
          <a:prstGeom prst="ellipse">
            <a:avLst/>
          </a:prstGeom>
          <a:ln>
            <a:solidFill>
              <a:schemeClr val="bg2">
                <a:lumMod val="75000"/>
              </a:schemeClr>
            </a:solidFill>
          </a:ln>
        </p:spPr>
      </p:pic>
      <p:pic>
        <p:nvPicPr>
          <p:cNvPr id="52" name="Picture 51">
            <a:extLst>
              <a:ext uri="{FF2B5EF4-FFF2-40B4-BE49-F238E27FC236}">
                <a16:creationId xmlns:a16="http://schemas.microsoft.com/office/drawing/2014/main" id="{EFE56F8F-09ED-BCC5-7551-0F240ACC8FD8}"/>
              </a:ext>
            </a:extLst>
          </p:cNvPr>
          <p:cNvPicPr>
            <a:picLocks noChangeAspect="1"/>
          </p:cNvPicPr>
          <p:nvPr/>
        </p:nvPicPr>
        <p:blipFill>
          <a:blip r:embed="rId9"/>
          <a:stretch>
            <a:fillRect/>
          </a:stretch>
        </p:blipFill>
        <p:spPr>
          <a:xfrm>
            <a:off x="9408768" y="4336643"/>
            <a:ext cx="792836" cy="792836"/>
          </a:xfrm>
          <a:prstGeom prst="ellipse">
            <a:avLst/>
          </a:prstGeom>
          <a:ln>
            <a:solidFill>
              <a:schemeClr val="bg2">
                <a:lumMod val="75000"/>
              </a:schemeClr>
            </a:solidFill>
          </a:ln>
        </p:spPr>
      </p:pic>
    </p:spTree>
    <p:extLst>
      <p:ext uri="{BB962C8B-B14F-4D97-AF65-F5344CB8AC3E}">
        <p14:creationId xmlns:p14="http://schemas.microsoft.com/office/powerpoint/2010/main" val="2152270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4918E-CA58-E5F4-F9F4-9F82CB89CE4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0EFF5F3-4DDA-24A6-E4D8-A4A3C70A9235}"/>
              </a:ext>
            </a:extLst>
          </p:cNvPr>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a:extLst>
              <a:ext uri="{FF2B5EF4-FFF2-40B4-BE49-F238E27FC236}">
                <a16:creationId xmlns:a16="http://schemas.microsoft.com/office/drawing/2014/main" id="{1E78A4C1-42F3-11EA-B71C-5C5DA0E2DB61}"/>
              </a:ext>
            </a:extLst>
          </p:cNvPr>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a:extLst>
              <a:ext uri="{FF2B5EF4-FFF2-40B4-BE49-F238E27FC236}">
                <a16:creationId xmlns:a16="http://schemas.microsoft.com/office/drawing/2014/main" id="{5EEB366C-A762-A317-6EC4-B4CB5906CB0C}"/>
              </a:ext>
            </a:extLst>
          </p:cNvPr>
          <p:cNvSpPr/>
          <p:nvPr/>
        </p:nvSpPr>
        <p:spPr>
          <a:xfrm>
            <a:off x="8667598" y="-761695"/>
            <a:ext cx="4286707" cy="4286707"/>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debd4e3596836e8640379be3057665ef.png">
            <a:extLst>
              <a:ext uri="{FF2B5EF4-FFF2-40B4-BE49-F238E27FC236}">
                <a16:creationId xmlns:a16="http://schemas.microsoft.com/office/drawing/2014/main" id="{1CB91D49-ED4B-44E1-D2BD-99A7301EF327}"/>
              </a:ext>
            </a:extLst>
          </p:cNvPr>
          <p:cNvPicPr>
            <a:picLocks noChangeAspect="1"/>
          </p:cNvPicPr>
          <p:nvPr/>
        </p:nvPicPr>
        <p:blipFill>
          <a:blip r:embed="rId3">
            <a:alphaModFix amt="5000"/>
          </a:blip>
          <a:srcRect/>
          <a:stretch/>
        </p:blipFill>
        <p:spPr>
          <a:xfrm>
            <a:off x="-476402" y="3047695"/>
            <a:ext cx="2857500" cy="2857500"/>
          </a:xfrm>
          <a:prstGeom prst="rect">
            <a:avLst/>
          </a:prstGeom>
        </p:spPr>
      </p:pic>
      <p:pic>
        <p:nvPicPr>
          <p:cNvPr id="6" name="Image 1" descr="gen-dedup-ef527bea2207a14ec6e8d4c8ae9cdc45.png">
            <a:extLst>
              <a:ext uri="{FF2B5EF4-FFF2-40B4-BE49-F238E27FC236}">
                <a16:creationId xmlns:a16="http://schemas.microsoft.com/office/drawing/2014/main" id="{CFAD2321-944A-2D5D-9226-C340246D345F}"/>
              </a:ext>
            </a:extLst>
          </p:cNvPr>
          <p:cNvPicPr>
            <a:picLocks noChangeAspect="1"/>
          </p:cNvPicPr>
          <p:nvPr/>
        </p:nvPicPr>
        <p:blipFill>
          <a:blip r:embed="rId4"/>
          <a:srcRect l="-384" r="-384"/>
          <a:stretch/>
        </p:blipFill>
        <p:spPr>
          <a:xfrm>
            <a:off x="609905" y="457200"/>
            <a:ext cx="57607" cy="476402"/>
          </a:xfrm>
          <a:prstGeom prst="rect">
            <a:avLst/>
          </a:prstGeom>
        </p:spPr>
      </p:pic>
      <p:sp>
        <p:nvSpPr>
          <p:cNvPr id="11" name="Shape 7">
            <a:extLst>
              <a:ext uri="{FF2B5EF4-FFF2-40B4-BE49-F238E27FC236}">
                <a16:creationId xmlns:a16="http://schemas.microsoft.com/office/drawing/2014/main" id="{44747A4E-921A-5EDB-FAC9-CD0C2B5E6FE6}"/>
              </a:ext>
            </a:extLst>
          </p:cNvPr>
          <p:cNvSpPr/>
          <p:nvPr/>
        </p:nvSpPr>
        <p:spPr>
          <a:xfrm>
            <a:off x="609905" y="4095598"/>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12" name="Shape 8">
            <a:extLst>
              <a:ext uri="{FF2B5EF4-FFF2-40B4-BE49-F238E27FC236}">
                <a16:creationId xmlns:a16="http://schemas.microsoft.com/office/drawing/2014/main" id="{62D325F3-E949-BD67-D77F-B841EA2FFC98}"/>
              </a:ext>
            </a:extLst>
          </p:cNvPr>
          <p:cNvSpPr/>
          <p:nvPr/>
        </p:nvSpPr>
        <p:spPr>
          <a:xfrm>
            <a:off x="609905" y="4095598"/>
            <a:ext cx="3590849" cy="38405"/>
          </a:xfrm>
          <a:prstGeom prst="roundRect">
            <a:avLst>
              <a:gd name="adj" fmla="val 143755"/>
            </a:avLst>
          </a:prstGeom>
          <a:solidFill>
            <a:srgbClr val="2A9D8F"/>
          </a:solidFill>
          <a:ln w="12700">
            <a:solidFill>
              <a:srgbClr val="2A9D8F">
                <a:alpha val="0"/>
              </a:srgbClr>
            </a:solidFill>
            <a:prstDash val="solid"/>
          </a:ln>
        </p:spPr>
        <p:txBody>
          <a:bodyPr/>
          <a:lstStyle/>
          <a:p>
            <a:endParaRPr lang="en-US"/>
          </a:p>
        </p:txBody>
      </p:sp>
      <p:sp>
        <p:nvSpPr>
          <p:cNvPr id="13" name="Shape 9">
            <a:extLst>
              <a:ext uri="{FF2B5EF4-FFF2-40B4-BE49-F238E27FC236}">
                <a16:creationId xmlns:a16="http://schemas.microsoft.com/office/drawing/2014/main" id="{CF7BBC12-BA96-1390-E4D1-18008A972E35}"/>
              </a:ext>
            </a:extLst>
          </p:cNvPr>
          <p:cNvSpPr/>
          <p:nvPr/>
        </p:nvSpPr>
        <p:spPr>
          <a:xfrm>
            <a:off x="4304995" y="4095598"/>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14" name="Shape 10">
            <a:extLst>
              <a:ext uri="{FF2B5EF4-FFF2-40B4-BE49-F238E27FC236}">
                <a16:creationId xmlns:a16="http://schemas.microsoft.com/office/drawing/2014/main" id="{B449B8BA-5A3A-4443-904B-545B45C085D1}"/>
              </a:ext>
            </a:extLst>
          </p:cNvPr>
          <p:cNvSpPr/>
          <p:nvPr/>
        </p:nvSpPr>
        <p:spPr>
          <a:xfrm>
            <a:off x="4304995" y="4095598"/>
            <a:ext cx="3590849" cy="38405"/>
          </a:xfrm>
          <a:prstGeom prst="roundRect">
            <a:avLst>
              <a:gd name="adj" fmla="val 143755"/>
            </a:avLst>
          </a:prstGeom>
          <a:solidFill>
            <a:srgbClr val="D62839"/>
          </a:solidFill>
          <a:ln w="12700">
            <a:solidFill>
              <a:srgbClr val="D62839">
                <a:alpha val="0"/>
              </a:srgbClr>
            </a:solidFill>
            <a:prstDash val="solid"/>
          </a:ln>
        </p:spPr>
        <p:txBody>
          <a:bodyPr/>
          <a:lstStyle/>
          <a:p>
            <a:endParaRPr lang="en-US"/>
          </a:p>
        </p:txBody>
      </p:sp>
      <p:sp>
        <p:nvSpPr>
          <p:cNvPr id="15" name="Shape 11">
            <a:extLst>
              <a:ext uri="{FF2B5EF4-FFF2-40B4-BE49-F238E27FC236}">
                <a16:creationId xmlns:a16="http://schemas.microsoft.com/office/drawing/2014/main" id="{020476DD-27A6-B949-7BAB-B7EDC28ED23E}"/>
              </a:ext>
            </a:extLst>
          </p:cNvPr>
          <p:cNvSpPr/>
          <p:nvPr/>
        </p:nvSpPr>
        <p:spPr>
          <a:xfrm>
            <a:off x="8001000" y="4095598"/>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16" name="Shape 12">
            <a:extLst>
              <a:ext uri="{FF2B5EF4-FFF2-40B4-BE49-F238E27FC236}">
                <a16:creationId xmlns:a16="http://schemas.microsoft.com/office/drawing/2014/main" id="{1127C0E3-8A1A-1DCC-1A8D-1D4C70CB7928}"/>
              </a:ext>
            </a:extLst>
          </p:cNvPr>
          <p:cNvSpPr/>
          <p:nvPr/>
        </p:nvSpPr>
        <p:spPr>
          <a:xfrm>
            <a:off x="8001000" y="4095598"/>
            <a:ext cx="3590849" cy="38405"/>
          </a:xfrm>
          <a:prstGeom prst="roundRect">
            <a:avLst>
              <a:gd name="adj" fmla="val 143755"/>
            </a:avLst>
          </a:prstGeom>
          <a:solidFill>
            <a:srgbClr val="2A9D8F"/>
          </a:solidFill>
          <a:ln w="12700">
            <a:solidFill>
              <a:srgbClr val="2A9D8F">
                <a:alpha val="0"/>
              </a:srgbClr>
            </a:solidFill>
            <a:prstDash val="solid"/>
          </a:ln>
        </p:spPr>
        <p:txBody>
          <a:bodyPr/>
          <a:lstStyle/>
          <a:p>
            <a:endParaRPr lang="en-US"/>
          </a:p>
        </p:txBody>
      </p:sp>
      <p:sp>
        <p:nvSpPr>
          <p:cNvPr id="17" name="Text 13">
            <a:extLst>
              <a:ext uri="{FF2B5EF4-FFF2-40B4-BE49-F238E27FC236}">
                <a16:creationId xmlns:a16="http://schemas.microsoft.com/office/drawing/2014/main" id="{E5123C06-1736-AA5E-4B57-DA609F852FBF}"/>
              </a:ext>
            </a:extLst>
          </p:cNvPr>
          <p:cNvSpPr txBox="1"/>
          <p:nvPr/>
        </p:nvSpPr>
        <p:spPr>
          <a:xfrm>
            <a:off x="819302" y="381305"/>
            <a:ext cx="10478110" cy="362102"/>
          </a:xfrm>
          <a:prstGeom prst="rect">
            <a:avLst/>
          </a:prstGeom>
          <a:noFill/>
          <a:ln/>
        </p:spPr>
        <p:txBody>
          <a:bodyPr wrap="none" lIns="0" tIns="0" rIns="0" bIns="0" rtlCol="0" anchor="ctr"/>
          <a:lstStyle/>
          <a:p>
            <a:pPr marL="0" indent="0" algn="l">
              <a:buNone/>
            </a:pPr>
            <a:r>
              <a:rPr lang="en-US" sz="2500" b="1" kern="0" spc="-25">
                <a:solidFill>
                  <a:srgbClr val="111827"/>
                </a:solidFill>
                <a:latin typeface="Oswald" pitchFamily="34" charset="0"/>
                <a:ea typeface="Oswald" pitchFamily="34" charset="-122"/>
                <a:cs typeface="Oswald" pitchFamily="34" charset="-120"/>
              </a:rPr>
              <a:t>THE J2W SQUAD</a:t>
            </a:r>
          </a:p>
        </p:txBody>
      </p:sp>
      <p:sp>
        <p:nvSpPr>
          <p:cNvPr id="18" name="Text 14">
            <a:extLst>
              <a:ext uri="{FF2B5EF4-FFF2-40B4-BE49-F238E27FC236}">
                <a16:creationId xmlns:a16="http://schemas.microsoft.com/office/drawing/2014/main" id="{C0F8F398-50F2-62AE-E4A6-521DD9C62CAE}"/>
              </a:ext>
            </a:extLst>
          </p:cNvPr>
          <p:cNvSpPr txBox="1"/>
          <p:nvPr/>
        </p:nvSpPr>
        <p:spPr>
          <a:xfrm>
            <a:off x="819302" y="794614"/>
            <a:ext cx="10478110" cy="181051"/>
          </a:xfrm>
          <a:prstGeom prst="rect">
            <a:avLst/>
          </a:prstGeom>
          <a:noFill/>
          <a:ln/>
        </p:spPr>
        <p:txBody>
          <a:bodyPr wrap="none" lIns="0" tIns="0" rIns="0" bIns="0" rtlCol="0" anchor="ctr"/>
          <a:lstStyle/>
          <a:p>
            <a:pPr marL="0" indent="0" algn="l">
              <a:buNone/>
            </a:pPr>
            <a:r>
              <a:rPr lang="en-US" sz="1200" b="1" kern="0" spc="60" dirty="0">
                <a:solidFill>
                  <a:srgbClr val="2A9D8F"/>
                </a:solidFill>
                <a:latin typeface="Roboto Condensed" pitchFamily="34" charset="0"/>
                <a:ea typeface="Roboto Condensed" pitchFamily="34" charset="-122"/>
                <a:cs typeface="Roboto Condensed" pitchFamily="34" charset="-120"/>
              </a:rPr>
              <a:t>Senior Leadership That Architects Every GCC We Build — From Category-creating Founders To Deep LLM And Aerospace Engineering Pedigree.</a:t>
            </a:r>
          </a:p>
        </p:txBody>
      </p:sp>
      <p:sp>
        <p:nvSpPr>
          <p:cNvPr id="36" name="Text 32">
            <a:extLst>
              <a:ext uri="{FF2B5EF4-FFF2-40B4-BE49-F238E27FC236}">
                <a16:creationId xmlns:a16="http://schemas.microsoft.com/office/drawing/2014/main" id="{167190F1-E999-2077-D39E-1D1D1144962B}"/>
              </a:ext>
            </a:extLst>
          </p:cNvPr>
          <p:cNvSpPr txBox="1"/>
          <p:nvPr/>
        </p:nvSpPr>
        <p:spPr>
          <a:xfrm>
            <a:off x="5512003" y="5203749"/>
            <a:ext cx="1167689"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Deepak Desai</a:t>
            </a:r>
          </a:p>
        </p:txBody>
      </p:sp>
      <p:sp>
        <p:nvSpPr>
          <p:cNvPr id="37" name="Text 33">
            <a:extLst>
              <a:ext uri="{FF2B5EF4-FFF2-40B4-BE49-F238E27FC236}">
                <a16:creationId xmlns:a16="http://schemas.microsoft.com/office/drawing/2014/main" id="{8B384D12-7A64-640E-7F5B-8B89D4A842BE}"/>
              </a:ext>
            </a:extLst>
          </p:cNvPr>
          <p:cNvSpPr txBox="1"/>
          <p:nvPr/>
        </p:nvSpPr>
        <p:spPr>
          <a:xfrm>
            <a:off x="4998110" y="5483454"/>
            <a:ext cx="2188159" cy="133502"/>
          </a:xfrm>
          <a:prstGeom prst="rect">
            <a:avLst/>
          </a:prstGeom>
          <a:noFill/>
          <a:ln/>
        </p:spPr>
        <p:txBody>
          <a:bodyPr wrap="none" lIns="0" tIns="0" rIns="0" bIns="0" rtlCol="0" anchor="ctr"/>
          <a:lstStyle/>
          <a:p>
            <a:pPr marL="0" indent="0" algn="ctr">
              <a:buNone/>
            </a:pPr>
            <a:r>
              <a:rPr lang="en-US" sz="900" b="1" kern="0" spc="45">
                <a:solidFill>
                  <a:srgbClr val="D62839"/>
                </a:solidFill>
                <a:latin typeface="Roboto Condensed" pitchFamily="34" charset="0"/>
                <a:ea typeface="Roboto Condensed" pitchFamily="34" charset="-122"/>
                <a:cs typeface="Roboto Condensed" pitchFamily="34" charset="-120"/>
              </a:rPr>
              <a:t>TECHNOLOGY ADVISOR &amp; LLM SPECIALIST</a:t>
            </a:r>
          </a:p>
        </p:txBody>
      </p:sp>
      <p:sp>
        <p:nvSpPr>
          <p:cNvPr id="38" name="Text 34">
            <a:extLst>
              <a:ext uri="{FF2B5EF4-FFF2-40B4-BE49-F238E27FC236}">
                <a16:creationId xmlns:a16="http://schemas.microsoft.com/office/drawing/2014/main" id="{3D859B5E-A79A-62A8-39BA-AC8B1D8A7A5E}"/>
              </a:ext>
            </a:extLst>
          </p:cNvPr>
          <p:cNvSpPr txBox="1"/>
          <p:nvPr/>
        </p:nvSpPr>
        <p:spPr>
          <a:xfrm>
            <a:off x="4600651" y="5688076"/>
            <a:ext cx="3286354" cy="486461"/>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Ex-IBM Senior Partner (APAC &amp; US). 30+ yrs; deep NLP, LLM &amp; GenAI </a:t>
            </a:r>
            <a:r>
              <a:rPr lang="en-US" sz="900" err="1">
                <a:solidFill>
                  <a:srgbClr val="4B5563"/>
                </a:solidFill>
                <a:latin typeface="Raleway" pitchFamily="34" charset="0"/>
                <a:ea typeface="Raleway" pitchFamily="34" charset="-122"/>
                <a:cs typeface="Raleway" pitchFamily="34" charset="-120"/>
              </a:rPr>
              <a:t>specialisation</a:t>
            </a:r>
            <a:r>
              <a:rPr lang="en-US" sz="900">
                <a:solidFill>
                  <a:srgbClr val="4B5563"/>
                </a:solidFill>
                <a:latin typeface="Raleway" pitchFamily="34" charset="0"/>
                <a:ea typeface="Raleway" pitchFamily="34" charset="-122"/>
                <a:cs typeface="Raleway" pitchFamily="34" charset="-120"/>
              </a:rPr>
              <a:t>.</a:t>
            </a:r>
          </a:p>
        </p:txBody>
      </p:sp>
      <p:sp>
        <p:nvSpPr>
          <p:cNvPr id="41" name="Text 37">
            <a:extLst>
              <a:ext uri="{FF2B5EF4-FFF2-40B4-BE49-F238E27FC236}">
                <a16:creationId xmlns:a16="http://schemas.microsoft.com/office/drawing/2014/main" id="{E9E23B86-AFDA-FBE0-A66D-169B980A5221}"/>
              </a:ext>
            </a:extLst>
          </p:cNvPr>
          <p:cNvSpPr txBox="1"/>
          <p:nvPr/>
        </p:nvSpPr>
        <p:spPr>
          <a:xfrm>
            <a:off x="9369908" y="5241849"/>
            <a:ext cx="929945"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Alok Raj</a:t>
            </a:r>
          </a:p>
        </p:txBody>
      </p:sp>
      <p:sp>
        <p:nvSpPr>
          <p:cNvPr id="42" name="Text 38">
            <a:extLst>
              <a:ext uri="{FF2B5EF4-FFF2-40B4-BE49-F238E27FC236}">
                <a16:creationId xmlns:a16="http://schemas.microsoft.com/office/drawing/2014/main" id="{EB1414D0-7C7E-984D-8097-5F5882853D37}"/>
              </a:ext>
            </a:extLst>
          </p:cNvPr>
          <p:cNvSpPr txBox="1"/>
          <p:nvPr/>
        </p:nvSpPr>
        <p:spPr>
          <a:xfrm>
            <a:off x="8857844" y="5521554"/>
            <a:ext cx="1961388" cy="133502"/>
          </a:xfrm>
          <a:prstGeom prst="rect">
            <a:avLst/>
          </a:prstGeom>
          <a:noFill/>
          <a:ln/>
        </p:spPr>
        <p:txBody>
          <a:bodyPr wrap="none" lIns="0" tIns="0" rIns="0" bIns="0" rtlCol="0" anchor="ctr"/>
          <a:lstStyle/>
          <a:p>
            <a:pPr marL="0" indent="0" algn="ctr">
              <a:buNone/>
            </a:pPr>
            <a:r>
              <a:rPr lang="en-US" sz="900" b="1" kern="0" spc="45">
                <a:solidFill>
                  <a:srgbClr val="2A9D8F"/>
                </a:solidFill>
                <a:latin typeface="Roboto Condensed" pitchFamily="34" charset="0"/>
                <a:ea typeface="Roboto Condensed" pitchFamily="34" charset="-122"/>
                <a:cs typeface="Roboto Condensed" pitchFamily="34" charset="-120"/>
              </a:rPr>
              <a:t>HEAD — TECH ASSESSMENTS &amp; AI ENGINEERING</a:t>
            </a:r>
          </a:p>
        </p:txBody>
      </p:sp>
      <p:sp>
        <p:nvSpPr>
          <p:cNvPr id="43" name="Text 39">
            <a:extLst>
              <a:ext uri="{FF2B5EF4-FFF2-40B4-BE49-F238E27FC236}">
                <a16:creationId xmlns:a16="http://schemas.microsoft.com/office/drawing/2014/main" id="{F00AEF2F-F343-5140-DAE4-D166B891E453}"/>
              </a:ext>
            </a:extLst>
          </p:cNvPr>
          <p:cNvSpPr txBox="1"/>
          <p:nvPr/>
        </p:nvSpPr>
        <p:spPr>
          <a:xfrm>
            <a:off x="8295741" y="5634075"/>
            <a:ext cx="3146959" cy="648310"/>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Ex-Airbus. Leads technical screening, upskilling &amp; AI platform work.</a:t>
            </a:r>
          </a:p>
        </p:txBody>
      </p:sp>
      <p:sp>
        <p:nvSpPr>
          <p:cNvPr id="29" name="Shape 7">
            <a:extLst>
              <a:ext uri="{FF2B5EF4-FFF2-40B4-BE49-F238E27FC236}">
                <a16:creationId xmlns:a16="http://schemas.microsoft.com/office/drawing/2014/main" id="{E2F5F6E6-811A-BEBD-EA4F-AB0A72E09B96}"/>
              </a:ext>
            </a:extLst>
          </p:cNvPr>
          <p:cNvSpPr/>
          <p:nvPr/>
        </p:nvSpPr>
        <p:spPr>
          <a:xfrm>
            <a:off x="609905" y="1351230"/>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30" name="Shape 8">
            <a:extLst>
              <a:ext uri="{FF2B5EF4-FFF2-40B4-BE49-F238E27FC236}">
                <a16:creationId xmlns:a16="http://schemas.microsoft.com/office/drawing/2014/main" id="{E8E625C5-6C60-4C0D-D5E0-531142AB8043}"/>
              </a:ext>
            </a:extLst>
          </p:cNvPr>
          <p:cNvSpPr/>
          <p:nvPr/>
        </p:nvSpPr>
        <p:spPr>
          <a:xfrm>
            <a:off x="609905" y="1351230"/>
            <a:ext cx="3590849" cy="38405"/>
          </a:xfrm>
          <a:prstGeom prst="roundRect">
            <a:avLst>
              <a:gd name="adj" fmla="val 143755"/>
            </a:avLst>
          </a:prstGeom>
          <a:solidFill>
            <a:srgbClr val="2A9D8F"/>
          </a:solidFill>
          <a:ln w="12700">
            <a:solidFill>
              <a:srgbClr val="2A9D8F">
                <a:alpha val="0"/>
              </a:srgbClr>
            </a:solidFill>
            <a:prstDash val="solid"/>
          </a:ln>
        </p:spPr>
        <p:txBody>
          <a:bodyPr/>
          <a:lstStyle/>
          <a:p>
            <a:endParaRPr lang="en-US"/>
          </a:p>
        </p:txBody>
      </p:sp>
      <p:sp>
        <p:nvSpPr>
          <p:cNvPr id="44" name="Shape 9">
            <a:extLst>
              <a:ext uri="{FF2B5EF4-FFF2-40B4-BE49-F238E27FC236}">
                <a16:creationId xmlns:a16="http://schemas.microsoft.com/office/drawing/2014/main" id="{BC0FA406-4AA6-F67C-DDFE-B58975E86601}"/>
              </a:ext>
            </a:extLst>
          </p:cNvPr>
          <p:cNvSpPr/>
          <p:nvPr/>
        </p:nvSpPr>
        <p:spPr>
          <a:xfrm>
            <a:off x="4304995" y="1351230"/>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45" name="Shape 10">
            <a:extLst>
              <a:ext uri="{FF2B5EF4-FFF2-40B4-BE49-F238E27FC236}">
                <a16:creationId xmlns:a16="http://schemas.microsoft.com/office/drawing/2014/main" id="{3A05880F-C31C-8F78-1AAB-02143D86C584}"/>
              </a:ext>
            </a:extLst>
          </p:cNvPr>
          <p:cNvSpPr/>
          <p:nvPr/>
        </p:nvSpPr>
        <p:spPr>
          <a:xfrm>
            <a:off x="4304995" y="1351230"/>
            <a:ext cx="3590849" cy="38405"/>
          </a:xfrm>
          <a:prstGeom prst="roundRect">
            <a:avLst>
              <a:gd name="adj" fmla="val 143755"/>
            </a:avLst>
          </a:prstGeom>
          <a:solidFill>
            <a:srgbClr val="D62839"/>
          </a:solidFill>
          <a:ln w="12700">
            <a:solidFill>
              <a:srgbClr val="D62839">
                <a:alpha val="0"/>
              </a:srgbClr>
            </a:solidFill>
            <a:prstDash val="solid"/>
          </a:ln>
        </p:spPr>
        <p:txBody>
          <a:bodyPr/>
          <a:lstStyle/>
          <a:p>
            <a:endParaRPr lang="en-US"/>
          </a:p>
        </p:txBody>
      </p:sp>
      <p:sp>
        <p:nvSpPr>
          <p:cNvPr id="47" name="Shape 11">
            <a:extLst>
              <a:ext uri="{FF2B5EF4-FFF2-40B4-BE49-F238E27FC236}">
                <a16:creationId xmlns:a16="http://schemas.microsoft.com/office/drawing/2014/main" id="{08B807FE-1B80-6A6E-1103-88480D41A8CB}"/>
              </a:ext>
            </a:extLst>
          </p:cNvPr>
          <p:cNvSpPr/>
          <p:nvPr/>
        </p:nvSpPr>
        <p:spPr>
          <a:xfrm>
            <a:off x="8001000" y="1351230"/>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50" name="Shape 12">
            <a:extLst>
              <a:ext uri="{FF2B5EF4-FFF2-40B4-BE49-F238E27FC236}">
                <a16:creationId xmlns:a16="http://schemas.microsoft.com/office/drawing/2014/main" id="{46EF62F7-B6FE-4656-C8B8-B8BB21513E63}"/>
              </a:ext>
            </a:extLst>
          </p:cNvPr>
          <p:cNvSpPr/>
          <p:nvPr/>
        </p:nvSpPr>
        <p:spPr>
          <a:xfrm>
            <a:off x="8001000" y="1351230"/>
            <a:ext cx="3590849" cy="38405"/>
          </a:xfrm>
          <a:prstGeom prst="roundRect">
            <a:avLst>
              <a:gd name="adj" fmla="val 143755"/>
            </a:avLst>
          </a:prstGeom>
          <a:solidFill>
            <a:srgbClr val="2A9D8F"/>
          </a:solidFill>
          <a:ln w="12700">
            <a:solidFill>
              <a:srgbClr val="2A9D8F">
                <a:alpha val="0"/>
              </a:srgbClr>
            </a:solidFill>
            <a:prstDash val="solid"/>
          </a:ln>
        </p:spPr>
        <p:txBody>
          <a:bodyPr/>
          <a:lstStyle/>
          <a:p>
            <a:endParaRPr lang="en-US"/>
          </a:p>
        </p:txBody>
      </p:sp>
      <p:sp>
        <p:nvSpPr>
          <p:cNvPr id="53" name="Text 27">
            <a:extLst>
              <a:ext uri="{FF2B5EF4-FFF2-40B4-BE49-F238E27FC236}">
                <a16:creationId xmlns:a16="http://schemas.microsoft.com/office/drawing/2014/main" id="{09B7B038-1011-2FD6-B6CF-97CD0771FA43}"/>
              </a:ext>
            </a:extLst>
          </p:cNvPr>
          <p:cNvSpPr txBox="1"/>
          <p:nvPr/>
        </p:nvSpPr>
        <p:spPr>
          <a:xfrm>
            <a:off x="1821485" y="2433981"/>
            <a:ext cx="1156716"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Priti Sawant</a:t>
            </a:r>
          </a:p>
        </p:txBody>
      </p:sp>
      <p:sp>
        <p:nvSpPr>
          <p:cNvPr id="54" name="Text 28">
            <a:extLst>
              <a:ext uri="{FF2B5EF4-FFF2-40B4-BE49-F238E27FC236}">
                <a16:creationId xmlns:a16="http://schemas.microsoft.com/office/drawing/2014/main" id="{7113E0F9-68A9-7E68-2727-3FBEDDAB0956}"/>
              </a:ext>
            </a:extLst>
          </p:cNvPr>
          <p:cNvSpPr txBox="1"/>
          <p:nvPr/>
        </p:nvSpPr>
        <p:spPr>
          <a:xfrm>
            <a:off x="1503274" y="2700986"/>
            <a:ext cx="1791310" cy="133502"/>
          </a:xfrm>
          <a:prstGeom prst="rect">
            <a:avLst/>
          </a:prstGeom>
          <a:noFill/>
          <a:ln/>
        </p:spPr>
        <p:txBody>
          <a:bodyPr wrap="none" lIns="0" tIns="0" rIns="0" bIns="0" rtlCol="0" anchor="ctr"/>
          <a:lstStyle/>
          <a:p>
            <a:pPr marL="0" indent="0" algn="ctr">
              <a:buNone/>
            </a:pPr>
            <a:r>
              <a:rPr lang="en-US" sz="900" b="1" kern="0" spc="45">
                <a:solidFill>
                  <a:srgbClr val="2A9D8F"/>
                </a:solidFill>
                <a:latin typeface="Roboto Condensed" pitchFamily="34" charset="0"/>
                <a:ea typeface="Roboto Condensed" pitchFamily="34" charset="-122"/>
                <a:cs typeface="Roboto Condensed" pitchFamily="34" charset="-120"/>
              </a:rPr>
              <a:t>FOUNDER &amp; CEO</a:t>
            </a:r>
          </a:p>
        </p:txBody>
      </p:sp>
      <p:sp>
        <p:nvSpPr>
          <p:cNvPr id="55" name="Text 29">
            <a:extLst>
              <a:ext uri="{FF2B5EF4-FFF2-40B4-BE49-F238E27FC236}">
                <a16:creationId xmlns:a16="http://schemas.microsoft.com/office/drawing/2014/main" id="{48BE7424-2C1C-ABB5-7637-F221420FFB43}"/>
              </a:ext>
            </a:extLst>
          </p:cNvPr>
          <p:cNvSpPr txBox="1"/>
          <p:nvPr/>
        </p:nvSpPr>
        <p:spPr>
          <a:xfrm>
            <a:off x="904646" y="2943708"/>
            <a:ext cx="3286354" cy="486461"/>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Pioneer of India's GCC ecosystem; built &amp; </a:t>
            </a:r>
            <a:r>
              <a:rPr lang="en-US" sz="900" err="1">
                <a:solidFill>
                  <a:srgbClr val="4B5563"/>
                </a:solidFill>
                <a:latin typeface="Raleway" pitchFamily="34" charset="0"/>
                <a:ea typeface="Raleway" pitchFamily="34" charset="-122"/>
                <a:cs typeface="Raleway" pitchFamily="34" charset="-120"/>
              </a:rPr>
              <a:t>IPO'd</a:t>
            </a:r>
            <a:r>
              <a:rPr lang="en-US" sz="900">
                <a:solidFill>
                  <a:srgbClr val="4B5563"/>
                </a:solidFill>
                <a:latin typeface="Raleway" pitchFamily="34" charset="0"/>
                <a:ea typeface="Raleway" pitchFamily="34" charset="-122"/>
                <a:cs typeface="Raleway" pitchFamily="34" charset="-120"/>
              </a:rPr>
              <a:t> India's first GCC-focused model. 20+ yrs · Forbes Japan.</a:t>
            </a:r>
          </a:p>
        </p:txBody>
      </p:sp>
      <p:sp>
        <p:nvSpPr>
          <p:cNvPr id="58" name="Text 32">
            <a:extLst>
              <a:ext uri="{FF2B5EF4-FFF2-40B4-BE49-F238E27FC236}">
                <a16:creationId xmlns:a16="http://schemas.microsoft.com/office/drawing/2014/main" id="{D6A207EA-7DC5-1085-2F92-ECCBA22ABD4C}"/>
              </a:ext>
            </a:extLst>
          </p:cNvPr>
          <p:cNvSpPr txBox="1"/>
          <p:nvPr/>
        </p:nvSpPr>
        <p:spPr>
          <a:xfrm>
            <a:off x="5512003" y="2433981"/>
            <a:ext cx="1167689"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Priya Mohan</a:t>
            </a:r>
          </a:p>
        </p:txBody>
      </p:sp>
      <p:sp>
        <p:nvSpPr>
          <p:cNvPr id="59" name="Text 33">
            <a:extLst>
              <a:ext uri="{FF2B5EF4-FFF2-40B4-BE49-F238E27FC236}">
                <a16:creationId xmlns:a16="http://schemas.microsoft.com/office/drawing/2014/main" id="{A8488A79-ED28-6B95-20FA-980EF1D07CF8}"/>
              </a:ext>
            </a:extLst>
          </p:cNvPr>
          <p:cNvSpPr txBox="1"/>
          <p:nvPr/>
        </p:nvSpPr>
        <p:spPr>
          <a:xfrm>
            <a:off x="4998110" y="2700986"/>
            <a:ext cx="2188159" cy="133502"/>
          </a:xfrm>
          <a:prstGeom prst="rect">
            <a:avLst/>
          </a:prstGeom>
          <a:noFill/>
          <a:ln/>
        </p:spPr>
        <p:txBody>
          <a:bodyPr wrap="none" lIns="0" tIns="0" rIns="0" bIns="0" rtlCol="0" anchor="ctr"/>
          <a:lstStyle/>
          <a:p>
            <a:pPr marL="0" indent="0" algn="ctr">
              <a:buNone/>
            </a:pPr>
            <a:r>
              <a:rPr lang="en-US" sz="900" b="1" kern="0" spc="45">
                <a:solidFill>
                  <a:srgbClr val="D62839"/>
                </a:solidFill>
                <a:latin typeface="Roboto Condensed" pitchFamily="34" charset="0"/>
                <a:ea typeface="Roboto Condensed" pitchFamily="34" charset="-122"/>
                <a:cs typeface="Roboto Condensed" pitchFamily="34" charset="-120"/>
              </a:rPr>
              <a:t>COO</a:t>
            </a:r>
          </a:p>
        </p:txBody>
      </p:sp>
      <p:sp>
        <p:nvSpPr>
          <p:cNvPr id="60" name="Text 34">
            <a:extLst>
              <a:ext uri="{FF2B5EF4-FFF2-40B4-BE49-F238E27FC236}">
                <a16:creationId xmlns:a16="http://schemas.microsoft.com/office/drawing/2014/main" id="{B7486E20-6348-0E06-FAD5-6B07D847F523}"/>
              </a:ext>
            </a:extLst>
          </p:cNvPr>
          <p:cNvSpPr txBox="1"/>
          <p:nvPr/>
        </p:nvSpPr>
        <p:spPr>
          <a:xfrm>
            <a:off x="4600651" y="2943708"/>
            <a:ext cx="3286354" cy="486461"/>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Ex-General Catalyst Partner &amp; Venture Highway MP. CA + ISB. Leads the full AI implementation lifecycle.</a:t>
            </a:r>
          </a:p>
        </p:txBody>
      </p:sp>
      <p:sp>
        <p:nvSpPr>
          <p:cNvPr id="70" name="Text 17">
            <a:extLst>
              <a:ext uri="{FF2B5EF4-FFF2-40B4-BE49-F238E27FC236}">
                <a16:creationId xmlns:a16="http://schemas.microsoft.com/office/drawing/2014/main" id="{1FB4B21B-03F9-D4C5-6FB9-8113E17E8C4F}"/>
              </a:ext>
            </a:extLst>
          </p:cNvPr>
          <p:cNvSpPr txBox="1"/>
          <p:nvPr/>
        </p:nvSpPr>
        <p:spPr>
          <a:xfrm>
            <a:off x="3153308" y="2381404"/>
            <a:ext cx="1133856" cy="286207"/>
          </a:xfrm>
          <a:prstGeom prst="rect">
            <a:avLst/>
          </a:prstGeom>
          <a:noFill/>
          <a:ln/>
        </p:spPr>
        <p:txBody>
          <a:bodyPr wrap="none" lIns="0" tIns="0" rIns="0" bIns="0" rtlCol="0" anchor="ctr"/>
          <a:lstStyle/>
          <a:p>
            <a:pPr marL="0" indent="0" algn="ctr">
              <a:buNone/>
            </a:pPr>
            <a:endParaRPr lang="en-US" sz="1500"/>
          </a:p>
        </p:txBody>
      </p:sp>
      <p:sp>
        <p:nvSpPr>
          <p:cNvPr id="72" name="Text 18">
            <a:extLst>
              <a:ext uri="{FF2B5EF4-FFF2-40B4-BE49-F238E27FC236}">
                <a16:creationId xmlns:a16="http://schemas.microsoft.com/office/drawing/2014/main" id="{9FDC9E99-482C-3F4A-E3D9-BB9B4D52CF45}"/>
              </a:ext>
            </a:extLst>
          </p:cNvPr>
          <p:cNvSpPr txBox="1"/>
          <p:nvPr/>
        </p:nvSpPr>
        <p:spPr>
          <a:xfrm>
            <a:off x="3113075" y="2686813"/>
            <a:ext cx="1207008" cy="143561"/>
          </a:xfrm>
          <a:prstGeom prst="rect">
            <a:avLst/>
          </a:prstGeom>
          <a:noFill/>
          <a:ln/>
        </p:spPr>
        <p:txBody>
          <a:bodyPr wrap="none" lIns="0" tIns="0" rIns="0" bIns="0" rtlCol="0" anchor="ctr"/>
          <a:lstStyle/>
          <a:p>
            <a:pPr marL="0" indent="0" algn="ctr">
              <a:buNone/>
            </a:pPr>
            <a:endParaRPr lang="en-US" sz="900"/>
          </a:p>
        </p:txBody>
      </p:sp>
      <p:pic>
        <p:nvPicPr>
          <p:cNvPr id="78" name="Image 4" descr="preencoded.png">
            <a:extLst>
              <a:ext uri="{FF2B5EF4-FFF2-40B4-BE49-F238E27FC236}">
                <a16:creationId xmlns:a16="http://schemas.microsoft.com/office/drawing/2014/main" id="{A2ED01AD-6CA0-176F-9158-B666E1FEF16C}"/>
              </a:ext>
            </a:extLst>
          </p:cNvPr>
          <p:cNvPicPr>
            <a:picLocks noChangeAspect="1"/>
          </p:cNvPicPr>
          <p:nvPr/>
        </p:nvPicPr>
        <p:blipFill>
          <a:blip r:embed="rId5"/>
          <a:srcRect b="1042"/>
          <a:stretch/>
        </p:blipFill>
        <p:spPr>
          <a:xfrm>
            <a:off x="5643956" y="1498143"/>
            <a:ext cx="857707" cy="857707"/>
          </a:xfrm>
          <a:prstGeom prst="rect">
            <a:avLst/>
          </a:prstGeom>
        </p:spPr>
      </p:pic>
      <p:pic>
        <p:nvPicPr>
          <p:cNvPr id="80" name="Image 2" descr="preencoded.png">
            <a:extLst>
              <a:ext uri="{FF2B5EF4-FFF2-40B4-BE49-F238E27FC236}">
                <a16:creationId xmlns:a16="http://schemas.microsoft.com/office/drawing/2014/main" id="{76AF17EC-A631-46EC-EE69-CA4956C54455}"/>
              </a:ext>
            </a:extLst>
          </p:cNvPr>
          <p:cNvPicPr>
            <a:picLocks noChangeAspect="1"/>
          </p:cNvPicPr>
          <p:nvPr/>
        </p:nvPicPr>
        <p:blipFill>
          <a:blip r:embed="rId6"/>
          <a:srcRect/>
          <a:stretch/>
        </p:blipFill>
        <p:spPr>
          <a:xfrm>
            <a:off x="1989100" y="1540410"/>
            <a:ext cx="783996" cy="783996"/>
          </a:xfrm>
          <a:prstGeom prst="rect">
            <a:avLst/>
          </a:prstGeom>
        </p:spPr>
      </p:pic>
      <p:sp>
        <p:nvSpPr>
          <p:cNvPr id="81" name="Text 27">
            <a:extLst>
              <a:ext uri="{FF2B5EF4-FFF2-40B4-BE49-F238E27FC236}">
                <a16:creationId xmlns:a16="http://schemas.microsoft.com/office/drawing/2014/main" id="{B381CD11-E268-2372-4D99-32B247B0C995}"/>
              </a:ext>
            </a:extLst>
          </p:cNvPr>
          <p:cNvSpPr txBox="1"/>
          <p:nvPr/>
        </p:nvSpPr>
        <p:spPr>
          <a:xfrm>
            <a:off x="9240521" y="2460703"/>
            <a:ext cx="1156716"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Vineet Shukla</a:t>
            </a:r>
            <a:endParaRPr lang="en-US" sz="1300"/>
          </a:p>
        </p:txBody>
      </p:sp>
      <p:sp>
        <p:nvSpPr>
          <p:cNvPr id="82" name="Text 28">
            <a:extLst>
              <a:ext uri="{FF2B5EF4-FFF2-40B4-BE49-F238E27FC236}">
                <a16:creationId xmlns:a16="http://schemas.microsoft.com/office/drawing/2014/main" id="{5E7655ED-600E-B7B1-5E25-9C0CD529FC89}"/>
              </a:ext>
            </a:extLst>
          </p:cNvPr>
          <p:cNvSpPr txBox="1"/>
          <p:nvPr/>
        </p:nvSpPr>
        <p:spPr>
          <a:xfrm>
            <a:off x="8923224" y="2727708"/>
            <a:ext cx="1791310" cy="133502"/>
          </a:xfrm>
          <a:prstGeom prst="rect">
            <a:avLst/>
          </a:prstGeom>
          <a:noFill/>
          <a:ln/>
        </p:spPr>
        <p:txBody>
          <a:bodyPr wrap="none" lIns="0" tIns="0" rIns="0" bIns="0" rtlCol="0" anchor="ctr"/>
          <a:lstStyle/>
          <a:p>
            <a:pPr marL="0" indent="0" algn="ctr">
              <a:buNone/>
            </a:pPr>
            <a:r>
              <a:rPr lang="en-US" sz="900" b="1" kern="0" spc="45">
                <a:solidFill>
                  <a:srgbClr val="2A9D8F"/>
                </a:solidFill>
                <a:latin typeface="Roboto Condensed" pitchFamily="34" charset="0"/>
                <a:ea typeface="Roboto Condensed" pitchFamily="34" charset="-122"/>
                <a:cs typeface="Roboto Condensed" pitchFamily="34" charset="-120"/>
              </a:rPr>
              <a:t>CHIEF TECHNOLOGY OFFICER</a:t>
            </a:r>
            <a:endParaRPr lang="en-US" sz="900"/>
          </a:p>
        </p:txBody>
      </p:sp>
      <p:sp>
        <p:nvSpPr>
          <p:cNvPr id="83" name="Text 29">
            <a:extLst>
              <a:ext uri="{FF2B5EF4-FFF2-40B4-BE49-F238E27FC236}">
                <a16:creationId xmlns:a16="http://schemas.microsoft.com/office/drawing/2014/main" id="{65C84447-29D7-83F1-7E2D-21FC86F81B79}"/>
              </a:ext>
            </a:extLst>
          </p:cNvPr>
          <p:cNvSpPr txBox="1"/>
          <p:nvPr/>
        </p:nvSpPr>
        <p:spPr>
          <a:xfrm>
            <a:off x="8324596" y="2970430"/>
            <a:ext cx="3286354" cy="486461"/>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20+ yrs scaling AI/ML at enterprise scale; built UnitedHealth Group's AI/ML practice ground-up.</a:t>
            </a:r>
          </a:p>
        </p:txBody>
      </p:sp>
      <p:pic>
        <p:nvPicPr>
          <p:cNvPr id="84" name="Picture 83">
            <a:extLst>
              <a:ext uri="{FF2B5EF4-FFF2-40B4-BE49-F238E27FC236}">
                <a16:creationId xmlns:a16="http://schemas.microsoft.com/office/drawing/2014/main" id="{51689ACD-6133-3D2C-FB65-00805A1BA9B9}"/>
              </a:ext>
            </a:extLst>
          </p:cNvPr>
          <p:cNvPicPr>
            <a:picLocks noChangeAspect="1"/>
          </p:cNvPicPr>
          <p:nvPr/>
        </p:nvPicPr>
        <p:blipFill>
          <a:blip r:embed="rId7"/>
          <a:stretch>
            <a:fillRect/>
          </a:stretch>
        </p:blipFill>
        <p:spPr>
          <a:xfrm>
            <a:off x="9369908" y="1565302"/>
            <a:ext cx="797305" cy="797305"/>
          </a:xfrm>
          <a:prstGeom prst="ellipse">
            <a:avLst/>
          </a:prstGeom>
          <a:ln>
            <a:solidFill>
              <a:schemeClr val="bg2">
                <a:lumMod val="50000"/>
              </a:schemeClr>
            </a:solidFill>
          </a:ln>
        </p:spPr>
      </p:pic>
      <p:sp>
        <p:nvSpPr>
          <p:cNvPr id="85" name="Text 32">
            <a:extLst>
              <a:ext uri="{FF2B5EF4-FFF2-40B4-BE49-F238E27FC236}">
                <a16:creationId xmlns:a16="http://schemas.microsoft.com/office/drawing/2014/main" id="{3D99FB26-2BB6-A39C-43E5-EBC5369FDE30}"/>
              </a:ext>
            </a:extLst>
          </p:cNvPr>
          <p:cNvSpPr txBox="1"/>
          <p:nvPr/>
        </p:nvSpPr>
        <p:spPr>
          <a:xfrm>
            <a:off x="1661923" y="5203228"/>
            <a:ext cx="1167689"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Daniel Dsouza</a:t>
            </a:r>
            <a:endParaRPr lang="en-US" sz="1300"/>
          </a:p>
        </p:txBody>
      </p:sp>
      <p:sp>
        <p:nvSpPr>
          <p:cNvPr id="86" name="Text 33">
            <a:extLst>
              <a:ext uri="{FF2B5EF4-FFF2-40B4-BE49-F238E27FC236}">
                <a16:creationId xmlns:a16="http://schemas.microsoft.com/office/drawing/2014/main" id="{D659C513-FD23-4690-80EB-2002DECA9008}"/>
              </a:ext>
            </a:extLst>
          </p:cNvPr>
          <p:cNvSpPr txBox="1"/>
          <p:nvPr/>
        </p:nvSpPr>
        <p:spPr>
          <a:xfrm>
            <a:off x="1148030" y="5470233"/>
            <a:ext cx="2188159" cy="133502"/>
          </a:xfrm>
          <a:prstGeom prst="rect">
            <a:avLst/>
          </a:prstGeom>
          <a:noFill/>
          <a:ln/>
        </p:spPr>
        <p:txBody>
          <a:bodyPr wrap="none" lIns="0" tIns="0" rIns="0" bIns="0" rtlCol="0" anchor="ctr"/>
          <a:lstStyle/>
          <a:p>
            <a:pPr marL="0" indent="0" algn="ctr">
              <a:buNone/>
            </a:pPr>
            <a:r>
              <a:rPr lang="en-US" sz="900" b="1" kern="0" spc="45">
                <a:solidFill>
                  <a:srgbClr val="2A9D8F"/>
                </a:solidFill>
                <a:latin typeface="Roboto Condensed" pitchFamily="34" charset="0"/>
                <a:ea typeface="Roboto Condensed" pitchFamily="34" charset="-122"/>
                <a:cs typeface="Roboto Condensed" pitchFamily="34" charset="-120"/>
              </a:rPr>
              <a:t>HEAD OF ARTIFICIAL INTELLIGENCE</a:t>
            </a:r>
            <a:endParaRPr lang="en-US" sz="900">
              <a:solidFill>
                <a:srgbClr val="2A9D8F"/>
              </a:solidFill>
            </a:endParaRPr>
          </a:p>
        </p:txBody>
      </p:sp>
      <p:sp>
        <p:nvSpPr>
          <p:cNvPr id="87" name="Text 34">
            <a:extLst>
              <a:ext uri="{FF2B5EF4-FFF2-40B4-BE49-F238E27FC236}">
                <a16:creationId xmlns:a16="http://schemas.microsoft.com/office/drawing/2014/main" id="{79B11D3C-42A6-79D9-601B-161AC7C56371}"/>
              </a:ext>
            </a:extLst>
          </p:cNvPr>
          <p:cNvSpPr txBox="1"/>
          <p:nvPr/>
        </p:nvSpPr>
        <p:spPr>
          <a:xfrm>
            <a:off x="750571" y="5712955"/>
            <a:ext cx="3286354" cy="486461"/>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Enterprise AI strategy &amp; LLM deployment. Owns GCC AI accelerators. INSEAD.</a:t>
            </a:r>
          </a:p>
        </p:txBody>
      </p:sp>
      <p:pic>
        <p:nvPicPr>
          <p:cNvPr id="88" name="Picture 87">
            <a:extLst>
              <a:ext uri="{FF2B5EF4-FFF2-40B4-BE49-F238E27FC236}">
                <a16:creationId xmlns:a16="http://schemas.microsoft.com/office/drawing/2014/main" id="{8A886F30-D801-727B-D49A-08BE134763BC}"/>
              </a:ext>
            </a:extLst>
          </p:cNvPr>
          <p:cNvPicPr>
            <a:picLocks noChangeAspect="1"/>
          </p:cNvPicPr>
          <p:nvPr/>
        </p:nvPicPr>
        <p:blipFill>
          <a:blip r:embed="rId8"/>
          <a:stretch>
            <a:fillRect/>
          </a:stretch>
        </p:blipFill>
        <p:spPr>
          <a:xfrm>
            <a:off x="1860348" y="4336237"/>
            <a:ext cx="791235" cy="791235"/>
          </a:xfrm>
          <a:prstGeom prst="ellipse">
            <a:avLst/>
          </a:prstGeom>
          <a:ln>
            <a:solidFill>
              <a:schemeClr val="bg2">
                <a:lumMod val="75000"/>
              </a:schemeClr>
            </a:solidFill>
          </a:ln>
        </p:spPr>
      </p:pic>
      <p:pic>
        <p:nvPicPr>
          <p:cNvPr id="89" name="Picture 88">
            <a:extLst>
              <a:ext uri="{FF2B5EF4-FFF2-40B4-BE49-F238E27FC236}">
                <a16:creationId xmlns:a16="http://schemas.microsoft.com/office/drawing/2014/main" id="{7FE7B978-BC8D-A9AE-DDD9-3536B965D593}"/>
              </a:ext>
            </a:extLst>
          </p:cNvPr>
          <p:cNvPicPr>
            <a:picLocks noChangeAspect="1"/>
          </p:cNvPicPr>
          <p:nvPr/>
        </p:nvPicPr>
        <p:blipFill>
          <a:blip r:embed="rId9"/>
          <a:stretch>
            <a:fillRect/>
          </a:stretch>
        </p:blipFill>
        <p:spPr>
          <a:xfrm>
            <a:off x="9496742" y="4308997"/>
            <a:ext cx="834910" cy="834910"/>
          </a:xfrm>
          <a:prstGeom prst="ellipse">
            <a:avLst/>
          </a:prstGeom>
          <a:ln>
            <a:solidFill>
              <a:schemeClr val="bg2">
                <a:lumMod val="75000"/>
              </a:schemeClr>
            </a:solidFill>
          </a:ln>
        </p:spPr>
      </p:pic>
      <p:pic>
        <p:nvPicPr>
          <p:cNvPr id="90" name="Picture 89">
            <a:extLst>
              <a:ext uri="{FF2B5EF4-FFF2-40B4-BE49-F238E27FC236}">
                <a16:creationId xmlns:a16="http://schemas.microsoft.com/office/drawing/2014/main" id="{B07CD8E2-0147-7DFF-D0E3-F8BDD9DC4480}"/>
              </a:ext>
            </a:extLst>
          </p:cNvPr>
          <p:cNvPicPr>
            <a:picLocks noChangeAspect="1"/>
          </p:cNvPicPr>
          <p:nvPr/>
        </p:nvPicPr>
        <p:blipFill>
          <a:blip r:embed="rId10"/>
          <a:stretch>
            <a:fillRect/>
          </a:stretch>
        </p:blipFill>
        <p:spPr>
          <a:xfrm>
            <a:off x="5693619" y="4336236"/>
            <a:ext cx="835609" cy="835609"/>
          </a:xfrm>
          <a:prstGeom prst="ellipse">
            <a:avLst/>
          </a:prstGeom>
          <a:ln>
            <a:solidFill>
              <a:schemeClr val="bg2">
                <a:lumMod val="75000"/>
              </a:schemeClr>
            </a:solidFill>
          </a:ln>
        </p:spPr>
      </p:pic>
    </p:spTree>
    <p:extLst>
      <p:ext uri="{BB962C8B-B14F-4D97-AF65-F5344CB8AC3E}">
        <p14:creationId xmlns:p14="http://schemas.microsoft.com/office/powerpoint/2010/main" val="40084638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cad3a534ee2971c6a497c9faf59fb5cd.png"/>
          <p:cNvPicPr>
            <a:picLocks noChangeAspect="1"/>
          </p:cNvPicPr>
          <p:nvPr/>
        </p:nvPicPr>
        <p:blipFill>
          <a:blip r:embed="rId3"/>
          <a:srcRect l="-202" r="-202"/>
          <a:stretch/>
        </p:blipFill>
        <p:spPr>
          <a:xfrm>
            <a:off x="0" y="0"/>
            <a:ext cx="8128102" cy="75895"/>
          </a:xfrm>
          <a:prstGeom prst="rect">
            <a:avLst/>
          </a:prstGeom>
        </p:spPr>
      </p:pic>
      <p:pic>
        <p:nvPicPr>
          <p:cNvPr id="5" name="Image 1" descr="gen-dedup-64882feb7a832238af77b962fc7a8538.png"/>
          <p:cNvPicPr>
            <a:picLocks noChangeAspect="1"/>
          </p:cNvPicPr>
          <p:nvPr/>
        </p:nvPicPr>
        <p:blipFill>
          <a:blip r:embed="rId4"/>
          <a:srcRect l="-197" r="-197"/>
          <a:stretch/>
        </p:blipFill>
        <p:spPr>
          <a:xfrm>
            <a:off x="8128102"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6da70c599291e253314366a10c094ffa.png"/>
          <p:cNvPicPr>
            <a:picLocks noChangeAspect="1"/>
          </p:cNvPicPr>
          <p:nvPr/>
        </p:nvPicPr>
        <p:blipFill>
          <a:blip r:embed="rId5">
            <a:alphaModFix amt="15000"/>
          </a:blip>
          <a:srcRect/>
          <a:stretch/>
        </p:blipFill>
        <p:spPr>
          <a:xfrm>
            <a:off x="381305" y="1143000"/>
            <a:ext cx="1429207" cy="1429207"/>
          </a:xfrm>
          <a:prstGeom prst="rect">
            <a:avLst/>
          </a:prstGeom>
        </p:spPr>
      </p:pic>
      <p:pic>
        <p:nvPicPr>
          <p:cNvPr id="8" name="Image 3" descr="gen-dedup-b81d2082573e6d8de64df87af639bbf0.png"/>
          <p:cNvPicPr>
            <a:picLocks noChangeAspect="1"/>
          </p:cNvPicPr>
          <p:nvPr/>
        </p:nvPicPr>
        <p:blipFill>
          <a:blip r:embed="rId6"/>
          <a:srcRect l="-360" r="-360"/>
          <a:stretch/>
        </p:blipFill>
        <p:spPr>
          <a:xfrm>
            <a:off x="609905" y="533095"/>
            <a:ext cx="57607" cy="381305"/>
          </a:xfrm>
          <a:prstGeom prst="rect">
            <a:avLst/>
          </a:prstGeom>
        </p:spPr>
      </p:pic>
      <p:sp>
        <p:nvSpPr>
          <p:cNvPr id="9" name="Text 3"/>
          <p:cNvSpPr txBox="1"/>
          <p:nvPr/>
        </p:nvSpPr>
        <p:spPr>
          <a:xfrm>
            <a:off x="819302" y="381305"/>
            <a:ext cx="3871570" cy="381305"/>
          </a:xfrm>
          <a:prstGeom prst="rect">
            <a:avLst/>
          </a:prstGeom>
          <a:noFill/>
          <a:ln/>
        </p:spPr>
        <p:txBody>
          <a:bodyPr wrap="none" lIns="0" tIns="0" rIns="0" bIns="0" rtlCol="0" anchor="ctr"/>
          <a:lstStyle/>
          <a:p>
            <a:pPr marL="0" indent="0" algn="l">
              <a:buNone/>
            </a:pPr>
            <a:r>
              <a:rPr lang="en-US" sz="2700" b="1" kern="0" spc="-67" dirty="0">
                <a:solidFill>
                  <a:srgbClr val="111827"/>
                </a:solidFill>
                <a:latin typeface="Oswald" pitchFamily="34" charset="0"/>
                <a:ea typeface="Oswald" pitchFamily="34" charset="-122"/>
                <a:cs typeface="Oswald" pitchFamily="34" charset="-120"/>
              </a:rPr>
              <a:t>WHAT WE OFFER</a:t>
            </a:r>
            <a:endParaRPr lang="en-US" sz="2700" dirty="0"/>
          </a:p>
        </p:txBody>
      </p:sp>
      <p:sp>
        <p:nvSpPr>
          <p:cNvPr id="10" name="Text 4"/>
          <p:cNvSpPr txBox="1"/>
          <p:nvPr/>
        </p:nvSpPr>
        <p:spPr>
          <a:xfrm>
            <a:off x="819302" y="800100"/>
            <a:ext cx="4189781" cy="267005"/>
          </a:xfrm>
          <a:prstGeom prst="rect">
            <a:avLst/>
          </a:prstGeom>
          <a:noFill/>
          <a:ln/>
        </p:spPr>
        <p:txBody>
          <a:bodyPr wrap="none" lIns="0" tIns="0" rIns="0" bIns="0" rtlCol="0" anchor="ctr"/>
          <a:lstStyle/>
          <a:p>
            <a:pPr marL="0" indent="0" algn="l">
              <a:buNone/>
            </a:pPr>
            <a:r>
              <a:rPr lang="en-US" sz="1500" b="1" kern="0" spc="75" dirty="0">
                <a:solidFill>
                  <a:srgbClr val="2A9D8F"/>
                </a:solidFill>
                <a:latin typeface="Roboto Condensed" pitchFamily="34" charset="0"/>
                <a:ea typeface="Roboto Condensed" pitchFamily="34" charset="-122"/>
                <a:cs typeface="Roboto Condensed" pitchFamily="34" charset="-120"/>
              </a:rPr>
              <a:t>Three Interlocking Revenue Engines</a:t>
            </a:r>
            <a:endParaRPr lang="en-US" sz="1500" dirty="0"/>
          </a:p>
        </p:txBody>
      </p:sp>
      <p:sp>
        <p:nvSpPr>
          <p:cNvPr id="11" name="Shape 5"/>
          <p:cNvSpPr/>
          <p:nvPr/>
        </p:nvSpPr>
        <p:spPr>
          <a:xfrm>
            <a:off x="60990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dirty="0"/>
          </a:p>
        </p:txBody>
      </p:sp>
      <p:sp>
        <p:nvSpPr>
          <p:cNvPr id="12" name="Shape 6"/>
          <p:cNvSpPr/>
          <p:nvPr/>
        </p:nvSpPr>
        <p:spPr>
          <a:xfrm>
            <a:off x="619049"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13" name="Text 7"/>
          <p:cNvSpPr txBox="1"/>
          <p:nvPr/>
        </p:nvSpPr>
        <p:spPr>
          <a:xfrm>
            <a:off x="1411834" y="2033626"/>
            <a:ext cx="173461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Workforce Solutions</a:t>
            </a:r>
            <a:endParaRPr lang="en-US" sz="1500" dirty="0"/>
          </a:p>
        </p:txBody>
      </p:sp>
      <p:sp>
        <p:nvSpPr>
          <p:cNvPr id="14" name="Text 8"/>
          <p:cNvSpPr txBox="1"/>
          <p:nvPr/>
        </p:nvSpPr>
        <p:spPr>
          <a:xfrm>
            <a:off x="819302" y="2691079"/>
            <a:ext cx="2934310" cy="300106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Domain-deep engineers - not generic coders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Verticals: IT and Cloud Computing · BFSI · more </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Deployed in 10 days or less </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Pod governance + sprint accountability</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Contract-to-hire flexibility</a:t>
            </a:r>
            <a:endParaRPr lang="en-US" sz="1400" dirty="0"/>
          </a:p>
        </p:txBody>
      </p:sp>
      <p:sp>
        <p:nvSpPr>
          <p:cNvPr id="21" name="Text 15"/>
          <p:cNvSpPr txBox="1"/>
          <p:nvPr/>
        </p:nvSpPr>
        <p:spPr>
          <a:xfrm>
            <a:off x="2116836" y="1652321"/>
            <a:ext cx="329184"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01</a:t>
            </a:r>
            <a:endParaRPr lang="en-US" sz="2200" dirty="0"/>
          </a:p>
        </p:txBody>
      </p:sp>
      <p:sp>
        <p:nvSpPr>
          <p:cNvPr id="22" name="Text 16"/>
          <p:cNvSpPr txBox="1"/>
          <p:nvPr/>
        </p:nvSpPr>
        <p:spPr>
          <a:xfrm>
            <a:off x="1570025" y="2309774"/>
            <a:ext cx="1420978"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Volume Engine</a:t>
            </a:r>
            <a:endParaRPr lang="en-US" sz="900" dirty="0"/>
          </a:p>
        </p:txBody>
      </p:sp>
      <p:sp>
        <p:nvSpPr>
          <p:cNvPr id="23" name="Shape 17"/>
          <p:cNvSpPr/>
          <p:nvPr/>
        </p:nvSpPr>
        <p:spPr>
          <a:xfrm>
            <a:off x="441929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24" name="Shape 18"/>
          <p:cNvSpPr/>
          <p:nvPr/>
        </p:nvSpPr>
        <p:spPr>
          <a:xfrm>
            <a:off x="4429354" y="1533449"/>
            <a:ext cx="3314700" cy="1047902"/>
          </a:xfrm>
          <a:prstGeom prst="rect">
            <a:avLst/>
          </a:prstGeom>
          <a:solidFill>
            <a:srgbClr val="D62839"/>
          </a:solidFill>
          <a:ln w="12700">
            <a:solidFill>
              <a:srgbClr val="FFFFFF">
                <a:alpha val="0"/>
              </a:srgbClr>
            </a:solidFill>
            <a:prstDash val="solid"/>
          </a:ln>
        </p:spPr>
        <p:txBody>
          <a:bodyPr/>
          <a:lstStyle/>
          <a:p>
            <a:endParaRPr lang="en-US"/>
          </a:p>
        </p:txBody>
      </p:sp>
      <p:sp>
        <p:nvSpPr>
          <p:cNvPr id="25" name="Text 19"/>
          <p:cNvSpPr txBox="1"/>
          <p:nvPr/>
        </p:nvSpPr>
        <p:spPr>
          <a:xfrm>
            <a:off x="5386730" y="2033626"/>
            <a:ext cx="140634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AI Pods</a:t>
            </a:r>
            <a:endParaRPr lang="en-US" sz="1500" dirty="0"/>
          </a:p>
        </p:txBody>
      </p:sp>
      <p:sp>
        <p:nvSpPr>
          <p:cNvPr id="26" name="Text 20"/>
          <p:cNvSpPr txBox="1"/>
          <p:nvPr/>
        </p:nvSpPr>
        <p:spPr>
          <a:xfrm>
            <a:off x="4619549" y="4204760"/>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AI-first engineering pods, embedded tech lead</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Every engineer AI-certified before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J2W AI Labs - continuous monthly upskilling</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AI-assisted code, test &amp; docs from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Compounding productivity, not static seats</a:t>
            </a:r>
            <a:endParaRPr lang="en-US" sz="1400" dirty="0"/>
          </a:p>
        </p:txBody>
      </p:sp>
      <p:sp>
        <p:nvSpPr>
          <p:cNvPr id="33" name="Text 27"/>
          <p:cNvSpPr txBox="1"/>
          <p:nvPr/>
        </p:nvSpPr>
        <p:spPr>
          <a:xfrm>
            <a:off x="5905195"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02</a:t>
            </a:r>
            <a:endParaRPr lang="en-US" sz="2200" dirty="0"/>
          </a:p>
        </p:txBody>
      </p:sp>
      <p:sp>
        <p:nvSpPr>
          <p:cNvPr id="34" name="Text 28"/>
          <p:cNvSpPr txBox="1"/>
          <p:nvPr/>
        </p:nvSpPr>
        <p:spPr>
          <a:xfrm>
            <a:off x="5079492" y="2309774"/>
            <a:ext cx="2018081"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Margin Expansion Engine</a:t>
            </a:r>
            <a:endParaRPr lang="en-US" sz="900" dirty="0"/>
          </a:p>
        </p:txBody>
      </p:sp>
      <p:sp>
        <p:nvSpPr>
          <p:cNvPr id="35" name="Shape 29"/>
          <p:cNvSpPr/>
          <p:nvPr/>
        </p:nvSpPr>
        <p:spPr>
          <a:xfrm>
            <a:off x="8229600"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36" name="Shape 30"/>
          <p:cNvSpPr/>
          <p:nvPr/>
        </p:nvSpPr>
        <p:spPr>
          <a:xfrm>
            <a:off x="8238744"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37" name="Text 31"/>
          <p:cNvSpPr txBox="1"/>
          <p:nvPr/>
        </p:nvSpPr>
        <p:spPr>
          <a:xfrm>
            <a:off x="8685886" y="2033626"/>
            <a:ext cx="2425903"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Managed Service Solutions</a:t>
            </a:r>
            <a:endParaRPr lang="en-US" sz="1500" dirty="0"/>
          </a:p>
        </p:txBody>
      </p:sp>
      <p:sp>
        <p:nvSpPr>
          <p:cNvPr id="38" name="Text 32"/>
          <p:cNvSpPr txBox="1"/>
          <p:nvPr/>
        </p:nvSpPr>
        <p:spPr>
          <a:xfrm>
            <a:off x="8429854" y="4158691"/>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Dedicated pods owning outcomes, not tasks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Operate to outcome-bound SLOs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60+ pre-built solution accelerators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On SAP, ServiceNow &amp; industry stacks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40% improvement threshold - our standard</a:t>
            </a:r>
            <a:endParaRPr lang="en-US" sz="1400" dirty="0"/>
          </a:p>
        </p:txBody>
      </p:sp>
      <p:sp>
        <p:nvSpPr>
          <p:cNvPr id="45" name="Text 39"/>
          <p:cNvSpPr txBox="1"/>
          <p:nvPr/>
        </p:nvSpPr>
        <p:spPr>
          <a:xfrm>
            <a:off x="9715500"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03</a:t>
            </a:r>
            <a:endParaRPr lang="en-US" sz="2200" dirty="0"/>
          </a:p>
        </p:txBody>
      </p:sp>
      <p:sp>
        <p:nvSpPr>
          <p:cNvPr id="46" name="Text 40"/>
          <p:cNvSpPr txBox="1"/>
          <p:nvPr/>
        </p:nvSpPr>
        <p:spPr>
          <a:xfrm>
            <a:off x="8956548" y="2309774"/>
            <a:ext cx="1881835"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Strategic Value Engine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953805" y="-571500"/>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5000"/>
          </a:blip>
          <a:srcRect/>
          <a:stretch/>
        </p:blipFill>
        <p:spPr>
          <a:xfrm>
            <a:off x="-381305" y="4095598"/>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743407"/>
            <a:ext cx="57607" cy="476402"/>
          </a:xfrm>
          <a:prstGeom prst="rect">
            <a:avLst/>
          </a:prstGeom>
        </p:spPr>
      </p:pic>
      <p:sp>
        <p:nvSpPr>
          <p:cNvPr id="9" name="Shape 3"/>
          <p:cNvSpPr/>
          <p:nvPr/>
        </p:nvSpPr>
        <p:spPr>
          <a:xfrm>
            <a:off x="6099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43818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2" name="Shape 6"/>
          <p:cNvSpPr/>
          <p:nvPr/>
        </p:nvSpPr>
        <p:spPr>
          <a:xfrm>
            <a:off x="4381805" y="1714500"/>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81537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4" name="Shape 8"/>
          <p:cNvSpPr/>
          <p:nvPr/>
        </p:nvSpPr>
        <p:spPr>
          <a:xfrm>
            <a:off x="81537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24953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6" name="Shape 10"/>
          <p:cNvSpPr/>
          <p:nvPr/>
        </p:nvSpPr>
        <p:spPr>
          <a:xfrm>
            <a:off x="2495398" y="3619195"/>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7" name="Shape 11"/>
          <p:cNvSpPr/>
          <p:nvPr/>
        </p:nvSpPr>
        <p:spPr>
          <a:xfrm>
            <a:off x="62672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8" name="Shape 12"/>
          <p:cNvSpPr/>
          <p:nvPr/>
        </p:nvSpPr>
        <p:spPr>
          <a:xfrm>
            <a:off x="6267298" y="3619195"/>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609905" y="5572354"/>
            <a:ext cx="10972800" cy="571500"/>
          </a:xfrm>
          <a:prstGeom prst="roundRect">
            <a:avLst>
              <a:gd name="adj" fmla="val 42667"/>
            </a:avLst>
          </a:prstGeom>
          <a:solidFill>
            <a:srgbClr val="111827"/>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pic>
        <p:nvPicPr>
          <p:cNvPr id="20" name="Image 4" descr="gen-dedup-fcfcca745fa5c1c832fd66175382f504.png"/>
          <p:cNvPicPr>
            <a:picLocks noChangeAspect="1"/>
          </p:cNvPicPr>
          <p:nvPr/>
        </p:nvPicPr>
        <p:blipFill>
          <a:blip r:embed="rId7"/>
          <a:srcRect l="-2083" r="-2083"/>
          <a:stretch/>
        </p:blipFill>
        <p:spPr>
          <a:xfrm>
            <a:off x="609905" y="6286500"/>
            <a:ext cx="10972800" cy="9144"/>
          </a:xfrm>
          <a:prstGeom prst="rect">
            <a:avLst/>
          </a:prstGeom>
        </p:spPr>
      </p:pic>
      <p:sp>
        <p:nvSpPr>
          <p:cNvPr id="21" name="Text 14"/>
          <p:cNvSpPr txBox="1"/>
          <p:nvPr/>
        </p:nvSpPr>
        <p:spPr>
          <a:xfrm>
            <a:off x="819302" y="666598"/>
            <a:ext cx="5715000" cy="381305"/>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WHAT WE OWN</a:t>
            </a:r>
            <a:endParaRPr lang="en-US" sz="2700" dirty="0"/>
          </a:p>
        </p:txBody>
      </p:sp>
      <p:sp>
        <p:nvSpPr>
          <p:cNvPr id="22" name="Text 15"/>
          <p:cNvSpPr txBox="1"/>
          <p:nvPr/>
        </p:nvSpPr>
        <p:spPr>
          <a:xfrm>
            <a:off x="819302" y="1100938"/>
            <a:ext cx="5715000" cy="200254"/>
          </a:xfrm>
          <a:prstGeom prst="rect">
            <a:avLst/>
          </a:prstGeom>
          <a:noFill/>
          <a:ln/>
        </p:spPr>
        <p:txBody>
          <a:bodyPr wrap="none" lIns="0" tIns="0" rIns="0" bIns="0" rtlCol="0" anchor="ctr"/>
          <a:lstStyle/>
          <a:p>
            <a:pPr marL="0" indent="0" algn="l">
              <a:buNone/>
            </a:pPr>
            <a:r>
              <a:rPr lang="en-US" sz="1300" b="1" kern="0" spc="68" dirty="0">
                <a:solidFill>
                  <a:srgbClr val="2A9D8F"/>
                </a:solidFill>
                <a:latin typeface="Roboto Condensed" pitchFamily="34" charset="0"/>
                <a:ea typeface="Roboto Condensed" pitchFamily="34" charset="-122"/>
                <a:cs typeface="Roboto Condensed" pitchFamily="34" charset="-120"/>
              </a:rPr>
              <a:t>The Proprietary Stack - Our Moat</a:t>
            </a:r>
            <a:endParaRPr lang="en-US" sz="1300" dirty="0"/>
          </a:p>
        </p:txBody>
      </p:sp>
      <p:sp>
        <p:nvSpPr>
          <p:cNvPr id="23" name="Shape 16"/>
          <p:cNvSpPr/>
          <p:nvPr/>
        </p:nvSpPr>
        <p:spPr>
          <a:xfrm>
            <a:off x="8001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24" name="Image 5" descr="gen-dedup-354148c7dfe2ece024d9587c6b984377.png"/>
          <p:cNvPicPr>
            <a:picLocks noChangeAspect="1"/>
          </p:cNvPicPr>
          <p:nvPr/>
        </p:nvPicPr>
        <p:blipFill>
          <a:blip r:embed="rId8"/>
          <a:srcRect t="-16800" b="-16800"/>
          <a:stretch/>
        </p:blipFill>
        <p:spPr>
          <a:xfrm>
            <a:off x="895198" y="2029054"/>
            <a:ext cx="114300" cy="152705"/>
          </a:xfrm>
          <a:prstGeom prst="rect">
            <a:avLst/>
          </a:prstGeom>
        </p:spPr>
      </p:pic>
      <p:sp>
        <p:nvSpPr>
          <p:cNvPr id="25" name="Text 17"/>
          <p:cNvSpPr txBox="1"/>
          <p:nvPr/>
        </p:nvSpPr>
        <p:spPr>
          <a:xfrm>
            <a:off x="12380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Premier Lounge</a:t>
            </a:r>
            <a:endParaRPr lang="en-US" sz="1500" dirty="0"/>
          </a:p>
        </p:txBody>
      </p:sp>
      <p:sp>
        <p:nvSpPr>
          <p:cNvPr id="26" name="Text 18"/>
          <p:cNvSpPr txBox="1"/>
          <p:nvPr/>
        </p:nvSpPr>
        <p:spPr>
          <a:xfrm>
            <a:off x="8001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Curated network of vetted experts - instant access to scarce skills.</a:t>
            </a:r>
            <a:endParaRPr lang="en-US" sz="1200" dirty="0"/>
          </a:p>
        </p:txBody>
      </p:sp>
      <p:sp>
        <p:nvSpPr>
          <p:cNvPr id="27" name="Shape 19"/>
          <p:cNvSpPr/>
          <p:nvPr/>
        </p:nvSpPr>
        <p:spPr>
          <a:xfrm>
            <a:off x="4572000" y="195224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28" name="Image 6" descr="gen-dedup-8653d22c8fc2d1668da8a16f36629000.png"/>
          <p:cNvPicPr>
            <a:picLocks noChangeAspect="1"/>
          </p:cNvPicPr>
          <p:nvPr/>
        </p:nvPicPr>
        <p:blipFill>
          <a:blip r:embed="rId9"/>
          <a:srcRect t="-25150" b="-25150"/>
          <a:stretch/>
        </p:blipFill>
        <p:spPr>
          <a:xfrm>
            <a:off x="4667098" y="2029054"/>
            <a:ext cx="114300" cy="152705"/>
          </a:xfrm>
          <a:prstGeom prst="rect">
            <a:avLst/>
          </a:prstGeom>
        </p:spPr>
      </p:pic>
      <p:sp>
        <p:nvSpPr>
          <p:cNvPr id="29" name="Text 20"/>
          <p:cNvSpPr txBox="1"/>
          <p:nvPr/>
        </p:nvSpPr>
        <p:spPr>
          <a:xfrm>
            <a:off x="50099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OfferLetter</a:t>
            </a:r>
            <a:endParaRPr lang="en-US" sz="1500" dirty="0"/>
          </a:p>
        </p:txBody>
      </p:sp>
      <p:sp>
        <p:nvSpPr>
          <p:cNvPr id="30" name="Text 21"/>
          <p:cNvSpPr txBox="1"/>
          <p:nvPr/>
        </p:nvSpPr>
        <p:spPr>
          <a:xfrm>
            <a:off x="45720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AI-driven sourcing &amp; resume parsing - onboard one engineer an hour.</a:t>
            </a:r>
            <a:endParaRPr lang="en-US" sz="1200" dirty="0"/>
          </a:p>
        </p:txBody>
      </p:sp>
      <p:sp>
        <p:nvSpPr>
          <p:cNvPr id="31" name="Shape 22"/>
          <p:cNvSpPr/>
          <p:nvPr/>
        </p:nvSpPr>
        <p:spPr>
          <a:xfrm>
            <a:off x="83439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32" name="Image 7" descr="gen-dedup-fe8b3fc2b54c6cb2835c9e1123b7a343.png"/>
          <p:cNvPicPr>
            <a:picLocks noChangeAspect="1"/>
          </p:cNvPicPr>
          <p:nvPr/>
        </p:nvPicPr>
        <p:blipFill>
          <a:blip r:embed="rId10"/>
          <a:srcRect t="-25150" b="-25150"/>
          <a:stretch/>
        </p:blipFill>
        <p:spPr>
          <a:xfrm>
            <a:off x="8438998" y="2029054"/>
            <a:ext cx="114300" cy="152705"/>
          </a:xfrm>
          <a:prstGeom prst="rect">
            <a:avLst/>
          </a:prstGeom>
        </p:spPr>
      </p:pic>
      <p:sp>
        <p:nvSpPr>
          <p:cNvPr id="33" name="Text 23"/>
          <p:cNvSpPr txBox="1"/>
          <p:nvPr/>
        </p:nvSpPr>
        <p:spPr>
          <a:xfrm>
            <a:off x="8781898" y="1952244"/>
            <a:ext cx="2702052"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Data Abstraction Layer</a:t>
            </a:r>
            <a:endParaRPr lang="en-US" sz="1500" dirty="0"/>
          </a:p>
        </p:txBody>
      </p:sp>
      <p:sp>
        <p:nvSpPr>
          <p:cNvPr id="34" name="Text 24"/>
          <p:cNvSpPr txBox="1"/>
          <p:nvPr/>
        </p:nvSpPr>
        <p:spPr>
          <a:xfrm>
            <a:off x="83439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Unified API gateway + real-time ETL - a single pane of glass.</a:t>
            </a:r>
            <a:endParaRPr lang="en-US" sz="1200" dirty="0"/>
          </a:p>
        </p:txBody>
      </p:sp>
      <p:sp>
        <p:nvSpPr>
          <p:cNvPr id="35" name="Shape 25"/>
          <p:cNvSpPr/>
          <p:nvPr/>
        </p:nvSpPr>
        <p:spPr>
          <a:xfrm>
            <a:off x="2686507" y="385785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36" name="Image 8" descr="gen-dedup-e7d7166718140d8159b1663599725aa5.png"/>
          <p:cNvPicPr>
            <a:picLocks noChangeAspect="1"/>
          </p:cNvPicPr>
          <p:nvPr/>
        </p:nvPicPr>
        <p:blipFill>
          <a:blip r:embed="rId11"/>
          <a:srcRect t="-8450" b="-8450"/>
          <a:stretch/>
        </p:blipFill>
        <p:spPr>
          <a:xfrm>
            <a:off x="2781605" y="3933749"/>
            <a:ext cx="114300" cy="152705"/>
          </a:xfrm>
          <a:prstGeom prst="rect">
            <a:avLst/>
          </a:prstGeom>
        </p:spPr>
      </p:pic>
      <p:sp>
        <p:nvSpPr>
          <p:cNvPr id="37" name="Text 26"/>
          <p:cNvSpPr txBox="1"/>
          <p:nvPr/>
        </p:nvSpPr>
        <p:spPr>
          <a:xfrm>
            <a:off x="31245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AI Labs</a:t>
            </a:r>
            <a:endParaRPr lang="en-US" sz="1500" dirty="0"/>
          </a:p>
        </p:txBody>
      </p:sp>
      <p:sp>
        <p:nvSpPr>
          <p:cNvPr id="38" name="Text 27"/>
          <p:cNvSpPr txBox="1"/>
          <p:nvPr/>
        </p:nvSpPr>
        <p:spPr>
          <a:xfrm>
            <a:off x="26865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Internal AI engine - every engineer AI-certified before Day 1.</a:t>
            </a:r>
            <a:endParaRPr lang="en-US" sz="1200" dirty="0"/>
          </a:p>
        </p:txBody>
      </p:sp>
      <p:sp>
        <p:nvSpPr>
          <p:cNvPr id="39" name="Shape 28"/>
          <p:cNvSpPr/>
          <p:nvPr/>
        </p:nvSpPr>
        <p:spPr>
          <a:xfrm>
            <a:off x="6458407" y="385785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40" name="Image 9" descr="gen-dedup-a3d9bb31ae14fa9101e3246a3a64819e.png"/>
          <p:cNvPicPr>
            <a:picLocks noChangeAspect="1"/>
          </p:cNvPicPr>
          <p:nvPr/>
        </p:nvPicPr>
        <p:blipFill>
          <a:blip r:embed="rId12"/>
          <a:srcRect t="-8450" b="-8450"/>
          <a:stretch/>
        </p:blipFill>
        <p:spPr>
          <a:xfrm>
            <a:off x="6553505" y="3933749"/>
            <a:ext cx="114300" cy="152705"/>
          </a:xfrm>
          <a:prstGeom prst="rect">
            <a:avLst/>
          </a:prstGeom>
        </p:spPr>
      </p:pic>
      <p:sp>
        <p:nvSpPr>
          <p:cNvPr id="41" name="Text 29"/>
          <p:cNvSpPr txBox="1"/>
          <p:nvPr/>
        </p:nvSpPr>
        <p:spPr>
          <a:xfrm>
            <a:off x="68964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60+ Accelerators</a:t>
            </a:r>
            <a:endParaRPr lang="en-US" sz="1500" dirty="0"/>
          </a:p>
        </p:txBody>
      </p:sp>
      <p:sp>
        <p:nvSpPr>
          <p:cNvPr id="42" name="Text 30"/>
          <p:cNvSpPr txBox="1"/>
          <p:nvPr/>
        </p:nvSpPr>
        <p:spPr>
          <a:xfrm>
            <a:off x="64584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Pre-built solutions on SAP, ServiceNow &amp; industry stacks.</a:t>
            </a:r>
            <a:endParaRPr lang="en-US" sz="1200" dirty="0"/>
          </a:p>
        </p:txBody>
      </p:sp>
      <p:sp>
        <p:nvSpPr>
          <p:cNvPr id="44" name="Text 32"/>
          <p:cNvSpPr txBox="1"/>
          <p:nvPr/>
        </p:nvSpPr>
        <p:spPr>
          <a:xfrm>
            <a:off x="511150" y="5776164"/>
            <a:ext cx="10972800" cy="181051"/>
          </a:xfrm>
          <a:prstGeom prst="rect">
            <a:avLst/>
          </a:prstGeom>
          <a:noFill/>
          <a:ln/>
        </p:spPr>
        <p:txBody>
          <a:bodyPr wrap="none" lIns="0" tIns="0" rIns="0" bIns="0" rtlCol="0" anchor="ctr"/>
          <a:lstStyle/>
          <a:p>
            <a:pPr marL="0" indent="0" algn="ctr">
              <a:buNone/>
            </a:pPr>
            <a:r>
              <a:rPr lang="en-US" sz="1200" b="1" dirty="0">
                <a:solidFill>
                  <a:schemeClr val="bg1"/>
                </a:solidFill>
                <a:latin typeface="Raleway" pitchFamily="34" charset="0"/>
                <a:ea typeface="Raleway" pitchFamily="34" charset="-122"/>
                <a:cs typeface="Raleway" pitchFamily="34" charset="-120"/>
              </a:rPr>
              <a:t>Transparent, scalable, and owned by us - </a:t>
            </a:r>
            <a:r>
              <a:rPr lang="en-US" sz="1200" b="1" dirty="0">
                <a:solidFill>
                  <a:srgbClr val="2A9D8F"/>
                </a:solidFill>
                <a:latin typeface="Raleway" pitchFamily="34" charset="0"/>
                <a:ea typeface="Raleway" pitchFamily="34" charset="-122"/>
                <a:cs typeface="Raleway" pitchFamily="34" charset="-120"/>
              </a:rPr>
              <a:t>your competitive moat, not a black box.</a:t>
            </a:r>
            <a:endParaRPr lang="en-US" sz="1200" dirty="0"/>
          </a:p>
        </p:txBody>
      </p:sp>
      <p:sp>
        <p:nvSpPr>
          <p:cNvPr id="45" name="TextBox 44">
            <a:extLst>
              <a:ext uri="{FF2B5EF4-FFF2-40B4-BE49-F238E27FC236}">
                <a16:creationId xmlns:a16="http://schemas.microsoft.com/office/drawing/2014/main" id="{25DD6EC7-8F41-58C5-8FE6-D76C9E660C2A}"/>
              </a:ext>
            </a:extLst>
          </p:cNvPr>
          <p:cNvSpPr txBox="1"/>
          <p:nvPr/>
        </p:nvSpPr>
        <p:spPr>
          <a:xfrm>
            <a:off x="3048000" y="3429000"/>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Tree>
    <p:extLst>
      <p:ext uri="{BB962C8B-B14F-4D97-AF65-F5344CB8AC3E}">
        <p14:creationId xmlns:p14="http://schemas.microsoft.com/office/powerpoint/2010/main" val="3821239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F9F6EB1A-5FD2-665F-5EE8-C4B8D6498CF8}"/>
              </a:ext>
            </a:extLst>
          </p:cNvPr>
          <p:cNvSpPr/>
          <p:nvPr/>
        </p:nvSpPr>
        <p:spPr>
          <a:xfrm>
            <a:off x="840648" y="107471"/>
            <a:ext cx="10881360" cy="86868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nSpc>
                <a:spcPts val="2311"/>
              </a:lnSpc>
            </a:pPr>
            <a:r>
              <a:rPr lang="en-US" sz="2933" b="1" dirty="0">
                <a:solidFill>
                  <a:srgbClr val="1B2A4A"/>
                </a:solidFill>
                <a:latin typeface="Oswald" panose="00000500000000000000" pitchFamily="2" charset="0"/>
                <a:ea typeface="Calibri Light"/>
                <a:cs typeface="Calibri Light"/>
              </a:rPr>
              <a:t>END TO END GCC BUILD OFFERINGS</a:t>
            </a:r>
          </a:p>
        </p:txBody>
      </p:sp>
      <p:sp>
        <p:nvSpPr>
          <p:cNvPr id="5" name="Shape 1">
            <a:extLst>
              <a:ext uri="{FF2B5EF4-FFF2-40B4-BE49-F238E27FC236}">
                <a16:creationId xmlns:a16="http://schemas.microsoft.com/office/drawing/2014/main" id="{A24FAB32-955D-AD73-0047-05FB50424916}"/>
              </a:ext>
            </a:extLst>
          </p:cNvPr>
          <p:cNvSpPr/>
          <p:nvPr/>
        </p:nvSpPr>
        <p:spPr>
          <a:xfrm>
            <a:off x="8286474" y="2494799"/>
            <a:ext cx="3589767" cy="763744"/>
          </a:xfrm>
          <a:prstGeom prst="rect">
            <a:avLst/>
          </a:prstGeom>
          <a:solidFill>
            <a:srgbClr val="F4F6FA"/>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351">
              <a:latin typeface="Raleway" pitchFamily="2" charset="0"/>
            </a:endParaRPr>
          </a:p>
        </p:txBody>
      </p:sp>
      <p:sp>
        <p:nvSpPr>
          <p:cNvPr id="7" name="Shape 1">
            <a:extLst>
              <a:ext uri="{FF2B5EF4-FFF2-40B4-BE49-F238E27FC236}">
                <a16:creationId xmlns:a16="http://schemas.microsoft.com/office/drawing/2014/main" id="{C2B3F627-1A4C-A8C3-3D3B-3199B41148B7}"/>
              </a:ext>
            </a:extLst>
          </p:cNvPr>
          <p:cNvSpPr/>
          <p:nvPr/>
        </p:nvSpPr>
        <p:spPr>
          <a:xfrm>
            <a:off x="4423923" y="2475093"/>
            <a:ext cx="3694869" cy="757175"/>
          </a:xfrm>
          <a:prstGeom prst="rect">
            <a:avLst/>
          </a:prstGeom>
          <a:solidFill>
            <a:srgbClr val="F4F6FA"/>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351">
              <a:latin typeface="Raleway" pitchFamily="2" charset="0"/>
            </a:endParaRPr>
          </a:p>
        </p:txBody>
      </p:sp>
      <p:sp>
        <p:nvSpPr>
          <p:cNvPr id="9" name="Shape 1">
            <a:extLst>
              <a:ext uri="{FF2B5EF4-FFF2-40B4-BE49-F238E27FC236}">
                <a16:creationId xmlns:a16="http://schemas.microsoft.com/office/drawing/2014/main" id="{6B86DAEF-B005-1BA9-95B2-0DB17919DFFB}"/>
              </a:ext>
            </a:extLst>
          </p:cNvPr>
          <p:cNvSpPr/>
          <p:nvPr/>
        </p:nvSpPr>
        <p:spPr>
          <a:xfrm>
            <a:off x="515390" y="2475091"/>
            <a:ext cx="3596335" cy="776884"/>
          </a:xfrm>
          <a:prstGeom prst="rect">
            <a:avLst/>
          </a:prstGeom>
          <a:solidFill>
            <a:srgbClr val="F4F6FA"/>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351">
              <a:latin typeface="Raleway" pitchFamily="2" charset="0"/>
            </a:endParaRPr>
          </a:p>
        </p:txBody>
      </p:sp>
      <p:sp>
        <p:nvSpPr>
          <p:cNvPr id="11" name="Shape 1">
            <a:extLst>
              <a:ext uri="{FF2B5EF4-FFF2-40B4-BE49-F238E27FC236}">
                <a16:creationId xmlns:a16="http://schemas.microsoft.com/office/drawing/2014/main" id="{63E328A8-286C-CAE0-37BC-C9EBD605D0D9}"/>
              </a:ext>
            </a:extLst>
          </p:cNvPr>
          <p:cNvSpPr/>
          <p:nvPr/>
        </p:nvSpPr>
        <p:spPr>
          <a:xfrm>
            <a:off x="8293042" y="1332093"/>
            <a:ext cx="3583199" cy="763745"/>
          </a:xfrm>
          <a:prstGeom prst="rect">
            <a:avLst/>
          </a:prstGeom>
          <a:solidFill>
            <a:srgbClr val="F4F6FA"/>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351">
              <a:latin typeface="Raleway" pitchFamily="2" charset="0"/>
            </a:endParaRPr>
          </a:p>
        </p:txBody>
      </p:sp>
      <p:sp>
        <p:nvSpPr>
          <p:cNvPr id="13" name="Shape 1">
            <a:extLst>
              <a:ext uri="{FF2B5EF4-FFF2-40B4-BE49-F238E27FC236}">
                <a16:creationId xmlns:a16="http://schemas.microsoft.com/office/drawing/2014/main" id="{FD7AEA01-BA51-2676-ABCA-D51578AB2D7E}"/>
              </a:ext>
            </a:extLst>
          </p:cNvPr>
          <p:cNvSpPr/>
          <p:nvPr/>
        </p:nvSpPr>
        <p:spPr>
          <a:xfrm>
            <a:off x="4415697" y="1337832"/>
            <a:ext cx="3701439" cy="770315"/>
          </a:xfrm>
          <a:prstGeom prst="rect">
            <a:avLst/>
          </a:prstGeom>
          <a:solidFill>
            <a:srgbClr val="F4F6FA"/>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351">
              <a:latin typeface="Raleway" pitchFamily="2" charset="0"/>
            </a:endParaRPr>
          </a:p>
        </p:txBody>
      </p:sp>
      <p:sp>
        <p:nvSpPr>
          <p:cNvPr id="15" name="Shape 1">
            <a:extLst>
              <a:ext uri="{FF2B5EF4-FFF2-40B4-BE49-F238E27FC236}">
                <a16:creationId xmlns:a16="http://schemas.microsoft.com/office/drawing/2014/main" id="{5A5C8905-BACE-7255-BC59-F4886AC07E06}"/>
              </a:ext>
            </a:extLst>
          </p:cNvPr>
          <p:cNvSpPr/>
          <p:nvPr/>
        </p:nvSpPr>
        <p:spPr>
          <a:xfrm>
            <a:off x="518451" y="1338662"/>
            <a:ext cx="3589767" cy="790020"/>
          </a:xfrm>
          <a:prstGeom prst="rect">
            <a:avLst/>
          </a:prstGeom>
          <a:solidFill>
            <a:srgbClr val="F4F6FA"/>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351">
              <a:latin typeface="Raleway" pitchFamily="2" charset="0"/>
            </a:endParaRPr>
          </a:p>
        </p:txBody>
      </p:sp>
      <p:sp>
        <p:nvSpPr>
          <p:cNvPr id="17" name="Text 35">
            <a:extLst>
              <a:ext uri="{FF2B5EF4-FFF2-40B4-BE49-F238E27FC236}">
                <a16:creationId xmlns:a16="http://schemas.microsoft.com/office/drawing/2014/main" id="{1D2B7726-1808-85B4-0B23-22D0C401EC11}"/>
              </a:ext>
            </a:extLst>
          </p:cNvPr>
          <p:cNvSpPr/>
          <p:nvPr/>
        </p:nvSpPr>
        <p:spPr>
          <a:xfrm>
            <a:off x="10369811" y="2794457"/>
            <a:ext cx="548640" cy="27432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r>
              <a:rPr lang="en-US" sz="900">
                <a:solidFill>
                  <a:srgbClr val="5B6B86"/>
                </a:solidFill>
                <a:latin typeface="Raleway" pitchFamily="2" charset="0"/>
                <a:ea typeface="Calibri" pitchFamily="34" charset="-122"/>
                <a:cs typeface="Calibri" pitchFamily="34" charset="-120"/>
              </a:rPr>
              <a:t>4</a:t>
            </a:r>
            <a:endParaRPr lang="en-US" sz="900">
              <a:latin typeface="Raleway" pitchFamily="2" charset="0"/>
            </a:endParaRPr>
          </a:p>
        </p:txBody>
      </p:sp>
      <p:pic>
        <p:nvPicPr>
          <p:cNvPr id="19" name="Image 0">
            <a:extLst>
              <a:ext uri="{FF2B5EF4-FFF2-40B4-BE49-F238E27FC236}">
                <a16:creationId xmlns:a16="http://schemas.microsoft.com/office/drawing/2014/main" id="{317DB878-83B1-D693-E671-7B52AACB7F4A}"/>
              </a:ext>
            </a:extLst>
          </p:cNvPr>
          <p:cNvPicPr>
            <a:picLocks noChangeAspect="1"/>
          </p:cNvPicPr>
          <p:nvPr/>
        </p:nvPicPr>
        <p:blipFill>
          <a:blip r:embed="rId3"/>
          <a:stretch>
            <a:fillRect/>
          </a:stretch>
        </p:blipFill>
        <p:spPr>
          <a:xfrm>
            <a:off x="869103" y="1518075"/>
            <a:ext cx="256032" cy="256032"/>
          </a:xfrm>
          <a:prstGeom prst="rect">
            <a:avLst/>
          </a:prstGeom>
        </p:spPr>
      </p:pic>
      <p:sp>
        <p:nvSpPr>
          <p:cNvPr id="21" name="Text 20">
            <a:extLst>
              <a:ext uri="{FF2B5EF4-FFF2-40B4-BE49-F238E27FC236}">
                <a16:creationId xmlns:a16="http://schemas.microsoft.com/office/drawing/2014/main" id="{E2E9505C-F1EF-799A-9BCC-134811764AE4}"/>
              </a:ext>
            </a:extLst>
          </p:cNvPr>
          <p:cNvSpPr/>
          <p:nvPr/>
        </p:nvSpPr>
        <p:spPr>
          <a:xfrm>
            <a:off x="1399455" y="1369577"/>
            <a:ext cx="2569464" cy="7772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nSpc>
                <a:spcPts val="1251"/>
              </a:lnSpc>
            </a:pPr>
            <a:r>
              <a:rPr lang="en-US" sz="1100" b="1" dirty="0" err="1">
                <a:solidFill>
                  <a:srgbClr val="1B2A4A"/>
                </a:solidFill>
                <a:latin typeface="Raleway" pitchFamily="2" charset="0"/>
                <a:ea typeface="Calibri"/>
                <a:cs typeface="Calibri"/>
              </a:rPr>
              <a:t>CoE</a:t>
            </a:r>
            <a:r>
              <a:rPr lang="en-US" sz="1100" b="1" dirty="0">
                <a:solidFill>
                  <a:srgbClr val="1B2A4A"/>
                </a:solidFill>
                <a:latin typeface="Raleway" pitchFamily="2" charset="0"/>
                <a:ea typeface="Calibri"/>
                <a:cs typeface="Calibri"/>
              </a:rPr>
              <a:t> Design &amp; Planning</a:t>
            </a:r>
          </a:p>
          <a:p>
            <a:pPr>
              <a:lnSpc>
                <a:spcPts val="1251"/>
              </a:lnSpc>
            </a:pPr>
            <a:endParaRPr lang="en-US" sz="1100" dirty="0">
              <a:latin typeface="Raleway" pitchFamily="2" charset="0"/>
              <a:ea typeface="Calibri Light"/>
              <a:cs typeface="Calibri Light"/>
            </a:endParaRPr>
          </a:p>
          <a:p>
            <a:pPr>
              <a:lnSpc>
                <a:spcPts val="1251"/>
              </a:lnSpc>
            </a:pPr>
            <a:r>
              <a:rPr lang="en-US" sz="1100" dirty="0">
                <a:solidFill>
                  <a:srgbClr val="5B6B86"/>
                </a:solidFill>
                <a:latin typeface="Raleway" pitchFamily="2" charset="0"/>
                <a:ea typeface="Calibri" pitchFamily="34" charset="-122"/>
                <a:cs typeface="Calibri" pitchFamily="34" charset="-120"/>
              </a:rPr>
              <a:t>Operating model, governance, KPI architecture</a:t>
            </a:r>
            <a:endParaRPr lang="en-US" sz="1100" dirty="0">
              <a:latin typeface="Raleway" pitchFamily="2" charset="0"/>
            </a:endParaRPr>
          </a:p>
        </p:txBody>
      </p:sp>
      <p:pic>
        <p:nvPicPr>
          <p:cNvPr id="23" name="Image 1">
            <a:extLst>
              <a:ext uri="{FF2B5EF4-FFF2-40B4-BE49-F238E27FC236}">
                <a16:creationId xmlns:a16="http://schemas.microsoft.com/office/drawing/2014/main" id="{B185FF42-C80C-AE3C-2856-DDE98BF51258}"/>
              </a:ext>
            </a:extLst>
          </p:cNvPr>
          <p:cNvPicPr>
            <a:picLocks noChangeAspect="1"/>
          </p:cNvPicPr>
          <p:nvPr/>
        </p:nvPicPr>
        <p:blipFill>
          <a:blip r:embed="rId4"/>
          <a:stretch>
            <a:fillRect/>
          </a:stretch>
        </p:blipFill>
        <p:spPr>
          <a:xfrm>
            <a:off x="4599855" y="1518075"/>
            <a:ext cx="256032" cy="256032"/>
          </a:xfrm>
          <a:prstGeom prst="rect">
            <a:avLst/>
          </a:prstGeom>
        </p:spPr>
      </p:pic>
      <p:sp>
        <p:nvSpPr>
          <p:cNvPr id="25" name="Text 23">
            <a:extLst>
              <a:ext uri="{FF2B5EF4-FFF2-40B4-BE49-F238E27FC236}">
                <a16:creationId xmlns:a16="http://schemas.microsoft.com/office/drawing/2014/main" id="{111B3A20-E4E7-A990-F757-38316B876A62}"/>
              </a:ext>
            </a:extLst>
          </p:cNvPr>
          <p:cNvSpPr/>
          <p:nvPr/>
        </p:nvSpPr>
        <p:spPr>
          <a:xfrm>
            <a:off x="5130207" y="1369577"/>
            <a:ext cx="2569464" cy="7772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nSpc>
                <a:spcPts val="1251"/>
              </a:lnSpc>
            </a:pPr>
            <a:r>
              <a:rPr lang="en-US" sz="1100" b="1" dirty="0">
                <a:solidFill>
                  <a:srgbClr val="1B2A4A"/>
                </a:solidFill>
                <a:latin typeface="Raleway" pitchFamily="2" charset="0"/>
                <a:ea typeface="Calibri" pitchFamily="34" charset="-122"/>
                <a:cs typeface="Calibri" pitchFamily="34" charset="-120"/>
              </a:rPr>
              <a:t>Location Advisory</a:t>
            </a:r>
          </a:p>
          <a:p>
            <a:pPr>
              <a:lnSpc>
                <a:spcPts val="1251"/>
              </a:lnSpc>
            </a:pPr>
            <a:endParaRPr lang="en-US" sz="1100" dirty="0">
              <a:latin typeface="Raleway" pitchFamily="2" charset="0"/>
            </a:endParaRPr>
          </a:p>
          <a:p>
            <a:pPr>
              <a:lnSpc>
                <a:spcPts val="1251"/>
              </a:lnSpc>
            </a:pPr>
            <a:r>
              <a:rPr lang="en-US" sz="1100" dirty="0">
                <a:solidFill>
                  <a:srgbClr val="5B6B86"/>
                </a:solidFill>
                <a:latin typeface="Raleway" pitchFamily="2" charset="0"/>
                <a:ea typeface="Calibri" pitchFamily="34" charset="-122"/>
                <a:cs typeface="Calibri" pitchFamily="34" charset="-120"/>
              </a:rPr>
              <a:t>Intelligence from active deployments across 8 metros</a:t>
            </a:r>
            <a:endParaRPr lang="en-US" sz="1100" dirty="0">
              <a:latin typeface="Raleway" pitchFamily="2" charset="0"/>
            </a:endParaRPr>
          </a:p>
        </p:txBody>
      </p:sp>
      <p:pic>
        <p:nvPicPr>
          <p:cNvPr id="27" name="Image 2">
            <a:extLst>
              <a:ext uri="{FF2B5EF4-FFF2-40B4-BE49-F238E27FC236}">
                <a16:creationId xmlns:a16="http://schemas.microsoft.com/office/drawing/2014/main" id="{E5A63AD7-E3B9-D79E-2CB3-0061F5363987}"/>
              </a:ext>
            </a:extLst>
          </p:cNvPr>
          <p:cNvPicPr>
            <a:picLocks noChangeAspect="1"/>
          </p:cNvPicPr>
          <p:nvPr/>
        </p:nvPicPr>
        <p:blipFill>
          <a:blip r:embed="rId5"/>
          <a:stretch>
            <a:fillRect/>
          </a:stretch>
        </p:blipFill>
        <p:spPr>
          <a:xfrm>
            <a:off x="8422572" y="1518075"/>
            <a:ext cx="256032" cy="256032"/>
          </a:xfrm>
          <a:prstGeom prst="rect">
            <a:avLst/>
          </a:prstGeom>
        </p:spPr>
      </p:pic>
      <p:sp>
        <p:nvSpPr>
          <p:cNvPr id="29" name="Text 26">
            <a:extLst>
              <a:ext uri="{FF2B5EF4-FFF2-40B4-BE49-F238E27FC236}">
                <a16:creationId xmlns:a16="http://schemas.microsoft.com/office/drawing/2014/main" id="{66822201-13C7-2C29-FE88-30AB0E1ED7E3}"/>
              </a:ext>
            </a:extLst>
          </p:cNvPr>
          <p:cNvSpPr/>
          <p:nvPr/>
        </p:nvSpPr>
        <p:spPr>
          <a:xfrm>
            <a:off x="8952924" y="1369577"/>
            <a:ext cx="2569464" cy="7772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nSpc>
                <a:spcPts val="1251"/>
              </a:lnSpc>
            </a:pPr>
            <a:r>
              <a:rPr lang="en-US" sz="1100" b="1" dirty="0">
                <a:solidFill>
                  <a:srgbClr val="1B2A4A"/>
                </a:solidFill>
                <a:latin typeface="Raleway" pitchFamily="2" charset="0"/>
                <a:ea typeface="Calibri" pitchFamily="34" charset="-122"/>
                <a:cs typeface="Calibri" pitchFamily="34" charset="-120"/>
              </a:rPr>
              <a:t>Employer Branding</a:t>
            </a:r>
          </a:p>
          <a:p>
            <a:pPr>
              <a:lnSpc>
                <a:spcPts val="1251"/>
              </a:lnSpc>
            </a:pPr>
            <a:endParaRPr lang="en-US" sz="1100" dirty="0">
              <a:latin typeface="Raleway" pitchFamily="2" charset="0"/>
            </a:endParaRPr>
          </a:p>
          <a:p>
            <a:pPr>
              <a:lnSpc>
                <a:spcPts val="1251"/>
              </a:lnSpc>
            </a:pPr>
            <a:r>
              <a:rPr lang="en-US" sz="1100" dirty="0">
                <a:solidFill>
                  <a:srgbClr val="5B6B86"/>
                </a:solidFill>
                <a:latin typeface="Raleway" pitchFamily="2" charset="0"/>
                <a:ea typeface="Calibri" pitchFamily="34" charset="-122"/>
                <a:cs typeface="Calibri" pitchFamily="34" charset="-120"/>
              </a:rPr>
              <a:t>Position the hub to attract architect-grade talent</a:t>
            </a:r>
            <a:endParaRPr lang="en-US" sz="1100" dirty="0">
              <a:latin typeface="Raleway" pitchFamily="2" charset="0"/>
            </a:endParaRPr>
          </a:p>
        </p:txBody>
      </p:sp>
      <p:pic>
        <p:nvPicPr>
          <p:cNvPr id="31" name="Image 3">
            <a:extLst>
              <a:ext uri="{FF2B5EF4-FFF2-40B4-BE49-F238E27FC236}">
                <a16:creationId xmlns:a16="http://schemas.microsoft.com/office/drawing/2014/main" id="{5416860F-CB36-1578-BCC0-4DBCF8DC0BDE}"/>
              </a:ext>
            </a:extLst>
          </p:cNvPr>
          <p:cNvPicPr>
            <a:picLocks noChangeAspect="1"/>
          </p:cNvPicPr>
          <p:nvPr/>
        </p:nvPicPr>
        <p:blipFill>
          <a:blip r:embed="rId6"/>
          <a:stretch>
            <a:fillRect/>
          </a:stretch>
        </p:blipFill>
        <p:spPr>
          <a:xfrm>
            <a:off x="869103" y="2642787"/>
            <a:ext cx="256032" cy="256032"/>
          </a:xfrm>
          <a:prstGeom prst="rect">
            <a:avLst/>
          </a:prstGeom>
        </p:spPr>
      </p:pic>
      <p:sp>
        <p:nvSpPr>
          <p:cNvPr id="33" name="Text 29">
            <a:extLst>
              <a:ext uri="{FF2B5EF4-FFF2-40B4-BE49-F238E27FC236}">
                <a16:creationId xmlns:a16="http://schemas.microsoft.com/office/drawing/2014/main" id="{0CDB8E21-2566-4255-EA6E-D261734326BC}"/>
              </a:ext>
            </a:extLst>
          </p:cNvPr>
          <p:cNvSpPr/>
          <p:nvPr/>
        </p:nvSpPr>
        <p:spPr>
          <a:xfrm>
            <a:off x="1399455" y="2494289"/>
            <a:ext cx="2569464" cy="7772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nSpc>
                <a:spcPts val="1251"/>
              </a:lnSpc>
            </a:pPr>
            <a:r>
              <a:rPr lang="en-US" sz="1100" b="1" dirty="0">
                <a:solidFill>
                  <a:srgbClr val="1B2A4A"/>
                </a:solidFill>
                <a:latin typeface="Raleway" pitchFamily="2" charset="0"/>
                <a:ea typeface="Calibri" pitchFamily="34" charset="-122"/>
                <a:cs typeface="Calibri" pitchFamily="34" charset="-120"/>
              </a:rPr>
              <a:t>Talent Strategy</a:t>
            </a:r>
          </a:p>
          <a:p>
            <a:pPr>
              <a:lnSpc>
                <a:spcPts val="1251"/>
              </a:lnSpc>
            </a:pPr>
            <a:endParaRPr lang="en-US" sz="1100" dirty="0">
              <a:latin typeface="Raleway" pitchFamily="2" charset="0"/>
            </a:endParaRPr>
          </a:p>
          <a:p>
            <a:pPr>
              <a:lnSpc>
                <a:spcPts val="1251"/>
              </a:lnSpc>
            </a:pPr>
            <a:r>
              <a:rPr lang="en-US" sz="1100" dirty="0">
                <a:solidFill>
                  <a:srgbClr val="5B6B86"/>
                </a:solidFill>
                <a:latin typeface="Raleway" pitchFamily="2" charset="0"/>
                <a:ea typeface="Calibri" pitchFamily="34" charset="-122"/>
                <a:cs typeface="Calibri" pitchFamily="34" charset="-120"/>
              </a:rPr>
              <a:t>Workforce pyramid aligned to the AI &amp; innovation mandate</a:t>
            </a:r>
            <a:endParaRPr lang="en-US" sz="1100" dirty="0">
              <a:latin typeface="Raleway" pitchFamily="2" charset="0"/>
            </a:endParaRPr>
          </a:p>
        </p:txBody>
      </p:sp>
      <p:pic>
        <p:nvPicPr>
          <p:cNvPr id="35" name="Image 4">
            <a:extLst>
              <a:ext uri="{FF2B5EF4-FFF2-40B4-BE49-F238E27FC236}">
                <a16:creationId xmlns:a16="http://schemas.microsoft.com/office/drawing/2014/main" id="{B9E8AB31-35BA-3AD8-9024-64C34E7A3221}"/>
              </a:ext>
            </a:extLst>
          </p:cNvPr>
          <p:cNvPicPr>
            <a:picLocks noChangeAspect="1"/>
          </p:cNvPicPr>
          <p:nvPr/>
        </p:nvPicPr>
        <p:blipFill>
          <a:blip r:embed="rId7"/>
          <a:stretch>
            <a:fillRect/>
          </a:stretch>
        </p:blipFill>
        <p:spPr>
          <a:xfrm>
            <a:off x="4599855" y="2642787"/>
            <a:ext cx="256032" cy="256032"/>
          </a:xfrm>
          <a:prstGeom prst="rect">
            <a:avLst/>
          </a:prstGeom>
        </p:spPr>
      </p:pic>
      <p:sp>
        <p:nvSpPr>
          <p:cNvPr id="37" name="Text 32">
            <a:extLst>
              <a:ext uri="{FF2B5EF4-FFF2-40B4-BE49-F238E27FC236}">
                <a16:creationId xmlns:a16="http://schemas.microsoft.com/office/drawing/2014/main" id="{9919EDE5-7E3B-6A85-983B-F892F7361379}"/>
              </a:ext>
            </a:extLst>
          </p:cNvPr>
          <p:cNvSpPr/>
          <p:nvPr/>
        </p:nvSpPr>
        <p:spPr>
          <a:xfrm>
            <a:off x="5130207" y="2494289"/>
            <a:ext cx="2569464" cy="7772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nSpc>
                <a:spcPts val="1251"/>
              </a:lnSpc>
            </a:pPr>
            <a:r>
              <a:rPr lang="en-US" sz="1100" b="1" dirty="0">
                <a:solidFill>
                  <a:srgbClr val="1B2A4A"/>
                </a:solidFill>
                <a:latin typeface="Raleway" pitchFamily="2" charset="0"/>
                <a:ea typeface="Calibri" pitchFamily="34" charset="-122"/>
                <a:cs typeface="Calibri" pitchFamily="34" charset="-120"/>
              </a:rPr>
              <a:t>Technology &amp; IT Advisory</a:t>
            </a:r>
          </a:p>
          <a:p>
            <a:pPr>
              <a:lnSpc>
                <a:spcPts val="1251"/>
              </a:lnSpc>
            </a:pPr>
            <a:endParaRPr lang="en-US" sz="1100" dirty="0">
              <a:latin typeface="Raleway" pitchFamily="2" charset="0"/>
            </a:endParaRPr>
          </a:p>
          <a:p>
            <a:pPr>
              <a:lnSpc>
                <a:spcPts val="1251"/>
              </a:lnSpc>
            </a:pPr>
            <a:r>
              <a:rPr lang="en-US" sz="1100" dirty="0">
                <a:solidFill>
                  <a:srgbClr val="5B6B86"/>
                </a:solidFill>
                <a:latin typeface="Raleway" pitchFamily="2" charset="0"/>
                <a:ea typeface="Calibri" pitchFamily="34" charset="-122"/>
                <a:cs typeface="Calibri" pitchFamily="34" charset="-120"/>
              </a:rPr>
              <a:t>Infrastructure, security, and platform choices</a:t>
            </a:r>
            <a:endParaRPr lang="en-US" sz="1100" dirty="0">
              <a:latin typeface="Raleway" pitchFamily="2" charset="0"/>
            </a:endParaRPr>
          </a:p>
        </p:txBody>
      </p:sp>
      <p:pic>
        <p:nvPicPr>
          <p:cNvPr id="39" name="Image 5" descr="A blue shield with black background&#10;&#10;AI-generated content may be incorrect.">
            <a:extLst>
              <a:ext uri="{FF2B5EF4-FFF2-40B4-BE49-F238E27FC236}">
                <a16:creationId xmlns:a16="http://schemas.microsoft.com/office/drawing/2014/main" id="{1C34CD28-2BF3-1ADD-D4F5-94D1B7E9BCA1}"/>
              </a:ext>
            </a:extLst>
          </p:cNvPr>
          <p:cNvPicPr>
            <a:picLocks noChangeAspect="1"/>
          </p:cNvPicPr>
          <p:nvPr/>
        </p:nvPicPr>
        <p:blipFill>
          <a:blip r:embed="rId8"/>
          <a:stretch>
            <a:fillRect/>
          </a:stretch>
        </p:blipFill>
        <p:spPr>
          <a:xfrm>
            <a:off x="8435711" y="2642787"/>
            <a:ext cx="256032" cy="256032"/>
          </a:xfrm>
          <a:prstGeom prst="rect">
            <a:avLst/>
          </a:prstGeom>
        </p:spPr>
      </p:pic>
      <p:sp>
        <p:nvSpPr>
          <p:cNvPr id="41" name="Text 35">
            <a:extLst>
              <a:ext uri="{FF2B5EF4-FFF2-40B4-BE49-F238E27FC236}">
                <a16:creationId xmlns:a16="http://schemas.microsoft.com/office/drawing/2014/main" id="{28686CFF-924D-945C-CEE4-09E4103C2E0E}"/>
              </a:ext>
            </a:extLst>
          </p:cNvPr>
          <p:cNvSpPr/>
          <p:nvPr/>
        </p:nvSpPr>
        <p:spPr>
          <a:xfrm>
            <a:off x="8966063" y="2494289"/>
            <a:ext cx="2569464" cy="77724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nSpc>
                <a:spcPts val="1251"/>
              </a:lnSpc>
            </a:pPr>
            <a:r>
              <a:rPr lang="en-US" sz="1100" b="1" dirty="0">
                <a:solidFill>
                  <a:srgbClr val="1B2A4A"/>
                </a:solidFill>
                <a:latin typeface="Raleway" pitchFamily="2" charset="0"/>
                <a:ea typeface="Calibri" pitchFamily="34" charset="-122"/>
                <a:cs typeface="Calibri" pitchFamily="34" charset="-120"/>
              </a:rPr>
              <a:t>Regulatory &amp; Compliance</a:t>
            </a:r>
          </a:p>
          <a:p>
            <a:pPr>
              <a:lnSpc>
                <a:spcPts val="1251"/>
              </a:lnSpc>
            </a:pPr>
            <a:endParaRPr lang="en-US" sz="1100" dirty="0">
              <a:latin typeface="Raleway" pitchFamily="2" charset="0"/>
            </a:endParaRPr>
          </a:p>
          <a:p>
            <a:pPr>
              <a:lnSpc>
                <a:spcPts val="1251"/>
              </a:lnSpc>
            </a:pPr>
            <a:r>
              <a:rPr lang="en-US" sz="1100" dirty="0">
                <a:solidFill>
                  <a:srgbClr val="5B6B86"/>
                </a:solidFill>
                <a:latin typeface="Raleway" pitchFamily="2" charset="0"/>
                <a:ea typeface="Calibri" pitchFamily="34" charset="-122"/>
                <a:cs typeface="Calibri" pitchFamily="34" charset="-120"/>
              </a:rPr>
              <a:t>Setup requirements incl. cross-border complexity</a:t>
            </a:r>
            <a:endParaRPr lang="en-US" sz="1100" dirty="0">
              <a:latin typeface="Raleway" pitchFamily="2" charset="0"/>
            </a:endParaRPr>
          </a:p>
        </p:txBody>
      </p:sp>
      <p:sp>
        <p:nvSpPr>
          <p:cNvPr id="43" name="Shape 5">
            <a:extLst>
              <a:ext uri="{FF2B5EF4-FFF2-40B4-BE49-F238E27FC236}">
                <a16:creationId xmlns:a16="http://schemas.microsoft.com/office/drawing/2014/main" id="{CDFD70AB-6CFD-3D32-EA6A-88ACCEF64380}"/>
              </a:ext>
            </a:extLst>
          </p:cNvPr>
          <p:cNvSpPr/>
          <p:nvPr/>
        </p:nvSpPr>
        <p:spPr>
          <a:xfrm>
            <a:off x="545527" y="1386821"/>
            <a:ext cx="64008" cy="749808"/>
          </a:xfrm>
          <a:prstGeom prst="rect">
            <a:avLst/>
          </a:prstGeom>
          <a:solidFill>
            <a:srgbClr val="1A9E8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351">
              <a:latin typeface="Raleway" pitchFamily="2" charset="0"/>
            </a:endParaRPr>
          </a:p>
        </p:txBody>
      </p:sp>
      <p:sp>
        <p:nvSpPr>
          <p:cNvPr id="45" name="Shape 5">
            <a:extLst>
              <a:ext uri="{FF2B5EF4-FFF2-40B4-BE49-F238E27FC236}">
                <a16:creationId xmlns:a16="http://schemas.microsoft.com/office/drawing/2014/main" id="{9961EDFA-D25E-79FD-23FF-3E5462317B5A}"/>
              </a:ext>
            </a:extLst>
          </p:cNvPr>
          <p:cNvSpPr/>
          <p:nvPr/>
        </p:nvSpPr>
        <p:spPr>
          <a:xfrm>
            <a:off x="545527" y="2483839"/>
            <a:ext cx="64008" cy="749808"/>
          </a:xfrm>
          <a:prstGeom prst="rect">
            <a:avLst/>
          </a:prstGeom>
          <a:solidFill>
            <a:srgbClr val="1A9E8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351">
              <a:latin typeface="Raleway" pitchFamily="2" charset="0"/>
            </a:endParaRPr>
          </a:p>
        </p:txBody>
      </p:sp>
      <p:sp>
        <p:nvSpPr>
          <p:cNvPr id="47" name="Shape 5">
            <a:extLst>
              <a:ext uri="{FF2B5EF4-FFF2-40B4-BE49-F238E27FC236}">
                <a16:creationId xmlns:a16="http://schemas.microsoft.com/office/drawing/2014/main" id="{1292AB2C-0644-8588-6340-5CB0D174661B}"/>
              </a:ext>
            </a:extLst>
          </p:cNvPr>
          <p:cNvSpPr/>
          <p:nvPr/>
        </p:nvSpPr>
        <p:spPr>
          <a:xfrm>
            <a:off x="4421215" y="1360545"/>
            <a:ext cx="64008" cy="749808"/>
          </a:xfrm>
          <a:prstGeom prst="rect">
            <a:avLst/>
          </a:prstGeom>
          <a:solidFill>
            <a:srgbClr val="1A9E8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351">
              <a:latin typeface="Raleway" pitchFamily="2" charset="0"/>
            </a:endParaRPr>
          </a:p>
        </p:txBody>
      </p:sp>
      <p:sp>
        <p:nvSpPr>
          <p:cNvPr id="49" name="Shape 5">
            <a:extLst>
              <a:ext uri="{FF2B5EF4-FFF2-40B4-BE49-F238E27FC236}">
                <a16:creationId xmlns:a16="http://schemas.microsoft.com/office/drawing/2014/main" id="{AE7A3464-AABE-F751-9125-47299A9668B5}"/>
              </a:ext>
            </a:extLst>
          </p:cNvPr>
          <p:cNvSpPr/>
          <p:nvPr/>
        </p:nvSpPr>
        <p:spPr>
          <a:xfrm>
            <a:off x="4421215" y="2503545"/>
            <a:ext cx="64008" cy="749808"/>
          </a:xfrm>
          <a:prstGeom prst="rect">
            <a:avLst/>
          </a:prstGeom>
          <a:solidFill>
            <a:srgbClr val="1A9E8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351">
              <a:latin typeface="Raleway" pitchFamily="2" charset="0"/>
            </a:endParaRPr>
          </a:p>
        </p:txBody>
      </p:sp>
      <p:sp>
        <p:nvSpPr>
          <p:cNvPr id="51" name="Shape 5">
            <a:extLst>
              <a:ext uri="{FF2B5EF4-FFF2-40B4-BE49-F238E27FC236}">
                <a16:creationId xmlns:a16="http://schemas.microsoft.com/office/drawing/2014/main" id="{05A2FD1F-29F0-3B70-3714-38018E14DC7A}"/>
              </a:ext>
            </a:extLst>
          </p:cNvPr>
          <p:cNvSpPr/>
          <p:nvPr/>
        </p:nvSpPr>
        <p:spPr>
          <a:xfrm>
            <a:off x="8310043" y="1334269"/>
            <a:ext cx="64008" cy="749808"/>
          </a:xfrm>
          <a:prstGeom prst="rect">
            <a:avLst/>
          </a:prstGeom>
          <a:solidFill>
            <a:srgbClr val="1A9E8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351">
              <a:latin typeface="Raleway" pitchFamily="2" charset="0"/>
            </a:endParaRPr>
          </a:p>
        </p:txBody>
      </p:sp>
      <p:sp>
        <p:nvSpPr>
          <p:cNvPr id="53" name="Shape 5">
            <a:extLst>
              <a:ext uri="{FF2B5EF4-FFF2-40B4-BE49-F238E27FC236}">
                <a16:creationId xmlns:a16="http://schemas.microsoft.com/office/drawing/2014/main" id="{871C464D-666F-0EA6-2ED0-D84D28529855}"/>
              </a:ext>
            </a:extLst>
          </p:cNvPr>
          <p:cNvSpPr/>
          <p:nvPr/>
        </p:nvSpPr>
        <p:spPr>
          <a:xfrm>
            <a:off x="8310043" y="2523253"/>
            <a:ext cx="64008" cy="749808"/>
          </a:xfrm>
          <a:prstGeom prst="rect">
            <a:avLst/>
          </a:prstGeom>
          <a:solidFill>
            <a:srgbClr val="1A9E8F"/>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N" sz="1351">
              <a:latin typeface="Raleway" pitchFamily="2" charset="0"/>
            </a:endParaRPr>
          </a:p>
        </p:txBody>
      </p:sp>
      <p:sp>
        <p:nvSpPr>
          <p:cNvPr id="55" name="Text 3">
            <a:extLst>
              <a:ext uri="{FF2B5EF4-FFF2-40B4-BE49-F238E27FC236}">
                <a16:creationId xmlns:a16="http://schemas.microsoft.com/office/drawing/2014/main" id="{09F889FB-3341-BF6B-DBB5-39B953E2C185}"/>
              </a:ext>
            </a:extLst>
          </p:cNvPr>
          <p:cNvSpPr/>
          <p:nvPr/>
        </p:nvSpPr>
        <p:spPr>
          <a:xfrm>
            <a:off x="898899" y="737164"/>
            <a:ext cx="10881360" cy="2286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US" sz="1500" dirty="0">
              <a:latin typeface="Oswald" panose="00000500000000000000" pitchFamily="2" charset="0"/>
            </a:endParaRPr>
          </a:p>
        </p:txBody>
      </p:sp>
      <p:pic>
        <p:nvPicPr>
          <p:cNvPr id="57" name="Picture 56" descr="A screenshot of a computer&#10;&#10;AI-generated content may be incorrect.">
            <a:extLst>
              <a:ext uri="{FF2B5EF4-FFF2-40B4-BE49-F238E27FC236}">
                <a16:creationId xmlns:a16="http://schemas.microsoft.com/office/drawing/2014/main" id="{3F923F85-373A-773B-6CF5-E336710B3B18}"/>
              </a:ext>
            </a:extLst>
          </p:cNvPr>
          <p:cNvPicPr>
            <a:picLocks noChangeAspect="1"/>
          </p:cNvPicPr>
          <p:nvPr/>
        </p:nvPicPr>
        <p:blipFill>
          <a:blip r:embed="rId9"/>
          <a:srcRect r="-51" b="494"/>
          <a:stretch>
            <a:fillRect/>
          </a:stretch>
        </p:blipFill>
        <p:spPr>
          <a:xfrm>
            <a:off x="381000" y="3963672"/>
            <a:ext cx="11435781" cy="2337897"/>
          </a:xfrm>
          <a:prstGeom prst="rect">
            <a:avLst/>
          </a:prstGeom>
        </p:spPr>
      </p:pic>
      <p:sp>
        <p:nvSpPr>
          <p:cNvPr id="58" name="Text 3">
            <a:extLst>
              <a:ext uri="{FF2B5EF4-FFF2-40B4-BE49-F238E27FC236}">
                <a16:creationId xmlns:a16="http://schemas.microsoft.com/office/drawing/2014/main" id="{9975DB06-9287-12C5-1354-E3D7B352D11D}"/>
              </a:ext>
            </a:extLst>
          </p:cNvPr>
          <p:cNvSpPr/>
          <p:nvPr/>
        </p:nvSpPr>
        <p:spPr>
          <a:xfrm>
            <a:off x="543299" y="3539937"/>
            <a:ext cx="10881360" cy="22860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200" b="1" kern="0" spc="151">
                <a:solidFill>
                  <a:srgbClr val="147A6F"/>
                </a:solidFill>
                <a:latin typeface="Raleway" pitchFamily="2" charset="0"/>
                <a:ea typeface="Calibri"/>
                <a:cs typeface="Calibri"/>
              </a:rPr>
              <a:t>ENGAGEMENT MODELS</a:t>
            </a:r>
            <a:endParaRPr lang="en-US" sz="1200" b="1" kern="0" spc="151" dirty="0">
              <a:solidFill>
                <a:srgbClr val="147A6F"/>
              </a:solidFill>
              <a:latin typeface="Raleway" pitchFamily="2" charset="0"/>
              <a:ea typeface="Calibri"/>
              <a:cs typeface="Calibri"/>
            </a:endParaRPr>
          </a:p>
        </p:txBody>
      </p:sp>
      <p:pic>
        <p:nvPicPr>
          <p:cNvPr id="4" name="Image 2" descr="gen-dedup-fa42f52387628f3d1450b94c6ddb571f.png">
            <a:extLst>
              <a:ext uri="{FF2B5EF4-FFF2-40B4-BE49-F238E27FC236}">
                <a16:creationId xmlns:a16="http://schemas.microsoft.com/office/drawing/2014/main" id="{14A324AB-509B-CFB1-6000-F44EE7DA217B}"/>
              </a:ext>
            </a:extLst>
          </p:cNvPr>
          <p:cNvPicPr>
            <a:picLocks noChangeAspect="1"/>
          </p:cNvPicPr>
          <p:nvPr/>
        </p:nvPicPr>
        <p:blipFill>
          <a:blip r:embed="rId10"/>
          <a:srcRect l="-406" r="-406"/>
          <a:stretch/>
        </p:blipFill>
        <p:spPr>
          <a:xfrm>
            <a:off x="560571" y="249821"/>
            <a:ext cx="57607" cy="619049"/>
          </a:xfrm>
          <a:prstGeom prst="rect">
            <a:avLst/>
          </a:prstGeom>
        </p:spPr>
      </p:pic>
    </p:spTree>
    <p:extLst>
      <p:ext uri="{BB962C8B-B14F-4D97-AF65-F5344CB8AC3E}">
        <p14:creationId xmlns:p14="http://schemas.microsoft.com/office/powerpoint/2010/main" val="10331649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858707" y="-952805"/>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sp>
        <p:nvSpPr>
          <p:cNvPr id="5" name="Shape 3"/>
          <p:cNvSpPr/>
          <p:nvPr/>
        </p:nvSpPr>
        <p:spPr>
          <a:xfrm>
            <a:off x="-476402" y="4000500"/>
            <a:ext cx="2381098" cy="2381098"/>
          </a:xfrm>
          <a:prstGeom prst="ellipse">
            <a:avLst/>
          </a:prstGeom>
          <a:solidFill>
            <a:srgbClr val="D62839">
              <a:alpha val="2000"/>
            </a:srgbClr>
          </a:solidFill>
          <a:ln w="12700">
            <a:solidFill>
              <a:srgbClr val="FFFFFF">
                <a:alpha val="0"/>
              </a:srgbClr>
            </a:solidFill>
            <a:prstDash val="solid"/>
          </a:ln>
        </p:spPr>
        <p:txBody>
          <a:bodyPr/>
          <a:lstStyle/>
          <a:p>
            <a:endParaRPr lang="en-US"/>
          </a:p>
        </p:txBody>
      </p:sp>
      <p:pic>
        <p:nvPicPr>
          <p:cNvPr id="6" name="Image 0" descr="gen-dedup-37abb9d8cc081a24feb608c288538026.png"/>
          <p:cNvPicPr>
            <a:picLocks noChangeAspect="1"/>
          </p:cNvPicPr>
          <p:nvPr/>
        </p:nvPicPr>
        <p:blipFill>
          <a:blip r:embed="rId3"/>
          <a:srcRect l="-198" r="-198"/>
          <a:stretch/>
        </p:blipFill>
        <p:spPr>
          <a:xfrm>
            <a:off x="0" y="0"/>
            <a:ext cx="8124444" cy="75895"/>
          </a:xfrm>
          <a:prstGeom prst="rect">
            <a:avLst/>
          </a:prstGeom>
        </p:spPr>
      </p:pic>
      <p:pic>
        <p:nvPicPr>
          <p:cNvPr id="7" name="Image 1" descr="gen-dedup-c2c9136402f20c216bf7cbcc052ad1a0.png"/>
          <p:cNvPicPr>
            <a:picLocks noChangeAspect="1"/>
          </p:cNvPicPr>
          <p:nvPr/>
        </p:nvPicPr>
        <p:blipFill>
          <a:blip r:embed="rId4"/>
          <a:srcRect l="-202" r="-202"/>
          <a:stretch/>
        </p:blipFill>
        <p:spPr>
          <a:xfrm>
            <a:off x="8124444" y="0"/>
            <a:ext cx="4067251" cy="75895"/>
          </a:xfrm>
          <a:prstGeom prst="rect">
            <a:avLst/>
          </a:prstGeom>
        </p:spPr>
      </p:pic>
      <p:sp>
        <p:nvSpPr>
          <p:cNvPr id="8" name="Shape 4"/>
          <p:cNvSpPr/>
          <p:nvPr/>
        </p:nvSpPr>
        <p:spPr>
          <a:xfrm>
            <a:off x="609905" y="1238098"/>
            <a:ext cx="5257800" cy="5381244"/>
          </a:xfrm>
          <a:prstGeom prst="roundRect">
            <a:avLst>
              <a:gd name="adj" fmla="val 1443"/>
            </a:avLst>
          </a:prstGeom>
          <a:solidFill>
            <a:srgbClr val="F0FDFA"/>
          </a:solidFill>
          <a:ln w="12700">
            <a:solidFill>
              <a:srgbClr val="CCFBF1"/>
            </a:solidFill>
            <a:prstDash val="solid"/>
          </a:ln>
          <a:effectLst>
            <a:outerShdw blurRad="63500" dist="38100" dir="16200000" algn="bl" rotWithShape="0">
              <a:srgbClr val="000000">
                <a:alpha val="2000"/>
              </a:srgbClr>
            </a:outerShdw>
          </a:effectLst>
        </p:spPr>
        <p:txBody>
          <a:bodyPr/>
          <a:lstStyle/>
          <a:p>
            <a:endParaRPr lang="en-US"/>
          </a:p>
        </p:txBody>
      </p:sp>
      <p:sp>
        <p:nvSpPr>
          <p:cNvPr id="9" name="Shape 5"/>
          <p:cNvSpPr/>
          <p:nvPr/>
        </p:nvSpPr>
        <p:spPr>
          <a:xfrm>
            <a:off x="609905" y="1238098"/>
            <a:ext cx="5257800"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0" name="Shape 6"/>
          <p:cNvSpPr/>
          <p:nvPr/>
        </p:nvSpPr>
        <p:spPr>
          <a:xfrm>
            <a:off x="6191402" y="1238098"/>
            <a:ext cx="5410505" cy="5381244"/>
          </a:xfrm>
          <a:prstGeom prst="roundRect">
            <a:avLst>
              <a:gd name="adj" fmla="val 1410"/>
            </a:avLst>
          </a:prstGeom>
          <a:solidFill>
            <a:srgbClr val="FFF1F2"/>
          </a:solidFill>
          <a:ln w="12700">
            <a:solidFill>
              <a:srgbClr val="FFE4E6"/>
            </a:solidFill>
            <a:prstDash val="solid"/>
          </a:ln>
          <a:effectLst>
            <a:outerShdw blurRad="63500" dist="38100" dir="16200000" algn="bl" rotWithShape="0">
              <a:srgbClr val="000000">
                <a:alpha val="2000"/>
              </a:srgbClr>
            </a:outerShdw>
          </a:effectLst>
        </p:spPr>
        <p:txBody>
          <a:bodyPr/>
          <a:lstStyle/>
          <a:p>
            <a:endParaRPr lang="en-US"/>
          </a:p>
        </p:txBody>
      </p:sp>
      <p:sp>
        <p:nvSpPr>
          <p:cNvPr id="11" name="Shape 7"/>
          <p:cNvSpPr/>
          <p:nvPr/>
        </p:nvSpPr>
        <p:spPr>
          <a:xfrm>
            <a:off x="6191402" y="1238098"/>
            <a:ext cx="5410505"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2" name="Shape 8"/>
          <p:cNvSpPr/>
          <p:nvPr/>
        </p:nvSpPr>
        <p:spPr>
          <a:xfrm>
            <a:off x="800100" y="2095805"/>
            <a:ext cx="4895698" cy="1304849"/>
          </a:xfrm>
          <a:prstGeom prst="roundRect">
            <a:avLst>
              <a:gd name="adj" fmla="val 4415"/>
            </a:avLst>
          </a:prstGeom>
          <a:solidFill>
            <a:srgbClr val="FFFFFF"/>
          </a:solidFill>
          <a:ln w="12700">
            <a:solidFill>
              <a:srgbClr val="E2E8F0"/>
            </a:solidFill>
            <a:prstDash val="solid"/>
          </a:ln>
        </p:spPr>
        <p:txBody>
          <a:bodyPr/>
          <a:lstStyle/>
          <a:p>
            <a:endParaRPr lang="en-US"/>
          </a:p>
        </p:txBody>
      </p:sp>
      <p:sp>
        <p:nvSpPr>
          <p:cNvPr id="13" name="Shape 9"/>
          <p:cNvSpPr/>
          <p:nvPr/>
        </p:nvSpPr>
        <p:spPr>
          <a:xfrm>
            <a:off x="800100" y="2095805"/>
            <a:ext cx="28346" cy="1304849"/>
          </a:xfrm>
          <a:prstGeom prst="roundRect">
            <a:avLst>
              <a:gd name="adj" fmla="val 203229"/>
            </a:avLst>
          </a:prstGeom>
          <a:solidFill>
            <a:srgbClr val="2A9D8F"/>
          </a:solidFill>
          <a:ln w="12700">
            <a:solidFill>
              <a:srgbClr val="2A9D8F">
                <a:alpha val="0"/>
              </a:srgbClr>
            </a:solidFill>
            <a:prstDash val="solid"/>
          </a:ln>
        </p:spPr>
        <p:txBody>
          <a:bodyPr/>
          <a:lstStyle/>
          <a:p>
            <a:endParaRPr lang="en-US"/>
          </a:p>
        </p:txBody>
      </p:sp>
      <p:sp>
        <p:nvSpPr>
          <p:cNvPr id="14" name="Shape 10"/>
          <p:cNvSpPr/>
          <p:nvPr/>
        </p:nvSpPr>
        <p:spPr>
          <a:xfrm>
            <a:off x="800100" y="3524098"/>
            <a:ext cx="4895698" cy="1304849"/>
          </a:xfrm>
          <a:prstGeom prst="roundRect">
            <a:avLst>
              <a:gd name="adj" fmla="val 4415"/>
            </a:avLst>
          </a:prstGeom>
          <a:solidFill>
            <a:srgbClr val="FFFFFF"/>
          </a:solidFill>
          <a:ln w="12700">
            <a:solidFill>
              <a:srgbClr val="E2E8F0"/>
            </a:solidFill>
            <a:prstDash val="solid"/>
          </a:ln>
        </p:spPr>
        <p:txBody>
          <a:bodyPr/>
          <a:lstStyle/>
          <a:p>
            <a:endParaRPr lang="en-US"/>
          </a:p>
        </p:txBody>
      </p:sp>
      <p:sp>
        <p:nvSpPr>
          <p:cNvPr id="15" name="Shape 11"/>
          <p:cNvSpPr/>
          <p:nvPr/>
        </p:nvSpPr>
        <p:spPr>
          <a:xfrm>
            <a:off x="800100" y="3524098"/>
            <a:ext cx="28346" cy="1304849"/>
          </a:xfrm>
          <a:prstGeom prst="roundRect">
            <a:avLst>
              <a:gd name="adj" fmla="val 203229"/>
            </a:avLst>
          </a:prstGeom>
          <a:solidFill>
            <a:srgbClr val="2A9D8F"/>
          </a:solidFill>
          <a:ln w="12700">
            <a:solidFill>
              <a:srgbClr val="2A9D8F">
                <a:alpha val="0"/>
              </a:srgbClr>
            </a:solidFill>
            <a:prstDash val="solid"/>
          </a:ln>
        </p:spPr>
        <p:txBody>
          <a:bodyPr/>
          <a:lstStyle/>
          <a:p>
            <a:endParaRPr lang="en-US"/>
          </a:p>
        </p:txBody>
      </p:sp>
      <p:sp>
        <p:nvSpPr>
          <p:cNvPr id="16" name="Shape 12"/>
          <p:cNvSpPr/>
          <p:nvPr/>
        </p:nvSpPr>
        <p:spPr>
          <a:xfrm>
            <a:off x="800100" y="4953305"/>
            <a:ext cx="4895698" cy="1304849"/>
          </a:xfrm>
          <a:prstGeom prst="roundRect">
            <a:avLst>
              <a:gd name="adj" fmla="val 4415"/>
            </a:avLst>
          </a:prstGeom>
          <a:solidFill>
            <a:srgbClr val="FFFFFF"/>
          </a:solidFill>
          <a:ln w="12700">
            <a:solidFill>
              <a:srgbClr val="E2E8F0"/>
            </a:solidFill>
            <a:prstDash val="solid"/>
          </a:ln>
        </p:spPr>
        <p:txBody>
          <a:bodyPr/>
          <a:lstStyle/>
          <a:p>
            <a:endParaRPr lang="en-US"/>
          </a:p>
        </p:txBody>
      </p:sp>
      <p:sp>
        <p:nvSpPr>
          <p:cNvPr id="17" name="Shape 13"/>
          <p:cNvSpPr/>
          <p:nvPr/>
        </p:nvSpPr>
        <p:spPr>
          <a:xfrm>
            <a:off x="800100" y="4953305"/>
            <a:ext cx="28346" cy="1304849"/>
          </a:xfrm>
          <a:prstGeom prst="roundRect">
            <a:avLst>
              <a:gd name="adj" fmla="val 203229"/>
            </a:avLst>
          </a:prstGeom>
          <a:solidFill>
            <a:srgbClr val="2A9D8F"/>
          </a:solidFill>
          <a:ln w="12700">
            <a:solidFill>
              <a:srgbClr val="2A9D8F">
                <a:alpha val="0"/>
              </a:srgbClr>
            </a:solidFill>
            <a:prstDash val="solid"/>
          </a:ln>
        </p:spPr>
        <p:txBody>
          <a:bodyPr/>
          <a:lstStyle/>
          <a:p>
            <a:endParaRPr lang="en-US"/>
          </a:p>
        </p:txBody>
      </p:sp>
      <p:sp>
        <p:nvSpPr>
          <p:cNvPr id="18" name="Shape 14"/>
          <p:cNvSpPr/>
          <p:nvPr/>
        </p:nvSpPr>
        <p:spPr>
          <a:xfrm>
            <a:off x="6381598" y="2048256"/>
            <a:ext cx="5048402" cy="685800"/>
          </a:xfrm>
          <a:prstGeom prst="roundRect">
            <a:avLst>
              <a:gd name="adj" fmla="val 8400"/>
            </a:avLst>
          </a:prstGeom>
          <a:solidFill>
            <a:srgbClr val="FFFFFF"/>
          </a:solidFill>
          <a:ln w="12700">
            <a:solidFill>
              <a:srgbClr val="E2E8F0"/>
            </a:solidFill>
            <a:prstDash val="solid"/>
          </a:ln>
        </p:spPr>
        <p:txBody>
          <a:bodyPr/>
          <a:lstStyle/>
          <a:p>
            <a:endParaRPr lang="en-US"/>
          </a:p>
        </p:txBody>
      </p:sp>
      <p:sp>
        <p:nvSpPr>
          <p:cNvPr id="19" name="Shape 15"/>
          <p:cNvSpPr/>
          <p:nvPr/>
        </p:nvSpPr>
        <p:spPr>
          <a:xfrm>
            <a:off x="6381598" y="2048256"/>
            <a:ext cx="28346" cy="685800"/>
          </a:xfrm>
          <a:prstGeom prst="roundRect">
            <a:avLst>
              <a:gd name="adj" fmla="val 203229"/>
            </a:avLst>
          </a:prstGeom>
          <a:solidFill>
            <a:srgbClr val="D62839"/>
          </a:solidFill>
          <a:ln w="12700">
            <a:solidFill>
              <a:srgbClr val="D62839">
                <a:alpha val="0"/>
              </a:srgbClr>
            </a:solidFill>
            <a:prstDash val="solid"/>
          </a:ln>
        </p:spPr>
        <p:txBody>
          <a:bodyPr/>
          <a:lstStyle/>
          <a:p>
            <a:endParaRPr lang="en-US"/>
          </a:p>
        </p:txBody>
      </p:sp>
      <p:sp>
        <p:nvSpPr>
          <p:cNvPr id="20" name="Shape 16"/>
          <p:cNvSpPr/>
          <p:nvPr/>
        </p:nvSpPr>
        <p:spPr>
          <a:xfrm>
            <a:off x="6381598" y="2809951"/>
            <a:ext cx="5048402" cy="685800"/>
          </a:xfrm>
          <a:prstGeom prst="roundRect">
            <a:avLst>
              <a:gd name="adj" fmla="val 8400"/>
            </a:avLst>
          </a:prstGeom>
          <a:solidFill>
            <a:srgbClr val="FFFFFF"/>
          </a:solidFill>
          <a:ln w="12700">
            <a:solidFill>
              <a:srgbClr val="E2E8F0"/>
            </a:solidFill>
            <a:prstDash val="solid"/>
          </a:ln>
        </p:spPr>
        <p:txBody>
          <a:bodyPr/>
          <a:lstStyle/>
          <a:p>
            <a:endParaRPr lang="en-US"/>
          </a:p>
        </p:txBody>
      </p:sp>
      <p:sp>
        <p:nvSpPr>
          <p:cNvPr id="21" name="Shape 17"/>
          <p:cNvSpPr/>
          <p:nvPr/>
        </p:nvSpPr>
        <p:spPr>
          <a:xfrm>
            <a:off x="6381598" y="2809951"/>
            <a:ext cx="28346" cy="685800"/>
          </a:xfrm>
          <a:prstGeom prst="roundRect">
            <a:avLst>
              <a:gd name="adj" fmla="val 203229"/>
            </a:avLst>
          </a:prstGeom>
          <a:solidFill>
            <a:srgbClr val="D62839"/>
          </a:solidFill>
          <a:ln w="12700">
            <a:solidFill>
              <a:srgbClr val="D62839">
                <a:alpha val="0"/>
              </a:srgbClr>
            </a:solidFill>
            <a:prstDash val="solid"/>
          </a:ln>
        </p:spPr>
        <p:txBody>
          <a:bodyPr/>
          <a:lstStyle/>
          <a:p>
            <a:endParaRPr lang="en-US"/>
          </a:p>
        </p:txBody>
      </p:sp>
      <p:sp>
        <p:nvSpPr>
          <p:cNvPr id="22" name="Shape 18"/>
          <p:cNvSpPr/>
          <p:nvPr/>
        </p:nvSpPr>
        <p:spPr>
          <a:xfrm>
            <a:off x="6381598" y="3571646"/>
            <a:ext cx="5048402" cy="685800"/>
          </a:xfrm>
          <a:prstGeom prst="roundRect">
            <a:avLst>
              <a:gd name="adj" fmla="val 8400"/>
            </a:avLst>
          </a:prstGeom>
          <a:solidFill>
            <a:srgbClr val="FFFFFF"/>
          </a:solidFill>
          <a:ln w="12700">
            <a:solidFill>
              <a:srgbClr val="E2E8F0"/>
            </a:solidFill>
            <a:prstDash val="solid"/>
          </a:ln>
        </p:spPr>
        <p:txBody>
          <a:bodyPr/>
          <a:lstStyle/>
          <a:p>
            <a:endParaRPr lang="en-US"/>
          </a:p>
        </p:txBody>
      </p:sp>
      <p:sp>
        <p:nvSpPr>
          <p:cNvPr id="23" name="Shape 19"/>
          <p:cNvSpPr/>
          <p:nvPr/>
        </p:nvSpPr>
        <p:spPr>
          <a:xfrm>
            <a:off x="6381598" y="3571646"/>
            <a:ext cx="28346" cy="685800"/>
          </a:xfrm>
          <a:prstGeom prst="roundRect">
            <a:avLst>
              <a:gd name="adj" fmla="val 203229"/>
            </a:avLst>
          </a:prstGeom>
          <a:solidFill>
            <a:srgbClr val="D62839"/>
          </a:solidFill>
          <a:ln w="12700">
            <a:solidFill>
              <a:srgbClr val="D62839">
                <a:alpha val="0"/>
              </a:srgbClr>
            </a:solidFill>
            <a:prstDash val="solid"/>
          </a:ln>
        </p:spPr>
        <p:txBody>
          <a:bodyPr/>
          <a:lstStyle/>
          <a:p>
            <a:endParaRPr lang="en-US"/>
          </a:p>
        </p:txBody>
      </p:sp>
      <p:sp>
        <p:nvSpPr>
          <p:cNvPr id="24" name="Shape 20"/>
          <p:cNvSpPr/>
          <p:nvPr/>
        </p:nvSpPr>
        <p:spPr>
          <a:xfrm>
            <a:off x="6381598" y="4334256"/>
            <a:ext cx="5048402" cy="685800"/>
          </a:xfrm>
          <a:prstGeom prst="roundRect">
            <a:avLst>
              <a:gd name="adj" fmla="val 8400"/>
            </a:avLst>
          </a:prstGeom>
          <a:solidFill>
            <a:srgbClr val="FFFFFF"/>
          </a:solidFill>
          <a:ln w="12700">
            <a:solidFill>
              <a:srgbClr val="E2E8F0"/>
            </a:solidFill>
            <a:prstDash val="solid"/>
          </a:ln>
        </p:spPr>
        <p:txBody>
          <a:bodyPr/>
          <a:lstStyle/>
          <a:p>
            <a:endParaRPr lang="en-US"/>
          </a:p>
        </p:txBody>
      </p:sp>
      <p:sp>
        <p:nvSpPr>
          <p:cNvPr id="25" name="Shape 21"/>
          <p:cNvSpPr/>
          <p:nvPr/>
        </p:nvSpPr>
        <p:spPr>
          <a:xfrm>
            <a:off x="6381598" y="4334256"/>
            <a:ext cx="28346" cy="685800"/>
          </a:xfrm>
          <a:prstGeom prst="roundRect">
            <a:avLst>
              <a:gd name="adj" fmla="val 203229"/>
            </a:avLst>
          </a:prstGeom>
          <a:solidFill>
            <a:srgbClr val="D62839"/>
          </a:solidFill>
          <a:ln w="12700">
            <a:solidFill>
              <a:srgbClr val="D62839">
                <a:alpha val="0"/>
              </a:srgbClr>
            </a:solidFill>
            <a:prstDash val="solid"/>
          </a:ln>
        </p:spPr>
        <p:txBody>
          <a:bodyPr/>
          <a:lstStyle/>
          <a:p>
            <a:endParaRPr lang="en-US"/>
          </a:p>
        </p:txBody>
      </p:sp>
      <p:sp>
        <p:nvSpPr>
          <p:cNvPr id="26" name="Shape 22"/>
          <p:cNvSpPr/>
          <p:nvPr/>
        </p:nvSpPr>
        <p:spPr>
          <a:xfrm>
            <a:off x="6381598" y="5095951"/>
            <a:ext cx="5048402" cy="685800"/>
          </a:xfrm>
          <a:prstGeom prst="roundRect">
            <a:avLst>
              <a:gd name="adj" fmla="val 8400"/>
            </a:avLst>
          </a:prstGeom>
          <a:solidFill>
            <a:srgbClr val="FFFFFF"/>
          </a:solidFill>
          <a:ln w="12700">
            <a:solidFill>
              <a:srgbClr val="E2E8F0"/>
            </a:solidFill>
            <a:prstDash val="solid"/>
          </a:ln>
        </p:spPr>
        <p:txBody>
          <a:bodyPr/>
          <a:lstStyle/>
          <a:p>
            <a:endParaRPr lang="en-US"/>
          </a:p>
        </p:txBody>
      </p:sp>
      <p:sp>
        <p:nvSpPr>
          <p:cNvPr id="27" name="Shape 23"/>
          <p:cNvSpPr/>
          <p:nvPr/>
        </p:nvSpPr>
        <p:spPr>
          <a:xfrm>
            <a:off x="6381598" y="5095951"/>
            <a:ext cx="28346" cy="685800"/>
          </a:xfrm>
          <a:prstGeom prst="roundRect">
            <a:avLst>
              <a:gd name="adj" fmla="val 203229"/>
            </a:avLst>
          </a:prstGeom>
          <a:solidFill>
            <a:srgbClr val="D62839"/>
          </a:solidFill>
          <a:ln w="12700">
            <a:solidFill>
              <a:srgbClr val="D62839">
                <a:alpha val="0"/>
              </a:srgbClr>
            </a:solidFill>
            <a:prstDash val="solid"/>
          </a:ln>
        </p:spPr>
        <p:txBody>
          <a:bodyPr/>
          <a:lstStyle/>
          <a:p>
            <a:endParaRPr lang="en-US"/>
          </a:p>
        </p:txBody>
      </p:sp>
      <p:sp>
        <p:nvSpPr>
          <p:cNvPr id="28" name="Shape 24"/>
          <p:cNvSpPr/>
          <p:nvPr/>
        </p:nvSpPr>
        <p:spPr>
          <a:xfrm>
            <a:off x="6381598" y="5857646"/>
            <a:ext cx="5048402" cy="685800"/>
          </a:xfrm>
          <a:prstGeom prst="roundRect">
            <a:avLst>
              <a:gd name="adj" fmla="val 8400"/>
            </a:avLst>
          </a:prstGeom>
          <a:solidFill>
            <a:srgbClr val="FFFFFF"/>
          </a:solidFill>
          <a:ln w="12700">
            <a:solidFill>
              <a:srgbClr val="E2E8F0"/>
            </a:solidFill>
            <a:prstDash val="solid"/>
          </a:ln>
        </p:spPr>
        <p:txBody>
          <a:bodyPr/>
          <a:lstStyle/>
          <a:p>
            <a:endParaRPr lang="en-US"/>
          </a:p>
        </p:txBody>
      </p:sp>
      <p:sp>
        <p:nvSpPr>
          <p:cNvPr id="29" name="Shape 25"/>
          <p:cNvSpPr/>
          <p:nvPr/>
        </p:nvSpPr>
        <p:spPr>
          <a:xfrm>
            <a:off x="6381598" y="5857646"/>
            <a:ext cx="28346" cy="685800"/>
          </a:xfrm>
          <a:prstGeom prst="roundRect">
            <a:avLst>
              <a:gd name="adj" fmla="val 203229"/>
            </a:avLst>
          </a:prstGeom>
          <a:solidFill>
            <a:srgbClr val="D62839"/>
          </a:solidFill>
          <a:ln w="12700">
            <a:solidFill>
              <a:srgbClr val="D62839">
                <a:alpha val="0"/>
              </a:srgbClr>
            </a:solidFill>
            <a:prstDash val="solid"/>
          </a:ln>
        </p:spPr>
        <p:txBody>
          <a:bodyPr/>
          <a:lstStyle/>
          <a:p>
            <a:endParaRPr lang="en-US"/>
          </a:p>
        </p:txBody>
      </p:sp>
      <p:pic>
        <p:nvPicPr>
          <p:cNvPr id="30" name="Image 2" descr="gen-dedup-6bfc16d6ff4fed65d6f2f0ea4f4ba268.png"/>
          <p:cNvPicPr>
            <a:picLocks noChangeAspect="1"/>
          </p:cNvPicPr>
          <p:nvPr/>
        </p:nvPicPr>
        <p:blipFill>
          <a:blip r:embed="rId5"/>
          <a:srcRect l="-437" r="-437"/>
          <a:stretch/>
        </p:blipFill>
        <p:spPr>
          <a:xfrm>
            <a:off x="609905" y="390449"/>
            <a:ext cx="57607" cy="418795"/>
          </a:xfrm>
          <a:prstGeom prst="rect">
            <a:avLst/>
          </a:prstGeom>
        </p:spPr>
      </p:pic>
      <p:sp>
        <p:nvSpPr>
          <p:cNvPr id="31" name="Text 26"/>
          <p:cNvSpPr txBox="1"/>
          <p:nvPr/>
        </p:nvSpPr>
        <p:spPr>
          <a:xfrm>
            <a:off x="819302" y="390449"/>
            <a:ext cx="10478110" cy="362102"/>
          </a:xfrm>
          <a:prstGeom prst="rect">
            <a:avLst/>
          </a:prstGeom>
          <a:noFill/>
          <a:ln/>
        </p:spPr>
        <p:txBody>
          <a:bodyPr wrap="none" lIns="0" tIns="0" rIns="0" bIns="0" rtlCol="0" anchor="ctr"/>
          <a:lstStyle/>
          <a:p>
            <a:pPr marL="0" indent="0" algn="l">
              <a:buNone/>
            </a:pPr>
            <a:r>
              <a:rPr lang="en-US" sz="2500" b="1">
                <a:solidFill>
                  <a:srgbClr val="111827"/>
                </a:solidFill>
                <a:latin typeface="Oswald" pitchFamily="34" charset="0"/>
                <a:ea typeface="Oswald" pitchFamily="34" charset="-122"/>
                <a:cs typeface="Oswald" pitchFamily="34" charset="-120"/>
              </a:rPr>
              <a:t>GREENFIELD &amp; BROWNFIELD USE CASES</a:t>
            </a:r>
            <a:endParaRPr lang="en-US" sz="2500"/>
          </a:p>
        </p:txBody>
      </p:sp>
      <p:sp>
        <p:nvSpPr>
          <p:cNvPr id="32" name="Text 27"/>
          <p:cNvSpPr txBox="1"/>
          <p:nvPr/>
        </p:nvSpPr>
        <p:spPr>
          <a:xfrm>
            <a:off x="819302" y="784555"/>
            <a:ext cx="10478110" cy="171907"/>
          </a:xfrm>
          <a:prstGeom prst="rect">
            <a:avLst/>
          </a:prstGeom>
          <a:noFill/>
          <a:ln/>
        </p:spPr>
        <p:txBody>
          <a:bodyPr wrap="none" lIns="0" tIns="0" rIns="0" bIns="0" rtlCol="0" anchor="ctr"/>
          <a:lstStyle/>
          <a:p>
            <a:pPr marL="0" indent="0" algn="l">
              <a:buNone/>
            </a:pPr>
            <a:r>
              <a:rPr lang="en-US" sz="1500" b="1" kern="0" spc="56" dirty="0" err="1">
                <a:solidFill>
                  <a:srgbClr val="2A9D8F"/>
                </a:solidFill>
                <a:latin typeface="Roboto Condensed" pitchFamily="34" charset="0"/>
                <a:ea typeface="Roboto Condensed" pitchFamily="34" charset="-122"/>
                <a:cs typeface="Roboto Condensed" pitchFamily="34" charset="-120"/>
              </a:rPr>
              <a:t>Gcc</a:t>
            </a:r>
            <a:r>
              <a:rPr lang="en-US" sz="1500" b="1" kern="0" spc="56" dirty="0">
                <a:solidFill>
                  <a:srgbClr val="2A9D8F"/>
                </a:solidFill>
                <a:latin typeface="Roboto Condensed" pitchFamily="34" charset="0"/>
                <a:ea typeface="Roboto Condensed" pitchFamily="34" charset="-122"/>
                <a:cs typeface="Roboto Condensed" pitchFamily="34" charset="-120"/>
              </a:rPr>
              <a:t> Strategy &amp; Transformation Pathways</a:t>
            </a:r>
            <a:endParaRPr lang="en-US" sz="1500" dirty="0">
              <a:solidFill>
                <a:srgbClr val="2A9D8F"/>
              </a:solidFill>
            </a:endParaRPr>
          </a:p>
        </p:txBody>
      </p:sp>
      <p:sp>
        <p:nvSpPr>
          <p:cNvPr id="33" name="Text 28"/>
          <p:cNvSpPr txBox="1"/>
          <p:nvPr/>
        </p:nvSpPr>
        <p:spPr>
          <a:xfrm>
            <a:off x="1104595" y="1380744"/>
            <a:ext cx="4553712" cy="342900"/>
          </a:xfrm>
          <a:prstGeom prst="rect">
            <a:avLst/>
          </a:prstGeom>
          <a:noFill/>
          <a:ln/>
        </p:spPr>
        <p:txBody>
          <a:bodyPr wrap="none" lIns="0" tIns="0" rIns="0" bIns="0" rtlCol="0" anchor="ctr"/>
          <a:lstStyle/>
          <a:p>
            <a:pPr marL="0" indent="0" algn="l">
              <a:buNone/>
            </a:pPr>
            <a:r>
              <a:rPr lang="en-US" sz="1800" b="1">
                <a:solidFill>
                  <a:srgbClr val="111827"/>
                </a:solidFill>
                <a:latin typeface="Oswald" pitchFamily="34" charset="0"/>
                <a:ea typeface="Oswald" pitchFamily="34" charset="-122"/>
                <a:cs typeface="Oswald" pitchFamily="34" charset="-120"/>
              </a:rPr>
              <a:t>GREENFIELD</a:t>
            </a:r>
            <a:endParaRPr lang="en-US" sz="1800"/>
          </a:p>
        </p:txBody>
      </p:sp>
      <p:pic>
        <p:nvPicPr>
          <p:cNvPr id="34" name="Image 3" descr="gen-dedup-3063db8b8b54f844b0a7dab11828a6ad.png"/>
          <p:cNvPicPr>
            <a:picLocks noChangeAspect="1"/>
          </p:cNvPicPr>
          <p:nvPr/>
        </p:nvPicPr>
        <p:blipFill>
          <a:blip r:embed="rId6"/>
          <a:srcRect/>
          <a:stretch/>
        </p:blipFill>
        <p:spPr>
          <a:xfrm>
            <a:off x="800100" y="1457554"/>
            <a:ext cx="190195" cy="190195"/>
          </a:xfrm>
          <a:prstGeom prst="rect">
            <a:avLst/>
          </a:prstGeom>
        </p:spPr>
      </p:pic>
      <p:sp>
        <p:nvSpPr>
          <p:cNvPr id="35" name="Text 29"/>
          <p:cNvSpPr txBox="1"/>
          <p:nvPr/>
        </p:nvSpPr>
        <p:spPr>
          <a:xfrm>
            <a:off x="1104595" y="1762049"/>
            <a:ext cx="4553712" cy="152705"/>
          </a:xfrm>
          <a:prstGeom prst="rect">
            <a:avLst/>
          </a:prstGeom>
          <a:noFill/>
          <a:ln/>
        </p:spPr>
        <p:txBody>
          <a:bodyPr wrap="none" lIns="0" tIns="0" rIns="0" bIns="0" rtlCol="0" anchor="ctr"/>
          <a:lstStyle/>
          <a:p>
            <a:pPr marL="0" indent="0" algn="l">
              <a:buNone/>
            </a:pPr>
            <a:r>
              <a:rPr lang="en-US" sz="1000" b="1" i="1">
                <a:solidFill>
                  <a:srgbClr val="475569"/>
                </a:solidFill>
                <a:latin typeface="Raleway" pitchFamily="34" charset="0"/>
                <a:ea typeface="Raleway" pitchFamily="34" charset="-122"/>
                <a:cs typeface="Raleway" pitchFamily="34" charset="-120"/>
              </a:rPr>
              <a:t>Building a new GCC from the ground up</a:t>
            </a:r>
            <a:endParaRPr lang="en-US" sz="1000"/>
          </a:p>
        </p:txBody>
      </p:sp>
      <p:sp>
        <p:nvSpPr>
          <p:cNvPr id="36" name="Shape 30"/>
          <p:cNvSpPr/>
          <p:nvPr/>
        </p:nvSpPr>
        <p:spPr>
          <a:xfrm>
            <a:off x="990295" y="2238451"/>
            <a:ext cx="228600" cy="228600"/>
          </a:xfrm>
          <a:prstGeom prst="ellipse">
            <a:avLst/>
          </a:prstGeom>
          <a:solidFill>
            <a:srgbClr val="2A9D8F"/>
          </a:solidFill>
          <a:ln w="12700">
            <a:solidFill>
              <a:srgbClr val="FFFFFF">
                <a:alpha val="0"/>
              </a:srgbClr>
            </a:solidFill>
            <a:prstDash val="solid"/>
          </a:ln>
        </p:spPr>
        <p:txBody>
          <a:bodyPr/>
          <a:lstStyle/>
          <a:p>
            <a:endParaRPr lang="en-US"/>
          </a:p>
        </p:txBody>
      </p:sp>
      <p:sp>
        <p:nvSpPr>
          <p:cNvPr id="37" name="Text 31"/>
          <p:cNvSpPr/>
          <p:nvPr/>
        </p:nvSpPr>
        <p:spPr>
          <a:xfrm>
            <a:off x="990295" y="2238451"/>
            <a:ext cx="228600" cy="228600"/>
          </a:xfrm>
          <a:prstGeom prst="rect">
            <a:avLst/>
          </a:prstGeom>
          <a:solidFill>
            <a:srgbClr val="FFFFFF">
              <a:alpha val="0"/>
            </a:srgbClr>
          </a:solidFill>
          <a:ln>
            <a:solidFill>
              <a:srgbClr val="FFFFFF">
                <a:alpha val="0"/>
              </a:srgbClr>
            </a:solidFill>
          </a:ln>
        </p:spPr>
        <p:txBody>
          <a:bodyPr wrap="none" lIns="0" tIns="0" rIns="0" bIns="0" rtlCol="0" anchor="ctr"/>
          <a:lstStyle/>
          <a:p>
            <a:pPr marL="0" indent="0" algn="ctr">
              <a:buNone/>
            </a:pPr>
            <a:r>
              <a:rPr lang="en-US" sz="900" b="1">
                <a:solidFill>
                  <a:srgbClr val="FFFFFF"/>
                </a:solidFill>
                <a:latin typeface="Oswald" pitchFamily="34" charset="0"/>
                <a:ea typeface="Oswald" pitchFamily="34" charset="-122"/>
                <a:cs typeface="Oswald" pitchFamily="34" charset="-120"/>
              </a:rPr>
              <a:t>1</a:t>
            </a:r>
            <a:endParaRPr lang="en-US" sz="900"/>
          </a:p>
        </p:txBody>
      </p:sp>
      <p:sp>
        <p:nvSpPr>
          <p:cNvPr id="38" name="Text 32"/>
          <p:cNvSpPr txBox="1"/>
          <p:nvPr/>
        </p:nvSpPr>
        <p:spPr>
          <a:xfrm>
            <a:off x="1333195" y="2238451"/>
            <a:ext cx="4321454" cy="200254"/>
          </a:xfrm>
          <a:prstGeom prst="rect">
            <a:avLst/>
          </a:prstGeom>
          <a:noFill/>
          <a:ln/>
        </p:spPr>
        <p:txBody>
          <a:bodyPr wrap="none" lIns="0" tIns="0" rIns="0" bIns="0" rtlCol="0" anchor="ctr"/>
          <a:lstStyle/>
          <a:p>
            <a:pPr marL="0" indent="0" algn="l">
              <a:buNone/>
            </a:pPr>
            <a:r>
              <a:rPr lang="en-US" sz="1200" b="1">
                <a:solidFill>
                  <a:srgbClr val="1F2937"/>
                </a:solidFill>
                <a:latin typeface="Raleway" pitchFamily="34" charset="0"/>
                <a:ea typeface="Raleway" pitchFamily="34" charset="-122"/>
                <a:cs typeface="Raleway" pitchFamily="34" charset="-120"/>
              </a:rPr>
              <a:t>Establish a new GCC that is AI-native from day one</a:t>
            </a:r>
            <a:endParaRPr lang="en-US" sz="1200"/>
          </a:p>
        </p:txBody>
      </p:sp>
      <p:sp>
        <p:nvSpPr>
          <p:cNvPr id="39" name="Shape 33"/>
          <p:cNvSpPr/>
          <p:nvPr/>
        </p:nvSpPr>
        <p:spPr>
          <a:xfrm>
            <a:off x="1333195" y="2581351"/>
            <a:ext cx="4134002" cy="342900"/>
          </a:xfrm>
          <a:prstGeom prst="roundRect">
            <a:avLst>
              <a:gd name="adj" fmla="val 11200"/>
            </a:avLst>
          </a:prstGeom>
          <a:solidFill>
            <a:srgbClr val="F8FAFC"/>
          </a:solidFill>
          <a:ln/>
        </p:spPr>
        <p:txBody>
          <a:bodyPr/>
          <a:lstStyle/>
          <a:p>
            <a:endParaRPr lang="en-US"/>
          </a:p>
        </p:txBody>
      </p:sp>
      <p:sp>
        <p:nvSpPr>
          <p:cNvPr id="40" name="Shape 34"/>
          <p:cNvSpPr/>
          <p:nvPr/>
        </p:nvSpPr>
        <p:spPr>
          <a:xfrm>
            <a:off x="1333195" y="2581351"/>
            <a:ext cx="19202" cy="342900"/>
          </a:xfrm>
          <a:prstGeom prst="roundRect">
            <a:avLst>
              <a:gd name="adj" fmla="val 200004"/>
            </a:avLst>
          </a:prstGeom>
          <a:solidFill>
            <a:srgbClr val="94A3B8"/>
          </a:solidFill>
          <a:ln w="12700">
            <a:solidFill>
              <a:srgbClr val="94A3B8">
                <a:alpha val="0"/>
              </a:srgbClr>
            </a:solidFill>
            <a:prstDash val="solid"/>
          </a:ln>
        </p:spPr>
        <p:txBody>
          <a:bodyPr/>
          <a:lstStyle/>
          <a:p>
            <a:endParaRPr lang="en-US"/>
          </a:p>
        </p:txBody>
      </p:sp>
      <p:sp>
        <p:nvSpPr>
          <p:cNvPr id="41" name="Text 35"/>
          <p:cNvSpPr txBox="1"/>
          <p:nvPr/>
        </p:nvSpPr>
        <p:spPr>
          <a:xfrm>
            <a:off x="1719072" y="2676449"/>
            <a:ext cx="3615538" cy="152705"/>
          </a:xfrm>
          <a:prstGeom prst="rect">
            <a:avLst/>
          </a:prstGeom>
          <a:noFill/>
          <a:ln/>
        </p:spPr>
        <p:txBody>
          <a:bodyPr wrap="none" lIns="0" tIns="0" rIns="0" bIns="0" rtlCol="0" anchor="ctr"/>
          <a:lstStyle/>
          <a:p>
            <a:pPr marL="0" indent="0" algn="l">
              <a:buNone/>
            </a:pPr>
            <a:r>
              <a:rPr lang="en-US" sz="1000" b="1" kern="0" spc="52">
                <a:solidFill>
                  <a:srgbClr val="2A9D8F"/>
                </a:solidFill>
                <a:latin typeface="Roboto Condensed" pitchFamily="34" charset="0"/>
                <a:ea typeface="Roboto Condensed" pitchFamily="34" charset="-122"/>
                <a:cs typeface="Roboto Condensed" pitchFamily="34" charset="-120"/>
              </a:rPr>
              <a:t>Time to first value</a:t>
            </a:r>
            <a:endParaRPr lang="en-US" sz="1000"/>
          </a:p>
        </p:txBody>
      </p:sp>
      <p:pic>
        <p:nvPicPr>
          <p:cNvPr id="42" name="Image 4" descr="gen-dedup-51560749890e099b4f0b94d98ab81c97.png"/>
          <p:cNvPicPr>
            <a:picLocks noChangeAspect="1"/>
          </p:cNvPicPr>
          <p:nvPr/>
        </p:nvPicPr>
        <p:blipFill>
          <a:blip r:embed="rId7"/>
          <a:srcRect l="-3425" r="-3425"/>
          <a:stretch/>
        </p:blipFill>
        <p:spPr>
          <a:xfrm>
            <a:off x="1485900" y="2683764"/>
            <a:ext cx="142646" cy="133502"/>
          </a:xfrm>
          <a:prstGeom prst="rect">
            <a:avLst/>
          </a:prstGeom>
        </p:spPr>
      </p:pic>
      <p:sp>
        <p:nvSpPr>
          <p:cNvPr id="43" name="Shape 36"/>
          <p:cNvSpPr/>
          <p:nvPr/>
        </p:nvSpPr>
        <p:spPr>
          <a:xfrm>
            <a:off x="990295" y="3666744"/>
            <a:ext cx="228600" cy="228600"/>
          </a:xfrm>
          <a:prstGeom prst="ellipse">
            <a:avLst/>
          </a:prstGeom>
          <a:solidFill>
            <a:srgbClr val="2A9D8F"/>
          </a:solidFill>
          <a:ln w="12700">
            <a:solidFill>
              <a:srgbClr val="FFFFFF">
                <a:alpha val="0"/>
              </a:srgbClr>
            </a:solidFill>
            <a:prstDash val="solid"/>
          </a:ln>
        </p:spPr>
        <p:txBody>
          <a:bodyPr/>
          <a:lstStyle/>
          <a:p>
            <a:endParaRPr lang="en-US"/>
          </a:p>
        </p:txBody>
      </p:sp>
      <p:sp>
        <p:nvSpPr>
          <p:cNvPr id="44" name="Text 37"/>
          <p:cNvSpPr/>
          <p:nvPr/>
        </p:nvSpPr>
        <p:spPr>
          <a:xfrm>
            <a:off x="990295" y="3666744"/>
            <a:ext cx="228600" cy="228600"/>
          </a:xfrm>
          <a:prstGeom prst="rect">
            <a:avLst/>
          </a:prstGeom>
          <a:solidFill>
            <a:srgbClr val="FFFFFF">
              <a:alpha val="0"/>
            </a:srgbClr>
          </a:solidFill>
          <a:ln>
            <a:solidFill>
              <a:srgbClr val="FFFFFF">
                <a:alpha val="0"/>
              </a:srgbClr>
            </a:solidFill>
          </a:ln>
        </p:spPr>
        <p:txBody>
          <a:bodyPr wrap="none" lIns="0" tIns="0" rIns="0" bIns="0" rtlCol="0" anchor="ctr"/>
          <a:lstStyle/>
          <a:p>
            <a:pPr marL="0" indent="0" algn="ctr">
              <a:buNone/>
            </a:pPr>
            <a:r>
              <a:rPr lang="en-US" sz="900" b="1">
                <a:solidFill>
                  <a:srgbClr val="FFFFFF"/>
                </a:solidFill>
                <a:latin typeface="Oswald" pitchFamily="34" charset="0"/>
                <a:ea typeface="Oswald" pitchFamily="34" charset="-122"/>
                <a:cs typeface="Oswald" pitchFamily="34" charset="-120"/>
              </a:rPr>
              <a:t>2</a:t>
            </a:r>
            <a:endParaRPr lang="en-US" sz="900"/>
          </a:p>
        </p:txBody>
      </p:sp>
      <p:sp>
        <p:nvSpPr>
          <p:cNvPr id="45" name="Text 38"/>
          <p:cNvSpPr txBox="1"/>
          <p:nvPr/>
        </p:nvSpPr>
        <p:spPr>
          <a:xfrm>
            <a:off x="1333195" y="3666744"/>
            <a:ext cx="4648810" cy="200254"/>
          </a:xfrm>
          <a:prstGeom prst="rect">
            <a:avLst/>
          </a:prstGeom>
          <a:noFill/>
          <a:ln/>
        </p:spPr>
        <p:txBody>
          <a:bodyPr wrap="none" lIns="0" tIns="0" rIns="0" bIns="0" rtlCol="0" anchor="ctr"/>
          <a:lstStyle/>
          <a:p>
            <a:pPr marL="0" indent="0" algn="l">
              <a:buNone/>
            </a:pPr>
            <a:r>
              <a:rPr lang="en-US" sz="1200" b="1">
                <a:solidFill>
                  <a:srgbClr val="1F2937"/>
                </a:solidFill>
                <a:latin typeface="Raleway" pitchFamily="34" charset="0"/>
                <a:ea typeface="Raleway" pitchFamily="34" charset="-122"/>
                <a:cs typeface="Raleway" pitchFamily="34" charset="-120"/>
              </a:rPr>
              <a:t>Stand up a capability or engineering function at speed</a:t>
            </a:r>
            <a:endParaRPr lang="en-US" sz="1200"/>
          </a:p>
        </p:txBody>
      </p:sp>
      <p:sp>
        <p:nvSpPr>
          <p:cNvPr id="46" name="Shape 39"/>
          <p:cNvSpPr/>
          <p:nvPr/>
        </p:nvSpPr>
        <p:spPr>
          <a:xfrm>
            <a:off x="1333195" y="4009644"/>
            <a:ext cx="4134002" cy="342900"/>
          </a:xfrm>
          <a:prstGeom prst="roundRect">
            <a:avLst>
              <a:gd name="adj" fmla="val 11200"/>
            </a:avLst>
          </a:prstGeom>
          <a:solidFill>
            <a:srgbClr val="F8FAFC"/>
          </a:solidFill>
          <a:ln/>
        </p:spPr>
        <p:txBody>
          <a:bodyPr/>
          <a:lstStyle/>
          <a:p>
            <a:endParaRPr lang="en-US"/>
          </a:p>
        </p:txBody>
      </p:sp>
      <p:sp>
        <p:nvSpPr>
          <p:cNvPr id="47" name="Shape 40"/>
          <p:cNvSpPr/>
          <p:nvPr/>
        </p:nvSpPr>
        <p:spPr>
          <a:xfrm>
            <a:off x="1333195" y="4009644"/>
            <a:ext cx="19202" cy="342900"/>
          </a:xfrm>
          <a:prstGeom prst="roundRect">
            <a:avLst>
              <a:gd name="adj" fmla="val 200004"/>
            </a:avLst>
          </a:prstGeom>
          <a:solidFill>
            <a:srgbClr val="94A3B8"/>
          </a:solidFill>
          <a:ln w="12700">
            <a:solidFill>
              <a:srgbClr val="94A3B8">
                <a:alpha val="0"/>
              </a:srgbClr>
            </a:solidFill>
            <a:prstDash val="solid"/>
          </a:ln>
        </p:spPr>
        <p:txBody>
          <a:bodyPr/>
          <a:lstStyle/>
          <a:p>
            <a:endParaRPr lang="en-US"/>
          </a:p>
        </p:txBody>
      </p:sp>
      <p:sp>
        <p:nvSpPr>
          <p:cNvPr id="48" name="Text 41"/>
          <p:cNvSpPr txBox="1"/>
          <p:nvPr/>
        </p:nvSpPr>
        <p:spPr>
          <a:xfrm>
            <a:off x="1751990" y="4105656"/>
            <a:ext cx="3582619" cy="152705"/>
          </a:xfrm>
          <a:prstGeom prst="rect">
            <a:avLst/>
          </a:prstGeom>
          <a:noFill/>
          <a:ln/>
        </p:spPr>
        <p:txBody>
          <a:bodyPr wrap="none" lIns="0" tIns="0" rIns="0" bIns="0" rtlCol="0" anchor="ctr"/>
          <a:lstStyle/>
          <a:p>
            <a:pPr marL="0" indent="0" algn="l">
              <a:buNone/>
            </a:pPr>
            <a:r>
              <a:rPr lang="en-US" sz="1000" b="1" kern="0" spc="52">
                <a:solidFill>
                  <a:srgbClr val="2A9D8F"/>
                </a:solidFill>
                <a:latin typeface="Roboto Condensed" pitchFamily="34" charset="0"/>
                <a:ea typeface="Roboto Condensed" pitchFamily="34" charset="-122"/>
                <a:cs typeface="Roboto Condensed" pitchFamily="34" charset="-120"/>
              </a:rPr>
              <a:t>300 engineers in 60 days, 0% attrition</a:t>
            </a:r>
            <a:endParaRPr lang="en-US" sz="1000"/>
          </a:p>
        </p:txBody>
      </p:sp>
      <p:pic>
        <p:nvPicPr>
          <p:cNvPr id="49" name="Image 5" descr="gen-dedup-2884c36795c02f4b5ed120dc5847c6b9.png"/>
          <p:cNvPicPr>
            <a:picLocks noChangeAspect="1"/>
          </p:cNvPicPr>
          <p:nvPr/>
        </p:nvPicPr>
        <p:blipFill>
          <a:blip r:embed="rId8"/>
          <a:srcRect l="-1507" r="-1507"/>
          <a:stretch/>
        </p:blipFill>
        <p:spPr>
          <a:xfrm>
            <a:off x="1485900" y="4112057"/>
            <a:ext cx="171907" cy="133502"/>
          </a:xfrm>
          <a:prstGeom prst="rect">
            <a:avLst/>
          </a:prstGeom>
        </p:spPr>
      </p:pic>
      <p:sp>
        <p:nvSpPr>
          <p:cNvPr id="50" name="Shape 42"/>
          <p:cNvSpPr/>
          <p:nvPr/>
        </p:nvSpPr>
        <p:spPr>
          <a:xfrm>
            <a:off x="990295" y="5095951"/>
            <a:ext cx="228600" cy="228600"/>
          </a:xfrm>
          <a:prstGeom prst="ellipse">
            <a:avLst/>
          </a:prstGeom>
          <a:solidFill>
            <a:srgbClr val="2A9D8F"/>
          </a:solidFill>
          <a:ln w="12700">
            <a:solidFill>
              <a:srgbClr val="FFFFFF">
                <a:alpha val="0"/>
              </a:srgbClr>
            </a:solidFill>
            <a:prstDash val="solid"/>
          </a:ln>
        </p:spPr>
        <p:txBody>
          <a:bodyPr/>
          <a:lstStyle/>
          <a:p>
            <a:endParaRPr lang="en-US"/>
          </a:p>
        </p:txBody>
      </p:sp>
      <p:sp>
        <p:nvSpPr>
          <p:cNvPr id="51" name="Text 43"/>
          <p:cNvSpPr/>
          <p:nvPr/>
        </p:nvSpPr>
        <p:spPr>
          <a:xfrm>
            <a:off x="990295" y="5095951"/>
            <a:ext cx="228600" cy="228600"/>
          </a:xfrm>
          <a:prstGeom prst="rect">
            <a:avLst/>
          </a:prstGeom>
          <a:solidFill>
            <a:srgbClr val="FFFFFF">
              <a:alpha val="0"/>
            </a:srgbClr>
          </a:solidFill>
          <a:ln>
            <a:solidFill>
              <a:srgbClr val="FFFFFF">
                <a:alpha val="0"/>
              </a:srgbClr>
            </a:solidFill>
          </a:ln>
        </p:spPr>
        <p:txBody>
          <a:bodyPr wrap="none" lIns="0" tIns="0" rIns="0" bIns="0" rtlCol="0" anchor="ctr"/>
          <a:lstStyle/>
          <a:p>
            <a:pPr marL="0" indent="0" algn="ctr">
              <a:buNone/>
            </a:pPr>
            <a:r>
              <a:rPr lang="en-US" sz="900" b="1">
                <a:solidFill>
                  <a:srgbClr val="FFFFFF"/>
                </a:solidFill>
                <a:latin typeface="Oswald" pitchFamily="34" charset="0"/>
                <a:ea typeface="Oswald" pitchFamily="34" charset="-122"/>
                <a:cs typeface="Oswald" pitchFamily="34" charset="-120"/>
              </a:rPr>
              <a:t>3</a:t>
            </a:r>
            <a:endParaRPr lang="en-US" sz="900"/>
          </a:p>
        </p:txBody>
      </p:sp>
      <p:sp>
        <p:nvSpPr>
          <p:cNvPr id="52" name="Text 44"/>
          <p:cNvSpPr txBox="1"/>
          <p:nvPr/>
        </p:nvSpPr>
        <p:spPr>
          <a:xfrm>
            <a:off x="1333195" y="5095951"/>
            <a:ext cx="4134002" cy="400507"/>
          </a:xfrm>
          <a:prstGeom prst="rect">
            <a:avLst/>
          </a:prstGeom>
          <a:noFill/>
          <a:ln/>
        </p:spPr>
        <p:txBody>
          <a:bodyPr wrap="square" lIns="0" tIns="0" rIns="0" bIns="0" rtlCol="0" anchor="ctr"/>
          <a:lstStyle/>
          <a:p>
            <a:pPr marL="0" indent="0" algn="l">
              <a:buNone/>
            </a:pPr>
            <a:r>
              <a:rPr lang="en-US" sz="1200" b="1">
                <a:solidFill>
                  <a:srgbClr val="1F2937"/>
                </a:solidFill>
                <a:latin typeface="Raleway" pitchFamily="34" charset="0"/>
                <a:ea typeface="Raleway" pitchFamily="34" charset="-122"/>
                <a:cs typeface="Raleway" pitchFamily="34" charset="-120"/>
              </a:rPr>
              <a:t>Establish a function-specific capability centre as AI-native</a:t>
            </a:r>
            <a:endParaRPr lang="en-US" sz="1200"/>
          </a:p>
        </p:txBody>
      </p:sp>
      <p:sp>
        <p:nvSpPr>
          <p:cNvPr id="53" name="Shape 45"/>
          <p:cNvSpPr/>
          <p:nvPr/>
        </p:nvSpPr>
        <p:spPr>
          <a:xfrm>
            <a:off x="1333195" y="5606186"/>
            <a:ext cx="4134002" cy="342900"/>
          </a:xfrm>
          <a:prstGeom prst="roundRect">
            <a:avLst>
              <a:gd name="adj" fmla="val 11200"/>
            </a:avLst>
          </a:prstGeom>
          <a:solidFill>
            <a:srgbClr val="F8FAFC"/>
          </a:solidFill>
          <a:ln/>
        </p:spPr>
        <p:txBody>
          <a:bodyPr/>
          <a:lstStyle/>
          <a:p>
            <a:endParaRPr lang="en-US"/>
          </a:p>
        </p:txBody>
      </p:sp>
      <p:sp>
        <p:nvSpPr>
          <p:cNvPr id="54" name="Shape 46"/>
          <p:cNvSpPr/>
          <p:nvPr/>
        </p:nvSpPr>
        <p:spPr>
          <a:xfrm>
            <a:off x="1333195" y="5606186"/>
            <a:ext cx="19202" cy="342900"/>
          </a:xfrm>
          <a:prstGeom prst="roundRect">
            <a:avLst>
              <a:gd name="adj" fmla="val 200004"/>
            </a:avLst>
          </a:prstGeom>
          <a:solidFill>
            <a:srgbClr val="94A3B8"/>
          </a:solidFill>
          <a:ln w="12700">
            <a:solidFill>
              <a:srgbClr val="94A3B8">
                <a:alpha val="0"/>
              </a:srgbClr>
            </a:solidFill>
            <a:prstDash val="solid"/>
          </a:ln>
        </p:spPr>
        <p:txBody>
          <a:bodyPr/>
          <a:lstStyle/>
          <a:p>
            <a:endParaRPr lang="en-US"/>
          </a:p>
        </p:txBody>
      </p:sp>
      <p:sp>
        <p:nvSpPr>
          <p:cNvPr id="55" name="Text 47"/>
          <p:cNvSpPr txBox="1"/>
          <p:nvPr/>
        </p:nvSpPr>
        <p:spPr>
          <a:xfrm>
            <a:off x="1723644" y="5701284"/>
            <a:ext cx="3610966" cy="152705"/>
          </a:xfrm>
          <a:prstGeom prst="rect">
            <a:avLst/>
          </a:prstGeom>
          <a:noFill/>
          <a:ln/>
        </p:spPr>
        <p:txBody>
          <a:bodyPr wrap="none" lIns="0" tIns="0" rIns="0" bIns="0" rtlCol="0" anchor="ctr"/>
          <a:lstStyle/>
          <a:p>
            <a:pPr marL="0" indent="0" algn="l">
              <a:buNone/>
            </a:pPr>
            <a:r>
              <a:rPr lang="en-US" sz="1000" b="1" kern="0" spc="52">
                <a:solidFill>
                  <a:srgbClr val="2A9D8F"/>
                </a:solidFill>
                <a:latin typeface="Roboto Condensed" pitchFamily="34" charset="0"/>
                <a:ea typeface="Roboto Condensed" pitchFamily="34" charset="-122"/>
                <a:cs typeface="Roboto Condensed" pitchFamily="34" charset="-120"/>
              </a:rPr>
              <a:t>23% lead time reduction</a:t>
            </a:r>
            <a:endParaRPr lang="en-US" sz="1000"/>
          </a:p>
        </p:txBody>
      </p:sp>
      <p:pic>
        <p:nvPicPr>
          <p:cNvPr id="56" name="Image 6" descr="gen-dedup-2036ae2e9c63f2cd93ec60dae03cb4ac.png"/>
          <p:cNvPicPr>
            <a:picLocks noChangeAspect="1"/>
          </p:cNvPicPr>
          <p:nvPr/>
        </p:nvPicPr>
        <p:blipFill>
          <a:blip r:embed="rId9"/>
          <a:srcRect l="-3425" r="-3425"/>
          <a:stretch/>
        </p:blipFill>
        <p:spPr>
          <a:xfrm>
            <a:off x="1485900" y="5708599"/>
            <a:ext cx="142646" cy="133502"/>
          </a:xfrm>
          <a:prstGeom prst="rect">
            <a:avLst/>
          </a:prstGeom>
        </p:spPr>
      </p:pic>
      <p:sp>
        <p:nvSpPr>
          <p:cNvPr id="57" name="Text 48"/>
          <p:cNvSpPr txBox="1"/>
          <p:nvPr/>
        </p:nvSpPr>
        <p:spPr>
          <a:xfrm>
            <a:off x="6733642" y="1380744"/>
            <a:ext cx="4658868" cy="342900"/>
          </a:xfrm>
          <a:prstGeom prst="rect">
            <a:avLst/>
          </a:prstGeom>
          <a:noFill/>
          <a:ln/>
        </p:spPr>
        <p:txBody>
          <a:bodyPr wrap="none" lIns="0" tIns="0" rIns="0" bIns="0" rtlCol="0" anchor="ctr"/>
          <a:lstStyle/>
          <a:p>
            <a:pPr marL="0" indent="0" algn="l">
              <a:buNone/>
            </a:pPr>
            <a:r>
              <a:rPr lang="en-US" sz="1800" b="1">
                <a:solidFill>
                  <a:srgbClr val="111827"/>
                </a:solidFill>
                <a:latin typeface="Oswald" pitchFamily="34" charset="0"/>
                <a:ea typeface="Oswald" pitchFamily="34" charset="-122"/>
                <a:cs typeface="Oswald" pitchFamily="34" charset="-120"/>
              </a:rPr>
              <a:t>BROWNFIELD</a:t>
            </a:r>
            <a:endParaRPr lang="en-US" sz="1800"/>
          </a:p>
        </p:txBody>
      </p:sp>
      <p:pic>
        <p:nvPicPr>
          <p:cNvPr id="58" name="Image 7" descr="gen-dedup-82a1fdef16b450831e091d4acdf0fd27.png"/>
          <p:cNvPicPr>
            <a:picLocks noChangeAspect="1"/>
          </p:cNvPicPr>
          <p:nvPr/>
        </p:nvPicPr>
        <p:blipFill>
          <a:blip r:embed="rId10"/>
          <a:srcRect/>
          <a:stretch/>
        </p:blipFill>
        <p:spPr>
          <a:xfrm>
            <a:off x="6381598" y="1457554"/>
            <a:ext cx="237744" cy="190195"/>
          </a:xfrm>
          <a:prstGeom prst="rect">
            <a:avLst/>
          </a:prstGeom>
        </p:spPr>
      </p:pic>
      <p:sp>
        <p:nvSpPr>
          <p:cNvPr id="59" name="Text 49"/>
          <p:cNvSpPr txBox="1"/>
          <p:nvPr/>
        </p:nvSpPr>
        <p:spPr>
          <a:xfrm>
            <a:off x="6687007" y="1762049"/>
            <a:ext cx="4705502" cy="152705"/>
          </a:xfrm>
          <a:prstGeom prst="rect">
            <a:avLst/>
          </a:prstGeom>
          <a:noFill/>
          <a:ln/>
        </p:spPr>
        <p:txBody>
          <a:bodyPr wrap="none" lIns="0" tIns="0" rIns="0" bIns="0" rtlCol="0" anchor="ctr"/>
          <a:lstStyle/>
          <a:p>
            <a:pPr marL="0" indent="0" algn="l">
              <a:buNone/>
            </a:pPr>
            <a:r>
              <a:rPr lang="en-US" sz="1000" b="1" i="1">
                <a:solidFill>
                  <a:srgbClr val="475569"/>
                </a:solidFill>
                <a:latin typeface="Raleway" pitchFamily="34" charset="0"/>
                <a:ea typeface="Raleway" pitchFamily="34" charset="-122"/>
                <a:cs typeface="Raleway" pitchFamily="34" charset="-120"/>
              </a:rPr>
              <a:t>For enterprises whose GCC already runs</a:t>
            </a:r>
            <a:endParaRPr lang="en-US" sz="1000"/>
          </a:p>
        </p:txBody>
      </p:sp>
      <p:sp>
        <p:nvSpPr>
          <p:cNvPr id="60" name="Shape 50"/>
          <p:cNvSpPr/>
          <p:nvPr/>
        </p:nvSpPr>
        <p:spPr>
          <a:xfrm>
            <a:off x="6524244" y="2239366"/>
            <a:ext cx="190195" cy="190195"/>
          </a:xfrm>
          <a:prstGeom prst="ellipse">
            <a:avLst/>
          </a:prstGeom>
          <a:solidFill>
            <a:srgbClr val="D62839"/>
          </a:solidFill>
          <a:ln w="12700">
            <a:solidFill>
              <a:srgbClr val="FFFFFF">
                <a:alpha val="0"/>
              </a:srgbClr>
            </a:solidFill>
            <a:prstDash val="solid"/>
          </a:ln>
        </p:spPr>
        <p:txBody>
          <a:bodyPr/>
          <a:lstStyle/>
          <a:p>
            <a:endParaRPr lang="en-US"/>
          </a:p>
        </p:txBody>
      </p:sp>
      <p:sp>
        <p:nvSpPr>
          <p:cNvPr id="61" name="Text 51"/>
          <p:cNvSpPr/>
          <p:nvPr/>
        </p:nvSpPr>
        <p:spPr>
          <a:xfrm>
            <a:off x="6524244" y="2239366"/>
            <a:ext cx="191110" cy="191110"/>
          </a:xfrm>
          <a:prstGeom prst="rect">
            <a:avLst/>
          </a:prstGeom>
          <a:solidFill>
            <a:srgbClr val="FFFFFF">
              <a:alpha val="0"/>
            </a:srgbClr>
          </a:solidFill>
          <a:ln>
            <a:solidFill>
              <a:srgbClr val="FFFFFF">
                <a:alpha val="0"/>
              </a:srgbClr>
            </a:solidFill>
          </a:ln>
        </p:spPr>
        <p:txBody>
          <a:bodyPr wrap="none" lIns="0" tIns="0" rIns="0" bIns="0" rtlCol="0" anchor="ctr"/>
          <a:lstStyle/>
          <a:p>
            <a:pPr marL="0" indent="0" algn="ctr">
              <a:buNone/>
            </a:pPr>
            <a:r>
              <a:rPr lang="en-US" sz="800" b="1">
                <a:solidFill>
                  <a:srgbClr val="FFFFFF"/>
                </a:solidFill>
                <a:latin typeface="Oswald" pitchFamily="34" charset="0"/>
                <a:ea typeface="Oswald" pitchFamily="34" charset="-122"/>
                <a:cs typeface="Oswald" pitchFamily="34" charset="-120"/>
              </a:rPr>
              <a:t>1</a:t>
            </a:r>
            <a:endParaRPr lang="en-US" sz="800"/>
          </a:p>
        </p:txBody>
      </p:sp>
      <p:sp>
        <p:nvSpPr>
          <p:cNvPr id="62" name="Text 52"/>
          <p:cNvSpPr txBox="1"/>
          <p:nvPr/>
        </p:nvSpPr>
        <p:spPr>
          <a:xfrm>
            <a:off x="6829654" y="2220163"/>
            <a:ext cx="2791663" cy="324612"/>
          </a:xfrm>
          <a:prstGeom prst="rect">
            <a:avLst/>
          </a:prstGeom>
          <a:noFill/>
          <a:ln/>
        </p:spPr>
        <p:txBody>
          <a:bodyPr wrap="square" lIns="0" tIns="0" rIns="0" bIns="0" rtlCol="0" anchor="ctr"/>
          <a:lstStyle/>
          <a:p>
            <a:pPr marL="0" indent="0" algn="l">
              <a:buNone/>
            </a:pPr>
            <a:r>
              <a:rPr lang="en-US" sz="900" b="1">
                <a:solidFill>
                  <a:srgbClr val="1F2937"/>
                </a:solidFill>
                <a:latin typeface="Raleway" pitchFamily="34" charset="0"/>
                <a:ea typeface="Raleway" pitchFamily="34" charset="-122"/>
                <a:cs typeface="Raleway" pitchFamily="34" charset="-120"/>
              </a:rPr>
              <a:t>Shift the GCC operating model from delivery to AI-native ownership</a:t>
            </a:r>
            <a:endParaRPr lang="en-US" sz="900"/>
          </a:p>
        </p:txBody>
      </p:sp>
      <p:sp>
        <p:nvSpPr>
          <p:cNvPr id="63" name="Shape 53"/>
          <p:cNvSpPr/>
          <p:nvPr/>
        </p:nvSpPr>
        <p:spPr>
          <a:xfrm>
            <a:off x="9763049" y="2257654"/>
            <a:ext cx="1524305" cy="247802"/>
          </a:xfrm>
          <a:prstGeom prst="roundRect">
            <a:avLst>
              <a:gd name="adj" fmla="val 15498"/>
            </a:avLst>
          </a:prstGeom>
          <a:solidFill>
            <a:srgbClr val="FFF1F2"/>
          </a:solidFill>
          <a:ln w="12700">
            <a:solidFill>
              <a:srgbClr val="FFFFFF">
                <a:alpha val="0"/>
              </a:srgbClr>
            </a:solidFill>
            <a:prstDash val="solid"/>
          </a:ln>
        </p:spPr>
        <p:txBody>
          <a:bodyPr/>
          <a:lstStyle/>
          <a:p>
            <a:endParaRPr lang="en-US"/>
          </a:p>
        </p:txBody>
      </p:sp>
      <p:sp>
        <p:nvSpPr>
          <p:cNvPr id="64" name="Text 54"/>
          <p:cNvSpPr txBox="1"/>
          <p:nvPr/>
        </p:nvSpPr>
        <p:spPr>
          <a:xfrm>
            <a:off x="9583826" y="2314346"/>
            <a:ext cx="1608430" cy="133502"/>
          </a:xfrm>
          <a:prstGeom prst="rect">
            <a:avLst/>
          </a:prstGeom>
          <a:noFill/>
          <a:ln/>
        </p:spPr>
        <p:txBody>
          <a:bodyPr wrap="none" lIns="0" tIns="0" rIns="0" bIns="0" rtlCol="0" anchor="ctr"/>
          <a:lstStyle/>
          <a:p>
            <a:pPr marL="0" indent="0" algn="r">
              <a:buNone/>
            </a:pPr>
            <a:r>
              <a:rPr lang="en-US" sz="900" b="1">
                <a:solidFill>
                  <a:srgbClr val="D62839"/>
                </a:solidFill>
                <a:latin typeface="Roboto Condensed" pitchFamily="34" charset="0"/>
                <a:ea typeface="Roboto Condensed" pitchFamily="34" charset="-122"/>
                <a:cs typeface="Roboto Condensed" pitchFamily="34" charset="-120"/>
              </a:rPr>
              <a:t>99.8% SLA compliance</a:t>
            </a:r>
            <a:endParaRPr lang="en-US" sz="900"/>
          </a:p>
        </p:txBody>
      </p:sp>
      <p:sp>
        <p:nvSpPr>
          <p:cNvPr id="65" name="Shape 55"/>
          <p:cNvSpPr/>
          <p:nvPr/>
        </p:nvSpPr>
        <p:spPr>
          <a:xfrm>
            <a:off x="6524244" y="3057754"/>
            <a:ext cx="190195" cy="190195"/>
          </a:xfrm>
          <a:prstGeom prst="ellipse">
            <a:avLst/>
          </a:prstGeom>
          <a:solidFill>
            <a:srgbClr val="D62839"/>
          </a:solidFill>
          <a:ln w="12700">
            <a:solidFill>
              <a:srgbClr val="FFFFFF">
                <a:alpha val="0"/>
              </a:srgbClr>
            </a:solidFill>
            <a:prstDash val="solid"/>
          </a:ln>
        </p:spPr>
        <p:txBody>
          <a:bodyPr/>
          <a:lstStyle/>
          <a:p>
            <a:endParaRPr lang="en-US"/>
          </a:p>
        </p:txBody>
      </p:sp>
      <p:sp>
        <p:nvSpPr>
          <p:cNvPr id="66" name="Text 56"/>
          <p:cNvSpPr/>
          <p:nvPr/>
        </p:nvSpPr>
        <p:spPr>
          <a:xfrm>
            <a:off x="6524244" y="3057754"/>
            <a:ext cx="191110" cy="191110"/>
          </a:xfrm>
          <a:prstGeom prst="rect">
            <a:avLst/>
          </a:prstGeom>
          <a:solidFill>
            <a:srgbClr val="FFFFFF">
              <a:alpha val="0"/>
            </a:srgbClr>
          </a:solidFill>
          <a:ln>
            <a:solidFill>
              <a:srgbClr val="FFFFFF">
                <a:alpha val="0"/>
              </a:srgbClr>
            </a:solidFill>
          </a:ln>
        </p:spPr>
        <p:txBody>
          <a:bodyPr wrap="none" lIns="0" tIns="0" rIns="0" bIns="0" rtlCol="0" anchor="ctr"/>
          <a:lstStyle/>
          <a:p>
            <a:pPr marL="0" indent="0" algn="ctr">
              <a:buNone/>
            </a:pPr>
            <a:r>
              <a:rPr lang="en-US" sz="800" b="1">
                <a:solidFill>
                  <a:srgbClr val="FFFFFF"/>
                </a:solidFill>
                <a:latin typeface="Oswald" pitchFamily="34" charset="0"/>
                <a:ea typeface="Oswald" pitchFamily="34" charset="-122"/>
                <a:cs typeface="Oswald" pitchFamily="34" charset="-120"/>
              </a:rPr>
              <a:t>2</a:t>
            </a:r>
            <a:endParaRPr lang="en-US" sz="800"/>
          </a:p>
        </p:txBody>
      </p:sp>
      <p:sp>
        <p:nvSpPr>
          <p:cNvPr id="67" name="Text 57"/>
          <p:cNvSpPr txBox="1"/>
          <p:nvPr/>
        </p:nvSpPr>
        <p:spPr>
          <a:xfrm>
            <a:off x="6829654" y="3038551"/>
            <a:ext cx="2595982" cy="162763"/>
          </a:xfrm>
          <a:prstGeom prst="rect">
            <a:avLst/>
          </a:prstGeom>
          <a:noFill/>
          <a:ln/>
        </p:spPr>
        <p:txBody>
          <a:bodyPr wrap="none" lIns="0" tIns="0" rIns="0" bIns="0" rtlCol="0" anchor="ctr"/>
          <a:lstStyle/>
          <a:p>
            <a:pPr marL="0" indent="0" algn="l">
              <a:buNone/>
            </a:pPr>
            <a:r>
              <a:rPr lang="en-US" sz="900" b="1">
                <a:solidFill>
                  <a:srgbClr val="1F2937"/>
                </a:solidFill>
                <a:latin typeface="Raleway" pitchFamily="34" charset="0"/>
                <a:ea typeface="Raleway" pitchFamily="34" charset="-122"/>
                <a:cs typeface="Raleway" pitchFamily="34" charset="-120"/>
              </a:rPr>
              <a:t>Move stalled AI pilots into production</a:t>
            </a:r>
            <a:endParaRPr lang="en-US" sz="900"/>
          </a:p>
        </p:txBody>
      </p:sp>
      <p:sp>
        <p:nvSpPr>
          <p:cNvPr id="68" name="Shape 58"/>
          <p:cNvSpPr/>
          <p:nvPr/>
        </p:nvSpPr>
        <p:spPr>
          <a:xfrm>
            <a:off x="9763049" y="3019349"/>
            <a:ext cx="1524305" cy="247802"/>
          </a:xfrm>
          <a:prstGeom prst="roundRect">
            <a:avLst>
              <a:gd name="adj" fmla="val 15498"/>
            </a:avLst>
          </a:prstGeom>
          <a:solidFill>
            <a:srgbClr val="FFF1F2"/>
          </a:solidFill>
          <a:ln w="12700">
            <a:solidFill>
              <a:srgbClr val="FFFFFF">
                <a:alpha val="0"/>
              </a:srgbClr>
            </a:solidFill>
            <a:prstDash val="solid"/>
          </a:ln>
        </p:spPr>
        <p:txBody>
          <a:bodyPr/>
          <a:lstStyle/>
          <a:p>
            <a:endParaRPr lang="en-US"/>
          </a:p>
        </p:txBody>
      </p:sp>
      <p:sp>
        <p:nvSpPr>
          <p:cNvPr id="69" name="Text 59"/>
          <p:cNvSpPr txBox="1"/>
          <p:nvPr/>
        </p:nvSpPr>
        <p:spPr>
          <a:xfrm>
            <a:off x="9858146" y="3076956"/>
            <a:ext cx="1334110" cy="133502"/>
          </a:xfrm>
          <a:prstGeom prst="rect">
            <a:avLst/>
          </a:prstGeom>
          <a:noFill/>
          <a:ln/>
        </p:spPr>
        <p:txBody>
          <a:bodyPr wrap="none" lIns="0" tIns="0" rIns="0" bIns="0" rtlCol="0" anchor="ctr"/>
          <a:lstStyle/>
          <a:p>
            <a:pPr marL="0" indent="0" algn="r">
              <a:buNone/>
            </a:pPr>
            <a:r>
              <a:rPr lang="en-US" sz="900" b="1">
                <a:solidFill>
                  <a:srgbClr val="D62839"/>
                </a:solidFill>
                <a:latin typeface="Roboto Condensed" pitchFamily="34" charset="0"/>
                <a:ea typeface="Roboto Condensed" pitchFamily="34" charset="-122"/>
                <a:cs typeface="Roboto Condensed" pitchFamily="34" charset="-120"/>
              </a:rPr>
              <a:t>Time to production</a:t>
            </a:r>
            <a:endParaRPr lang="en-US" sz="900"/>
          </a:p>
        </p:txBody>
      </p:sp>
      <p:sp>
        <p:nvSpPr>
          <p:cNvPr id="70" name="Shape 60"/>
          <p:cNvSpPr/>
          <p:nvPr/>
        </p:nvSpPr>
        <p:spPr>
          <a:xfrm>
            <a:off x="6524244" y="3763670"/>
            <a:ext cx="190195" cy="190195"/>
          </a:xfrm>
          <a:prstGeom prst="ellipse">
            <a:avLst/>
          </a:prstGeom>
          <a:solidFill>
            <a:srgbClr val="D62839"/>
          </a:solidFill>
          <a:ln w="12700">
            <a:solidFill>
              <a:srgbClr val="FFFFFF">
                <a:alpha val="0"/>
              </a:srgbClr>
            </a:solidFill>
            <a:prstDash val="solid"/>
          </a:ln>
        </p:spPr>
        <p:txBody>
          <a:bodyPr/>
          <a:lstStyle/>
          <a:p>
            <a:endParaRPr lang="en-US"/>
          </a:p>
        </p:txBody>
      </p:sp>
      <p:sp>
        <p:nvSpPr>
          <p:cNvPr id="71" name="Text 61"/>
          <p:cNvSpPr/>
          <p:nvPr/>
        </p:nvSpPr>
        <p:spPr>
          <a:xfrm>
            <a:off x="6524244" y="3763670"/>
            <a:ext cx="191110" cy="191110"/>
          </a:xfrm>
          <a:prstGeom prst="rect">
            <a:avLst/>
          </a:prstGeom>
          <a:solidFill>
            <a:srgbClr val="FFFFFF">
              <a:alpha val="0"/>
            </a:srgbClr>
          </a:solidFill>
          <a:ln>
            <a:solidFill>
              <a:srgbClr val="FFFFFF">
                <a:alpha val="0"/>
              </a:srgbClr>
            </a:solidFill>
          </a:ln>
        </p:spPr>
        <p:txBody>
          <a:bodyPr wrap="none" lIns="0" tIns="0" rIns="0" bIns="0" rtlCol="0" anchor="ctr"/>
          <a:lstStyle/>
          <a:p>
            <a:pPr marL="0" indent="0" algn="ctr">
              <a:buNone/>
            </a:pPr>
            <a:r>
              <a:rPr lang="en-US" sz="800" b="1">
                <a:solidFill>
                  <a:srgbClr val="FFFFFF"/>
                </a:solidFill>
                <a:latin typeface="Oswald" pitchFamily="34" charset="0"/>
                <a:ea typeface="Oswald" pitchFamily="34" charset="-122"/>
                <a:cs typeface="Oswald" pitchFamily="34" charset="-120"/>
              </a:rPr>
              <a:t>3</a:t>
            </a:r>
            <a:endParaRPr lang="en-US" sz="800"/>
          </a:p>
        </p:txBody>
      </p:sp>
      <p:sp>
        <p:nvSpPr>
          <p:cNvPr id="72" name="Text 62"/>
          <p:cNvSpPr txBox="1"/>
          <p:nvPr/>
        </p:nvSpPr>
        <p:spPr>
          <a:xfrm>
            <a:off x="6829654" y="3744468"/>
            <a:ext cx="2791663" cy="324612"/>
          </a:xfrm>
          <a:prstGeom prst="rect">
            <a:avLst/>
          </a:prstGeom>
          <a:noFill/>
          <a:ln/>
        </p:spPr>
        <p:txBody>
          <a:bodyPr wrap="square" lIns="0" tIns="0" rIns="0" bIns="0" rtlCol="0" anchor="ctr"/>
          <a:lstStyle/>
          <a:p>
            <a:pPr marL="0" indent="0" algn="l">
              <a:buNone/>
            </a:pPr>
            <a:r>
              <a:rPr lang="en-US" sz="900" b="1">
                <a:solidFill>
                  <a:srgbClr val="1F2937"/>
                </a:solidFill>
                <a:latin typeface="Raleway" pitchFamily="34" charset="0"/>
                <a:ea typeface="Raleway" pitchFamily="34" charset="-122"/>
                <a:cs typeface="Raleway" pitchFamily="34" charset="-120"/>
              </a:rPr>
              <a:t>Embed AI into a function to lift output and decisions without adding headcount</a:t>
            </a:r>
            <a:endParaRPr lang="en-US" sz="900"/>
          </a:p>
        </p:txBody>
      </p:sp>
      <p:sp>
        <p:nvSpPr>
          <p:cNvPr id="73" name="Shape 63"/>
          <p:cNvSpPr/>
          <p:nvPr/>
        </p:nvSpPr>
        <p:spPr>
          <a:xfrm>
            <a:off x="9660636" y="3781044"/>
            <a:ext cx="1628546" cy="247802"/>
          </a:xfrm>
          <a:prstGeom prst="roundRect">
            <a:avLst>
              <a:gd name="adj" fmla="val 15498"/>
            </a:avLst>
          </a:prstGeom>
          <a:solidFill>
            <a:srgbClr val="FFF1F2"/>
          </a:solidFill>
          <a:ln w="12700">
            <a:solidFill>
              <a:srgbClr val="FFFFFF">
                <a:alpha val="0"/>
              </a:srgbClr>
            </a:solidFill>
            <a:prstDash val="solid"/>
          </a:ln>
        </p:spPr>
        <p:txBody>
          <a:bodyPr/>
          <a:lstStyle/>
          <a:p>
            <a:endParaRPr lang="en-US"/>
          </a:p>
        </p:txBody>
      </p:sp>
      <p:sp>
        <p:nvSpPr>
          <p:cNvPr id="74" name="Text 64"/>
          <p:cNvSpPr txBox="1"/>
          <p:nvPr/>
        </p:nvSpPr>
        <p:spPr>
          <a:xfrm>
            <a:off x="9482328" y="3838651"/>
            <a:ext cx="1711757" cy="133502"/>
          </a:xfrm>
          <a:prstGeom prst="rect">
            <a:avLst/>
          </a:prstGeom>
          <a:noFill/>
          <a:ln/>
        </p:spPr>
        <p:txBody>
          <a:bodyPr wrap="none" lIns="0" tIns="0" rIns="0" bIns="0" rtlCol="0" anchor="ctr"/>
          <a:lstStyle/>
          <a:p>
            <a:pPr marL="0" indent="0" algn="r">
              <a:buNone/>
            </a:pPr>
            <a:r>
              <a:rPr lang="en-US" sz="900" b="1">
                <a:solidFill>
                  <a:srgbClr val="D62839"/>
                </a:solidFill>
                <a:latin typeface="Roboto Condensed" pitchFamily="34" charset="0"/>
                <a:ea typeface="Roboto Condensed" pitchFamily="34" charset="-122"/>
                <a:cs typeface="Roboto Condensed" pitchFamily="34" charset="-120"/>
              </a:rPr>
              <a:t>300 engineers/60d, 0% attr.</a:t>
            </a:r>
            <a:endParaRPr lang="en-US" sz="900"/>
          </a:p>
        </p:txBody>
      </p:sp>
      <p:sp>
        <p:nvSpPr>
          <p:cNvPr id="75" name="Shape 65"/>
          <p:cNvSpPr/>
          <p:nvPr/>
        </p:nvSpPr>
        <p:spPr>
          <a:xfrm>
            <a:off x="6524244" y="4525366"/>
            <a:ext cx="190195" cy="190195"/>
          </a:xfrm>
          <a:prstGeom prst="ellipse">
            <a:avLst/>
          </a:prstGeom>
          <a:solidFill>
            <a:srgbClr val="D62839"/>
          </a:solidFill>
          <a:ln w="12700">
            <a:solidFill>
              <a:srgbClr val="FFFFFF">
                <a:alpha val="0"/>
              </a:srgbClr>
            </a:solidFill>
            <a:prstDash val="solid"/>
          </a:ln>
        </p:spPr>
        <p:txBody>
          <a:bodyPr/>
          <a:lstStyle/>
          <a:p>
            <a:endParaRPr lang="en-US"/>
          </a:p>
        </p:txBody>
      </p:sp>
      <p:sp>
        <p:nvSpPr>
          <p:cNvPr id="76" name="Text 66"/>
          <p:cNvSpPr/>
          <p:nvPr/>
        </p:nvSpPr>
        <p:spPr>
          <a:xfrm>
            <a:off x="6524244" y="4525366"/>
            <a:ext cx="191110" cy="191110"/>
          </a:xfrm>
          <a:prstGeom prst="rect">
            <a:avLst/>
          </a:prstGeom>
          <a:solidFill>
            <a:srgbClr val="FFFFFF">
              <a:alpha val="0"/>
            </a:srgbClr>
          </a:solidFill>
          <a:ln>
            <a:solidFill>
              <a:srgbClr val="FFFFFF">
                <a:alpha val="0"/>
              </a:srgbClr>
            </a:solidFill>
          </a:ln>
        </p:spPr>
        <p:txBody>
          <a:bodyPr wrap="none" lIns="0" tIns="0" rIns="0" bIns="0" rtlCol="0" anchor="ctr"/>
          <a:lstStyle/>
          <a:p>
            <a:pPr marL="0" indent="0" algn="ctr">
              <a:buNone/>
            </a:pPr>
            <a:r>
              <a:rPr lang="en-US" sz="800" b="1">
                <a:solidFill>
                  <a:srgbClr val="FFFFFF"/>
                </a:solidFill>
                <a:latin typeface="Oswald" pitchFamily="34" charset="0"/>
                <a:ea typeface="Oswald" pitchFamily="34" charset="-122"/>
                <a:cs typeface="Oswald" pitchFamily="34" charset="-120"/>
              </a:rPr>
              <a:t>4</a:t>
            </a:r>
            <a:endParaRPr lang="en-US" sz="800"/>
          </a:p>
        </p:txBody>
      </p:sp>
      <p:sp>
        <p:nvSpPr>
          <p:cNvPr id="77" name="Text 67"/>
          <p:cNvSpPr txBox="1"/>
          <p:nvPr/>
        </p:nvSpPr>
        <p:spPr>
          <a:xfrm>
            <a:off x="6829654" y="4506163"/>
            <a:ext cx="2791663" cy="324612"/>
          </a:xfrm>
          <a:prstGeom prst="rect">
            <a:avLst/>
          </a:prstGeom>
          <a:noFill/>
          <a:ln/>
        </p:spPr>
        <p:txBody>
          <a:bodyPr wrap="square" lIns="0" tIns="0" rIns="0" bIns="0" rtlCol="0" anchor="ctr"/>
          <a:lstStyle/>
          <a:p>
            <a:pPr marL="0" indent="0" algn="l">
              <a:buNone/>
            </a:pPr>
            <a:r>
              <a:rPr lang="en-US" sz="900" b="1">
                <a:solidFill>
                  <a:srgbClr val="1F2937"/>
                </a:solidFill>
                <a:latin typeface="Raleway" pitchFamily="34" charset="0"/>
                <a:ea typeface="Raleway" pitchFamily="34" charset="-122"/>
                <a:cs typeface="Raleway" pitchFamily="34" charset="-120"/>
              </a:rPr>
              <a:t>Unify fragmented and mainframe data into one AI-ready layer</a:t>
            </a:r>
            <a:endParaRPr lang="en-US" sz="900"/>
          </a:p>
        </p:txBody>
      </p:sp>
      <p:sp>
        <p:nvSpPr>
          <p:cNvPr id="78" name="Shape 68"/>
          <p:cNvSpPr/>
          <p:nvPr/>
        </p:nvSpPr>
        <p:spPr>
          <a:xfrm>
            <a:off x="9763049" y="4543654"/>
            <a:ext cx="1524305" cy="247802"/>
          </a:xfrm>
          <a:prstGeom prst="roundRect">
            <a:avLst>
              <a:gd name="adj" fmla="val 15498"/>
            </a:avLst>
          </a:prstGeom>
          <a:solidFill>
            <a:srgbClr val="FFF1F2"/>
          </a:solidFill>
          <a:ln w="12700">
            <a:solidFill>
              <a:srgbClr val="FFFFFF">
                <a:alpha val="0"/>
              </a:srgbClr>
            </a:solidFill>
            <a:prstDash val="solid"/>
          </a:ln>
        </p:spPr>
        <p:txBody>
          <a:bodyPr/>
          <a:lstStyle/>
          <a:p>
            <a:endParaRPr lang="en-US"/>
          </a:p>
        </p:txBody>
      </p:sp>
      <p:sp>
        <p:nvSpPr>
          <p:cNvPr id="79" name="Text 69"/>
          <p:cNvSpPr txBox="1"/>
          <p:nvPr/>
        </p:nvSpPr>
        <p:spPr>
          <a:xfrm>
            <a:off x="9604858" y="4600346"/>
            <a:ext cx="1587398" cy="133502"/>
          </a:xfrm>
          <a:prstGeom prst="rect">
            <a:avLst/>
          </a:prstGeom>
          <a:noFill/>
          <a:ln/>
        </p:spPr>
        <p:txBody>
          <a:bodyPr wrap="none" lIns="0" tIns="0" rIns="0" bIns="0" rtlCol="0" anchor="ctr"/>
          <a:lstStyle/>
          <a:p>
            <a:pPr marL="0" indent="0" algn="r">
              <a:buNone/>
            </a:pPr>
            <a:r>
              <a:rPr lang="en-US" sz="900" b="1">
                <a:solidFill>
                  <a:srgbClr val="D62839"/>
                </a:solidFill>
                <a:latin typeface="Roboto Condensed" pitchFamily="34" charset="0"/>
                <a:ea typeface="Roboto Condensed" pitchFamily="34" charset="-122"/>
                <a:cs typeface="Roboto Condensed" pitchFamily="34" charset="-120"/>
              </a:rPr>
              <a:t>$15M savings, 30% uplift</a:t>
            </a:r>
            <a:endParaRPr lang="en-US" sz="900"/>
          </a:p>
        </p:txBody>
      </p:sp>
      <p:sp>
        <p:nvSpPr>
          <p:cNvPr id="80" name="Shape 70"/>
          <p:cNvSpPr/>
          <p:nvPr/>
        </p:nvSpPr>
        <p:spPr>
          <a:xfrm>
            <a:off x="6524244" y="5343754"/>
            <a:ext cx="190195" cy="190195"/>
          </a:xfrm>
          <a:prstGeom prst="ellipse">
            <a:avLst/>
          </a:prstGeom>
          <a:solidFill>
            <a:srgbClr val="D62839"/>
          </a:solidFill>
          <a:ln w="12700">
            <a:solidFill>
              <a:srgbClr val="FFFFFF">
                <a:alpha val="0"/>
              </a:srgbClr>
            </a:solidFill>
            <a:prstDash val="solid"/>
          </a:ln>
        </p:spPr>
        <p:txBody>
          <a:bodyPr/>
          <a:lstStyle/>
          <a:p>
            <a:endParaRPr lang="en-US"/>
          </a:p>
        </p:txBody>
      </p:sp>
      <p:sp>
        <p:nvSpPr>
          <p:cNvPr id="81" name="Text 71"/>
          <p:cNvSpPr/>
          <p:nvPr/>
        </p:nvSpPr>
        <p:spPr>
          <a:xfrm>
            <a:off x="6524244" y="5343754"/>
            <a:ext cx="191110" cy="191110"/>
          </a:xfrm>
          <a:prstGeom prst="rect">
            <a:avLst/>
          </a:prstGeom>
          <a:solidFill>
            <a:srgbClr val="FFFFFF">
              <a:alpha val="0"/>
            </a:srgbClr>
          </a:solidFill>
          <a:ln>
            <a:solidFill>
              <a:srgbClr val="FFFFFF">
                <a:alpha val="0"/>
              </a:srgbClr>
            </a:solidFill>
          </a:ln>
        </p:spPr>
        <p:txBody>
          <a:bodyPr wrap="none" lIns="0" tIns="0" rIns="0" bIns="0" rtlCol="0" anchor="ctr"/>
          <a:lstStyle/>
          <a:p>
            <a:pPr marL="0" indent="0" algn="ctr">
              <a:buNone/>
            </a:pPr>
            <a:r>
              <a:rPr lang="en-US" sz="800" b="1">
                <a:solidFill>
                  <a:srgbClr val="FFFFFF"/>
                </a:solidFill>
                <a:latin typeface="Oswald" pitchFamily="34" charset="0"/>
                <a:ea typeface="Oswald" pitchFamily="34" charset="-122"/>
                <a:cs typeface="Oswald" pitchFamily="34" charset="-120"/>
              </a:rPr>
              <a:t>5</a:t>
            </a:r>
            <a:endParaRPr lang="en-US" sz="800"/>
          </a:p>
        </p:txBody>
      </p:sp>
      <p:sp>
        <p:nvSpPr>
          <p:cNvPr id="82" name="Text 72"/>
          <p:cNvSpPr txBox="1"/>
          <p:nvPr/>
        </p:nvSpPr>
        <p:spPr>
          <a:xfrm>
            <a:off x="6829654" y="5324551"/>
            <a:ext cx="3242462" cy="162763"/>
          </a:xfrm>
          <a:prstGeom prst="rect">
            <a:avLst/>
          </a:prstGeom>
          <a:noFill/>
          <a:ln/>
        </p:spPr>
        <p:txBody>
          <a:bodyPr wrap="none" lIns="0" tIns="0" rIns="0" bIns="0" rtlCol="0" anchor="ctr"/>
          <a:lstStyle/>
          <a:p>
            <a:pPr marL="0" indent="0" algn="l">
              <a:buNone/>
            </a:pPr>
            <a:r>
              <a:rPr lang="en-US" sz="900" b="1">
                <a:solidFill>
                  <a:srgbClr val="1F2937"/>
                </a:solidFill>
                <a:latin typeface="Raleway" pitchFamily="34" charset="0"/>
                <a:ea typeface="Raleway" pitchFamily="34" charset="-122"/>
                <a:cs typeface="Raleway" pitchFamily="34" charset="-120"/>
              </a:rPr>
              <a:t>Re-engineer a core process with embedded AI</a:t>
            </a:r>
            <a:endParaRPr lang="en-US" sz="900"/>
          </a:p>
        </p:txBody>
      </p:sp>
      <p:sp>
        <p:nvSpPr>
          <p:cNvPr id="83" name="Shape 73"/>
          <p:cNvSpPr/>
          <p:nvPr/>
        </p:nvSpPr>
        <p:spPr>
          <a:xfrm>
            <a:off x="9763049" y="5305349"/>
            <a:ext cx="1524305" cy="247802"/>
          </a:xfrm>
          <a:prstGeom prst="roundRect">
            <a:avLst>
              <a:gd name="adj" fmla="val 15498"/>
            </a:avLst>
          </a:prstGeom>
          <a:solidFill>
            <a:srgbClr val="FFF1F2"/>
          </a:solidFill>
          <a:ln w="12700">
            <a:solidFill>
              <a:srgbClr val="FFFFFF">
                <a:alpha val="0"/>
              </a:srgbClr>
            </a:solidFill>
            <a:prstDash val="solid"/>
          </a:ln>
        </p:spPr>
        <p:txBody>
          <a:bodyPr/>
          <a:lstStyle/>
          <a:p>
            <a:endParaRPr lang="en-US"/>
          </a:p>
        </p:txBody>
      </p:sp>
      <p:sp>
        <p:nvSpPr>
          <p:cNvPr id="84" name="Text 74"/>
          <p:cNvSpPr txBox="1"/>
          <p:nvPr/>
        </p:nvSpPr>
        <p:spPr>
          <a:xfrm>
            <a:off x="9604858" y="5362956"/>
            <a:ext cx="1587398" cy="133502"/>
          </a:xfrm>
          <a:prstGeom prst="rect">
            <a:avLst/>
          </a:prstGeom>
          <a:noFill/>
          <a:ln/>
        </p:spPr>
        <p:txBody>
          <a:bodyPr wrap="none" lIns="0" tIns="0" rIns="0" bIns="0" rtlCol="0" anchor="ctr"/>
          <a:lstStyle/>
          <a:p>
            <a:pPr marL="0" indent="0" algn="r">
              <a:buNone/>
            </a:pPr>
            <a:r>
              <a:rPr lang="en-US" sz="900" b="1">
                <a:solidFill>
                  <a:srgbClr val="D62839"/>
                </a:solidFill>
                <a:latin typeface="Roboto Condensed" pitchFamily="34" charset="0"/>
                <a:ea typeface="Roboto Condensed" pitchFamily="34" charset="-122"/>
                <a:cs typeface="Roboto Condensed" pitchFamily="34" charset="-120"/>
              </a:rPr>
              <a:t>42% TAT ↓, 23% lead time ↓</a:t>
            </a:r>
            <a:endParaRPr lang="en-US" sz="900"/>
          </a:p>
        </p:txBody>
      </p:sp>
      <p:sp>
        <p:nvSpPr>
          <p:cNvPr id="85" name="Shape 75"/>
          <p:cNvSpPr/>
          <p:nvPr/>
        </p:nvSpPr>
        <p:spPr>
          <a:xfrm>
            <a:off x="6524244" y="6105449"/>
            <a:ext cx="190195" cy="190195"/>
          </a:xfrm>
          <a:prstGeom prst="ellipse">
            <a:avLst/>
          </a:prstGeom>
          <a:solidFill>
            <a:srgbClr val="D62839"/>
          </a:solidFill>
          <a:ln w="12700">
            <a:solidFill>
              <a:srgbClr val="FFFFFF">
                <a:alpha val="0"/>
              </a:srgbClr>
            </a:solidFill>
            <a:prstDash val="solid"/>
          </a:ln>
        </p:spPr>
        <p:txBody>
          <a:bodyPr/>
          <a:lstStyle/>
          <a:p>
            <a:endParaRPr lang="en-US"/>
          </a:p>
        </p:txBody>
      </p:sp>
      <p:sp>
        <p:nvSpPr>
          <p:cNvPr id="86" name="Text 76"/>
          <p:cNvSpPr/>
          <p:nvPr/>
        </p:nvSpPr>
        <p:spPr>
          <a:xfrm>
            <a:off x="6524244" y="6105449"/>
            <a:ext cx="191110" cy="191110"/>
          </a:xfrm>
          <a:prstGeom prst="rect">
            <a:avLst/>
          </a:prstGeom>
          <a:solidFill>
            <a:srgbClr val="FFFFFF">
              <a:alpha val="0"/>
            </a:srgbClr>
          </a:solidFill>
          <a:ln>
            <a:solidFill>
              <a:srgbClr val="FFFFFF">
                <a:alpha val="0"/>
              </a:srgbClr>
            </a:solidFill>
          </a:ln>
        </p:spPr>
        <p:txBody>
          <a:bodyPr wrap="none" lIns="0" tIns="0" rIns="0" bIns="0" rtlCol="0" anchor="ctr"/>
          <a:lstStyle/>
          <a:p>
            <a:pPr marL="0" indent="0" algn="ctr">
              <a:buNone/>
            </a:pPr>
            <a:r>
              <a:rPr lang="en-US" sz="800" b="1">
                <a:solidFill>
                  <a:srgbClr val="FFFFFF"/>
                </a:solidFill>
                <a:latin typeface="Oswald" pitchFamily="34" charset="0"/>
                <a:ea typeface="Oswald" pitchFamily="34" charset="-122"/>
                <a:cs typeface="Oswald" pitchFamily="34" charset="-120"/>
              </a:rPr>
              <a:t>6</a:t>
            </a:r>
            <a:endParaRPr lang="en-US" sz="800"/>
          </a:p>
        </p:txBody>
      </p:sp>
      <p:sp>
        <p:nvSpPr>
          <p:cNvPr id="87" name="Text 77"/>
          <p:cNvSpPr txBox="1"/>
          <p:nvPr/>
        </p:nvSpPr>
        <p:spPr>
          <a:xfrm>
            <a:off x="6829654" y="6086246"/>
            <a:ext cx="3185770" cy="162763"/>
          </a:xfrm>
          <a:prstGeom prst="rect">
            <a:avLst/>
          </a:prstGeom>
          <a:noFill/>
          <a:ln/>
        </p:spPr>
        <p:txBody>
          <a:bodyPr wrap="none" lIns="0" tIns="0" rIns="0" bIns="0" rtlCol="0" anchor="ctr"/>
          <a:lstStyle/>
          <a:p>
            <a:pPr marL="0" indent="0" algn="l">
              <a:buNone/>
            </a:pPr>
            <a:r>
              <a:rPr lang="en-US" sz="900" b="1">
                <a:solidFill>
                  <a:srgbClr val="1F2937"/>
                </a:solidFill>
                <a:latin typeface="Raleway" pitchFamily="34" charset="0"/>
                <a:ea typeface="Raleway" pitchFamily="34" charset="-122"/>
                <a:cs typeface="Raleway" pitchFamily="34" charset="-120"/>
              </a:rPr>
              <a:t>Govern and de-risk sprawling AI deployments</a:t>
            </a:r>
            <a:endParaRPr lang="en-US" sz="900"/>
          </a:p>
        </p:txBody>
      </p:sp>
      <p:sp>
        <p:nvSpPr>
          <p:cNvPr id="88" name="Shape 78"/>
          <p:cNvSpPr/>
          <p:nvPr/>
        </p:nvSpPr>
        <p:spPr>
          <a:xfrm>
            <a:off x="9724644" y="6067044"/>
            <a:ext cx="1571854" cy="247802"/>
          </a:xfrm>
          <a:prstGeom prst="roundRect">
            <a:avLst>
              <a:gd name="adj" fmla="val 15498"/>
            </a:avLst>
          </a:prstGeom>
          <a:solidFill>
            <a:srgbClr val="FFF1F2"/>
          </a:solidFill>
          <a:ln w="12700">
            <a:solidFill>
              <a:srgbClr val="FFFFFF">
                <a:alpha val="0"/>
              </a:srgbClr>
            </a:solidFill>
            <a:prstDash val="solid"/>
          </a:ln>
        </p:spPr>
        <p:txBody>
          <a:bodyPr/>
          <a:lstStyle/>
          <a:p>
            <a:endParaRPr lang="en-US"/>
          </a:p>
        </p:txBody>
      </p:sp>
      <p:sp>
        <p:nvSpPr>
          <p:cNvPr id="89" name="Text 79"/>
          <p:cNvSpPr txBox="1"/>
          <p:nvPr/>
        </p:nvSpPr>
        <p:spPr>
          <a:xfrm>
            <a:off x="9557309" y="6124651"/>
            <a:ext cx="1644091" cy="133502"/>
          </a:xfrm>
          <a:prstGeom prst="rect">
            <a:avLst/>
          </a:prstGeom>
          <a:noFill/>
          <a:ln/>
        </p:spPr>
        <p:txBody>
          <a:bodyPr wrap="none" lIns="0" tIns="0" rIns="0" bIns="0" rtlCol="0" anchor="ctr"/>
          <a:lstStyle/>
          <a:p>
            <a:pPr marL="0" indent="0" algn="r">
              <a:buNone/>
            </a:pPr>
            <a:r>
              <a:rPr lang="en-US" sz="900" b="1">
                <a:solidFill>
                  <a:srgbClr val="D62839"/>
                </a:solidFill>
                <a:latin typeface="Roboto Condensed" pitchFamily="34" charset="0"/>
                <a:ea typeface="Roboto Condensed" pitchFamily="34" charset="-122"/>
                <a:cs typeface="Roboto Condensed" pitchFamily="34" charset="-120"/>
              </a:rPr>
              <a:t>2M+ users, 35% adherence</a:t>
            </a:r>
            <a:endParaRPr lang="en-US" sz="900"/>
          </a:p>
        </p:txBody>
      </p:sp>
    </p:spTree>
    <p:extLst>
      <p:ext uri="{BB962C8B-B14F-4D97-AF65-F5344CB8AC3E}">
        <p14:creationId xmlns:p14="http://schemas.microsoft.com/office/powerpoint/2010/main" val="2220557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856D4-134A-581B-EC5E-520C5A537530}"/>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8A530831-F204-5E89-7B5A-76B52BF25A35}"/>
              </a:ext>
            </a:extLst>
          </p:cNvPr>
          <p:cNvSpPr/>
          <p:nvPr/>
        </p:nvSpPr>
        <p:spPr>
          <a:xfrm>
            <a:off x="9334195" y="-952805"/>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4ab2116e971fbb9400d0e99205bd0390.png">
            <a:extLst>
              <a:ext uri="{FF2B5EF4-FFF2-40B4-BE49-F238E27FC236}">
                <a16:creationId xmlns:a16="http://schemas.microsoft.com/office/drawing/2014/main" id="{9C2AF6D8-5D7F-C534-E8E4-DA00D9002C87}"/>
              </a:ext>
            </a:extLst>
          </p:cNvPr>
          <p:cNvPicPr>
            <a:picLocks noChangeAspect="1"/>
          </p:cNvPicPr>
          <p:nvPr/>
        </p:nvPicPr>
        <p:blipFill>
          <a:blip r:embed="rId3">
            <a:alphaModFix amt="5000"/>
          </a:blip>
          <a:srcRect/>
          <a:stretch/>
        </p:blipFill>
        <p:spPr>
          <a:xfrm>
            <a:off x="10001707" y="5238598"/>
            <a:ext cx="1904695" cy="1904695"/>
          </a:xfrm>
          <a:prstGeom prst="rect">
            <a:avLst/>
          </a:prstGeom>
        </p:spPr>
      </p:pic>
      <p:pic>
        <p:nvPicPr>
          <p:cNvPr id="6" name="Image 1" descr="gen-dedup-323228122ff92d2332e711a84ca3b40c.png">
            <a:extLst>
              <a:ext uri="{FF2B5EF4-FFF2-40B4-BE49-F238E27FC236}">
                <a16:creationId xmlns:a16="http://schemas.microsoft.com/office/drawing/2014/main" id="{BCEA5056-2FC8-FBB4-C394-8A4C143CC070}"/>
              </a:ext>
            </a:extLst>
          </p:cNvPr>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a:extLst>
              <a:ext uri="{FF2B5EF4-FFF2-40B4-BE49-F238E27FC236}">
                <a16:creationId xmlns:a16="http://schemas.microsoft.com/office/drawing/2014/main" id="{5A98248E-EE1B-23EF-94BB-766E2BC3FDC3}"/>
              </a:ext>
            </a:extLst>
          </p:cNvPr>
          <p:cNvPicPr>
            <a:picLocks noChangeAspect="1"/>
          </p:cNvPicPr>
          <p:nvPr/>
        </p:nvPicPr>
        <p:blipFill>
          <a:blip r:embed="rId5"/>
          <a:srcRect l="-202" r="-202"/>
          <a:stretch/>
        </p:blipFill>
        <p:spPr>
          <a:xfrm>
            <a:off x="8124444" y="0"/>
            <a:ext cx="4067251" cy="75895"/>
          </a:xfrm>
          <a:prstGeom prst="rect">
            <a:avLst/>
          </a:prstGeom>
        </p:spPr>
      </p:pic>
      <p:sp>
        <p:nvSpPr>
          <p:cNvPr id="8" name="Text 3">
            <a:extLst>
              <a:ext uri="{FF2B5EF4-FFF2-40B4-BE49-F238E27FC236}">
                <a16:creationId xmlns:a16="http://schemas.microsoft.com/office/drawing/2014/main" id="{3618C317-4414-EB34-2C38-0AC5944E1004}"/>
              </a:ext>
            </a:extLst>
          </p:cNvPr>
          <p:cNvSpPr txBox="1"/>
          <p:nvPr/>
        </p:nvSpPr>
        <p:spPr>
          <a:xfrm>
            <a:off x="381305" y="1143000"/>
            <a:ext cx="2382012" cy="1524305"/>
          </a:xfrm>
          <a:prstGeom prst="rect">
            <a:avLst/>
          </a:prstGeom>
          <a:noFill/>
          <a:ln/>
        </p:spPr>
        <p:txBody>
          <a:bodyPr wrap="none" lIns="0" tIns="0" rIns="0" bIns="0" rtlCol="0" anchor="ctr"/>
          <a:lstStyle/>
          <a:p>
            <a:pPr marL="0" indent="0" algn="l">
              <a:buNone/>
            </a:pPr>
            <a:r>
              <a:rPr lang="en-US" sz="12000" b="1">
                <a:solidFill>
                  <a:srgbClr val="F3F4F6"/>
                </a:solidFill>
                <a:latin typeface="Oswald" pitchFamily="34" charset="0"/>
                <a:ea typeface="Oswald" pitchFamily="34" charset="-122"/>
                <a:cs typeface="Oswald" pitchFamily="34" charset="-120"/>
              </a:rPr>
              <a:t>01</a:t>
            </a:r>
            <a:endParaRPr lang="en-US" sz="12000"/>
          </a:p>
        </p:txBody>
      </p:sp>
      <p:pic>
        <p:nvPicPr>
          <p:cNvPr id="11" name="Image 3" descr="gen-dedup-90395934058aa4b7c1bff00d7e70c0a4.png">
            <a:extLst>
              <a:ext uri="{FF2B5EF4-FFF2-40B4-BE49-F238E27FC236}">
                <a16:creationId xmlns:a16="http://schemas.microsoft.com/office/drawing/2014/main" id="{F31C911D-F040-F235-7735-291225B14DAB}"/>
              </a:ext>
            </a:extLst>
          </p:cNvPr>
          <p:cNvPicPr>
            <a:picLocks noChangeAspect="1"/>
          </p:cNvPicPr>
          <p:nvPr/>
        </p:nvPicPr>
        <p:blipFill>
          <a:blip r:embed="rId6"/>
          <a:srcRect l="-416" r="-416"/>
          <a:stretch/>
        </p:blipFill>
        <p:spPr>
          <a:xfrm>
            <a:off x="1143000" y="2428646"/>
            <a:ext cx="57607" cy="714146"/>
          </a:xfrm>
          <a:prstGeom prst="rect">
            <a:avLst/>
          </a:prstGeom>
        </p:spPr>
      </p:pic>
      <p:sp>
        <p:nvSpPr>
          <p:cNvPr id="12" name="Text 6">
            <a:extLst>
              <a:ext uri="{FF2B5EF4-FFF2-40B4-BE49-F238E27FC236}">
                <a16:creationId xmlns:a16="http://schemas.microsoft.com/office/drawing/2014/main" id="{832DFE89-9B52-C7A9-8829-A59C6834021E}"/>
              </a:ext>
            </a:extLst>
          </p:cNvPr>
          <p:cNvSpPr txBox="1"/>
          <p:nvPr/>
        </p:nvSpPr>
        <p:spPr>
          <a:xfrm>
            <a:off x="1429207" y="2333549"/>
            <a:ext cx="9525305" cy="762610"/>
          </a:xfrm>
          <a:prstGeom prst="rect">
            <a:avLst/>
          </a:prstGeom>
          <a:noFill/>
          <a:ln/>
        </p:spPr>
        <p:txBody>
          <a:bodyPr wrap="none" lIns="0" tIns="0" rIns="0" bIns="0" rtlCol="0" anchor="ctr"/>
          <a:lstStyle/>
          <a:p>
            <a:pPr marL="0" indent="0" algn="l">
              <a:buNone/>
            </a:pPr>
            <a:r>
              <a:rPr lang="en-US" sz="5400" b="1" kern="0" spc="108">
                <a:solidFill>
                  <a:srgbClr val="111827"/>
                </a:solidFill>
                <a:latin typeface="Oswald" pitchFamily="34" charset="0"/>
                <a:ea typeface="Oswald" pitchFamily="34" charset="-122"/>
                <a:cs typeface="Oswald" pitchFamily="34" charset="-120"/>
              </a:rPr>
              <a:t>WORKFORCE SOLUTIONS</a:t>
            </a:r>
          </a:p>
        </p:txBody>
      </p:sp>
      <p:sp>
        <p:nvSpPr>
          <p:cNvPr id="13" name="Text 7">
            <a:extLst>
              <a:ext uri="{FF2B5EF4-FFF2-40B4-BE49-F238E27FC236}">
                <a16:creationId xmlns:a16="http://schemas.microsoft.com/office/drawing/2014/main" id="{A9806661-5DF1-05EF-1477-AF6345A7FD0F}"/>
              </a:ext>
            </a:extLst>
          </p:cNvPr>
          <p:cNvSpPr txBox="1"/>
          <p:nvPr/>
        </p:nvSpPr>
        <p:spPr>
          <a:xfrm>
            <a:off x="1429207" y="3333902"/>
            <a:ext cx="10687507" cy="352958"/>
          </a:xfrm>
          <a:prstGeom prst="rect">
            <a:avLst/>
          </a:prstGeom>
          <a:noFill/>
          <a:ln/>
        </p:spPr>
        <p:txBody>
          <a:bodyPr wrap="none" lIns="0" tIns="0" rIns="0" bIns="0" rtlCol="0" anchor="ctr"/>
          <a:lstStyle/>
          <a:p>
            <a:pPr marL="0" indent="0" algn="l">
              <a:buNone/>
            </a:pPr>
            <a:r>
              <a:rPr lang="en-US" sz="2100">
                <a:solidFill>
                  <a:srgbClr val="2A9D8F"/>
                </a:solidFill>
                <a:latin typeface="Raleway" pitchFamily="34" charset="0"/>
                <a:ea typeface="Raleway" pitchFamily="34" charset="-122"/>
                <a:cs typeface="Raleway" pitchFamily="34" charset="-120"/>
              </a:rPr>
              <a:t>Domain-deep engineering talent - deployed, governed, and continuously upskilled</a:t>
            </a:r>
          </a:p>
        </p:txBody>
      </p:sp>
      <p:sp>
        <p:nvSpPr>
          <p:cNvPr id="14" name="Text 8">
            <a:extLst>
              <a:ext uri="{FF2B5EF4-FFF2-40B4-BE49-F238E27FC236}">
                <a16:creationId xmlns:a16="http://schemas.microsoft.com/office/drawing/2014/main" id="{3AA6F4EC-9880-9FAB-4776-CB7EC6C7DD60}"/>
              </a:ext>
            </a:extLst>
          </p:cNvPr>
          <p:cNvSpPr txBox="1"/>
          <p:nvPr/>
        </p:nvSpPr>
        <p:spPr>
          <a:xfrm>
            <a:off x="1429207" y="4143146"/>
            <a:ext cx="9335110" cy="5532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We don't place people. We deploy domain-certified engineers into governed pods - with sprint accountability, AI-powered sourcing, and a contract-to-hire model that keeps your risk low and your velocity high</a:t>
            </a:r>
            <a:endParaRPr lang="en-US" sz="1300"/>
          </a:p>
        </p:txBody>
      </p:sp>
      <p:pic>
        <p:nvPicPr>
          <p:cNvPr id="15" name="Image 4" descr="gen-dedup-818c62191cf4a66fb5704c7f87e3fedf.png">
            <a:extLst>
              <a:ext uri="{FF2B5EF4-FFF2-40B4-BE49-F238E27FC236}">
                <a16:creationId xmlns:a16="http://schemas.microsoft.com/office/drawing/2014/main" id="{3BE14DA7-645C-95C9-5C91-F96EFC962D61}"/>
              </a:ext>
            </a:extLst>
          </p:cNvPr>
          <p:cNvPicPr>
            <a:picLocks noChangeAspect="1"/>
          </p:cNvPicPr>
          <p:nvPr/>
        </p:nvPicPr>
        <p:blipFill>
          <a:blip r:embed="rId7"/>
          <a:srcRect l="-166" r="-166"/>
          <a:stretch/>
        </p:blipFill>
        <p:spPr>
          <a:xfrm>
            <a:off x="1429207" y="5143500"/>
            <a:ext cx="1933956" cy="418795"/>
          </a:xfrm>
          <a:prstGeom prst="rect">
            <a:avLst/>
          </a:prstGeom>
        </p:spPr>
      </p:pic>
      <p:sp>
        <p:nvSpPr>
          <p:cNvPr id="16" name="Shape 9">
            <a:extLst>
              <a:ext uri="{FF2B5EF4-FFF2-40B4-BE49-F238E27FC236}">
                <a16:creationId xmlns:a16="http://schemas.microsoft.com/office/drawing/2014/main" id="{9F4FE693-DA3B-61CF-1215-7B57E8924352}"/>
              </a:ext>
            </a:extLst>
          </p:cNvPr>
          <p:cNvSpPr/>
          <p:nvPr/>
        </p:nvSpPr>
        <p:spPr>
          <a:xfrm>
            <a:off x="1429207" y="5143500"/>
            <a:ext cx="1933956" cy="418795"/>
          </a:xfrm>
          <a:prstGeom prst="roundRect">
            <a:avLst>
              <a:gd name="adj" fmla="val 13755"/>
            </a:avLst>
          </a:prstGeom>
          <a:noFill/>
          <a:ln w="12700">
            <a:solidFill>
              <a:srgbClr val="E5E7EB"/>
            </a:solidFill>
            <a:prstDash val="solid"/>
          </a:ln>
        </p:spPr>
        <p:txBody>
          <a:bodyPr/>
          <a:lstStyle/>
          <a:p>
            <a:endParaRPr lang="en-US"/>
          </a:p>
        </p:txBody>
      </p:sp>
      <p:sp>
        <p:nvSpPr>
          <p:cNvPr id="17" name="Text 10">
            <a:extLst>
              <a:ext uri="{FF2B5EF4-FFF2-40B4-BE49-F238E27FC236}">
                <a16:creationId xmlns:a16="http://schemas.microsoft.com/office/drawing/2014/main" id="{442C24B0-8636-74A4-4FC8-8DBDB08299C1}"/>
              </a:ext>
            </a:extLst>
          </p:cNvPr>
          <p:cNvSpPr txBox="1"/>
          <p:nvPr/>
        </p:nvSpPr>
        <p:spPr>
          <a:xfrm>
            <a:off x="1653845" y="5143500"/>
            <a:ext cx="1495958"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10 days or less to </a:t>
            </a:r>
          </a:p>
          <a:p>
            <a:pPr marL="0" indent="0" algn="l">
              <a:buNone/>
            </a:pPr>
            <a:r>
              <a:rPr lang="en-US" sz="1100" b="1">
                <a:solidFill>
                  <a:srgbClr val="374151"/>
                </a:solidFill>
                <a:latin typeface="Raleway" pitchFamily="34" charset="0"/>
                <a:ea typeface="Raleway" pitchFamily="34" charset="-122"/>
                <a:cs typeface="Raleway" pitchFamily="34" charset="-120"/>
              </a:rPr>
              <a:t>deploy</a:t>
            </a:r>
            <a:endParaRPr lang="en-US" sz="1100"/>
          </a:p>
        </p:txBody>
      </p:sp>
      <p:pic>
        <p:nvPicPr>
          <p:cNvPr id="18" name="Image 5" descr="gen-dedup-a287ae7abd092c83dc5f899415c51d00.png">
            <a:extLst>
              <a:ext uri="{FF2B5EF4-FFF2-40B4-BE49-F238E27FC236}">
                <a16:creationId xmlns:a16="http://schemas.microsoft.com/office/drawing/2014/main" id="{717DBA06-294F-AFD6-F4A3-E3BB6A843F09}"/>
              </a:ext>
            </a:extLst>
          </p:cNvPr>
          <p:cNvPicPr>
            <a:picLocks noChangeAspect="1"/>
          </p:cNvPicPr>
          <p:nvPr/>
        </p:nvPicPr>
        <p:blipFill>
          <a:blip r:embed="rId8"/>
          <a:srcRect t="-16800" b="-16800"/>
          <a:stretch/>
        </p:blipFill>
        <p:spPr>
          <a:xfrm>
            <a:off x="1657807" y="5277002"/>
            <a:ext cx="114300" cy="152705"/>
          </a:xfrm>
          <a:prstGeom prst="rect">
            <a:avLst/>
          </a:prstGeom>
        </p:spPr>
      </p:pic>
      <p:pic>
        <p:nvPicPr>
          <p:cNvPr id="19" name="Image 6" descr="gen-dedup-0363cb9fbb55bfd8aa96459f99cffd70.png">
            <a:extLst>
              <a:ext uri="{FF2B5EF4-FFF2-40B4-BE49-F238E27FC236}">
                <a16:creationId xmlns:a16="http://schemas.microsoft.com/office/drawing/2014/main" id="{19292444-1F09-6360-0F68-8AD41048A7D3}"/>
              </a:ext>
            </a:extLst>
          </p:cNvPr>
          <p:cNvPicPr>
            <a:picLocks noChangeAspect="1"/>
          </p:cNvPicPr>
          <p:nvPr/>
        </p:nvPicPr>
        <p:blipFill>
          <a:blip r:embed="rId9"/>
          <a:srcRect l="-260" r="-260"/>
          <a:stretch/>
        </p:blipFill>
        <p:spPr>
          <a:xfrm>
            <a:off x="3510382" y="5143500"/>
            <a:ext cx="2300935" cy="418795"/>
          </a:xfrm>
          <a:prstGeom prst="rect">
            <a:avLst/>
          </a:prstGeom>
        </p:spPr>
      </p:pic>
      <p:sp>
        <p:nvSpPr>
          <p:cNvPr id="20" name="Shape 11">
            <a:extLst>
              <a:ext uri="{FF2B5EF4-FFF2-40B4-BE49-F238E27FC236}">
                <a16:creationId xmlns:a16="http://schemas.microsoft.com/office/drawing/2014/main" id="{0A4FE0DB-0E00-A4E0-D0F5-5DA20E53E7F3}"/>
              </a:ext>
            </a:extLst>
          </p:cNvPr>
          <p:cNvSpPr/>
          <p:nvPr/>
        </p:nvSpPr>
        <p:spPr>
          <a:xfrm>
            <a:off x="3510382" y="5143500"/>
            <a:ext cx="2300935" cy="418795"/>
          </a:xfrm>
          <a:prstGeom prst="roundRect">
            <a:avLst>
              <a:gd name="adj" fmla="val 13755"/>
            </a:avLst>
          </a:prstGeom>
          <a:noFill/>
          <a:ln w="12700">
            <a:solidFill>
              <a:srgbClr val="E5E7EB"/>
            </a:solidFill>
            <a:prstDash val="solid"/>
          </a:ln>
        </p:spPr>
        <p:txBody>
          <a:bodyPr/>
          <a:lstStyle/>
          <a:p>
            <a:endParaRPr lang="en-US"/>
          </a:p>
        </p:txBody>
      </p:sp>
      <p:sp>
        <p:nvSpPr>
          <p:cNvPr id="21" name="Text 12">
            <a:extLst>
              <a:ext uri="{FF2B5EF4-FFF2-40B4-BE49-F238E27FC236}">
                <a16:creationId xmlns:a16="http://schemas.microsoft.com/office/drawing/2014/main" id="{F5640A7D-F0E3-6BED-EEA7-16F614B5632E}"/>
              </a:ext>
            </a:extLst>
          </p:cNvPr>
          <p:cNvSpPr txBox="1"/>
          <p:nvPr/>
        </p:nvSpPr>
        <p:spPr>
          <a:xfrm>
            <a:off x="3735018" y="5143500"/>
            <a:ext cx="1648005"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300+ in-house recruiters, </a:t>
            </a:r>
          </a:p>
          <a:p>
            <a:pPr marL="0" indent="0" algn="l">
              <a:buNone/>
            </a:pPr>
            <a:r>
              <a:rPr lang="en-US" sz="1100" b="1">
                <a:solidFill>
                  <a:srgbClr val="374151"/>
                </a:solidFill>
                <a:latin typeface="Raleway" pitchFamily="34" charset="0"/>
                <a:ea typeface="Raleway" pitchFamily="34" charset="-122"/>
                <a:cs typeface="Raleway" pitchFamily="34" charset="-120"/>
              </a:rPr>
              <a:t>zero subcontracting</a:t>
            </a:r>
            <a:endParaRPr lang="en-US" sz="1100"/>
          </a:p>
        </p:txBody>
      </p:sp>
      <p:pic>
        <p:nvPicPr>
          <p:cNvPr id="22" name="Image 7" descr="gen-dedup-c395ac9c840728d6470a4a8b33662e6e.png">
            <a:extLst>
              <a:ext uri="{FF2B5EF4-FFF2-40B4-BE49-F238E27FC236}">
                <a16:creationId xmlns:a16="http://schemas.microsoft.com/office/drawing/2014/main" id="{93207DB2-729B-AE24-7E77-6519958DE5C8}"/>
              </a:ext>
            </a:extLst>
          </p:cNvPr>
          <p:cNvPicPr>
            <a:picLocks noChangeAspect="1"/>
          </p:cNvPicPr>
          <p:nvPr/>
        </p:nvPicPr>
        <p:blipFill>
          <a:blip r:embed="rId10"/>
          <a:srcRect t="-16800" b="-16800"/>
          <a:stretch/>
        </p:blipFill>
        <p:spPr>
          <a:xfrm>
            <a:off x="3738981" y="5277002"/>
            <a:ext cx="170389" cy="152705"/>
          </a:xfrm>
          <a:prstGeom prst="rect">
            <a:avLst/>
          </a:prstGeom>
        </p:spPr>
      </p:pic>
      <p:pic>
        <p:nvPicPr>
          <p:cNvPr id="23" name="Image 8" descr="gen-dedup-fe10f786880821f62e6e2a70ff719369.png">
            <a:extLst>
              <a:ext uri="{FF2B5EF4-FFF2-40B4-BE49-F238E27FC236}">
                <a16:creationId xmlns:a16="http://schemas.microsoft.com/office/drawing/2014/main" id="{E0CA82C4-F034-80D0-F825-1B18CD990C55}"/>
              </a:ext>
            </a:extLst>
          </p:cNvPr>
          <p:cNvPicPr>
            <a:picLocks noChangeAspect="1"/>
          </p:cNvPicPr>
          <p:nvPr/>
        </p:nvPicPr>
        <p:blipFill>
          <a:blip r:embed="rId11"/>
          <a:srcRect l="-58" r="-58"/>
          <a:stretch/>
        </p:blipFill>
        <p:spPr>
          <a:xfrm>
            <a:off x="6080150" y="5143500"/>
            <a:ext cx="2619756" cy="418795"/>
          </a:xfrm>
          <a:prstGeom prst="rect">
            <a:avLst/>
          </a:prstGeom>
        </p:spPr>
      </p:pic>
      <p:sp>
        <p:nvSpPr>
          <p:cNvPr id="24" name="Shape 13">
            <a:extLst>
              <a:ext uri="{FF2B5EF4-FFF2-40B4-BE49-F238E27FC236}">
                <a16:creationId xmlns:a16="http://schemas.microsoft.com/office/drawing/2014/main" id="{2266D092-185E-2198-BDD3-B88FC8175BF2}"/>
              </a:ext>
            </a:extLst>
          </p:cNvPr>
          <p:cNvSpPr/>
          <p:nvPr/>
        </p:nvSpPr>
        <p:spPr>
          <a:xfrm>
            <a:off x="6080150" y="5143500"/>
            <a:ext cx="2619756" cy="418795"/>
          </a:xfrm>
          <a:prstGeom prst="roundRect">
            <a:avLst>
              <a:gd name="adj" fmla="val 13755"/>
            </a:avLst>
          </a:prstGeom>
          <a:noFill/>
          <a:ln w="12700">
            <a:solidFill>
              <a:srgbClr val="E5E7EB"/>
            </a:solidFill>
            <a:prstDash val="solid"/>
          </a:ln>
        </p:spPr>
        <p:txBody>
          <a:bodyPr/>
          <a:lstStyle/>
          <a:p>
            <a:endParaRPr lang="en-US"/>
          </a:p>
        </p:txBody>
      </p:sp>
      <p:sp>
        <p:nvSpPr>
          <p:cNvPr id="25" name="Text 14">
            <a:extLst>
              <a:ext uri="{FF2B5EF4-FFF2-40B4-BE49-F238E27FC236}">
                <a16:creationId xmlns:a16="http://schemas.microsoft.com/office/drawing/2014/main" id="{ED31349B-331C-666B-1026-10D8E100F4F3}"/>
              </a:ext>
            </a:extLst>
          </p:cNvPr>
          <p:cNvSpPr txBox="1"/>
          <p:nvPr/>
        </p:nvSpPr>
        <p:spPr>
          <a:xfrm>
            <a:off x="6304788" y="5143500"/>
            <a:ext cx="2181758"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Contract-to-hire flexibility </a:t>
            </a:r>
          </a:p>
          <a:p>
            <a:pPr marL="0" indent="0" algn="l">
              <a:buNone/>
            </a:pPr>
            <a:r>
              <a:rPr lang="en-US" sz="1100" b="1">
                <a:solidFill>
                  <a:srgbClr val="374151"/>
                </a:solidFill>
                <a:latin typeface="Raleway" pitchFamily="34" charset="0"/>
                <a:ea typeface="Raleway" pitchFamily="34" charset="-122"/>
                <a:cs typeface="Raleway" pitchFamily="34" charset="-120"/>
              </a:rPr>
              <a:t>built in</a:t>
            </a:r>
            <a:endParaRPr lang="en-US" sz="1100"/>
          </a:p>
        </p:txBody>
      </p:sp>
      <p:pic>
        <p:nvPicPr>
          <p:cNvPr id="26" name="Image 9" descr="gen-dedup-7637b076e607f7218cdb4973c81f38e6.png">
            <a:extLst>
              <a:ext uri="{FF2B5EF4-FFF2-40B4-BE49-F238E27FC236}">
                <a16:creationId xmlns:a16="http://schemas.microsoft.com/office/drawing/2014/main" id="{205FF807-74F6-4E07-EE11-D8132CD5F0CD}"/>
              </a:ext>
            </a:extLst>
          </p:cNvPr>
          <p:cNvPicPr>
            <a:picLocks noChangeAspect="1"/>
          </p:cNvPicPr>
          <p:nvPr/>
        </p:nvPicPr>
        <p:blipFill>
          <a:blip r:embed="rId12"/>
          <a:srcRect t="-8450" b="-8450"/>
          <a:stretch/>
        </p:blipFill>
        <p:spPr>
          <a:xfrm>
            <a:off x="6308750" y="5277002"/>
            <a:ext cx="114300" cy="152705"/>
          </a:xfrm>
          <a:prstGeom prst="rect">
            <a:avLst/>
          </a:prstGeom>
        </p:spPr>
      </p:pic>
      <p:pic>
        <p:nvPicPr>
          <p:cNvPr id="27" name="Image 10" descr="gen-dedup-4b04481605890cd5e2948f325621428b.png">
            <a:extLst>
              <a:ext uri="{FF2B5EF4-FFF2-40B4-BE49-F238E27FC236}">
                <a16:creationId xmlns:a16="http://schemas.microsoft.com/office/drawing/2014/main" id="{FB78842A-22DE-1C9A-4EE2-D07FD5A3BBDC}"/>
              </a:ext>
            </a:extLst>
          </p:cNvPr>
          <p:cNvPicPr>
            <a:picLocks noChangeAspect="1"/>
          </p:cNvPicPr>
          <p:nvPr/>
        </p:nvPicPr>
        <p:blipFill>
          <a:blip r:embed="rId13"/>
          <a:srcRect l="-216" r="-216"/>
          <a:stretch/>
        </p:blipFill>
        <p:spPr>
          <a:xfrm>
            <a:off x="8850782" y="5143500"/>
            <a:ext cx="2562149" cy="418795"/>
          </a:xfrm>
          <a:prstGeom prst="rect">
            <a:avLst/>
          </a:prstGeom>
        </p:spPr>
      </p:pic>
      <p:sp>
        <p:nvSpPr>
          <p:cNvPr id="28" name="Shape 15">
            <a:extLst>
              <a:ext uri="{FF2B5EF4-FFF2-40B4-BE49-F238E27FC236}">
                <a16:creationId xmlns:a16="http://schemas.microsoft.com/office/drawing/2014/main" id="{34AB57F4-B2CA-C3A2-0103-9F6A8E9AFA38}"/>
              </a:ext>
            </a:extLst>
          </p:cNvPr>
          <p:cNvSpPr/>
          <p:nvPr/>
        </p:nvSpPr>
        <p:spPr>
          <a:xfrm>
            <a:off x="8850782" y="5143500"/>
            <a:ext cx="2562149" cy="418795"/>
          </a:xfrm>
          <a:prstGeom prst="roundRect">
            <a:avLst>
              <a:gd name="adj" fmla="val 13755"/>
            </a:avLst>
          </a:prstGeom>
          <a:noFill/>
          <a:ln w="12700">
            <a:solidFill>
              <a:srgbClr val="E5E7EB"/>
            </a:solidFill>
            <a:prstDash val="solid"/>
          </a:ln>
        </p:spPr>
        <p:txBody>
          <a:bodyPr/>
          <a:lstStyle/>
          <a:p>
            <a:endParaRPr lang="en-US"/>
          </a:p>
        </p:txBody>
      </p:sp>
      <p:sp>
        <p:nvSpPr>
          <p:cNvPr id="29" name="Text 16">
            <a:extLst>
              <a:ext uri="{FF2B5EF4-FFF2-40B4-BE49-F238E27FC236}">
                <a16:creationId xmlns:a16="http://schemas.microsoft.com/office/drawing/2014/main" id="{5B673A20-4A15-839A-EE62-676A6C5F3333}"/>
              </a:ext>
            </a:extLst>
          </p:cNvPr>
          <p:cNvSpPr txBox="1"/>
          <p:nvPr/>
        </p:nvSpPr>
        <p:spPr>
          <a:xfrm>
            <a:off x="9075420" y="5143500"/>
            <a:ext cx="2125066"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Pod governance + sprint </a:t>
            </a:r>
          </a:p>
          <a:p>
            <a:pPr marL="0" indent="0" algn="l">
              <a:buNone/>
            </a:pPr>
            <a:r>
              <a:rPr lang="en-US" sz="1100" b="1">
                <a:solidFill>
                  <a:srgbClr val="374151"/>
                </a:solidFill>
                <a:latin typeface="Raleway" pitchFamily="34" charset="0"/>
                <a:ea typeface="Raleway" pitchFamily="34" charset="-122"/>
                <a:cs typeface="Raleway" pitchFamily="34" charset="-120"/>
              </a:rPr>
              <a:t>accountability from Day 1</a:t>
            </a:r>
            <a:endParaRPr lang="en-US" sz="1100"/>
          </a:p>
        </p:txBody>
      </p:sp>
      <p:pic>
        <p:nvPicPr>
          <p:cNvPr id="30" name="Image 11" descr="gen-dedup-de4cb59b8211160ed90cebf7a454cebf.png">
            <a:extLst>
              <a:ext uri="{FF2B5EF4-FFF2-40B4-BE49-F238E27FC236}">
                <a16:creationId xmlns:a16="http://schemas.microsoft.com/office/drawing/2014/main" id="{93529912-BB1C-C574-75A1-3D8ECD602D40}"/>
              </a:ext>
            </a:extLst>
          </p:cNvPr>
          <p:cNvPicPr>
            <a:picLocks noChangeAspect="1"/>
          </p:cNvPicPr>
          <p:nvPr/>
        </p:nvPicPr>
        <p:blipFill>
          <a:blip r:embed="rId14"/>
          <a:srcRect t="-16800" b="-16800"/>
          <a:stretch/>
        </p:blipFill>
        <p:spPr>
          <a:xfrm>
            <a:off x="9079382" y="5277002"/>
            <a:ext cx="114300" cy="152705"/>
          </a:xfrm>
          <a:prstGeom prst="rect">
            <a:avLst/>
          </a:prstGeom>
        </p:spPr>
      </p:pic>
      <p:sp>
        <p:nvSpPr>
          <p:cNvPr id="31" name="Shape 17">
            <a:extLst>
              <a:ext uri="{FF2B5EF4-FFF2-40B4-BE49-F238E27FC236}">
                <a16:creationId xmlns:a16="http://schemas.microsoft.com/office/drawing/2014/main" id="{99FB5298-5A36-5FFC-CC7E-17E7D43B7AAD}"/>
              </a:ext>
            </a:extLst>
          </p:cNvPr>
          <p:cNvSpPr/>
          <p:nvPr/>
        </p:nvSpPr>
        <p:spPr>
          <a:xfrm>
            <a:off x="1143000" y="6096305"/>
            <a:ext cx="9905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32" name="Text 18">
            <a:extLst>
              <a:ext uri="{FF2B5EF4-FFF2-40B4-BE49-F238E27FC236}">
                <a16:creationId xmlns:a16="http://schemas.microsoft.com/office/drawing/2014/main" id="{ED705767-82C0-1D2C-EADE-B791EDD5E9F6}"/>
              </a:ext>
            </a:extLst>
          </p:cNvPr>
          <p:cNvSpPr txBox="1"/>
          <p:nvPr/>
        </p:nvSpPr>
        <p:spPr>
          <a:xfrm>
            <a:off x="1143000" y="6258154"/>
            <a:ext cx="9906610" cy="181051"/>
          </a:xfrm>
          <a:prstGeom prst="rect">
            <a:avLst/>
          </a:prstGeom>
          <a:noFill/>
          <a:ln/>
        </p:spPr>
        <p:txBody>
          <a:bodyPr wrap="none" lIns="0" tIns="0" rIns="0" bIns="0" rtlCol="0" anchor="ctr"/>
          <a:lstStyle/>
          <a:p>
            <a:pPr marL="0" indent="0" algn="l">
              <a:buNone/>
            </a:pPr>
            <a:r>
              <a:rPr lang="en-US" sz="1200" b="1" kern="0" spc="24">
                <a:solidFill>
                  <a:srgbClr val="6B7280"/>
                </a:solidFill>
                <a:latin typeface="Raleway" pitchFamily="34" charset="0"/>
                <a:ea typeface="Raleway" pitchFamily="34" charset="-122"/>
                <a:cs typeface="Raleway" pitchFamily="34" charset="-120"/>
              </a:rPr>
              <a:t>Scale your engineering capacity with domain depth and delivery accountability.</a:t>
            </a:r>
            <a:endParaRPr lang="en-US" sz="1200"/>
          </a:p>
        </p:txBody>
      </p:sp>
    </p:spTree>
    <p:extLst>
      <p:ext uri="{BB962C8B-B14F-4D97-AF65-F5344CB8AC3E}">
        <p14:creationId xmlns:p14="http://schemas.microsoft.com/office/powerpoint/2010/main" val="4170679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323228122ff92d2332e711a84ca3b40c.png"/>
          <p:cNvPicPr>
            <a:picLocks noChangeAspect="1"/>
          </p:cNvPicPr>
          <p:nvPr/>
        </p:nvPicPr>
        <p:blipFill>
          <a:blip r:embed="rId3"/>
          <a:srcRect l="-198" r="-198"/>
          <a:stretch/>
        </p:blipFill>
        <p:spPr>
          <a:xfrm>
            <a:off x="0" y="0"/>
            <a:ext cx="8124444" cy="75895"/>
          </a:xfrm>
          <a:prstGeom prst="rect">
            <a:avLst/>
          </a:prstGeom>
        </p:spPr>
      </p:pic>
      <p:pic>
        <p:nvPicPr>
          <p:cNvPr id="5" name="Image 1" descr="gen-dedup-9663ecf744b06e35d4c2cebaab92a2ea.png"/>
          <p:cNvPicPr>
            <a:picLocks noChangeAspect="1"/>
          </p:cNvPicPr>
          <p:nvPr/>
        </p:nvPicPr>
        <p:blipFill>
          <a:blip r:embed="rId4"/>
          <a:srcRect l="-202" r="-202"/>
          <a:stretch/>
        </p:blipFill>
        <p:spPr>
          <a:xfrm>
            <a:off x="8124444" y="0"/>
            <a:ext cx="4067251" cy="75895"/>
          </a:xfrm>
          <a:prstGeom prst="rect">
            <a:avLst/>
          </a:prstGeom>
        </p:spPr>
      </p:pic>
      <p:sp>
        <p:nvSpPr>
          <p:cNvPr id="6" name="Shape 2"/>
          <p:cNvSpPr/>
          <p:nvPr/>
        </p:nvSpPr>
        <p:spPr>
          <a:xfrm>
            <a:off x="9525305" y="4762195"/>
            <a:ext cx="3810305" cy="3810305"/>
          </a:xfrm>
          <a:prstGeom prst="ellipse">
            <a:avLst/>
          </a:prstGeom>
          <a:noFill/>
          <a:ln w="508000">
            <a:solidFill>
              <a:srgbClr val="D62839">
                <a:alpha val="3000"/>
              </a:srgbClr>
            </a:solidFill>
            <a:prstDash val="solid"/>
          </a:ln>
        </p:spPr>
        <p:txBody>
          <a:bodyPr/>
          <a:lstStyle/>
          <a:p>
            <a:endParaRPr lang="en-US"/>
          </a:p>
        </p:txBody>
      </p:sp>
      <p:pic>
        <p:nvPicPr>
          <p:cNvPr id="7" name="Image 2" descr="gen-dedup-b81d2082573e6d8de64df87af639bbf0.png"/>
          <p:cNvPicPr>
            <a:picLocks noChangeAspect="1"/>
          </p:cNvPicPr>
          <p:nvPr/>
        </p:nvPicPr>
        <p:blipFill>
          <a:blip r:embed="rId5"/>
          <a:srcRect l="-360" r="-360"/>
          <a:stretch/>
        </p:blipFill>
        <p:spPr>
          <a:xfrm>
            <a:off x="609905" y="381305"/>
            <a:ext cx="57607" cy="381305"/>
          </a:xfrm>
          <a:prstGeom prst="rect">
            <a:avLst/>
          </a:prstGeom>
        </p:spPr>
      </p:pic>
      <p:sp>
        <p:nvSpPr>
          <p:cNvPr id="8" name="Shape 3"/>
          <p:cNvSpPr/>
          <p:nvPr/>
        </p:nvSpPr>
        <p:spPr>
          <a:xfrm>
            <a:off x="6099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9" name="Shape 4"/>
          <p:cNvSpPr/>
          <p:nvPr/>
        </p:nvSpPr>
        <p:spPr>
          <a:xfrm>
            <a:off x="60990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0" name="Shape 5"/>
          <p:cNvSpPr/>
          <p:nvPr/>
        </p:nvSpPr>
        <p:spPr>
          <a:xfrm>
            <a:off x="3429000"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1" name="Shape 6"/>
          <p:cNvSpPr/>
          <p:nvPr/>
        </p:nvSpPr>
        <p:spPr>
          <a:xfrm>
            <a:off x="3429000"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sp>
        <p:nvSpPr>
          <p:cNvPr id="12" name="Shape 7"/>
          <p:cNvSpPr/>
          <p:nvPr/>
        </p:nvSpPr>
        <p:spPr>
          <a:xfrm>
            <a:off x="624809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3" name="Shape 8"/>
          <p:cNvSpPr/>
          <p:nvPr/>
        </p:nvSpPr>
        <p:spPr>
          <a:xfrm>
            <a:off x="624809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4" name="Shape 9"/>
          <p:cNvSpPr/>
          <p:nvPr/>
        </p:nvSpPr>
        <p:spPr>
          <a:xfrm>
            <a:off x="90681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5" name="Shape 10"/>
          <p:cNvSpPr/>
          <p:nvPr/>
        </p:nvSpPr>
        <p:spPr>
          <a:xfrm>
            <a:off x="9068105"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pic>
        <p:nvPicPr>
          <p:cNvPr id="16" name="Image 3" descr="gen-dedup-c79c8869390c39dd2ec5734755e72ead.png"/>
          <p:cNvPicPr>
            <a:picLocks noChangeAspect="1"/>
          </p:cNvPicPr>
          <p:nvPr/>
        </p:nvPicPr>
        <p:blipFill>
          <a:blip r:embed="rId6"/>
          <a:srcRect l="-2083" r="-2083"/>
          <a:stretch/>
        </p:blipFill>
        <p:spPr>
          <a:xfrm>
            <a:off x="609905" y="5715000"/>
            <a:ext cx="11011205" cy="9144"/>
          </a:xfrm>
          <a:prstGeom prst="rect">
            <a:avLst/>
          </a:prstGeom>
        </p:spPr>
      </p:pic>
      <p:sp>
        <p:nvSpPr>
          <p:cNvPr id="17" name="Shape 11"/>
          <p:cNvSpPr/>
          <p:nvPr/>
        </p:nvSpPr>
        <p:spPr>
          <a:xfrm>
            <a:off x="609905" y="5905195"/>
            <a:ext cx="11058754" cy="685800"/>
          </a:xfrm>
          <a:prstGeom prst="roundRect">
            <a:avLst>
              <a:gd name="adj" fmla="val 29630"/>
            </a:avLst>
          </a:prstGeom>
          <a:solidFill>
            <a:srgbClr val="2A9D8F">
              <a:alpha val="5000"/>
            </a:srgbClr>
          </a:solidFill>
          <a:ln w="12700">
            <a:solidFill>
              <a:srgbClr val="E5E7EB"/>
            </a:solidFill>
            <a:prstDash val="solid"/>
          </a:ln>
        </p:spPr>
        <p:txBody>
          <a:bodyPr/>
          <a:lstStyle/>
          <a:p>
            <a:endParaRPr lang="en-US"/>
          </a:p>
        </p:txBody>
      </p:sp>
      <p:sp>
        <p:nvSpPr>
          <p:cNvPr id="18" name="Shape 12"/>
          <p:cNvSpPr/>
          <p:nvPr/>
        </p:nvSpPr>
        <p:spPr>
          <a:xfrm>
            <a:off x="609905" y="5905195"/>
            <a:ext cx="38405" cy="685800"/>
          </a:xfrm>
          <a:prstGeom prst="roundRect">
            <a:avLst>
              <a:gd name="adj" fmla="val 529098"/>
            </a:avLst>
          </a:prstGeom>
          <a:solidFill>
            <a:srgbClr val="2A9D8F"/>
          </a:solidFill>
          <a:ln w="12700">
            <a:solidFill>
              <a:srgbClr val="2A9D8F">
                <a:alpha val="0"/>
              </a:srgbClr>
            </a:solidFill>
            <a:prstDash val="solid"/>
          </a:ln>
        </p:spPr>
        <p:txBody>
          <a:bodyPr/>
          <a:lstStyle/>
          <a:p>
            <a:endParaRPr lang="en-US"/>
          </a:p>
        </p:txBody>
      </p:sp>
      <p:pic>
        <p:nvPicPr>
          <p:cNvPr id="19" name="Image 4" descr="gen-dedup-1bf8b7c2ed0132a588bc6493359d36f7.png"/>
          <p:cNvPicPr>
            <a:picLocks noChangeAspect="1"/>
          </p:cNvPicPr>
          <p:nvPr/>
        </p:nvPicPr>
        <p:blipFill>
          <a:blip r:embed="rId7"/>
          <a:srcRect/>
          <a:stretch/>
        </p:blipFill>
        <p:spPr>
          <a:xfrm>
            <a:off x="3157460" y="3543605"/>
            <a:ext cx="323698" cy="323698"/>
          </a:xfrm>
          <a:prstGeom prst="rect">
            <a:avLst/>
          </a:prstGeom>
        </p:spPr>
      </p:pic>
      <p:pic>
        <p:nvPicPr>
          <p:cNvPr id="20" name="Image 5" descr="gen-dedup-4f3b576989a6b43ea9ecd09ca0f289b1.png"/>
          <p:cNvPicPr>
            <a:picLocks noChangeAspect="1"/>
          </p:cNvPicPr>
          <p:nvPr/>
        </p:nvPicPr>
        <p:blipFill>
          <a:blip r:embed="rId8"/>
          <a:srcRect t="-5544" b="-5544"/>
          <a:stretch/>
        </p:blipFill>
        <p:spPr>
          <a:xfrm>
            <a:off x="3266274" y="3638702"/>
            <a:ext cx="105156" cy="133502"/>
          </a:xfrm>
          <a:prstGeom prst="rect">
            <a:avLst/>
          </a:prstGeom>
        </p:spPr>
      </p:pic>
      <p:pic>
        <p:nvPicPr>
          <p:cNvPr id="21" name="Image 6" descr="gen-dedup-1bf8b7c2ed0132a588bc6493359d36f7.png"/>
          <p:cNvPicPr>
            <a:picLocks noChangeAspect="1"/>
          </p:cNvPicPr>
          <p:nvPr/>
        </p:nvPicPr>
        <p:blipFill>
          <a:blip r:embed="rId7"/>
          <a:srcRect/>
          <a:stretch/>
        </p:blipFill>
        <p:spPr>
          <a:xfrm>
            <a:off x="5976555" y="3543605"/>
            <a:ext cx="323698" cy="323698"/>
          </a:xfrm>
          <a:prstGeom prst="rect">
            <a:avLst/>
          </a:prstGeom>
        </p:spPr>
      </p:pic>
      <p:pic>
        <p:nvPicPr>
          <p:cNvPr id="22" name="Image 7" descr="gen-dedup-4f3b576989a6b43ea9ecd09ca0f289b1.png"/>
          <p:cNvPicPr>
            <a:picLocks noChangeAspect="1"/>
          </p:cNvPicPr>
          <p:nvPr/>
        </p:nvPicPr>
        <p:blipFill>
          <a:blip r:embed="rId8"/>
          <a:srcRect t="-5544" b="-5544"/>
          <a:stretch/>
        </p:blipFill>
        <p:spPr>
          <a:xfrm>
            <a:off x="6086283" y="3638702"/>
            <a:ext cx="105156" cy="133502"/>
          </a:xfrm>
          <a:prstGeom prst="rect">
            <a:avLst/>
          </a:prstGeom>
        </p:spPr>
      </p:pic>
      <p:pic>
        <p:nvPicPr>
          <p:cNvPr id="23" name="Image 8" descr="gen-dedup-1bf8b7c2ed0132a588bc6493359d36f7.png"/>
          <p:cNvPicPr>
            <a:picLocks noChangeAspect="1"/>
          </p:cNvPicPr>
          <p:nvPr/>
        </p:nvPicPr>
        <p:blipFill>
          <a:blip r:embed="rId7"/>
          <a:srcRect/>
          <a:stretch/>
        </p:blipFill>
        <p:spPr>
          <a:xfrm>
            <a:off x="8795651" y="3543605"/>
            <a:ext cx="323698" cy="323698"/>
          </a:xfrm>
          <a:prstGeom prst="rect">
            <a:avLst/>
          </a:prstGeom>
        </p:spPr>
      </p:pic>
      <p:pic>
        <p:nvPicPr>
          <p:cNvPr id="24" name="Image 9" descr="gen-dedup-4f3b576989a6b43ea9ecd09ca0f289b1.png"/>
          <p:cNvPicPr>
            <a:picLocks noChangeAspect="1"/>
          </p:cNvPicPr>
          <p:nvPr/>
        </p:nvPicPr>
        <p:blipFill>
          <a:blip r:embed="rId8"/>
          <a:srcRect t="-5544" b="-5544"/>
          <a:stretch/>
        </p:blipFill>
        <p:spPr>
          <a:xfrm>
            <a:off x="8905379" y="3638702"/>
            <a:ext cx="105156" cy="133502"/>
          </a:xfrm>
          <a:prstGeom prst="rect">
            <a:avLst/>
          </a:prstGeom>
        </p:spPr>
      </p:pic>
      <p:sp>
        <p:nvSpPr>
          <p:cNvPr id="25" name="Text 13"/>
          <p:cNvSpPr txBox="1"/>
          <p:nvPr/>
        </p:nvSpPr>
        <p:spPr>
          <a:xfrm>
            <a:off x="819302" y="304495"/>
            <a:ext cx="10478110" cy="419710"/>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THE J2W OPERATING MODEL</a:t>
            </a:r>
            <a:endParaRPr lang="en-US" sz="2700" dirty="0"/>
          </a:p>
        </p:txBody>
      </p:sp>
      <p:sp>
        <p:nvSpPr>
          <p:cNvPr id="26" name="Text 14"/>
          <p:cNvSpPr txBox="1"/>
          <p:nvPr/>
        </p:nvSpPr>
        <p:spPr>
          <a:xfrm>
            <a:off x="819302" y="792785"/>
            <a:ext cx="10478110" cy="181051"/>
          </a:xfrm>
          <a:prstGeom prst="rect">
            <a:avLst/>
          </a:prstGeom>
          <a:noFill/>
          <a:ln/>
        </p:spPr>
        <p:txBody>
          <a:bodyPr wrap="none" lIns="0" tIns="0" rIns="0" bIns="0" rtlCol="0" anchor="ctr"/>
          <a:lstStyle/>
          <a:p>
            <a:pPr marL="0" indent="0" algn="l">
              <a:buNone/>
            </a:pPr>
            <a:r>
              <a:rPr lang="en-US" sz="1500" b="1" dirty="0">
                <a:solidFill>
                  <a:srgbClr val="2A9D8F"/>
                </a:solidFill>
                <a:latin typeface="Raleway" pitchFamily="34" charset="0"/>
                <a:ea typeface="Raleway" pitchFamily="34" charset="-122"/>
                <a:cs typeface="Raleway" pitchFamily="34" charset="-120"/>
              </a:rPr>
              <a:t>We Don't Just Deploy - We Embed, Align, And Deliver Measurable Outcomes.</a:t>
            </a:r>
            <a:endParaRPr lang="en-US" sz="1500" b="1" dirty="0">
              <a:solidFill>
                <a:srgbClr val="2A9D8F"/>
              </a:solidFill>
            </a:endParaRPr>
          </a:p>
        </p:txBody>
      </p:sp>
      <p:sp>
        <p:nvSpPr>
          <p:cNvPr id="27" name="Shape 15"/>
          <p:cNvSpPr/>
          <p:nvPr/>
        </p:nvSpPr>
        <p:spPr>
          <a:xfrm>
            <a:off x="163860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28" name="Image 10" descr="gen-dedup-ac1977dfe20a87d93b03eab8a85600aa.png"/>
          <p:cNvPicPr>
            <a:picLocks noChangeAspect="1"/>
          </p:cNvPicPr>
          <p:nvPr/>
        </p:nvPicPr>
        <p:blipFill>
          <a:blip r:embed="rId9"/>
          <a:srcRect t="-13131" b="-13131"/>
          <a:stretch/>
        </p:blipFill>
        <p:spPr>
          <a:xfrm>
            <a:off x="1814170" y="1971446"/>
            <a:ext cx="181051" cy="228600"/>
          </a:xfrm>
          <a:prstGeom prst="rect">
            <a:avLst/>
          </a:prstGeom>
        </p:spPr>
      </p:pic>
      <p:sp>
        <p:nvSpPr>
          <p:cNvPr id="29" name="Text 16"/>
          <p:cNvSpPr txBox="1"/>
          <p:nvPr/>
        </p:nvSpPr>
        <p:spPr>
          <a:xfrm>
            <a:off x="7050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Embed.</a:t>
            </a:r>
            <a:endParaRPr lang="en-US" sz="2000" dirty="0"/>
          </a:p>
        </p:txBody>
      </p:sp>
      <p:sp>
        <p:nvSpPr>
          <p:cNvPr id="30" name="Text 17"/>
          <p:cNvSpPr txBox="1"/>
          <p:nvPr/>
        </p:nvSpPr>
        <p:spPr>
          <a:xfrm>
            <a:off x="705002"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Days 1–14</a:t>
            </a:r>
            <a:endParaRPr lang="en-US" sz="1300" dirty="0"/>
          </a:p>
        </p:txBody>
      </p:sp>
      <p:sp>
        <p:nvSpPr>
          <p:cNvPr id="31" name="Text 18"/>
          <p:cNvSpPr txBox="1"/>
          <p:nvPr/>
        </p:nvSpPr>
        <p:spPr>
          <a:xfrm>
            <a:off x="705002" y="3018434"/>
            <a:ext cx="2309775" cy="1743761"/>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map your stakeholder reality before touching a single workflow — identifying the 80% we move within and the 20% that unlocks transformation.</a:t>
            </a:r>
            <a:endParaRPr lang="en-US" sz="1200" dirty="0"/>
          </a:p>
        </p:txBody>
      </p:sp>
      <p:sp>
        <p:nvSpPr>
          <p:cNvPr id="32" name="Text 19"/>
          <p:cNvSpPr txBox="1"/>
          <p:nvPr/>
        </p:nvSpPr>
        <p:spPr>
          <a:xfrm>
            <a:off x="2409444" y="1687137"/>
            <a:ext cx="601675"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01</a:t>
            </a:r>
            <a:endParaRPr lang="en-US" sz="3600" dirty="0"/>
          </a:p>
        </p:txBody>
      </p:sp>
      <p:sp>
        <p:nvSpPr>
          <p:cNvPr id="33" name="Shape 20"/>
          <p:cNvSpPr/>
          <p:nvPr/>
        </p:nvSpPr>
        <p:spPr>
          <a:xfrm>
            <a:off x="4457700"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34" name="Image 11" descr="gen-dedup-bb65f8a83efde23cd45884ce4e632f2a.png"/>
          <p:cNvPicPr>
            <a:picLocks noChangeAspect="1"/>
          </p:cNvPicPr>
          <p:nvPr/>
        </p:nvPicPr>
        <p:blipFill>
          <a:blip r:embed="rId10"/>
          <a:srcRect t="-13131" b="-13131"/>
          <a:stretch/>
        </p:blipFill>
        <p:spPr>
          <a:xfrm>
            <a:off x="4634179" y="1971446"/>
            <a:ext cx="181051" cy="228600"/>
          </a:xfrm>
          <a:prstGeom prst="rect">
            <a:avLst/>
          </a:prstGeom>
        </p:spPr>
      </p:pic>
      <p:sp>
        <p:nvSpPr>
          <p:cNvPr id="35" name="Text 21"/>
          <p:cNvSpPr txBox="1"/>
          <p:nvPr/>
        </p:nvSpPr>
        <p:spPr>
          <a:xfrm>
            <a:off x="3524098"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Build.</a:t>
            </a:r>
            <a:endParaRPr lang="en-US" sz="2000" dirty="0"/>
          </a:p>
        </p:txBody>
      </p:sp>
      <p:sp>
        <p:nvSpPr>
          <p:cNvPr id="36" name="Text 22"/>
          <p:cNvSpPr txBox="1"/>
          <p:nvPr/>
        </p:nvSpPr>
        <p:spPr>
          <a:xfrm>
            <a:off x="3524098"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Weeks 2–6</a:t>
            </a:r>
            <a:endParaRPr lang="en-US" sz="1300" dirty="0"/>
          </a:p>
        </p:txBody>
      </p:sp>
      <p:sp>
        <p:nvSpPr>
          <p:cNvPr id="37" name="Text 23"/>
          <p:cNvSpPr txBox="1"/>
          <p:nvPr/>
        </p:nvSpPr>
        <p:spPr>
          <a:xfrm>
            <a:off x="3524098" y="329793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deploy the closest-fit accelerator and customize where needed. Hundreds of prior engagements mean you inherit a head start, not a blank slate.</a:t>
            </a:r>
            <a:endParaRPr lang="en-US" sz="1200" dirty="0"/>
          </a:p>
        </p:txBody>
      </p:sp>
      <p:sp>
        <p:nvSpPr>
          <p:cNvPr id="38" name="Text 24"/>
          <p:cNvSpPr txBox="1"/>
          <p:nvPr/>
        </p:nvSpPr>
        <p:spPr>
          <a:xfrm>
            <a:off x="5231282"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02</a:t>
            </a:r>
            <a:endParaRPr lang="en-US" sz="3600" dirty="0"/>
          </a:p>
        </p:txBody>
      </p:sp>
      <p:sp>
        <p:nvSpPr>
          <p:cNvPr id="39" name="Shape 25"/>
          <p:cNvSpPr/>
          <p:nvPr/>
        </p:nvSpPr>
        <p:spPr>
          <a:xfrm>
            <a:off x="727679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40" name="Image 12" descr="gen-dedup-ec7913c77fa2db42f3e898c22d604bf4.png"/>
          <p:cNvPicPr>
            <a:picLocks noChangeAspect="1"/>
          </p:cNvPicPr>
          <p:nvPr/>
        </p:nvPicPr>
        <p:blipFill>
          <a:blip r:embed="rId11"/>
          <a:srcRect t="-28914" b="-28914"/>
          <a:stretch/>
        </p:blipFill>
        <p:spPr>
          <a:xfrm>
            <a:off x="7398844" y="1895244"/>
            <a:ext cx="289681" cy="365760"/>
          </a:xfrm>
          <a:prstGeom prst="rect">
            <a:avLst/>
          </a:prstGeom>
        </p:spPr>
      </p:pic>
      <p:sp>
        <p:nvSpPr>
          <p:cNvPr id="41" name="Text 26"/>
          <p:cNvSpPr txBox="1"/>
          <p:nvPr/>
        </p:nvSpPr>
        <p:spPr>
          <a:xfrm>
            <a:off x="6344107"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Operate.</a:t>
            </a:r>
            <a:endParaRPr lang="en-US" sz="2000" dirty="0"/>
          </a:p>
        </p:txBody>
      </p:sp>
      <p:sp>
        <p:nvSpPr>
          <p:cNvPr id="42" name="Text 27"/>
          <p:cNvSpPr txBox="1"/>
          <p:nvPr/>
        </p:nvSpPr>
        <p:spPr>
          <a:xfrm>
            <a:off x="6344107"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Month 2 onward</a:t>
            </a:r>
            <a:endParaRPr lang="en-US" sz="1300" dirty="0"/>
          </a:p>
        </p:txBody>
      </p:sp>
      <p:sp>
        <p:nvSpPr>
          <p:cNvPr id="43" name="Text 28"/>
          <p:cNvSpPr txBox="1"/>
          <p:nvPr/>
        </p:nvSpPr>
        <p:spPr>
          <a:xfrm>
            <a:off x="6344107" y="319572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Forward-deployed engineers run AI inside your enterprise and don't rotate off. The context, accountability, and institutional memory stay with you.</a:t>
            </a:r>
            <a:endParaRPr lang="en-US" sz="1200" dirty="0"/>
          </a:p>
        </p:txBody>
      </p:sp>
      <p:sp>
        <p:nvSpPr>
          <p:cNvPr id="44" name="Text 29"/>
          <p:cNvSpPr txBox="1"/>
          <p:nvPr/>
        </p:nvSpPr>
        <p:spPr>
          <a:xfrm>
            <a:off x="8051292" y="1687137"/>
            <a:ext cx="607162"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03</a:t>
            </a:r>
            <a:endParaRPr lang="en-US" sz="3600" dirty="0"/>
          </a:p>
        </p:txBody>
      </p:sp>
      <p:sp>
        <p:nvSpPr>
          <p:cNvPr id="45" name="Shape 30"/>
          <p:cNvSpPr/>
          <p:nvPr/>
        </p:nvSpPr>
        <p:spPr>
          <a:xfrm>
            <a:off x="10096805"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46" name="Image 13" descr="gen-dedup-9fd551ffaf14ed4b68fb6cf808d818cf.png"/>
          <p:cNvPicPr>
            <a:picLocks noChangeAspect="1"/>
          </p:cNvPicPr>
          <p:nvPr/>
        </p:nvPicPr>
        <p:blipFill>
          <a:blip r:embed="rId12"/>
          <a:srcRect t="-13131" b="-13131"/>
          <a:stretch/>
        </p:blipFill>
        <p:spPr>
          <a:xfrm>
            <a:off x="10272370" y="1971446"/>
            <a:ext cx="181051" cy="228600"/>
          </a:xfrm>
          <a:prstGeom prst="rect">
            <a:avLst/>
          </a:prstGeom>
        </p:spPr>
      </p:pic>
      <p:sp>
        <p:nvSpPr>
          <p:cNvPr id="47" name="Text 31"/>
          <p:cNvSpPr txBox="1"/>
          <p:nvPr/>
        </p:nvSpPr>
        <p:spPr>
          <a:xfrm>
            <a:off x="91632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Compound.</a:t>
            </a:r>
            <a:endParaRPr lang="en-US" sz="2000" dirty="0"/>
          </a:p>
        </p:txBody>
      </p:sp>
      <p:sp>
        <p:nvSpPr>
          <p:cNvPr id="48" name="Text 32"/>
          <p:cNvSpPr txBox="1"/>
          <p:nvPr/>
        </p:nvSpPr>
        <p:spPr>
          <a:xfrm>
            <a:off x="9163202"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Year one &amp; beyond</a:t>
            </a:r>
            <a:endParaRPr lang="en-US" sz="1300" dirty="0"/>
          </a:p>
        </p:txBody>
      </p:sp>
      <p:sp>
        <p:nvSpPr>
          <p:cNvPr id="49" name="Text 33"/>
          <p:cNvSpPr txBox="1"/>
          <p:nvPr/>
        </p:nvSpPr>
        <p:spPr>
          <a:xfrm>
            <a:off x="9163202" y="3285235"/>
            <a:ext cx="2309775" cy="1219810"/>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Every problem solved sharpens the platform. The system gets smarter as you scale — outcomes that compound while you sleep.</a:t>
            </a:r>
            <a:endParaRPr lang="en-US" sz="1200" dirty="0"/>
          </a:p>
        </p:txBody>
      </p:sp>
      <p:sp>
        <p:nvSpPr>
          <p:cNvPr id="50" name="Text 34"/>
          <p:cNvSpPr txBox="1"/>
          <p:nvPr/>
        </p:nvSpPr>
        <p:spPr>
          <a:xfrm>
            <a:off x="10865815"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04</a:t>
            </a:r>
            <a:endParaRPr lang="en-US" sz="3600" dirty="0"/>
          </a:p>
        </p:txBody>
      </p:sp>
      <p:sp>
        <p:nvSpPr>
          <p:cNvPr id="51" name="Text 35"/>
          <p:cNvSpPr txBox="1"/>
          <p:nvPr/>
        </p:nvSpPr>
        <p:spPr>
          <a:xfrm>
            <a:off x="914400" y="6048756"/>
            <a:ext cx="10401300" cy="428854"/>
          </a:xfrm>
          <a:prstGeom prst="rect">
            <a:avLst/>
          </a:prstGeom>
          <a:noFill/>
          <a:ln/>
        </p:spPr>
        <p:txBody>
          <a:bodyPr wrap="square" lIns="0" tIns="0" rIns="0" bIns="0" rtlCol="0" anchor="ctr"/>
          <a:lstStyle/>
          <a:p>
            <a:pPr marL="0" indent="0" algn="ctr">
              <a:buNone/>
            </a:pPr>
            <a:r>
              <a:rPr lang="en-US" sz="1300" b="1" dirty="0">
                <a:solidFill>
                  <a:srgbClr val="2A9D8F"/>
                </a:solidFill>
                <a:latin typeface="Raleway" pitchFamily="34" charset="0"/>
                <a:ea typeface="Raleway" pitchFamily="34" charset="-122"/>
                <a:cs typeface="Raleway" pitchFamily="34" charset="-120"/>
              </a:rPr>
              <a:t>Your business is our GTM.</a:t>
            </a:r>
            <a:r>
              <a:rPr lang="en-US" sz="1300" b="1" dirty="0">
                <a:solidFill>
                  <a:srgbClr val="1F2937"/>
                </a:solidFill>
                <a:latin typeface="Raleway" pitchFamily="34" charset="0"/>
                <a:ea typeface="Raleway" pitchFamily="34" charset="-122"/>
                <a:cs typeface="Raleway" pitchFamily="34" charset="-120"/>
              </a:rPr>
              <a:t> We build with you, so your teams actually adopt, use, and grow everything we create together - not just receive it.</a:t>
            </a:r>
            <a:endParaRPr lang="en-US" sz="1300" dirty="0"/>
          </a:p>
        </p:txBody>
      </p:sp>
    </p:spTree>
    <p:extLst>
      <p:ext uri="{BB962C8B-B14F-4D97-AF65-F5344CB8AC3E}">
        <p14:creationId xmlns:p14="http://schemas.microsoft.com/office/powerpoint/2010/main" val="29685135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4"/>
          <p:cNvSpPr/>
          <p:nvPr/>
        </p:nvSpPr>
        <p:spPr>
          <a:xfrm>
            <a:off x="219456" y="1182624"/>
            <a:ext cx="2779776" cy="60960"/>
          </a:xfrm>
          <a:prstGeom prst="rect">
            <a:avLst/>
          </a:prstGeom>
          <a:solidFill>
            <a:srgbClr val="0D9488"/>
          </a:solidFill>
          <a:ln w="12700">
            <a:solidFill>
              <a:srgbClr val="0D9488"/>
            </a:solidFill>
            <a:prstDash val="solid"/>
          </a:ln>
        </p:spPr>
        <p:txBody>
          <a:bodyPr/>
          <a:lstStyle/>
          <a:p>
            <a:endParaRPr lang="en-US" sz="2400"/>
          </a:p>
        </p:txBody>
      </p:sp>
      <p:sp>
        <p:nvSpPr>
          <p:cNvPr id="7" name="Shape 5"/>
          <p:cNvSpPr/>
          <p:nvPr/>
        </p:nvSpPr>
        <p:spPr>
          <a:xfrm>
            <a:off x="219456"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8" name="Image 0" descr="preencoded.png"/>
          <p:cNvPicPr>
            <a:picLocks noChangeAspect="1"/>
          </p:cNvPicPr>
          <p:nvPr/>
        </p:nvPicPr>
        <p:blipFill>
          <a:blip r:embed="rId3"/>
          <a:stretch>
            <a:fillRect/>
          </a:stretch>
        </p:blipFill>
        <p:spPr>
          <a:xfrm>
            <a:off x="390144" y="1341120"/>
            <a:ext cx="414528" cy="414528"/>
          </a:xfrm>
          <a:prstGeom prst="rect">
            <a:avLst/>
          </a:prstGeom>
        </p:spPr>
      </p:pic>
      <p:sp>
        <p:nvSpPr>
          <p:cNvPr id="9" name="Text 6"/>
          <p:cNvSpPr/>
          <p:nvPr/>
        </p:nvSpPr>
        <p:spPr>
          <a:xfrm>
            <a:off x="341376"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Sourcing Engine</a:t>
            </a:r>
            <a:endParaRPr lang="en-US" sz="1467">
              <a:latin typeface="Oswald" panose="00000500000000000000" pitchFamily="2" charset="0"/>
            </a:endParaRPr>
          </a:p>
        </p:txBody>
      </p:sp>
      <p:sp>
        <p:nvSpPr>
          <p:cNvPr id="10" name="Text 7"/>
          <p:cNvSpPr/>
          <p:nvPr/>
        </p:nvSpPr>
        <p:spPr>
          <a:xfrm>
            <a:off x="341376"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AI-driven talent matching across 8,500+ active consultants and 1,250+ skills - niche to mainstream.</a:t>
            </a:r>
            <a:endParaRPr lang="en-US" sz="1133">
              <a:latin typeface="Raleway" pitchFamily="2" charset="0"/>
            </a:endParaRPr>
          </a:p>
        </p:txBody>
      </p:sp>
      <p:sp>
        <p:nvSpPr>
          <p:cNvPr id="11" name="Shape 8"/>
          <p:cNvSpPr/>
          <p:nvPr/>
        </p:nvSpPr>
        <p:spPr>
          <a:xfrm>
            <a:off x="3108960" y="1182624"/>
            <a:ext cx="2779776" cy="60960"/>
          </a:xfrm>
          <a:prstGeom prst="rect">
            <a:avLst/>
          </a:prstGeom>
          <a:solidFill>
            <a:srgbClr val="C0392B"/>
          </a:solidFill>
          <a:ln w="12700">
            <a:solidFill>
              <a:srgbClr val="C0392B"/>
            </a:solidFill>
            <a:prstDash val="solid"/>
          </a:ln>
        </p:spPr>
        <p:txBody>
          <a:bodyPr/>
          <a:lstStyle/>
          <a:p>
            <a:endParaRPr lang="en-US" sz="2400"/>
          </a:p>
        </p:txBody>
      </p:sp>
      <p:sp>
        <p:nvSpPr>
          <p:cNvPr id="12" name="Shape 9"/>
          <p:cNvSpPr/>
          <p:nvPr/>
        </p:nvSpPr>
        <p:spPr>
          <a:xfrm>
            <a:off x="3108960"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13" name="Image 1" descr="preencoded.png"/>
          <p:cNvPicPr>
            <a:picLocks noChangeAspect="1"/>
          </p:cNvPicPr>
          <p:nvPr/>
        </p:nvPicPr>
        <p:blipFill>
          <a:blip r:embed="rId4"/>
          <a:stretch>
            <a:fillRect/>
          </a:stretch>
        </p:blipFill>
        <p:spPr>
          <a:xfrm>
            <a:off x="3279648" y="1341120"/>
            <a:ext cx="414528" cy="414528"/>
          </a:xfrm>
          <a:prstGeom prst="rect">
            <a:avLst/>
          </a:prstGeom>
        </p:spPr>
      </p:pic>
      <p:sp>
        <p:nvSpPr>
          <p:cNvPr id="14" name="Text 10"/>
          <p:cNvSpPr/>
          <p:nvPr/>
        </p:nvSpPr>
        <p:spPr>
          <a:xfrm>
            <a:off x="3230880"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Human + AI Teams</a:t>
            </a:r>
            <a:endParaRPr lang="en-US" sz="1467">
              <a:latin typeface="Oswald" panose="00000500000000000000" pitchFamily="2" charset="0"/>
            </a:endParaRPr>
          </a:p>
        </p:txBody>
      </p:sp>
      <p:sp>
        <p:nvSpPr>
          <p:cNvPr id="15" name="Text 11"/>
          <p:cNvSpPr/>
          <p:nvPr/>
        </p:nvSpPr>
        <p:spPr>
          <a:xfrm>
            <a:off x="3230880"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Blended delivery with AI productivity tools embedded from Day 1. Capability stacks over role pyramids.</a:t>
            </a:r>
            <a:endParaRPr lang="en-US" sz="1133">
              <a:latin typeface="Raleway" pitchFamily="2" charset="0"/>
            </a:endParaRPr>
          </a:p>
        </p:txBody>
      </p:sp>
      <p:sp>
        <p:nvSpPr>
          <p:cNvPr id="16" name="Shape 12"/>
          <p:cNvSpPr/>
          <p:nvPr/>
        </p:nvSpPr>
        <p:spPr>
          <a:xfrm>
            <a:off x="5998464" y="1182624"/>
            <a:ext cx="2779776" cy="60960"/>
          </a:xfrm>
          <a:prstGeom prst="rect">
            <a:avLst/>
          </a:prstGeom>
          <a:solidFill>
            <a:srgbClr val="0D9488"/>
          </a:solidFill>
          <a:ln w="12700">
            <a:solidFill>
              <a:srgbClr val="0D9488"/>
            </a:solidFill>
            <a:prstDash val="solid"/>
          </a:ln>
        </p:spPr>
        <p:txBody>
          <a:bodyPr/>
          <a:lstStyle/>
          <a:p>
            <a:endParaRPr lang="en-US" sz="2400"/>
          </a:p>
        </p:txBody>
      </p:sp>
      <p:sp>
        <p:nvSpPr>
          <p:cNvPr id="17" name="Shape 13"/>
          <p:cNvSpPr/>
          <p:nvPr/>
        </p:nvSpPr>
        <p:spPr>
          <a:xfrm>
            <a:off x="5998464"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18" name="Image 2" descr="preencoded.png"/>
          <p:cNvPicPr>
            <a:picLocks noChangeAspect="1"/>
          </p:cNvPicPr>
          <p:nvPr/>
        </p:nvPicPr>
        <p:blipFill>
          <a:blip r:embed="rId5"/>
          <a:stretch>
            <a:fillRect/>
          </a:stretch>
        </p:blipFill>
        <p:spPr>
          <a:xfrm>
            <a:off x="6169152" y="1341120"/>
            <a:ext cx="414528" cy="414528"/>
          </a:xfrm>
          <a:prstGeom prst="rect">
            <a:avLst/>
          </a:prstGeom>
        </p:spPr>
      </p:pic>
      <p:sp>
        <p:nvSpPr>
          <p:cNvPr id="19" name="Text 14"/>
          <p:cNvSpPr/>
          <p:nvPr/>
        </p:nvSpPr>
        <p:spPr>
          <a:xfrm>
            <a:off x="6120384"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Fully Managed</a:t>
            </a:r>
            <a:endParaRPr lang="en-US" sz="1467">
              <a:latin typeface="Oswald" panose="00000500000000000000" pitchFamily="2" charset="0"/>
            </a:endParaRPr>
          </a:p>
        </p:txBody>
      </p:sp>
      <p:sp>
        <p:nvSpPr>
          <p:cNvPr id="20" name="Text 15"/>
          <p:cNvSpPr/>
          <p:nvPr/>
        </p:nvSpPr>
        <p:spPr>
          <a:xfrm>
            <a:off x="6120384"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J2W owns payroll, compliance, onboarding and HR. Zero admin burden on the client side.</a:t>
            </a:r>
            <a:endParaRPr lang="en-US" sz="1133">
              <a:latin typeface="Raleway" pitchFamily="2" charset="0"/>
            </a:endParaRPr>
          </a:p>
        </p:txBody>
      </p:sp>
      <p:sp>
        <p:nvSpPr>
          <p:cNvPr id="21" name="Shape 16"/>
          <p:cNvSpPr/>
          <p:nvPr/>
        </p:nvSpPr>
        <p:spPr>
          <a:xfrm>
            <a:off x="8887968" y="1182624"/>
            <a:ext cx="2779776" cy="60960"/>
          </a:xfrm>
          <a:prstGeom prst="rect">
            <a:avLst/>
          </a:prstGeom>
          <a:solidFill>
            <a:srgbClr val="C0392B"/>
          </a:solidFill>
          <a:ln w="12700">
            <a:solidFill>
              <a:srgbClr val="C0392B"/>
            </a:solidFill>
            <a:prstDash val="solid"/>
          </a:ln>
        </p:spPr>
        <p:txBody>
          <a:bodyPr/>
          <a:lstStyle/>
          <a:p>
            <a:endParaRPr lang="en-US" sz="2400"/>
          </a:p>
        </p:txBody>
      </p:sp>
      <p:sp>
        <p:nvSpPr>
          <p:cNvPr id="22" name="Shape 17"/>
          <p:cNvSpPr/>
          <p:nvPr/>
        </p:nvSpPr>
        <p:spPr>
          <a:xfrm>
            <a:off x="8887968"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23" name="Image 3" descr="preencoded.png"/>
          <p:cNvPicPr>
            <a:picLocks noChangeAspect="1"/>
          </p:cNvPicPr>
          <p:nvPr/>
        </p:nvPicPr>
        <p:blipFill>
          <a:blip r:embed="rId6"/>
          <a:stretch>
            <a:fillRect/>
          </a:stretch>
        </p:blipFill>
        <p:spPr>
          <a:xfrm>
            <a:off x="9058656" y="1341120"/>
            <a:ext cx="414528" cy="414528"/>
          </a:xfrm>
          <a:prstGeom prst="rect">
            <a:avLst/>
          </a:prstGeom>
        </p:spPr>
      </p:pic>
      <p:sp>
        <p:nvSpPr>
          <p:cNvPr id="24" name="Text 18"/>
          <p:cNvSpPr/>
          <p:nvPr/>
        </p:nvSpPr>
        <p:spPr>
          <a:xfrm>
            <a:off x="9009888"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AI-First L&amp;D</a:t>
            </a:r>
            <a:endParaRPr lang="en-US" sz="1467">
              <a:latin typeface="Oswald" panose="00000500000000000000" pitchFamily="2" charset="0"/>
            </a:endParaRPr>
          </a:p>
        </p:txBody>
      </p:sp>
      <p:sp>
        <p:nvSpPr>
          <p:cNvPr id="25" name="Text 19"/>
          <p:cNvSpPr/>
          <p:nvPr/>
        </p:nvSpPr>
        <p:spPr>
          <a:xfrm>
            <a:off x="9009888"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Continuous upskilling via J2W </a:t>
            </a:r>
            <a:r>
              <a:rPr lang="en-US" sz="1133" err="1">
                <a:solidFill>
                  <a:srgbClr val="555555"/>
                </a:solidFill>
                <a:latin typeface="Raleway" pitchFamily="2" charset="0"/>
                <a:ea typeface="Calibri" pitchFamily="34" charset="-122"/>
                <a:cs typeface="Calibri" pitchFamily="34" charset="-120"/>
              </a:rPr>
              <a:t>CoE</a:t>
            </a:r>
            <a:r>
              <a:rPr lang="en-US" sz="1133">
                <a:solidFill>
                  <a:srgbClr val="555555"/>
                </a:solidFill>
                <a:latin typeface="Raleway" pitchFamily="2" charset="0"/>
                <a:ea typeface="Calibri" pitchFamily="34" charset="-122"/>
                <a:cs typeface="Calibri" pitchFamily="34" charset="-120"/>
              </a:rPr>
              <a:t> - contextual, hands-on AI training powered by Research Wing.</a:t>
            </a:r>
            <a:endParaRPr lang="en-US" sz="1133">
              <a:latin typeface="Raleway" pitchFamily="2" charset="0"/>
            </a:endParaRPr>
          </a:p>
        </p:txBody>
      </p:sp>
      <p:sp>
        <p:nvSpPr>
          <p:cNvPr id="26" name="Text 20"/>
          <p:cNvSpPr/>
          <p:nvPr/>
        </p:nvSpPr>
        <p:spPr>
          <a:xfrm>
            <a:off x="341376" y="3291840"/>
            <a:ext cx="2560320" cy="390144"/>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Dimension</a:t>
            </a:r>
            <a:endParaRPr lang="en-US" sz="1267">
              <a:latin typeface="Raleway" pitchFamily="2" charset="0"/>
            </a:endParaRPr>
          </a:p>
        </p:txBody>
      </p:sp>
      <p:sp>
        <p:nvSpPr>
          <p:cNvPr id="27" name="Text 21"/>
          <p:cNvSpPr/>
          <p:nvPr/>
        </p:nvSpPr>
        <p:spPr>
          <a:xfrm>
            <a:off x="2901696" y="3291840"/>
            <a:ext cx="4023360" cy="390144"/>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Traditional Staffing</a:t>
            </a:r>
            <a:endParaRPr lang="en-US" sz="1267">
              <a:latin typeface="Raleway" pitchFamily="2" charset="0"/>
            </a:endParaRPr>
          </a:p>
        </p:txBody>
      </p:sp>
      <p:sp>
        <p:nvSpPr>
          <p:cNvPr id="28" name="Text 22"/>
          <p:cNvSpPr/>
          <p:nvPr/>
        </p:nvSpPr>
        <p:spPr>
          <a:xfrm>
            <a:off x="6925056" y="3291840"/>
            <a:ext cx="4949952" cy="390144"/>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J2W Workforce</a:t>
            </a:r>
            <a:endParaRPr lang="en-US" sz="1267">
              <a:latin typeface="Raleway" pitchFamily="2" charset="0"/>
            </a:endParaRPr>
          </a:p>
        </p:txBody>
      </p:sp>
      <p:sp>
        <p:nvSpPr>
          <p:cNvPr id="29" name="Shape 23"/>
          <p:cNvSpPr/>
          <p:nvPr/>
        </p:nvSpPr>
        <p:spPr>
          <a:xfrm>
            <a:off x="219456" y="3681984"/>
            <a:ext cx="11533632" cy="0"/>
          </a:xfrm>
          <a:prstGeom prst="line">
            <a:avLst/>
          </a:prstGeom>
          <a:noFill/>
          <a:ln w="9525">
            <a:solidFill>
              <a:srgbClr val="0D9488"/>
            </a:solidFill>
            <a:prstDash val="solid"/>
          </a:ln>
        </p:spPr>
        <p:txBody>
          <a:bodyPr/>
          <a:lstStyle/>
          <a:p>
            <a:endParaRPr lang="en-US" sz="2400"/>
          </a:p>
        </p:txBody>
      </p:sp>
      <p:sp>
        <p:nvSpPr>
          <p:cNvPr id="30" name="Shape 24"/>
          <p:cNvSpPr/>
          <p:nvPr/>
        </p:nvSpPr>
        <p:spPr>
          <a:xfrm>
            <a:off x="219456" y="3681984"/>
            <a:ext cx="11533632" cy="432816"/>
          </a:xfrm>
          <a:prstGeom prst="rect">
            <a:avLst/>
          </a:prstGeom>
          <a:solidFill>
            <a:srgbClr val="FFFFFF"/>
          </a:solidFill>
          <a:ln w="6350">
            <a:solidFill>
              <a:srgbClr val="E2F0EF"/>
            </a:solidFill>
            <a:prstDash val="solid"/>
          </a:ln>
        </p:spPr>
        <p:txBody>
          <a:bodyPr/>
          <a:lstStyle/>
          <a:p>
            <a:endParaRPr lang="en-US" sz="2400"/>
          </a:p>
        </p:txBody>
      </p:sp>
      <p:sp>
        <p:nvSpPr>
          <p:cNvPr id="31" name="Text 25"/>
          <p:cNvSpPr/>
          <p:nvPr/>
        </p:nvSpPr>
        <p:spPr>
          <a:xfrm>
            <a:off x="341376" y="3730752"/>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Speed to Deploy</a:t>
            </a:r>
            <a:endParaRPr lang="en-US" sz="1267">
              <a:latin typeface="Raleway" pitchFamily="2" charset="0"/>
            </a:endParaRPr>
          </a:p>
        </p:txBody>
      </p:sp>
      <p:sp>
        <p:nvSpPr>
          <p:cNvPr id="32" name="Text 26"/>
          <p:cNvSpPr/>
          <p:nvPr/>
        </p:nvSpPr>
        <p:spPr>
          <a:xfrm>
            <a:off x="2901696" y="3730752"/>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Weeks to months</a:t>
            </a:r>
            <a:endParaRPr lang="en-US" sz="1267">
              <a:latin typeface="Raleway" pitchFamily="2" charset="0"/>
            </a:endParaRPr>
          </a:p>
        </p:txBody>
      </p:sp>
      <p:pic>
        <p:nvPicPr>
          <p:cNvPr id="33" name="Image 4" descr="preencoded.png"/>
          <p:cNvPicPr>
            <a:picLocks noChangeAspect="1"/>
          </p:cNvPicPr>
          <p:nvPr/>
        </p:nvPicPr>
        <p:blipFill>
          <a:blip r:embed="rId7"/>
          <a:stretch>
            <a:fillRect/>
          </a:stretch>
        </p:blipFill>
        <p:spPr>
          <a:xfrm>
            <a:off x="6900672" y="3791712"/>
            <a:ext cx="219456" cy="219456"/>
          </a:xfrm>
          <a:prstGeom prst="rect">
            <a:avLst/>
          </a:prstGeom>
        </p:spPr>
      </p:pic>
      <p:sp>
        <p:nvSpPr>
          <p:cNvPr id="34" name="Text 27"/>
          <p:cNvSpPr/>
          <p:nvPr/>
        </p:nvSpPr>
        <p:spPr>
          <a:xfrm>
            <a:off x="7193280" y="3730752"/>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1 engineer onboarded per hour</a:t>
            </a:r>
            <a:endParaRPr lang="en-US" sz="1267">
              <a:latin typeface="Raleway" pitchFamily="2" charset="0"/>
            </a:endParaRPr>
          </a:p>
        </p:txBody>
      </p:sp>
      <p:sp>
        <p:nvSpPr>
          <p:cNvPr id="35" name="Shape 28"/>
          <p:cNvSpPr/>
          <p:nvPr/>
        </p:nvSpPr>
        <p:spPr>
          <a:xfrm>
            <a:off x="219456" y="4114800"/>
            <a:ext cx="11533632" cy="432816"/>
          </a:xfrm>
          <a:prstGeom prst="rect">
            <a:avLst/>
          </a:prstGeom>
          <a:solidFill>
            <a:srgbClr val="F0FAFA"/>
          </a:solidFill>
          <a:ln w="6350">
            <a:solidFill>
              <a:srgbClr val="E2F0EF"/>
            </a:solidFill>
            <a:prstDash val="solid"/>
          </a:ln>
        </p:spPr>
        <p:txBody>
          <a:bodyPr/>
          <a:lstStyle/>
          <a:p>
            <a:endParaRPr lang="en-US" sz="2400"/>
          </a:p>
        </p:txBody>
      </p:sp>
      <p:sp>
        <p:nvSpPr>
          <p:cNvPr id="36" name="Text 29"/>
          <p:cNvSpPr/>
          <p:nvPr/>
        </p:nvSpPr>
        <p:spPr>
          <a:xfrm>
            <a:off x="341376" y="4163568"/>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Team Composition</a:t>
            </a:r>
            <a:endParaRPr lang="en-US" sz="1267">
              <a:latin typeface="Raleway" pitchFamily="2" charset="0"/>
            </a:endParaRPr>
          </a:p>
        </p:txBody>
      </p:sp>
      <p:sp>
        <p:nvSpPr>
          <p:cNvPr id="37" name="Text 30"/>
          <p:cNvSpPr/>
          <p:nvPr/>
        </p:nvSpPr>
        <p:spPr>
          <a:xfrm>
            <a:off x="2901696" y="4163568"/>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Single-role profile deployments</a:t>
            </a:r>
            <a:endParaRPr lang="en-US" sz="1267">
              <a:latin typeface="Raleway" pitchFamily="2" charset="0"/>
            </a:endParaRPr>
          </a:p>
        </p:txBody>
      </p:sp>
      <p:pic>
        <p:nvPicPr>
          <p:cNvPr id="38" name="Image 5" descr="preencoded.png"/>
          <p:cNvPicPr>
            <a:picLocks noChangeAspect="1"/>
          </p:cNvPicPr>
          <p:nvPr/>
        </p:nvPicPr>
        <p:blipFill>
          <a:blip r:embed="rId7"/>
          <a:stretch>
            <a:fillRect/>
          </a:stretch>
        </p:blipFill>
        <p:spPr>
          <a:xfrm>
            <a:off x="6900672" y="4224528"/>
            <a:ext cx="219456" cy="219456"/>
          </a:xfrm>
          <a:prstGeom prst="rect">
            <a:avLst/>
          </a:prstGeom>
        </p:spPr>
      </p:pic>
      <p:sp>
        <p:nvSpPr>
          <p:cNvPr id="39" name="Text 31"/>
          <p:cNvSpPr/>
          <p:nvPr/>
        </p:nvSpPr>
        <p:spPr>
          <a:xfrm>
            <a:off x="7193280" y="4163568"/>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Human + AI blended capability stacks</a:t>
            </a:r>
            <a:endParaRPr lang="en-US" sz="1267">
              <a:latin typeface="Raleway" pitchFamily="2" charset="0"/>
            </a:endParaRPr>
          </a:p>
        </p:txBody>
      </p:sp>
      <p:sp>
        <p:nvSpPr>
          <p:cNvPr id="40" name="Shape 32"/>
          <p:cNvSpPr/>
          <p:nvPr/>
        </p:nvSpPr>
        <p:spPr>
          <a:xfrm>
            <a:off x="219456" y="4547616"/>
            <a:ext cx="11533632" cy="432816"/>
          </a:xfrm>
          <a:prstGeom prst="rect">
            <a:avLst/>
          </a:prstGeom>
          <a:solidFill>
            <a:srgbClr val="FFFFFF"/>
          </a:solidFill>
          <a:ln w="6350">
            <a:solidFill>
              <a:srgbClr val="E2F0EF"/>
            </a:solidFill>
            <a:prstDash val="solid"/>
          </a:ln>
        </p:spPr>
        <p:txBody>
          <a:bodyPr/>
          <a:lstStyle/>
          <a:p>
            <a:endParaRPr lang="en-US" sz="2400"/>
          </a:p>
        </p:txBody>
      </p:sp>
      <p:sp>
        <p:nvSpPr>
          <p:cNvPr id="41" name="Text 33"/>
          <p:cNvSpPr/>
          <p:nvPr/>
        </p:nvSpPr>
        <p:spPr>
          <a:xfrm>
            <a:off x="341376" y="4596384"/>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Governance</a:t>
            </a:r>
            <a:endParaRPr lang="en-US" sz="1267">
              <a:latin typeface="Raleway" pitchFamily="2" charset="0"/>
            </a:endParaRPr>
          </a:p>
        </p:txBody>
      </p:sp>
      <p:sp>
        <p:nvSpPr>
          <p:cNvPr id="42" name="Text 34"/>
          <p:cNvSpPr/>
          <p:nvPr/>
        </p:nvSpPr>
        <p:spPr>
          <a:xfrm>
            <a:off x="2901696" y="4596384"/>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Client's burden</a:t>
            </a:r>
            <a:endParaRPr lang="en-US" sz="1267">
              <a:latin typeface="Raleway" pitchFamily="2" charset="0"/>
            </a:endParaRPr>
          </a:p>
        </p:txBody>
      </p:sp>
      <p:pic>
        <p:nvPicPr>
          <p:cNvPr id="43" name="Image 6" descr="preencoded.png"/>
          <p:cNvPicPr>
            <a:picLocks noChangeAspect="1"/>
          </p:cNvPicPr>
          <p:nvPr/>
        </p:nvPicPr>
        <p:blipFill>
          <a:blip r:embed="rId7"/>
          <a:stretch>
            <a:fillRect/>
          </a:stretch>
        </p:blipFill>
        <p:spPr>
          <a:xfrm>
            <a:off x="6900672" y="4657344"/>
            <a:ext cx="219456" cy="219456"/>
          </a:xfrm>
          <a:prstGeom prst="rect">
            <a:avLst/>
          </a:prstGeom>
        </p:spPr>
      </p:pic>
      <p:sp>
        <p:nvSpPr>
          <p:cNvPr id="44" name="Text 35"/>
          <p:cNvSpPr/>
          <p:nvPr/>
        </p:nvSpPr>
        <p:spPr>
          <a:xfrm>
            <a:off x="7193280" y="4596384"/>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J2W-owned - HRBP implant at every site</a:t>
            </a:r>
            <a:endParaRPr lang="en-US" sz="1267">
              <a:latin typeface="Raleway" pitchFamily="2" charset="0"/>
            </a:endParaRPr>
          </a:p>
        </p:txBody>
      </p:sp>
      <p:sp>
        <p:nvSpPr>
          <p:cNvPr id="45" name="Shape 36"/>
          <p:cNvSpPr/>
          <p:nvPr/>
        </p:nvSpPr>
        <p:spPr>
          <a:xfrm>
            <a:off x="219456" y="4980432"/>
            <a:ext cx="11533632" cy="432816"/>
          </a:xfrm>
          <a:prstGeom prst="rect">
            <a:avLst/>
          </a:prstGeom>
          <a:solidFill>
            <a:srgbClr val="F0FAFA"/>
          </a:solidFill>
          <a:ln w="6350">
            <a:solidFill>
              <a:srgbClr val="E2F0EF"/>
            </a:solidFill>
            <a:prstDash val="solid"/>
          </a:ln>
        </p:spPr>
        <p:txBody>
          <a:bodyPr/>
          <a:lstStyle/>
          <a:p>
            <a:endParaRPr lang="en-US" sz="2400"/>
          </a:p>
        </p:txBody>
      </p:sp>
      <p:sp>
        <p:nvSpPr>
          <p:cNvPr id="46" name="Text 37"/>
          <p:cNvSpPr/>
          <p:nvPr/>
        </p:nvSpPr>
        <p:spPr>
          <a:xfrm>
            <a:off x="341376" y="5029200"/>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Performance Issues</a:t>
            </a:r>
            <a:endParaRPr lang="en-US" sz="1267">
              <a:latin typeface="Raleway" pitchFamily="2" charset="0"/>
            </a:endParaRPr>
          </a:p>
        </p:txBody>
      </p:sp>
      <p:sp>
        <p:nvSpPr>
          <p:cNvPr id="47" name="Text 38"/>
          <p:cNvSpPr/>
          <p:nvPr/>
        </p:nvSpPr>
        <p:spPr>
          <a:xfrm>
            <a:off x="2901696" y="5029200"/>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Escalation after the fact</a:t>
            </a:r>
            <a:endParaRPr lang="en-US" sz="1267">
              <a:latin typeface="Raleway" pitchFamily="2" charset="0"/>
            </a:endParaRPr>
          </a:p>
        </p:txBody>
      </p:sp>
      <p:pic>
        <p:nvPicPr>
          <p:cNvPr id="48" name="Image 7" descr="preencoded.png"/>
          <p:cNvPicPr>
            <a:picLocks noChangeAspect="1"/>
          </p:cNvPicPr>
          <p:nvPr/>
        </p:nvPicPr>
        <p:blipFill>
          <a:blip r:embed="rId7"/>
          <a:stretch>
            <a:fillRect/>
          </a:stretch>
        </p:blipFill>
        <p:spPr>
          <a:xfrm>
            <a:off x="6900672" y="5090160"/>
            <a:ext cx="219456" cy="219456"/>
          </a:xfrm>
          <a:prstGeom prst="rect">
            <a:avLst/>
          </a:prstGeom>
        </p:spPr>
      </p:pic>
      <p:sp>
        <p:nvSpPr>
          <p:cNvPr id="49" name="Text 39"/>
          <p:cNvSpPr/>
          <p:nvPr/>
        </p:nvSpPr>
        <p:spPr>
          <a:xfrm>
            <a:off x="7193280" y="5029200"/>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Proactive monitoring &amp; intervention</a:t>
            </a:r>
            <a:endParaRPr lang="en-US" sz="1267">
              <a:latin typeface="Raleway" pitchFamily="2" charset="0"/>
            </a:endParaRPr>
          </a:p>
        </p:txBody>
      </p:sp>
      <p:sp>
        <p:nvSpPr>
          <p:cNvPr id="50" name="Shape 40"/>
          <p:cNvSpPr/>
          <p:nvPr/>
        </p:nvSpPr>
        <p:spPr>
          <a:xfrm>
            <a:off x="219456" y="5413248"/>
            <a:ext cx="11533632" cy="432816"/>
          </a:xfrm>
          <a:prstGeom prst="rect">
            <a:avLst/>
          </a:prstGeom>
          <a:solidFill>
            <a:srgbClr val="FFFFFF"/>
          </a:solidFill>
          <a:ln w="6350">
            <a:solidFill>
              <a:srgbClr val="E2F0EF"/>
            </a:solidFill>
            <a:prstDash val="solid"/>
          </a:ln>
        </p:spPr>
        <p:txBody>
          <a:bodyPr/>
          <a:lstStyle/>
          <a:p>
            <a:endParaRPr lang="en-US" sz="2400"/>
          </a:p>
        </p:txBody>
      </p:sp>
      <p:sp>
        <p:nvSpPr>
          <p:cNvPr id="51" name="Text 41"/>
          <p:cNvSpPr/>
          <p:nvPr/>
        </p:nvSpPr>
        <p:spPr>
          <a:xfrm>
            <a:off x="341376" y="5462016"/>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Knowledge Retention</a:t>
            </a:r>
            <a:endParaRPr lang="en-US" sz="1267">
              <a:latin typeface="Raleway" pitchFamily="2" charset="0"/>
            </a:endParaRPr>
          </a:p>
        </p:txBody>
      </p:sp>
      <p:sp>
        <p:nvSpPr>
          <p:cNvPr id="52" name="Text 42"/>
          <p:cNvSpPr/>
          <p:nvPr/>
        </p:nvSpPr>
        <p:spPr>
          <a:xfrm>
            <a:off x="2901696" y="5462016"/>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Lost with attrition</a:t>
            </a:r>
            <a:endParaRPr lang="en-US" sz="1267">
              <a:latin typeface="Raleway" pitchFamily="2" charset="0"/>
            </a:endParaRPr>
          </a:p>
        </p:txBody>
      </p:sp>
      <p:pic>
        <p:nvPicPr>
          <p:cNvPr id="53" name="Image 8" descr="preencoded.png"/>
          <p:cNvPicPr>
            <a:picLocks noChangeAspect="1"/>
          </p:cNvPicPr>
          <p:nvPr/>
        </p:nvPicPr>
        <p:blipFill>
          <a:blip r:embed="rId7"/>
          <a:stretch>
            <a:fillRect/>
          </a:stretch>
        </p:blipFill>
        <p:spPr>
          <a:xfrm>
            <a:off x="6900672" y="5522976"/>
            <a:ext cx="219456" cy="219456"/>
          </a:xfrm>
          <a:prstGeom prst="rect">
            <a:avLst/>
          </a:prstGeom>
        </p:spPr>
      </p:pic>
      <p:sp>
        <p:nvSpPr>
          <p:cNvPr id="54" name="Text 43"/>
          <p:cNvSpPr/>
          <p:nvPr/>
        </p:nvSpPr>
        <p:spPr>
          <a:xfrm>
            <a:off x="7193280" y="5462016"/>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Captured in J2W Knowledge Repository</a:t>
            </a:r>
            <a:endParaRPr lang="en-US" sz="1267">
              <a:latin typeface="Raleway" pitchFamily="2" charset="0"/>
            </a:endParaRPr>
          </a:p>
        </p:txBody>
      </p:sp>
      <p:sp>
        <p:nvSpPr>
          <p:cNvPr id="55" name="Shape 44"/>
          <p:cNvSpPr/>
          <p:nvPr/>
        </p:nvSpPr>
        <p:spPr>
          <a:xfrm>
            <a:off x="219456" y="5846064"/>
            <a:ext cx="11533632" cy="432816"/>
          </a:xfrm>
          <a:prstGeom prst="rect">
            <a:avLst/>
          </a:prstGeom>
          <a:solidFill>
            <a:srgbClr val="F0FAFA"/>
          </a:solidFill>
          <a:ln w="6350">
            <a:solidFill>
              <a:srgbClr val="E2F0EF"/>
            </a:solidFill>
            <a:prstDash val="solid"/>
          </a:ln>
        </p:spPr>
        <p:txBody>
          <a:bodyPr/>
          <a:lstStyle/>
          <a:p>
            <a:endParaRPr lang="en-US" sz="2400"/>
          </a:p>
        </p:txBody>
      </p:sp>
      <p:sp>
        <p:nvSpPr>
          <p:cNvPr id="56" name="Text 45"/>
          <p:cNvSpPr/>
          <p:nvPr/>
        </p:nvSpPr>
        <p:spPr>
          <a:xfrm>
            <a:off x="341376" y="5894832"/>
            <a:ext cx="2377440" cy="335280"/>
          </a:xfrm>
          <a:prstGeom prst="rect">
            <a:avLst/>
          </a:prstGeom>
          <a:noFill/>
          <a:ln/>
        </p:spPr>
        <p:txBody>
          <a:bodyPr wrap="square" lIns="0" tIns="0" rIns="0" bIns="0" rtlCol="0" anchor="ctr"/>
          <a:lstStyle/>
          <a:p>
            <a:r>
              <a:rPr lang="en-US" sz="1267" b="1">
                <a:solidFill>
                  <a:srgbClr val="1A1A2E"/>
                </a:solidFill>
                <a:latin typeface="Calibri" pitchFamily="34" charset="0"/>
                <a:ea typeface="Calibri" pitchFamily="34" charset="-122"/>
                <a:cs typeface="Calibri" pitchFamily="34" charset="-120"/>
              </a:rPr>
              <a:t>AI Readiness</a:t>
            </a:r>
            <a:endParaRPr lang="en-US" sz="1267"/>
          </a:p>
        </p:txBody>
      </p:sp>
      <p:sp>
        <p:nvSpPr>
          <p:cNvPr id="57" name="Text 46"/>
          <p:cNvSpPr/>
          <p:nvPr/>
        </p:nvSpPr>
        <p:spPr>
          <a:xfrm>
            <a:off x="2901696" y="5894832"/>
            <a:ext cx="3840480" cy="335280"/>
          </a:xfrm>
          <a:prstGeom prst="rect">
            <a:avLst/>
          </a:prstGeom>
          <a:noFill/>
          <a:ln/>
        </p:spPr>
        <p:txBody>
          <a:bodyPr wrap="square" lIns="0" tIns="0" rIns="0" bIns="0" rtlCol="0" anchor="ctr"/>
          <a:lstStyle/>
          <a:p>
            <a:r>
              <a:rPr lang="en-US" sz="1267">
                <a:solidFill>
                  <a:srgbClr val="888888"/>
                </a:solidFill>
                <a:latin typeface="Calibri" pitchFamily="34" charset="0"/>
                <a:ea typeface="Calibri" pitchFamily="34" charset="-122"/>
                <a:cs typeface="Calibri" pitchFamily="34" charset="-120"/>
              </a:rPr>
              <a:t>Ad hoc</a:t>
            </a:r>
            <a:endParaRPr lang="en-US" sz="1267"/>
          </a:p>
        </p:txBody>
      </p:sp>
      <p:pic>
        <p:nvPicPr>
          <p:cNvPr id="58" name="Image 9" descr="preencoded.png"/>
          <p:cNvPicPr>
            <a:picLocks noChangeAspect="1"/>
          </p:cNvPicPr>
          <p:nvPr/>
        </p:nvPicPr>
        <p:blipFill>
          <a:blip r:embed="rId7"/>
          <a:stretch>
            <a:fillRect/>
          </a:stretch>
        </p:blipFill>
        <p:spPr>
          <a:xfrm>
            <a:off x="6900672" y="5955792"/>
            <a:ext cx="219456" cy="219456"/>
          </a:xfrm>
          <a:prstGeom prst="rect">
            <a:avLst/>
          </a:prstGeom>
        </p:spPr>
      </p:pic>
      <p:sp>
        <p:nvSpPr>
          <p:cNvPr id="59" name="Text 47"/>
          <p:cNvSpPr/>
          <p:nvPr/>
        </p:nvSpPr>
        <p:spPr>
          <a:xfrm>
            <a:off x="7193280" y="5894832"/>
            <a:ext cx="4437888" cy="335280"/>
          </a:xfrm>
          <a:prstGeom prst="rect">
            <a:avLst/>
          </a:prstGeom>
          <a:noFill/>
          <a:ln/>
        </p:spPr>
        <p:txBody>
          <a:bodyPr wrap="square" lIns="0" tIns="0" rIns="0" bIns="0" rtlCol="0" anchor="ctr"/>
          <a:lstStyle/>
          <a:p>
            <a:r>
              <a:rPr lang="en-US" sz="1267" b="1">
                <a:solidFill>
                  <a:srgbClr val="C0392B"/>
                </a:solidFill>
                <a:latin typeface="Raleway" pitchFamily="2" charset="0"/>
                <a:ea typeface="Calibri" pitchFamily="34" charset="-122"/>
                <a:cs typeface="Calibri" pitchFamily="34" charset="-120"/>
              </a:rPr>
              <a:t>Embedded from Day 1</a:t>
            </a:r>
            <a:endParaRPr lang="en-US" sz="1267">
              <a:latin typeface="Raleway" pitchFamily="2" charset="0"/>
            </a:endParaRPr>
          </a:p>
        </p:txBody>
      </p:sp>
      <p:sp>
        <p:nvSpPr>
          <p:cNvPr id="60" name="Shape 48"/>
          <p:cNvSpPr/>
          <p:nvPr/>
        </p:nvSpPr>
        <p:spPr>
          <a:xfrm>
            <a:off x="0" y="6352032"/>
            <a:ext cx="12192000" cy="505968"/>
          </a:xfrm>
          <a:prstGeom prst="rect">
            <a:avLst/>
          </a:prstGeom>
          <a:solidFill>
            <a:srgbClr val="0D9488"/>
          </a:solidFill>
          <a:ln w="12700">
            <a:solidFill>
              <a:srgbClr val="0D9488"/>
            </a:solidFill>
            <a:prstDash val="solid"/>
          </a:ln>
        </p:spPr>
        <p:txBody>
          <a:bodyPr/>
          <a:lstStyle/>
          <a:p>
            <a:endParaRPr lang="en-US" sz="2400"/>
          </a:p>
        </p:txBody>
      </p:sp>
      <p:sp>
        <p:nvSpPr>
          <p:cNvPr id="61" name="Text 49"/>
          <p:cNvSpPr/>
          <p:nvPr/>
        </p:nvSpPr>
        <p:spPr>
          <a:xfrm>
            <a:off x="609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5,500+</a:t>
            </a:r>
            <a:endParaRPr lang="en-US" sz="1600"/>
          </a:p>
        </p:txBody>
      </p:sp>
      <p:sp>
        <p:nvSpPr>
          <p:cNvPr id="62" name="Text 50"/>
          <p:cNvSpPr/>
          <p:nvPr/>
        </p:nvSpPr>
        <p:spPr>
          <a:xfrm>
            <a:off x="609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Active Consultants</a:t>
            </a:r>
            <a:endParaRPr lang="en-US" sz="1000"/>
          </a:p>
        </p:txBody>
      </p:sp>
      <p:sp>
        <p:nvSpPr>
          <p:cNvPr id="63" name="Shape 51"/>
          <p:cNvSpPr/>
          <p:nvPr/>
        </p:nvSpPr>
        <p:spPr>
          <a:xfrm>
            <a:off x="2438400" y="6400800"/>
            <a:ext cx="0" cy="402336"/>
          </a:xfrm>
          <a:prstGeom prst="line">
            <a:avLst/>
          </a:prstGeom>
          <a:noFill/>
          <a:ln w="6350">
            <a:solidFill>
              <a:srgbClr val="FFFFFF">
                <a:alpha val="45000"/>
              </a:srgbClr>
            </a:solidFill>
            <a:prstDash val="solid"/>
          </a:ln>
        </p:spPr>
        <p:txBody>
          <a:bodyPr/>
          <a:lstStyle/>
          <a:p>
            <a:endParaRPr lang="en-US" sz="2400"/>
          </a:p>
        </p:txBody>
      </p:sp>
      <p:sp>
        <p:nvSpPr>
          <p:cNvPr id="64" name="Text 52"/>
          <p:cNvSpPr/>
          <p:nvPr/>
        </p:nvSpPr>
        <p:spPr>
          <a:xfrm>
            <a:off x="24993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1,250+</a:t>
            </a:r>
            <a:endParaRPr lang="en-US" sz="1600"/>
          </a:p>
        </p:txBody>
      </p:sp>
      <p:sp>
        <p:nvSpPr>
          <p:cNvPr id="65" name="Text 53"/>
          <p:cNvSpPr/>
          <p:nvPr/>
        </p:nvSpPr>
        <p:spPr>
          <a:xfrm>
            <a:off x="24993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Skills Covered</a:t>
            </a:r>
            <a:endParaRPr lang="en-US" sz="1000"/>
          </a:p>
        </p:txBody>
      </p:sp>
      <p:sp>
        <p:nvSpPr>
          <p:cNvPr id="66" name="Shape 54"/>
          <p:cNvSpPr/>
          <p:nvPr/>
        </p:nvSpPr>
        <p:spPr>
          <a:xfrm>
            <a:off x="4876800" y="6400800"/>
            <a:ext cx="0" cy="402336"/>
          </a:xfrm>
          <a:prstGeom prst="line">
            <a:avLst/>
          </a:prstGeom>
          <a:noFill/>
          <a:ln w="6350">
            <a:solidFill>
              <a:srgbClr val="FFFFFF">
                <a:alpha val="45000"/>
              </a:srgbClr>
            </a:solidFill>
            <a:prstDash val="solid"/>
          </a:ln>
        </p:spPr>
        <p:txBody>
          <a:bodyPr/>
          <a:lstStyle/>
          <a:p>
            <a:endParaRPr lang="en-US" sz="2400"/>
          </a:p>
        </p:txBody>
      </p:sp>
      <p:sp>
        <p:nvSpPr>
          <p:cNvPr id="67" name="Text 55"/>
          <p:cNvSpPr/>
          <p:nvPr/>
        </p:nvSpPr>
        <p:spPr>
          <a:xfrm>
            <a:off x="49377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320+</a:t>
            </a:r>
            <a:endParaRPr lang="en-US" sz="1600"/>
          </a:p>
        </p:txBody>
      </p:sp>
      <p:sp>
        <p:nvSpPr>
          <p:cNvPr id="68" name="Text 56"/>
          <p:cNvSpPr/>
          <p:nvPr/>
        </p:nvSpPr>
        <p:spPr>
          <a:xfrm>
            <a:off x="49377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Enterprise Clients</a:t>
            </a:r>
            <a:endParaRPr lang="en-US" sz="1000"/>
          </a:p>
        </p:txBody>
      </p:sp>
      <p:sp>
        <p:nvSpPr>
          <p:cNvPr id="69" name="Shape 57"/>
          <p:cNvSpPr/>
          <p:nvPr/>
        </p:nvSpPr>
        <p:spPr>
          <a:xfrm>
            <a:off x="7315200" y="6400800"/>
            <a:ext cx="0" cy="402336"/>
          </a:xfrm>
          <a:prstGeom prst="line">
            <a:avLst/>
          </a:prstGeom>
          <a:noFill/>
          <a:ln w="6350">
            <a:solidFill>
              <a:srgbClr val="FFFFFF">
                <a:alpha val="45000"/>
              </a:srgbClr>
            </a:solidFill>
            <a:prstDash val="solid"/>
          </a:ln>
        </p:spPr>
        <p:txBody>
          <a:bodyPr/>
          <a:lstStyle/>
          <a:p>
            <a:endParaRPr lang="en-US" sz="2400"/>
          </a:p>
        </p:txBody>
      </p:sp>
      <p:sp>
        <p:nvSpPr>
          <p:cNvPr id="70" name="Text 58"/>
          <p:cNvSpPr/>
          <p:nvPr/>
        </p:nvSpPr>
        <p:spPr>
          <a:xfrm>
            <a:off x="73761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0%</a:t>
            </a:r>
            <a:endParaRPr lang="en-US" sz="1600"/>
          </a:p>
        </p:txBody>
      </p:sp>
      <p:sp>
        <p:nvSpPr>
          <p:cNvPr id="71" name="Text 59"/>
          <p:cNvSpPr/>
          <p:nvPr/>
        </p:nvSpPr>
        <p:spPr>
          <a:xfrm>
            <a:off x="73761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Attrition (6-Mo Pilot)</a:t>
            </a:r>
            <a:endParaRPr lang="en-US" sz="1000"/>
          </a:p>
        </p:txBody>
      </p:sp>
      <p:sp>
        <p:nvSpPr>
          <p:cNvPr id="72" name="Shape 60"/>
          <p:cNvSpPr/>
          <p:nvPr/>
        </p:nvSpPr>
        <p:spPr>
          <a:xfrm>
            <a:off x="9753600" y="6400800"/>
            <a:ext cx="0" cy="402336"/>
          </a:xfrm>
          <a:prstGeom prst="line">
            <a:avLst/>
          </a:prstGeom>
          <a:noFill/>
          <a:ln w="6350">
            <a:solidFill>
              <a:srgbClr val="FFFFFF">
                <a:alpha val="45000"/>
              </a:srgbClr>
            </a:solidFill>
            <a:prstDash val="solid"/>
          </a:ln>
        </p:spPr>
        <p:txBody>
          <a:bodyPr/>
          <a:lstStyle/>
          <a:p>
            <a:endParaRPr lang="en-US" sz="2400"/>
          </a:p>
        </p:txBody>
      </p:sp>
      <p:sp>
        <p:nvSpPr>
          <p:cNvPr id="73" name="Text 61"/>
          <p:cNvSpPr/>
          <p:nvPr/>
        </p:nvSpPr>
        <p:spPr>
          <a:xfrm>
            <a:off x="98145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1/hr</a:t>
            </a:r>
            <a:endParaRPr lang="en-US" sz="1600"/>
          </a:p>
        </p:txBody>
      </p:sp>
      <p:sp>
        <p:nvSpPr>
          <p:cNvPr id="74" name="Text 62"/>
          <p:cNvSpPr/>
          <p:nvPr/>
        </p:nvSpPr>
        <p:spPr>
          <a:xfrm>
            <a:off x="98145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Engineers Onboarded</a:t>
            </a:r>
            <a:endParaRPr lang="en-US" sz="1000"/>
          </a:p>
        </p:txBody>
      </p:sp>
      <p:pic>
        <p:nvPicPr>
          <p:cNvPr id="75" name="Image 0" descr="preencoded.png">
            <a:extLst>
              <a:ext uri="{FF2B5EF4-FFF2-40B4-BE49-F238E27FC236}">
                <a16:creationId xmlns:a16="http://schemas.microsoft.com/office/drawing/2014/main" id="{FAFFF64B-DC76-00D4-DDA1-C18459247824}"/>
              </a:ext>
            </a:extLst>
          </p:cNvPr>
          <p:cNvPicPr>
            <a:picLocks noChangeAspect="1"/>
          </p:cNvPicPr>
          <p:nvPr/>
        </p:nvPicPr>
        <p:blipFill>
          <a:blip r:embed="rId8"/>
          <a:srcRect l="-207" r="-207"/>
          <a:stretch/>
        </p:blipFill>
        <p:spPr>
          <a:xfrm>
            <a:off x="0" y="0"/>
            <a:ext cx="4058107" cy="75895"/>
          </a:xfrm>
          <a:prstGeom prst="rect">
            <a:avLst/>
          </a:prstGeom>
        </p:spPr>
      </p:pic>
      <p:pic>
        <p:nvPicPr>
          <p:cNvPr id="76" name="Image 1" descr="preencoded.png">
            <a:extLst>
              <a:ext uri="{FF2B5EF4-FFF2-40B4-BE49-F238E27FC236}">
                <a16:creationId xmlns:a16="http://schemas.microsoft.com/office/drawing/2014/main" id="{F02F145E-4174-DB5B-12FC-B946B2BEFC21}"/>
              </a:ext>
            </a:extLst>
          </p:cNvPr>
          <p:cNvPicPr>
            <a:picLocks noChangeAspect="1"/>
          </p:cNvPicPr>
          <p:nvPr/>
        </p:nvPicPr>
        <p:blipFill>
          <a:blip r:embed="rId9"/>
          <a:srcRect l="-202" r="-202"/>
          <a:stretch/>
        </p:blipFill>
        <p:spPr>
          <a:xfrm>
            <a:off x="4058107" y="0"/>
            <a:ext cx="8134502" cy="75895"/>
          </a:xfrm>
          <a:prstGeom prst="rect">
            <a:avLst/>
          </a:prstGeom>
        </p:spPr>
      </p:pic>
      <p:sp>
        <p:nvSpPr>
          <p:cNvPr id="77" name="Shape 2">
            <a:extLst>
              <a:ext uri="{FF2B5EF4-FFF2-40B4-BE49-F238E27FC236}">
                <a16:creationId xmlns:a16="http://schemas.microsoft.com/office/drawing/2014/main" id="{C1C503D5-DE04-F879-CDE8-91C26E3173B8}"/>
              </a:ext>
            </a:extLst>
          </p:cNvPr>
          <p:cNvSpPr/>
          <p:nvPr/>
        </p:nvSpPr>
        <p:spPr>
          <a:xfrm>
            <a:off x="-1380897" y="-1256081"/>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8" name="Image 4" descr="preencoded.png">
            <a:extLst>
              <a:ext uri="{FF2B5EF4-FFF2-40B4-BE49-F238E27FC236}">
                <a16:creationId xmlns:a16="http://schemas.microsoft.com/office/drawing/2014/main" id="{3FB3B60C-A4FF-CE53-9131-90677B3706CF}"/>
              </a:ext>
            </a:extLst>
          </p:cNvPr>
          <p:cNvPicPr>
            <a:picLocks noChangeAspect="1"/>
          </p:cNvPicPr>
          <p:nvPr/>
        </p:nvPicPr>
        <p:blipFill>
          <a:blip r:embed="rId10"/>
          <a:srcRect l="-400" r="-400"/>
          <a:stretch/>
        </p:blipFill>
        <p:spPr>
          <a:xfrm>
            <a:off x="609905" y="457200"/>
            <a:ext cx="57607" cy="457200"/>
          </a:xfrm>
          <a:prstGeom prst="rect">
            <a:avLst/>
          </a:prstGeom>
        </p:spPr>
      </p:pic>
      <p:sp>
        <p:nvSpPr>
          <p:cNvPr id="79" name="Text 11">
            <a:extLst>
              <a:ext uri="{FF2B5EF4-FFF2-40B4-BE49-F238E27FC236}">
                <a16:creationId xmlns:a16="http://schemas.microsoft.com/office/drawing/2014/main" id="{65F3FFE0-7460-C049-BC83-7BC32616A4C0}"/>
              </a:ext>
            </a:extLst>
          </p:cNvPr>
          <p:cNvSpPr txBox="1"/>
          <p:nvPr/>
        </p:nvSpPr>
        <p:spPr>
          <a:xfrm>
            <a:off x="819302" y="228600"/>
            <a:ext cx="9715500" cy="428854"/>
          </a:xfrm>
          <a:prstGeom prst="rect">
            <a:avLst/>
          </a:prstGeom>
          <a:noFill/>
          <a:ln/>
        </p:spPr>
        <p:txBody>
          <a:bodyPr wrap="square" lIns="0" tIns="0" rIns="0" bIns="0" rtlCol="0" anchor="ctr"/>
          <a:lstStyle/>
          <a:p>
            <a:r>
              <a:rPr lang="en-US" sz="3200" b="1">
                <a:solidFill>
                  <a:srgbClr val="1A1A2E"/>
                </a:solidFill>
                <a:latin typeface="Oswald" panose="00000500000000000000" pitchFamily="2" charset="0"/>
                <a:ea typeface="Calibri" pitchFamily="34" charset="-122"/>
                <a:cs typeface="Calibri" pitchFamily="34" charset="-120"/>
              </a:rPr>
              <a:t>Workforce &amp; Talent Solutions</a:t>
            </a:r>
            <a:endParaRPr lang="en-US" sz="3200">
              <a:latin typeface="Oswald" panose="00000500000000000000" pitchFamily="2" charset="0"/>
            </a:endParaRPr>
          </a:p>
        </p:txBody>
      </p:sp>
      <p:sp>
        <p:nvSpPr>
          <p:cNvPr id="80" name="Text 12">
            <a:extLst>
              <a:ext uri="{FF2B5EF4-FFF2-40B4-BE49-F238E27FC236}">
                <a16:creationId xmlns:a16="http://schemas.microsoft.com/office/drawing/2014/main" id="{830CE162-47E2-FB62-8B99-806E90C454F1}"/>
              </a:ext>
            </a:extLst>
          </p:cNvPr>
          <p:cNvSpPr txBox="1"/>
          <p:nvPr/>
        </p:nvSpPr>
        <p:spPr>
          <a:xfrm>
            <a:off x="819302" y="758952"/>
            <a:ext cx="9639605" cy="200254"/>
          </a:xfrm>
          <a:prstGeom prst="rect">
            <a:avLst/>
          </a:prstGeom>
          <a:noFill/>
          <a:ln/>
        </p:spPr>
        <p:txBody>
          <a:bodyPr wrap="square" lIns="0" tIns="0" rIns="0" bIns="0" rtlCol="0" anchor="ctr"/>
          <a:lstStyle/>
          <a:p>
            <a:pPr marL="0" indent="0" algn="l">
              <a:buNone/>
            </a:pPr>
            <a:r>
              <a:rPr lang="en-US" sz="1300" b="1" kern="0" spc="68">
                <a:solidFill>
                  <a:srgbClr val="2A9D8F"/>
                </a:solidFill>
                <a:latin typeface="Roboto Condensed" pitchFamily="34" charset="0"/>
                <a:ea typeface="Roboto Condensed" pitchFamily="34" charset="-122"/>
                <a:cs typeface="Roboto Condensed" pitchFamily="34" charset="-120"/>
              </a:rPr>
              <a:t>A MANAGED, AI-DRIVEN WORKFORCE UNIT - NOT JUST STAFFING WITH A WRAPPER.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858707" y="-952805"/>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debd4e3596836e8640379be3057665ef.png"/>
          <p:cNvPicPr>
            <a:picLocks noChangeAspect="1"/>
          </p:cNvPicPr>
          <p:nvPr/>
        </p:nvPicPr>
        <p:blipFill>
          <a:blip r:embed="rId3">
            <a:alphaModFix amt="6000"/>
          </a:blip>
          <a:srcRect/>
          <a:stretch/>
        </p:blipFill>
        <p:spPr>
          <a:xfrm>
            <a:off x="-761695" y="4762195"/>
            <a:ext cx="2857500" cy="2857500"/>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b359e3fa59182a7dfb1cf9bffd3421a2.png"/>
          <p:cNvPicPr>
            <a:picLocks noChangeAspect="1"/>
          </p:cNvPicPr>
          <p:nvPr/>
        </p:nvPicPr>
        <p:blipFill>
          <a:blip r:embed="rId6"/>
          <a:srcRect l="-375" r="-375"/>
          <a:stretch/>
        </p:blipFill>
        <p:spPr>
          <a:xfrm>
            <a:off x="609905" y="457200"/>
            <a:ext cx="57607" cy="609905"/>
          </a:xfrm>
          <a:prstGeom prst="rect">
            <a:avLst/>
          </a:prstGeom>
        </p:spPr>
      </p:pic>
      <p:sp>
        <p:nvSpPr>
          <p:cNvPr id="9" name="Shape 3"/>
          <p:cNvSpPr/>
          <p:nvPr/>
        </p:nvSpPr>
        <p:spPr>
          <a:xfrm>
            <a:off x="609905"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4"/>
          <p:cNvSpPr/>
          <p:nvPr/>
        </p:nvSpPr>
        <p:spPr>
          <a:xfrm>
            <a:off x="609905" y="1714500"/>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4476902"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6"/>
          <p:cNvSpPr/>
          <p:nvPr/>
        </p:nvSpPr>
        <p:spPr>
          <a:xfrm>
            <a:off x="4476902" y="1714500"/>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8343900"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4" name="Shape 8"/>
          <p:cNvSpPr/>
          <p:nvPr/>
        </p:nvSpPr>
        <p:spPr>
          <a:xfrm>
            <a:off x="8343900" y="1714500"/>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609905"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6" name="Shape 10"/>
          <p:cNvSpPr/>
          <p:nvPr/>
        </p:nvSpPr>
        <p:spPr>
          <a:xfrm>
            <a:off x="609905" y="4190695"/>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7" name="Shape 11"/>
          <p:cNvSpPr/>
          <p:nvPr/>
        </p:nvSpPr>
        <p:spPr>
          <a:xfrm>
            <a:off x="4476902"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8" name="Shape 12"/>
          <p:cNvSpPr/>
          <p:nvPr/>
        </p:nvSpPr>
        <p:spPr>
          <a:xfrm>
            <a:off x="4476902" y="4190695"/>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8343900"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20" name="Shape 14"/>
          <p:cNvSpPr/>
          <p:nvPr/>
        </p:nvSpPr>
        <p:spPr>
          <a:xfrm>
            <a:off x="8343900" y="4190695"/>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23" name="Text 17"/>
          <p:cNvSpPr txBox="1"/>
          <p:nvPr/>
        </p:nvSpPr>
        <p:spPr>
          <a:xfrm>
            <a:off x="760780" y="577088"/>
            <a:ext cx="8438998" cy="409651"/>
          </a:xfrm>
          <a:prstGeom prst="rect">
            <a:avLst/>
          </a:prstGeom>
          <a:noFill/>
          <a:ln/>
        </p:spPr>
        <p:txBody>
          <a:bodyPr wrap="none" lIns="0" tIns="0" rIns="0" bIns="0" rtlCol="0" anchor="ctr"/>
          <a:lstStyle/>
          <a:p>
            <a:pPr marL="0" indent="0" algn="l">
              <a:buNone/>
            </a:pPr>
            <a:r>
              <a:rPr lang="en-US" sz="2500" b="1">
                <a:solidFill>
                  <a:srgbClr val="111827"/>
                </a:solidFill>
                <a:latin typeface="Oswald" pitchFamily="34" charset="0"/>
                <a:ea typeface="Oswald" pitchFamily="34" charset="-122"/>
                <a:cs typeface="Oswald" pitchFamily="34" charset="-120"/>
              </a:rPr>
              <a:t>WORKFORCE SOLUTIONS - HOW WE DELIVER</a:t>
            </a:r>
          </a:p>
          <a:p>
            <a:pPr marL="0" indent="0" algn="l">
              <a:buNone/>
            </a:pPr>
            <a:endParaRPr lang="en-US" sz="2500"/>
          </a:p>
        </p:txBody>
      </p:sp>
      <p:sp>
        <p:nvSpPr>
          <p:cNvPr id="24" name="Text 18"/>
          <p:cNvSpPr txBox="1"/>
          <p:nvPr/>
        </p:nvSpPr>
        <p:spPr>
          <a:xfrm>
            <a:off x="819302" y="822960"/>
            <a:ext cx="8097012" cy="181051"/>
          </a:xfrm>
          <a:prstGeom prst="rect">
            <a:avLst/>
          </a:prstGeom>
          <a:noFill/>
          <a:ln/>
        </p:spPr>
        <p:txBody>
          <a:bodyPr wrap="none" lIns="0" tIns="0" rIns="0" bIns="0" rtlCol="0" anchor="ctr"/>
          <a:lstStyle/>
          <a:p>
            <a:pPr marL="0" indent="0" algn="l">
              <a:buNone/>
            </a:pPr>
            <a:r>
              <a:rPr lang="en-US" sz="1500" b="1" kern="0" spc="60" dirty="0">
                <a:solidFill>
                  <a:srgbClr val="2A9D8F"/>
                </a:solidFill>
                <a:latin typeface="Roboto Condensed" pitchFamily="34" charset="0"/>
                <a:ea typeface="Roboto Condensed" pitchFamily="34" charset="-122"/>
                <a:cs typeface="Roboto Condensed" pitchFamily="34" charset="-120"/>
              </a:rPr>
              <a:t>From Sourcing To Sprint Governance - A Structured Operating Model, Not A Staffing Drop.</a:t>
            </a:r>
          </a:p>
        </p:txBody>
      </p:sp>
      <p:sp>
        <p:nvSpPr>
          <p:cNvPr id="25" name="Text 19"/>
          <p:cNvSpPr txBox="1"/>
          <p:nvPr/>
        </p:nvSpPr>
        <p:spPr>
          <a:xfrm>
            <a:off x="819302" y="1079906"/>
            <a:ext cx="8097012" cy="152705"/>
          </a:xfrm>
          <a:prstGeom prst="rect">
            <a:avLst/>
          </a:prstGeom>
          <a:noFill/>
          <a:ln/>
        </p:spPr>
        <p:txBody>
          <a:bodyPr wrap="none" lIns="0" tIns="0" rIns="0" bIns="0" rtlCol="0" anchor="ctr"/>
          <a:lstStyle/>
          <a:p>
            <a:pPr marL="0" indent="0" algn="l">
              <a:buNone/>
            </a:pPr>
            <a:endParaRPr lang="en-US" sz="1000"/>
          </a:p>
        </p:txBody>
      </p:sp>
      <p:sp>
        <p:nvSpPr>
          <p:cNvPr id="26" name="Text 20"/>
          <p:cNvSpPr txBox="1"/>
          <p:nvPr/>
        </p:nvSpPr>
        <p:spPr>
          <a:xfrm>
            <a:off x="838505" y="1981505"/>
            <a:ext cx="340157"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01</a:t>
            </a:r>
            <a:endParaRPr lang="en-US" sz="2400"/>
          </a:p>
        </p:txBody>
      </p:sp>
      <p:sp>
        <p:nvSpPr>
          <p:cNvPr id="27" name="Text 21"/>
          <p:cNvSpPr txBox="1"/>
          <p:nvPr/>
        </p:nvSpPr>
        <p:spPr>
          <a:xfrm>
            <a:off x="1237183" y="1995424"/>
            <a:ext cx="1417320"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Scope &amp; Source</a:t>
            </a:r>
            <a:endParaRPr lang="en-US" sz="1600"/>
          </a:p>
        </p:txBody>
      </p:sp>
      <p:sp>
        <p:nvSpPr>
          <p:cNvPr id="28" name="Text 22"/>
          <p:cNvSpPr txBox="1"/>
          <p:nvPr/>
        </p:nvSpPr>
        <p:spPr>
          <a:xfrm>
            <a:off x="838505"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Role definition + domain-specific talent pool activation. TalentAI matching + voice-agent pre-screen. Shortlist in 72 hrs.</a:t>
            </a:r>
            <a:endParaRPr lang="en-US" sz="1000"/>
          </a:p>
        </p:txBody>
      </p:sp>
      <p:pic>
        <p:nvPicPr>
          <p:cNvPr id="29" name="Image 4" descr="gen-dedup-68afaceb726e7c14c8688760b973252d.png"/>
          <p:cNvPicPr>
            <a:picLocks noChangeAspect="1"/>
          </p:cNvPicPr>
          <p:nvPr/>
        </p:nvPicPr>
        <p:blipFill>
          <a:blip r:embed="rId7"/>
          <a:srcRect l="-13360" r="-13360"/>
          <a:stretch/>
        </p:blipFill>
        <p:spPr>
          <a:xfrm>
            <a:off x="4062679" y="2648102"/>
            <a:ext cx="181051" cy="228600"/>
          </a:xfrm>
          <a:prstGeom prst="rect">
            <a:avLst/>
          </a:prstGeom>
        </p:spPr>
      </p:pic>
      <p:sp>
        <p:nvSpPr>
          <p:cNvPr id="30" name="Text 23"/>
          <p:cNvSpPr txBox="1"/>
          <p:nvPr/>
        </p:nvSpPr>
        <p:spPr>
          <a:xfrm>
            <a:off x="4705502" y="1981505"/>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02</a:t>
            </a:r>
            <a:endParaRPr lang="en-US" sz="2400"/>
          </a:p>
        </p:txBody>
      </p:sp>
      <p:sp>
        <p:nvSpPr>
          <p:cNvPr id="31" name="Text 24"/>
          <p:cNvSpPr txBox="1"/>
          <p:nvPr/>
        </p:nvSpPr>
        <p:spPr>
          <a:xfrm>
            <a:off x="5144414" y="1995424"/>
            <a:ext cx="839419"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AI-Assess</a:t>
            </a:r>
            <a:endParaRPr lang="en-US" sz="1600"/>
          </a:p>
        </p:txBody>
      </p:sp>
      <p:sp>
        <p:nvSpPr>
          <p:cNvPr id="32" name="Text 25"/>
          <p:cNvSpPr txBox="1"/>
          <p:nvPr/>
        </p:nvSpPr>
        <p:spPr>
          <a:xfrm>
            <a:off x="4705502"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Live coding + domain scenario assessment via TalentSphere. Technical bar validated by J2W before client interview.</a:t>
            </a:r>
            <a:endParaRPr lang="en-US" sz="1000"/>
          </a:p>
        </p:txBody>
      </p:sp>
      <p:pic>
        <p:nvPicPr>
          <p:cNvPr id="33" name="Image 5" descr="gen-dedup-68afaceb726e7c14c8688760b973252d.png"/>
          <p:cNvPicPr>
            <a:picLocks noChangeAspect="1"/>
          </p:cNvPicPr>
          <p:nvPr/>
        </p:nvPicPr>
        <p:blipFill>
          <a:blip r:embed="rId7"/>
          <a:srcRect l="-13360" r="-13360"/>
          <a:stretch/>
        </p:blipFill>
        <p:spPr>
          <a:xfrm>
            <a:off x="7929677" y="2648102"/>
            <a:ext cx="181051" cy="228600"/>
          </a:xfrm>
          <a:prstGeom prst="rect">
            <a:avLst/>
          </a:prstGeom>
        </p:spPr>
      </p:pic>
      <p:sp>
        <p:nvSpPr>
          <p:cNvPr id="34" name="Text 26"/>
          <p:cNvSpPr txBox="1"/>
          <p:nvPr/>
        </p:nvSpPr>
        <p:spPr>
          <a:xfrm>
            <a:off x="8572500" y="1981505"/>
            <a:ext cx="391363"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03</a:t>
            </a:r>
            <a:endParaRPr lang="en-US" sz="2400"/>
          </a:p>
        </p:txBody>
      </p:sp>
      <p:sp>
        <p:nvSpPr>
          <p:cNvPr id="35" name="Text 27"/>
          <p:cNvSpPr txBox="1"/>
          <p:nvPr/>
        </p:nvSpPr>
        <p:spPr>
          <a:xfrm>
            <a:off x="9011412" y="1995424"/>
            <a:ext cx="1553566"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Deploy in 10 Days</a:t>
            </a:r>
            <a:endParaRPr lang="en-US" sz="1600"/>
          </a:p>
        </p:txBody>
      </p:sp>
      <p:sp>
        <p:nvSpPr>
          <p:cNvPr id="36" name="Text 28"/>
          <p:cNvSpPr txBox="1"/>
          <p:nvPr/>
        </p:nvSpPr>
        <p:spPr>
          <a:xfrm>
            <a:off x="8572500"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Offer → onboarding → Day-1 productivity. J2W payroll, compliance, IT provisioning - fully managed.</a:t>
            </a:r>
            <a:endParaRPr lang="en-US" sz="1000"/>
          </a:p>
        </p:txBody>
      </p:sp>
      <p:pic>
        <p:nvPicPr>
          <p:cNvPr id="37" name="Image 6" descr="gen-dedup-ff9a716cc6b1850cd75acb20aeb0dc17.png"/>
          <p:cNvPicPr>
            <a:picLocks noChangeAspect="1"/>
          </p:cNvPicPr>
          <p:nvPr/>
        </p:nvPicPr>
        <p:blipFill>
          <a:blip r:embed="rId8"/>
          <a:srcRect t="-13131" b="-13131"/>
          <a:stretch/>
        </p:blipFill>
        <p:spPr>
          <a:xfrm>
            <a:off x="9872777" y="3895344"/>
            <a:ext cx="181051" cy="228600"/>
          </a:xfrm>
          <a:prstGeom prst="rect">
            <a:avLst/>
          </a:prstGeom>
        </p:spPr>
      </p:pic>
      <p:sp>
        <p:nvSpPr>
          <p:cNvPr id="38" name="Text 29"/>
          <p:cNvSpPr txBox="1"/>
          <p:nvPr/>
        </p:nvSpPr>
        <p:spPr>
          <a:xfrm>
            <a:off x="838505" y="4457700"/>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04</a:t>
            </a:r>
            <a:endParaRPr lang="en-US" sz="2400"/>
          </a:p>
        </p:txBody>
      </p:sp>
      <p:sp>
        <p:nvSpPr>
          <p:cNvPr id="39" name="Text 30"/>
          <p:cNvSpPr txBox="1"/>
          <p:nvPr/>
        </p:nvSpPr>
        <p:spPr>
          <a:xfrm>
            <a:off x="1280160" y="4472534"/>
            <a:ext cx="1564538"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Govern &amp; Upskill</a:t>
            </a:r>
            <a:endParaRPr lang="en-US" sz="1600"/>
          </a:p>
        </p:txBody>
      </p:sp>
      <p:sp>
        <p:nvSpPr>
          <p:cNvPr id="40" name="Text 31"/>
          <p:cNvSpPr txBox="1"/>
          <p:nvPr/>
        </p:nvSpPr>
        <p:spPr>
          <a:xfrm>
            <a:off x="838505" y="490575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Sprint accountability via Pod Manager. Monthly AI upskilling in J2W Labs. Weekly performance telemetry.</a:t>
            </a:r>
            <a:endParaRPr lang="en-US" sz="1000"/>
          </a:p>
        </p:txBody>
      </p:sp>
      <p:pic>
        <p:nvPicPr>
          <p:cNvPr id="41" name="Image 7" descr="gen-dedup-68afaceb726e7c14c8688760b973252d.png"/>
          <p:cNvPicPr>
            <a:picLocks noChangeAspect="1"/>
          </p:cNvPicPr>
          <p:nvPr/>
        </p:nvPicPr>
        <p:blipFill>
          <a:blip r:embed="rId7"/>
          <a:srcRect l="-13360" r="-13360"/>
          <a:stretch/>
        </p:blipFill>
        <p:spPr>
          <a:xfrm>
            <a:off x="4062679" y="5124298"/>
            <a:ext cx="181051" cy="228600"/>
          </a:xfrm>
          <a:prstGeom prst="rect">
            <a:avLst/>
          </a:prstGeom>
        </p:spPr>
      </p:pic>
      <p:sp>
        <p:nvSpPr>
          <p:cNvPr id="42" name="Text 32"/>
          <p:cNvSpPr txBox="1"/>
          <p:nvPr/>
        </p:nvSpPr>
        <p:spPr>
          <a:xfrm>
            <a:off x="4705502" y="4457700"/>
            <a:ext cx="385877"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05</a:t>
            </a:r>
            <a:endParaRPr lang="en-US" sz="2400"/>
          </a:p>
        </p:txBody>
      </p:sp>
      <p:sp>
        <p:nvSpPr>
          <p:cNvPr id="43" name="Text 33"/>
          <p:cNvSpPr txBox="1"/>
          <p:nvPr/>
        </p:nvSpPr>
        <p:spPr>
          <a:xfrm>
            <a:off x="5142586" y="4472534"/>
            <a:ext cx="2018081"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POFU - 90-Day Funnel</a:t>
            </a:r>
            <a:endParaRPr lang="en-US" sz="1600"/>
          </a:p>
        </p:txBody>
      </p:sp>
      <p:sp>
        <p:nvSpPr>
          <p:cNvPr id="44" name="Text 34"/>
          <p:cNvSpPr txBox="1"/>
          <p:nvPr/>
        </p:nvSpPr>
        <p:spPr>
          <a:xfrm>
            <a:off x="4705502" y="4905756"/>
            <a:ext cx="2781605" cy="800100"/>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Post-Offer Follow-Up: milestone touchpoints, counter-offer inoculation, manager connects. Dropout rate → single digits.</a:t>
            </a:r>
            <a:endParaRPr lang="en-US" sz="1000"/>
          </a:p>
        </p:txBody>
      </p:sp>
      <p:pic>
        <p:nvPicPr>
          <p:cNvPr id="45" name="Image 8" descr="gen-dedup-68afaceb726e7c14c8688760b973252d.png"/>
          <p:cNvPicPr>
            <a:picLocks noChangeAspect="1"/>
          </p:cNvPicPr>
          <p:nvPr/>
        </p:nvPicPr>
        <p:blipFill>
          <a:blip r:embed="rId7"/>
          <a:srcRect l="-13360" r="-13360"/>
          <a:stretch/>
        </p:blipFill>
        <p:spPr>
          <a:xfrm>
            <a:off x="7929677" y="5124298"/>
            <a:ext cx="181051" cy="228600"/>
          </a:xfrm>
          <a:prstGeom prst="rect">
            <a:avLst/>
          </a:prstGeom>
        </p:spPr>
      </p:pic>
      <p:sp>
        <p:nvSpPr>
          <p:cNvPr id="46" name="Text 35"/>
          <p:cNvSpPr txBox="1"/>
          <p:nvPr/>
        </p:nvSpPr>
        <p:spPr>
          <a:xfrm>
            <a:off x="8572500" y="4457700"/>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06</a:t>
            </a:r>
            <a:endParaRPr lang="en-US" sz="2400"/>
          </a:p>
        </p:txBody>
      </p:sp>
      <p:sp>
        <p:nvSpPr>
          <p:cNvPr id="47" name="Text 36"/>
          <p:cNvSpPr txBox="1"/>
          <p:nvPr/>
        </p:nvSpPr>
        <p:spPr>
          <a:xfrm>
            <a:off x="9018727" y="4472534"/>
            <a:ext cx="1598371"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Scale or Convert</a:t>
            </a:r>
            <a:endParaRPr lang="en-US" sz="1600"/>
          </a:p>
        </p:txBody>
      </p:sp>
      <p:sp>
        <p:nvSpPr>
          <p:cNvPr id="48" name="Text 37"/>
          <p:cNvSpPr txBox="1"/>
          <p:nvPr/>
        </p:nvSpPr>
        <p:spPr>
          <a:xfrm>
            <a:off x="8572500" y="490575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C2H → permanent conversion on Day 91. Scale the pod up or down. Quarterly Business Review with ROI data.</a:t>
            </a:r>
            <a:endParaRPr lang="en-US" sz="1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cad3a534ee2971c6a497c9faf59fb5cd.png"/>
          <p:cNvPicPr>
            <a:picLocks noChangeAspect="1"/>
          </p:cNvPicPr>
          <p:nvPr/>
        </p:nvPicPr>
        <p:blipFill>
          <a:blip r:embed="rId3"/>
          <a:srcRect l="-202" r="-202"/>
          <a:stretch/>
        </p:blipFill>
        <p:spPr>
          <a:xfrm>
            <a:off x="0" y="0"/>
            <a:ext cx="8128102" cy="75895"/>
          </a:xfrm>
          <a:prstGeom prst="rect">
            <a:avLst/>
          </a:prstGeom>
        </p:spPr>
      </p:pic>
      <p:pic>
        <p:nvPicPr>
          <p:cNvPr id="5" name="Image 1" descr="gen-dedup-64882feb7a832238af77b962fc7a8538.png"/>
          <p:cNvPicPr>
            <a:picLocks noChangeAspect="1"/>
          </p:cNvPicPr>
          <p:nvPr/>
        </p:nvPicPr>
        <p:blipFill>
          <a:blip r:embed="rId4"/>
          <a:srcRect l="-197" r="-197"/>
          <a:stretch/>
        </p:blipFill>
        <p:spPr>
          <a:xfrm>
            <a:off x="8128102"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4ab2116e971fbb9400d0e99205bd0390.png"/>
          <p:cNvPicPr>
            <a:picLocks noChangeAspect="1"/>
          </p:cNvPicPr>
          <p:nvPr/>
        </p:nvPicPr>
        <p:blipFill>
          <a:blip r:embed="rId5">
            <a:alphaModFix amt="8000"/>
          </a:blip>
          <a:srcRect/>
          <a:stretch/>
        </p:blipFill>
        <p:spPr>
          <a:xfrm>
            <a:off x="-381305" y="4190695"/>
            <a:ext cx="1904695" cy="1904695"/>
          </a:xfrm>
          <a:prstGeom prst="rect">
            <a:avLst/>
          </a:prstGeom>
        </p:spPr>
      </p:pic>
      <p:sp>
        <p:nvSpPr>
          <p:cNvPr id="8" name="Shape 3"/>
          <p:cNvSpPr/>
          <p:nvPr/>
        </p:nvSpPr>
        <p:spPr>
          <a:xfrm>
            <a:off x="609905" y="2000707"/>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9" name="Shape 4"/>
          <p:cNvSpPr/>
          <p:nvPr/>
        </p:nvSpPr>
        <p:spPr>
          <a:xfrm>
            <a:off x="609905" y="2000707"/>
            <a:ext cx="57607" cy="857707"/>
          </a:xfrm>
          <a:prstGeom prst="roundRect">
            <a:avLst>
              <a:gd name="adj" fmla="val 66667"/>
            </a:avLst>
          </a:prstGeom>
          <a:solidFill>
            <a:srgbClr val="2A9D8F"/>
          </a:solidFill>
          <a:ln w="12700">
            <a:solidFill>
              <a:srgbClr val="2A9D8F">
                <a:alpha val="0"/>
              </a:srgbClr>
            </a:solidFill>
            <a:prstDash val="solid"/>
          </a:ln>
        </p:spPr>
        <p:txBody>
          <a:bodyPr/>
          <a:lstStyle/>
          <a:p>
            <a:endParaRPr lang="en-US"/>
          </a:p>
        </p:txBody>
      </p:sp>
      <p:sp>
        <p:nvSpPr>
          <p:cNvPr id="10" name="Shape 5"/>
          <p:cNvSpPr/>
          <p:nvPr/>
        </p:nvSpPr>
        <p:spPr>
          <a:xfrm>
            <a:off x="609905" y="2952598"/>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1" name="Shape 6"/>
          <p:cNvSpPr/>
          <p:nvPr/>
        </p:nvSpPr>
        <p:spPr>
          <a:xfrm>
            <a:off x="609905" y="2952598"/>
            <a:ext cx="57607" cy="857707"/>
          </a:xfrm>
          <a:prstGeom prst="roundRect">
            <a:avLst>
              <a:gd name="adj" fmla="val 66667"/>
            </a:avLst>
          </a:prstGeom>
          <a:solidFill>
            <a:srgbClr val="D62839"/>
          </a:solidFill>
          <a:ln w="12700">
            <a:solidFill>
              <a:srgbClr val="D62839">
                <a:alpha val="0"/>
              </a:srgbClr>
            </a:solidFill>
            <a:prstDash val="solid"/>
          </a:ln>
        </p:spPr>
        <p:txBody>
          <a:bodyPr/>
          <a:lstStyle/>
          <a:p>
            <a:endParaRPr lang="en-US"/>
          </a:p>
        </p:txBody>
      </p:sp>
      <p:sp>
        <p:nvSpPr>
          <p:cNvPr id="12" name="Shape 7"/>
          <p:cNvSpPr/>
          <p:nvPr/>
        </p:nvSpPr>
        <p:spPr>
          <a:xfrm>
            <a:off x="609905" y="3905402"/>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3" name="Shape 8"/>
          <p:cNvSpPr/>
          <p:nvPr/>
        </p:nvSpPr>
        <p:spPr>
          <a:xfrm>
            <a:off x="609905" y="3905402"/>
            <a:ext cx="57607" cy="857707"/>
          </a:xfrm>
          <a:prstGeom prst="roundRect">
            <a:avLst>
              <a:gd name="adj" fmla="val 66667"/>
            </a:avLst>
          </a:prstGeom>
          <a:solidFill>
            <a:srgbClr val="2A9D8F"/>
          </a:solidFill>
          <a:ln w="12700">
            <a:solidFill>
              <a:srgbClr val="2A9D8F">
                <a:alpha val="0"/>
              </a:srgbClr>
            </a:solidFill>
            <a:prstDash val="solid"/>
          </a:ln>
        </p:spPr>
        <p:txBody>
          <a:bodyPr/>
          <a:lstStyle/>
          <a:p>
            <a:endParaRPr lang="en-US"/>
          </a:p>
        </p:txBody>
      </p:sp>
      <p:sp>
        <p:nvSpPr>
          <p:cNvPr id="14" name="Shape 9"/>
          <p:cNvSpPr/>
          <p:nvPr/>
        </p:nvSpPr>
        <p:spPr>
          <a:xfrm>
            <a:off x="609905" y="4858207"/>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5" name="Shape 10"/>
          <p:cNvSpPr/>
          <p:nvPr/>
        </p:nvSpPr>
        <p:spPr>
          <a:xfrm>
            <a:off x="609905" y="4858207"/>
            <a:ext cx="57607" cy="857707"/>
          </a:xfrm>
          <a:prstGeom prst="roundRect">
            <a:avLst>
              <a:gd name="adj" fmla="val 66667"/>
            </a:avLst>
          </a:prstGeom>
          <a:solidFill>
            <a:srgbClr val="D62839"/>
          </a:solidFill>
          <a:ln w="12700">
            <a:solidFill>
              <a:srgbClr val="D62839">
                <a:alpha val="0"/>
              </a:srgbClr>
            </a:solidFill>
            <a:prstDash val="solid"/>
          </a:ln>
        </p:spPr>
        <p:txBody>
          <a:bodyPr/>
          <a:lstStyle/>
          <a:p>
            <a:endParaRPr lang="en-US"/>
          </a:p>
        </p:txBody>
      </p:sp>
      <p:sp>
        <p:nvSpPr>
          <p:cNvPr id="16" name="Shape 11"/>
          <p:cNvSpPr/>
          <p:nvPr/>
        </p:nvSpPr>
        <p:spPr>
          <a:xfrm>
            <a:off x="609905" y="5810098"/>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7" name="Shape 12"/>
          <p:cNvSpPr/>
          <p:nvPr/>
        </p:nvSpPr>
        <p:spPr>
          <a:xfrm>
            <a:off x="609905" y="5810098"/>
            <a:ext cx="57607" cy="857707"/>
          </a:xfrm>
          <a:prstGeom prst="roundRect">
            <a:avLst>
              <a:gd name="adj" fmla="val 66667"/>
            </a:avLst>
          </a:prstGeom>
          <a:solidFill>
            <a:srgbClr val="2A9D8F"/>
          </a:solidFill>
          <a:ln w="12700">
            <a:solidFill>
              <a:srgbClr val="2A9D8F">
                <a:alpha val="0"/>
              </a:srgbClr>
            </a:solidFill>
            <a:prstDash val="solid"/>
          </a:ln>
        </p:spPr>
        <p:txBody>
          <a:bodyPr/>
          <a:lstStyle/>
          <a:p>
            <a:endParaRPr lang="en-US"/>
          </a:p>
        </p:txBody>
      </p:sp>
      <p:pic>
        <p:nvPicPr>
          <p:cNvPr id="20" name="Image 3" descr="gen-dedup-f40e183725d285eac3acdddf8d8f823b.png"/>
          <p:cNvPicPr>
            <a:picLocks noChangeAspect="1"/>
          </p:cNvPicPr>
          <p:nvPr/>
        </p:nvPicPr>
        <p:blipFill>
          <a:blip r:embed="rId6"/>
          <a:srcRect l="-369" r="-369"/>
          <a:stretch/>
        </p:blipFill>
        <p:spPr>
          <a:xfrm>
            <a:off x="609905" y="448970"/>
            <a:ext cx="57607" cy="495605"/>
          </a:xfrm>
          <a:prstGeom prst="rect">
            <a:avLst/>
          </a:prstGeom>
        </p:spPr>
      </p:pic>
      <p:sp>
        <p:nvSpPr>
          <p:cNvPr id="21" name="Text 15"/>
          <p:cNvSpPr txBox="1"/>
          <p:nvPr/>
        </p:nvSpPr>
        <p:spPr>
          <a:xfrm>
            <a:off x="819302" y="381305"/>
            <a:ext cx="4499762" cy="409651"/>
          </a:xfrm>
          <a:prstGeom prst="rect">
            <a:avLst/>
          </a:prstGeom>
          <a:noFill/>
          <a:ln/>
        </p:spPr>
        <p:txBody>
          <a:bodyPr wrap="none" lIns="0" tIns="0" rIns="0" bIns="0" rtlCol="0" anchor="ctr"/>
          <a:lstStyle/>
          <a:p>
            <a:pPr marL="0" indent="0" algn="l">
              <a:buNone/>
            </a:pPr>
            <a:r>
              <a:rPr lang="en-US" sz="2800" b="1">
                <a:solidFill>
                  <a:srgbClr val="111827"/>
                </a:solidFill>
                <a:latin typeface="Oswald" pitchFamily="34" charset="0"/>
                <a:ea typeface="Oswald" pitchFamily="34" charset="-122"/>
                <a:cs typeface="Oswald" pitchFamily="34" charset="-120"/>
              </a:rPr>
              <a:t>STRUCTURAL DIFFERENTIATION</a:t>
            </a:r>
            <a:endParaRPr lang="en-US" sz="2800"/>
          </a:p>
        </p:txBody>
      </p:sp>
      <p:sp>
        <p:nvSpPr>
          <p:cNvPr id="22" name="Text 16"/>
          <p:cNvSpPr txBox="1"/>
          <p:nvPr/>
        </p:nvSpPr>
        <p:spPr>
          <a:xfrm>
            <a:off x="819302" y="821131"/>
            <a:ext cx="3610051" cy="191110"/>
          </a:xfrm>
          <a:prstGeom prst="rect">
            <a:avLst/>
          </a:prstGeom>
          <a:noFill/>
          <a:ln/>
        </p:spPr>
        <p:txBody>
          <a:bodyPr wrap="none" lIns="0" tIns="0" rIns="0" bIns="0" rtlCol="0" anchor="ctr"/>
          <a:lstStyle/>
          <a:p>
            <a:pPr marL="0" indent="0" algn="l">
              <a:buNone/>
            </a:pPr>
            <a:r>
              <a:rPr lang="en-US" sz="1500" b="1" kern="0" spc="66" dirty="0">
                <a:solidFill>
                  <a:srgbClr val="2A9D8F"/>
                </a:solidFill>
                <a:latin typeface="Roboto Condensed" pitchFamily="34" charset="0"/>
                <a:ea typeface="Roboto Condensed" pitchFamily="34" charset="-122"/>
                <a:cs typeface="Roboto Condensed" pitchFamily="34" charset="-120"/>
              </a:rPr>
              <a:t>Workforce Solutions</a:t>
            </a:r>
          </a:p>
        </p:txBody>
      </p:sp>
      <p:sp>
        <p:nvSpPr>
          <p:cNvPr id="23" name="Text 17"/>
          <p:cNvSpPr txBox="1"/>
          <p:nvPr/>
        </p:nvSpPr>
        <p:spPr>
          <a:xfrm>
            <a:off x="609905" y="1380744"/>
            <a:ext cx="10972800" cy="267005"/>
          </a:xfrm>
          <a:prstGeom prst="rect">
            <a:avLst/>
          </a:prstGeom>
          <a:noFill/>
          <a:ln/>
        </p:spPr>
        <p:txBody>
          <a:bodyPr wrap="none" lIns="0" tIns="0" rIns="0" bIns="0" rtlCol="0" anchor="ctr"/>
          <a:lstStyle/>
          <a:p>
            <a:pPr marL="0" indent="0" algn="l">
              <a:buNone/>
            </a:pPr>
            <a:r>
              <a:rPr lang="en-US" sz="1500" b="1">
                <a:solidFill>
                  <a:srgbClr val="D62839"/>
                </a:solidFill>
                <a:latin typeface="Raleway" pitchFamily="34" charset="0"/>
                <a:ea typeface="Raleway" pitchFamily="34" charset="-122"/>
                <a:cs typeface="Raleway" pitchFamily="34" charset="-120"/>
              </a:rPr>
              <a:t>Five structural differences that change the engagement from transactional to transformational.</a:t>
            </a:r>
            <a:endParaRPr lang="en-US" sz="1500"/>
          </a:p>
        </p:txBody>
      </p:sp>
      <p:sp>
        <p:nvSpPr>
          <p:cNvPr id="24" name="Text 18"/>
          <p:cNvSpPr txBox="1"/>
          <p:nvPr/>
        </p:nvSpPr>
        <p:spPr>
          <a:xfrm>
            <a:off x="1037844" y="2148840"/>
            <a:ext cx="1904695" cy="305410"/>
          </a:xfrm>
          <a:prstGeom prst="rect">
            <a:avLst/>
          </a:prstGeom>
          <a:noFill/>
          <a:ln/>
        </p:spPr>
        <p:txBody>
          <a:bodyPr wrap="none" lIns="0" tIns="0" rIns="0" bIns="0" rtlCol="0" anchor="ctr"/>
          <a:lstStyle/>
          <a:p>
            <a:pPr marL="0" indent="0" algn="l">
              <a:buNone/>
            </a:pPr>
            <a:r>
              <a:rPr lang="en-US" sz="1400" b="1">
                <a:solidFill>
                  <a:srgbClr val="2A9D8F"/>
                </a:solidFill>
                <a:latin typeface="Oswald" pitchFamily="34" charset="0"/>
                <a:ea typeface="Oswald" pitchFamily="34" charset="-122"/>
                <a:cs typeface="Oswald" pitchFamily="34" charset="-120"/>
              </a:rPr>
              <a:t>No Subcontracting</a:t>
            </a:r>
            <a:endParaRPr lang="en-US" sz="1400"/>
          </a:p>
        </p:txBody>
      </p:sp>
      <p:sp>
        <p:nvSpPr>
          <p:cNvPr id="25" name="Text 19"/>
          <p:cNvSpPr txBox="1"/>
          <p:nvPr/>
        </p:nvSpPr>
        <p:spPr>
          <a:xfrm>
            <a:off x="800100" y="2491740"/>
            <a:ext cx="11278210" cy="219456"/>
          </a:xfrm>
          <a:prstGeom prst="rect">
            <a:avLst/>
          </a:prstGeom>
          <a:noFill/>
          <a:ln/>
        </p:spPr>
        <p:txBody>
          <a:bodyPr wrap="non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300+ in-house recruiters. 7,200+ professionals on J2W payroll. Zero subcontracting layer diluting quality, speed, or accountability.</a:t>
            </a:r>
            <a:endParaRPr lang="en-US" sz="1300"/>
          </a:p>
        </p:txBody>
      </p:sp>
      <p:pic>
        <p:nvPicPr>
          <p:cNvPr id="26" name="Image 4" descr="gen-dedup-928b248bf773cd1fca0141b5a5721735.png"/>
          <p:cNvPicPr>
            <a:picLocks noChangeAspect="1"/>
          </p:cNvPicPr>
          <p:nvPr/>
        </p:nvPicPr>
        <p:blipFill>
          <a:blip r:embed="rId7"/>
          <a:srcRect t="-6603" b="-6603"/>
          <a:stretch/>
        </p:blipFill>
        <p:spPr>
          <a:xfrm>
            <a:off x="800100" y="2211934"/>
            <a:ext cx="161849" cy="209398"/>
          </a:xfrm>
          <a:prstGeom prst="rect">
            <a:avLst/>
          </a:prstGeom>
        </p:spPr>
      </p:pic>
      <p:sp>
        <p:nvSpPr>
          <p:cNvPr id="27" name="Text 20"/>
          <p:cNvSpPr txBox="1"/>
          <p:nvPr/>
        </p:nvSpPr>
        <p:spPr>
          <a:xfrm>
            <a:off x="1037844" y="2991917"/>
            <a:ext cx="2414930" cy="305410"/>
          </a:xfrm>
          <a:prstGeom prst="rect">
            <a:avLst/>
          </a:prstGeom>
          <a:noFill/>
          <a:ln/>
        </p:spPr>
        <p:txBody>
          <a:bodyPr wrap="none" lIns="0" tIns="0" rIns="0" bIns="0" rtlCol="0" anchor="ctr"/>
          <a:lstStyle/>
          <a:p>
            <a:pPr marL="0" indent="0" algn="l">
              <a:buNone/>
            </a:pPr>
            <a:r>
              <a:rPr lang="en-US" sz="1400" b="1">
                <a:solidFill>
                  <a:srgbClr val="D62839"/>
                </a:solidFill>
                <a:latin typeface="Oswald" pitchFamily="34" charset="0"/>
                <a:ea typeface="Oswald" pitchFamily="34" charset="-122"/>
                <a:cs typeface="Oswald" pitchFamily="34" charset="-120"/>
              </a:rPr>
              <a:t>GCC-Native Intelligence</a:t>
            </a:r>
            <a:endParaRPr lang="en-US" sz="1400"/>
          </a:p>
        </p:txBody>
      </p:sp>
      <p:sp>
        <p:nvSpPr>
          <p:cNvPr id="28" name="Text 21"/>
          <p:cNvSpPr txBox="1"/>
          <p:nvPr/>
        </p:nvSpPr>
        <p:spPr>
          <a:xfrm>
            <a:off x="800100" y="3334817"/>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Forged through 300+ active GCC deployments. We see the next problem before it shows up because we have already solved it somewhere else.</a:t>
            </a:r>
            <a:endParaRPr lang="en-US" sz="1300"/>
          </a:p>
        </p:txBody>
      </p:sp>
      <p:pic>
        <p:nvPicPr>
          <p:cNvPr id="29" name="Image 5" descr="gen-dedup-0c58ce2f3d3941653435c84e3cc91c65.png"/>
          <p:cNvPicPr>
            <a:picLocks noChangeAspect="1"/>
          </p:cNvPicPr>
          <p:nvPr/>
        </p:nvPicPr>
        <p:blipFill>
          <a:blip r:embed="rId8"/>
          <a:srcRect t="-14689" b="-14689"/>
          <a:stretch/>
        </p:blipFill>
        <p:spPr>
          <a:xfrm>
            <a:off x="800100" y="3055925"/>
            <a:ext cx="161849" cy="209398"/>
          </a:xfrm>
          <a:prstGeom prst="rect">
            <a:avLst/>
          </a:prstGeom>
        </p:spPr>
      </p:pic>
      <p:sp>
        <p:nvSpPr>
          <p:cNvPr id="30" name="Text 22"/>
          <p:cNvSpPr txBox="1"/>
          <p:nvPr/>
        </p:nvSpPr>
        <p:spPr>
          <a:xfrm>
            <a:off x="1037844" y="3944722"/>
            <a:ext cx="1633118" cy="305410"/>
          </a:xfrm>
          <a:prstGeom prst="rect">
            <a:avLst/>
          </a:prstGeom>
          <a:noFill/>
          <a:ln/>
        </p:spPr>
        <p:txBody>
          <a:bodyPr wrap="none" lIns="0" tIns="0" rIns="0" bIns="0" rtlCol="0" anchor="ctr"/>
          <a:lstStyle/>
          <a:p>
            <a:pPr marL="0" indent="0" algn="l">
              <a:buNone/>
            </a:pPr>
            <a:r>
              <a:rPr lang="en-US" sz="1400" b="1">
                <a:solidFill>
                  <a:srgbClr val="2A9D8F"/>
                </a:solidFill>
                <a:latin typeface="Oswald" pitchFamily="34" charset="0"/>
                <a:ea typeface="Oswald" pitchFamily="34" charset="-122"/>
                <a:cs typeface="Oswald" pitchFamily="34" charset="-120"/>
              </a:rPr>
              <a:t>AI at Every Step</a:t>
            </a:r>
            <a:endParaRPr lang="en-US" sz="1400"/>
          </a:p>
        </p:txBody>
      </p:sp>
      <p:sp>
        <p:nvSpPr>
          <p:cNvPr id="31" name="Text 23"/>
          <p:cNvSpPr txBox="1"/>
          <p:nvPr/>
        </p:nvSpPr>
        <p:spPr>
          <a:xfrm>
            <a:off x="800100" y="4287622"/>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TalentAI + TalentSphere: AI-ranked pools, voice-agent screening, skill graphs, predictive placement. Every tool passed our 40% improvement gate internally.</a:t>
            </a:r>
            <a:endParaRPr lang="en-US" sz="1300"/>
          </a:p>
        </p:txBody>
      </p:sp>
      <p:pic>
        <p:nvPicPr>
          <p:cNvPr id="32" name="Image 6" descr="gen-dedup-da669e206ac26c7983b1f8612c832ea6.png"/>
          <p:cNvPicPr>
            <a:picLocks noChangeAspect="1"/>
          </p:cNvPicPr>
          <p:nvPr/>
        </p:nvPicPr>
        <p:blipFill>
          <a:blip r:embed="rId9"/>
          <a:srcRect t="-30861" b="-30861"/>
          <a:stretch/>
        </p:blipFill>
        <p:spPr>
          <a:xfrm>
            <a:off x="800100" y="4008730"/>
            <a:ext cx="161849" cy="209398"/>
          </a:xfrm>
          <a:prstGeom prst="rect">
            <a:avLst/>
          </a:prstGeom>
        </p:spPr>
      </p:pic>
      <p:sp>
        <p:nvSpPr>
          <p:cNvPr id="33" name="Text 24"/>
          <p:cNvSpPr txBox="1"/>
          <p:nvPr/>
        </p:nvSpPr>
        <p:spPr>
          <a:xfrm>
            <a:off x="1037844" y="4897526"/>
            <a:ext cx="2460650" cy="305410"/>
          </a:xfrm>
          <a:prstGeom prst="rect">
            <a:avLst/>
          </a:prstGeom>
          <a:noFill/>
          <a:ln/>
        </p:spPr>
        <p:txBody>
          <a:bodyPr wrap="none" lIns="0" tIns="0" rIns="0" bIns="0" rtlCol="0" anchor="ctr"/>
          <a:lstStyle/>
          <a:p>
            <a:pPr marL="0" indent="0" algn="l">
              <a:buNone/>
            </a:pPr>
            <a:r>
              <a:rPr lang="en-US" sz="1400" b="1">
                <a:solidFill>
                  <a:srgbClr val="D62839"/>
                </a:solidFill>
                <a:latin typeface="Oswald" pitchFamily="34" charset="0"/>
                <a:ea typeface="Oswald" pitchFamily="34" charset="-122"/>
                <a:cs typeface="Oswald" pitchFamily="34" charset="-120"/>
              </a:rPr>
              <a:t>Pod Governance Built In</a:t>
            </a:r>
            <a:endParaRPr lang="en-US" sz="1400"/>
          </a:p>
        </p:txBody>
      </p:sp>
      <p:sp>
        <p:nvSpPr>
          <p:cNvPr id="34" name="Text 25"/>
          <p:cNvSpPr txBox="1"/>
          <p:nvPr/>
        </p:nvSpPr>
        <p:spPr>
          <a:xfrm>
            <a:off x="800100" y="5240426"/>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A dedicated Pod Manager - not billed to client - owns sprint governance, performance tracking, and L&amp;D coordination. This is a pod, not a staffing drop.</a:t>
            </a:r>
            <a:endParaRPr lang="en-US" sz="1300"/>
          </a:p>
        </p:txBody>
      </p:sp>
      <p:pic>
        <p:nvPicPr>
          <p:cNvPr id="35" name="Image 7" descr="gen-dedup-5d8964838ee5ef7b6e1692b5297312cd.png"/>
          <p:cNvPicPr>
            <a:picLocks noChangeAspect="1"/>
          </p:cNvPicPr>
          <p:nvPr/>
        </p:nvPicPr>
        <p:blipFill>
          <a:blip r:embed="rId10"/>
          <a:srcRect t="-30861" b="-30861"/>
          <a:stretch/>
        </p:blipFill>
        <p:spPr>
          <a:xfrm>
            <a:off x="800100" y="4960620"/>
            <a:ext cx="161849" cy="209398"/>
          </a:xfrm>
          <a:prstGeom prst="rect">
            <a:avLst/>
          </a:prstGeom>
        </p:spPr>
      </p:pic>
      <p:sp>
        <p:nvSpPr>
          <p:cNvPr id="36" name="Text 26"/>
          <p:cNvSpPr txBox="1"/>
          <p:nvPr/>
        </p:nvSpPr>
        <p:spPr>
          <a:xfrm>
            <a:off x="1037844" y="5849417"/>
            <a:ext cx="2051914" cy="305410"/>
          </a:xfrm>
          <a:prstGeom prst="rect">
            <a:avLst/>
          </a:prstGeom>
          <a:noFill/>
          <a:ln/>
        </p:spPr>
        <p:txBody>
          <a:bodyPr wrap="none" lIns="0" tIns="0" rIns="0" bIns="0" rtlCol="0" anchor="ctr"/>
          <a:lstStyle/>
          <a:p>
            <a:pPr marL="0" indent="0" algn="l">
              <a:buNone/>
            </a:pPr>
            <a:r>
              <a:rPr lang="en-US" sz="1400" b="1">
                <a:solidFill>
                  <a:srgbClr val="2A9D8F"/>
                </a:solidFill>
                <a:latin typeface="Oswald" pitchFamily="34" charset="0"/>
                <a:ea typeface="Oswald" pitchFamily="34" charset="-122"/>
                <a:cs typeface="Oswald" pitchFamily="34" charset="-120"/>
              </a:rPr>
              <a:t>Validated Playbooks</a:t>
            </a:r>
            <a:endParaRPr lang="en-US" sz="1400"/>
          </a:p>
        </p:txBody>
      </p:sp>
      <p:sp>
        <p:nvSpPr>
          <p:cNvPr id="37" name="Text 27"/>
          <p:cNvSpPr txBox="1"/>
          <p:nvPr/>
        </p:nvSpPr>
        <p:spPr>
          <a:xfrm>
            <a:off x="800100" y="6192317"/>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Every tool, process, and accelerator has passed our internal 40% improvement gate. Clients benefit from completed learning - not our experimentation.</a:t>
            </a:r>
            <a:endParaRPr lang="en-US" sz="1300"/>
          </a:p>
        </p:txBody>
      </p:sp>
      <p:pic>
        <p:nvPicPr>
          <p:cNvPr id="38" name="Image 8" descr="gen-dedup-001fb79ce367df5df5f79805d3e188cd.png"/>
          <p:cNvPicPr>
            <a:picLocks noChangeAspect="1"/>
          </p:cNvPicPr>
          <p:nvPr/>
        </p:nvPicPr>
        <p:blipFill>
          <a:blip r:embed="rId11"/>
          <a:srcRect t="-22775" b="-22775"/>
          <a:stretch/>
        </p:blipFill>
        <p:spPr>
          <a:xfrm>
            <a:off x="800100" y="5913425"/>
            <a:ext cx="161849" cy="20939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96E55-B4F8-57F1-D146-B4C78675B25C}"/>
            </a:ext>
          </a:extLst>
        </p:cNvPr>
        <p:cNvGrpSpPr/>
        <p:nvPr/>
      </p:nvGrpSpPr>
      <p:grpSpPr>
        <a:xfrm>
          <a:off x="0" y="0"/>
          <a:ext cx="0" cy="0"/>
          <a:chOff x="0" y="0"/>
          <a:chExt cx="0" cy="0"/>
        </a:xfrm>
      </p:grpSpPr>
      <p:pic>
        <p:nvPicPr>
          <p:cNvPr id="4" name="Image 0" descr="gen-dedup-37abb9d8cc081a24feb608c288538026.png">
            <a:extLst>
              <a:ext uri="{FF2B5EF4-FFF2-40B4-BE49-F238E27FC236}">
                <a16:creationId xmlns:a16="http://schemas.microsoft.com/office/drawing/2014/main" id="{71330D75-D19F-98CB-DFD6-89655DE4CA95}"/>
              </a:ext>
            </a:extLst>
          </p:cNvPr>
          <p:cNvPicPr>
            <a:picLocks noChangeAspect="1"/>
          </p:cNvPicPr>
          <p:nvPr/>
        </p:nvPicPr>
        <p:blipFill>
          <a:blip r:embed="rId3"/>
          <a:srcRect l="-198" r="-198"/>
          <a:stretch/>
        </p:blipFill>
        <p:spPr>
          <a:xfrm>
            <a:off x="0" y="0"/>
            <a:ext cx="8124444" cy="75895"/>
          </a:xfrm>
          <a:prstGeom prst="rect">
            <a:avLst/>
          </a:prstGeom>
        </p:spPr>
      </p:pic>
      <p:pic>
        <p:nvPicPr>
          <p:cNvPr id="5" name="Image 1" descr="gen-dedup-c2c9136402f20c216bf7cbcc052ad1a0.png">
            <a:extLst>
              <a:ext uri="{FF2B5EF4-FFF2-40B4-BE49-F238E27FC236}">
                <a16:creationId xmlns:a16="http://schemas.microsoft.com/office/drawing/2014/main" id="{4467D959-2368-EB24-595D-171CC1B504B8}"/>
              </a:ext>
            </a:extLst>
          </p:cNvPr>
          <p:cNvPicPr>
            <a:picLocks noChangeAspect="1"/>
          </p:cNvPicPr>
          <p:nvPr/>
        </p:nvPicPr>
        <p:blipFill>
          <a:blip r:embed="rId4"/>
          <a:srcRect l="-202" r="-202"/>
          <a:stretch/>
        </p:blipFill>
        <p:spPr>
          <a:xfrm>
            <a:off x="8124444" y="0"/>
            <a:ext cx="4067251" cy="75895"/>
          </a:xfrm>
          <a:prstGeom prst="rect">
            <a:avLst/>
          </a:prstGeom>
        </p:spPr>
      </p:pic>
      <p:sp>
        <p:nvSpPr>
          <p:cNvPr id="6" name="Shape 2">
            <a:extLst>
              <a:ext uri="{FF2B5EF4-FFF2-40B4-BE49-F238E27FC236}">
                <a16:creationId xmlns:a16="http://schemas.microsoft.com/office/drawing/2014/main" id="{184EBFC8-10E0-38E8-2A1B-471CD2171E3B}"/>
              </a:ext>
            </a:extLst>
          </p:cNvPr>
          <p:cNvSpPr/>
          <p:nvPr/>
        </p:nvSpPr>
        <p:spPr>
          <a:xfrm>
            <a:off x="8858707" y="-952805"/>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sp>
        <p:nvSpPr>
          <p:cNvPr id="7" name="Shape 3">
            <a:extLst>
              <a:ext uri="{FF2B5EF4-FFF2-40B4-BE49-F238E27FC236}">
                <a16:creationId xmlns:a16="http://schemas.microsoft.com/office/drawing/2014/main" id="{1E36FF24-EF82-BF6E-F421-8A9645DDA417}"/>
              </a:ext>
            </a:extLst>
          </p:cNvPr>
          <p:cNvSpPr/>
          <p:nvPr/>
        </p:nvSpPr>
        <p:spPr>
          <a:xfrm>
            <a:off x="-476402" y="4476902"/>
            <a:ext cx="3333902" cy="3333902"/>
          </a:xfrm>
          <a:prstGeom prst="ellipse">
            <a:avLst/>
          </a:prstGeom>
          <a:solidFill>
            <a:srgbClr val="D62839">
              <a:alpha val="2000"/>
            </a:srgbClr>
          </a:solidFill>
          <a:ln w="12700">
            <a:solidFill>
              <a:srgbClr val="FFFFFF">
                <a:alpha val="0"/>
              </a:srgbClr>
            </a:solidFill>
            <a:prstDash val="solid"/>
          </a:ln>
        </p:spPr>
        <p:txBody>
          <a:bodyPr/>
          <a:lstStyle/>
          <a:p>
            <a:endParaRPr lang="en-US"/>
          </a:p>
        </p:txBody>
      </p:sp>
      <p:sp>
        <p:nvSpPr>
          <p:cNvPr id="8" name="Shape 4">
            <a:extLst>
              <a:ext uri="{FF2B5EF4-FFF2-40B4-BE49-F238E27FC236}">
                <a16:creationId xmlns:a16="http://schemas.microsoft.com/office/drawing/2014/main" id="{BDD638F0-1657-224A-7F7D-AF6756114563}"/>
              </a:ext>
            </a:extLst>
          </p:cNvPr>
          <p:cNvSpPr/>
          <p:nvPr/>
        </p:nvSpPr>
        <p:spPr>
          <a:xfrm>
            <a:off x="609905" y="1714500"/>
            <a:ext cx="3448202" cy="2286000"/>
          </a:xfrm>
          <a:prstGeom prst="roundRect">
            <a:avLst>
              <a:gd name="adj" fmla="val 3320"/>
            </a:avLst>
          </a:prstGeom>
          <a:solidFill>
            <a:srgbClr val="FFFFFF"/>
          </a:solidFill>
          <a:ln w="12700">
            <a:solidFill>
              <a:srgbClr val="E2E8F0"/>
            </a:solidFill>
            <a:prstDash val="solid"/>
          </a:ln>
          <a:effectLst>
            <a:outerShdw blurRad="76200" dist="25400" dir="16200000" algn="bl" rotWithShape="0">
              <a:srgbClr val="000000">
                <a:alpha val="3000"/>
              </a:srgbClr>
            </a:outerShdw>
          </a:effectLst>
        </p:spPr>
        <p:txBody>
          <a:bodyPr/>
          <a:lstStyle/>
          <a:p>
            <a:endParaRPr lang="en-US"/>
          </a:p>
        </p:txBody>
      </p:sp>
      <p:sp>
        <p:nvSpPr>
          <p:cNvPr id="9" name="Shape 5">
            <a:extLst>
              <a:ext uri="{FF2B5EF4-FFF2-40B4-BE49-F238E27FC236}">
                <a16:creationId xmlns:a16="http://schemas.microsoft.com/office/drawing/2014/main" id="{32042F7A-0CD5-7D23-E552-52F1274EC5FE}"/>
              </a:ext>
            </a:extLst>
          </p:cNvPr>
          <p:cNvSpPr/>
          <p:nvPr/>
        </p:nvSpPr>
        <p:spPr>
          <a:xfrm>
            <a:off x="609905" y="1714500"/>
            <a:ext cx="3448202"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0" name="Shape 6">
            <a:extLst>
              <a:ext uri="{FF2B5EF4-FFF2-40B4-BE49-F238E27FC236}">
                <a16:creationId xmlns:a16="http://schemas.microsoft.com/office/drawing/2014/main" id="{4CEB462E-7AF1-D56B-469F-75B14B3A70E4}"/>
              </a:ext>
            </a:extLst>
          </p:cNvPr>
          <p:cNvSpPr/>
          <p:nvPr/>
        </p:nvSpPr>
        <p:spPr>
          <a:xfrm>
            <a:off x="4381805" y="1714500"/>
            <a:ext cx="3448202" cy="2286000"/>
          </a:xfrm>
          <a:prstGeom prst="roundRect">
            <a:avLst>
              <a:gd name="adj" fmla="val 3320"/>
            </a:avLst>
          </a:prstGeom>
          <a:solidFill>
            <a:srgbClr val="FFFFFF"/>
          </a:solidFill>
          <a:ln w="12700">
            <a:solidFill>
              <a:srgbClr val="E2E8F0"/>
            </a:solidFill>
            <a:prstDash val="solid"/>
          </a:ln>
          <a:effectLst>
            <a:outerShdw blurRad="76200" dist="25400" dir="16200000" algn="bl" rotWithShape="0">
              <a:srgbClr val="000000">
                <a:alpha val="3000"/>
              </a:srgbClr>
            </a:outerShdw>
          </a:effectLst>
        </p:spPr>
        <p:txBody>
          <a:bodyPr/>
          <a:lstStyle/>
          <a:p>
            <a:endParaRPr lang="en-US"/>
          </a:p>
        </p:txBody>
      </p:sp>
      <p:sp>
        <p:nvSpPr>
          <p:cNvPr id="11" name="Shape 7">
            <a:extLst>
              <a:ext uri="{FF2B5EF4-FFF2-40B4-BE49-F238E27FC236}">
                <a16:creationId xmlns:a16="http://schemas.microsoft.com/office/drawing/2014/main" id="{2992DEEC-A49E-A20E-175E-A95136E84033}"/>
              </a:ext>
            </a:extLst>
          </p:cNvPr>
          <p:cNvSpPr/>
          <p:nvPr/>
        </p:nvSpPr>
        <p:spPr>
          <a:xfrm>
            <a:off x="4381805" y="1714500"/>
            <a:ext cx="3448202"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2" name="Shape 8">
            <a:extLst>
              <a:ext uri="{FF2B5EF4-FFF2-40B4-BE49-F238E27FC236}">
                <a16:creationId xmlns:a16="http://schemas.microsoft.com/office/drawing/2014/main" id="{14879945-2ED5-E94F-55B4-C01FDCC3B015}"/>
              </a:ext>
            </a:extLst>
          </p:cNvPr>
          <p:cNvSpPr/>
          <p:nvPr/>
        </p:nvSpPr>
        <p:spPr>
          <a:xfrm>
            <a:off x="8153705" y="1714500"/>
            <a:ext cx="3448202" cy="2286000"/>
          </a:xfrm>
          <a:prstGeom prst="roundRect">
            <a:avLst>
              <a:gd name="adj" fmla="val 3320"/>
            </a:avLst>
          </a:prstGeom>
          <a:solidFill>
            <a:srgbClr val="FFFFFF"/>
          </a:solidFill>
          <a:ln w="12700">
            <a:solidFill>
              <a:srgbClr val="E2E8F0"/>
            </a:solidFill>
            <a:prstDash val="solid"/>
          </a:ln>
          <a:effectLst>
            <a:outerShdw blurRad="76200" dist="25400" dir="16200000" algn="bl" rotWithShape="0">
              <a:srgbClr val="000000">
                <a:alpha val="3000"/>
              </a:srgbClr>
            </a:outerShdw>
          </a:effectLst>
        </p:spPr>
        <p:txBody>
          <a:bodyPr/>
          <a:lstStyle/>
          <a:p>
            <a:endParaRPr lang="en-US"/>
          </a:p>
        </p:txBody>
      </p:sp>
      <p:sp>
        <p:nvSpPr>
          <p:cNvPr id="13" name="Shape 9">
            <a:extLst>
              <a:ext uri="{FF2B5EF4-FFF2-40B4-BE49-F238E27FC236}">
                <a16:creationId xmlns:a16="http://schemas.microsoft.com/office/drawing/2014/main" id="{9B311B25-F892-71FA-CCA7-08D7E2BE4BA9}"/>
              </a:ext>
            </a:extLst>
          </p:cNvPr>
          <p:cNvSpPr/>
          <p:nvPr/>
        </p:nvSpPr>
        <p:spPr>
          <a:xfrm>
            <a:off x="8153705" y="1714500"/>
            <a:ext cx="3448202"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4" name="Shape 10">
            <a:extLst>
              <a:ext uri="{FF2B5EF4-FFF2-40B4-BE49-F238E27FC236}">
                <a16:creationId xmlns:a16="http://schemas.microsoft.com/office/drawing/2014/main" id="{2FA2CEBE-DD26-0A26-DB7F-B41B97B75C84}"/>
              </a:ext>
            </a:extLst>
          </p:cNvPr>
          <p:cNvSpPr/>
          <p:nvPr/>
        </p:nvSpPr>
        <p:spPr>
          <a:xfrm>
            <a:off x="609905" y="4238244"/>
            <a:ext cx="3448202" cy="2286000"/>
          </a:xfrm>
          <a:prstGeom prst="roundRect">
            <a:avLst>
              <a:gd name="adj" fmla="val 3320"/>
            </a:avLst>
          </a:prstGeom>
          <a:solidFill>
            <a:srgbClr val="FFFFFF"/>
          </a:solidFill>
          <a:ln w="12700">
            <a:solidFill>
              <a:srgbClr val="E2E8F0"/>
            </a:solidFill>
            <a:prstDash val="solid"/>
          </a:ln>
          <a:effectLst>
            <a:outerShdw blurRad="76200" dist="25400" dir="16200000" algn="bl" rotWithShape="0">
              <a:srgbClr val="000000">
                <a:alpha val="3000"/>
              </a:srgbClr>
            </a:outerShdw>
          </a:effectLst>
        </p:spPr>
        <p:txBody>
          <a:bodyPr/>
          <a:lstStyle/>
          <a:p>
            <a:endParaRPr lang="en-US"/>
          </a:p>
        </p:txBody>
      </p:sp>
      <p:sp>
        <p:nvSpPr>
          <p:cNvPr id="15" name="Shape 11">
            <a:extLst>
              <a:ext uri="{FF2B5EF4-FFF2-40B4-BE49-F238E27FC236}">
                <a16:creationId xmlns:a16="http://schemas.microsoft.com/office/drawing/2014/main" id="{B73B4A1D-D8A7-8665-6E79-DA08E8148C8A}"/>
              </a:ext>
            </a:extLst>
          </p:cNvPr>
          <p:cNvSpPr/>
          <p:nvPr/>
        </p:nvSpPr>
        <p:spPr>
          <a:xfrm>
            <a:off x="609905" y="4238244"/>
            <a:ext cx="3448202"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6" name="Shape 12">
            <a:extLst>
              <a:ext uri="{FF2B5EF4-FFF2-40B4-BE49-F238E27FC236}">
                <a16:creationId xmlns:a16="http://schemas.microsoft.com/office/drawing/2014/main" id="{C7E1619A-A8B3-11EF-357F-D07768F07213}"/>
              </a:ext>
            </a:extLst>
          </p:cNvPr>
          <p:cNvSpPr/>
          <p:nvPr/>
        </p:nvSpPr>
        <p:spPr>
          <a:xfrm>
            <a:off x="4381805" y="4238244"/>
            <a:ext cx="3448202" cy="2286000"/>
          </a:xfrm>
          <a:prstGeom prst="roundRect">
            <a:avLst>
              <a:gd name="adj" fmla="val 3320"/>
            </a:avLst>
          </a:prstGeom>
          <a:solidFill>
            <a:srgbClr val="FFFFFF"/>
          </a:solidFill>
          <a:ln w="12700">
            <a:solidFill>
              <a:srgbClr val="E2E8F0"/>
            </a:solidFill>
            <a:prstDash val="solid"/>
          </a:ln>
          <a:effectLst>
            <a:outerShdw blurRad="76200" dist="25400" dir="16200000" algn="bl" rotWithShape="0">
              <a:srgbClr val="000000">
                <a:alpha val="3000"/>
              </a:srgbClr>
            </a:outerShdw>
          </a:effectLst>
        </p:spPr>
        <p:txBody>
          <a:bodyPr/>
          <a:lstStyle/>
          <a:p>
            <a:endParaRPr lang="en-US"/>
          </a:p>
        </p:txBody>
      </p:sp>
      <p:sp>
        <p:nvSpPr>
          <p:cNvPr id="17" name="Shape 13">
            <a:extLst>
              <a:ext uri="{FF2B5EF4-FFF2-40B4-BE49-F238E27FC236}">
                <a16:creationId xmlns:a16="http://schemas.microsoft.com/office/drawing/2014/main" id="{A3CDDA62-D7CA-9480-68AA-9B5E163731DB}"/>
              </a:ext>
            </a:extLst>
          </p:cNvPr>
          <p:cNvSpPr/>
          <p:nvPr/>
        </p:nvSpPr>
        <p:spPr>
          <a:xfrm>
            <a:off x="4381805" y="4238244"/>
            <a:ext cx="3448202"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8" name="Shape 14">
            <a:extLst>
              <a:ext uri="{FF2B5EF4-FFF2-40B4-BE49-F238E27FC236}">
                <a16:creationId xmlns:a16="http://schemas.microsoft.com/office/drawing/2014/main" id="{2FCBBAC9-285A-6FE7-B237-C7F6034B907E}"/>
              </a:ext>
            </a:extLst>
          </p:cNvPr>
          <p:cNvSpPr/>
          <p:nvPr/>
        </p:nvSpPr>
        <p:spPr>
          <a:xfrm>
            <a:off x="8153705" y="4238244"/>
            <a:ext cx="3448202" cy="2286000"/>
          </a:xfrm>
          <a:prstGeom prst="roundRect">
            <a:avLst>
              <a:gd name="adj" fmla="val 3320"/>
            </a:avLst>
          </a:prstGeom>
          <a:solidFill>
            <a:srgbClr val="FFFFFF"/>
          </a:solidFill>
          <a:ln w="12700">
            <a:solidFill>
              <a:srgbClr val="E2E8F0"/>
            </a:solidFill>
            <a:prstDash val="solid"/>
          </a:ln>
          <a:effectLst>
            <a:outerShdw blurRad="76200" dist="25400" dir="16200000" algn="bl" rotWithShape="0">
              <a:srgbClr val="000000">
                <a:alpha val="3000"/>
              </a:srgbClr>
            </a:outerShdw>
          </a:effectLst>
        </p:spPr>
        <p:txBody>
          <a:bodyPr/>
          <a:lstStyle/>
          <a:p>
            <a:endParaRPr lang="en-US"/>
          </a:p>
        </p:txBody>
      </p:sp>
      <p:sp>
        <p:nvSpPr>
          <p:cNvPr id="19" name="Shape 15">
            <a:extLst>
              <a:ext uri="{FF2B5EF4-FFF2-40B4-BE49-F238E27FC236}">
                <a16:creationId xmlns:a16="http://schemas.microsoft.com/office/drawing/2014/main" id="{3EC8321E-5F0A-BC79-9C80-2E70374B3F81}"/>
              </a:ext>
            </a:extLst>
          </p:cNvPr>
          <p:cNvSpPr/>
          <p:nvPr/>
        </p:nvSpPr>
        <p:spPr>
          <a:xfrm>
            <a:off x="8153705" y="4238244"/>
            <a:ext cx="3448202"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pic>
        <p:nvPicPr>
          <p:cNvPr id="20" name="Image 2" descr="gen-dedup-90395934058aa4b7c1bff00d7e70c0a4.png">
            <a:extLst>
              <a:ext uri="{FF2B5EF4-FFF2-40B4-BE49-F238E27FC236}">
                <a16:creationId xmlns:a16="http://schemas.microsoft.com/office/drawing/2014/main" id="{8C8BA362-8E89-BBFE-8E8E-F4E802E4B22C}"/>
              </a:ext>
            </a:extLst>
          </p:cNvPr>
          <p:cNvPicPr>
            <a:picLocks noChangeAspect="1"/>
          </p:cNvPicPr>
          <p:nvPr/>
        </p:nvPicPr>
        <p:blipFill>
          <a:blip r:embed="rId5"/>
          <a:srcRect l="-416" r="-416"/>
          <a:stretch/>
        </p:blipFill>
        <p:spPr>
          <a:xfrm>
            <a:off x="609905" y="533095"/>
            <a:ext cx="57607" cy="714146"/>
          </a:xfrm>
          <a:prstGeom prst="rect">
            <a:avLst/>
          </a:prstGeom>
        </p:spPr>
      </p:pic>
      <p:sp>
        <p:nvSpPr>
          <p:cNvPr id="21" name="Text 16">
            <a:extLst>
              <a:ext uri="{FF2B5EF4-FFF2-40B4-BE49-F238E27FC236}">
                <a16:creationId xmlns:a16="http://schemas.microsoft.com/office/drawing/2014/main" id="{8EB383D4-5792-E9E4-2123-C6277DE06A69}"/>
              </a:ext>
            </a:extLst>
          </p:cNvPr>
          <p:cNvSpPr txBox="1"/>
          <p:nvPr/>
        </p:nvSpPr>
        <p:spPr>
          <a:xfrm>
            <a:off x="819302" y="495605"/>
            <a:ext cx="8572500" cy="362102"/>
          </a:xfrm>
          <a:prstGeom prst="rect">
            <a:avLst/>
          </a:prstGeom>
          <a:noFill/>
          <a:ln/>
        </p:spPr>
        <p:txBody>
          <a:bodyPr wrap="none" lIns="0" tIns="0" rIns="0" bIns="0" rtlCol="0" anchor="ctr"/>
          <a:lstStyle/>
          <a:p>
            <a:pPr marL="0" indent="0" algn="l">
              <a:buNone/>
            </a:pPr>
            <a:r>
              <a:rPr lang="en-US" sz="2500" b="1" dirty="0">
                <a:solidFill>
                  <a:srgbClr val="111827"/>
                </a:solidFill>
                <a:latin typeface="Oswald" pitchFamily="34" charset="0"/>
                <a:ea typeface="Oswald" pitchFamily="34" charset="-122"/>
                <a:cs typeface="Oswald" pitchFamily="34" charset="-120"/>
              </a:rPr>
              <a:t>WORKFORCE SOLUTIONS – WHAT WE DEPLOY</a:t>
            </a:r>
            <a:endParaRPr lang="en-US" sz="2500" dirty="0"/>
          </a:p>
        </p:txBody>
      </p:sp>
      <p:sp>
        <p:nvSpPr>
          <p:cNvPr id="22" name="Text 17">
            <a:extLst>
              <a:ext uri="{FF2B5EF4-FFF2-40B4-BE49-F238E27FC236}">
                <a16:creationId xmlns:a16="http://schemas.microsoft.com/office/drawing/2014/main" id="{9DD1BE38-7275-9217-C711-87525DAC2EF2}"/>
              </a:ext>
            </a:extLst>
          </p:cNvPr>
          <p:cNvSpPr txBox="1"/>
          <p:nvPr/>
        </p:nvSpPr>
        <p:spPr>
          <a:xfrm>
            <a:off x="819302" y="908914"/>
            <a:ext cx="8572500" cy="448056"/>
          </a:xfrm>
          <a:prstGeom prst="rect">
            <a:avLst/>
          </a:prstGeom>
          <a:noFill/>
          <a:ln/>
        </p:spPr>
        <p:txBody>
          <a:bodyPr wrap="square" lIns="0" tIns="0" rIns="0" bIns="0" rtlCol="0" anchor="ctr"/>
          <a:lstStyle/>
          <a:p>
            <a:pPr marL="0" indent="0" algn="l">
              <a:buNone/>
            </a:pPr>
            <a:r>
              <a:rPr lang="en-US" sz="1300" b="1" kern="0" spc="68" dirty="0">
                <a:solidFill>
                  <a:srgbClr val="2A9D8F"/>
                </a:solidFill>
                <a:latin typeface="Roboto Condensed" pitchFamily="34" charset="0"/>
                <a:ea typeface="Roboto Condensed" pitchFamily="34" charset="-122"/>
                <a:cs typeface="Roboto Condensed" pitchFamily="34" charset="-120"/>
              </a:rPr>
              <a:t>Not Just Tech Stacks — Domain-certified Engineers Who Understand Product Liability, Safety Standards, And Engineering Constraints.</a:t>
            </a:r>
            <a:endParaRPr lang="en-US" sz="1300" dirty="0"/>
          </a:p>
        </p:txBody>
      </p:sp>
      <p:sp>
        <p:nvSpPr>
          <p:cNvPr id="25" name="Text 20">
            <a:extLst>
              <a:ext uri="{FF2B5EF4-FFF2-40B4-BE49-F238E27FC236}">
                <a16:creationId xmlns:a16="http://schemas.microsoft.com/office/drawing/2014/main" id="{E38B7257-75FC-2044-C776-C636205E2D15}"/>
              </a:ext>
            </a:extLst>
          </p:cNvPr>
          <p:cNvSpPr txBox="1"/>
          <p:nvPr/>
        </p:nvSpPr>
        <p:spPr>
          <a:xfrm>
            <a:off x="1028700" y="1904695"/>
            <a:ext cx="2820010"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BFSI</a:t>
            </a:r>
            <a:endParaRPr lang="en-US" sz="1500"/>
          </a:p>
        </p:txBody>
      </p:sp>
      <p:sp>
        <p:nvSpPr>
          <p:cNvPr id="26" name="Text 21">
            <a:extLst>
              <a:ext uri="{FF2B5EF4-FFF2-40B4-BE49-F238E27FC236}">
                <a16:creationId xmlns:a16="http://schemas.microsoft.com/office/drawing/2014/main" id="{A6D0032F-CF94-9C5F-2D5E-28FB3ED09235}"/>
              </a:ext>
            </a:extLst>
          </p:cNvPr>
          <p:cNvSpPr txBox="1"/>
          <p:nvPr/>
        </p:nvSpPr>
        <p:spPr>
          <a:xfrm>
            <a:off x="990295" y="2305202"/>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Java / Python / Angular</a:t>
            </a:r>
            <a:endParaRPr lang="en-US" sz="1000"/>
          </a:p>
        </p:txBody>
      </p:sp>
      <p:sp>
        <p:nvSpPr>
          <p:cNvPr id="27" name="Text 22">
            <a:extLst>
              <a:ext uri="{FF2B5EF4-FFF2-40B4-BE49-F238E27FC236}">
                <a16:creationId xmlns:a16="http://schemas.microsoft.com/office/drawing/2014/main" id="{8E6B47E1-1FC5-6C74-EA6D-0E67B8B328A2}"/>
              </a:ext>
            </a:extLst>
          </p:cNvPr>
          <p:cNvSpPr txBox="1"/>
          <p:nvPr/>
        </p:nvSpPr>
        <p:spPr>
          <a:xfrm>
            <a:off x="990295" y="2544775"/>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Banking APIs · SWIFT · Finacle</a:t>
            </a:r>
            <a:endParaRPr lang="en-US" sz="1000"/>
          </a:p>
        </p:txBody>
      </p:sp>
      <p:sp>
        <p:nvSpPr>
          <p:cNvPr id="28" name="Text 23">
            <a:extLst>
              <a:ext uri="{FF2B5EF4-FFF2-40B4-BE49-F238E27FC236}">
                <a16:creationId xmlns:a16="http://schemas.microsoft.com/office/drawing/2014/main" id="{A3F71330-6FAC-938F-94DA-C428AA5E4F51}"/>
              </a:ext>
            </a:extLst>
          </p:cNvPr>
          <p:cNvSpPr txBox="1"/>
          <p:nvPr/>
        </p:nvSpPr>
        <p:spPr>
          <a:xfrm>
            <a:off x="990295" y="2785262"/>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Salesforce FSC · SAP FICO</a:t>
            </a:r>
            <a:endParaRPr lang="en-US" sz="1000"/>
          </a:p>
        </p:txBody>
      </p:sp>
      <p:sp>
        <p:nvSpPr>
          <p:cNvPr id="29" name="Text 24">
            <a:extLst>
              <a:ext uri="{FF2B5EF4-FFF2-40B4-BE49-F238E27FC236}">
                <a16:creationId xmlns:a16="http://schemas.microsoft.com/office/drawing/2014/main" id="{44547BD8-4321-655C-34E5-836B73A0C6D1}"/>
              </a:ext>
            </a:extLst>
          </p:cNvPr>
          <p:cNvSpPr txBox="1"/>
          <p:nvPr/>
        </p:nvSpPr>
        <p:spPr>
          <a:xfrm>
            <a:off x="990295" y="3024835"/>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PCI-DSS compliance</a:t>
            </a:r>
            <a:endParaRPr lang="en-US" sz="1000"/>
          </a:p>
        </p:txBody>
      </p:sp>
      <p:pic>
        <p:nvPicPr>
          <p:cNvPr id="30" name="Image 3" descr="gen-dedup-2aa19c82c71fd240e470708f6dffe216.png">
            <a:extLst>
              <a:ext uri="{FF2B5EF4-FFF2-40B4-BE49-F238E27FC236}">
                <a16:creationId xmlns:a16="http://schemas.microsoft.com/office/drawing/2014/main" id="{A5EB5580-0C25-D9AC-42C7-6E24AB045CC7}"/>
              </a:ext>
            </a:extLst>
          </p:cNvPr>
          <p:cNvPicPr>
            <a:picLocks noChangeAspect="1"/>
          </p:cNvPicPr>
          <p:nvPr/>
        </p:nvPicPr>
        <p:blipFill>
          <a:blip r:embed="rId6"/>
          <a:srcRect t="-12275" b="-12275"/>
          <a:stretch/>
        </p:blipFill>
        <p:spPr>
          <a:xfrm>
            <a:off x="800100" y="1966874"/>
            <a:ext cx="152705" cy="190195"/>
          </a:xfrm>
          <a:prstGeom prst="rect">
            <a:avLst/>
          </a:prstGeom>
        </p:spPr>
      </p:pic>
      <p:sp>
        <p:nvSpPr>
          <p:cNvPr id="31" name="Text 25">
            <a:extLst>
              <a:ext uri="{FF2B5EF4-FFF2-40B4-BE49-F238E27FC236}">
                <a16:creationId xmlns:a16="http://schemas.microsoft.com/office/drawing/2014/main" id="{1CC8784E-3D4F-B065-B604-950E131714BF}"/>
              </a:ext>
            </a:extLst>
          </p:cNvPr>
          <p:cNvSpPr txBox="1"/>
          <p:nvPr/>
        </p:nvSpPr>
        <p:spPr>
          <a:xfrm>
            <a:off x="4800600" y="1904695"/>
            <a:ext cx="2820010"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Healthcare &amp; MedTech</a:t>
            </a:r>
            <a:endParaRPr lang="en-US" sz="1500"/>
          </a:p>
        </p:txBody>
      </p:sp>
      <p:sp>
        <p:nvSpPr>
          <p:cNvPr id="32" name="Text 26">
            <a:extLst>
              <a:ext uri="{FF2B5EF4-FFF2-40B4-BE49-F238E27FC236}">
                <a16:creationId xmlns:a16="http://schemas.microsoft.com/office/drawing/2014/main" id="{73CACED0-50CE-96FF-A54A-D2E18DC15C00}"/>
              </a:ext>
            </a:extLst>
          </p:cNvPr>
          <p:cNvSpPr txBox="1"/>
          <p:nvPr/>
        </p:nvSpPr>
        <p:spPr>
          <a:xfrm>
            <a:off x="4762195" y="2305202"/>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HL7 / FHIR / DICOM</a:t>
            </a:r>
            <a:endParaRPr lang="en-US" sz="1000"/>
          </a:p>
        </p:txBody>
      </p:sp>
      <p:sp>
        <p:nvSpPr>
          <p:cNvPr id="33" name="Text 27">
            <a:extLst>
              <a:ext uri="{FF2B5EF4-FFF2-40B4-BE49-F238E27FC236}">
                <a16:creationId xmlns:a16="http://schemas.microsoft.com/office/drawing/2014/main" id="{30981E60-DEE5-1205-826E-FAFBC89F2D66}"/>
              </a:ext>
            </a:extLst>
          </p:cNvPr>
          <p:cNvSpPr txBox="1"/>
          <p:nvPr/>
        </p:nvSpPr>
        <p:spPr>
          <a:xfrm>
            <a:off x="4762195" y="2544775"/>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AWS HealthLake · Epic</a:t>
            </a:r>
            <a:endParaRPr lang="en-US" sz="1000"/>
          </a:p>
        </p:txBody>
      </p:sp>
      <p:sp>
        <p:nvSpPr>
          <p:cNvPr id="34" name="Text 28">
            <a:extLst>
              <a:ext uri="{FF2B5EF4-FFF2-40B4-BE49-F238E27FC236}">
                <a16:creationId xmlns:a16="http://schemas.microsoft.com/office/drawing/2014/main" id="{58F7F289-B8D1-C1D0-00A3-7C6A65CEF319}"/>
              </a:ext>
            </a:extLst>
          </p:cNvPr>
          <p:cNvSpPr txBox="1"/>
          <p:nvPr/>
        </p:nvSpPr>
        <p:spPr>
          <a:xfrm>
            <a:off x="4762195" y="2785262"/>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MLOps for medical imaging</a:t>
            </a:r>
            <a:endParaRPr lang="en-US" sz="1000"/>
          </a:p>
        </p:txBody>
      </p:sp>
      <p:sp>
        <p:nvSpPr>
          <p:cNvPr id="35" name="Text 29">
            <a:extLst>
              <a:ext uri="{FF2B5EF4-FFF2-40B4-BE49-F238E27FC236}">
                <a16:creationId xmlns:a16="http://schemas.microsoft.com/office/drawing/2014/main" id="{C9E3CF73-C89D-4E5C-54D1-9FF96F72EC94}"/>
              </a:ext>
            </a:extLst>
          </p:cNvPr>
          <p:cNvSpPr txBox="1"/>
          <p:nvPr/>
        </p:nvSpPr>
        <p:spPr>
          <a:xfrm>
            <a:off x="4762195" y="3024835"/>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HIPAA / FDA 21 CFR</a:t>
            </a:r>
            <a:endParaRPr lang="en-US" sz="1000"/>
          </a:p>
        </p:txBody>
      </p:sp>
      <p:pic>
        <p:nvPicPr>
          <p:cNvPr id="36" name="Image 4" descr="gen-dedup-b8cc7496714d41e2a07586de42649107.png">
            <a:extLst>
              <a:ext uri="{FF2B5EF4-FFF2-40B4-BE49-F238E27FC236}">
                <a16:creationId xmlns:a16="http://schemas.microsoft.com/office/drawing/2014/main" id="{0C21CFD1-D935-B571-88B5-C804FA531FFD}"/>
              </a:ext>
            </a:extLst>
          </p:cNvPr>
          <p:cNvPicPr>
            <a:picLocks noChangeAspect="1"/>
          </p:cNvPicPr>
          <p:nvPr/>
        </p:nvPicPr>
        <p:blipFill>
          <a:blip r:embed="rId7"/>
          <a:srcRect t="-12275" b="-12275"/>
          <a:stretch/>
        </p:blipFill>
        <p:spPr>
          <a:xfrm>
            <a:off x="4572000" y="1966874"/>
            <a:ext cx="152705" cy="190195"/>
          </a:xfrm>
          <a:prstGeom prst="rect">
            <a:avLst/>
          </a:prstGeom>
        </p:spPr>
      </p:pic>
      <p:sp>
        <p:nvSpPr>
          <p:cNvPr id="37" name="Text 30">
            <a:extLst>
              <a:ext uri="{FF2B5EF4-FFF2-40B4-BE49-F238E27FC236}">
                <a16:creationId xmlns:a16="http://schemas.microsoft.com/office/drawing/2014/main" id="{67CDB4A6-0DD4-4891-C898-20433C8A21F9}"/>
              </a:ext>
            </a:extLst>
          </p:cNvPr>
          <p:cNvSpPr txBox="1"/>
          <p:nvPr/>
        </p:nvSpPr>
        <p:spPr>
          <a:xfrm>
            <a:off x="8572500" y="1904695"/>
            <a:ext cx="3185770"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Automotive &amp; Manufacturing</a:t>
            </a:r>
            <a:endParaRPr lang="en-US" sz="1500"/>
          </a:p>
        </p:txBody>
      </p:sp>
      <p:sp>
        <p:nvSpPr>
          <p:cNvPr id="38" name="Text 31">
            <a:extLst>
              <a:ext uri="{FF2B5EF4-FFF2-40B4-BE49-F238E27FC236}">
                <a16:creationId xmlns:a16="http://schemas.microsoft.com/office/drawing/2014/main" id="{6E901505-82C4-0BEE-CD5F-7D88BB8142A1}"/>
              </a:ext>
            </a:extLst>
          </p:cNvPr>
          <p:cNvSpPr txBox="1"/>
          <p:nvPr/>
        </p:nvSpPr>
        <p:spPr>
          <a:xfrm>
            <a:off x="8534095" y="2305202"/>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Embedded C/C++ · AUTOSAR</a:t>
            </a:r>
            <a:endParaRPr lang="en-US" sz="1000"/>
          </a:p>
        </p:txBody>
      </p:sp>
      <p:sp>
        <p:nvSpPr>
          <p:cNvPr id="39" name="Text 32">
            <a:extLst>
              <a:ext uri="{FF2B5EF4-FFF2-40B4-BE49-F238E27FC236}">
                <a16:creationId xmlns:a16="http://schemas.microsoft.com/office/drawing/2014/main" id="{7A51DDC1-4E34-6408-DB1A-5AC11DE169EE}"/>
              </a:ext>
            </a:extLst>
          </p:cNvPr>
          <p:cNvSpPr txBox="1"/>
          <p:nvPr/>
        </p:nvSpPr>
        <p:spPr>
          <a:xfrm>
            <a:off x="8534095" y="2544775"/>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CAN / LIN · SCADA / MES</a:t>
            </a:r>
            <a:endParaRPr lang="en-US" sz="1000"/>
          </a:p>
        </p:txBody>
      </p:sp>
      <p:sp>
        <p:nvSpPr>
          <p:cNvPr id="40" name="Text 33">
            <a:extLst>
              <a:ext uri="{FF2B5EF4-FFF2-40B4-BE49-F238E27FC236}">
                <a16:creationId xmlns:a16="http://schemas.microsoft.com/office/drawing/2014/main" id="{E18DFEA5-B799-AD91-6217-283FD483A501}"/>
              </a:ext>
            </a:extLst>
          </p:cNvPr>
          <p:cNvSpPr txBox="1"/>
          <p:nvPr/>
        </p:nvSpPr>
        <p:spPr>
          <a:xfrm>
            <a:off x="8534095" y="2785262"/>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Siemens Teamcenter PLM</a:t>
            </a:r>
            <a:endParaRPr lang="en-US" sz="1000"/>
          </a:p>
        </p:txBody>
      </p:sp>
      <p:sp>
        <p:nvSpPr>
          <p:cNvPr id="41" name="Text 34">
            <a:extLst>
              <a:ext uri="{FF2B5EF4-FFF2-40B4-BE49-F238E27FC236}">
                <a16:creationId xmlns:a16="http://schemas.microsoft.com/office/drawing/2014/main" id="{0EC24B56-647F-479D-3C61-E3B981514F68}"/>
              </a:ext>
            </a:extLst>
          </p:cNvPr>
          <p:cNvSpPr txBox="1"/>
          <p:nvPr/>
        </p:nvSpPr>
        <p:spPr>
          <a:xfrm>
            <a:off x="8534095" y="3024835"/>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ISO 26262 / MISRA</a:t>
            </a:r>
            <a:endParaRPr lang="en-US" sz="1000"/>
          </a:p>
        </p:txBody>
      </p:sp>
      <p:pic>
        <p:nvPicPr>
          <p:cNvPr id="42" name="Image 5" descr="gen-dedup-55f61aa4f889b7525dd1b3da0df44f38.png">
            <a:extLst>
              <a:ext uri="{FF2B5EF4-FFF2-40B4-BE49-F238E27FC236}">
                <a16:creationId xmlns:a16="http://schemas.microsoft.com/office/drawing/2014/main" id="{1B099F92-EB26-716F-2CFE-7A3F106F3024}"/>
              </a:ext>
            </a:extLst>
          </p:cNvPr>
          <p:cNvPicPr>
            <a:picLocks noChangeAspect="1"/>
          </p:cNvPicPr>
          <p:nvPr/>
        </p:nvPicPr>
        <p:blipFill>
          <a:blip r:embed="rId8"/>
          <a:srcRect t="-12275" b="-12275"/>
          <a:stretch/>
        </p:blipFill>
        <p:spPr>
          <a:xfrm>
            <a:off x="8343900" y="1966874"/>
            <a:ext cx="152705" cy="190195"/>
          </a:xfrm>
          <a:prstGeom prst="rect">
            <a:avLst/>
          </a:prstGeom>
        </p:spPr>
      </p:pic>
      <p:sp>
        <p:nvSpPr>
          <p:cNvPr id="43" name="Text 35">
            <a:extLst>
              <a:ext uri="{FF2B5EF4-FFF2-40B4-BE49-F238E27FC236}">
                <a16:creationId xmlns:a16="http://schemas.microsoft.com/office/drawing/2014/main" id="{FCCA6029-85C4-B874-33DD-4B3159C1D5E3}"/>
              </a:ext>
            </a:extLst>
          </p:cNvPr>
          <p:cNvSpPr txBox="1"/>
          <p:nvPr/>
        </p:nvSpPr>
        <p:spPr>
          <a:xfrm>
            <a:off x="1028700" y="4429354"/>
            <a:ext cx="2820010"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Technology / SaaS</a:t>
            </a:r>
            <a:endParaRPr lang="en-US" sz="1500"/>
          </a:p>
        </p:txBody>
      </p:sp>
      <p:sp>
        <p:nvSpPr>
          <p:cNvPr id="44" name="Text 36">
            <a:extLst>
              <a:ext uri="{FF2B5EF4-FFF2-40B4-BE49-F238E27FC236}">
                <a16:creationId xmlns:a16="http://schemas.microsoft.com/office/drawing/2014/main" id="{381D4F6B-F0BC-D281-692B-E94956421435}"/>
              </a:ext>
            </a:extLst>
          </p:cNvPr>
          <p:cNvSpPr txBox="1"/>
          <p:nvPr/>
        </p:nvSpPr>
        <p:spPr>
          <a:xfrm>
            <a:off x="990295" y="4828946"/>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Full-stack (React/Node/Java)</a:t>
            </a:r>
            <a:endParaRPr lang="en-US" sz="1000"/>
          </a:p>
        </p:txBody>
      </p:sp>
      <p:sp>
        <p:nvSpPr>
          <p:cNvPr id="45" name="Text 37">
            <a:extLst>
              <a:ext uri="{FF2B5EF4-FFF2-40B4-BE49-F238E27FC236}">
                <a16:creationId xmlns:a16="http://schemas.microsoft.com/office/drawing/2014/main" id="{E8C4BC21-8642-863C-4221-5E2315340885}"/>
              </a:ext>
            </a:extLst>
          </p:cNvPr>
          <p:cNvSpPr txBox="1"/>
          <p:nvPr/>
        </p:nvSpPr>
        <p:spPr>
          <a:xfrm>
            <a:off x="990295" y="5069434"/>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Cloud-native AWS / Azure / GCP</a:t>
            </a:r>
            <a:endParaRPr lang="en-US" sz="1000"/>
          </a:p>
        </p:txBody>
      </p:sp>
      <p:sp>
        <p:nvSpPr>
          <p:cNvPr id="46" name="Text 38">
            <a:extLst>
              <a:ext uri="{FF2B5EF4-FFF2-40B4-BE49-F238E27FC236}">
                <a16:creationId xmlns:a16="http://schemas.microsoft.com/office/drawing/2014/main" id="{756A643C-98EF-53B5-4A6D-BB60453CA0D2}"/>
              </a:ext>
            </a:extLst>
          </p:cNvPr>
          <p:cNvSpPr txBox="1"/>
          <p:nvPr/>
        </p:nvSpPr>
        <p:spPr>
          <a:xfrm>
            <a:off x="990295" y="5309006"/>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DevSecOps / CI-CD / K8s</a:t>
            </a:r>
            <a:endParaRPr lang="en-US" sz="1000"/>
          </a:p>
        </p:txBody>
      </p:sp>
      <p:sp>
        <p:nvSpPr>
          <p:cNvPr id="47" name="Text 39">
            <a:extLst>
              <a:ext uri="{FF2B5EF4-FFF2-40B4-BE49-F238E27FC236}">
                <a16:creationId xmlns:a16="http://schemas.microsoft.com/office/drawing/2014/main" id="{6DD64503-782C-709F-52F8-F70C73CF36E6}"/>
              </a:ext>
            </a:extLst>
          </p:cNvPr>
          <p:cNvSpPr txBox="1"/>
          <p:nvPr/>
        </p:nvSpPr>
        <p:spPr>
          <a:xfrm>
            <a:off x="990295" y="5549494"/>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AI/ML &amp; GenAI pipelines</a:t>
            </a:r>
            <a:endParaRPr lang="en-US" sz="1000"/>
          </a:p>
        </p:txBody>
      </p:sp>
      <p:pic>
        <p:nvPicPr>
          <p:cNvPr id="48" name="Image 6" descr="gen-dedup-68421e7391c70a5aa3cb0ca89cfbd556.png">
            <a:extLst>
              <a:ext uri="{FF2B5EF4-FFF2-40B4-BE49-F238E27FC236}">
                <a16:creationId xmlns:a16="http://schemas.microsoft.com/office/drawing/2014/main" id="{81A42AC8-690C-E751-CA51-D879F2E5CCF5}"/>
              </a:ext>
            </a:extLst>
          </p:cNvPr>
          <p:cNvPicPr>
            <a:picLocks noChangeAspect="1"/>
          </p:cNvPicPr>
          <p:nvPr/>
        </p:nvPicPr>
        <p:blipFill>
          <a:blip r:embed="rId9"/>
          <a:srcRect t="-27844" b="-27844"/>
          <a:stretch/>
        </p:blipFill>
        <p:spPr>
          <a:xfrm>
            <a:off x="800100" y="4490618"/>
            <a:ext cx="152705" cy="190195"/>
          </a:xfrm>
          <a:prstGeom prst="rect">
            <a:avLst/>
          </a:prstGeom>
        </p:spPr>
      </p:pic>
      <p:sp>
        <p:nvSpPr>
          <p:cNvPr id="49" name="Text 40">
            <a:extLst>
              <a:ext uri="{FF2B5EF4-FFF2-40B4-BE49-F238E27FC236}">
                <a16:creationId xmlns:a16="http://schemas.microsoft.com/office/drawing/2014/main" id="{2B958B8C-5597-489C-25CE-073392EE3467}"/>
              </a:ext>
            </a:extLst>
          </p:cNvPr>
          <p:cNvSpPr txBox="1"/>
          <p:nvPr/>
        </p:nvSpPr>
        <p:spPr>
          <a:xfrm>
            <a:off x="4800600" y="4429354"/>
            <a:ext cx="2820010"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Pharma &amp; Life Sciences</a:t>
            </a:r>
            <a:endParaRPr lang="en-US" sz="1500"/>
          </a:p>
        </p:txBody>
      </p:sp>
      <p:sp>
        <p:nvSpPr>
          <p:cNvPr id="50" name="Text 41">
            <a:extLst>
              <a:ext uri="{FF2B5EF4-FFF2-40B4-BE49-F238E27FC236}">
                <a16:creationId xmlns:a16="http://schemas.microsoft.com/office/drawing/2014/main" id="{BDCEDFBD-D1A8-D5F7-3E35-5D4B11D64033}"/>
              </a:ext>
            </a:extLst>
          </p:cNvPr>
          <p:cNvSpPr txBox="1"/>
          <p:nvPr/>
        </p:nvSpPr>
        <p:spPr>
          <a:xfrm>
            <a:off x="4762195" y="4828946"/>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SAS · R · Python · Power BI</a:t>
            </a:r>
            <a:endParaRPr lang="en-US" sz="1000"/>
          </a:p>
        </p:txBody>
      </p:sp>
      <p:sp>
        <p:nvSpPr>
          <p:cNvPr id="51" name="Text 42">
            <a:extLst>
              <a:ext uri="{FF2B5EF4-FFF2-40B4-BE49-F238E27FC236}">
                <a16:creationId xmlns:a16="http://schemas.microsoft.com/office/drawing/2014/main" id="{EA5A88B7-EF04-11F3-A0EE-D103D1D420F5}"/>
              </a:ext>
            </a:extLst>
          </p:cNvPr>
          <p:cNvSpPr txBox="1"/>
          <p:nvPr/>
        </p:nvSpPr>
        <p:spPr>
          <a:xfrm>
            <a:off x="4762195" y="5069434"/>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Clinical data analytics</a:t>
            </a:r>
            <a:endParaRPr lang="en-US" sz="1000"/>
          </a:p>
        </p:txBody>
      </p:sp>
      <p:sp>
        <p:nvSpPr>
          <p:cNvPr id="52" name="Text 43">
            <a:extLst>
              <a:ext uri="{FF2B5EF4-FFF2-40B4-BE49-F238E27FC236}">
                <a16:creationId xmlns:a16="http://schemas.microsoft.com/office/drawing/2014/main" id="{1AD8570B-E932-0196-BDF2-6BFD1C80910C}"/>
              </a:ext>
            </a:extLst>
          </p:cNvPr>
          <p:cNvSpPr txBox="1"/>
          <p:nvPr/>
        </p:nvSpPr>
        <p:spPr>
          <a:xfrm>
            <a:off x="4762195" y="5309006"/>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BPMN 2.0 process mapping</a:t>
            </a:r>
            <a:endParaRPr lang="en-US" sz="1000"/>
          </a:p>
        </p:txBody>
      </p:sp>
      <p:sp>
        <p:nvSpPr>
          <p:cNvPr id="53" name="Text 44">
            <a:extLst>
              <a:ext uri="{FF2B5EF4-FFF2-40B4-BE49-F238E27FC236}">
                <a16:creationId xmlns:a16="http://schemas.microsoft.com/office/drawing/2014/main" id="{560FDBFC-6AC1-986D-CE58-AD28A1502613}"/>
              </a:ext>
            </a:extLst>
          </p:cNvPr>
          <p:cNvSpPr txBox="1"/>
          <p:nvPr/>
        </p:nvSpPr>
        <p:spPr>
          <a:xfrm>
            <a:off x="4762195" y="5549494"/>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GxP / FDA / EMA compliance</a:t>
            </a:r>
            <a:endParaRPr lang="en-US" sz="1000"/>
          </a:p>
        </p:txBody>
      </p:sp>
      <p:pic>
        <p:nvPicPr>
          <p:cNvPr id="54" name="Image 7" descr="gen-dedup-231d573942f103a3d6cb03e0f4d8280b.png">
            <a:extLst>
              <a:ext uri="{FF2B5EF4-FFF2-40B4-BE49-F238E27FC236}">
                <a16:creationId xmlns:a16="http://schemas.microsoft.com/office/drawing/2014/main" id="{E9AD1FA7-CF7D-FDFD-B8AC-5FCD7108B93A}"/>
              </a:ext>
            </a:extLst>
          </p:cNvPr>
          <p:cNvPicPr>
            <a:picLocks noChangeAspect="1"/>
          </p:cNvPicPr>
          <p:nvPr/>
        </p:nvPicPr>
        <p:blipFill>
          <a:blip r:embed="rId10"/>
          <a:srcRect t="-4491" b="-4491"/>
          <a:stretch/>
        </p:blipFill>
        <p:spPr>
          <a:xfrm>
            <a:off x="4572000" y="4490618"/>
            <a:ext cx="152705" cy="190195"/>
          </a:xfrm>
          <a:prstGeom prst="rect">
            <a:avLst/>
          </a:prstGeom>
        </p:spPr>
      </p:pic>
      <p:sp>
        <p:nvSpPr>
          <p:cNvPr id="55" name="Text 45">
            <a:extLst>
              <a:ext uri="{FF2B5EF4-FFF2-40B4-BE49-F238E27FC236}">
                <a16:creationId xmlns:a16="http://schemas.microsoft.com/office/drawing/2014/main" id="{7A8BCFB2-98AA-BA48-A144-28DC52ED84A6}"/>
              </a:ext>
            </a:extLst>
          </p:cNvPr>
          <p:cNvSpPr txBox="1"/>
          <p:nvPr/>
        </p:nvSpPr>
        <p:spPr>
          <a:xfrm>
            <a:off x="8572500" y="4429354"/>
            <a:ext cx="2820010"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Retail &amp; E-commerce</a:t>
            </a:r>
            <a:endParaRPr lang="en-US" sz="1500"/>
          </a:p>
        </p:txBody>
      </p:sp>
      <p:sp>
        <p:nvSpPr>
          <p:cNvPr id="56" name="Text 46">
            <a:extLst>
              <a:ext uri="{FF2B5EF4-FFF2-40B4-BE49-F238E27FC236}">
                <a16:creationId xmlns:a16="http://schemas.microsoft.com/office/drawing/2014/main" id="{8B26216A-CE47-96C3-CA4B-AB9882895ECC}"/>
              </a:ext>
            </a:extLst>
          </p:cNvPr>
          <p:cNvSpPr txBox="1"/>
          <p:nvPr/>
        </p:nvSpPr>
        <p:spPr>
          <a:xfrm>
            <a:off x="8534095" y="4828946"/>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SAP Hybris · Salesforce</a:t>
            </a:r>
            <a:endParaRPr lang="en-US" sz="1000"/>
          </a:p>
        </p:txBody>
      </p:sp>
      <p:sp>
        <p:nvSpPr>
          <p:cNvPr id="57" name="Text 47">
            <a:extLst>
              <a:ext uri="{FF2B5EF4-FFF2-40B4-BE49-F238E27FC236}">
                <a16:creationId xmlns:a16="http://schemas.microsoft.com/office/drawing/2014/main" id="{64971ECB-FEED-CFCD-D22C-A2AF913100B2}"/>
              </a:ext>
            </a:extLst>
          </p:cNvPr>
          <p:cNvSpPr txBox="1"/>
          <p:nvPr/>
        </p:nvSpPr>
        <p:spPr>
          <a:xfrm>
            <a:off x="8534095" y="5069434"/>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Java / MySQL / Splunk</a:t>
            </a:r>
            <a:endParaRPr lang="en-US" sz="1000"/>
          </a:p>
        </p:txBody>
      </p:sp>
      <p:sp>
        <p:nvSpPr>
          <p:cNvPr id="58" name="Text 48">
            <a:extLst>
              <a:ext uri="{FF2B5EF4-FFF2-40B4-BE49-F238E27FC236}">
                <a16:creationId xmlns:a16="http://schemas.microsoft.com/office/drawing/2014/main" id="{14A831B4-C16E-143D-CD77-6B05FD232745}"/>
              </a:ext>
            </a:extLst>
          </p:cNvPr>
          <p:cNvSpPr txBox="1"/>
          <p:nvPr/>
        </p:nvSpPr>
        <p:spPr>
          <a:xfrm>
            <a:off x="8534095" y="5309006"/>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App support (L1–L3)</a:t>
            </a:r>
            <a:endParaRPr lang="en-US" sz="1000"/>
          </a:p>
        </p:txBody>
      </p:sp>
      <p:sp>
        <p:nvSpPr>
          <p:cNvPr id="59" name="Text 49">
            <a:extLst>
              <a:ext uri="{FF2B5EF4-FFF2-40B4-BE49-F238E27FC236}">
                <a16:creationId xmlns:a16="http://schemas.microsoft.com/office/drawing/2014/main" id="{E39D26A1-4BD2-8861-D3A0-400CFE2EEACD}"/>
              </a:ext>
            </a:extLst>
          </p:cNvPr>
          <p:cNvSpPr txBox="1"/>
          <p:nvPr/>
        </p:nvSpPr>
        <p:spPr>
          <a:xfrm>
            <a:off x="8534095" y="5549494"/>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Peak-season scale ops</a:t>
            </a:r>
            <a:endParaRPr lang="en-US" sz="1000"/>
          </a:p>
        </p:txBody>
      </p:sp>
      <p:pic>
        <p:nvPicPr>
          <p:cNvPr id="60" name="Image 8" descr="gen-dedup-e1ac69483d10434729f72c129465ac9b.png">
            <a:extLst>
              <a:ext uri="{FF2B5EF4-FFF2-40B4-BE49-F238E27FC236}">
                <a16:creationId xmlns:a16="http://schemas.microsoft.com/office/drawing/2014/main" id="{73D0861B-D964-9178-7170-1B171AB5C8A3}"/>
              </a:ext>
            </a:extLst>
          </p:cNvPr>
          <p:cNvPicPr>
            <a:picLocks noChangeAspect="1"/>
          </p:cNvPicPr>
          <p:nvPr/>
        </p:nvPicPr>
        <p:blipFill>
          <a:blip r:embed="rId11"/>
          <a:srcRect t="-20060" b="-20060"/>
          <a:stretch/>
        </p:blipFill>
        <p:spPr>
          <a:xfrm>
            <a:off x="8343900" y="4490618"/>
            <a:ext cx="152705" cy="190195"/>
          </a:xfrm>
          <a:prstGeom prst="rect">
            <a:avLst/>
          </a:prstGeom>
        </p:spPr>
      </p:pic>
    </p:spTree>
    <p:extLst>
      <p:ext uri="{BB962C8B-B14F-4D97-AF65-F5344CB8AC3E}">
        <p14:creationId xmlns:p14="http://schemas.microsoft.com/office/powerpoint/2010/main" val="14301209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40496-E8FA-94F6-5A41-AF435DB1001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A1A74A0-A7C4-B906-AA44-2D96F74F4485}"/>
              </a:ext>
            </a:extLst>
          </p:cNvPr>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a:extLst>
              <a:ext uri="{FF2B5EF4-FFF2-40B4-BE49-F238E27FC236}">
                <a16:creationId xmlns:a16="http://schemas.microsoft.com/office/drawing/2014/main" id="{0F5C2B6C-C64D-7B38-691E-478EA3AD03F9}"/>
              </a:ext>
            </a:extLst>
          </p:cNvPr>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a:extLst>
              <a:ext uri="{FF2B5EF4-FFF2-40B4-BE49-F238E27FC236}">
                <a16:creationId xmlns:a16="http://schemas.microsoft.com/office/drawing/2014/main" id="{893B86C2-018F-68D0-BACE-33455FA6A33C}"/>
              </a:ext>
            </a:extLst>
          </p:cNvPr>
          <p:cNvSpPr/>
          <p:nvPr/>
        </p:nvSpPr>
        <p:spPr>
          <a:xfrm>
            <a:off x="8858707" y="-952805"/>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debd4e3596836e8640379be3057665ef.png">
            <a:extLst>
              <a:ext uri="{FF2B5EF4-FFF2-40B4-BE49-F238E27FC236}">
                <a16:creationId xmlns:a16="http://schemas.microsoft.com/office/drawing/2014/main" id="{C1647C25-D6F9-E15F-9C33-982F20A47B99}"/>
              </a:ext>
            </a:extLst>
          </p:cNvPr>
          <p:cNvPicPr>
            <a:picLocks noChangeAspect="1"/>
          </p:cNvPicPr>
          <p:nvPr/>
        </p:nvPicPr>
        <p:blipFill>
          <a:blip r:embed="rId3">
            <a:alphaModFix amt="5000"/>
          </a:blip>
          <a:srcRect/>
          <a:stretch/>
        </p:blipFill>
        <p:spPr>
          <a:xfrm>
            <a:off x="-761695" y="3238805"/>
            <a:ext cx="2857500" cy="2857500"/>
          </a:xfrm>
          <a:prstGeom prst="rect">
            <a:avLst/>
          </a:prstGeom>
        </p:spPr>
      </p:pic>
      <p:pic>
        <p:nvPicPr>
          <p:cNvPr id="6" name="Image 1" descr="gen-dedup-323228122ff92d2332e711a84ca3b40c.png">
            <a:extLst>
              <a:ext uri="{FF2B5EF4-FFF2-40B4-BE49-F238E27FC236}">
                <a16:creationId xmlns:a16="http://schemas.microsoft.com/office/drawing/2014/main" id="{ECB5D70D-324B-40EB-440A-C8DCF474BD8B}"/>
              </a:ext>
            </a:extLst>
          </p:cNvPr>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a:extLst>
              <a:ext uri="{FF2B5EF4-FFF2-40B4-BE49-F238E27FC236}">
                <a16:creationId xmlns:a16="http://schemas.microsoft.com/office/drawing/2014/main" id="{A11CAB48-904C-3F73-EF50-02B2E641811D}"/>
              </a:ext>
            </a:extLst>
          </p:cNvPr>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b359e3fa59182a7dfb1cf9bffd3421a2.png">
            <a:extLst>
              <a:ext uri="{FF2B5EF4-FFF2-40B4-BE49-F238E27FC236}">
                <a16:creationId xmlns:a16="http://schemas.microsoft.com/office/drawing/2014/main" id="{1D1FD2F1-F193-35BD-0FED-3A6050806541}"/>
              </a:ext>
            </a:extLst>
          </p:cNvPr>
          <p:cNvPicPr>
            <a:picLocks noChangeAspect="1"/>
          </p:cNvPicPr>
          <p:nvPr/>
        </p:nvPicPr>
        <p:blipFill>
          <a:blip r:embed="rId6"/>
          <a:srcRect l="-375" r="-375"/>
          <a:stretch/>
        </p:blipFill>
        <p:spPr>
          <a:xfrm>
            <a:off x="609905" y="457200"/>
            <a:ext cx="57607" cy="609905"/>
          </a:xfrm>
          <a:prstGeom prst="rect">
            <a:avLst/>
          </a:prstGeom>
        </p:spPr>
      </p:pic>
      <p:sp>
        <p:nvSpPr>
          <p:cNvPr id="9" name="Shape 3">
            <a:extLst>
              <a:ext uri="{FF2B5EF4-FFF2-40B4-BE49-F238E27FC236}">
                <a16:creationId xmlns:a16="http://schemas.microsoft.com/office/drawing/2014/main" id="{6D59B055-6705-6691-7F37-1D6EDDD728BD}"/>
              </a:ext>
            </a:extLst>
          </p:cNvPr>
          <p:cNvSpPr/>
          <p:nvPr/>
        </p:nvSpPr>
        <p:spPr>
          <a:xfrm>
            <a:off x="609905" y="1524305"/>
            <a:ext cx="2704795" cy="514807"/>
          </a:xfrm>
          <a:prstGeom prst="roundRect">
            <a:avLst>
              <a:gd name="adj" fmla="val 14742"/>
            </a:avLst>
          </a:prstGeom>
          <a:solidFill>
            <a:srgbClr val="FEF2F2"/>
          </a:solidFill>
          <a:ln w="12700">
            <a:solidFill>
              <a:srgbClr val="FCA5A5"/>
            </a:solidFill>
            <a:prstDash val="solid"/>
          </a:ln>
        </p:spPr>
        <p:txBody>
          <a:bodyPr/>
          <a:lstStyle/>
          <a:p>
            <a:endParaRPr lang="en-US"/>
          </a:p>
        </p:txBody>
      </p:sp>
      <p:sp>
        <p:nvSpPr>
          <p:cNvPr id="10" name="Shape 4">
            <a:extLst>
              <a:ext uri="{FF2B5EF4-FFF2-40B4-BE49-F238E27FC236}">
                <a16:creationId xmlns:a16="http://schemas.microsoft.com/office/drawing/2014/main" id="{6C20B249-757D-552B-C99C-ED95D32236A4}"/>
              </a:ext>
            </a:extLst>
          </p:cNvPr>
          <p:cNvSpPr/>
          <p:nvPr/>
        </p:nvSpPr>
        <p:spPr>
          <a:xfrm>
            <a:off x="609905" y="2286000"/>
            <a:ext cx="5352898" cy="1524305"/>
          </a:xfrm>
          <a:prstGeom prst="roundRect">
            <a:avLst>
              <a:gd name="adj" fmla="val 497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1" name="Shape 5">
            <a:extLst>
              <a:ext uri="{FF2B5EF4-FFF2-40B4-BE49-F238E27FC236}">
                <a16:creationId xmlns:a16="http://schemas.microsoft.com/office/drawing/2014/main" id="{2C98150B-0B1D-40B1-8321-BABFBB47FE82}"/>
              </a:ext>
            </a:extLst>
          </p:cNvPr>
          <p:cNvSpPr/>
          <p:nvPr/>
        </p:nvSpPr>
        <p:spPr>
          <a:xfrm>
            <a:off x="609905" y="2286000"/>
            <a:ext cx="5352898"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2" name="Shape 6">
            <a:extLst>
              <a:ext uri="{FF2B5EF4-FFF2-40B4-BE49-F238E27FC236}">
                <a16:creationId xmlns:a16="http://schemas.microsoft.com/office/drawing/2014/main" id="{9A67B0C9-9FCE-C9FB-F571-D1FC48CEE047}"/>
              </a:ext>
            </a:extLst>
          </p:cNvPr>
          <p:cNvSpPr/>
          <p:nvPr/>
        </p:nvSpPr>
        <p:spPr>
          <a:xfrm>
            <a:off x="6248095" y="2286000"/>
            <a:ext cx="5352898" cy="1524305"/>
          </a:xfrm>
          <a:prstGeom prst="roundRect">
            <a:avLst>
              <a:gd name="adj" fmla="val 497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3" name="Shape 7">
            <a:extLst>
              <a:ext uri="{FF2B5EF4-FFF2-40B4-BE49-F238E27FC236}">
                <a16:creationId xmlns:a16="http://schemas.microsoft.com/office/drawing/2014/main" id="{223A277F-D2B2-0BCC-890D-DFF2AAC6AA20}"/>
              </a:ext>
            </a:extLst>
          </p:cNvPr>
          <p:cNvSpPr/>
          <p:nvPr/>
        </p:nvSpPr>
        <p:spPr>
          <a:xfrm>
            <a:off x="6248095" y="2286000"/>
            <a:ext cx="5352898"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4" name="Shape 8">
            <a:extLst>
              <a:ext uri="{FF2B5EF4-FFF2-40B4-BE49-F238E27FC236}">
                <a16:creationId xmlns:a16="http://schemas.microsoft.com/office/drawing/2014/main" id="{65BE715C-CABA-9751-9DC5-7D8052D7DE8D}"/>
              </a:ext>
            </a:extLst>
          </p:cNvPr>
          <p:cNvSpPr/>
          <p:nvPr/>
        </p:nvSpPr>
        <p:spPr>
          <a:xfrm>
            <a:off x="609905" y="3952951"/>
            <a:ext cx="5352898" cy="1524305"/>
          </a:xfrm>
          <a:prstGeom prst="roundRect">
            <a:avLst>
              <a:gd name="adj" fmla="val 497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5" name="Shape 9">
            <a:extLst>
              <a:ext uri="{FF2B5EF4-FFF2-40B4-BE49-F238E27FC236}">
                <a16:creationId xmlns:a16="http://schemas.microsoft.com/office/drawing/2014/main" id="{5F140F71-7243-385E-BF34-10764518F348}"/>
              </a:ext>
            </a:extLst>
          </p:cNvPr>
          <p:cNvSpPr/>
          <p:nvPr/>
        </p:nvSpPr>
        <p:spPr>
          <a:xfrm>
            <a:off x="609905" y="3952951"/>
            <a:ext cx="5352898"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6" name="Shape 10">
            <a:extLst>
              <a:ext uri="{FF2B5EF4-FFF2-40B4-BE49-F238E27FC236}">
                <a16:creationId xmlns:a16="http://schemas.microsoft.com/office/drawing/2014/main" id="{85F4A12B-379C-4B00-B1A4-8D51CC174B61}"/>
              </a:ext>
            </a:extLst>
          </p:cNvPr>
          <p:cNvSpPr/>
          <p:nvPr/>
        </p:nvSpPr>
        <p:spPr>
          <a:xfrm>
            <a:off x="6248095" y="3952951"/>
            <a:ext cx="5352898" cy="1524305"/>
          </a:xfrm>
          <a:prstGeom prst="roundRect">
            <a:avLst>
              <a:gd name="adj" fmla="val 497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7" name="Shape 11">
            <a:extLst>
              <a:ext uri="{FF2B5EF4-FFF2-40B4-BE49-F238E27FC236}">
                <a16:creationId xmlns:a16="http://schemas.microsoft.com/office/drawing/2014/main" id="{A611CCBC-DC83-9A32-4DBF-C0D053E8D715}"/>
              </a:ext>
            </a:extLst>
          </p:cNvPr>
          <p:cNvSpPr/>
          <p:nvPr/>
        </p:nvSpPr>
        <p:spPr>
          <a:xfrm>
            <a:off x="6248095" y="3952951"/>
            <a:ext cx="5352898"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8" name="Shape 12">
            <a:extLst>
              <a:ext uri="{FF2B5EF4-FFF2-40B4-BE49-F238E27FC236}">
                <a16:creationId xmlns:a16="http://schemas.microsoft.com/office/drawing/2014/main" id="{FC84BC8D-EB38-4B9D-CAF0-414123B7DD8B}"/>
              </a:ext>
            </a:extLst>
          </p:cNvPr>
          <p:cNvSpPr/>
          <p:nvPr/>
        </p:nvSpPr>
        <p:spPr>
          <a:xfrm>
            <a:off x="609905" y="5715000"/>
            <a:ext cx="10972800" cy="857707"/>
          </a:xfrm>
          <a:prstGeom prst="roundRect">
            <a:avLst>
              <a:gd name="adj" fmla="val 8849"/>
            </a:avLst>
          </a:prstGeom>
          <a:solidFill>
            <a:srgbClr val="111827"/>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21" name="Text 15">
            <a:extLst>
              <a:ext uri="{FF2B5EF4-FFF2-40B4-BE49-F238E27FC236}">
                <a16:creationId xmlns:a16="http://schemas.microsoft.com/office/drawing/2014/main" id="{96242951-3034-1954-84A0-A10FBA070A7C}"/>
              </a:ext>
            </a:extLst>
          </p:cNvPr>
          <p:cNvSpPr txBox="1"/>
          <p:nvPr/>
        </p:nvSpPr>
        <p:spPr>
          <a:xfrm>
            <a:off x="819302" y="381305"/>
            <a:ext cx="8097012" cy="409651"/>
          </a:xfrm>
          <a:prstGeom prst="rect">
            <a:avLst/>
          </a:prstGeom>
          <a:noFill/>
          <a:ln/>
        </p:spPr>
        <p:txBody>
          <a:bodyPr wrap="none" lIns="0" tIns="0" rIns="0" bIns="0" rtlCol="0" anchor="ctr"/>
          <a:lstStyle/>
          <a:p>
            <a:pPr marL="0" indent="0" algn="l">
              <a:buNone/>
            </a:pPr>
            <a:r>
              <a:rPr lang="en-US" sz="2500" b="1">
                <a:solidFill>
                  <a:srgbClr val="111827"/>
                </a:solidFill>
                <a:latin typeface="Oswald" pitchFamily="34" charset="0"/>
                <a:ea typeface="Oswald" pitchFamily="34" charset="-122"/>
                <a:cs typeface="Oswald" pitchFamily="34" charset="-120"/>
              </a:rPr>
              <a:t>CLIENT CONTEXT</a:t>
            </a:r>
            <a:endParaRPr lang="en-US" sz="2500"/>
          </a:p>
        </p:txBody>
      </p:sp>
      <p:sp>
        <p:nvSpPr>
          <p:cNvPr id="22" name="Text 16">
            <a:extLst>
              <a:ext uri="{FF2B5EF4-FFF2-40B4-BE49-F238E27FC236}">
                <a16:creationId xmlns:a16="http://schemas.microsoft.com/office/drawing/2014/main" id="{8AD78B51-01AE-A81F-718B-4AB2BD51EE3B}"/>
              </a:ext>
            </a:extLst>
          </p:cNvPr>
          <p:cNvSpPr txBox="1"/>
          <p:nvPr/>
        </p:nvSpPr>
        <p:spPr>
          <a:xfrm>
            <a:off x="819302" y="822960"/>
            <a:ext cx="8097012" cy="181051"/>
          </a:xfrm>
          <a:prstGeom prst="rect">
            <a:avLst/>
          </a:prstGeom>
          <a:noFill/>
          <a:ln/>
        </p:spPr>
        <p:txBody>
          <a:bodyPr wrap="non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[CLIENT NAME] — Talent Challenges Identified</a:t>
            </a:r>
            <a:endParaRPr lang="en-US" sz="1200"/>
          </a:p>
        </p:txBody>
      </p:sp>
      <p:sp>
        <p:nvSpPr>
          <p:cNvPr id="23" name="Text 17">
            <a:extLst>
              <a:ext uri="{FF2B5EF4-FFF2-40B4-BE49-F238E27FC236}">
                <a16:creationId xmlns:a16="http://schemas.microsoft.com/office/drawing/2014/main" id="{7955B252-AF10-E49D-C035-04FD30D4885A}"/>
              </a:ext>
            </a:extLst>
          </p:cNvPr>
          <p:cNvSpPr txBox="1"/>
          <p:nvPr/>
        </p:nvSpPr>
        <p:spPr>
          <a:xfrm>
            <a:off x="819302" y="1079906"/>
            <a:ext cx="8097012" cy="152705"/>
          </a:xfrm>
          <a:prstGeom prst="rect">
            <a:avLst/>
          </a:prstGeom>
          <a:noFill/>
          <a:ln/>
        </p:spPr>
        <p:txBody>
          <a:bodyPr wrap="none" lIns="0" tIns="0" rIns="0" bIns="0" rtlCol="0" anchor="ctr"/>
          <a:lstStyle/>
          <a:p>
            <a:pPr marL="0" indent="0" algn="l">
              <a:buNone/>
            </a:pPr>
            <a:r>
              <a:rPr lang="en-US" sz="1000" b="1">
                <a:solidFill>
                  <a:srgbClr val="4B5563"/>
                </a:solidFill>
                <a:latin typeface="Raleway" pitchFamily="34" charset="0"/>
                <a:ea typeface="Raleway" pitchFamily="34" charset="-122"/>
                <a:cs typeface="Raleway" pitchFamily="34" charset="-120"/>
              </a:rPr>
              <a:t>Identified during discovery session — [DATE]</a:t>
            </a:r>
            <a:endParaRPr lang="en-US" sz="1000"/>
          </a:p>
        </p:txBody>
      </p:sp>
      <p:pic>
        <p:nvPicPr>
          <p:cNvPr id="24" name="Image 4" descr="gen-dedup-d103097e730368316f78abf5dde7d335.png">
            <a:extLst>
              <a:ext uri="{FF2B5EF4-FFF2-40B4-BE49-F238E27FC236}">
                <a16:creationId xmlns:a16="http://schemas.microsoft.com/office/drawing/2014/main" id="{D7085508-4B8C-E229-EF1F-9ABE92708D41}"/>
              </a:ext>
            </a:extLst>
          </p:cNvPr>
          <p:cNvPicPr>
            <a:picLocks noChangeAspect="1"/>
          </p:cNvPicPr>
          <p:nvPr/>
        </p:nvPicPr>
        <p:blipFill>
          <a:blip r:embed="rId7"/>
          <a:srcRect t="-16800" b="-16800"/>
          <a:stretch/>
        </p:blipFill>
        <p:spPr>
          <a:xfrm>
            <a:off x="819302" y="1695298"/>
            <a:ext cx="114300" cy="152705"/>
          </a:xfrm>
          <a:prstGeom prst="rect">
            <a:avLst/>
          </a:prstGeom>
        </p:spPr>
      </p:pic>
      <p:sp>
        <p:nvSpPr>
          <p:cNvPr id="25" name="Text 18">
            <a:extLst>
              <a:ext uri="{FF2B5EF4-FFF2-40B4-BE49-F238E27FC236}">
                <a16:creationId xmlns:a16="http://schemas.microsoft.com/office/drawing/2014/main" id="{CF51D9BC-6155-2E49-4BCB-FD65ECDE3723}"/>
              </a:ext>
            </a:extLst>
          </p:cNvPr>
          <p:cNvSpPr txBox="1"/>
          <p:nvPr/>
        </p:nvSpPr>
        <p:spPr>
          <a:xfrm>
            <a:off x="1067105" y="1666951"/>
            <a:ext cx="2211019" cy="210312"/>
          </a:xfrm>
          <a:prstGeom prst="rect">
            <a:avLst/>
          </a:prstGeom>
          <a:noFill/>
          <a:ln/>
        </p:spPr>
        <p:txBody>
          <a:bodyPr wrap="none" lIns="0" tIns="0" rIns="0" bIns="0" rtlCol="0" anchor="ctr"/>
          <a:lstStyle/>
          <a:p>
            <a:pPr marL="0" indent="0" algn="l">
              <a:buNone/>
            </a:pPr>
            <a:r>
              <a:rPr lang="en-US" sz="1600" b="1">
                <a:solidFill>
                  <a:srgbClr val="D62839"/>
                </a:solidFill>
                <a:latin typeface="Oswald" pitchFamily="34" charset="0"/>
                <a:ea typeface="Oswald" pitchFamily="34" charset="-122"/>
                <a:cs typeface="Oswald" pitchFamily="34" charset="-120"/>
              </a:rPr>
              <a:t>[X]% Offer Drop Rate</a:t>
            </a:r>
            <a:endParaRPr lang="en-US" sz="1600"/>
          </a:p>
        </p:txBody>
      </p:sp>
      <p:sp>
        <p:nvSpPr>
          <p:cNvPr id="26" name="Text 19">
            <a:extLst>
              <a:ext uri="{FF2B5EF4-FFF2-40B4-BE49-F238E27FC236}">
                <a16:creationId xmlns:a16="http://schemas.microsoft.com/office/drawing/2014/main" id="{E03686CD-E1F9-CFBD-C015-D780C9A5D4CF}"/>
              </a:ext>
            </a:extLst>
          </p:cNvPr>
          <p:cNvSpPr txBox="1"/>
          <p:nvPr/>
        </p:nvSpPr>
        <p:spPr>
          <a:xfrm>
            <a:off x="838505" y="2476195"/>
            <a:ext cx="306324" cy="267005"/>
          </a:xfrm>
          <a:prstGeom prst="rect">
            <a:avLst/>
          </a:prstGeom>
          <a:noFill/>
          <a:ln/>
        </p:spPr>
        <p:txBody>
          <a:bodyPr wrap="none" lIns="0" tIns="0" rIns="0" bIns="0" rtlCol="0" anchor="ctr"/>
          <a:lstStyle/>
          <a:p>
            <a:pPr marL="0" indent="0" algn="l">
              <a:buNone/>
            </a:pPr>
            <a:r>
              <a:rPr lang="en-US" sz="2100" b="1">
                <a:solidFill>
                  <a:srgbClr val="2A9D8F"/>
                </a:solidFill>
                <a:latin typeface="Oswald" pitchFamily="34" charset="0"/>
                <a:ea typeface="Oswald" pitchFamily="34" charset="-122"/>
                <a:cs typeface="Oswald" pitchFamily="34" charset="-120"/>
              </a:rPr>
              <a:t>01</a:t>
            </a:r>
            <a:endParaRPr lang="en-US" sz="2100"/>
          </a:p>
        </p:txBody>
      </p:sp>
      <p:sp>
        <p:nvSpPr>
          <p:cNvPr id="27" name="Text 20">
            <a:extLst>
              <a:ext uri="{FF2B5EF4-FFF2-40B4-BE49-F238E27FC236}">
                <a16:creationId xmlns:a16="http://schemas.microsoft.com/office/drawing/2014/main" id="{1469E30B-EB0F-18DA-4B6D-BF75C7688EA2}"/>
              </a:ext>
            </a:extLst>
          </p:cNvPr>
          <p:cNvSpPr txBox="1"/>
          <p:nvPr/>
        </p:nvSpPr>
        <p:spPr>
          <a:xfrm>
            <a:off x="1201522" y="2495398"/>
            <a:ext cx="1848002"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[Challenge 1 Title]</a:t>
            </a:r>
            <a:endParaRPr lang="en-US" sz="1500"/>
          </a:p>
        </p:txBody>
      </p:sp>
      <p:sp>
        <p:nvSpPr>
          <p:cNvPr id="28" name="Text 21">
            <a:extLst>
              <a:ext uri="{FF2B5EF4-FFF2-40B4-BE49-F238E27FC236}">
                <a16:creationId xmlns:a16="http://schemas.microsoft.com/office/drawing/2014/main" id="{436730F5-092B-0761-E7C4-730CDC80E5F1}"/>
              </a:ext>
            </a:extLst>
          </p:cNvPr>
          <p:cNvSpPr txBox="1"/>
          <p:nvPr/>
        </p:nvSpPr>
        <p:spPr>
          <a:xfrm>
            <a:off x="838505" y="2895905"/>
            <a:ext cx="4877410" cy="4288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e.g. 90-Day Notice Period — Extended windows enable offer shopping, joining-day dropouts and wasted recruitment effort.</a:t>
            </a:r>
            <a:endParaRPr lang="en-US" sz="1100"/>
          </a:p>
        </p:txBody>
      </p:sp>
      <p:sp>
        <p:nvSpPr>
          <p:cNvPr id="29" name="Text 22">
            <a:extLst>
              <a:ext uri="{FF2B5EF4-FFF2-40B4-BE49-F238E27FC236}">
                <a16:creationId xmlns:a16="http://schemas.microsoft.com/office/drawing/2014/main" id="{95865E34-69BD-20A8-8151-F62AC71D4F58}"/>
              </a:ext>
            </a:extLst>
          </p:cNvPr>
          <p:cNvSpPr txBox="1"/>
          <p:nvPr/>
        </p:nvSpPr>
        <p:spPr>
          <a:xfrm>
            <a:off x="6476695" y="2476195"/>
            <a:ext cx="340157" cy="267005"/>
          </a:xfrm>
          <a:prstGeom prst="rect">
            <a:avLst/>
          </a:prstGeom>
          <a:noFill/>
          <a:ln/>
        </p:spPr>
        <p:txBody>
          <a:bodyPr wrap="none" lIns="0" tIns="0" rIns="0" bIns="0" rtlCol="0" anchor="ctr"/>
          <a:lstStyle/>
          <a:p>
            <a:pPr marL="0" indent="0" algn="l">
              <a:buNone/>
            </a:pPr>
            <a:r>
              <a:rPr lang="en-US" sz="2100" b="1">
                <a:solidFill>
                  <a:srgbClr val="D62839"/>
                </a:solidFill>
                <a:latin typeface="Oswald" pitchFamily="34" charset="0"/>
                <a:ea typeface="Oswald" pitchFamily="34" charset="-122"/>
                <a:cs typeface="Oswald" pitchFamily="34" charset="-120"/>
              </a:rPr>
              <a:t>02</a:t>
            </a:r>
            <a:endParaRPr lang="en-US" sz="2100"/>
          </a:p>
        </p:txBody>
      </p:sp>
      <p:sp>
        <p:nvSpPr>
          <p:cNvPr id="30" name="Text 23">
            <a:extLst>
              <a:ext uri="{FF2B5EF4-FFF2-40B4-BE49-F238E27FC236}">
                <a16:creationId xmlns:a16="http://schemas.microsoft.com/office/drawing/2014/main" id="{6882D94C-6A81-5E13-FBA6-AB4B1849AF98}"/>
              </a:ext>
            </a:extLst>
          </p:cNvPr>
          <p:cNvSpPr txBox="1"/>
          <p:nvPr/>
        </p:nvSpPr>
        <p:spPr>
          <a:xfrm>
            <a:off x="6875374" y="2495398"/>
            <a:ext cx="1881835"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[Challenge 2 Title]</a:t>
            </a:r>
            <a:endParaRPr lang="en-US" sz="1500"/>
          </a:p>
        </p:txBody>
      </p:sp>
      <p:sp>
        <p:nvSpPr>
          <p:cNvPr id="31" name="Text 24">
            <a:extLst>
              <a:ext uri="{FF2B5EF4-FFF2-40B4-BE49-F238E27FC236}">
                <a16:creationId xmlns:a16="http://schemas.microsoft.com/office/drawing/2014/main" id="{C5441E10-CADF-4B10-2761-499C5F9A01BE}"/>
              </a:ext>
            </a:extLst>
          </p:cNvPr>
          <p:cNvSpPr txBox="1"/>
          <p:nvPr/>
        </p:nvSpPr>
        <p:spPr>
          <a:xfrm>
            <a:off x="6476695" y="2895905"/>
            <a:ext cx="4877410" cy="4288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e.g. 5-Day WFO Resistance — Post-COVID candidates resist full office return; qualified talent pool shrinks for mandatory in-office roles.</a:t>
            </a:r>
            <a:endParaRPr lang="en-US" sz="1100"/>
          </a:p>
        </p:txBody>
      </p:sp>
      <p:sp>
        <p:nvSpPr>
          <p:cNvPr id="32" name="Text 25">
            <a:extLst>
              <a:ext uri="{FF2B5EF4-FFF2-40B4-BE49-F238E27FC236}">
                <a16:creationId xmlns:a16="http://schemas.microsoft.com/office/drawing/2014/main" id="{E6D8B6CA-D62D-02E0-163A-AC7F845F4194}"/>
              </a:ext>
            </a:extLst>
          </p:cNvPr>
          <p:cNvSpPr txBox="1"/>
          <p:nvPr/>
        </p:nvSpPr>
        <p:spPr>
          <a:xfrm>
            <a:off x="838505" y="4143146"/>
            <a:ext cx="340157" cy="267005"/>
          </a:xfrm>
          <a:prstGeom prst="rect">
            <a:avLst/>
          </a:prstGeom>
          <a:noFill/>
          <a:ln/>
        </p:spPr>
        <p:txBody>
          <a:bodyPr wrap="none" lIns="0" tIns="0" rIns="0" bIns="0" rtlCol="0" anchor="ctr"/>
          <a:lstStyle/>
          <a:p>
            <a:pPr marL="0" indent="0" algn="l">
              <a:buNone/>
            </a:pPr>
            <a:r>
              <a:rPr lang="en-US" sz="2100" b="1">
                <a:solidFill>
                  <a:srgbClr val="D62839"/>
                </a:solidFill>
                <a:latin typeface="Oswald" pitchFamily="34" charset="0"/>
                <a:ea typeface="Oswald" pitchFamily="34" charset="-122"/>
                <a:cs typeface="Oswald" pitchFamily="34" charset="-120"/>
              </a:rPr>
              <a:t>03</a:t>
            </a:r>
            <a:endParaRPr lang="en-US" sz="2100"/>
          </a:p>
        </p:txBody>
      </p:sp>
      <p:sp>
        <p:nvSpPr>
          <p:cNvPr id="33" name="Text 26">
            <a:extLst>
              <a:ext uri="{FF2B5EF4-FFF2-40B4-BE49-F238E27FC236}">
                <a16:creationId xmlns:a16="http://schemas.microsoft.com/office/drawing/2014/main" id="{C2C216A8-96F5-A7FC-C9A7-44ACB776AC2D}"/>
              </a:ext>
            </a:extLst>
          </p:cNvPr>
          <p:cNvSpPr txBox="1"/>
          <p:nvPr/>
        </p:nvSpPr>
        <p:spPr>
          <a:xfrm>
            <a:off x="1236269" y="4162349"/>
            <a:ext cx="1881835"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[Challenge 3 Title]</a:t>
            </a:r>
            <a:endParaRPr lang="en-US" sz="1500"/>
          </a:p>
        </p:txBody>
      </p:sp>
      <p:sp>
        <p:nvSpPr>
          <p:cNvPr id="34" name="Text 27">
            <a:extLst>
              <a:ext uri="{FF2B5EF4-FFF2-40B4-BE49-F238E27FC236}">
                <a16:creationId xmlns:a16="http://schemas.microsoft.com/office/drawing/2014/main" id="{86900820-89F2-D72F-29D7-39F328CD9491}"/>
              </a:ext>
            </a:extLst>
          </p:cNvPr>
          <p:cNvSpPr txBox="1"/>
          <p:nvPr/>
        </p:nvSpPr>
        <p:spPr>
          <a:xfrm>
            <a:off x="838505" y="4562856"/>
            <a:ext cx="4877410" cy="4288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e.g. Niche Skill Pool — 50% of hires are CAs (≤5 yrs exp). Intense competition from Big 4s and other captives for limited talent.</a:t>
            </a:r>
            <a:endParaRPr lang="en-US" sz="1100"/>
          </a:p>
        </p:txBody>
      </p:sp>
      <p:sp>
        <p:nvSpPr>
          <p:cNvPr id="35" name="Text 28">
            <a:extLst>
              <a:ext uri="{FF2B5EF4-FFF2-40B4-BE49-F238E27FC236}">
                <a16:creationId xmlns:a16="http://schemas.microsoft.com/office/drawing/2014/main" id="{4EE1B485-5C1B-9046-DA53-C78DFF78B888}"/>
              </a:ext>
            </a:extLst>
          </p:cNvPr>
          <p:cNvSpPr txBox="1"/>
          <p:nvPr/>
        </p:nvSpPr>
        <p:spPr>
          <a:xfrm>
            <a:off x="6476695" y="4143146"/>
            <a:ext cx="342900" cy="267005"/>
          </a:xfrm>
          <a:prstGeom prst="rect">
            <a:avLst/>
          </a:prstGeom>
          <a:noFill/>
          <a:ln/>
        </p:spPr>
        <p:txBody>
          <a:bodyPr wrap="none" lIns="0" tIns="0" rIns="0" bIns="0" rtlCol="0" anchor="ctr"/>
          <a:lstStyle/>
          <a:p>
            <a:pPr marL="0" indent="0" algn="l">
              <a:buNone/>
            </a:pPr>
            <a:r>
              <a:rPr lang="en-US" sz="2100" b="1">
                <a:solidFill>
                  <a:srgbClr val="2A9D8F"/>
                </a:solidFill>
                <a:latin typeface="Oswald" pitchFamily="34" charset="0"/>
                <a:ea typeface="Oswald" pitchFamily="34" charset="-122"/>
                <a:cs typeface="Oswald" pitchFamily="34" charset="-120"/>
              </a:rPr>
              <a:t>04</a:t>
            </a:r>
            <a:endParaRPr lang="en-US" sz="2100"/>
          </a:p>
        </p:txBody>
      </p:sp>
      <p:sp>
        <p:nvSpPr>
          <p:cNvPr id="36" name="Text 29">
            <a:extLst>
              <a:ext uri="{FF2B5EF4-FFF2-40B4-BE49-F238E27FC236}">
                <a16:creationId xmlns:a16="http://schemas.microsoft.com/office/drawing/2014/main" id="{D7C0D921-403B-9A10-F944-DB9BD69AD35A}"/>
              </a:ext>
            </a:extLst>
          </p:cNvPr>
          <p:cNvSpPr txBox="1"/>
          <p:nvPr/>
        </p:nvSpPr>
        <p:spPr>
          <a:xfrm>
            <a:off x="6878117" y="4162349"/>
            <a:ext cx="1881835"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[Challenge 4 Title]</a:t>
            </a:r>
            <a:endParaRPr lang="en-US" sz="1500"/>
          </a:p>
        </p:txBody>
      </p:sp>
      <p:sp>
        <p:nvSpPr>
          <p:cNvPr id="37" name="Text 30">
            <a:extLst>
              <a:ext uri="{FF2B5EF4-FFF2-40B4-BE49-F238E27FC236}">
                <a16:creationId xmlns:a16="http://schemas.microsoft.com/office/drawing/2014/main" id="{503548BD-771C-288E-A61A-80EE65897C33}"/>
              </a:ext>
            </a:extLst>
          </p:cNvPr>
          <p:cNvSpPr txBox="1"/>
          <p:nvPr/>
        </p:nvSpPr>
        <p:spPr>
          <a:xfrm>
            <a:off x="6476695" y="4562856"/>
            <a:ext cx="4877410" cy="4288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e.g. Sporadic Demand — 8–10 roles max per BU creates unpredictable, low-volume patterns. Hard to maintain dedicated pipeline.</a:t>
            </a:r>
            <a:endParaRPr lang="en-US" sz="1100"/>
          </a:p>
        </p:txBody>
      </p:sp>
      <p:sp>
        <p:nvSpPr>
          <p:cNvPr id="38" name="Text 31">
            <a:extLst>
              <a:ext uri="{FF2B5EF4-FFF2-40B4-BE49-F238E27FC236}">
                <a16:creationId xmlns:a16="http://schemas.microsoft.com/office/drawing/2014/main" id="{BFD1044B-AF7C-29D6-9D49-92FC4101D780}"/>
              </a:ext>
            </a:extLst>
          </p:cNvPr>
          <p:cNvSpPr txBox="1"/>
          <p:nvPr/>
        </p:nvSpPr>
        <p:spPr>
          <a:xfrm>
            <a:off x="972007" y="5857646"/>
            <a:ext cx="2553005" cy="257861"/>
          </a:xfrm>
          <a:prstGeom prst="rect">
            <a:avLst/>
          </a:prstGeom>
          <a:noFill/>
          <a:ln/>
        </p:spPr>
        <p:txBody>
          <a:bodyPr wrap="none" lIns="0" tIns="0" rIns="0" bIns="0" rtlCol="0" anchor="ctr"/>
          <a:lstStyle/>
          <a:p>
            <a:pPr marL="0" indent="0" algn="l">
              <a:buNone/>
            </a:pPr>
            <a:r>
              <a:rPr lang="en-US" sz="1600" b="1">
                <a:solidFill>
                  <a:srgbClr val="2A9D8F"/>
                </a:solidFill>
                <a:latin typeface="Oswald" pitchFamily="34" charset="0"/>
                <a:ea typeface="Oswald" pitchFamily="34" charset="-122"/>
                <a:cs typeface="Oswald" pitchFamily="34" charset="-120"/>
              </a:rPr>
              <a:t>[X] people strong</a:t>
            </a:r>
            <a:endParaRPr lang="en-US" sz="1600"/>
          </a:p>
        </p:txBody>
      </p:sp>
      <p:sp>
        <p:nvSpPr>
          <p:cNvPr id="39" name="Text 32">
            <a:extLst>
              <a:ext uri="{FF2B5EF4-FFF2-40B4-BE49-F238E27FC236}">
                <a16:creationId xmlns:a16="http://schemas.microsoft.com/office/drawing/2014/main" id="{F752953E-9C91-76AF-8997-77F80270438D}"/>
              </a:ext>
            </a:extLst>
          </p:cNvPr>
          <p:cNvSpPr txBox="1"/>
          <p:nvPr/>
        </p:nvSpPr>
        <p:spPr>
          <a:xfrm>
            <a:off x="972007" y="6147511"/>
            <a:ext cx="2553005" cy="181051"/>
          </a:xfrm>
          <a:prstGeom prst="rect">
            <a:avLst/>
          </a:prstGeom>
          <a:noFill/>
          <a:ln/>
        </p:spPr>
        <p:txBody>
          <a:bodyPr wrap="none" lIns="0" tIns="0" rIns="0" bIns="0" rtlCol="0" anchor="ctr"/>
          <a:lstStyle/>
          <a:p>
            <a:pPr marL="0" indent="0" algn="l">
              <a:buNone/>
            </a:pPr>
            <a:r>
              <a:rPr lang="en-US" sz="1000">
                <a:solidFill>
                  <a:srgbClr val="E5E7EB"/>
                </a:solidFill>
                <a:latin typeface="Raleway" pitchFamily="34" charset="0"/>
                <a:ea typeface="Raleway" pitchFamily="34" charset="-122"/>
                <a:cs typeface="Raleway" pitchFamily="34" charset="-120"/>
              </a:rPr>
              <a:t>Org size</a:t>
            </a:r>
            <a:endParaRPr lang="en-US" sz="1000"/>
          </a:p>
        </p:txBody>
      </p:sp>
      <p:sp>
        <p:nvSpPr>
          <p:cNvPr id="40" name="Text 33">
            <a:extLst>
              <a:ext uri="{FF2B5EF4-FFF2-40B4-BE49-F238E27FC236}">
                <a16:creationId xmlns:a16="http://schemas.microsoft.com/office/drawing/2014/main" id="{52F0515C-5D54-0F4E-E602-55BD8F123E74}"/>
              </a:ext>
            </a:extLst>
          </p:cNvPr>
          <p:cNvSpPr txBox="1"/>
          <p:nvPr/>
        </p:nvSpPr>
        <p:spPr>
          <a:xfrm>
            <a:off x="3638398" y="5857646"/>
            <a:ext cx="2830982" cy="257861"/>
          </a:xfrm>
          <a:prstGeom prst="rect">
            <a:avLst/>
          </a:prstGeom>
          <a:noFill/>
          <a:ln/>
        </p:spPr>
        <p:txBody>
          <a:bodyPr wrap="none" lIns="0" tIns="0" rIns="0" bIns="0" rtlCol="0" anchor="ctr"/>
          <a:lstStyle/>
          <a:p>
            <a:pPr marL="0" indent="0" algn="l">
              <a:buNone/>
            </a:pPr>
            <a:r>
              <a:rPr lang="en-US" sz="1600" b="1">
                <a:solidFill>
                  <a:srgbClr val="D62839"/>
                </a:solidFill>
                <a:latin typeface="Oswald" pitchFamily="34" charset="0"/>
                <a:ea typeface="Oswald" pitchFamily="34" charset="-122"/>
                <a:cs typeface="Oswald" pitchFamily="34" charset="-120"/>
              </a:rPr>
              <a:t>[X–X] hires in [YEAR]</a:t>
            </a:r>
            <a:endParaRPr lang="en-US" sz="1600"/>
          </a:p>
        </p:txBody>
      </p:sp>
      <p:sp>
        <p:nvSpPr>
          <p:cNvPr id="41" name="Text 34">
            <a:extLst>
              <a:ext uri="{FF2B5EF4-FFF2-40B4-BE49-F238E27FC236}">
                <a16:creationId xmlns:a16="http://schemas.microsoft.com/office/drawing/2014/main" id="{BD6E3207-CDF6-22BC-ED87-28A6D5EB1362}"/>
              </a:ext>
            </a:extLst>
          </p:cNvPr>
          <p:cNvSpPr txBox="1"/>
          <p:nvPr/>
        </p:nvSpPr>
        <p:spPr>
          <a:xfrm>
            <a:off x="3638398" y="6147511"/>
            <a:ext cx="2553005" cy="181051"/>
          </a:xfrm>
          <a:prstGeom prst="rect">
            <a:avLst/>
          </a:prstGeom>
          <a:noFill/>
          <a:ln/>
        </p:spPr>
        <p:txBody>
          <a:bodyPr wrap="none" lIns="0" tIns="0" rIns="0" bIns="0" rtlCol="0" anchor="ctr"/>
          <a:lstStyle/>
          <a:p>
            <a:pPr marL="0" indent="0" algn="l">
              <a:buNone/>
            </a:pPr>
            <a:r>
              <a:rPr lang="en-US" sz="1000">
                <a:solidFill>
                  <a:srgbClr val="E5E7EB"/>
                </a:solidFill>
                <a:latin typeface="Raleway" pitchFamily="34" charset="0"/>
                <a:ea typeface="Raleway" pitchFamily="34" charset="-122"/>
                <a:cs typeface="Raleway" pitchFamily="34" charset="-120"/>
              </a:rPr>
              <a:t>Hiring target</a:t>
            </a:r>
            <a:endParaRPr lang="en-US" sz="1000"/>
          </a:p>
        </p:txBody>
      </p:sp>
      <p:sp>
        <p:nvSpPr>
          <p:cNvPr id="42" name="Text 35">
            <a:extLst>
              <a:ext uri="{FF2B5EF4-FFF2-40B4-BE49-F238E27FC236}">
                <a16:creationId xmlns:a16="http://schemas.microsoft.com/office/drawing/2014/main" id="{90C151A5-5398-CFF6-21BB-9B74144D15B7}"/>
              </a:ext>
            </a:extLst>
          </p:cNvPr>
          <p:cNvSpPr txBox="1"/>
          <p:nvPr/>
        </p:nvSpPr>
        <p:spPr>
          <a:xfrm>
            <a:off x="6305702" y="5857646"/>
            <a:ext cx="2830982" cy="257861"/>
          </a:xfrm>
          <a:prstGeom prst="rect">
            <a:avLst/>
          </a:prstGeom>
          <a:noFill/>
          <a:ln/>
        </p:spPr>
        <p:txBody>
          <a:bodyPr wrap="none" lIns="0" tIns="0" rIns="0" bIns="0" rtlCol="0" anchor="ctr"/>
          <a:lstStyle/>
          <a:p>
            <a:pPr marL="0" indent="0" algn="l">
              <a:buNone/>
            </a:pPr>
            <a:r>
              <a:rPr lang="en-US" sz="1600" b="1">
                <a:solidFill>
                  <a:srgbClr val="2A9D8F"/>
                </a:solidFill>
                <a:latin typeface="Oswald" pitchFamily="34" charset="0"/>
                <a:ea typeface="Oswald" pitchFamily="34" charset="-122"/>
                <a:cs typeface="Oswald" pitchFamily="34" charset="-120"/>
              </a:rPr>
              <a:t>[X]% junior workforce</a:t>
            </a:r>
            <a:endParaRPr lang="en-US" sz="1600"/>
          </a:p>
        </p:txBody>
      </p:sp>
      <p:sp>
        <p:nvSpPr>
          <p:cNvPr id="43" name="Text 36">
            <a:extLst>
              <a:ext uri="{FF2B5EF4-FFF2-40B4-BE49-F238E27FC236}">
                <a16:creationId xmlns:a16="http://schemas.microsoft.com/office/drawing/2014/main" id="{01F18857-4EE3-FC89-750D-B7FF1BFF20C0}"/>
              </a:ext>
            </a:extLst>
          </p:cNvPr>
          <p:cNvSpPr txBox="1"/>
          <p:nvPr/>
        </p:nvSpPr>
        <p:spPr>
          <a:xfrm>
            <a:off x="6305702" y="6147511"/>
            <a:ext cx="2553005" cy="181051"/>
          </a:xfrm>
          <a:prstGeom prst="rect">
            <a:avLst/>
          </a:prstGeom>
          <a:noFill/>
          <a:ln/>
        </p:spPr>
        <p:txBody>
          <a:bodyPr wrap="none" lIns="0" tIns="0" rIns="0" bIns="0" rtlCol="0" anchor="ctr"/>
          <a:lstStyle/>
          <a:p>
            <a:pPr marL="0" indent="0" algn="l">
              <a:buNone/>
            </a:pPr>
            <a:r>
              <a:rPr lang="en-US" sz="1000">
                <a:solidFill>
                  <a:srgbClr val="E5E7EB"/>
                </a:solidFill>
                <a:latin typeface="Raleway" pitchFamily="34" charset="0"/>
                <a:ea typeface="Raleway" pitchFamily="34" charset="-122"/>
                <a:cs typeface="Raleway" pitchFamily="34" charset="-120"/>
              </a:rPr>
              <a:t>Level mix</a:t>
            </a:r>
            <a:endParaRPr lang="en-US" sz="1000"/>
          </a:p>
        </p:txBody>
      </p:sp>
      <p:sp>
        <p:nvSpPr>
          <p:cNvPr id="44" name="Text 37">
            <a:extLst>
              <a:ext uri="{FF2B5EF4-FFF2-40B4-BE49-F238E27FC236}">
                <a16:creationId xmlns:a16="http://schemas.microsoft.com/office/drawing/2014/main" id="{201C60D3-E6FD-737E-B1AD-3D48A0052972}"/>
              </a:ext>
            </a:extLst>
          </p:cNvPr>
          <p:cNvSpPr txBox="1"/>
          <p:nvPr/>
        </p:nvSpPr>
        <p:spPr>
          <a:xfrm>
            <a:off x="8973007" y="5857646"/>
            <a:ext cx="3038551" cy="257861"/>
          </a:xfrm>
          <a:prstGeom prst="rect">
            <a:avLst/>
          </a:prstGeom>
          <a:noFill/>
          <a:ln/>
        </p:spPr>
        <p:txBody>
          <a:bodyPr wrap="none" lIns="0" tIns="0" rIns="0" bIns="0" rtlCol="0" anchor="ctr"/>
          <a:lstStyle/>
          <a:p>
            <a:pPr marL="0" indent="0" algn="l">
              <a:buNone/>
            </a:pPr>
            <a:r>
              <a:rPr lang="en-US" sz="1600" b="1">
                <a:solidFill>
                  <a:srgbClr val="D62839"/>
                </a:solidFill>
                <a:latin typeface="Oswald" pitchFamily="34" charset="0"/>
                <a:ea typeface="Oswald" pitchFamily="34" charset="-122"/>
                <a:cs typeface="Oswald" pitchFamily="34" charset="-120"/>
              </a:rPr>
              <a:t>[City] extension of [HQ]</a:t>
            </a:r>
            <a:endParaRPr lang="en-US" sz="1600"/>
          </a:p>
        </p:txBody>
      </p:sp>
      <p:sp>
        <p:nvSpPr>
          <p:cNvPr id="45" name="Text 38">
            <a:extLst>
              <a:ext uri="{FF2B5EF4-FFF2-40B4-BE49-F238E27FC236}">
                <a16:creationId xmlns:a16="http://schemas.microsoft.com/office/drawing/2014/main" id="{C01B6739-62F3-695B-659F-779A403E97F6}"/>
              </a:ext>
            </a:extLst>
          </p:cNvPr>
          <p:cNvSpPr txBox="1"/>
          <p:nvPr/>
        </p:nvSpPr>
        <p:spPr>
          <a:xfrm>
            <a:off x="8973007" y="6147511"/>
            <a:ext cx="2553005" cy="181051"/>
          </a:xfrm>
          <a:prstGeom prst="rect">
            <a:avLst/>
          </a:prstGeom>
          <a:noFill/>
          <a:ln/>
        </p:spPr>
        <p:txBody>
          <a:bodyPr wrap="none" lIns="0" tIns="0" rIns="0" bIns="0" rtlCol="0" anchor="ctr"/>
          <a:lstStyle/>
          <a:p>
            <a:pPr marL="0" indent="0" algn="l">
              <a:buNone/>
            </a:pPr>
            <a:r>
              <a:rPr lang="en-US" sz="1000">
                <a:solidFill>
                  <a:srgbClr val="E5E7EB"/>
                </a:solidFill>
                <a:latin typeface="Raleway" pitchFamily="34" charset="0"/>
                <a:ea typeface="Raleway" pitchFamily="34" charset="-122"/>
                <a:cs typeface="Raleway" pitchFamily="34" charset="-120"/>
              </a:rPr>
              <a:t>GCC mandate</a:t>
            </a:r>
            <a:endParaRPr lang="en-US" sz="1000"/>
          </a:p>
        </p:txBody>
      </p:sp>
    </p:spTree>
    <p:extLst>
      <p:ext uri="{BB962C8B-B14F-4D97-AF65-F5344CB8AC3E}">
        <p14:creationId xmlns:p14="http://schemas.microsoft.com/office/powerpoint/2010/main" val="8819712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15142-E6EF-BA67-50C5-BEE670AE890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09BB6A9-53AC-0120-3CEF-05E25FFC92F1}"/>
              </a:ext>
            </a:extLst>
          </p:cNvPr>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a:extLst>
              <a:ext uri="{FF2B5EF4-FFF2-40B4-BE49-F238E27FC236}">
                <a16:creationId xmlns:a16="http://schemas.microsoft.com/office/drawing/2014/main" id="{682EBB72-A6BF-5CEB-4F2C-B1542E62424C}"/>
              </a:ext>
            </a:extLst>
          </p:cNvPr>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a:extLst>
              <a:ext uri="{FF2B5EF4-FFF2-40B4-BE49-F238E27FC236}">
                <a16:creationId xmlns:a16="http://schemas.microsoft.com/office/drawing/2014/main" id="{6C715D4C-1AF4-E120-D15D-EA2316DEC404}"/>
              </a:ext>
            </a:extLst>
          </p:cNvPr>
          <p:cNvSpPr/>
          <p:nvPr/>
        </p:nvSpPr>
        <p:spPr>
          <a:xfrm>
            <a:off x="9334195" y="-476402"/>
            <a:ext cx="3333902" cy="3333902"/>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16b8f91e6d72561d8e86691bd4589640.svg">
            <a:extLst>
              <a:ext uri="{FF2B5EF4-FFF2-40B4-BE49-F238E27FC236}">
                <a16:creationId xmlns:a16="http://schemas.microsoft.com/office/drawing/2014/main" id="{10665FFC-7191-3EE9-E262-A0EE2B1630BE}"/>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81305" y="4572000"/>
            <a:ext cx="1904695" cy="1904695"/>
          </a:xfrm>
          <a:prstGeom prst="rect">
            <a:avLst/>
          </a:prstGeom>
        </p:spPr>
      </p:pic>
      <p:pic>
        <p:nvPicPr>
          <p:cNvPr id="6" name="Image 1" descr="gen-dedup-c43d37ec6b749a14b46300e23657ecc9.png">
            <a:extLst>
              <a:ext uri="{FF2B5EF4-FFF2-40B4-BE49-F238E27FC236}">
                <a16:creationId xmlns:a16="http://schemas.microsoft.com/office/drawing/2014/main" id="{350E297F-CAF1-4144-06DE-2E7C7E9C5BE2}"/>
              </a:ext>
            </a:extLst>
          </p:cNvPr>
          <p:cNvPicPr>
            <a:picLocks noChangeAspect="1"/>
          </p:cNvPicPr>
          <p:nvPr/>
        </p:nvPicPr>
        <p:blipFill>
          <a:blip r:embed="rId4"/>
          <a:srcRect l="-2" r="-2"/>
          <a:stretch/>
        </p:blipFill>
        <p:spPr>
          <a:xfrm>
            <a:off x="0" y="6743700"/>
            <a:ext cx="8128102" cy="114300"/>
          </a:xfrm>
          <a:prstGeom prst="rect">
            <a:avLst/>
          </a:prstGeom>
        </p:spPr>
      </p:pic>
      <p:pic>
        <p:nvPicPr>
          <p:cNvPr id="7" name="Image 2" descr="gen-dedup-ccb3fbefd7198ae67d29d234b7ba9a3d.png">
            <a:extLst>
              <a:ext uri="{FF2B5EF4-FFF2-40B4-BE49-F238E27FC236}">
                <a16:creationId xmlns:a16="http://schemas.microsoft.com/office/drawing/2014/main" id="{5FEA7D47-47C8-A1C7-8C9B-341CBB70B236}"/>
              </a:ext>
            </a:extLst>
          </p:cNvPr>
          <p:cNvPicPr>
            <a:picLocks noChangeAspect="1"/>
          </p:cNvPicPr>
          <p:nvPr/>
        </p:nvPicPr>
        <p:blipFill>
          <a:blip r:embed="rId5"/>
          <a:srcRect t="-4" b="-4"/>
          <a:stretch/>
        </p:blipFill>
        <p:spPr>
          <a:xfrm>
            <a:off x="8128102" y="6743700"/>
            <a:ext cx="4063594" cy="114300"/>
          </a:xfrm>
          <a:prstGeom prst="rect">
            <a:avLst/>
          </a:prstGeom>
        </p:spPr>
      </p:pic>
      <p:pic>
        <p:nvPicPr>
          <p:cNvPr id="8" name="Image 3" descr="gen-dedup-c72c85b07e3f177762516dd89615ea68.png">
            <a:extLst>
              <a:ext uri="{FF2B5EF4-FFF2-40B4-BE49-F238E27FC236}">
                <a16:creationId xmlns:a16="http://schemas.microsoft.com/office/drawing/2014/main" id="{DBB914E7-7CAC-44B2-57A7-E24AA3243054}"/>
              </a:ext>
            </a:extLst>
          </p:cNvPr>
          <p:cNvPicPr>
            <a:picLocks noChangeAspect="1"/>
          </p:cNvPicPr>
          <p:nvPr/>
        </p:nvPicPr>
        <p:blipFill>
          <a:blip r:embed="rId6"/>
          <a:srcRect t="-217" b="-217"/>
          <a:stretch/>
        </p:blipFill>
        <p:spPr>
          <a:xfrm>
            <a:off x="457200" y="439826"/>
            <a:ext cx="75895" cy="476402"/>
          </a:xfrm>
          <a:prstGeom prst="rect">
            <a:avLst/>
          </a:prstGeom>
        </p:spPr>
      </p:pic>
      <p:sp>
        <p:nvSpPr>
          <p:cNvPr id="9" name="Text 3">
            <a:extLst>
              <a:ext uri="{FF2B5EF4-FFF2-40B4-BE49-F238E27FC236}">
                <a16:creationId xmlns:a16="http://schemas.microsoft.com/office/drawing/2014/main" id="{1C51DAEE-6AF9-9607-3EE6-CAEBF6FCD705}"/>
              </a:ext>
            </a:extLst>
          </p:cNvPr>
          <p:cNvSpPr txBox="1"/>
          <p:nvPr/>
        </p:nvSpPr>
        <p:spPr>
          <a:xfrm>
            <a:off x="724205" y="286207"/>
            <a:ext cx="5162702" cy="419710"/>
          </a:xfrm>
          <a:prstGeom prst="rect">
            <a:avLst/>
          </a:prstGeom>
          <a:noFill/>
          <a:ln/>
        </p:spPr>
        <p:txBody>
          <a:bodyPr wrap="none" lIns="0" tIns="0" rIns="0" bIns="0" rtlCol="0" anchor="ctr"/>
          <a:lstStyle/>
          <a:p>
            <a:pPr marL="0" indent="0" algn="l">
              <a:buNone/>
            </a:pPr>
            <a:r>
              <a:rPr lang="en-US" sz="3300" b="1" kern="0" spc="-82">
                <a:solidFill>
                  <a:srgbClr val="111827"/>
                </a:solidFill>
                <a:latin typeface="Oswald" pitchFamily="34" charset="0"/>
                <a:ea typeface="Oswald" pitchFamily="34" charset="-122"/>
                <a:cs typeface="Oswald" pitchFamily="34" charset="-120"/>
              </a:rPr>
              <a:t>TAILORED APPROACH</a:t>
            </a:r>
            <a:endParaRPr lang="en-US" sz="3300"/>
          </a:p>
        </p:txBody>
      </p:sp>
      <p:sp>
        <p:nvSpPr>
          <p:cNvPr id="10" name="Text 4">
            <a:extLst>
              <a:ext uri="{FF2B5EF4-FFF2-40B4-BE49-F238E27FC236}">
                <a16:creationId xmlns:a16="http://schemas.microsoft.com/office/drawing/2014/main" id="{46C6FDC3-1406-99B3-22CD-791C2A6B0DD2}"/>
              </a:ext>
            </a:extLst>
          </p:cNvPr>
          <p:cNvSpPr txBox="1"/>
          <p:nvPr/>
        </p:nvSpPr>
        <p:spPr>
          <a:xfrm>
            <a:off x="724205" y="761695"/>
            <a:ext cx="5848502" cy="314554"/>
          </a:xfrm>
          <a:prstGeom prst="rect">
            <a:avLst/>
          </a:prstGeom>
          <a:noFill/>
          <a:ln/>
        </p:spPr>
        <p:txBody>
          <a:bodyPr wrap="none" lIns="0" tIns="0" rIns="0" bIns="0" rtlCol="0" anchor="ctr"/>
          <a:lstStyle/>
          <a:p>
            <a:pPr marL="0" indent="0" algn="l">
              <a:buNone/>
            </a:pPr>
            <a:r>
              <a:rPr lang="en-US" sz="1600" b="1" kern="0" spc="81" dirty="0" err="1">
                <a:solidFill>
                  <a:srgbClr val="2A9D8F"/>
                </a:solidFill>
                <a:latin typeface="Roboto Condensed" pitchFamily="34" charset="0"/>
                <a:ea typeface="Roboto Condensed" pitchFamily="34" charset="-122"/>
                <a:cs typeface="Roboto Condensed" pitchFamily="34" charset="-120"/>
              </a:rPr>
              <a:t>JoulestoWatts</a:t>
            </a:r>
            <a:r>
              <a:rPr lang="en-US" sz="1600" b="1" kern="0" spc="81" dirty="0">
                <a:solidFill>
                  <a:srgbClr val="2A9D8F"/>
                </a:solidFill>
                <a:latin typeface="Roboto Condensed" pitchFamily="34" charset="0"/>
                <a:ea typeface="Roboto Condensed" pitchFamily="34" charset="-122"/>
                <a:cs typeface="Roboto Condensed" pitchFamily="34" charset="-120"/>
              </a:rPr>
              <a:t> — Tailored Approach For [Client]</a:t>
            </a:r>
            <a:endParaRPr lang="en-US" sz="1600" dirty="0"/>
          </a:p>
        </p:txBody>
      </p:sp>
      <p:sp>
        <p:nvSpPr>
          <p:cNvPr id="11" name="Shape 5">
            <a:extLst>
              <a:ext uri="{FF2B5EF4-FFF2-40B4-BE49-F238E27FC236}">
                <a16:creationId xmlns:a16="http://schemas.microsoft.com/office/drawing/2014/main" id="{1DF6EAD2-5567-3E85-2BB2-10F941B5BE5C}"/>
              </a:ext>
            </a:extLst>
          </p:cNvPr>
          <p:cNvSpPr/>
          <p:nvPr/>
        </p:nvSpPr>
        <p:spPr>
          <a:xfrm>
            <a:off x="724205" y="1185062"/>
            <a:ext cx="19202" cy="267005"/>
          </a:xfrm>
          <a:prstGeom prst="rect">
            <a:avLst/>
          </a:prstGeom>
          <a:solidFill>
            <a:srgbClr val="E5E7EB"/>
          </a:solidFill>
          <a:ln w="12700">
            <a:solidFill>
              <a:srgbClr val="E5E7EB">
                <a:alpha val="0"/>
              </a:srgbClr>
            </a:solidFill>
            <a:prstDash val="solid"/>
          </a:ln>
        </p:spPr>
        <p:txBody>
          <a:bodyPr/>
          <a:lstStyle/>
          <a:p>
            <a:endParaRPr lang="en-US"/>
          </a:p>
        </p:txBody>
      </p:sp>
      <p:sp>
        <p:nvSpPr>
          <p:cNvPr id="12" name="Text 6">
            <a:extLst>
              <a:ext uri="{FF2B5EF4-FFF2-40B4-BE49-F238E27FC236}">
                <a16:creationId xmlns:a16="http://schemas.microsoft.com/office/drawing/2014/main" id="{06C39EE7-0BFF-562D-E09A-AE50EF2C38F7}"/>
              </a:ext>
            </a:extLst>
          </p:cNvPr>
          <p:cNvSpPr txBox="1"/>
          <p:nvPr/>
        </p:nvSpPr>
        <p:spPr>
          <a:xfrm>
            <a:off x="857707" y="1185062"/>
            <a:ext cx="8172907" cy="267005"/>
          </a:xfrm>
          <a:prstGeom prst="rect">
            <a:avLst/>
          </a:prstGeom>
          <a:solidFill>
            <a:srgbClr val="FFFFFF">
              <a:alpha val="0"/>
            </a:srgbClr>
          </a:solidFill>
          <a:ln>
            <a:solidFill>
              <a:srgbClr val="FFFFFF">
                <a:alpha val="0"/>
              </a:srgbClr>
            </a:solidFill>
          </a:ln>
        </p:spPr>
        <p:txBody>
          <a:bodyPr wrap="non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Addressing [CLIENT]'s talent challenges with precision.</a:t>
            </a:r>
            <a:endParaRPr lang="en-US" sz="1300"/>
          </a:p>
        </p:txBody>
      </p:sp>
      <p:pic>
        <p:nvPicPr>
          <p:cNvPr id="15" name="Image 4" descr="gen-dedup-95d112f40cf296f81bdd24a7d4987a4a.png">
            <a:extLst>
              <a:ext uri="{FF2B5EF4-FFF2-40B4-BE49-F238E27FC236}">
                <a16:creationId xmlns:a16="http://schemas.microsoft.com/office/drawing/2014/main" id="{6D5E7822-1699-930D-7FA1-07E94783FC62}"/>
              </a:ext>
            </a:extLst>
          </p:cNvPr>
          <p:cNvPicPr>
            <a:picLocks noChangeAspect="1"/>
          </p:cNvPicPr>
          <p:nvPr/>
        </p:nvPicPr>
        <p:blipFill>
          <a:blip r:embed="rId7"/>
          <a:srcRect l="-7" r="-7"/>
          <a:stretch/>
        </p:blipFill>
        <p:spPr>
          <a:xfrm>
            <a:off x="457200" y="1571854"/>
            <a:ext cx="5524805" cy="2428646"/>
          </a:xfrm>
          <a:prstGeom prst="rect">
            <a:avLst/>
          </a:prstGeom>
        </p:spPr>
      </p:pic>
      <p:sp>
        <p:nvSpPr>
          <p:cNvPr id="16" name="Shape 9">
            <a:extLst>
              <a:ext uri="{FF2B5EF4-FFF2-40B4-BE49-F238E27FC236}">
                <a16:creationId xmlns:a16="http://schemas.microsoft.com/office/drawing/2014/main" id="{23DFA1FD-6024-96F8-30D8-5F2F1DCEFBB2}"/>
              </a:ext>
            </a:extLst>
          </p:cNvPr>
          <p:cNvSpPr/>
          <p:nvPr/>
        </p:nvSpPr>
        <p:spPr>
          <a:xfrm>
            <a:off x="5219395" y="1571854"/>
            <a:ext cx="761695" cy="761695"/>
          </a:xfrm>
          <a:prstGeom prst="rect">
            <a:avLst/>
          </a:prstGeom>
          <a:solidFill>
            <a:srgbClr val="000000">
              <a:alpha val="2000"/>
            </a:srgbClr>
          </a:solidFill>
          <a:ln w="12700">
            <a:solidFill>
              <a:srgbClr val="FFFFFF">
                <a:alpha val="0"/>
              </a:srgbClr>
            </a:solidFill>
            <a:prstDash val="solid"/>
          </a:ln>
        </p:spPr>
        <p:txBody>
          <a:bodyPr/>
          <a:lstStyle/>
          <a:p>
            <a:endParaRPr lang="en-US"/>
          </a:p>
        </p:txBody>
      </p:sp>
      <p:sp>
        <p:nvSpPr>
          <p:cNvPr id="17" name="Shape 10">
            <a:extLst>
              <a:ext uri="{FF2B5EF4-FFF2-40B4-BE49-F238E27FC236}">
                <a16:creationId xmlns:a16="http://schemas.microsoft.com/office/drawing/2014/main" id="{A863C90A-CE16-12AA-698C-0AF334F0C167}"/>
              </a:ext>
            </a:extLst>
          </p:cNvPr>
          <p:cNvSpPr/>
          <p:nvPr/>
        </p:nvSpPr>
        <p:spPr>
          <a:xfrm>
            <a:off x="685800" y="1848002"/>
            <a:ext cx="428854" cy="428854"/>
          </a:xfrm>
          <a:prstGeom prst="roundRect">
            <a:avLst>
              <a:gd name="adj" fmla="val 22175"/>
            </a:avLst>
          </a:prstGeom>
          <a:solidFill>
            <a:srgbClr val="2A9D8F">
              <a:alpha val="8000"/>
            </a:srgbClr>
          </a:solidFill>
          <a:ln w="12700">
            <a:solidFill>
              <a:srgbClr val="FFFFFF">
                <a:alpha val="0"/>
              </a:srgbClr>
            </a:solidFill>
            <a:prstDash val="solid"/>
          </a:ln>
        </p:spPr>
        <p:txBody>
          <a:bodyPr/>
          <a:lstStyle/>
          <a:p>
            <a:endParaRPr lang="en-US"/>
          </a:p>
        </p:txBody>
      </p:sp>
      <p:pic>
        <p:nvPicPr>
          <p:cNvPr id="18" name="Image 5" descr="gen-dedup-05ba22bc3988e5bbe03600cefb5c4c1e.png">
            <a:extLst>
              <a:ext uri="{FF2B5EF4-FFF2-40B4-BE49-F238E27FC236}">
                <a16:creationId xmlns:a16="http://schemas.microsoft.com/office/drawing/2014/main" id="{E41CE03E-C47D-C9A0-A6FB-C97036914D01}"/>
              </a:ext>
            </a:extLst>
          </p:cNvPr>
          <p:cNvPicPr>
            <a:picLocks noChangeAspect="1"/>
          </p:cNvPicPr>
          <p:nvPr/>
        </p:nvPicPr>
        <p:blipFill>
          <a:blip r:embed="rId8"/>
          <a:srcRect t="-13131" b="-13131"/>
          <a:stretch/>
        </p:blipFill>
        <p:spPr>
          <a:xfrm>
            <a:off x="809244" y="1947672"/>
            <a:ext cx="181051" cy="228600"/>
          </a:xfrm>
          <a:prstGeom prst="rect">
            <a:avLst/>
          </a:prstGeom>
        </p:spPr>
      </p:pic>
      <p:sp>
        <p:nvSpPr>
          <p:cNvPr id="19" name="Text 11">
            <a:extLst>
              <a:ext uri="{FF2B5EF4-FFF2-40B4-BE49-F238E27FC236}">
                <a16:creationId xmlns:a16="http://schemas.microsoft.com/office/drawing/2014/main" id="{3B0171A3-2D1D-15A0-A793-09400DC0C07F}"/>
              </a:ext>
            </a:extLst>
          </p:cNvPr>
          <p:cNvSpPr txBox="1"/>
          <p:nvPr/>
        </p:nvSpPr>
        <p:spPr>
          <a:xfrm>
            <a:off x="5508346" y="1772107"/>
            <a:ext cx="451714" cy="514807"/>
          </a:xfrm>
          <a:prstGeom prst="rect">
            <a:avLst/>
          </a:prstGeom>
          <a:noFill/>
          <a:ln/>
        </p:spPr>
        <p:txBody>
          <a:bodyPr wrap="none" lIns="0" tIns="0" rIns="0" bIns="0" rtlCol="0" anchor="ctr"/>
          <a:lstStyle/>
          <a:p>
            <a:pPr marL="0" indent="0" algn="l">
              <a:buNone/>
            </a:pPr>
            <a:r>
              <a:rPr lang="en-US" sz="2700" b="1">
                <a:solidFill>
                  <a:srgbClr val="F3F4F6"/>
                </a:solidFill>
                <a:latin typeface="Oswald" pitchFamily="34" charset="0"/>
                <a:ea typeface="Oswald" pitchFamily="34" charset="-122"/>
                <a:cs typeface="Oswald" pitchFamily="34" charset="-120"/>
              </a:rPr>
              <a:t>01</a:t>
            </a:r>
            <a:endParaRPr lang="en-US" sz="2700"/>
          </a:p>
        </p:txBody>
      </p:sp>
      <p:sp>
        <p:nvSpPr>
          <p:cNvPr id="20" name="Text 12">
            <a:extLst>
              <a:ext uri="{FF2B5EF4-FFF2-40B4-BE49-F238E27FC236}">
                <a16:creationId xmlns:a16="http://schemas.microsoft.com/office/drawing/2014/main" id="{3DC7178B-0677-F7E2-9E49-2B4844FE134F}"/>
              </a:ext>
            </a:extLst>
          </p:cNvPr>
          <p:cNvSpPr txBox="1"/>
          <p:nvPr/>
        </p:nvSpPr>
        <p:spPr>
          <a:xfrm>
            <a:off x="685800" y="2391156"/>
            <a:ext cx="5067605" cy="277063"/>
          </a:xfrm>
          <a:prstGeom prst="rect">
            <a:avLst/>
          </a:prstGeom>
          <a:noFill/>
          <a:ln/>
        </p:spPr>
        <p:txBody>
          <a:bodyPr wrap="non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[Solution 1 Title]</a:t>
            </a:r>
            <a:endParaRPr lang="en-US" sz="1800"/>
          </a:p>
        </p:txBody>
      </p:sp>
      <p:sp>
        <p:nvSpPr>
          <p:cNvPr id="21" name="Text 13">
            <a:extLst>
              <a:ext uri="{FF2B5EF4-FFF2-40B4-BE49-F238E27FC236}">
                <a16:creationId xmlns:a16="http://schemas.microsoft.com/office/drawing/2014/main" id="{EEA57806-EC40-49D0-D6C2-2D98B4DFBEDC}"/>
              </a:ext>
            </a:extLst>
          </p:cNvPr>
          <p:cNvSpPr txBox="1"/>
          <p:nvPr/>
        </p:nvSpPr>
        <p:spPr>
          <a:xfrm>
            <a:off x="685800" y="2779776"/>
            <a:ext cx="5067605" cy="609905"/>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e.g. Dedicated CA Talent Pipeline — Pre-mapped, warm bench of Chartered Accountants across PE, renewables, infra. Proactive sourcing from campus, Big 4, competitor pools — ready before demand hits.</a:t>
            </a:r>
            <a:endParaRPr lang="en-US" sz="1100"/>
          </a:p>
        </p:txBody>
      </p:sp>
      <p:sp>
        <p:nvSpPr>
          <p:cNvPr id="22" name="Shape 14">
            <a:extLst>
              <a:ext uri="{FF2B5EF4-FFF2-40B4-BE49-F238E27FC236}">
                <a16:creationId xmlns:a16="http://schemas.microsoft.com/office/drawing/2014/main" id="{2A23ACFE-017B-B89F-192A-C2CE4BE601FC}"/>
              </a:ext>
            </a:extLst>
          </p:cNvPr>
          <p:cNvSpPr/>
          <p:nvPr/>
        </p:nvSpPr>
        <p:spPr>
          <a:xfrm>
            <a:off x="685800" y="3387852"/>
            <a:ext cx="5067605" cy="437998"/>
          </a:xfrm>
          <a:prstGeom prst="roundRect">
            <a:avLst>
              <a:gd name="adj" fmla="val 17328"/>
            </a:avLst>
          </a:prstGeom>
          <a:solidFill>
            <a:srgbClr val="F9FAFB"/>
          </a:solidFill>
          <a:ln/>
        </p:spPr>
        <p:txBody>
          <a:bodyPr/>
          <a:lstStyle/>
          <a:p>
            <a:endParaRPr lang="en-US"/>
          </a:p>
        </p:txBody>
      </p:sp>
      <p:sp>
        <p:nvSpPr>
          <p:cNvPr id="23" name="Shape 15">
            <a:extLst>
              <a:ext uri="{FF2B5EF4-FFF2-40B4-BE49-F238E27FC236}">
                <a16:creationId xmlns:a16="http://schemas.microsoft.com/office/drawing/2014/main" id="{E5DAC0CC-8B22-00B0-D00C-BD9FC8CEF060}"/>
              </a:ext>
            </a:extLst>
          </p:cNvPr>
          <p:cNvSpPr/>
          <p:nvPr/>
        </p:nvSpPr>
        <p:spPr>
          <a:xfrm>
            <a:off x="685800" y="3387852"/>
            <a:ext cx="38405" cy="437998"/>
          </a:xfrm>
          <a:prstGeom prst="roundRect">
            <a:avLst>
              <a:gd name="adj" fmla="val 197618"/>
            </a:avLst>
          </a:prstGeom>
          <a:solidFill>
            <a:srgbClr val="000000"/>
          </a:solidFill>
          <a:ln w="12700">
            <a:solidFill>
              <a:srgbClr val="000000">
                <a:alpha val="0"/>
              </a:srgbClr>
            </a:solidFill>
            <a:prstDash val="solid"/>
          </a:ln>
        </p:spPr>
        <p:txBody>
          <a:bodyPr/>
          <a:lstStyle/>
          <a:p>
            <a:endParaRPr lang="en-US"/>
          </a:p>
        </p:txBody>
      </p:sp>
      <p:sp>
        <p:nvSpPr>
          <p:cNvPr id="24" name="Text 16">
            <a:extLst>
              <a:ext uri="{FF2B5EF4-FFF2-40B4-BE49-F238E27FC236}">
                <a16:creationId xmlns:a16="http://schemas.microsoft.com/office/drawing/2014/main" id="{CBFA6F2A-4AA8-1C83-3E75-78E595CCE462}"/>
              </a:ext>
            </a:extLst>
          </p:cNvPr>
          <p:cNvSpPr txBox="1"/>
          <p:nvPr/>
        </p:nvSpPr>
        <p:spPr>
          <a:xfrm>
            <a:off x="1057046" y="3502152"/>
            <a:ext cx="4543654" cy="210312"/>
          </a:xfrm>
          <a:prstGeom prst="rect">
            <a:avLst/>
          </a:prstGeom>
          <a:noFill/>
          <a:ln/>
        </p:spPr>
        <p:txBody>
          <a:bodyPr wrap="non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Solves: Niche Talent + Sporadic Demand</a:t>
            </a:r>
            <a:endParaRPr lang="en-US" sz="1000"/>
          </a:p>
        </p:txBody>
      </p:sp>
      <p:pic>
        <p:nvPicPr>
          <p:cNvPr id="25" name="Image 6" descr="gen-dedup-b5a86b1bccfd13e1ee7bd0a5c9907751.png">
            <a:extLst>
              <a:ext uri="{FF2B5EF4-FFF2-40B4-BE49-F238E27FC236}">
                <a16:creationId xmlns:a16="http://schemas.microsoft.com/office/drawing/2014/main" id="{9D83D374-D078-A731-7447-EAC7EC744FEE}"/>
              </a:ext>
            </a:extLst>
          </p:cNvPr>
          <p:cNvPicPr>
            <a:picLocks noChangeAspect="1"/>
          </p:cNvPicPr>
          <p:nvPr/>
        </p:nvPicPr>
        <p:blipFill>
          <a:blip r:embed="rId9"/>
          <a:srcRect t="-13478" b="-13478"/>
          <a:stretch/>
        </p:blipFill>
        <p:spPr>
          <a:xfrm>
            <a:off x="875995" y="3537814"/>
            <a:ext cx="105156" cy="133502"/>
          </a:xfrm>
          <a:prstGeom prst="rect">
            <a:avLst/>
          </a:prstGeom>
        </p:spPr>
      </p:pic>
      <p:pic>
        <p:nvPicPr>
          <p:cNvPr id="26" name="Image 7" descr="gen-dedup-95d112f40cf296f81bdd24a7d4987a4a.png">
            <a:extLst>
              <a:ext uri="{FF2B5EF4-FFF2-40B4-BE49-F238E27FC236}">
                <a16:creationId xmlns:a16="http://schemas.microsoft.com/office/drawing/2014/main" id="{98F42680-DF22-8FF5-A7B8-81C23A5BF5F6}"/>
              </a:ext>
            </a:extLst>
          </p:cNvPr>
          <p:cNvPicPr>
            <a:picLocks noChangeAspect="1"/>
          </p:cNvPicPr>
          <p:nvPr/>
        </p:nvPicPr>
        <p:blipFill>
          <a:blip r:embed="rId7"/>
          <a:srcRect l="-7" r="-7"/>
          <a:stretch/>
        </p:blipFill>
        <p:spPr>
          <a:xfrm>
            <a:off x="6210605" y="1571854"/>
            <a:ext cx="5524805" cy="2428646"/>
          </a:xfrm>
          <a:prstGeom prst="rect">
            <a:avLst/>
          </a:prstGeom>
        </p:spPr>
      </p:pic>
      <p:sp>
        <p:nvSpPr>
          <p:cNvPr id="27" name="Shape 17">
            <a:extLst>
              <a:ext uri="{FF2B5EF4-FFF2-40B4-BE49-F238E27FC236}">
                <a16:creationId xmlns:a16="http://schemas.microsoft.com/office/drawing/2014/main" id="{59CDE63D-E081-7A87-608B-EE7D13539150}"/>
              </a:ext>
            </a:extLst>
          </p:cNvPr>
          <p:cNvSpPr/>
          <p:nvPr/>
        </p:nvSpPr>
        <p:spPr>
          <a:xfrm>
            <a:off x="10972800" y="1571854"/>
            <a:ext cx="761695" cy="761695"/>
          </a:xfrm>
          <a:prstGeom prst="rect">
            <a:avLst/>
          </a:prstGeom>
          <a:solidFill>
            <a:srgbClr val="000000">
              <a:alpha val="2000"/>
            </a:srgbClr>
          </a:solidFill>
          <a:ln w="12700">
            <a:solidFill>
              <a:srgbClr val="FFFFFF">
                <a:alpha val="0"/>
              </a:srgbClr>
            </a:solidFill>
            <a:prstDash val="solid"/>
          </a:ln>
        </p:spPr>
        <p:txBody>
          <a:bodyPr/>
          <a:lstStyle/>
          <a:p>
            <a:endParaRPr lang="en-US"/>
          </a:p>
        </p:txBody>
      </p:sp>
      <p:sp>
        <p:nvSpPr>
          <p:cNvPr id="28" name="Shape 18">
            <a:extLst>
              <a:ext uri="{FF2B5EF4-FFF2-40B4-BE49-F238E27FC236}">
                <a16:creationId xmlns:a16="http://schemas.microsoft.com/office/drawing/2014/main" id="{1D219710-C70F-7BF9-DC5C-EC4178B5A333}"/>
              </a:ext>
            </a:extLst>
          </p:cNvPr>
          <p:cNvSpPr/>
          <p:nvPr/>
        </p:nvSpPr>
        <p:spPr>
          <a:xfrm>
            <a:off x="6439205" y="1848002"/>
            <a:ext cx="428854" cy="428854"/>
          </a:xfrm>
          <a:prstGeom prst="roundRect">
            <a:avLst>
              <a:gd name="adj" fmla="val 22175"/>
            </a:avLst>
          </a:prstGeom>
          <a:solidFill>
            <a:srgbClr val="D62839">
              <a:alpha val="5000"/>
            </a:srgbClr>
          </a:solidFill>
          <a:ln w="12700">
            <a:solidFill>
              <a:srgbClr val="FFFFFF">
                <a:alpha val="0"/>
              </a:srgbClr>
            </a:solidFill>
            <a:prstDash val="solid"/>
          </a:ln>
        </p:spPr>
        <p:txBody>
          <a:bodyPr/>
          <a:lstStyle/>
          <a:p>
            <a:endParaRPr lang="en-US"/>
          </a:p>
        </p:txBody>
      </p:sp>
      <p:pic>
        <p:nvPicPr>
          <p:cNvPr id="29" name="Image 8" descr="gen-dedup-bcfe80973f057fc6d9d91d2ed63b3815.png">
            <a:extLst>
              <a:ext uri="{FF2B5EF4-FFF2-40B4-BE49-F238E27FC236}">
                <a16:creationId xmlns:a16="http://schemas.microsoft.com/office/drawing/2014/main" id="{CB0C3DF3-A0E0-B95D-E139-66C6063BB6FE}"/>
              </a:ext>
            </a:extLst>
          </p:cNvPr>
          <p:cNvPicPr>
            <a:picLocks noChangeAspect="1"/>
          </p:cNvPicPr>
          <p:nvPr/>
        </p:nvPicPr>
        <p:blipFill>
          <a:blip r:embed="rId10"/>
          <a:srcRect t="-28914" b="-28914"/>
          <a:stretch/>
        </p:blipFill>
        <p:spPr>
          <a:xfrm>
            <a:off x="6562649" y="1947672"/>
            <a:ext cx="181051" cy="228600"/>
          </a:xfrm>
          <a:prstGeom prst="rect">
            <a:avLst/>
          </a:prstGeom>
        </p:spPr>
      </p:pic>
      <p:sp>
        <p:nvSpPr>
          <p:cNvPr id="30" name="Text 19">
            <a:extLst>
              <a:ext uri="{FF2B5EF4-FFF2-40B4-BE49-F238E27FC236}">
                <a16:creationId xmlns:a16="http://schemas.microsoft.com/office/drawing/2014/main" id="{50F73662-D535-3E4F-31AE-AED70562AA01}"/>
              </a:ext>
            </a:extLst>
          </p:cNvPr>
          <p:cNvSpPr txBox="1"/>
          <p:nvPr/>
        </p:nvSpPr>
        <p:spPr>
          <a:xfrm>
            <a:off x="11217859" y="1772107"/>
            <a:ext cx="455371" cy="514807"/>
          </a:xfrm>
          <a:prstGeom prst="rect">
            <a:avLst/>
          </a:prstGeom>
          <a:noFill/>
          <a:ln/>
        </p:spPr>
        <p:txBody>
          <a:bodyPr wrap="none" lIns="0" tIns="0" rIns="0" bIns="0" rtlCol="0" anchor="ctr"/>
          <a:lstStyle/>
          <a:p>
            <a:pPr marL="0" indent="0" algn="l">
              <a:buNone/>
            </a:pPr>
            <a:r>
              <a:rPr lang="en-US" sz="2700" b="1">
                <a:solidFill>
                  <a:srgbClr val="F3F4F6"/>
                </a:solidFill>
                <a:latin typeface="Oswald" pitchFamily="34" charset="0"/>
                <a:ea typeface="Oswald" pitchFamily="34" charset="-122"/>
                <a:cs typeface="Oswald" pitchFamily="34" charset="-120"/>
              </a:rPr>
              <a:t>02</a:t>
            </a:r>
            <a:endParaRPr lang="en-US" sz="2700"/>
          </a:p>
        </p:txBody>
      </p:sp>
      <p:sp>
        <p:nvSpPr>
          <p:cNvPr id="31" name="Text 20">
            <a:extLst>
              <a:ext uri="{FF2B5EF4-FFF2-40B4-BE49-F238E27FC236}">
                <a16:creationId xmlns:a16="http://schemas.microsoft.com/office/drawing/2014/main" id="{292A9FFF-87CF-1B1D-FC17-31866FCBA553}"/>
              </a:ext>
            </a:extLst>
          </p:cNvPr>
          <p:cNvSpPr txBox="1"/>
          <p:nvPr/>
        </p:nvSpPr>
        <p:spPr>
          <a:xfrm>
            <a:off x="6439205" y="2391156"/>
            <a:ext cx="5067605" cy="277063"/>
          </a:xfrm>
          <a:prstGeom prst="rect">
            <a:avLst/>
          </a:prstGeom>
          <a:noFill/>
          <a:ln/>
        </p:spPr>
        <p:txBody>
          <a:bodyPr wrap="non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[Solution 2 Title]</a:t>
            </a:r>
            <a:endParaRPr lang="en-US" sz="1800"/>
          </a:p>
        </p:txBody>
      </p:sp>
      <p:sp>
        <p:nvSpPr>
          <p:cNvPr id="32" name="Text 21">
            <a:extLst>
              <a:ext uri="{FF2B5EF4-FFF2-40B4-BE49-F238E27FC236}">
                <a16:creationId xmlns:a16="http://schemas.microsoft.com/office/drawing/2014/main" id="{0BAC202A-C17A-A1FE-2AC8-3C6C6DA3D4A4}"/>
              </a:ext>
            </a:extLst>
          </p:cNvPr>
          <p:cNvSpPr txBox="1"/>
          <p:nvPr/>
        </p:nvSpPr>
        <p:spPr>
          <a:xfrm>
            <a:off x="6439205" y="2779776"/>
            <a:ext cx="5067605" cy="609905"/>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e.g. Candidate Commitment Engine — Structured 90-day POFU: milestone touchpoints, early virtual onboarding, manager connects, counter-offer inoculation. Reduces offer drop from [X]% to single digits.</a:t>
            </a:r>
            <a:endParaRPr lang="en-US" sz="1100"/>
          </a:p>
        </p:txBody>
      </p:sp>
      <p:sp>
        <p:nvSpPr>
          <p:cNvPr id="33" name="Shape 22">
            <a:extLst>
              <a:ext uri="{FF2B5EF4-FFF2-40B4-BE49-F238E27FC236}">
                <a16:creationId xmlns:a16="http://schemas.microsoft.com/office/drawing/2014/main" id="{5459C077-7B78-8C9B-7A44-1674B605D3A6}"/>
              </a:ext>
            </a:extLst>
          </p:cNvPr>
          <p:cNvSpPr/>
          <p:nvPr/>
        </p:nvSpPr>
        <p:spPr>
          <a:xfrm>
            <a:off x="6439205" y="3387852"/>
            <a:ext cx="5067605" cy="437998"/>
          </a:xfrm>
          <a:prstGeom prst="roundRect">
            <a:avLst>
              <a:gd name="adj" fmla="val 17328"/>
            </a:avLst>
          </a:prstGeom>
          <a:solidFill>
            <a:srgbClr val="F9FAFB"/>
          </a:solidFill>
          <a:ln/>
        </p:spPr>
        <p:txBody>
          <a:bodyPr/>
          <a:lstStyle/>
          <a:p>
            <a:endParaRPr lang="en-US"/>
          </a:p>
        </p:txBody>
      </p:sp>
      <p:sp>
        <p:nvSpPr>
          <p:cNvPr id="34" name="Shape 23">
            <a:extLst>
              <a:ext uri="{FF2B5EF4-FFF2-40B4-BE49-F238E27FC236}">
                <a16:creationId xmlns:a16="http://schemas.microsoft.com/office/drawing/2014/main" id="{CB5721C4-BD6C-56E8-C256-8CCAB4DDA64F}"/>
              </a:ext>
            </a:extLst>
          </p:cNvPr>
          <p:cNvSpPr/>
          <p:nvPr/>
        </p:nvSpPr>
        <p:spPr>
          <a:xfrm>
            <a:off x="6439205" y="3387852"/>
            <a:ext cx="38405" cy="437998"/>
          </a:xfrm>
          <a:prstGeom prst="roundRect">
            <a:avLst>
              <a:gd name="adj" fmla="val 197618"/>
            </a:avLst>
          </a:prstGeom>
          <a:solidFill>
            <a:srgbClr val="000000"/>
          </a:solidFill>
          <a:ln w="12700">
            <a:solidFill>
              <a:srgbClr val="000000">
                <a:alpha val="0"/>
              </a:srgbClr>
            </a:solidFill>
            <a:prstDash val="solid"/>
          </a:ln>
        </p:spPr>
        <p:txBody>
          <a:bodyPr/>
          <a:lstStyle/>
          <a:p>
            <a:endParaRPr lang="en-US"/>
          </a:p>
        </p:txBody>
      </p:sp>
      <p:sp>
        <p:nvSpPr>
          <p:cNvPr id="35" name="Text 24">
            <a:extLst>
              <a:ext uri="{FF2B5EF4-FFF2-40B4-BE49-F238E27FC236}">
                <a16:creationId xmlns:a16="http://schemas.microsoft.com/office/drawing/2014/main" id="{5FA5C261-AD36-C711-6311-0EC1AB750CB0}"/>
              </a:ext>
            </a:extLst>
          </p:cNvPr>
          <p:cNvSpPr txBox="1"/>
          <p:nvPr/>
        </p:nvSpPr>
        <p:spPr>
          <a:xfrm>
            <a:off x="6810451" y="3502152"/>
            <a:ext cx="4543654" cy="210312"/>
          </a:xfrm>
          <a:prstGeom prst="rect">
            <a:avLst/>
          </a:prstGeom>
          <a:noFill/>
          <a:ln/>
        </p:spPr>
        <p:txBody>
          <a:bodyPr wrap="non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Solves: Offer Dropouts + Notice Period</a:t>
            </a:r>
            <a:endParaRPr lang="en-US" sz="1000"/>
          </a:p>
        </p:txBody>
      </p:sp>
      <p:pic>
        <p:nvPicPr>
          <p:cNvPr id="36" name="Image 9" descr="gen-dedup-812f619697984955bda52af315dc5a08.png">
            <a:extLst>
              <a:ext uri="{FF2B5EF4-FFF2-40B4-BE49-F238E27FC236}">
                <a16:creationId xmlns:a16="http://schemas.microsoft.com/office/drawing/2014/main" id="{D7BD82F6-F3AF-8D2E-0017-6772B8E7489B}"/>
              </a:ext>
            </a:extLst>
          </p:cNvPr>
          <p:cNvPicPr>
            <a:picLocks noChangeAspect="1"/>
          </p:cNvPicPr>
          <p:nvPr/>
        </p:nvPicPr>
        <p:blipFill>
          <a:blip r:embed="rId11"/>
          <a:srcRect t="-13478" b="-13478"/>
          <a:stretch/>
        </p:blipFill>
        <p:spPr>
          <a:xfrm>
            <a:off x="6629400" y="3537814"/>
            <a:ext cx="105156" cy="133502"/>
          </a:xfrm>
          <a:prstGeom prst="rect">
            <a:avLst/>
          </a:prstGeom>
        </p:spPr>
      </p:pic>
      <p:pic>
        <p:nvPicPr>
          <p:cNvPr id="37" name="Image 10" descr="gen-dedup-95d112f40cf296f81bdd24a7d4987a4a.png">
            <a:extLst>
              <a:ext uri="{FF2B5EF4-FFF2-40B4-BE49-F238E27FC236}">
                <a16:creationId xmlns:a16="http://schemas.microsoft.com/office/drawing/2014/main" id="{ED999605-4D8E-47E0-5669-A0F7FB4A65BB}"/>
              </a:ext>
            </a:extLst>
          </p:cNvPr>
          <p:cNvPicPr>
            <a:picLocks noChangeAspect="1"/>
          </p:cNvPicPr>
          <p:nvPr/>
        </p:nvPicPr>
        <p:blipFill>
          <a:blip r:embed="rId7"/>
          <a:srcRect l="-7" r="-7"/>
          <a:stretch/>
        </p:blipFill>
        <p:spPr>
          <a:xfrm>
            <a:off x="457200" y="4143146"/>
            <a:ext cx="5524805" cy="2428646"/>
          </a:xfrm>
          <a:prstGeom prst="rect">
            <a:avLst/>
          </a:prstGeom>
        </p:spPr>
      </p:pic>
      <p:sp>
        <p:nvSpPr>
          <p:cNvPr id="38" name="Shape 25">
            <a:extLst>
              <a:ext uri="{FF2B5EF4-FFF2-40B4-BE49-F238E27FC236}">
                <a16:creationId xmlns:a16="http://schemas.microsoft.com/office/drawing/2014/main" id="{04E5F171-17C4-C41D-C603-F306BD353213}"/>
              </a:ext>
            </a:extLst>
          </p:cNvPr>
          <p:cNvSpPr/>
          <p:nvPr/>
        </p:nvSpPr>
        <p:spPr>
          <a:xfrm>
            <a:off x="5219395" y="4143146"/>
            <a:ext cx="761695" cy="761695"/>
          </a:xfrm>
          <a:prstGeom prst="rect">
            <a:avLst/>
          </a:prstGeom>
          <a:solidFill>
            <a:srgbClr val="000000">
              <a:alpha val="2000"/>
            </a:srgbClr>
          </a:solidFill>
          <a:ln w="12700">
            <a:solidFill>
              <a:srgbClr val="FFFFFF">
                <a:alpha val="0"/>
              </a:srgbClr>
            </a:solidFill>
            <a:prstDash val="solid"/>
          </a:ln>
        </p:spPr>
        <p:txBody>
          <a:bodyPr/>
          <a:lstStyle/>
          <a:p>
            <a:endParaRPr lang="en-US"/>
          </a:p>
        </p:txBody>
      </p:sp>
      <p:sp>
        <p:nvSpPr>
          <p:cNvPr id="39" name="Shape 26">
            <a:extLst>
              <a:ext uri="{FF2B5EF4-FFF2-40B4-BE49-F238E27FC236}">
                <a16:creationId xmlns:a16="http://schemas.microsoft.com/office/drawing/2014/main" id="{3236BBC6-8CCE-3A62-7D50-01D8D8825E6A}"/>
              </a:ext>
            </a:extLst>
          </p:cNvPr>
          <p:cNvSpPr/>
          <p:nvPr/>
        </p:nvSpPr>
        <p:spPr>
          <a:xfrm>
            <a:off x="685800" y="4419295"/>
            <a:ext cx="428854" cy="428854"/>
          </a:xfrm>
          <a:prstGeom prst="roundRect">
            <a:avLst>
              <a:gd name="adj" fmla="val 22175"/>
            </a:avLst>
          </a:prstGeom>
          <a:solidFill>
            <a:srgbClr val="2A9D8F">
              <a:alpha val="8000"/>
            </a:srgbClr>
          </a:solidFill>
          <a:ln w="12700">
            <a:solidFill>
              <a:srgbClr val="FFFFFF">
                <a:alpha val="0"/>
              </a:srgbClr>
            </a:solidFill>
            <a:prstDash val="solid"/>
          </a:ln>
        </p:spPr>
        <p:txBody>
          <a:bodyPr/>
          <a:lstStyle/>
          <a:p>
            <a:endParaRPr lang="en-US"/>
          </a:p>
        </p:txBody>
      </p:sp>
      <p:pic>
        <p:nvPicPr>
          <p:cNvPr id="40" name="Image 11" descr="gen-dedup-6476ff3035aeb0817ff39e799f5ab604.png">
            <a:extLst>
              <a:ext uri="{FF2B5EF4-FFF2-40B4-BE49-F238E27FC236}">
                <a16:creationId xmlns:a16="http://schemas.microsoft.com/office/drawing/2014/main" id="{E8542DFA-293A-43A8-033E-527EAFB96873}"/>
              </a:ext>
            </a:extLst>
          </p:cNvPr>
          <p:cNvPicPr>
            <a:picLocks noChangeAspect="1"/>
          </p:cNvPicPr>
          <p:nvPr/>
        </p:nvPicPr>
        <p:blipFill>
          <a:blip r:embed="rId12"/>
          <a:srcRect l="-2800" r="-2800"/>
          <a:stretch/>
        </p:blipFill>
        <p:spPr>
          <a:xfrm>
            <a:off x="809244" y="4519879"/>
            <a:ext cx="181051" cy="228600"/>
          </a:xfrm>
          <a:prstGeom prst="rect">
            <a:avLst/>
          </a:prstGeom>
        </p:spPr>
      </p:pic>
      <p:sp>
        <p:nvSpPr>
          <p:cNvPr id="41" name="Text 27">
            <a:extLst>
              <a:ext uri="{FF2B5EF4-FFF2-40B4-BE49-F238E27FC236}">
                <a16:creationId xmlns:a16="http://schemas.microsoft.com/office/drawing/2014/main" id="{DCDD8D0E-1DCB-CFBB-394F-9D749F1C9303}"/>
              </a:ext>
            </a:extLst>
          </p:cNvPr>
          <p:cNvSpPr txBox="1"/>
          <p:nvPr/>
        </p:nvSpPr>
        <p:spPr>
          <a:xfrm>
            <a:off x="5464454" y="4343400"/>
            <a:ext cx="455371" cy="514807"/>
          </a:xfrm>
          <a:prstGeom prst="rect">
            <a:avLst/>
          </a:prstGeom>
          <a:noFill/>
          <a:ln/>
        </p:spPr>
        <p:txBody>
          <a:bodyPr wrap="none" lIns="0" tIns="0" rIns="0" bIns="0" rtlCol="0" anchor="ctr"/>
          <a:lstStyle/>
          <a:p>
            <a:pPr marL="0" indent="0" algn="l">
              <a:buNone/>
            </a:pPr>
            <a:r>
              <a:rPr lang="en-US" sz="2700" b="1">
                <a:solidFill>
                  <a:srgbClr val="F3F4F6"/>
                </a:solidFill>
                <a:latin typeface="Oswald" pitchFamily="34" charset="0"/>
                <a:ea typeface="Oswald" pitchFamily="34" charset="-122"/>
                <a:cs typeface="Oswald" pitchFamily="34" charset="-120"/>
              </a:rPr>
              <a:t>03</a:t>
            </a:r>
            <a:endParaRPr lang="en-US" sz="2700"/>
          </a:p>
        </p:txBody>
      </p:sp>
      <p:sp>
        <p:nvSpPr>
          <p:cNvPr id="42" name="Text 28">
            <a:extLst>
              <a:ext uri="{FF2B5EF4-FFF2-40B4-BE49-F238E27FC236}">
                <a16:creationId xmlns:a16="http://schemas.microsoft.com/office/drawing/2014/main" id="{772B34FD-8E6A-DE99-F5BF-DB1A68F0D2BD}"/>
              </a:ext>
            </a:extLst>
          </p:cNvPr>
          <p:cNvSpPr txBox="1"/>
          <p:nvPr/>
        </p:nvSpPr>
        <p:spPr>
          <a:xfrm>
            <a:off x="685800" y="4962449"/>
            <a:ext cx="5067605" cy="277063"/>
          </a:xfrm>
          <a:prstGeom prst="rect">
            <a:avLst/>
          </a:prstGeom>
          <a:noFill/>
          <a:ln/>
        </p:spPr>
        <p:txBody>
          <a:bodyPr wrap="non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[Solution 3 Title]</a:t>
            </a:r>
            <a:endParaRPr lang="en-US" sz="1800"/>
          </a:p>
        </p:txBody>
      </p:sp>
      <p:sp>
        <p:nvSpPr>
          <p:cNvPr id="43" name="Text 29">
            <a:extLst>
              <a:ext uri="{FF2B5EF4-FFF2-40B4-BE49-F238E27FC236}">
                <a16:creationId xmlns:a16="http://schemas.microsoft.com/office/drawing/2014/main" id="{3C115CE9-6CE6-0BC8-CD3C-556ABEB1ADB4}"/>
              </a:ext>
            </a:extLst>
          </p:cNvPr>
          <p:cNvSpPr txBox="1"/>
          <p:nvPr/>
        </p:nvSpPr>
        <p:spPr>
          <a:xfrm>
            <a:off x="685800" y="5351069"/>
            <a:ext cx="5067605" cy="609905"/>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e.g. WFO Employer Brand Strategy — Position 5-day WFO as a career accelerator: same role as HQ, in-person mentorship, global parity. Target candidates already in-office or returning.</a:t>
            </a:r>
            <a:endParaRPr lang="en-US" sz="1100"/>
          </a:p>
        </p:txBody>
      </p:sp>
      <p:sp>
        <p:nvSpPr>
          <p:cNvPr id="44" name="Shape 30">
            <a:extLst>
              <a:ext uri="{FF2B5EF4-FFF2-40B4-BE49-F238E27FC236}">
                <a16:creationId xmlns:a16="http://schemas.microsoft.com/office/drawing/2014/main" id="{9524A817-F417-8272-6809-00D1F5C25D02}"/>
              </a:ext>
            </a:extLst>
          </p:cNvPr>
          <p:cNvSpPr/>
          <p:nvPr/>
        </p:nvSpPr>
        <p:spPr>
          <a:xfrm>
            <a:off x="685800" y="5959145"/>
            <a:ext cx="5067605" cy="437998"/>
          </a:xfrm>
          <a:prstGeom prst="roundRect">
            <a:avLst>
              <a:gd name="adj" fmla="val 17328"/>
            </a:avLst>
          </a:prstGeom>
          <a:solidFill>
            <a:srgbClr val="F9FAFB"/>
          </a:solidFill>
          <a:ln/>
        </p:spPr>
        <p:txBody>
          <a:bodyPr/>
          <a:lstStyle/>
          <a:p>
            <a:endParaRPr lang="en-US"/>
          </a:p>
        </p:txBody>
      </p:sp>
      <p:sp>
        <p:nvSpPr>
          <p:cNvPr id="45" name="Shape 31">
            <a:extLst>
              <a:ext uri="{FF2B5EF4-FFF2-40B4-BE49-F238E27FC236}">
                <a16:creationId xmlns:a16="http://schemas.microsoft.com/office/drawing/2014/main" id="{904F1079-FEBE-EF19-4690-40B4F5A173EF}"/>
              </a:ext>
            </a:extLst>
          </p:cNvPr>
          <p:cNvSpPr/>
          <p:nvPr/>
        </p:nvSpPr>
        <p:spPr>
          <a:xfrm>
            <a:off x="685800" y="5959145"/>
            <a:ext cx="38405" cy="437998"/>
          </a:xfrm>
          <a:prstGeom prst="roundRect">
            <a:avLst>
              <a:gd name="adj" fmla="val 197618"/>
            </a:avLst>
          </a:prstGeom>
          <a:solidFill>
            <a:srgbClr val="000000"/>
          </a:solidFill>
          <a:ln w="12700">
            <a:solidFill>
              <a:srgbClr val="000000">
                <a:alpha val="0"/>
              </a:srgbClr>
            </a:solidFill>
            <a:prstDash val="solid"/>
          </a:ln>
        </p:spPr>
        <p:txBody>
          <a:bodyPr/>
          <a:lstStyle/>
          <a:p>
            <a:endParaRPr lang="en-US"/>
          </a:p>
        </p:txBody>
      </p:sp>
      <p:sp>
        <p:nvSpPr>
          <p:cNvPr id="46" name="Text 32">
            <a:extLst>
              <a:ext uri="{FF2B5EF4-FFF2-40B4-BE49-F238E27FC236}">
                <a16:creationId xmlns:a16="http://schemas.microsoft.com/office/drawing/2014/main" id="{E2B87D99-E6F8-0914-F5C9-E8CC69EF06C5}"/>
              </a:ext>
            </a:extLst>
          </p:cNvPr>
          <p:cNvSpPr txBox="1"/>
          <p:nvPr/>
        </p:nvSpPr>
        <p:spPr>
          <a:xfrm>
            <a:off x="1057046" y="6073445"/>
            <a:ext cx="4543654" cy="210312"/>
          </a:xfrm>
          <a:prstGeom prst="rect">
            <a:avLst/>
          </a:prstGeom>
          <a:noFill/>
          <a:ln/>
        </p:spPr>
        <p:txBody>
          <a:bodyPr wrap="non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Solves: WFO Resistance + Brand</a:t>
            </a:r>
            <a:endParaRPr lang="en-US" sz="1000"/>
          </a:p>
        </p:txBody>
      </p:sp>
      <p:pic>
        <p:nvPicPr>
          <p:cNvPr id="47" name="Image 12" descr="gen-dedup-b5a86b1bccfd13e1ee7bd0a5c9907751.png">
            <a:extLst>
              <a:ext uri="{FF2B5EF4-FFF2-40B4-BE49-F238E27FC236}">
                <a16:creationId xmlns:a16="http://schemas.microsoft.com/office/drawing/2014/main" id="{A0B42826-7149-A73B-9986-E5DE1C5E20E9}"/>
              </a:ext>
            </a:extLst>
          </p:cNvPr>
          <p:cNvPicPr>
            <a:picLocks noChangeAspect="1"/>
          </p:cNvPicPr>
          <p:nvPr/>
        </p:nvPicPr>
        <p:blipFill>
          <a:blip r:embed="rId9"/>
          <a:srcRect t="-13478" b="-13478"/>
          <a:stretch/>
        </p:blipFill>
        <p:spPr>
          <a:xfrm>
            <a:off x="875995" y="6110021"/>
            <a:ext cx="105156" cy="133502"/>
          </a:xfrm>
          <a:prstGeom prst="rect">
            <a:avLst/>
          </a:prstGeom>
        </p:spPr>
      </p:pic>
      <p:pic>
        <p:nvPicPr>
          <p:cNvPr id="48" name="Image 13" descr="gen-dedup-95d112f40cf296f81bdd24a7d4987a4a.png">
            <a:extLst>
              <a:ext uri="{FF2B5EF4-FFF2-40B4-BE49-F238E27FC236}">
                <a16:creationId xmlns:a16="http://schemas.microsoft.com/office/drawing/2014/main" id="{7A904E7A-9A23-65C5-498D-68299034FF87}"/>
              </a:ext>
            </a:extLst>
          </p:cNvPr>
          <p:cNvPicPr>
            <a:picLocks noChangeAspect="1"/>
          </p:cNvPicPr>
          <p:nvPr/>
        </p:nvPicPr>
        <p:blipFill>
          <a:blip r:embed="rId7"/>
          <a:srcRect l="-7" r="-7"/>
          <a:stretch/>
        </p:blipFill>
        <p:spPr>
          <a:xfrm>
            <a:off x="6210605" y="4143146"/>
            <a:ext cx="5524805" cy="2428646"/>
          </a:xfrm>
          <a:prstGeom prst="rect">
            <a:avLst/>
          </a:prstGeom>
        </p:spPr>
      </p:pic>
      <p:sp>
        <p:nvSpPr>
          <p:cNvPr id="49" name="Shape 33">
            <a:extLst>
              <a:ext uri="{FF2B5EF4-FFF2-40B4-BE49-F238E27FC236}">
                <a16:creationId xmlns:a16="http://schemas.microsoft.com/office/drawing/2014/main" id="{51B6378F-2579-2A16-7897-FD0342764BEA}"/>
              </a:ext>
            </a:extLst>
          </p:cNvPr>
          <p:cNvSpPr/>
          <p:nvPr/>
        </p:nvSpPr>
        <p:spPr>
          <a:xfrm>
            <a:off x="10972800" y="4143146"/>
            <a:ext cx="761695" cy="761695"/>
          </a:xfrm>
          <a:prstGeom prst="rect">
            <a:avLst/>
          </a:prstGeom>
          <a:solidFill>
            <a:srgbClr val="000000">
              <a:alpha val="2000"/>
            </a:srgbClr>
          </a:solidFill>
          <a:ln w="12700">
            <a:solidFill>
              <a:srgbClr val="FFFFFF">
                <a:alpha val="0"/>
              </a:srgbClr>
            </a:solidFill>
            <a:prstDash val="solid"/>
          </a:ln>
        </p:spPr>
        <p:txBody>
          <a:bodyPr/>
          <a:lstStyle/>
          <a:p>
            <a:endParaRPr lang="en-US"/>
          </a:p>
        </p:txBody>
      </p:sp>
      <p:sp>
        <p:nvSpPr>
          <p:cNvPr id="50" name="Shape 34">
            <a:extLst>
              <a:ext uri="{FF2B5EF4-FFF2-40B4-BE49-F238E27FC236}">
                <a16:creationId xmlns:a16="http://schemas.microsoft.com/office/drawing/2014/main" id="{D16B82CB-8454-3B5A-BDB9-41F1EF0AA131}"/>
              </a:ext>
            </a:extLst>
          </p:cNvPr>
          <p:cNvSpPr/>
          <p:nvPr/>
        </p:nvSpPr>
        <p:spPr>
          <a:xfrm>
            <a:off x="6439205" y="4419295"/>
            <a:ext cx="428854" cy="428854"/>
          </a:xfrm>
          <a:prstGeom prst="roundRect">
            <a:avLst>
              <a:gd name="adj" fmla="val 22175"/>
            </a:avLst>
          </a:prstGeom>
          <a:solidFill>
            <a:srgbClr val="D62839">
              <a:alpha val="5000"/>
            </a:srgbClr>
          </a:solidFill>
          <a:ln w="12700">
            <a:solidFill>
              <a:srgbClr val="FFFFFF">
                <a:alpha val="0"/>
              </a:srgbClr>
            </a:solidFill>
            <a:prstDash val="solid"/>
          </a:ln>
        </p:spPr>
        <p:txBody>
          <a:bodyPr/>
          <a:lstStyle/>
          <a:p>
            <a:endParaRPr lang="en-US"/>
          </a:p>
        </p:txBody>
      </p:sp>
      <p:pic>
        <p:nvPicPr>
          <p:cNvPr id="51" name="Image 14" descr="gen-dedup-83b2b39c1654ef06d127da6f7bb8f2a0.png">
            <a:extLst>
              <a:ext uri="{FF2B5EF4-FFF2-40B4-BE49-F238E27FC236}">
                <a16:creationId xmlns:a16="http://schemas.microsoft.com/office/drawing/2014/main" id="{4003C448-05B3-A10E-95D9-DAF2F9652DC0}"/>
              </a:ext>
            </a:extLst>
          </p:cNvPr>
          <p:cNvPicPr>
            <a:picLocks noChangeAspect="1"/>
          </p:cNvPicPr>
          <p:nvPr/>
        </p:nvPicPr>
        <p:blipFill>
          <a:blip r:embed="rId13"/>
          <a:srcRect t="-28914" b="-28914"/>
          <a:stretch/>
        </p:blipFill>
        <p:spPr>
          <a:xfrm>
            <a:off x="6562649" y="4519879"/>
            <a:ext cx="181051" cy="228600"/>
          </a:xfrm>
          <a:prstGeom prst="rect">
            <a:avLst/>
          </a:prstGeom>
        </p:spPr>
      </p:pic>
      <p:sp>
        <p:nvSpPr>
          <p:cNvPr id="52" name="Text 35">
            <a:extLst>
              <a:ext uri="{FF2B5EF4-FFF2-40B4-BE49-F238E27FC236}">
                <a16:creationId xmlns:a16="http://schemas.microsoft.com/office/drawing/2014/main" id="{D6E237A9-70E6-29E9-E8EE-2BAB92F3E57D}"/>
              </a:ext>
            </a:extLst>
          </p:cNvPr>
          <p:cNvSpPr txBox="1"/>
          <p:nvPr/>
        </p:nvSpPr>
        <p:spPr>
          <a:xfrm>
            <a:off x="11214202" y="4343400"/>
            <a:ext cx="455371" cy="514807"/>
          </a:xfrm>
          <a:prstGeom prst="rect">
            <a:avLst/>
          </a:prstGeom>
          <a:noFill/>
          <a:ln/>
        </p:spPr>
        <p:txBody>
          <a:bodyPr wrap="none" lIns="0" tIns="0" rIns="0" bIns="0" rtlCol="0" anchor="ctr"/>
          <a:lstStyle/>
          <a:p>
            <a:pPr marL="0" indent="0" algn="l">
              <a:buNone/>
            </a:pPr>
            <a:r>
              <a:rPr lang="en-US" sz="2700" b="1">
                <a:solidFill>
                  <a:srgbClr val="F3F4F6"/>
                </a:solidFill>
                <a:latin typeface="Oswald" pitchFamily="34" charset="0"/>
                <a:ea typeface="Oswald" pitchFamily="34" charset="-122"/>
                <a:cs typeface="Oswald" pitchFamily="34" charset="-120"/>
              </a:rPr>
              <a:t>04</a:t>
            </a:r>
            <a:endParaRPr lang="en-US" sz="2700"/>
          </a:p>
        </p:txBody>
      </p:sp>
      <p:sp>
        <p:nvSpPr>
          <p:cNvPr id="53" name="Text 36">
            <a:extLst>
              <a:ext uri="{FF2B5EF4-FFF2-40B4-BE49-F238E27FC236}">
                <a16:creationId xmlns:a16="http://schemas.microsoft.com/office/drawing/2014/main" id="{4896BADA-0F0A-2623-6DAC-682DCB3687AF}"/>
              </a:ext>
            </a:extLst>
          </p:cNvPr>
          <p:cNvSpPr txBox="1"/>
          <p:nvPr/>
        </p:nvSpPr>
        <p:spPr>
          <a:xfrm>
            <a:off x="6439205" y="4962449"/>
            <a:ext cx="5067605" cy="277063"/>
          </a:xfrm>
          <a:prstGeom prst="rect">
            <a:avLst/>
          </a:prstGeom>
          <a:noFill/>
          <a:ln/>
        </p:spPr>
        <p:txBody>
          <a:bodyPr wrap="non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[Solution 4 Title]</a:t>
            </a:r>
            <a:endParaRPr lang="en-US" sz="1800"/>
          </a:p>
        </p:txBody>
      </p:sp>
      <p:sp>
        <p:nvSpPr>
          <p:cNvPr id="54" name="Text 37">
            <a:extLst>
              <a:ext uri="{FF2B5EF4-FFF2-40B4-BE49-F238E27FC236}">
                <a16:creationId xmlns:a16="http://schemas.microsoft.com/office/drawing/2014/main" id="{E758BCE9-FA0C-67DE-7E9C-7A6AA3E11566}"/>
              </a:ext>
            </a:extLst>
          </p:cNvPr>
          <p:cNvSpPr txBox="1"/>
          <p:nvPr/>
        </p:nvSpPr>
        <p:spPr>
          <a:xfrm>
            <a:off x="6439205" y="5351069"/>
            <a:ext cx="5067605" cy="609905"/>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e.g. Managed RPO Partnership — Consolidated recruitment ops across all BUs with a dedicated team. Eliminates vendor fragmentation. Data-driven hiring intelligence for workforce planning.</a:t>
            </a:r>
            <a:endParaRPr lang="en-US" sz="1100"/>
          </a:p>
        </p:txBody>
      </p:sp>
      <p:sp>
        <p:nvSpPr>
          <p:cNvPr id="55" name="Shape 38">
            <a:extLst>
              <a:ext uri="{FF2B5EF4-FFF2-40B4-BE49-F238E27FC236}">
                <a16:creationId xmlns:a16="http://schemas.microsoft.com/office/drawing/2014/main" id="{CEE8A453-7A9D-4360-D21A-37F7F6790338}"/>
              </a:ext>
            </a:extLst>
          </p:cNvPr>
          <p:cNvSpPr/>
          <p:nvPr/>
        </p:nvSpPr>
        <p:spPr>
          <a:xfrm>
            <a:off x="6439205" y="5959145"/>
            <a:ext cx="5067605" cy="437998"/>
          </a:xfrm>
          <a:prstGeom prst="roundRect">
            <a:avLst>
              <a:gd name="adj" fmla="val 17328"/>
            </a:avLst>
          </a:prstGeom>
          <a:solidFill>
            <a:srgbClr val="F9FAFB"/>
          </a:solidFill>
          <a:ln/>
        </p:spPr>
        <p:txBody>
          <a:bodyPr/>
          <a:lstStyle/>
          <a:p>
            <a:endParaRPr lang="en-US"/>
          </a:p>
        </p:txBody>
      </p:sp>
      <p:sp>
        <p:nvSpPr>
          <p:cNvPr id="56" name="Shape 39">
            <a:extLst>
              <a:ext uri="{FF2B5EF4-FFF2-40B4-BE49-F238E27FC236}">
                <a16:creationId xmlns:a16="http://schemas.microsoft.com/office/drawing/2014/main" id="{056F5FE7-9A03-08BC-0EA2-89258EB24EF2}"/>
              </a:ext>
            </a:extLst>
          </p:cNvPr>
          <p:cNvSpPr/>
          <p:nvPr/>
        </p:nvSpPr>
        <p:spPr>
          <a:xfrm>
            <a:off x="6439205" y="5959145"/>
            <a:ext cx="38405" cy="437998"/>
          </a:xfrm>
          <a:prstGeom prst="roundRect">
            <a:avLst>
              <a:gd name="adj" fmla="val 197618"/>
            </a:avLst>
          </a:prstGeom>
          <a:solidFill>
            <a:srgbClr val="000000"/>
          </a:solidFill>
          <a:ln w="12700">
            <a:solidFill>
              <a:srgbClr val="000000">
                <a:alpha val="0"/>
              </a:srgbClr>
            </a:solidFill>
            <a:prstDash val="solid"/>
          </a:ln>
        </p:spPr>
        <p:txBody>
          <a:bodyPr/>
          <a:lstStyle/>
          <a:p>
            <a:endParaRPr lang="en-US"/>
          </a:p>
        </p:txBody>
      </p:sp>
      <p:sp>
        <p:nvSpPr>
          <p:cNvPr id="57" name="Text 40">
            <a:extLst>
              <a:ext uri="{FF2B5EF4-FFF2-40B4-BE49-F238E27FC236}">
                <a16:creationId xmlns:a16="http://schemas.microsoft.com/office/drawing/2014/main" id="{FA686457-4C60-0C95-3625-41D6DE551183}"/>
              </a:ext>
            </a:extLst>
          </p:cNvPr>
          <p:cNvSpPr txBox="1"/>
          <p:nvPr/>
        </p:nvSpPr>
        <p:spPr>
          <a:xfrm>
            <a:off x="6810451" y="6073445"/>
            <a:ext cx="4543654" cy="210312"/>
          </a:xfrm>
          <a:prstGeom prst="rect">
            <a:avLst/>
          </a:prstGeom>
          <a:noFill/>
          <a:ln/>
        </p:spPr>
        <p:txBody>
          <a:bodyPr wrap="non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Solves: Fragmented Hiring + Scale</a:t>
            </a:r>
            <a:endParaRPr lang="en-US" sz="1000"/>
          </a:p>
        </p:txBody>
      </p:sp>
      <p:pic>
        <p:nvPicPr>
          <p:cNvPr id="58" name="Image 15" descr="gen-dedup-812f619697984955bda52af315dc5a08.png">
            <a:extLst>
              <a:ext uri="{FF2B5EF4-FFF2-40B4-BE49-F238E27FC236}">
                <a16:creationId xmlns:a16="http://schemas.microsoft.com/office/drawing/2014/main" id="{6286225A-5A1D-45A0-AD82-F2C525D188BB}"/>
              </a:ext>
            </a:extLst>
          </p:cNvPr>
          <p:cNvPicPr>
            <a:picLocks noChangeAspect="1"/>
          </p:cNvPicPr>
          <p:nvPr/>
        </p:nvPicPr>
        <p:blipFill>
          <a:blip r:embed="rId11"/>
          <a:srcRect t="-13478" b="-13478"/>
          <a:stretch/>
        </p:blipFill>
        <p:spPr>
          <a:xfrm>
            <a:off x="6629400" y="6110021"/>
            <a:ext cx="105156" cy="133502"/>
          </a:xfrm>
          <a:prstGeom prst="rect">
            <a:avLst/>
          </a:prstGeom>
        </p:spPr>
      </p:pic>
    </p:spTree>
    <p:extLst>
      <p:ext uri="{BB962C8B-B14F-4D97-AF65-F5344CB8AC3E}">
        <p14:creationId xmlns:p14="http://schemas.microsoft.com/office/powerpoint/2010/main" val="19370616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382305" y="0"/>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sp>
        <p:nvSpPr>
          <p:cNvPr id="5" name="Shape 3"/>
          <p:cNvSpPr/>
          <p:nvPr/>
        </p:nvSpPr>
        <p:spPr>
          <a:xfrm>
            <a:off x="-476402" y="3524098"/>
            <a:ext cx="2381098" cy="2381098"/>
          </a:xfrm>
          <a:prstGeom prst="ellipse">
            <a:avLst/>
          </a:prstGeom>
          <a:solidFill>
            <a:srgbClr val="D62839">
              <a:alpha val="2000"/>
            </a:srgbClr>
          </a:solidFill>
          <a:ln w="12700">
            <a:solidFill>
              <a:srgbClr val="FFFFFF">
                <a:alpha val="0"/>
              </a:srgbClr>
            </a:solidFill>
            <a:prstDash val="solid"/>
          </a:ln>
        </p:spPr>
        <p:txBody>
          <a:bodyPr/>
          <a:lstStyle/>
          <a:p>
            <a:endParaRPr lang="en-US"/>
          </a:p>
        </p:txBody>
      </p:sp>
      <p:pic>
        <p:nvPicPr>
          <p:cNvPr id="6" name="Image 0" descr="gen-dedup-37abb9d8cc081a24feb608c288538026.png"/>
          <p:cNvPicPr>
            <a:picLocks noChangeAspect="1"/>
          </p:cNvPicPr>
          <p:nvPr/>
        </p:nvPicPr>
        <p:blipFill>
          <a:blip r:embed="rId3"/>
          <a:srcRect l="-198" r="-198"/>
          <a:stretch/>
        </p:blipFill>
        <p:spPr>
          <a:xfrm>
            <a:off x="0" y="0"/>
            <a:ext cx="8124444" cy="75895"/>
          </a:xfrm>
          <a:prstGeom prst="rect">
            <a:avLst/>
          </a:prstGeom>
        </p:spPr>
      </p:pic>
      <p:pic>
        <p:nvPicPr>
          <p:cNvPr id="7" name="Image 1" descr="gen-dedup-c2c9136402f20c216bf7cbcc052ad1a0.png"/>
          <p:cNvPicPr>
            <a:picLocks noChangeAspect="1"/>
          </p:cNvPicPr>
          <p:nvPr/>
        </p:nvPicPr>
        <p:blipFill>
          <a:blip r:embed="rId4"/>
          <a:srcRect l="-202" r="-202"/>
          <a:stretch/>
        </p:blipFill>
        <p:spPr>
          <a:xfrm>
            <a:off x="8124444" y="0"/>
            <a:ext cx="4067251" cy="75895"/>
          </a:xfrm>
          <a:prstGeom prst="rect">
            <a:avLst/>
          </a:prstGeom>
        </p:spPr>
      </p:pic>
      <p:pic>
        <p:nvPicPr>
          <p:cNvPr id="8" name="Image 2" descr="gen-dedup-50f81f9bdcb5400074144f35c0ecb91c.png"/>
          <p:cNvPicPr>
            <a:picLocks noChangeAspect="1"/>
          </p:cNvPicPr>
          <p:nvPr/>
        </p:nvPicPr>
        <p:blipFill>
          <a:blip r:embed="rId5"/>
          <a:srcRect l="-7" r="-7"/>
          <a:stretch/>
        </p:blipFill>
        <p:spPr>
          <a:xfrm>
            <a:off x="2704795" y="1238098"/>
            <a:ext cx="3143707" cy="4457700"/>
          </a:xfrm>
          <a:prstGeom prst="rect">
            <a:avLst/>
          </a:prstGeom>
        </p:spPr>
      </p:pic>
      <p:sp>
        <p:nvSpPr>
          <p:cNvPr id="9" name="Shape 4"/>
          <p:cNvSpPr/>
          <p:nvPr/>
        </p:nvSpPr>
        <p:spPr>
          <a:xfrm>
            <a:off x="609905" y="5762549"/>
            <a:ext cx="10992002" cy="847649"/>
          </a:xfrm>
          <a:prstGeom prst="roundRect">
            <a:avLst>
              <a:gd name="adj" fmla="val 19393"/>
            </a:avLst>
          </a:prstGeom>
          <a:solidFill>
            <a:srgbClr val="F8FAFC"/>
          </a:solidFill>
          <a:ln w="12700">
            <a:solidFill>
              <a:srgbClr val="E2E8F0"/>
            </a:solidFill>
            <a:prstDash val="solid"/>
          </a:ln>
          <a:effectLst>
            <a:outerShdw blurRad="63500" dist="38100" dir="16200000" algn="bl" rotWithShape="0">
              <a:srgbClr val="000000">
                <a:alpha val="2000"/>
              </a:srgbClr>
            </a:outerShdw>
          </a:effectLst>
        </p:spPr>
        <p:txBody>
          <a:bodyPr/>
          <a:lstStyle/>
          <a:p>
            <a:endParaRPr lang="en-US"/>
          </a:p>
        </p:txBody>
      </p:sp>
      <p:pic>
        <p:nvPicPr>
          <p:cNvPr id="10" name="Image 3" descr="gen-dedup-1004aa64a550a79a04cd74d7f57c96c1.png"/>
          <p:cNvPicPr>
            <a:picLocks noChangeAspect="1"/>
          </p:cNvPicPr>
          <p:nvPr/>
        </p:nvPicPr>
        <p:blipFill>
          <a:blip r:embed="rId6"/>
          <a:srcRect l="-2083" r="-2083"/>
          <a:stretch/>
        </p:blipFill>
        <p:spPr>
          <a:xfrm>
            <a:off x="609905" y="2467051"/>
            <a:ext cx="10972800" cy="9144"/>
          </a:xfrm>
          <a:prstGeom prst="rect">
            <a:avLst/>
          </a:prstGeom>
        </p:spPr>
      </p:pic>
      <p:pic>
        <p:nvPicPr>
          <p:cNvPr id="11" name="Image 4" descr="gen-dedup-1004aa64a550a79a04cd74d7f57c96c1.png"/>
          <p:cNvPicPr>
            <a:picLocks noChangeAspect="1"/>
          </p:cNvPicPr>
          <p:nvPr/>
        </p:nvPicPr>
        <p:blipFill>
          <a:blip r:embed="rId6"/>
          <a:srcRect l="-2083" r="-2083"/>
          <a:stretch/>
        </p:blipFill>
        <p:spPr>
          <a:xfrm>
            <a:off x="609905" y="3267151"/>
            <a:ext cx="10972800" cy="9144"/>
          </a:xfrm>
          <a:prstGeom prst="rect">
            <a:avLst/>
          </a:prstGeom>
        </p:spPr>
      </p:pic>
      <p:pic>
        <p:nvPicPr>
          <p:cNvPr id="12" name="Image 5" descr="gen-dedup-1004aa64a550a79a04cd74d7f57c96c1.png"/>
          <p:cNvPicPr>
            <a:picLocks noChangeAspect="1"/>
          </p:cNvPicPr>
          <p:nvPr/>
        </p:nvPicPr>
        <p:blipFill>
          <a:blip r:embed="rId6"/>
          <a:srcRect l="-2083" r="-2083"/>
          <a:stretch/>
        </p:blipFill>
        <p:spPr>
          <a:xfrm>
            <a:off x="609905" y="4067251"/>
            <a:ext cx="10972800" cy="9144"/>
          </a:xfrm>
          <a:prstGeom prst="rect">
            <a:avLst/>
          </a:prstGeom>
        </p:spPr>
      </p:pic>
      <p:pic>
        <p:nvPicPr>
          <p:cNvPr id="13" name="Image 6" descr="gen-dedup-1004aa64a550a79a04cd74d7f57c96c1.png"/>
          <p:cNvPicPr>
            <a:picLocks noChangeAspect="1"/>
          </p:cNvPicPr>
          <p:nvPr/>
        </p:nvPicPr>
        <p:blipFill>
          <a:blip r:embed="rId6"/>
          <a:srcRect l="-2083" r="-2083"/>
          <a:stretch/>
        </p:blipFill>
        <p:spPr>
          <a:xfrm>
            <a:off x="609905" y="4867351"/>
            <a:ext cx="10972800" cy="9144"/>
          </a:xfrm>
          <a:prstGeom prst="rect">
            <a:avLst/>
          </a:prstGeom>
        </p:spPr>
      </p:pic>
      <p:pic>
        <p:nvPicPr>
          <p:cNvPr id="14" name="Image 7" descr="gen-dedup-06e3d16aa0e9246458a784af17ea21a8.png"/>
          <p:cNvPicPr>
            <a:picLocks noChangeAspect="1"/>
          </p:cNvPicPr>
          <p:nvPr/>
        </p:nvPicPr>
        <p:blipFill>
          <a:blip r:embed="rId7"/>
          <a:srcRect l="-437" r="-437"/>
          <a:stretch/>
        </p:blipFill>
        <p:spPr>
          <a:xfrm>
            <a:off x="609905" y="390449"/>
            <a:ext cx="57607" cy="418795"/>
          </a:xfrm>
          <a:prstGeom prst="rect">
            <a:avLst/>
          </a:prstGeom>
        </p:spPr>
      </p:pic>
      <p:sp>
        <p:nvSpPr>
          <p:cNvPr id="15" name="Text 5"/>
          <p:cNvSpPr txBox="1"/>
          <p:nvPr/>
        </p:nvSpPr>
        <p:spPr>
          <a:xfrm>
            <a:off x="819302" y="390449"/>
            <a:ext cx="10478110" cy="381305"/>
          </a:xfrm>
          <a:prstGeom prst="rect">
            <a:avLst/>
          </a:prstGeom>
          <a:noFill/>
          <a:ln/>
        </p:spPr>
        <p:txBody>
          <a:bodyPr wrap="square" lIns="0" tIns="0" rIns="0" bIns="0" rtlCol="0" anchor="ctr"/>
          <a:lstStyle/>
          <a:p>
            <a:pPr marL="0" indent="0" algn="l">
              <a:buNone/>
            </a:pPr>
            <a:r>
              <a:rPr lang="en-US" sz="2700" b="1">
                <a:solidFill>
                  <a:srgbClr val="111827"/>
                </a:solidFill>
                <a:latin typeface="Oswald" pitchFamily="34" charset="0"/>
                <a:ea typeface="Oswald" pitchFamily="34" charset="-122"/>
                <a:cs typeface="Oswald" pitchFamily="34" charset="-120"/>
              </a:rPr>
              <a:t>WHY J2W - NOT THE BIG 4 OR LARGE SIs</a:t>
            </a:r>
            <a:endParaRPr lang="en-US" sz="2700"/>
          </a:p>
        </p:txBody>
      </p:sp>
      <p:sp>
        <p:nvSpPr>
          <p:cNvPr id="16" name="Text 6"/>
          <p:cNvSpPr txBox="1"/>
          <p:nvPr/>
        </p:nvSpPr>
        <p:spPr>
          <a:xfrm>
            <a:off x="819302" y="824789"/>
            <a:ext cx="10478110" cy="181051"/>
          </a:xfrm>
          <a:prstGeom prst="rect">
            <a:avLst/>
          </a:prstGeom>
          <a:noFill/>
          <a:ln/>
        </p:spPr>
        <p:txBody>
          <a:bodyPr wrap="squar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THE SMARTER CHOICE FOR AI &amp; DIGITAL TRANSFORMATION AT SCALE</a:t>
            </a:r>
            <a:endParaRPr lang="en-US" sz="1200"/>
          </a:p>
        </p:txBody>
      </p:sp>
      <p:sp>
        <p:nvSpPr>
          <p:cNvPr id="17" name="Text 7"/>
          <p:cNvSpPr txBox="1"/>
          <p:nvPr/>
        </p:nvSpPr>
        <p:spPr>
          <a:xfrm>
            <a:off x="2704795" y="1333195"/>
            <a:ext cx="3143707" cy="286207"/>
          </a:xfrm>
          <a:prstGeom prst="rect">
            <a:avLst/>
          </a:prstGeom>
          <a:noFill/>
          <a:ln/>
        </p:spPr>
        <p:txBody>
          <a:bodyPr wrap="square" lIns="0" tIns="0" rIns="0" bIns="0" rtlCol="0" anchor="ctr"/>
          <a:lstStyle/>
          <a:p>
            <a:pPr marL="0" indent="0" algn="ctr">
              <a:buNone/>
            </a:pPr>
            <a:r>
              <a:rPr lang="en-US" sz="1500" b="1">
                <a:solidFill>
                  <a:srgbClr val="111827"/>
                </a:solidFill>
                <a:latin typeface="Oswald" pitchFamily="34" charset="0"/>
                <a:ea typeface="Oswald" pitchFamily="34" charset="-122"/>
                <a:cs typeface="Oswald" pitchFamily="34" charset="-120"/>
              </a:rPr>
              <a:t>JoulesToWatts + J2W</a:t>
            </a:r>
            <a:endParaRPr lang="en-US" sz="1500"/>
          </a:p>
        </p:txBody>
      </p:sp>
      <p:sp>
        <p:nvSpPr>
          <p:cNvPr id="18" name="Text 8"/>
          <p:cNvSpPr txBox="1"/>
          <p:nvPr/>
        </p:nvSpPr>
        <p:spPr>
          <a:xfrm>
            <a:off x="5848502" y="1333195"/>
            <a:ext cx="2857500" cy="286207"/>
          </a:xfrm>
          <a:prstGeom prst="rect">
            <a:avLst/>
          </a:prstGeom>
          <a:noFill/>
          <a:ln/>
        </p:spPr>
        <p:txBody>
          <a:bodyPr wrap="square" lIns="0" tIns="0" rIns="0" bIns="0" rtlCol="0" anchor="ctr"/>
          <a:lstStyle/>
          <a:p>
            <a:pPr marL="0" indent="0" algn="ctr">
              <a:buNone/>
            </a:pPr>
            <a:r>
              <a:rPr lang="en-US" sz="1500" b="1">
                <a:solidFill>
                  <a:srgbClr val="64748B"/>
                </a:solidFill>
                <a:latin typeface="Oswald" pitchFamily="34" charset="0"/>
                <a:ea typeface="Oswald" pitchFamily="34" charset="-122"/>
                <a:cs typeface="Oswald" pitchFamily="34" charset="-120"/>
              </a:rPr>
              <a:t>Big 4 / Top IT SIs</a:t>
            </a:r>
            <a:endParaRPr lang="en-US" sz="1500"/>
          </a:p>
        </p:txBody>
      </p:sp>
      <p:sp>
        <p:nvSpPr>
          <p:cNvPr id="19" name="Text 9"/>
          <p:cNvSpPr txBox="1"/>
          <p:nvPr/>
        </p:nvSpPr>
        <p:spPr>
          <a:xfrm>
            <a:off x="8706002" y="1333195"/>
            <a:ext cx="2876702" cy="286207"/>
          </a:xfrm>
          <a:prstGeom prst="rect">
            <a:avLst/>
          </a:prstGeom>
          <a:noFill/>
          <a:ln/>
        </p:spPr>
        <p:txBody>
          <a:bodyPr wrap="square" lIns="0" tIns="0" rIns="0" bIns="0" rtlCol="0" anchor="ctr"/>
          <a:lstStyle/>
          <a:p>
            <a:pPr marL="0" indent="0" algn="ctr">
              <a:buNone/>
            </a:pPr>
            <a:r>
              <a:rPr lang="en-US" sz="1500" b="1">
                <a:solidFill>
                  <a:srgbClr val="64748B"/>
                </a:solidFill>
                <a:latin typeface="Oswald" pitchFamily="34" charset="0"/>
                <a:ea typeface="Oswald" pitchFamily="34" charset="-122"/>
                <a:cs typeface="Oswald" pitchFamily="34" charset="-120"/>
              </a:rPr>
              <a:t>Staffing Agencies</a:t>
            </a:r>
            <a:endParaRPr lang="en-US" sz="1500"/>
          </a:p>
        </p:txBody>
      </p:sp>
      <p:sp>
        <p:nvSpPr>
          <p:cNvPr id="20" name="Text 10"/>
          <p:cNvSpPr txBox="1"/>
          <p:nvPr/>
        </p:nvSpPr>
        <p:spPr>
          <a:xfrm>
            <a:off x="609905" y="19906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ROI &amp; Outcome Model</a:t>
            </a:r>
            <a:endParaRPr lang="en-US" sz="1000"/>
          </a:p>
        </p:txBody>
      </p:sp>
      <p:sp>
        <p:nvSpPr>
          <p:cNvPr id="21" name="Text 11"/>
          <p:cNvSpPr txBox="1"/>
          <p:nvPr/>
        </p:nvSpPr>
        <p:spPr>
          <a:xfrm>
            <a:off x="2895905" y="18068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Outcome-driven from Day 1 - aligned to your milestones, CXO ROI expectations &amp; project KPIs</a:t>
            </a:r>
            <a:endParaRPr lang="en-US" sz="1000"/>
          </a:p>
        </p:txBody>
      </p:sp>
      <p:sp>
        <p:nvSpPr>
          <p:cNvPr id="22" name="Text 12"/>
          <p:cNvSpPr txBox="1"/>
          <p:nvPr/>
        </p:nvSpPr>
        <p:spPr>
          <a:xfrm>
            <a:off x="6038698" y="18068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Heavy retainers + longer payback cycles. High technical debt risk on failed transformations</a:t>
            </a:r>
            <a:endParaRPr lang="en-US" sz="1000"/>
          </a:p>
        </p:txBody>
      </p:sp>
      <p:sp>
        <p:nvSpPr>
          <p:cNvPr id="23" name="Text 13"/>
          <p:cNvSpPr txBox="1"/>
          <p:nvPr/>
        </p:nvSpPr>
        <p:spPr>
          <a:xfrm>
            <a:off x="8896198" y="1893722"/>
            <a:ext cx="2496312"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Headcount model only. Zero delivery ownership or outcome accountability</a:t>
            </a:r>
            <a:endParaRPr lang="en-US" sz="1000"/>
          </a:p>
        </p:txBody>
      </p:sp>
      <p:sp>
        <p:nvSpPr>
          <p:cNvPr id="24" name="Text 14"/>
          <p:cNvSpPr txBox="1"/>
          <p:nvPr/>
        </p:nvSpPr>
        <p:spPr>
          <a:xfrm>
            <a:off x="609905" y="27907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Time-To-Value</a:t>
            </a:r>
            <a:endParaRPr lang="en-US" sz="1000"/>
          </a:p>
        </p:txBody>
      </p:sp>
      <p:sp>
        <p:nvSpPr>
          <p:cNvPr id="25" name="Text 15"/>
          <p:cNvSpPr txBox="1"/>
          <p:nvPr/>
        </p:nvSpPr>
        <p:spPr>
          <a:xfrm>
            <a:off x="2895905" y="26069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Production-ready Gen &amp; Agentic AI PoCs in weeks via 50+ accelerators across SAP, Oracle, ServiceNow &amp; more</a:t>
            </a:r>
            <a:endParaRPr lang="en-US" sz="1000"/>
          </a:p>
        </p:txBody>
      </p:sp>
      <p:sp>
        <p:nvSpPr>
          <p:cNvPr id="26" name="Text 16"/>
          <p:cNvSpPr txBox="1"/>
          <p:nvPr/>
        </p:nvSpPr>
        <p:spPr>
          <a:xfrm>
            <a:off x="6038698" y="26069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Lengthy consulting cycles with SI-driven models - higher costs &amp; slower results</a:t>
            </a:r>
            <a:endParaRPr lang="en-US" sz="1000"/>
          </a:p>
        </p:txBody>
      </p:sp>
      <p:sp>
        <p:nvSpPr>
          <p:cNvPr id="27" name="Text 17"/>
          <p:cNvSpPr txBox="1"/>
          <p:nvPr/>
        </p:nvSpPr>
        <p:spPr>
          <a:xfrm>
            <a:off x="8896198" y="27806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28" name="Text 18"/>
          <p:cNvSpPr txBox="1"/>
          <p:nvPr/>
        </p:nvSpPr>
        <p:spPr>
          <a:xfrm>
            <a:off x="609905" y="35908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AI / Data Governance</a:t>
            </a:r>
            <a:endParaRPr lang="en-US" sz="1000"/>
          </a:p>
        </p:txBody>
      </p:sp>
      <p:sp>
        <p:nvSpPr>
          <p:cNvPr id="29" name="Text 19"/>
          <p:cNvSpPr txBox="1"/>
          <p:nvPr/>
        </p:nvSpPr>
        <p:spPr>
          <a:xfrm>
            <a:off x="2895905" y="3321101"/>
            <a:ext cx="2762402" cy="6958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Pre-built guardrails. Mission-critical delivery in regulated industries (Fortune 500 MedTech). Data stays in your environment</a:t>
            </a:r>
            <a:endParaRPr lang="en-US" sz="1000"/>
          </a:p>
        </p:txBody>
      </p:sp>
      <p:sp>
        <p:nvSpPr>
          <p:cNvPr id="30" name="Text 20"/>
          <p:cNvSpPr txBox="1"/>
          <p:nvPr/>
        </p:nvSpPr>
        <p:spPr>
          <a:xfrm>
            <a:off x="6038698" y="34070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Claims excellence, but multiple public incidents (e.g. Deloitte AU govt penalties) undermine credibility</a:t>
            </a:r>
            <a:endParaRPr lang="en-US" sz="1000"/>
          </a:p>
        </p:txBody>
      </p:sp>
      <p:sp>
        <p:nvSpPr>
          <p:cNvPr id="31" name="Text 21"/>
          <p:cNvSpPr txBox="1"/>
          <p:nvPr/>
        </p:nvSpPr>
        <p:spPr>
          <a:xfrm>
            <a:off x="8896198" y="35807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32" name="Text 22"/>
          <p:cNvSpPr txBox="1"/>
          <p:nvPr/>
        </p:nvSpPr>
        <p:spPr>
          <a:xfrm>
            <a:off x="609905" y="43909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AI OPEX Optimisation</a:t>
            </a:r>
            <a:endParaRPr lang="en-US" sz="1000"/>
          </a:p>
        </p:txBody>
      </p:sp>
      <p:sp>
        <p:nvSpPr>
          <p:cNvPr id="33" name="Text 23"/>
          <p:cNvSpPr txBox="1"/>
          <p:nvPr/>
        </p:nvSpPr>
        <p:spPr>
          <a:xfrm>
            <a:off x="2895905" y="42071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30-40% reduction in AI OPEX via Query Routing, Semantic Caching, Precision RAG &amp; in-house SLMs</a:t>
            </a:r>
            <a:endParaRPr lang="en-US" sz="1000"/>
          </a:p>
        </p:txBody>
      </p:sp>
      <p:sp>
        <p:nvSpPr>
          <p:cNvPr id="34" name="Text 24"/>
          <p:cNvSpPr txBox="1"/>
          <p:nvPr/>
        </p:nvSpPr>
        <p:spPr>
          <a:xfrm>
            <a:off x="6038698" y="4294022"/>
            <a:ext cx="2477110"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SI </a:t>
            </a:r>
            <a:r>
              <a:rPr lang="en-US" sz="1000" err="1">
                <a:solidFill>
                  <a:srgbClr val="475569"/>
                </a:solidFill>
                <a:latin typeface="Raleway" pitchFamily="34" charset="0"/>
                <a:ea typeface="Raleway" pitchFamily="34" charset="-122"/>
                <a:cs typeface="Raleway" pitchFamily="34" charset="-120"/>
              </a:rPr>
              <a:t>incentivised</a:t>
            </a:r>
            <a:r>
              <a:rPr lang="en-US" sz="1000">
                <a:solidFill>
                  <a:srgbClr val="475569"/>
                </a:solidFill>
                <a:latin typeface="Raleway" pitchFamily="34" charset="0"/>
                <a:ea typeface="Raleway" pitchFamily="34" charset="-122"/>
                <a:cs typeface="Raleway" pitchFamily="34" charset="-120"/>
              </a:rPr>
              <a:t> to </a:t>
            </a:r>
            <a:r>
              <a:rPr lang="en-US" sz="1000" err="1">
                <a:solidFill>
                  <a:srgbClr val="475569"/>
                </a:solidFill>
                <a:latin typeface="Raleway" pitchFamily="34" charset="0"/>
                <a:ea typeface="Raleway" pitchFamily="34" charset="-122"/>
                <a:cs typeface="Raleway" pitchFamily="34" charset="-120"/>
              </a:rPr>
              <a:t>maximise</a:t>
            </a:r>
            <a:r>
              <a:rPr lang="en-US" sz="1000">
                <a:solidFill>
                  <a:srgbClr val="475569"/>
                </a:solidFill>
                <a:latin typeface="Raleway" pitchFamily="34" charset="0"/>
                <a:ea typeface="Raleway" pitchFamily="34" charset="-122"/>
                <a:cs typeface="Raleway" pitchFamily="34" charset="-120"/>
              </a:rPr>
              <a:t> </a:t>
            </a:r>
            <a:r>
              <a:rPr lang="en-US" sz="1000" err="1">
                <a:solidFill>
                  <a:srgbClr val="475569"/>
                </a:solidFill>
                <a:latin typeface="Raleway" pitchFamily="34" charset="0"/>
                <a:ea typeface="Raleway" pitchFamily="34" charset="-122"/>
                <a:cs typeface="Raleway" pitchFamily="34" charset="-120"/>
              </a:rPr>
              <a:t>licences</a:t>
            </a:r>
            <a:r>
              <a:rPr lang="en-US" sz="1000">
                <a:solidFill>
                  <a:srgbClr val="475569"/>
                </a:solidFill>
                <a:latin typeface="Raleway" pitchFamily="34" charset="0"/>
                <a:ea typeface="Raleway" pitchFamily="34" charset="-122"/>
                <a:cs typeface="Raleway" pitchFamily="34" charset="-120"/>
              </a:rPr>
              <a:t> &amp; tokens - not to </a:t>
            </a:r>
            <a:r>
              <a:rPr lang="en-US" sz="1000" err="1">
                <a:solidFill>
                  <a:srgbClr val="475569"/>
                </a:solidFill>
                <a:latin typeface="Raleway" pitchFamily="34" charset="0"/>
                <a:ea typeface="Raleway" pitchFamily="34" charset="-122"/>
                <a:cs typeface="Raleway" pitchFamily="34" charset="-120"/>
              </a:rPr>
              <a:t>optimise</a:t>
            </a:r>
            <a:r>
              <a:rPr lang="en-US" sz="1000">
                <a:solidFill>
                  <a:srgbClr val="475569"/>
                </a:solidFill>
                <a:latin typeface="Raleway" pitchFamily="34" charset="0"/>
                <a:ea typeface="Raleway" pitchFamily="34" charset="-122"/>
                <a:cs typeface="Raleway" pitchFamily="34" charset="-120"/>
              </a:rPr>
              <a:t> your cost</a:t>
            </a:r>
            <a:endParaRPr lang="en-US" sz="1000"/>
          </a:p>
        </p:txBody>
      </p:sp>
      <p:sp>
        <p:nvSpPr>
          <p:cNvPr id="35" name="Text 25"/>
          <p:cNvSpPr txBox="1"/>
          <p:nvPr/>
        </p:nvSpPr>
        <p:spPr>
          <a:xfrm>
            <a:off x="8896198" y="43808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36" name="Text 26"/>
          <p:cNvSpPr txBox="1"/>
          <p:nvPr/>
        </p:nvSpPr>
        <p:spPr>
          <a:xfrm>
            <a:off x="609905" y="5191049"/>
            <a:ext cx="2143354"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Talent &amp; Managed Services</a:t>
            </a:r>
            <a:endParaRPr lang="en-US" sz="1000"/>
          </a:p>
        </p:txBody>
      </p:sp>
      <p:sp>
        <p:nvSpPr>
          <p:cNvPr id="37" name="Text 27"/>
          <p:cNvSpPr txBox="1"/>
          <p:nvPr/>
        </p:nvSpPr>
        <p:spPr>
          <a:xfrm>
            <a:off x="2895905" y="50072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7,200+ in-house consultants · 300+ recruiters · 2 proprietary hiring platforms · No subcontracting</a:t>
            </a:r>
            <a:endParaRPr lang="en-US" sz="1000"/>
          </a:p>
        </p:txBody>
      </p:sp>
      <p:sp>
        <p:nvSpPr>
          <p:cNvPr id="38" name="Text 28"/>
          <p:cNvSpPr txBox="1"/>
          <p:nvPr/>
        </p:nvSpPr>
        <p:spPr>
          <a:xfrm>
            <a:off x="6038698" y="5094122"/>
            <a:ext cx="2477110"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Frequently subcontract. No proprietary hiring platforms</a:t>
            </a:r>
            <a:endParaRPr lang="en-US" sz="1000"/>
          </a:p>
        </p:txBody>
      </p:sp>
      <p:sp>
        <p:nvSpPr>
          <p:cNvPr id="39" name="Text 29"/>
          <p:cNvSpPr txBox="1"/>
          <p:nvPr/>
        </p:nvSpPr>
        <p:spPr>
          <a:xfrm>
            <a:off x="8896198" y="5094122"/>
            <a:ext cx="2496312"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Lacks SME depth &amp; governance. Outcome ownership absent</a:t>
            </a:r>
            <a:endParaRPr lang="en-US" sz="1000"/>
          </a:p>
        </p:txBody>
      </p:sp>
      <p:sp>
        <p:nvSpPr>
          <p:cNvPr id="40" name="Shape 30"/>
          <p:cNvSpPr/>
          <p:nvPr/>
        </p:nvSpPr>
        <p:spPr>
          <a:xfrm>
            <a:off x="2315261" y="5762549"/>
            <a:ext cx="9144" cy="828446"/>
          </a:xfrm>
          <a:prstGeom prst="rect">
            <a:avLst/>
          </a:prstGeom>
          <a:solidFill>
            <a:srgbClr val="E2E8F0"/>
          </a:solidFill>
          <a:ln w="12700">
            <a:solidFill>
              <a:srgbClr val="E2E8F0">
                <a:alpha val="0"/>
              </a:srgbClr>
            </a:solidFill>
            <a:prstDash val="solid"/>
          </a:ln>
        </p:spPr>
        <p:txBody>
          <a:bodyPr/>
          <a:lstStyle/>
          <a:p>
            <a:endParaRPr lang="en-US"/>
          </a:p>
        </p:txBody>
      </p:sp>
      <p:sp>
        <p:nvSpPr>
          <p:cNvPr id="41" name="Text 31"/>
          <p:cNvSpPr txBox="1"/>
          <p:nvPr/>
        </p:nvSpPr>
        <p:spPr>
          <a:xfrm>
            <a:off x="1185062" y="6072530"/>
            <a:ext cx="1043330" cy="210312"/>
          </a:xfrm>
          <a:prstGeom prst="rect">
            <a:avLst/>
          </a:prstGeom>
          <a:noFill/>
          <a:ln/>
        </p:spPr>
        <p:txBody>
          <a:bodyPr wrap="square" lIns="0" tIns="0" rIns="0" bIns="0" rtlCol="0" anchor="ctr"/>
          <a:lstStyle/>
          <a:p>
            <a:pPr marL="0" indent="0" algn="l">
              <a:buNone/>
            </a:pPr>
            <a:r>
              <a:rPr lang="en-US" sz="1100" b="1" kern="0" spc="56">
                <a:solidFill>
                  <a:srgbClr val="64748B"/>
                </a:solidFill>
                <a:latin typeface="Oswald" pitchFamily="34" charset="0"/>
                <a:ea typeface="Oswald" pitchFamily="34" charset="-122"/>
                <a:cs typeface="Oswald" pitchFamily="34" charset="-120"/>
              </a:rPr>
              <a:t> KEY METRICS</a:t>
            </a:r>
            <a:endParaRPr lang="en-US" sz="1100"/>
          </a:p>
        </p:txBody>
      </p:sp>
      <p:pic>
        <p:nvPicPr>
          <p:cNvPr id="42" name="Image 8" descr="gen-dedup-0bed6a635fcb1d23b7a23c5aaedf5133.png"/>
          <p:cNvPicPr>
            <a:picLocks noChangeAspect="1"/>
          </p:cNvPicPr>
          <p:nvPr/>
        </p:nvPicPr>
        <p:blipFill>
          <a:blip r:embed="rId8"/>
          <a:srcRect l="-3526" r="-3526"/>
          <a:stretch/>
        </p:blipFill>
        <p:spPr>
          <a:xfrm>
            <a:off x="913486" y="6118250"/>
            <a:ext cx="152705" cy="142646"/>
          </a:xfrm>
          <a:prstGeom prst="rect">
            <a:avLst/>
          </a:prstGeom>
        </p:spPr>
      </p:pic>
      <p:sp>
        <p:nvSpPr>
          <p:cNvPr id="43" name="Text 32"/>
          <p:cNvSpPr txBox="1"/>
          <p:nvPr/>
        </p:nvSpPr>
        <p:spPr>
          <a:xfrm>
            <a:off x="2506370"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5,500</a:t>
            </a:r>
            <a:endParaRPr lang="en-US" sz="1800"/>
          </a:p>
        </p:txBody>
      </p:sp>
      <p:sp>
        <p:nvSpPr>
          <p:cNvPr id="44" name="Text 33"/>
          <p:cNvSpPr txBox="1"/>
          <p:nvPr/>
        </p:nvSpPr>
        <p:spPr>
          <a:xfrm>
            <a:off x="2506370"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In-house Consultants</a:t>
            </a:r>
            <a:endParaRPr lang="en-US" sz="800"/>
          </a:p>
        </p:txBody>
      </p:sp>
      <p:pic>
        <p:nvPicPr>
          <p:cNvPr id="45" name="Image 9" descr="gen-dedup-bc499f386c10f37c45470adccc65c0cd.png"/>
          <p:cNvPicPr>
            <a:picLocks noChangeAspect="1"/>
          </p:cNvPicPr>
          <p:nvPr/>
        </p:nvPicPr>
        <p:blipFill>
          <a:blip r:embed="rId9"/>
          <a:srcRect t="-2165" b="-2165"/>
          <a:stretch/>
        </p:blipFill>
        <p:spPr>
          <a:xfrm>
            <a:off x="4225442" y="6034126"/>
            <a:ext cx="9144" cy="286207"/>
          </a:xfrm>
          <a:prstGeom prst="rect">
            <a:avLst/>
          </a:prstGeom>
        </p:spPr>
      </p:pic>
      <p:sp>
        <p:nvSpPr>
          <p:cNvPr id="46" name="Text 34"/>
          <p:cNvSpPr txBox="1"/>
          <p:nvPr/>
        </p:nvSpPr>
        <p:spPr>
          <a:xfrm>
            <a:off x="4321454" y="5981090"/>
            <a:ext cx="1638605" cy="228600"/>
          </a:xfrm>
          <a:prstGeom prst="rect">
            <a:avLst/>
          </a:prstGeom>
          <a:noFill/>
          <a:ln/>
        </p:spPr>
        <p:txBody>
          <a:bodyPr wrap="square" lIns="0" tIns="0" rIns="0" bIns="0" rtlCol="0" anchor="ctr"/>
          <a:lstStyle/>
          <a:p>
            <a:pPr marL="0" indent="0" algn="ctr">
              <a:buNone/>
            </a:pPr>
            <a:r>
              <a:rPr lang="en-US" b="1">
                <a:solidFill>
                  <a:srgbClr val="2A9D8F"/>
                </a:solidFill>
                <a:latin typeface="Oswald" pitchFamily="34" charset="0"/>
                <a:ea typeface="Oswald" pitchFamily="34" charset="-122"/>
                <a:cs typeface="Oswald" pitchFamily="34" charset="-120"/>
              </a:rPr>
              <a:t>6</a:t>
            </a:r>
            <a:r>
              <a:rPr lang="en-US" sz="1800" b="1">
                <a:solidFill>
                  <a:srgbClr val="2A9D8F"/>
                </a:solidFill>
                <a:latin typeface="Oswald" pitchFamily="34" charset="0"/>
                <a:ea typeface="Oswald" pitchFamily="34" charset="-122"/>
                <a:cs typeface="Oswald" pitchFamily="34" charset="-120"/>
              </a:rPr>
              <a:t>0+</a:t>
            </a:r>
            <a:endParaRPr lang="en-US" sz="1800"/>
          </a:p>
        </p:txBody>
      </p:sp>
      <p:sp>
        <p:nvSpPr>
          <p:cNvPr id="47" name="Text 35"/>
          <p:cNvSpPr txBox="1"/>
          <p:nvPr/>
        </p:nvSpPr>
        <p:spPr>
          <a:xfrm>
            <a:off x="4321454"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AI Accelerators</a:t>
            </a:r>
            <a:endParaRPr lang="en-US" sz="800"/>
          </a:p>
        </p:txBody>
      </p:sp>
      <p:pic>
        <p:nvPicPr>
          <p:cNvPr id="48" name="Image 10" descr="gen-dedup-bc499f386c10f37c45470adccc65c0cd.png"/>
          <p:cNvPicPr>
            <a:picLocks noChangeAspect="1"/>
          </p:cNvPicPr>
          <p:nvPr/>
        </p:nvPicPr>
        <p:blipFill>
          <a:blip r:embed="rId9"/>
          <a:srcRect t="-2165" b="-2165"/>
          <a:stretch/>
        </p:blipFill>
        <p:spPr>
          <a:xfrm>
            <a:off x="6040526" y="6034126"/>
            <a:ext cx="9144" cy="286207"/>
          </a:xfrm>
          <a:prstGeom prst="rect">
            <a:avLst/>
          </a:prstGeom>
        </p:spPr>
      </p:pic>
      <p:sp>
        <p:nvSpPr>
          <p:cNvPr id="49" name="Text 36"/>
          <p:cNvSpPr txBox="1"/>
          <p:nvPr/>
        </p:nvSpPr>
        <p:spPr>
          <a:xfrm>
            <a:off x="6137453"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30-40%</a:t>
            </a:r>
            <a:endParaRPr lang="en-US" sz="1800"/>
          </a:p>
        </p:txBody>
      </p:sp>
      <p:sp>
        <p:nvSpPr>
          <p:cNvPr id="50" name="Text 37"/>
          <p:cNvSpPr txBox="1"/>
          <p:nvPr/>
        </p:nvSpPr>
        <p:spPr>
          <a:xfrm>
            <a:off x="6137453"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AI OPEX Reduction</a:t>
            </a:r>
            <a:endParaRPr lang="en-US" sz="800"/>
          </a:p>
        </p:txBody>
      </p:sp>
      <p:pic>
        <p:nvPicPr>
          <p:cNvPr id="51" name="Image 11" descr="gen-dedup-bc499f386c10f37c45470adccc65c0cd.png"/>
          <p:cNvPicPr>
            <a:picLocks noChangeAspect="1"/>
          </p:cNvPicPr>
          <p:nvPr/>
        </p:nvPicPr>
        <p:blipFill>
          <a:blip r:embed="rId9"/>
          <a:srcRect t="-2165" b="-2165"/>
          <a:stretch/>
        </p:blipFill>
        <p:spPr>
          <a:xfrm>
            <a:off x="7856525" y="6034126"/>
            <a:ext cx="9144" cy="286207"/>
          </a:xfrm>
          <a:prstGeom prst="rect">
            <a:avLst/>
          </a:prstGeom>
        </p:spPr>
      </p:pic>
      <p:sp>
        <p:nvSpPr>
          <p:cNvPr id="52" name="Text 38"/>
          <p:cNvSpPr txBox="1"/>
          <p:nvPr/>
        </p:nvSpPr>
        <p:spPr>
          <a:xfrm>
            <a:off x="7952537" y="5981090"/>
            <a:ext cx="1638605" cy="228600"/>
          </a:xfrm>
          <a:prstGeom prst="rect">
            <a:avLst/>
          </a:prstGeom>
          <a:noFill/>
          <a:ln/>
        </p:spPr>
        <p:txBody>
          <a:bodyPr wrap="square" lIns="0" tIns="0" rIns="0" bIns="0" rtlCol="0" anchor="ctr"/>
          <a:lstStyle/>
          <a:p>
            <a:pPr marL="0" indent="0" algn="ctr">
              <a:buNone/>
            </a:pPr>
            <a:r>
              <a:rPr lang="en-US" sz="1800" b="1">
                <a:solidFill>
                  <a:srgbClr val="2A9D8F"/>
                </a:solidFill>
                <a:latin typeface="Oswald" pitchFamily="34" charset="0"/>
                <a:ea typeface="Oswald" pitchFamily="34" charset="-122"/>
                <a:cs typeface="Oswald" pitchFamily="34" charset="-120"/>
              </a:rPr>
              <a:t>Weeks</a:t>
            </a:r>
            <a:endParaRPr lang="en-US" sz="1800"/>
          </a:p>
        </p:txBody>
      </p:sp>
      <p:sp>
        <p:nvSpPr>
          <p:cNvPr id="53" name="Text 39"/>
          <p:cNvSpPr txBox="1"/>
          <p:nvPr/>
        </p:nvSpPr>
        <p:spPr>
          <a:xfrm>
            <a:off x="7952537"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PoC to Production</a:t>
            </a:r>
            <a:endParaRPr lang="en-US" sz="800"/>
          </a:p>
        </p:txBody>
      </p:sp>
      <p:pic>
        <p:nvPicPr>
          <p:cNvPr id="54" name="Image 12" descr="gen-dedup-bc499f386c10f37c45470adccc65c0cd.png"/>
          <p:cNvPicPr>
            <a:picLocks noChangeAspect="1"/>
          </p:cNvPicPr>
          <p:nvPr/>
        </p:nvPicPr>
        <p:blipFill>
          <a:blip r:embed="rId9"/>
          <a:srcRect t="-2165" b="-2165"/>
          <a:stretch/>
        </p:blipFill>
        <p:spPr>
          <a:xfrm>
            <a:off x="9671609" y="6034126"/>
            <a:ext cx="9144" cy="286207"/>
          </a:xfrm>
          <a:prstGeom prst="rect">
            <a:avLst/>
          </a:prstGeom>
        </p:spPr>
      </p:pic>
      <p:sp>
        <p:nvSpPr>
          <p:cNvPr id="55" name="Text 40"/>
          <p:cNvSpPr txBox="1"/>
          <p:nvPr/>
        </p:nvSpPr>
        <p:spPr>
          <a:xfrm>
            <a:off x="9767621"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0</a:t>
            </a:r>
            <a:endParaRPr lang="en-US" sz="1800"/>
          </a:p>
        </p:txBody>
      </p:sp>
      <p:sp>
        <p:nvSpPr>
          <p:cNvPr id="56" name="Text 41"/>
          <p:cNvSpPr txBox="1"/>
          <p:nvPr/>
        </p:nvSpPr>
        <p:spPr>
          <a:xfrm>
            <a:off x="9767621"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Subcontracting</a:t>
            </a:r>
            <a:endParaRPr lang="en-US" sz="800"/>
          </a:p>
        </p:txBody>
      </p:sp>
    </p:spTree>
    <p:extLst>
      <p:ext uri="{BB962C8B-B14F-4D97-AF65-F5344CB8AC3E}">
        <p14:creationId xmlns:p14="http://schemas.microsoft.com/office/powerpoint/2010/main" val="30727688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32585" y="232488"/>
            <a:ext cx="10881360" cy="868680"/>
          </a:xfrm>
          <a:prstGeom prst="rect">
            <a:avLst/>
          </a:prstGeom>
          <a:noFill/>
          <a:ln/>
        </p:spPr>
        <p:txBody>
          <a:bodyPr wrap="square" lIns="0" tIns="0" rIns="0" bIns="0" rtlCol="0" anchor="ctr"/>
          <a:lstStyle/>
          <a:p>
            <a:pPr>
              <a:lnSpc>
                <a:spcPts val="2940"/>
              </a:lnSpc>
            </a:pPr>
            <a:r>
              <a:rPr lang="en-US" sz="2400" b="1" dirty="0">
                <a:solidFill>
                  <a:srgbClr val="1B2A4A"/>
                </a:solidFill>
                <a:latin typeface="Oswald" panose="00000500000000000000" pitchFamily="2" charset="0"/>
                <a:ea typeface="Georgia" pitchFamily="34" charset="-122"/>
                <a:cs typeface="Georgia" pitchFamily="34" charset="-120"/>
              </a:rPr>
              <a:t>OUR ENGAGEMENT MODEL</a:t>
            </a:r>
            <a:endParaRPr lang="en-US" sz="2400" dirty="0">
              <a:latin typeface="Oswald" panose="00000500000000000000" pitchFamily="2" charset="0"/>
            </a:endParaRPr>
          </a:p>
        </p:txBody>
      </p:sp>
      <p:sp>
        <p:nvSpPr>
          <p:cNvPr id="3" name="Text 1"/>
          <p:cNvSpPr/>
          <p:nvPr/>
        </p:nvSpPr>
        <p:spPr>
          <a:xfrm>
            <a:off x="832585" y="815760"/>
            <a:ext cx="10881360" cy="365760"/>
          </a:xfrm>
          <a:prstGeom prst="rect">
            <a:avLst/>
          </a:prstGeom>
          <a:noFill/>
          <a:ln/>
        </p:spPr>
        <p:txBody>
          <a:bodyPr wrap="square" lIns="0" tIns="0" rIns="0" bIns="0" rtlCol="0" anchor="ctr"/>
          <a:lstStyle/>
          <a:p>
            <a:r>
              <a:rPr lang="en-US" sz="1500" b="1" dirty="0">
                <a:solidFill>
                  <a:srgbClr val="2A9D8F"/>
                </a:solidFill>
                <a:latin typeface="Roboto Condensed" panose="02000000000000000000" pitchFamily="2" charset="0"/>
                <a:ea typeface="Roboto Condensed" panose="02000000000000000000" pitchFamily="2" charset="0"/>
                <a:cs typeface="Roboto Condensed" panose="02000000000000000000" pitchFamily="2" charset="0"/>
              </a:rPr>
              <a:t>Three Ways To Engage - Each Built Around How The Workforce Is Hired, Held And Transitioned To You.</a:t>
            </a:r>
          </a:p>
        </p:txBody>
      </p:sp>
      <p:sp>
        <p:nvSpPr>
          <p:cNvPr id="4" name="Shape 2"/>
          <p:cNvSpPr/>
          <p:nvPr/>
        </p:nvSpPr>
        <p:spPr>
          <a:xfrm>
            <a:off x="640080" y="1874520"/>
            <a:ext cx="3529584" cy="2286000"/>
          </a:xfrm>
          <a:prstGeom prst="rect">
            <a:avLst/>
          </a:prstGeom>
          <a:solidFill>
            <a:srgbClr val="F4F6FA"/>
          </a:solidFill>
          <a:ln/>
          <a:effectLst>
            <a:outerShdw blurRad="88900" dist="25400" dir="8100000" algn="bl" rotWithShape="0">
              <a:srgbClr val="000000">
                <a:alpha val="10000"/>
              </a:srgbClr>
            </a:outerShdw>
          </a:effectLst>
        </p:spPr>
        <p:txBody>
          <a:bodyPr/>
          <a:lstStyle/>
          <a:p>
            <a:endParaRPr lang="en-IN">
              <a:latin typeface="Raleway" pitchFamily="2" charset="0"/>
            </a:endParaRPr>
          </a:p>
        </p:txBody>
      </p:sp>
      <p:sp>
        <p:nvSpPr>
          <p:cNvPr id="6" name="Shape 4"/>
          <p:cNvSpPr/>
          <p:nvPr/>
        </p:nvSpPr>
        <p:spPr>
          <a:xfrm>
            <a:off x="914400" y="2148840"/>
            <a:ext cx="603504" cy="603504"/>
          </a:xfrm>
          <a:prstGeom prst="ellipse">
            <a:avLst/>
          </a:prstGeom>
          <a:solidFill>
            <a:srgbClr val="E9EEF6"/>
          </a:solidFill>
          <a:ln/>
        </p:spPr>
        <p:txBody>
          <a:bodyPr/>
          <a:lstStyle/>
          <a:p>
            <a:endParaRPr lang="en-IN">
              <a:latin typeface="Raleway" pitchFamily="2" charset="0"/>
            </a:endParaRPr>
          </a:p>
        </p:txBody>
      </p:sp>
      <p:pic>
        <p:nvPicPr>
          <p:cNvPr id="7" name="Image 0" descr="preencoded.png"/>
          <p:cNvPicPr>
            <a:picLocks noChangeAspect="1"/>
          </p:cNvPicPr>
          <p:nvPr/>
        </p:nvPicPr>
        <p:blipFill>
          <a:blip r:embed="rId3"/>
          <a:stretch>
            <a:fillRect/>
          </a:stretch>
        </p:blipFill>
        <p:spPr>
          <a:xfrm>
            <a:off x="1069848" y="2304288"/>
            <a:ext cx="292608" cy="292608"/>
          </a:xfrm>
          <a:prstGeom prst="rect">
            <a:avLst/>
          </a:prstGeom>
        </p:spPr>
      </p:pic>
      <p:sp>
        <p:nvSpPr>
          <p:cNvPr id="8" name="Text 5"/>
          <p:cNvSpPr/>
          <p:nvPr/>
        </p:nvSpPr>
        <p:spPr>
          <a:xfrm>
            <a:off x="1627632" y="2148840"/>
            <a:ext cx="2432304" cy="365760"/>
          </a:xfrm>
          <a:prstGeom prst="rect">
            <a:avLst/>
          </a:prstGeom>
          <a:noFill/>
          <a:ln/>
        </p:spPr>
        <p:txBody>
          <a:bodyPr wrap="square" lIns="0" tIns="0" rIns="0" bIns="0" rtlCol="0" anchor="ctr"/>
          <a:lstStyle/>
          <a:p>
            <a:r>
              <a:rPr lang="en-US" sz="2200" b="1">
                <a:solidFill>
                  <a:srgbClr val="1B2A4A"/>
                </a:solidFill>
                <a:latin typeface="Raleway" pitchFamily="2" charset="0"/>
                <a:ea typeface="Georgia" pitchFamily="34" charset="-122"/>
                <a:cs typeface="Georgia" pitchFamily="34" charset="-120"/>
              </a:rPr>
              <a:t>BOT</a:t>
            </a:r>
            <a:endParaRPr lang="en-US" sz="2200">
              <a:latin typeface="Raleway" pitchFamily="2" charset="0"/>
            </a:endParaRPr>
          </a:p>
        </p:txBody>
      </p:sp>
      <p:sp>
        <p:nvSpPr>
          <p:cNvPr id="9" name="Text 6"/>
          <p:cNvSpPr/>
          <p:nvPr/>
        </p:nvSpPr>
        <p:spPr>
          <a:xfrm>
            <a:off x="1627632" y="2532888"/>
            <a:ext cx="2432304" cy="256032"/>
          </a:xfrm>
          <a:prstGeom prst="rect">
            <a:avLst/>
          </a:prstGeom>
          <a:noFill/>
          <a:ln/>
        </p:spPr>
        <p:txBody>
          <a:bodyPr wrap="square" lIns="0" tIns="0" rIns="0" bIns="0" rtlCol="0" anchor="ctr"/>
          <a:lstStyle/>
          <a:p>
            <a:r>
              <a:rPr lang="en-US" sz="1000" b="1">
                <a:solidFill>
                  <a:srgbClr val="147A6F"/>
                </a:solidFill>
                <a:latin typeface="Raleway" pitchFamily="2" charset="0"/>
                <a:ea typeface="Calibri" pitchFamily="34" charset="-122"/>
                <a:cs typeface="Calibri" pitchFamily="34" charset="-120"/>
              </a:rPr>
              <a:t>Build–Operate–Transfer</a:t>
            </a:r>
            <a:endParaRPr lang="en-US" sz="1000">
              <a:latin typeface="Raleway" pitchFamily="2" charset="0"/>
            </a:endParaRPr>
          </a:p>
        </p:txBody>
      </p:sp>
      <p:sp>
        <p:nvSpPr>
          <p:cNvPr id="10" name="Text 7"/>
          <p:cNvSpPr/>
          <p:nvPr/>
        </p:nvSpPr>
        <p:spPr>
          <a:xfrm>
            <a:off x="914400" y="2898648"/>
            <a:ext cx="3026664" cy="1188720"/>
          </a:xfrm>
          <a:prstGeom prst="rect">
            <a:avLst/>
          </a:prstGeom>
          <a:noFill/>
          <a:ln/>
        </p:spPr>
        <p:txBody>
          <a:bodyPr wrap="square" lIns="0" tIns="0" rIns="0" bIns="0" rtlCol="0" anchor="ctr"/>
          <a:lstStyle/>
          <a:p>
            <a:pPr>
              <a:lnSpc>
                <a:spcPts val="1300"/>
              </a:lnSpc>
            </a:pPr>
            <a:r>
              <a:rPr lang="en-US" sz="1031" dirty="0">
                <a:solidFill>
                  <a:srgbClr val="16203A"/>
                </a:solidFill>
                <a:latin typeface="Raleway" pitchFamily="2" charset="0"/>
                <a:ea typeface="Calibri" pitchFamily="34" charset="-122"/>
                <a:cs typeface="Calibri" pitchFamily="34" charset="-120"/>
              </a:rPr>
              <a:t>We hire, build and run the team, then transfer the workforce to your payroll on a defined timeline. Clean, de-risked path - ideal for Southwest's phased scale to 1,000+.</a:t>
            </a:r>
            <a:endParaRPr lang="en-US" sz="1031" dirty="0">
              <a:latin typeface="Raleway" pitchFamily="2" charset="0"/>
            </a:endParaRPr>
          </a:p>
        </p:txBody>
      </p:sp>
      <p:sp>
        <p:nvSpPr>
          <p:cNvPr id="11" name="Shape 8"/>
          <p:cNvSpPr/>
          <p:nvPr/>
        </p:nvSpPr>
        <p:spPr>
          <a:xfrm>
            <a:off x="4370832" y="1874520"/>
            <a:ext cx="3529584" cy="2286000"/>
          </a:xfrm>
          <a:prstGeom prst="rect">
            <a:avLst/>
          </a:prstGeom>
          <a:solidFill>
            <a:srgbClr val="F4F6FA"/>
          </a:solidFill>
          <a:ln/>
          <a:effectLst>
            <a:outerShdw blurRad="88900" dist="25400" dir="8100000" algn="bl" rotWithShape="0">
              <a:srgbClr val="000000">
                <a:alpha val="10000"/>
              </a:srgbClr>
            </a:outerShdw>
          </a:effectLst>
        </p:spPr>
        <p:txBody>
          <a:bodyPr/>
          <a:lstStyle/>
          <a:p>
            <a:endParaRPr lang="en-IN">
              <a:latin typeface="Raleway" pitchFamily="2" charset="0"/>
            </a:endParaRPr>
          </a:p>
        </p:txBody>
      </p:sp>
      <p:sp>
        <p:nvSpPr>
          <p:cNvPr id="13" name="Shape 10"/>
          <p:cNvSpPr/>
          <p:nvPr/>
        </p:nvSpPr>
        <p:spPr>
          <a:xfrm>
            <a:off x="4645152" y="2148840"/>
            <a:ext cx="603504" cy="603504"/>
          </a:xfrm>
          <a:prstGeom prst="ellipse">
            <a:avLst/>
          </a:prstGeom>
          <a:solidFill>
            <a:srgbClr val="E9EEF6"/>
          </a:solidFill>
          <a:ln/>
        </p:spPr>
        <p:txBody>
          <a:bodyPr/>
          <a:lstStyle/>
          <a:p>
            <a:endParaRPr lang="en-IN">
              <a:latin typeface="Raleway" pitchFamily="2" charset="0"/>
            </a:endParaRPr>
          </a:p>
        </p:txBody>
      </p:sp>
      <p:pic>
        <p:nvPicPr>
          <p:cNvPr id="14" name="Image 1" descr="preencoded.png"/>
          <p:cNvPicPr>
            <a:picLocks noChangeAspect="1"/>
          </p:cNvPicPr>
          <p:nvPr/>
        </p:nvPicPr>
        <p:blipFill>
          <a:blip r:embed="rId4"/>
          <a:stretch>
            <a:fillRect/>
          </a:stretch>
        </p:blipFill>
        <p:spPr>
          <a:xfrm>
            <a:off x="4800600" y="2304288"/>
            <a:ext cx="292608" cy="292608"/>
          </a:xfrm>
          <a:prstGeom prst="rect">
            <a:avLst/>
          </a:prstGeom>
        </p:spPr>
      </p:pic>
      <p:sp>
        <p:nvSpPr>
          <p:cNvPr id="15" name="Text 11"/>
          <p:cNvSpPr/>
          <p:nvPr/>
        </p:nvSpPr>
        <p:spPr>
          <a:xfrm>
            <a:off x="5358384" y="2148840"/>
            <a:ext cx="2432304" cy="365760"/>
          </a:xfrm>
          <a:prstGeom prst="rect">
            <a:avLst/>
          </a:prstGeom>
          <a:noFill/>
          <a:ln/>
        </p:spPr>
        <p:txBody>
          <a:bodyPr wrap="square" lIns="0" tIns="0" rIns="0" bIns="0" rtlCol="0" anchor="ctr"/>
          <a:lstStyle/>
          <a:p>
            <a:r>
              <a:rPr lang="en-US" sz="2200" b="1">
                <a:solidFill>
                  <a:srgbClr val="1B2A4A"/>
                </a:solidFill>
                <a:latin typeface="Raleway" pitchFamily="2" charset="0"/>
                <a:ea typeface="Georgia" pitchFamily="34" charset="-122"/>
                <a:cs typeface="Georgia" pitchFamily="34" charset="-120"/>
              </a:rPr>
              <a:t>CaaS</a:t>
            </a:r>
            <a:endParaRPr lang="en-US" sz="2200">
              <a:latin typeface="Raleway" pitchFamily="2" charset="0"/>
            </a:endParaRPr>
          </a:p>
        </p:txBody>
      </p:sp>
      <p:sp>
        <p:nvSpPr>
          <p:cNvPr id="16" name="Text 12"/>
          <p:cNvSpPr/>
          <p:nvPr/>
        </p:nvSpPr>
        <p:spPr>
          <a:xfrm>
            <a:off x="5358384" y="2532888"/>
            <a:ext cx="2432304" cy="256032"/>
          </a:xfrm>
          <a:prstGeom prst="rect">
            <a:avLst/>
          </a:prstGeom>
          <a:noFill/>
          <a:ln/>
        </p:spPr>
        <p:txBody>
          <a:bodyPr wrap="square" lIns="0" tIns="0" rIns="0" bIns="0" rtlCol="0" anchor="ctr"/>
          <a:lstStyle/>
          <a:p>
            <a:r>
              <a:rPr lang="en-US" sz="1000" b="1">
                <a:solidFill>
                  <a:srgbClr val="147A6F"/>
                </a:solidFill>
                <a:latin typeface="Raleway" pitchFamily="2" charset="0"/>
                <a:ea typeface="Calibri" pitchFamily="34" charset="-122"/>
                <a:cs typeface="Calibri" pitchFamily="34" charset="-120"/>
              </a:rPr>
              <a:t>Captive-as-a-Service</a:t>
            </a:r>
            <a:endParaRPr lang="en-US" sz="1000">
              <a:latin typeface="Raleway" pitchFamily="2" charset="0"/>
            </a:endParaRPr>
          </a:p>
        </p:txBody>
      </p:sp>
      <p:sp>
        <p:nvSpPr>
          <p:cNvPr id="17" name="Text 13"/>
          <p:cNvSpPr/>
          <p:nvPr/>
        </p:nvSpPr>
        <p:spPr>
          <a:xfrm>
            <a:off x="4645152" y="2898648"/>
            <a:ext cx="3026664" cy="1188720"/>
          </a:xfrm>
          <a:prstGeom prst="rect">
            <a:avLst/>
          </a:prstGeom>
          <a:noFill/>
          <a:ln/>
        </p:spPr>
        <p:txBody>
          <a:bodyPr wrap="square" lIns="0" tIns="0" rIns="0" bIns="0" rtlCol="0" anchor="ctr"/>
          <a:lstStyle/>
          <a:p>
            <a:pPr>
              <a:lnSpc>
                <a:spcPts val="1300"/>
              </a:lnSpc>
            </a:pPr>
            <a:r>
              <a:rPr lang="en-US" sz="1031">
                <a:solidFill>
                  <a:srgbClr val="16203A"/>
                </a:solidFill>
                <a:latin typeface="Raleway" pitchFamily="2" charset="0"/>
                <a:ea typeface="Calibri" pitchFamily="34" charset="-122"/>
                <a:cs typeface="Calibri" pitchFamily="34" charset="-120"/>
              </a:rPr>
              <a:t>We hold the employment and operating layer; you direct the work. Zero-capex, variable workforce that flexes with demand.</a:t>
            </a:r>
            <a:endParaRPr lang="en-US" sz="1031">
              <a:latin typeface="Raleway" pitchFamily="2" charset="0"/>
            </a:endParaRPr>
          </a:p>
        </p:txBody>
      </p:sp>
      <p:sp>
        <p:nvSpPr>
          <p:cNvPr id="18" name="Shape 14"/>
          <p:cNvSpPr/>
          <p:nvPr/>
        </p:nvSpPr>
        <p:spPr>
          <a:xfrm>
            <a:off x="8101584" y="1874520"/>
            <a:ext cx="3529584" cy="2286000"/>
          </a:xfrm>
          <a:prstGeom prst="rect">
            <a:avLst/>
          </a:prstGeom>
          <a:solidFill>
            <a:srgbClr val="F4F6FA"/>
          </a:solidFill>
          <a:ln/>
          <a:effectLst>
            <a:outerShdw blurRad="88900" dist="25400" dir="8100000" algn="bl" rotWithShape="0">
              <a:srgbClr val="000000">
                <a:alpha val="10000"/>
              </a:srgbClr>
            </a:outerShdw>
          </a:effectLst>
        </p:spPr>
        <p:txBody>
          <a:bodyPr/>
          <a:lstStyle/>
          <a:p>
            <a:endParaRPr lang="en-IN">
              <a:latin typeface="Raleway" pitchFamily="2" charset="0"/>
            </a:endParaRPr>
          </a:p>
        </p:txBody>
      </p:sp>
      <p:sp>
        <p:nvSpPr>
          <p:cNvPr id="20" name="Shape 16"/>
          <p:cNvSpPr/>
          <p:nvPr/>
        </p:nvSpPr>
        <p:spPr>
          <a:xfrm>
            <a:off x="8375904" y="2148840"/>
            <a:ext cx="603504" cy="603504"/>
          </a:xfrm>
          <a:prstGeom prst="ellipse">
            <a:avLst/>
          </a:prstGeom>
          <a:solidFill>
            <a:srgbClr val="E9EEF6"/>
          </a:solidFill>
          <a:ln/>
        </p:spPr>
        <p:txBody>
          <a:bodyPr/>
          <a:lstStyle/>
          <a:p>
            <a:endParaRPr lang="en-IN">
              <a:latin typeface="Raleway" pitchFamily="2" charset="0"/>
            </a:endParaRPr>
          </a:p>
        </p:txBody>
      </p:sp>
      <p:pic>
        <p:nvPicPr>
          <p:cNvPr id="21" name="Image 2" descr="preencoded.png"/>
          <p:cNvPicPr>
            <a:picLocks noChangeAspect="1"/>
          </p:cNvPicPr>
          <p:nvPr/>
        </p:nvPicPr>
        <p:blipFill>
          <a:blip r:embed="rId5"/>
          <a:stretch>
            <a:fillRect/>
          </a:stretch>
        </p:blipFill>
        <p:spPr>
          <a:xfrm>
            <a:off x="8531352" y="2304288"/>
            <a:ext cx="292608" cy="292608"/>
          </a:xfrm>
          <a:prstGeom prst="rect">
            <a:avLst/>
          </a:prstGeom>
        </p:spPr>
      </p:pic>
      <p:sp>
        <p:nvSpPr>
          <p:cNvPr id="22" name="Text 17"/>
          <p:cNvSpPr/>
          <p:nvPr/>
        </p:nvSpPr>
        <p:spPr>
          <a:xfrm>
            <a:off x="9089136" y="2148840"/>
            <a:ext cx="2432304" cy="365760"/>
          </a:xfrm>
          <a:prstGeom prst="rect">
            <a:avLst/>
          </a:prstGeom>
          <a:noFill/>
          <a:ln/>
        </p:spPr>
        <p:txBody>
          <a:bodyPr wrap="square" lIns="0" tIns="0" rIns="0" bIns="0" rtlCol="0" anchor="ctr"/>
          <a:lstStyle/>
          <a:p>
            <a:r>
              <a:rPr lang="en-US" sz="2200" b="1">
                <a:solidFill>
                  <a:srgbClr val="1B2A4A"/>
                </a:solidFill>
                <a:latin typeface="Raleway" pitchFamily="2" charset="0"/>
                <a:ea typeface="Georgia" pitchFamily="34" charset="-122"/>
                <a:cs typeface="Georgia" pitchFamily="34" charset="-120"/>
              </a:rPr>
              <a:t>HYBRID</a:t>
            </a:r>
            <a:endParaRPr lang="en-US" sz="2200">
              <a:latin typeface="Raleway" pitchFamily="2" charset="0"/>
            </a:endParaRPr>
          </a:p>
        </p:txBody>
      </p:sp>
      <p:sp>
        <p:nvSpPr>
          <p:cNvPr id="23" name="Text 18"/>
          <p:cNvSpPr/>
          <p:nvPr/>
        </p:nvSpPr>
        <p:spPr>
          <a:xfrm>
            <a:off x="9089136" y="2532888"/>
            <a:ext cx="2432304" cy="256032"/>
          </a:xfrm>
          <a:prstGeom prst="rect">
            <a:avLst/>
          </a:prstGeom>
          <a:noFill/>
          <a:ln/>
        </p:spPr>
        <p:txBody>
          <a:bodyPr wrap="square" lIns="0" tIns="0" rIns="0" bIns="0" rtlCol="0" anchor="ctr"/>
          <a:lstStyle/>
          <a:p>
            <a:r>
              <a:rPr lang="en-US" sz="1000" b="1">
                <a:solidFill>
                  <a:srgbClr val="147A6F"/>
                </a:solidFill>
                <a:latin typeface="Raleway" pitchFamily="2" charset="0"/>
                <a:ea typeface="Calibri" pitchFamily="34" charset="-122"/>
                <a:cs typeface="Calibri" pitchFamily="34" charset="-120"/>
              </a:rPr>
              <a:t>Calibrated to mandate</a:t>
            </a:r>
            <a:endParaRPr lang="en-US" sz="1000">
              <a:latin typeface="Raleway" pitchFamily="2" charset="0"/>
            </a:endParaRPr>
          </a:p>
        </p:txBody>
      </p:sp>
      <p:sp>
        <p:nvSpPr>
          <p:cNvPr id="24" name="Text 19"/>
          <p:cNvSpPr/>
          <p:nvPr/>
        </p:nvSpPr>
        <p:spPr>
          <a:xfrm>
            <a:off x="8375904" y="2898648"/>
            <a:ext cx="3026664" cy="1188720"/>
          </a:xfrm>
          <a:prstGeom prst="rect">
            <a:avLst/>
          </a:prstGeom>
          <a:noFill/>
          <a:ln/>
        </p:spPr>
        <p:txBody>
          <a:bodyPr wrap="square" lIns="0" tIns="0" rIns="0" bIns="0" rtlCol="0" anchor="ctr"/>
          <a:lstStyle/>
          <a:p>
            <a:pPr>
              <a:lnSpc>
                <a:spcPts val="1300"/>
              </a:lnSpc>
            </a:pPr>
            <a:r>
              <a:rPr lang="en-US" sz="1031">
                <a:solidFill>
                  <a:srgbClr val="16203A"/>
                </a:solidFill>
                <a:latin typeface="Raleway" pitchFamily="2" charset="0"/>
                <a:ea typeface="Calibri" pitchFamily="34" charset="-122"/>
                <a:cs typeface="Calibri" pitchFamily="34" charset="-120"/>
              </a:rPr>
              <a:t>Core IP and leadership hired direct to you; scale roles stay on our books and transition on a ~3-month cadence. Most common for AI-first hubs.</a:t>
            </a:r>
            <a:endParaRPr lang="en-US" sz="1031">
              <a:latin typeface="Raleway" pitchFamily="2" charset="0"/>
            </a:endParaRPr>
          </a:p>
        </p:txBody>
      </p:sp>
      <p:sp>
        <p:nvSpPr>
          <p:cNvPr id="25" name="Shape 20"/>
          <p:cNvSpPr/>
          <p:nvPr/>
        </p:nvSpPr>
        <p:spPr>
          <a:xfrm>
            <a:off x="640082" y="4434839"/>
            <a:ext cx="10911535" cy="1715703"/>
          </a:xfrm>
          <a:prstGeom prst="rect">
            <a:avLst/>
          </a:prstGeom>
          <a:solidFill>
            <a:schemeClr val="bg1">
              <a:lumMod val="95000"/>
            </a:schemeClr>
          </a:solidFill>
          <a:ln/>
          <a:effectLst>
            <a:outerShdw blurRad="114300" dist="38100" dir="8100000" algn="bl" rotWithShape="0">
              <a:srgbClr val="000000">
                <a:alpha val="16000"/>
              </a:srgbClr>
            </a:outerShdw>
          </a:effectLst>
        </p:spPr>
        <p:txBody>
          <a:bodyPr/>
          <a:lstStyle/>
          <a:p>
            <a:endParaRPr lang="en-IN">
              <a:latin typeface="Raleway" pitchFamily="2" charset="0"/>
            </a:endParaRPr>
          </a:p>
        </p:txBody>
      </p:sp>
      <p:sp>
        <p:nvSpPr>
          <p:cNvPr id="27" name="Text 22"/>
          <p:cNvSpPr/>
          <p:nvPr/>
        </p:nvSpPr>
        <p:spPr>
          <a:xfrm>
            <a:off x="960120" y="4608576"/>
            <a:ext cx="10058400" cy="274320"/>
          </a:xfrm>
          <a:prstGeom prst="rect">
            <a:avLst/>
          </a:prstGeom>
          <a:noFill/>
          <a:ln/>
        </p:spPr>
        <p:txBody>
          <a:bodyPr wrap="square" lIns="0" tIns="0" rIns="0" bIns="0" rtlCol="0" anchor="ctr"/>
          <a:lstStyle/>
          <a:p>
            <a:r>
              <a:rPr lang="en-US" sz="1100" b="1" kern="0" spc="151" dirty="0">
                <a:solidFill>
                  <a:srgbClr val="2A9D8F"/>
                </a:solidFill>
                <a:latin typeface="Raleway" pitchFamily="2" charset="0"/>
                <a:ea typeface="Calibri" pitchFamily="34" charset="-122"/>
                <a:cs typeface="Calibri" pitchFamily="34" charset="-120"/>
              </a:rPr>
              <a:t>HOW WE POSITION THE PARTNERSHIP</a:t>
            </a:r>
            <a:endParaRPr lang="en-US" sz="1100" dirty="0">
              <a:solidFill>
                <a:srgbClr val="2A9D8F"/>
              </a:solidFill>
              <a:latin typeface="Raleway" pitchFamily="2" charset="0"/>
            </a:endParaRPr>
          </a:p>
        </p:txBody>
      </p:sp>
      <p:sp>
        <p:nvSpPr>
          <p:cNvPr id="28" name="Text 23"/>
          <p:cNvSpPr/>
          <p:nvPr/>
        </p:nvSpPr>
        <p:spPr>
          <a:xfrm>
            <a:off x="960120" y="4901184"/>
            <a:ext cx="10881360" cy="411480"/>
          </a:xfrm>
          <a:prstGeom prst="rect">
            <a:avLst/>
          </a:prstGeom>
          <a:noFill/>
          <a:ln/>
        </p:spPr>
        <p:txBody>
          <a:bodyPr wrap="square" lIns="0" tIns="0" rIns="0" bIns="0" rtlCol="0" anchor="ctr"/>
          <a:lstStyle/>
          <a:p>
            <a:r>
              <a:rPr lang="en-US" sz="1600" b="1" i="1">
                <a:latin typeface="Raleway" pitchFamily="2" charset="0"/>
                <a:ea typeface="Georgia" pitchFamily="34" charset="-122"/>
                <a:cs typeface="Georgia" pitchFamily="34" charset="-120"/>
              </a:rPr>
              <a:t>“We set up the GCC, build the culture, build the pods, and find your leaders.”</a:t>
            </a:r>
            <a:endParaRPr lang="en-US" sz="1600">
              <a:latin typeface="Raleway" pitchFamily="2" charset="0"/>
            </a:endParaRPr>
          </a:p>
        </p:txBody>
      </p:sp>
      <p:sp>
        <p:nvSpPr>
          <p:cNvPr id="29" name="Text 24"/>
          <p:cNvSpPr/>
          <p:nvPr/>
        </p:nvSpPr>
        <p:spPr>
          <a:xfrm>
            <a:off x="1005840" y="5321808"/>
            <a:ext cx="10607040" cy="548640"/>
          </a:xfrm>
          <a:prstGeom prst="rect">
            <a:avLst/>
          </a:prstGeom>
          <a:noFill/>
          <a:ln/>
        </p:spPr>
        <p:txBody>
          <a:bodyPr wrap="square" lIns="0" tIns="0" rIns="0" bIns="0" rtlCol="0" anchor="ctr"/>
          <a:lstStyle/>
          <a:p>
            <a:pPr marL="165096" indent="-165096">
              <a:lnSpc>
                <a:spcPts val="1300"/>
              </a:lnSpc>
              <a:spcAft>
                <a:spcPts val="300"/>
              </a:spcAft>
              <a:buSzPct val="100000"/>
              <a:buChar char="•"/>
            </a:pPr>
            <a:r>
              <a:rPr lang="en-US" sz="1100" dirty="0">
                <a:latin typeface="Raleway" pitchFamily="2" charset="0"/>
                <a:ea typeface="Calibri" pitchFamily="34" charset="-122"/>
                <a:cs typeface="Calibri" pitchFamily="34" charset="-120"/>
              </a:rPr>
              <a:t>Core IP &amp; leadership roles are yours - placed full-time, not contract-to-hire</a:t>
            </a:r>
            <a:endParaRPr lang="en-US" sz="1100" dirty="0">
              <a:latin typeface="Raleway" pitchFamily="2" charset="0"/>
            </a:endParaRPr>
          </a:p>
          <a:p>
            <a:pPr marL="165096" indent="-165096">
              <a:lnSpc>
                <a:spcPts val="1300"/>
              </a:lnSpc>
              <a:spcAft>
                <a:spcPts val="300"/>
              </a:spcAft>
              <a:buSzPct val="100000"/>
              <a:buChar char="•"/>
            </a:pPr>
            <a:r>
              <a:rPr lang="en-US" sz="1100" dirty="0">
                <a:latin typeface="Raleway" pitchFamily="2" charset="0"/>
                <a:ea typeface="Calibri" pitchFamily="34" charset="-122"/>
                <a:cs typeface="Calibri" pitchFamily="34" charset="-120"/>
              </a:rPr>
              <a:t>Scale roles flex on our books; transition on a ~3-month cadence as demand matures</a:t>
            </a:r>
            <a:endParaRPr lang="en-US" sz="1100" dirty="0">
              <a:latin typeface="Raleway" pitchFamily="2" charset="0"/>
            </a:endParaRPr>
          </a:p>
          <a:p>
            <a:pPr marL="165096" indent="-165096">
              <a:lnSpc>
                <a:spcPts val="1300"/>
              </a:lnSpc>
              <a:spcAft>
                <a:spcPts val="300"/>
              </a:spcAft>
              <a:buSzPct val="100000"/>
              <a:buChar char="•"/>
            </a:pPr>
            <a:r>
              <a:rPr lang="en-US" sz="1100" dirty="0">
                <a:latin typeface="Raleway" pitchFamily="2" charset="0"/>
                <a:ea typeface="Calibri" pitchFamily="34" charset="-122"/>
                <a:cs typeface="Calibri" pitchFamily="34" charset="-120"/>
              </a:rPr>
              <a:t>One integrated partner across advisory, talent, AI engineering &amp; operations</a:t>
            </a:r>
            <a:endParaRPr lang="en-US" sz="1100" dirty="0">
              <a:latin typeface="Raleway" pitchFamily="2" charset="0"/>
            </a:endParaRPr>
          </a:p>
        </p:txBody>
      </p:sp>
      <p:pic>
        <p:nvPicPr>
          <p:cNvPr id="34" name="Image 3" descr="gen-dedup-ef527bea2207a14ec6e8d4c8ae9cdc45.png">
            <a:extLst>
              <a:ext uri="{FF2B5EF4-FFF2-40B4-BE49-F238E27FC236}">
                <a16:creationId xmlns:a16="http://schemas.microsoft.com/office/drawing/2014/main" id="{5A7B537F-DECD-1F9B-8D25-05DE49759328}"/>
              </a:ext>
            </a:extLst>
          </p:cNvPr>
          <p:cNvPicPr>
            <a:picLocks noChangeAspect="1"/>
          </p:cNvPicPr>
          <p:nvPr/>
        </p:nvPicPr>
        <p:blipFill>
          <a:blip r:embed="rId6"/>
          <a:srcRect l="-384" r="-384"/>
          <a:stretch/>
        </p:blipFill>
        <p:spPr>
          <a:xfrm>
            <a:off x="609905" y="513893"/>
            <a:ext cx="57607" cy="476402"/>
          </a:xfrm>
          <a:prstGeom prst="rect">
            <a:avLst/>
          </a:prstGeom>
        </p:spPr>
      </p:pic>
      <p:pic>
        <p:nvPicPr>
          <p:cNvPr id="36" name="Image 1" descr="gen-dedup-323228122ff92d2332e711a84ca3b40c.png">
            <a:extLst>
              <a:ext uri="{FF2B5EF4-FFF2-40B4-BE49-F238E27FC236}">
                <a16:creationId xmlns:a16="http://schemas.microsoft.com/office/drawing/2014/main" id="{7BDFB49D-4770-417A-3427-BB22271B7916}"/>
              </a:ext>
            </a:extLst>
          </p:cNvPr>
          <p:cNvPicPr>
            <a:picLocks noChangeAspect="1"/>
          </p:cNvPicPr>
          <p:nvPr/>
        </p:nvPicPr>
        <p:blipFill>
          <a:blip r:embed="rId7"/>
          <a:srcRect l="-198" r="-198"/>
          <a:stretch/>
        </p:blipFill>
        <p:spPr>
          <a:xfrm>
            <a:off x="0" y="0"/>
            <a:ext cx="8124444" cy="75895"/>
          </a:xfrm>
          <a:prstGeom prst="rect">
            <a:avLst/>
          </a:prstGeom>
        </p:spPr>
      </p:pic>
      <p:pic>
        <p:nvPicPr>
          <p:cNvPr id="38" name="Image 2" descr="gen-dedup-9663ecf744b06e35d4c2cebaab92a2ea.png">
            <a:extLst>
              <a:ext uri="{FF2B5EF4-FFF2-40B4-BE49-F238E27FC236}">
                <a16:creationId xmlns:a16="http://schemas.microsoft.com/office/drawing/2014/main" id="{D30CF95D-69D2-B95B-602B-F363E8DFCCDD}"/>
              </a:ext>
            </a:extLst>
          </p:cNvPr>
          <p:cNvPicPr>
            <a:picLocks noChangeAspect="1"/>
          </p:cNvPicPr>
          <p:nvPr/>
        </p:nvPicPr>
        <p:blipFill>
          <a:blip r:embed="rId8"/>
          <a:srcRect l="-202" r="-202"/>
          <a:stretch/>
        </p:blipFill>
        <p:spPr>
          <a:xfrm>
            <a:off x="8124444" y="0"/>
            <a:ext cx="4067251" cy="75895"/>
          </a:xfrm>
          <a:prstGeom prst="rect">
            <a:avLst/>
          </a:prstGeom>
        </p:spPr>
      </p:pic>
      <p:sp>
        <p:nvSpPr>
          <p:cNvPr id="31" name="Shape 4">
            <a:extLst>
              <a:ext uri="{FF2B5EF4-FFF2-40B4-BE49-F238E27FC236}">
                <a16:creationId xmlns:a16="http://schemas.microsoft.com/office/drawing/2014/main" id="{BBCDDA5B-D44E-C7DB-0F83-785E756E9C1B}"/>
              </a:ext>
            </a:extLst>
          </p:cNvPr>
          <p:cNvSpPr/>
          <p:nvPr/>
        </p:nvSpPr>
        <p:spPr>
          <a:xfrm>
            <a:off x="609904" y="1821171"/>
            <a:ext cx="3529583" cy="70121"/>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32" name="Shape 4">
            <a:extLst>
              <a:ext uri="{FF2B5EF4-FFF2-40B4-BE49-F238E27FC236}">
                <a16:creationId xmlns:a16="http://schemas.microsoft.com/office/drawing/2014/main" id="{3E4CD662-29F3-F704-F276-7809D2AFD6D9}"/>
              </a:ext>
            </a:extLst>
          </p:cNvPr>
          <p:cNvSpPr/>
          <p:nvPr/>
        </p:nvSpPr>
        <p:spPr>
          <a:xfrm>
            <a:off x="4350815" y="1830316"/>
            <a:ext cx="3529583" cy="70121"/>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33" name="Shape 4">
            <a:extLst>
              <a:ext uri="{FF2B5EF4-FFF2-40B4-BE49-F238E27FC236}">
                <a16:creationId xmlns:a16="http://schemas.microsoft.com/office/drawing/2014/main" id="{9075DFCB-AF89-7D04-C4FC-01891F6C3BB0}"/>
              </a:ext>
            </a:extLst>
          </p:cNvPr>
          <p:cNvSpPr/>
          <p:nvPr/>
        </p:nvSpPr>
        <p:spPr>
          <a:xfrm>
            <a:off x="8091726" y="1839461"/>
            <a:ext cx="3529583" cy="70121"/>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35" name="Shape 4">
            <a:extLst>
              <a:ext uri="{FF2B5EF4-FFF2-40B4-BE49-F238E27FC236}">
                <a16:creationId xmlns:a16="http://schemas.microsoft.com/office/drawing/2014/main" id="{A97E8DC9-4566-74DF-15C9-E0059E5C68E7}"/>
              </a:ext>
            </a:extLst>
          </p:cNvPr>
          <p:cNvSpPr/>
          <p:nvPr/>
        </p:nvSpPr>
        <p:spPr>
          <a:xfrm rot="5400000" flipV="1">
            <a:off x="-207001" y="5258484"/>
            <a:ext cx="1715701" cy="57605"/>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Tree>
    <p:extLst>
      <p:ext uri="{BB962C8B-B14F-4D97-AF65-F5344CB8AC3E}">
        <p14:creationId xmlns:p14="http://schemas.microsoft.com/office/powerpoint/2010/main" val="21637127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9810598" y="-952805"/>
            <a:ext cx="2857500" cy="2857500"/>
          </a:xfrm>
          <a:prstGeom prst="ellipse">
            <a:avLst/>
          </a:prstGeom>
          <a:solidFill>
            <a:srgbClr val="2A9D8F">
              <a:alpha val="5000"/>
            </a:srgbClr>
          </a:solidFill>
          <a:ln w="12700">
            <a:solidFill>
              <a:srgbClr val="FFFFFF">
                <a:alpha val="0"/>
              </a:srgbClr>
            </a:solidFill>
            <a:prstDash val="solid"/>
          </a:ln>
        </p:spPr>
        <p:txBody>
          <a:bodyPr/>
          <a:lstStyle/>
          <a:p>
            <a:endParaRPr lang="en-US"/>
          </a:p>
        </p:txBody>
      </p:sp>
      <p:sp>
        <p:nvSpPr>
          <p:cNvPr id="3" name="Shape 1"/>
          <p:cNvSpPr/>
          <p:nvPr/>
        </p:nvSpPr>
        <p:spPr>
          <a:xfrm>
            <a:off x="-952805" y="3810305"/>
            <a:ext cx="3810305" cy="3810305"/>
          </a:xfrm>
          <a:prstGeom prst="ellipse">
            <a:avLst/>
          </a:prstGeom>
          <a:solidFill>
            <a:srgbClr val="D62839">
              <a:alpha val="3000"/>
            </a:srgbClr>
          </a:solidFill>
          <a:ln w="12700">
            <a:solidFill>
              <a:srgbClr val="FFFFFF">
                <a:alpha val="0"/>
              </a:srgbClr>
            </a:solidFill>
            <a:prstDash val="solid"/>
          </a:ln>
        </p:spPr>
        <p:txBody>
          <a:bodyPr/>
          <a:lstStyle/>
          <a:p>
            <a:endParaRPr lang="en-US"/>
          </a:p>
        </p:txBody>
      </p:sp>
      <p:pic>
        <p:nvPicPr>
          <p:cNvPr id="4" name="Image 0" descr="gen-dedup-34c26b4c5ec9888af3384e8d3541bb01.png"/>
          <p:cNvPicPr>
            <a:picLocks noChangeAspect="1"/>
          </p:cNvPicPr>
          <p:nvPr/>
        </p:nvPicPr>
        <p:blipFill>
          <a:blip r:embed="rId3"/>
          <a:srcRect t="-403" b="-403"/>
          <a:stretch/>
        </p:blipFill>
        <p:spPr>
          <a:xfrm>
            <a:off x="0" y="0"/>
            <a:ext cx="4876495" cy="57607"/>
          </a:xfrm>
          <a:prstGeom prst="rect">
            <a:avLst/>
          </a:prstGeom>
        </p:spPr>
      </p:pic>
      <p:pic>
        <p:nvPicPr>
          <p:cNvPr id="5" name="Image 1" descr="gen-dedup-4fa3233eeced3efae942f87c3fec22ca.png"/>
          <p:cNvPicPr>
            <a:picLocks noChangeAspect="1"/>
          </p:cNvPicPr>
          <p:nvPr/>
        </p:nvPicPr>
        <p:blipFill>
          <a:blip r:embed="rId4"/>
          <a:srcRect t="-400" b="-400"/>
          <a:stretch/>
        </p:blipFill>
        <p:spPr>
          <a:xfrm>
            <a:off x="4876495" y="0"/>
            <a:ext cx="7315200" cy="57607"/>
          </a:xfrm>
          <a:prstGeom prst="rect">
            <a:avLst/>
          </a:prstGeom>
        </p:spPr>
      </p:pic>
      <p:pic>
        <p:nvPicPr>
          <p:cNvPr id="6" name="Image 2" descr="gen-dedup-75d82f7445d1942c6539817bc8ac9cde.png"/>
          <p:cNvPicPr>
            <a:picLocks noChangeAspect="1"/>
          </p:cNvPicPr>
          <p:nvPr/>
        </p:nvPicPr>
        <p:blipFill>
          <a:blip r:embed="rId5"/>
          <a:srcRect l="-360" r="-360"/>
          <a:stretch/>
        </p:blipFill>
        <p:spPr>
          <a:xfrm>
            <a:off x="381305" y="437998"/>
            <a:ext cx="38405" cy="381305"/>
          </a:xfrm>
          <a:prstGeom prst="rect">
            <a:avLst/>
          </a:prstGeom>
        </p:spPr>
      </p:pic>
      <p:pic>
        <p:nvPicPr>
          <p:cNvPr id="7" name="Image 3" descr="gen-dedup-7f61158598543fc796bb3c2c27f958a4.png"/>
          <p:cNvPicPr>
            <a:picLocks noChangeAspect="1"/>
          </p:cNvPicPr>
          <p:nvPr/>
        </p:nvPicPr>
        <p:blipFill>
          <a:blip r:embed="rId6"/>
          <a:srcRect t="-388" b="-388"/>
          <a:stretch/>
        </p:blipFill>
        <p:spPr>
          <a:xfrm>
            <a:off x="1548555" y="1437870"/>
            <a:ext cx="1295705" cy="19202"/>
          </a:xfrm>
          <a:prstGeom prst="rect">
            <a:avLst/>
          </a:prstGeom>
        </p:spPr>
      </p:pic>
      <p:pic>
        <p:nvPicPr>
          <p:cNvPr id="8" name="Image 4" descr="gen-dedup-7f61158598543fc796bb3c2c27f958a4.png"/>
          <p:cNvPicPr>
            <a:picLocks noChangeAspect="1"/>
          </p:cNvPicPr>
          <p:nvPr/>
        </p:nvPicPr>
        <p:blipFill>
          <a:blip r:embed="rId6"/>
          <a:srcRect t="-388" b="-388"/>
          <a:stretch/>
        </p:blipFill>
        <p:spPr>
          <a:xfrm>
            <a:off x="3454165" y="1437870"/>
            <a:ext cx="1295705" cy="19202"/>
          </a:xfrm>
          <a:prstGeom prst="rect">
            <a:avLst/>
          </a:prstGeom>
        </p:spPr>
      </p:pic>
      <p:pic>
        <p:nvPicPr>
          <p:cNvPr id="9" name="Image 5" descr="gen-dedup-7f61158598543fc796bb3c2c27f958a4.png"/>
          <p:cNvPicPr>
            <a:picLocks noChangeAspect="1"/>
          </p:cNvPicPr>
          <p:nvPr/>
        </p:nvPicPr>
        <p:blipFill>
          <a:blip r:embed="rId6"/>
          <a:srcRect t="-388" b="-388"/>
          <a:stretch/>
        </p:blipFill>
        <p:spPr>
          <a:xfrm>
            <a:off x="5358860" y="1437870"/>
            <a:ext cx="1295705" cy="19202"/>
          </a:xfrm>
          <a:prstGeom prst="rect">
            <a:avLst/>
          </a:prstGeom>
        </p:spPr>
      </p:pic>
      <p:pic>
        <p:nvPicPr>
          <p:cNvPr id="10" name="Image 6" descr="gen-dedup-7f61158598543fc796bb3c2c27f958a4.png"/>
          <p:cNvPicPr>
            <a:picLocks noChangeAspect="1"/>
          </p:cNvPicPr>
          <p:nvPr/>
        </p:nvPicPr>
        <p:blipFill>
          <a:blip r:embed="rId6"/>
          <a:srcRect t="-388" b="-388"/>
          <a:stretch/>
        </p:blipFill>
        <p:spPr>
          <a:xfrm>
            <a:off x="7263555" y="1437870"/>
            <a:ext cx="1295705" cy="19202"/>
          </a:xfrm>
          <a:prstGeom prst="rect">
            <a:avLst/>
          </a:prstGeom>
        </p:spPr>
      </p:pic>
      <p:pic>
        <p:nvPicPr>
          <p:cNvPr id="11" name="Image 7" descr="gen-dedup-7f61158598543fc796bb3c2c27f958a4.png"/>
          <p:cNvPicPr>
            <a:picLocks noChangeAspect="1"/>
          </p:cNvPicPr>
          <p:nvPr/>
        </p:nvPicPr>
        <p:blipFill>
          <a:blip r:embed="rId6"/>
          <a:srcRect t="-388" b="-388"/>
          <a:stretch/>
        </p:blipFill>
        <p:spPr>
          <a:xfrm>
            <a:off x="9169165" y="1437870"/>
            <a:ext cx="1295705" cy="19202"/>
          </a:xfrm>
          <a:prstGeom prst="rect">
            <a:avLst/>
          </a:prstGeom>
        </p:spPr>
      </p:pic>
      <p:sp>
        <p:nvSpPr>
          <p:cNvPr id="12" name="Shape 2"/>
          <p:cNvSpPr/>
          <p:nvPr/>
        </p:nvSpPr>
        <p:spPr>
          <a:xfrm>
            <a:off x="381305" y="4858207"/>
            <a:ext cx="11449202" cy="1666951"/>
          </a:xfrm>
          <a:prstGeom prst="roundRect">
            <a:avLst>
              <a:gd name="adj" fmla="val 4553"/>
            </a:avLst>
          </a:prstGeom>
          <a:solidFill>
            <a:srgbClr val="FFFFFF"/>
          </a:solidFill>
          <a:ln w="12700">
            <a:solidFill>
              <a:srgbClr val="E5E8EE"/>
            </a:solidFill>
            <a:prstDash val="solid"/>
          </a:ln>
          <a:effectLst>
            <a:outerShdw blurRad="114300" dist="38100" dir="16200000" algn="bl" rotWithShape="0">
              <a:srgbClr val="000000">
                <a:alpha val="3000"/>
              </a:srgbClr>
            </a:outerShdw>
          </a:effectLst>
        </p:spPr>
        <p:txBody>
          <a:bodyPr/>
          <a:lstStyle/>
          <a:p>
            <a:endParaRPr lang="en-US"/>
          </a:p>
        </p:txBody>
      </p:sp>
      <p:sp>
        <p:nvSpPr>
          <p:cNvPr id="13" name="Shape 3"/>
          <p:cNvSpPr/>
          <p:nvPr/>
        </p:nvSpPr>
        <p:spPr>
          <a:xfrm>
            <a:off x="381305" y="4858207"/>
            <a:ext cx="11449202" cy="38405"/>
          </a:xfrm>
          <a:prstGeom prst="roundRect">
            <a:avLst>
              <a:gd name="adj" fmla="val 197618"/>
            </a:avLst>
          </a:prstGeom>
          <a:solidFill>
            <a:srgbClr val="1F2A44"/>
          </a:solidFill>
          <a:ln w="12700">
            <a:solidFill>
              <a:srgbClr val="1F2A44">
                <a:alpha val="0"/>
              </a:srgbClr>
            </a:solidFill>
            <a:prstDash val="solid"/>
          </a:ln>
        </p:spPr>
        <p:txBody>
          <a:bodyPr/>
          <a:lstStyle/>
          <a:p>
            <a:endParaRPr lang="en-US">
              <a:latin typeface="Raleway" pitchFamily="2" charset="0"/>
            </a:endParaRPr>
          </a:p>
        </p:txBody>
      </p:sp>
      <p:pic>
        <p:nvPicPr>
          <p:cNvPr id="14" name="Image 8" descr="gen-dedup-ab1146f3f355eca22c0d9b03e8fdfd45.png"/>
          <p:cNvPicPr>
            <a:picLocks noChangeAspect="1"/>
          </p:cNvPicPr>
          <p:nvPr/>
        </p:nvPicPr>
        <p:blipFill>
          <a:blip r:embed="rId7"/>
          <a:srcRect/>
          <a:stretch/>
        </p:blipFill>
        <p:spPr>
          <a:xfrm>
            <a:off x="939565" y="1133375"/>
            <a:ext cx="647395" cy="647395"/>
          </a:xfrm>
          <a:prstGeom prst="rect">
            <a:avLst/>
          </a:prstGeom>
        </p:spPr>
      </p:pic>
      <p:sp>
        <p:nvSpPr>
          <p:cNvPr id="15" name="Shape 4"/>
          <p:cNvSpPr/>
          <p:nvPr/>
        </p:nvSpPr>
        <p:spPr>
          <a:xfrm>
            <a:off x="381305" y="2020197"/>
            <a:ext cx="1714500" cy="342900"/>
          </a:xfrm>
          <a:prstGeom prst="roundRect">
            <a:avLst>
              <a:gd name="adj" fmla="val 16800"/>
            </a:avLst>
          </a:prstGeom>
          <a:solidFill>
            <a:srgbClr val="2A9D8F"/>
          </a:solidFill>
          <a:ln w="12700">
            <a:solidFill>
              <a:srgbClr val="FFFFFF">
                <a:alpha val="0"/>
              </a:srgbClr>
            </a:solidFill>
            <a:prstDash val="solid"/>
          </a:ln>
        </p:spPr>
        <p:txBody>
          <a:bodyPr/>
          <a:lstStyle/>
          <a:p>
            <a:endParaRPr lang="en-US">
              <a:latin typeface="Raleway" pitchFamily="2" charset="0"/>
            </a:endParaRPr>
          </a:p>
        </p:txBody>
      </p:sp>
      <p:pic>
        <p:nvPicPr>
          <p:cNvPr id="16" name="Image 9" descr="gen-dedup-751f54efc8996aa3b67bfa9254252285.png"/>
          <p:cNvPicPr>
            <a:picLocks noChangeAspect="1"/>
          </p:cNvPicPr>
          <p:nvPr/>
        </p:nvPicPr>
        <p:blipFill>
          <a:blip r:embed="rId8"/>
          <a:srcRect l="-13014" r="-13014"/>
          <a:stretch/>
        </p:blipFill>
        <p:spPr>
          <a:xfrm>
            <a:off x="2634862" y="1381279"/>
            <a:ext cx="105156" cy="133502"/>
          </a:xfrm>
          <a:prstGeom prst="rect">
            <a:avLst/>
          </a:prstGeom>
        </p:spPr>
      </p:pic>
      <p:pic>
        <p:nvPicPr>
          <p:cNvPr id="17" name="Image 10" descr="gen-dedup-084ed169e39c505ee56d1059d1e7f5e0.png"/>
          <p:cNvPicPr>
            <a:picLocks noChangeAspect="1"/>
          </p:cNvPicPr>
          <p:nvPr/>
        </p:nvPicPr>
        <p:blipFill>
          <a:blip r:embed="rId9"/>
          <a:srcRect/>
          <a:stretch/>
        </p:blipFill>
        <p:spPr>
          <a:xfrm>
            <a:off x="2844260" y="1133375"/>
            <a:ext cx="647395" cy="647395"/>
          </a:xfrm>
          <a:prstGeom prst="rect">
            <a:avLst/>
          </a:prstGeom>
        </p:spPr>
      </p:pic>
      <p:sp>
        <p:nvSpPr>
          <p:cNvPr id="18" name="Shape 5"/>
          <p:cNvSpPr/>
          <p:nvPr/>
        </p:nvSpPr>
        <p:spPr>
          <a:xfrm>
            <a:off x="2286000" y="2020197"/>
            <a:ext cx="1714500" cy="342900"/>
          </a:xfrm>
          <a:prstGeom prst="roundRect">
            <a:avLst>
              <a:gd name="adj" fmla="val 16800"/>
            </a:avLst>
          </a:prstGeom>
          <a:solidFill>
            <a:schemeClr val="bg1">
              <a:lumMod val="50000"/>
            </a:schemeClr>
          </a:solidFill>
          <a:ln w="12700">
            <a:solidFill>
              <a:srgbClr val="FFFFFF">
                <a:alpha val="0"/>
              </a:srgbClr>
            </a:solidFill>
            <a:prstDash val="solid"/>
          </a:ln>
        </p:spPr>
        <p:txBody>
          <a:bodyPr/>
          <a:lstStyle/>
          <a:p>
            <a:endParaRPr lang="en-US">
              <a:latin typeface="Raleway" pitchFamily="2" charset="0"/>
            </a:endParaRPr>
          </a:p>
        </p:txBody>
      </p:sp>
      <p:pic>
        <p:nvPicPr>
          <p:cNvPr id="19" name="Image 11" descr="gen-dedup-751f54efc8996aa3b67bfa9254252285.png"/>
          <p:cNvPicPr>
            <a:picLocks noChangeAspect="1"/>
          </p:cNvPicPr>
          <p:nvPr/>
        </p:nvPicPr>
        <p:blipFill>
          <a:blip r:embed="rId8"/>
          <a:srcRect l="-13014" r="-13014"/>
          <a:stretch/>
        </p:blipFill>
        <p:spPr>
          <a:xfrm>
            <a:off x="4539558" y="1381279"/>
            <a:ext cx="105156" cy="133502"/>
          </a:xfrm>
          <a:prstGeom prst="rect">
            <a:avLst/>
          </a:prstGeom>
        </p:spPr>
      </p:pic>
      <p:pic>
        <p:nvPicPr>
          <p:cNvPr id="20" name="Image 12" descr="gen-dedup-f03bd5e991a1e95ba5f86664ffaf90b6.png"/>
          <p:cNvPicPr>
            <a:picLocks noChangeAspect="1"/>
          </p:cNvPicPr>
          <p:nvPr/>
        </p:nvPicPr>
        <p:blipFill>
          <a:blip r:embed="rId10"/>
          <a:srcRect/>
          <a:stretch/>
        </p:blipFill>
        <p:spPr>
          <a:xfrm>
            <a:off x="4748955" y="1133375"/>
            <a:ext cx="647395" cy="647395"/>
          </a:xfrm>
          <a:prstGeom prst="rect">
            <a:avLst/>
          </a:prstGeom>
        </p:spPr>
      </p:pic>
      <p:sp>
        <p:nvSpPr>
          <p:cNvPr id="21" name="Shape 6"/>
          <p:cNvSpPr/>
          <p:nvPr/>
        </p:nvSpPr>
        <p:spPr>
          <a:xfrm>
            <a:off x="4190695" y="2020197"/>
            <a:ext cx="1714500" cy="342900"/>
          </a:xfrm>
          <a:prstGeom prst="roundRect">
            <a:avLst>
              <a:gd name="adj" fmla="val 16800"/>
            </a:avLst>
          </a:prstGeom>
          <a:solidFill>
            <a:srgbClr val="2A9D8F"/>
          </a:solidFill>
          <a:ln w="12700">
            <a:solidFill>
              <a:srgbClr val="FFFFFF">
                <a:alpha val="0"/>
              </a:srgbClr>
            </a:solidFill>
            <a:prstDash val="solid"/>
          </a:ln>
        </p:spPr>
        <p:txBody>
          <a:bodyPr/>
          <a:lstStyle/>
          <a:p>
            <a:endParaRPr lang="en-US">
              <a:latin typeface="Raleway" pitchFamily="2" charset="0"/>
            </a:endParaRPr>
          </a:p>
        </p:txBody>
      </p:sp>
      <p:pic>
        <p:nvPicPr>
          <p:cNvPr id="22" name="Image 13" descr="gen-dedup-751f54efc8996aa3b67bfa9254252285.png"/>
          <p:cNvPicPr>
            <a:picLocks noChangeAspect="1"/>
          </p:cNvPicPr>
          <p:nvPr/>
        </p:nvPicPr>
        <p:blipFill>
          <a:blip r:embed="rId8"/>
          <a:srcRect l="-13014" r="-13014"/>
          <a:stretch/>
        </p:blipFill>
        <p:spPr>
          <a:xfrm>
            <a:off x="6445167" y="1381279"/>
            <a:ext cx="105156" cy="133502"/>
          </a:xfrm>
          <a:prstGeom prst="rect">
            <a:avLst/>
          </a:prstGeom>
        </p:spPr>
      </p:pic>
      <p:pic>
        <p:nvPicPr>
          <p:cNvPr id="23" name="Image 14" descr="gen-dedup-806dc9e2e0ee6d295653696f70b9366b.png"/>
          <p:cNvPicPr>
            <a:picLocks noChangeAspect="1"/>
          </p:cNvPicPr>
          <p:nvPr/>
        </p:nvPicPr>
        <p:blipFill>
          <a:blip r:embed="rId11"/>
          <a:srcRect/>
          <a:stretch/>
        </p:blipFill>
        <p:spPr>
          <a:xfrm>
            <a:off x="6654565" y="1133375"/>
            <a:ext cx="647395" cy="647395"/>
          </a:xfrm>
          <a:prstGeom prst="rect">
            <a:avLst/>
          </a:prstGeom>
        </p:spPr>
      </p:pic>
      <p:sp>
        <p:nvSpPr>
          <p:cNvPr id="24" name="Shape 7"/>
          <p:cNvSpPr/>
          <p:nvPr/>
        </p:nvSpPr>
        <p:spPr>
          <a:xfrm>
            <a:off x="6096305" y="2020197"/>
            <a:ext cx="1714500" cy="342900"/>
          </a:xfrm>
          <a:prstGeom prst="roundRect">
            <a:avLst>
              <a:gd name="adj" fmla="val 16800"/>
            </a:avLst>
          </a:prstGeom>
          <a:solidFill>
            <a:schemeClr val="bg1">
              <a:lumMod val="50000"/>
            </a:schemeClr>
          </a:solidFill>
          <a:ln w="12700">
            <a:solidFill>
              <a:srgbClr val="FFFFFF">
                <a:alpha val="0"/>
              </a:srgbClr>
            </a:solidFill>
            <a:prstDash val="solid"/>
          </a:ln>
        </p:spPr>
        <p:txBody>
          <a:bodyPr/>
          <a:lstStyle/>
          <a:p>
            <a:endParaRPr lang="en-US">
              <a:latin typeface="Raleway" pitchFamily="2" charset="0"/>
            </a:endParaRPr>
          </a:p>
        </p:txBody>
      </p:sp>
      <p:pic>
        <p:nvPicPr>
          <p:cNvPr id="25" name="Image 15" descr="gen-dedup-751f54efc8996aa3b67bfa9254252285.png"/>
          <p:cNvPicPr>
            <a:picLocks noChangeAspect="1"/>
          </p:cNvPicPr>
          <p:nvPr/>
        </p:nvPicPr>
        <p:blipFill>
          <a:blip r:embed="rId8"/>
          <a:srcRect l="-13014" r="-13014"/>
          <a:stretch/>
        </p:blipFill>
        <p:spPr>
          <a:xfrm>
            <a:off x="8349862" y="1381279"/>
            <a:ext cx="105156" cy="133502"/>
          </a:xfrm>
          <a:prstGeom prst="rect">
            <a:avLst/>
          </a:prstGeom>
        </p:spPr>
      </p:pic>
      <p:pic>
        <p:nvPicPr>
          <p:cNvPr id="26" name="Image 16" descr="gen-dedup-ad6b9b0bf83ce2bd5a7c7b4006cbbe94.png"/>
          <p:cNvPicPr>
            <a:picLocks noChangeAspect="1"/>
          </p:cNvPicPr>
          <p:nvPr/>
        </p:nvPicPr>
        <p:blipFill>
          <a:blip r:embed="rId12"/>
          <a:srcRect/>
          <a:stretch/>
        </p:blipFill>
        <p:spPr>
          <a:xfrm>
            <a:off x="8559260" y="1133375"/>
            <a:ext cx="647395" cy="647395"/>
          </a:xfrm>
          <a:prstGeom prst="rect">
            <a:avLst/>
          </a:prstGeom>
        </p:spPr>
      </p:pic>
      <p:sp>
        <p:nvSpPr>
          <p:cNvPr id="27" name="Shape 8"/>
          <p:cNvSpPr/>
          <p:nvPr/>
        </p:nvSpPr>
        <p:spPr>
          <a:xfrm>
            <a:off x="8001000" y="2020197"/>
            <a:ext cx="1714500" cy="342900"/>
          </a:xfrm>
          <a:prstGeom prst="roundRect">
            <a:avLst>
              <a:gd name="adj" fmla="val 16800"/>
            </a:avLst>
          </a:prstGeom>
          <a:solidFill>
            <a:srgbClr val="2A9D8F"/>
          </a:solidFill>
          <a:ln w="12700">
            <a:solidFill>
              <a:srgbClr val="FFFFFF">
                <a:alpha val="0"/>
              </a:srgbClr>
            </a:solidFill>
            <a:prstDash val="solid"/>
          </a:ln>
        </p:spPr>
        <p:txBody>
          <a:bodyPr/>
          <a:lstStyle/>
          <a:p>
            <a:endParaRPr lang="en-US">
              <a:latin typeface="Raleway" pitchFamily="2" charset="0"/>
            </a:endParaRPr>
          </a:p>
        </p:txBody>
      </p:sp>
      <p:pic>
        <p:nvPicPr>
          <p:cNvPr id="28" name="Image 17" descr="gen-dedup-751f54efc8996aa3b67bfa9254252285.png"/>
          <p:cNvPicPr>
            <a:picLocks noChangeAspect="1"/>
          </p:cNvPicPr>
          <p:nvPr/>
        </p:nvPicPr>
        <p:blipFill>
          <a:blip r:embed="rId8"/>
          <a:srcRect l="-13014" r="-13014"/>
          <a:stretch/>
        </p:blipFill>
        <p:spPr>
          <a:xfrm>
            <a:off x="10254558" y="1381279"/>
            <a:ext cx="105156" cy="133502"/>
          </a:xfrm>
          <a:prstGeom prst="rect">
            <a:avLst/>
          </a:prstGeom>
        </p:spPr>
      </p:pic>
      <p:pic>
        <p:nvPicPr>
          <p:cNvPr id="29" name="Image 18" descr="gen-dedup-b46550ae4e6ed9a58f8d7957a285dc33.png"/>
          <p:cNvPicPr>
            <a:picLocks noChangeAspect="1"/>
          </p:cNvPicPr>
          <p:nvPr/>
        </p:nvPicPr>
        <p:blipFill>
          <a:blip r:embed="rId13"/>
          <a:srcRect/>
          <a:stretch/>
        </p:blipFill>
        <p:spPr>
          <a:xfrm>
            <a:off x="10463955" y="1133375"/>
            <a:ext cx="647395" cy="647395"/>
          </a:xfrm>
          <a:prstGeom prst="rect">
            <a:avLst/>
          </a:prstGeom>
        </p:spPr>
      </p:pic>
      <p:sp>
        <p:nvSpPr>
          <p:cNvPr id="30" name="Shape 9"/>
          <p:cNvSpPr/>
          <p:nvPr/>
        </p:nvSpPr>
        <p:spPr>
          <a:xfrm>
            <a:off x="9905695" y="2020197"/>
            <a:ext cx="1714500" cy="342900"/>
          </a:xfrm>
          <a:prstGeom prst="roundRect">
            <a:avLst>
              <a:gd name="adj" fmla="val 16800"/>
            </a:avLst>
          </a:prstGeom>
          <a:solidFill>
            <a:schemeClr val="bg1">
              <a:lumMod val="50000"/>
            </a:schemeClr>
          </a:solidFill>
          <a:ln w="12700">
            <a:solidFill>
              <a:srgbClr val="FFFFFF">
                <a:alpha val="0"/>
              </a:srgbClr>
            </a:solidFill>
            <a:prstDash val="solid"/>
          </a:ln>
        </p:spPr>
        <p:txBody>
          <a:bodyPr/>
          <a:lstStyle/>
          <a:p>
            <a:endParaRPr lang="en-US">
              <a:latin typeface="Raleway" pitchFamily="2" charset="0"/>
            </a:endParaRPr>
          </a:p>
        </p:txBody>
      </p:sp>
      <p:sp>
        <p:nvSpPr>
          <p:cNvPr id="31" name="Text 10"/>
          <p:cNvSpPr txBox="1"/>
          <p:nvPr/>
        </p:nvSpPr>
        <p:spPr>
          <a:xfrm>
            <a:off x="533095" y="381305"/>
            <a:ext cx="7620610" cy="486461"/>
          </a:xfrm>
          <a:prstGeom prst="rect">
            <a:avLst/>
          </a:prstGeom>
          <a:noFill/>
          <a:ln/>
        </p:spPr>
        <p:txBody>
          <a:bodyPr wrap="none" lIns="0" tIns="0" rIns="0" bIns="0" rtlCol="0" anchor="ctr"/>
          <a:lstStyle/>
          <a:p>
            <a:pPr marL="0" indent="0" algn="l">
              <a:buNone/>
            </a:pPr>
            <a:r>
              <a:rPr lang="en-US" sz="2400" b="1" dirty="0">
                <a:solidFill>
                  <a:srgbClr val="1F2A44"/>
                </a:solidFill>
                <a:latin typeface="Oswald" panose="00000500000000000000" pitchFamily="2" charset="0"/>
                <a:ea typeface="Fraunces" pitchFamily="34" charset="-122"/>
                <a:cs typeface="Fraunces" pitchFamily="34" charset="-120"/>
              </a:rPr>
              <a:t>CONTRACT PROCESS OUTSOURCING OPERATING MODEL</a:t>
            </a:r>
            <a:endParaRPr lang="en-US" sz="2400" dirty="0">
              <a:latin typeface="Oswald" panose="00000500000000000000" pitchFamily="2" charset="0"/>
            </a:endParaRPr>
          </a:p>
        </p:txBody>
      </p:sp>
      <p:pic>
        <p:nvPicPr>
          <p:cNvPr id="32" name="Image 19" descr="gen-dedup-4a6b4084955cbd0659fccb83d04c1ff8.png"/>
          <p:cNvPicPr>
            <a:picLocks noChangeAspect="1"/>
          </p:cNvPicPr>
          <p:nvPr/>
        </p:nvPicPr>
        <p:blipFill>
          <a:blip r:embed="rId14"/>
          <a:srcRect l="-2283" r="-2283"/>
          <a:stretch/>
        </p:blipFill>
        <p:spPr>
          <a:xfrm>
            <a:off x="1138904" y="1305282"/>
            <a:ext cx="209398" cy="267005"/>
          </a:xfrm>
          <a:prstGeom prst="rect">
            <a:avLst/>
          </a:prstGeom>
        </p:spPr>
      </p:pic>
      <p:sp>
        <p:nvSpPr>
          <p:cNvPr id="33" name="Text 11"/>
          <p:cNvSpPr txBox="1"/>
          <p:nvPr/>
        </p:nvSpPr>
        <p:spPr>
          <a:xfrm>
            <a:off x="381305" y="2116209"/>
            <a:ext cx="1714500" cy="152705"/>
          </a:xfrm>
          <a:prstGeom prst="rect">
            <a:avLst/>
          </a:prstGeom>
          <a:noFill/>
          <a:ln/>
        </p:spPr>
        <p:txBody>
          <a:bodyPr wrap="none" lIns="0" tIns="0" rIns="0" bIns="0" rtlCol="0" anchor="ctr"/>
          <a:lstStyle/>
          <a:p>
            <a:pPr marL="0" indent="0" algn="ctr">
              <a:buNone/>
            </a:pPr>
            <a:r>
              <a:rPr lang="en-US" sz="1300" b="1" dirty="0">
                <a:solidFill>
                  <a:srgbClr val="FFFFFF"/>
                </a:solidFill>
                <a:latin typeface="Raleway" pitchFamily="2" charset="0"/>
                <a:ea typeface="Inter" pitchFamily="34" charset="-122"/>
                <a:cs typeface="Inter" pitchFamily="34" charset="-120"/>
              </a:rPr>
              <a:t>Demand Planning</a:t>
            </a:r>
            <a:endParaRPr lang="en-US" sz="1300" dirty="0">
              <a:latin typeface="Raleway" pitchFamily="2" charset="0"/>
            </a:endParaRPr>
          </a:p>
        </p:txBody>
      </p:sp>
      <p:sp>
        <p:nvSpPr>
          <p:cNvPr id="34" name="Text 12"/>
          <p:cNvSpPr txBox="1"/>
          <p:nvPr/>
        </p:nvSpPr>
        <p:spPr>
          <a:xfrm>
            <a:off x="431800" y="2581539"/>
            <a:ext cx="1664005" cy="1128370"/>
          </a:xfrm>
          <a:prstGeom prst="rect">
            <a:avLst/>
          </a:prstGeom>
          <a:noFill/>
          <a:ln/>
        </p:spPr>
        <p:txBody>
          <a:bodyPr wrap="square" lIns="0" tIns="0" rIns="0" bIns="0" rtlCol="0" anchor="t"/>
          <a:lstStyle/>
          <a:p>
            <a:pPr marL="139700" indent="-139700" algn="l">
              <a:lnSpc>
                <a:spcPts val="1260"/>
              </a:lnSpc>
              <a:spcAft>
                <a:spcPts val="600"/>
              </a:spcAft>
              <a:buSzPct val="100000"/>
              <a:buChar char="•"/>
            </a:pPr>
            <a:r>
              <a:rPr lang="en-US" sz="1150" dirty="0">
                <a:solidFill>
                  <a:srgbClr val="4B5563"/>
                </a:solidFill>
                <a:latin typeface="Raleway" pitchFamily="2" charset="0"/>
                <a:ea typeface="Inter" pitchFamily="34" charset="-122"/>
                <a:cs typeface="Inter" pitchFamily="34" charset="-120"/>
              </a:rPr>
              <a:t>​Receive hiring forecast and quarterly demand.</a:t>
            </a:r>
            <a:endParaRPr lang="en-US" sz="1150" dirty="0">
              <a:latin typeface="Raleway" pitchFamily="2" charset="0"/>
            </a:endParaRPr>
          </a:p>
          <a:p>
            <a:pPr marL="139700" indent="-139700" algn="l">
              <a:lnSpc>
                <a:spcPts val="1260"/>
              </a:lnSpc>
              <a:spcAft>
                <a:spcPts val="600"/>
              </a:spcAft>
              <a:buSzPct val="100000"/>
              <a:buChar char="•"/>
            </a:pPr>
            <a:r>
              <a:rPr lang="en-US" sz="1150" dirty="0">
                <a:solidFill>
                  <a:srgbClr val="4B5563"/>
                </a:solidFill>
                <a:latin typeface="Raleway" pitchFamily="2" charset="0"/>
                <a:ea typeface="Inter" pitchFamily="34" charset="-122"/>
                <a:cs typeface="Inter" pitchFamily="34" charset="-120"/>
              </a:rPr>
              <a:t>​Finalize role requirements, SLAs, and timelines.</a:t>
            </a:r>
            <a:endParaRPr lang="en-US" sz="1150" dirty="0">
              <a:latin typeface="Raleway" pitchFamily="2" charset="0"/>
            </a:endParaRPr>
          </a:p>
          <a:p>
            <a:pPr marL="139700" indent="-139700" algn="l">
              <a:lnSpc>
                <a:spcPts val="1260"/>
              </a:lnSpc>
              <a:spcAft>
                <a:spcPts val="600"/>
              </a:spcAft>
              <a:buSzPct val="100000"/>
              <a:buChar char="•"/>
            </a:pPr>
            <a:r>
              <a:rPr lang="en-US" sz="1150" dirty="0">
                <a:solidFill>
                  <a:srgbClr val="4B5563"/>
                </a:solidFill>
                <a:latin typeface="Raleway" pitchFamily="2" charset="0"/>
                <a:ea typeface="Inter" pitchFamily="34" charset="-122"/>
                <a:cs typeface="Inter" pitchFamily="34" charset="-120"/>
              </a:rPr>
              <a:t>​Allocate dedicated recruitment teams.</a:t>
            </a:r>
            <a:endParaRPr lang="en-US" sz="1150" dirty="0">
              <a:latin typeface="Raleway" pitchFamily="2" charset="0"/>
            </a:endParaRPr>
          </a:p>
        </p:txBody>
      </p:sp>
      <p:pic>
        <p:nvPicPr>
          <p:cNvPr id="35" name="Image 20" descr="gen-dedup-583ddbce9aa1176519b3ebf713c30048.png"/>
          <p:cNvPicPr>
            <a:picLocks noChangeAspect="1"/>
          </p:cNvPicPr>
          <p:nvPr/>
        </p:nvPicPr>
        <p:blipFill>
          <a:blip r:embed="rId15"/>
          <a:srcRect t="-29694" b="-29694"/>
          <a:stretch/>
        </p:blipFill>
        <p:spPr>
          <a:xfrm>
            <a:off x="2967514" y="1276407"/>
            <a:ext cx="365760" cy="365760"/>
          </a:xfrm>
          <a:prstGeom prst="rect">
            <a:avLst/>
          </a:prstGeom>
        </p:spPr>
      </p:pic>
      <p:sp>
        <p:nvSpPr>
          <p:cNvPr id="36" name="Text 13"/>
          <p:cNvSpPr txBox="1"/>
          <p:nvPr/>
        </p:nvSpPr>
        <p:spPr>
          <a:xfrm>
            <a:off x="2286000" y="2116209"/>
            <a:ext cx="1714500" cy="152705"/>
          </a:xfrm>
          <a:prstGeom prst="rect">
            <a:avLst/>
          </a:prstGeom>
          <a:noFill/>
          <a:ln/>
        </p:spPr>
        <p:txBody>
          <a:bodyPr wrap="none" lIns="0" tIns="0" rIns="0" bIns="0" rtlCol="0" anchor="ctr"/>
          <a:lstStyle/>
          <a:p>
            <a:pPr marL="0" indent="0" algn="ctr">
              <a:buNone/>
            </a:pPr>
            <a:r>
              <a:rPr lang="en-US" sz="1300" b="1" dirty="0">
                <a:solidFill>
                  <a:srgbClr val="FFFFFF"/>
                </a:solidFill>
                <a:latin typeface="Raleway" pitchFamily="2" charset="0"/>
                <a:ea typeface="Inter" pitchFamily="34" charset="-122"/>
                <a:cs typeface="Inter" pitchFamily="34" charset="-120"/>
              </a:rPr>
              <a:t>Talent Sourcing</a:t>
            </a:r>
            <a:endParaRPr lang="en-US" sz="1300" dirty="0">
              <a:latin typeface="Raleway" pitchFamily="2" charset="0"/>
            </a:endParaRPr>
          </a:p>
        </p:txBody>
      </p:sp>
      <p:sp>
        <p:nvSpPr>
          <p:cNvPr id="37" name="Text 14"/>
          <p:cNvSpPr txBox="1"/>
          <p:nvPr/>
        </p:nvSpPr>
        <p:spPr>
          <a:xfrm>
            <a:off x="2336495" y="2581539"/>
            <a:ext cx="1664005" cy="1515161"/>
          </a:xfrm>
          <a:prstGeom prst="rect">
            <a:avLst/>
          </a:prstGeom>
          <a:noFill/>
          <a:ln/>
        </p:spPr>
        <p:txBody>
          <a:bodyPr wrap="square" lIns="0" tIns="0" rIns="0" bIns="0" rtlCol="0" anchor="t"/>
          <a:lstStyle/>
          <a:p>
            <a:pPr marL="139700" indent="-139700" algn="l">
              <a:lnSpc>
                <a:spcPts val="1260"/>
              </a:lnSpc>
              <a:spcAft>
                <a:spcPts val="600"/>
              </a:spcAft>
              <a:buSzPct val="100000"/>
              <a:buChar char="•"/>
            </a:pPr>
            <a:r>
              <a:rPr lang="en-US" sz="1150" dirty="0">
                <a:solidFill>
                  <a:srgbClr val="4B5563"/>
                </a:solidFill>
                <a:latin typeface="Raleway" pitchFamily="2" charset="0"/>
                <a:ea typeface="Inter" pitchFamily="34" charset="-122"/>
                <a:cs typeface="Inter" pitchFamily="34" charset="-120"/>
              </a:rPr>
              <a:t>​Target pool for voice roles</a:t>
            </a:r>
            <a:endParaRPr lang="en-US" sz="1150" dirty="0">
              <a:latin typeface="Raleway" pitchFamily="2" charset="0"/>
            </a:endParaRPr>
          </a:p>
          <a:p>
            <a:pPr marL="139700" indent="-139700" algn="l">
              <a:lnSpc>
                <a:spcPts val="1260"/>
              </a:lnSpc>
              <a:spcAft>
                <a:spcPts val="600"/>
              </a:spcAft>
              <a:buSzPct val="100000"/>
              <a:buChar char="•"/>
            </a:pPr>
            <a:r>
              <a:rPr lang="en-US" sz="1150" dirty="0">
                <a:solidFill>
                  <a:srgbClr val="4B5563"/>
                </a:solidFill>
                <a:latin typeface="Raleway" pitchFamily="2" charset="0"/>
                <a:ea typeface="Inter" pitchFamily="34" charset="-122"/>
                <a:cs typeface="Inter" pitchFamily="34" charset="-120"/>
              </a:rPr>
              <a:t>​Top 20 partner colleges</a:t>
            </a:r>
            <a:endParaRPr lang="en-US" sz="1150" dirty="0">
              <a:latin typeface="Raleway" pitchFamily="2" charset="0"/>
            </a:endParaRPr>
          </a:p>
          <a:p>
            <a:pPr marL="139700" indent="-139700" algn="l">
              <a:lnSpc>
                <a:spcPts val="1260"/>
              </a:lnSpc>
              <a:spcAft>
                <a:spcPts val="600"/>
              </a:spcAft>
              <a:buSzPct val="100000"/>
              <a:buChar char="•"/>
            </a:pPr>
            <a:r>
              <a:rPr lang="en-US" sz="1150" dirty="0">
                <a:solidFill>
                  <a:srgbClr val="4B5563"/>
                </a:solidFill>
                <a:latin typeface="Raleway" pitchFamily="2" charset="0"/>
                <a:ea typeface="Inter" pitchFamily="34" charset="-122"/>
                <a:cs typeface="Inter" pitchFamily="34" charset="-120"/>
              </a:rPr>
              <a:t>​10,000+ candidate database</a:t>
            </a:r>
            <a:endParaRPr lang="en-US" sz="1150" dirty="0">
              <a:latin typeface="Raleway" pitchFamily="2" charset="0"/>
            </a:endParaRPr>
          </a:p>
          <a:p>
            <a:pPr marL="139700" indent="-139700" algn="l">
              <a:lnSpc>
                <a:spcPts val="1260"/>
              </a:lnSpc>
              <a:spcAft>
                <a:spcPts val="600"/>
              </a:spcAft>
              <a:buSzPct val="100000"/>
              <a:buChar char="•"/>
            </a:pPr>
            <a:r>
              <a:rPr lang="en-US" sz="1150" dirty="0">
                <a:solidFill>
                  <a:srgbClr val="4B5563"/>
                </a:solidFill>
                <a:latin typeface="Raleway" pitchFamily="2" charset="0"/>
                <a:ea typeface="Inter" pitchFamily="34" charset="-122"/>
                <a:cs typeface="Inter" pitchFamily="34" charset="-120"/>
              </a:rPr>
              <a:t>​Employee referrals</a:t>
            </a:r>
            <a:endParaRPr lang="en-US" sz="1150" dirty="0">
              <a:latin typeface="Raleway" pitchFamily="2" charset="0"/>
            </a:endParaRPr>
          </a:p>
          <a:p>
            <a:pPr marL="139700" indent="-139700" algn="l">
              <a:lnSpc>
                <a:spcPts val="1260"/>
              </a:lnSpc>
              <a:spcAft>
                <a:spcPts val="600"/>
              </a:spcAft>
              <a:buSzPct val="100000"/>
              <a:buChar char="•"/>
            </a:pPr>
            <a:r>
              <a:rPr lang="en-US" sz="1150" dirty="0">
                <a:solidFill>
                  <a:srgbClr val="4B5563"/>
                </a:solidFill>
                <a:latin typeface="Raleway" pitchFamily="2" charset="0"/>
                <a:ea typeface="Inter" pitchFamily="34" charset="-122"/>
                <a:cs typeface="Inter" pitchFamily="34" charset="-120"/>
              </a:rPr>
              <a:t>​Job portals &amp; social media</a:t>
            </a:r>
            <a:endParaRPr lang="en-US" sz="1150" dirty="0">
              <a:latin typeface="Raleway" pitchFamily="2" charset="0"/>
            </a:endParaRPr>
          </a:p>
          <a:p>
            <a:pPr marL="139700" indent="-139700" algn="l">
              <a:lnSpc>
                <a:spcPts val="1260"/>
              </a:lnSpc>
              <a:spcAft>
                <a:spcPts val="600"/>
              </a:spcAft>
              <a:buSzPct val="100000"/>
              <a:buChar char="•"/>
            </a:pPr>
            <a:r>
              <a:rPr lang="en-US" sz="1150" dirty="0">
                <a:solidFill>
                  <a:srgbClr val="4B5563"/>
                </a:solidFill>
                <a:latin typeface="Raleway" pitchFamily="2" charset="0"/>
                <a:ea typeface="Inter" pitchFamily="34" charset="-122"/>
                <a:cs typeface="Inter" pitchFamily="34" charset="-120"/>
              </a:rPr>
              <a:t>​3 weekly walk-in drives</a:t>
            </a:r>
            <a:endParaRPr lang="en-US" sz="1150" dirty="0">
              <a:latin typeface="Raleway" pitchFamily="2" charset="0"/>
            </a:endParaRPr>
          </a:p>
        </p:txBody>
      </p:sp>
      <p:pic>
        <p:nvPicPr>
          <p:cNvPr id="38" name="Image 21" descr="gen-dedup-b0e128b88bfd559ead5e7a3c3bdc5cee.png"/>
          <p:cNvPicPr>
            <a:picLocks noChangeAspect="1"/>
          </p:cNvPicPr>
          <p:nvPr/>
        </p:nvPicPr>
        <p:blipFill>
          <a:blip r:embed="rId16"/>
          <a:srcRect t="-31430" b="-31430"/>
          <a:stretch/>
        </p:blipFill>
        <p:spPr>
          <a:xfrm>
            <a:off x="4843767" y="1237426"/>
            <a:ext cx="457200" cy="457200"/>
          </a:xfrm>
          <a:prstGeom prst="rect">
            <a:avLst/>
          </a:prstGeom>
        </p:spPr>
      </p:pic>
      <p:sp>
        <p:nvSpPr>
          <p:cNvPr id="39" name="Text 15"/>
          <p:cNvSpPr txBox="1"/>
          <p:nvPr/>
        </p:nvSpPr>
        <p:spPr>
          <a:xfrm>
            <a:off x="4190695" y="2116209"/>
            <a:ext cx="1714500" cy="152705"/>
          </a:xfrm>
          <a:prstGeom prst="rect">
            <a:avLst/>
          </a:prstGeom>
          <a:noFill/>
          <a:ln/>
        </p:spPr>
        <p:txBody>
          <a:bodyPr wrap="none" lIns="0" tIns="0" rIns="0" bIns="0" rtlCol="0" anchor="ctr"/>
          <a:lstStyle/>
          <a:p>
            <a:pPr marL="0" indent="0" algn="ctr">
              <a:buNone/>
            </a:pPr>
            <a:r>
              <a:rPr lang="en-US" sz="1300" b="1" dirty="0">
                <a:solidFill>
                  <a:srgbClr val="FFFFFF"/>
                </a:solidFill>
                <a:latin typeface="Raleway" pitchFamily="2" charset="0"/>
                <a:ea typeface="Inter" pitchFamily="34" charset="-122"/>
                <a:cs typeface="Inter" pitchFamily="34" charset="-120"/>
              </a:rPr>
              <a:t>Screening &amp; Assess</a:t>
            </a:r>
            <a:endParaRPr lang="en-US" sz="1300" dirty="0">
              <a:latin typeface="Raleway" pitchFamily="2" charset="0"/>
            </a:endParaRPr>
          </a:p>
        </p:txBody>
      </p:sp>
      <p:sp>
        <p:nvSpPr>
          <p:cNvPr id="40" name="Text 16"/>
          <p:cNvSpPr txBox="1"/>
          <p:nvPr/>
        </p:nvSpPr>
        <p:spPr>
          <a:xfrm>
            <a:off x="4242105" y="2581539"/>
            <a:ext cx="1664005" cy="1279246"/>
          </a:xfrm>
          <a:prstGeom prst="rect">
            <a:avLst/>
          </a:prstGeom>
          <a:noFill/>
          <a:ln/>
        </p:spPr>
        <p:txBody>
          <a:bodyPr wrap="square" lIns="0" tIns="0" rIns="0" bIns="0" rtlCol="0" anchor="t"/>
          <a:lstStyle/>
          <a:p>
            <a:pPr marL="139700" indent="-139700" algn="l">
              <a:lnSpc>
                <a:spcPts val="1260"/>
              </a:lnSpc>
              <a:spcAft>
                <a:spcPts val="600"/>
              </a:spcAft>
              <a:buSzPct val="100000"/>
              <a:buChar char="•"/>
            </a:pPr>
            <a:r>
              <a:rPr lang="en-US" sz="1150" dirty="0">
                <a:solidFill>
                  <a:srgbClr val="4B5563"/>
                </a:solidFill>
                <a:latin typeface="Raleway" pitchFamily="2" charset="0"/>
                <a:ea typeface="Inter" pitchFamily="34" charset="-122"/>
                <a:cs typeface="Inter" pitchFamily="34" charset="-120"/>
              </a:rPr>
              <a:t>​AI-powered screening</a:t>
            </a:r>
            <a:endParaRPr lang="en-US" sz="1150" dirty="0">
              <a:latin typeface="Raleway" pitchFamily="2" charset="0"/>
            </a:endParaRPr>
          </a:p>
          <a:p>
            <a:pPr marL="139700" indent="-139700" algn="l">
              <a:lnSpc>
                <a:spcPts val="1260"/>
              </a:lnSpc>
              <a:spcAft>
                <a:spcPts val="600"/>
              </a:spcAft>
              <a:buSzPct val="100000"/>
              <a:buChar char="•"/>
            </a:pPr>
            <a:r>
              <a:rPr lang="en-US" sz="1150" dirty="0">
                <a:solidFill>
                  <a:srgbClr val="4B5563"/>
                </a:solidFill>
                <a:latin typeface="Raleway" pitchFamily="2" charset="0"/>
                <a:ea typeface="Inter" pitchFamily="34" charset="-122"/>
                <a:cs typeface="Inter" pitchFamily="34" charset="-120"/>
              </a:rPr>
              <a:t>​HR screening</a:t>
            </a:r>
            <a:endParaRPr lang="en-US" sz="1150" dirty="0">
              <a:latin typeface="Raleway" pitchFamily="2" charset="0"/>
            </a:endParaRPr>
          </a:p>
          <a:p>
            <a:pPr marL="139700" indent="-139700" algn="l">
              <a:lnSpc>
                <a:spcPts val="1260"/>
              </a:lnSpc>
              <a:spcAft>
                <a:spcPts val="600"/>
              </a:spcAft>
              <a:buSzPct val="100000"/>
              <a:buChar char="•"/>
            </a:pPr>
            <a:r>
              <a:rPr lang="en-US" sz="1150" dirty="0">
                <a:solidFill>
                  <a:srgbClr val="4B5563"/>
                </a:solidFill>
                <a:latin typeface="Raleway" pitchFamily="2" charset="0"/>
                <a:ea typeface="Inter" pitchFamily="34" charset="-122"/>
                <a:cs typeface="Inter" pitchFamily="34" charset="-120"/>
              </a:rPr>
              <a:t>​Communication and aptitude assessment</a:t>
            </a:r>
            <a:endParaRPr lang="en-US" sz="1150" dirty="0">
              <a:latin typeface="Raleway" pitchFamily="2" charset="0"/>
            </a:endParaRPr>
          </a:p>
          <a:p>
            <a:pPr marL="139700" indent="-139700" algn="l">
              <a:lnSpc>
                <a:spcPts val="1260"/>
              </a:lnSpc>
              <a:spcAft>
                <a:spcPts val="600"/>
              </a:spcAft>
              <a:buSzPct val="100000"/>
              <a:buChar char="•"/>
            </a:pPr>
            <a:r>
              <a:rPr lang="en-US" sz="1150" dirty="0">
                <a:solidFill>
                  <a:srgbClr val="4B5563"/>
                </a:solidFill>
                <a:latin typeface="Raleway" pitchFamily="2" charset="0"/>
                <a:ea typeface="Inter" pitchFamily="34" charset="-122"/>
                <a:cs typeface="Inter" pitchFamily="34" charset="-120"/>
              </a:rPr>
              <a:t>​Role-specific evaluation</a:t>
            </a:r>
            <a:endParaRPr lang="en-US" sz="1150" dirty="0">
              <a:latin typeface="Raleway" pitchFamily="2" charset="0"/>
            </a:endParaRPr>
          </a:p>
          <a:p>
            <a:pPr marL="139700" indent="-139700" algn="l">
              <a:lnSpc>
                <a:spcPts val="1260"/>
              </a:lnSpc>
              <a:spcAft>
                <a:spcPts val="600"/>
              </a:spcAft>
              <a:buSzPct val="100000"/>
              <a:buChar char="•"/>
            </a:pPr>
            <a:r>
              <a:rPr lang="en-US" sz="1150" dirty="0">
                <a:solidFill>
                  <a:srgbClr val="4B5563"/>
                </a:solidFill>
                <a:latin typeface="Raleway" pitchFamily="2" charset="0"/>
                <a:ea typeface="Inter" pitchFamily="34" charset="-122"/>
                <a:cs typeface="Inter" pitchFamily="34" charset="-120"/>
              </a:rPr>
              <a:t>​Candidate shortlisting</a:t>
            </a:r>
            <a:endParaRPr lang="en-US" sz="1150" dirty="0">
              <a:latin typeface="Raleway" pitchFamily="2" charset="0"/>
            </a:endParaRPr>
          </a:p>
        </p:txBody>
      </p:sp>
      <p:pic>
        <p:nvPicPr>
          <p:cNvPr id="41" name="Image 22" descr="gen-dedup-c0e8b97501f6f827e5c293fa34a7379c.png"/>
          <p:cNvPicPr>
            <a:picLocks noChangeAspect="1"/>
          </p:cNvPicPr>
          <p:nvPr/>
        </p:nvPicPr>
        <p:blipFill>
          <a:blip r:embed="rId17"/>
          <a:srcRect t="-29694" b="-29694"/>
          <a:stretch/>
        </p:blipFill>
        <p:spPr>
          <a:xfrm>
            <a:off x="6738404" y="1228282"/>
            <a:ext cx="457200" cy="457200"/>
          </a:xfrm>
          <a:prstGeom prst="rect">
            <a:avLst/>
          </a:prstGeom>
        </p:spPr>
      </p:pic>
      <p:sp>
        <p:nvSpPr>
          <p:cNvPr id="42" name="Text 17"/>
          <p:cNvSpPr txBox="1"/>
          <p:nvPr/>
        </p:nvSpPr>
        <p:spPr>
          <a:xfrm>
            <a:off x="6096305" y="2116209"/>
            <a:ext cx="1714500" cy="152705"/>
          </a:xfrm>
          <a:prstGeom prst="rect">
            <a:avLst/>
          </a:prstGeom>
          <a:noFill/>
          <a:ln/>
        </p:spPr>
        <p:txBody>
          <a:bodyPr wrap="none" lIns="0" tIns="0" rIns="0" bIns="0" rtlCol="0" anchor="ctr"/>
          <a:lstStyle/>
          <a:p>
            <a:pPr marL="0" indent="0" algn="ctr">
              <a:buNone/>
            </a:pPr>
            <a:r>
              <a:rPr lang="en-US" sz="1300" b="1" dirty="0">
                <a:solidFill>
                  <a:srgbClr val="FFFFFF"/>
                </a:solidFill>
                <a:latin typeface="Raleway" pitchFamily="2" charset="0"/>
                <a:ea typeface="Inter" pitchFamily="34" charset="-122"/>
                <a:cs typeface="Inter" pitchFamily="34" charset="-120"/>
              </a:rPr>
              <a:t>Client Selection</a:t>
            </a:r>
            <a:endParaRPr lang="en-US" sz="1300" dirty="0">
              <a:latin typeface="Raleway" pitchFamily="2" charset="0"/>
            </a:endParaRPr>
          </a:p>
        </p:txBody>
      </p:sp>
      <p:sp>
        <p:nvSpPr>
          <p:cNvPr id="43" name="Text 18"/>
          <p:cNvSpPr txBox="1"/>
          <p:nvPr/>
        </p:nvSpPr>
        <p:spPr>
          <a:xfrm>
            <a:off x="6146800" y="2581539"/>
            <a:ext cx="1664005" cy="1365199"/>
          </a:xfrm>
          <a:prstGeom prst="rect">
            <a:avLst/>
          </a:prstGeom>
          <a:noFill/>
          <a:ln/>
        </p:spPr>
        <p:txBody>
          <a:bodyPr wrap="square" lIns="0" tIns="0" rIns="0" bIns="0" rtlCol="0" anchor="t"/>
          <a:lstStyle/>
          <a:p>
            <a:pPr marL="139700" indent="-139700" algn="l">
              <a:lnSpc>
                <a:spcPts val="1260"/>
              </a:lnSpc>
              <a:spcAft>
                <a:spcPts val="600"/>
              </a:spcAft>
              <a:buSzPct val="100000"/>
              <a:buChar char="•"/>
            </a:pPr>
            <a:r>
              <a:rPr lang="en-US" sz="1150" dirty="0">
                <a:solidFill>
                  <a:srgbClr val="4B5563"/>
                </a:solidFill>
                <a:latin typeface="Raleway" pitchFamily="2" charset="0"/>
                <a:ea typeface="Inter" pitchFamily="34" charset="-122"/>
                <a:cs typeface="Inter" pitchFamily="34" charset="-120"/>
              </a:rPr>
              <a:t>​Schedule client interviews</a:t>
            </a:r>
            <a:endParaRPr lang="en-US" sz="1150" dirty="0">
              <a:latin typeface="Raleway" pitchFamily="2" charset="0"/>
            </a:endParaRPr>
          </a:p>
          <a:p>
            <a:pPr marL="139700" indent="-139700" algn="l">
              <a:lnSpc>
                <a:spcPts val="1260"/>
              </a:lnSpc>
              <a:spcAft>
                <a:spcPts val="600"/>
              </a:spcAft>
              <a:buSzPct val="100000"/>
              <a:buChar char="•"/>
            </a:pPr>
            <a:r>
              <a:rPr lang="en-US" sz="1150" dirty="0">
                <a:solidFill>
                  <a:srgbClr val="4B5563"/>
                </a:solidFill>
                <a:latin typeface="Raleway" pitchFamily="2" charset="0"/>
                <a:ea typeface="Inter" pitchFamily="34" charset="-122"/>
                <a:cs typeface="Inter" pitchFamily="34" charset="-120"/>
              </a:rPr>
              <a:t>​Coordinate interview feedback</a:t>
            </a:r>
            <a:endParaRPr lang="en-US" sz="1150" dirty="0">
              <a:latin typeface="Raleway" pitchFamily="2" charset="0"/>
            </a:endParaRPr>
          </a:p>
          <a:p>
            <a:pPr marL="139700" indent="-139700" algn="l">
              <a:lnSpc>
                <a:spcPts val="1260"/>
              </a:lnSpc>
              <a:spcAft>
                <a:spcPts val="600"/>
              </a:spcAft>
              <a:buSzPct val="100000"/>
              <a:buChar char="•"/>
            </a:pPr>
            <a:r>
              <a:rPr lang="en-US" sz="1150" dirty="0">
                <a:solidFill>
                  <a:srgbClr val="4B5563"/>
                </a:solidFill>
                <a:latin typeface="Raleway" pitchFamily="2" charset="0"/>
                <a:ea typeface="Inter" pitchFamily="34" charset="-122"/>
                <a:cs typeface="Inter" pitchFamily="34" charset="-120"/>
              </a:rPr>
              <a:t>​Manage candidate engagement</a:t>
            </a:r>
            <a:endParaRPr lang="en-US" sz="1150" dirty="0">
              <a:latin typeface="Raleway" pitchFamily="2" charset="0"/>
            </a:endParaRPr>
          </a:p>
          <a:p>
            <a:pPr marL="139700" indent="-139700" algn="l">
              <a:lnSpc>
                <a:spcPts val="1260"/>
              </a:lnSpc>
              <a:spcAft>
                <a:spcPts val="600"/>
              </a:spcAft>
              <a:buSzPct val="100000"/>
              <a:buChar char="•"/>
            </a:pPr>
            <a:r>
              <a:rPr lang="en-US" sz="1150" dirty="0">
                <a:solidFill>
                  <a:srgbClr val="4B5563"/>
                </a:solidFill>
                <a:latin typeface="Raleway" pitchFamily="2" charset="0"/>
                <a:ea typeface="Inter" pitchFamily="34" charset="-122"/>
                <a:cs typeface="Inter" pitchFamily="34" charset="-120"/>
              </a:rPr>
              <a:t>​Release offers through AI-enabled platform</a:t>
            </a:r>
            <a:endParaRPr lang="en-US" sz="1150" dirty="0">
              <a:latin typeface="Raleway" pitchFamily="2" charset="0"/>
            </a:endParaRPr>
          </a:p>
        </p:txBody>
      </p:sp>
      <p:pic>
        <p:nvPicPr>
          <p:cNvPr id="44" name="Image 23" descr="gen-dedup-ac53abe7c25d3e6867ea233df4b39080.png"/>
          <p:cNvPicPr>
            <a:picLocks noChangeAspect="1"/>
          </p:cNvPicPr>
          <p:nvPr/>
        </p:nvPicPr>
        <p:blipFill>
          <a:blip r:embed="rId18"/>
          <a:srcRect t="-23287" b="-23287"/>
          <a:stretch/>
        </p:blipFill>
        <p:spPr>
          <a:xfrm>
            <a:off x="8691658" y="1285551"/>
            <a:ext cx="365760" cy="365760"/>
          </a:xfrm>
          <a:prstGeom prst="rect">
            <a:avLst/>
          </a:prstGeom>
        </p:spPr>
      </p:pic>
      <p:sp>
        <p:nvSpPr>
          <p:cNvPr id="45" name="Text 19"/>
          <p:cNvSpPr txBox="1"/>
          <p:nvPr/>
        </p:nvSpPr>
        <p:spPr>
          <a:xfrm>
            <a:off x="8001000" y="2116209"/>
            <a:ext cx="1714500" cy="152705"/>
          </a:xfrm>
          <a:prstGeom prst="rect">
            <a:avLst/>
          </a:prstGeom>
          <a:noFill/>
          <a:ln/>
        </p:spPr>
        <p:txBody>
          <a:bodyPr wrap="none" lIns="0" tIns="0" rIns="0" bIns="0" rtlCol="0" anchor="ctr"/>
          <a:lstStyle/>
          <a:p>
            <a:pPr marL="0" indent="0" algn="ctr">
              <a:buNone/>
            </a:pPr>
            <a:r>
              <a:rPr lang="en-US" sz="1300" b="1" dirty="0">
                <a:solidFill>
                  <a:srgbClr val="FFFFFF"/>
                </a:solidFill>
                <a:latin typeface="Raleway" pitchFamily="2" charset="0"/>
                <a:ea typeface="Inter" pitchFamily="34" charset="-122"/>
                <a:cs typeface="Inter" pitchFamily="34" charset="-120"/>
              </a:rPr>
              <a:t>Offer to Joining</a:t>
            </a:r>
            <a:endParaRPr lang="en-US" sz="1300" dirty="0">
              <a:latin typeface="Raleway" pitchFamily="2" charset="0"/>
            </a:endParaRPr>
          </a:p>
        </p:txBody>
      </p:sp>
      <p:sp>
        <p:nvSpPr>
          <p:cNvPr id="46" name="Text 20"/>
          <p:cNvSpPr txBox="1"/>
          <p:nvPr/>
        </p:nvSpPr>
        <p:spPr>
          <a:xfrm>
            <a:off x="8051495" y="2581539"/>
            <a:ext cx="1664005" cy="1119226"/>
          </a:xfrm>
          <a:prstGeom prst="rect">
            <a:avLst/>
          </a:prstGeom>
          <a:noFill/>
          <a:ln/>
        </p:spPr>
        <p:txBody>
          <a:bodyPr wrap="square" lIns="0" tIns="0" rIns="0" bIns="0" rtlCol="0" anchor="t"/>
          <a:lstStyle/>
          <a:p>
            <a:pPr marL="139700" indent="-139700" algn="l">
              <a:lnSpc>
                <a:spcPts val="1260"/>
              </a:lnSpc>
              <a:spcAft>
                <a:spcPts val="600"/>
              </a:spcAft>
              <a:buSzPct val="100000"/>
              <a:buChar char="•"/>
            </a:pPr>
            <a:r>
              <a:rPr lang="en-US" sz="1150" dirty="0">
                <a:solidFill>
                  <a:srgbClr val="4B5563"/>
                </a:solidFill>
                <a:latin typeface="Raleway" pitchFamily="2" charset="0"/>
                <a:ea typeface="Inter" pitchFamily="34" charset="-122"/>
                <a:cs typeface="Inter" pitchFamily="34" charset="-120"/>
              </a:rPr>
              <a:t>​Offer acceptance tracking</a:t>
            </a:r>
            <a:endParaRPr lang="en-US" sz="1150" dirty="0">
              <a:latin typeface="Raleway" pitchFamily="2" charset="0"/>
            </a:endParaRPr>
          </a:p>
          <a:p>
            <a:pPr marL="139700" indent="-139700" algn="l">
              <a:lnSpc>
                <a:spcPts val="1260"/>
              </a:lnSpc>
              <a:spcAft>
                <a:spcPts val="600"/>
              </a:spcAft>
              <a:buSzPct val="100000"/>
              <a:buChar char="•"/>
            </a:pPr>
            <a:r>
              <a:rPr lang="en-US" sz="1150" dirty="0">
                <a:solidFill>
                  <a:srgbClr val="4B5563"/>
                </a:solidFill>
                <a:latin typeface="Raleway" pitchFamily="2" charset="0"/>
                <a:ea typeface="Inter" pitchFamily="34" charset="-122"/>
                <a:cs typeface="Inter" pitchFamily="34" charset="-120"/>
              </a:rPr>
              <a:t>​Background verification</a:t>
            </a:r>
            <a:endParaRPr lang="en-US" sz="1150" dirty="0">
              <a:latin typeface="Raleway" pitchFamily="2" charset="0"/>
            </a:endParaRPr>
          </a:p>
          <a:p>
            <a:pPr marL="139700" indent="-139700" algn="l">
              <a:lnSpc>
                <a:spcPts val="1260"/>
              </a:lnSpc>
              <a:spcAft>
                <a:spcPts val="600"/>
              </a:spcAft>
              <a:buSzPct val="100000"/>
              <a:buChar char="•"/>
            </a:pPr>
            <a:r>
              <a:rPr lang="en-US" sz="1150" dirty="0">
                <a:solidFill>
                  <a:srgbClr val="4B5563"/>
                </a:solidFill>
                <a:latin typeface="Raleway" pitchFamily="2" charset="0"/>
                <a:ea typeface="Inter" pitchFamily="34" charset="-122"/>
                <a:cs typeface="Inter" pitchFamily="34" charset="-120"/>
              </a:rPr>
              <a:t>​Documentation</a:t>
            </a:r>
            <a:endParaRPr lang="en-US" sz="1150" dirty="0">
              <a:latin typeface="Raleway" pitchFamily="2" charset="0"/>
            </a:endParaRPr>
          </a:p>
          <a:p>
            <a:pPr marL="139700" indent="-139700" algn="l">
              <a:lnSpc>
                <a:spcPts val="1260"/>
              </a:lnSpc>
              <a:spcAft>
                <a:spcPts val="600"/>
              </a:spcAft>
              <a:buSzPct val="100000"/>
              <a:buChar char="•"/>
            </a:pPr>
            <a:r>
              <a:rPr lang="en-US" sz="1150" dirty="0">
                <a:solidFill>
                  <a:srgbClr val="4B5563"/>
                </a:solidFill>
                <a:latin typeface="Raleway" pitchFamily="2" charset="0"/>
                <a:ea typeface="Inter" pitchFamily="34" charset="-122"/>
                <a:cs typeface="Inter" pitchFamily="34" charset="-120"/>
              </a:rPr>
              <a:t>​Pre-joining engagement</a:t>
            </a:r>
            <a:endParaRPr lang="en-US" sz="1150" dirty="0">
              <a:latin typeface="Raleway" pitchFamily="2" charset="0"/>
            </a:endParaRPr>
          </a:p>
          <a:p>
            <a:pPr marL="139700" indent="-139700" algn="l">
              <a:lnSpc>
                <a:spcPts val="1260"/>
              </a:lnSpc>
              <a:spcAft>
                <a:spcPts val="600"/>
              </a:spcAft>
              <a:buSzPct val="100000"/>
              <a:buChar char="•"/>
            </a:pPr>
            <a:r>
              <a:rPr lang="en-US" sz="1150" dirty="0">
                <a:solidFill>
                  <a:srgbClr val="4B5563"/>
                </a:solidFill>
                <a:latin typeface="Raleway" pitchFamily="2" charset="0"/>
                <a:ea typeface="Inter" pitchFamily="34" charset="-122"/>
                <a:cs typeface="Inter" pitchFamily="34" charset="-120"/>
              </a:rPr>
              <a:t>​Joining confirmation</a:t>
            </a:r>
            <a:endParaRPr lang="en-US" sz="1150" dirty="0">
              <a:latin typeface="Raleway" pitchFamily="2" charset="0"/>
            </a:endParaRPr>
          </a:p>
        </p:txBody>
      </p:sp>
      <p:pic>
        <p:nvPicPr>
          <p:cNvPr id="47" name="Image 24" descr="gen-dedup-a43375c774087ebf05bf08d5bb813ef2.png"/>
          <p:cNvPicPr>
            <a:picLocks noChangeAspect="1"/>
          </p:cNvPicPr>
          <p:nvPr/>
        </p:nvPicPr>
        <p:blipFill>
          <a:blip r:embed="rId19"/>
          <a:srcRect t="-15144" b="-15144"/>
          <a:stretch/>
        </p:blipFill>
        <p:spPr>
          <a:xfrm>
            <a:off x="10597267" y="1285551"/>
            <a:ext cx="365760" cy="365760"/>
          </a:xfrm>
          <a:prstGeom prst="rect">
            <a:avLst/>
          </a:prstGeom>
        </p:spPr>
      </p:pic>
      <p:sp>
        <p:nvSpPr>
          <p:cNvPr id="48" name="Text 21"/>
          <p:cNvSpPr txBox="1"/>
          <p:nvPr/>
        </p:nvSpPr>
        <p:spPr>
          <a:xfrm>
            <a:off x="9905695" y="2116209"/>
            <a:ext cx="1714500" cy="152705"/>
          </a:xfrm>
          <a:prstGeom prst="rect">
            <a:avLst/>
          </a:prstGeom>
          <a:noFill/>
          <a:ln/>
        </p:spPr>
        <p:txBody>
          <a:bodyPr wrap="none" lIns="0" tIns="0" rIns="0" bIns="0" rtlCol="0" anchor="ctr"/>
          <a:lstStyle/>
          <a:p>
            <a:pPr marL="0" indent="0" algn="ctr">
              <a:buNone/>
            </a:pPr>
            <a:r>
              <a:rPr lang="en-US" sz="1300" b="1" dirty="0">
                <a:solidFill>
                  <a:srgbClr val="FFFFFF"/>
                </a:solidFill>
                <a:latin typeface="Raleway" pitchFamily="2" charset="0"/>
                <a:ea typeface="Inter" pitchFamily="34" charset="-122"/>
                <a:cs typeface="Inter" pitchFamily="34" charset="-120"/>
              </a:rPr>
              <a:t>Deployment</a:t>
            </a:r>
            <a:endParaRPr lang="en-US" sz="1300" dirty="0">
              <a:latin typeface="Raleway" pitchFamily="2" charset="0"/>
            </a:endParaRPr>
          </a:p>
        </p:txBody>
      </p:sp>
      <p:sp>
        <p:nvSpPr>
          <p:cNvPr id="49" name="Text 22"/>
          <p:cNvSpPr txBox="1"/>
          <p:nvPr/>
        </p:nvSpPr>
        <p:spPr>
          <a:xfrm>
            <a:off x="9957105" y="2581539"/>
            <a:ext cx="1664005" cy="1205179"/>
          </a:xfrm>
          <a:prstGeom prst="rect">
            <a:avLst/>
          </a:prstGeom>
          <a:noFill/>
          <a:ln/>
        </p:spPr>
        <p:txBody>
          <a:bodyPr wrap="square" lIns="0" tIns="0" rIns="0" bIns="0" rtlCol="0" anchor="t"/>
          <a:lstStyle/>
          <a:p>
            <a:pPr marL="139700" indent="-139700" algn="l">
              <a:lnSpc>
                <a:spcPts val="1260"/>
              </a:lnSpc>
              <a:spcAft>
                <a:spcPts val="600"/>
              </a:spcAft>
              <a:buSzPct val="100000"/>
              <a:buChar char="•"/>
            </a:pPr>
            <a:r>
              <a:rPr lang="en-US" sz="1150" dirty="0">
                <a:solidFill>
                  <a:srgbClr val="4B5563"/>
                </a:solidFill>
                <a:latin typeface="Raleway" pitchFamily="2" charset="0"/>
                <a:ea typeface="Inter" pitchFamily="34" charset="-122"/>
                <a:cs typeface="Inter" pitchFamily="34" charset="-120"/>
              </a:rPr>
              <a:t>​Onboard candidates at BLR/HYD</a:t>
            </a:r>
            <a:endParaRPr lang="en-US" sz="1150" dirty="0">
              <a:latin typeface="Raleway" pitchFamily="2" charset="0"/>
            </a:endParaRPr>
          </a:p>
          <a:p>
            <a:pPr marL="139700" indent="-139700" algn="l">
              <a:lnSpc>
                <a:spcPts val="1260"/>
              </a:lnSpc>
              <a:spcAft>
                <a:spcPts val="600"/>
              </a:spcAft>
              <a:buSzPct val="100000"/>
              <a:buChar char="•"/>
            </a:pPr>
            <a:r>
              <a:rPr lang="en-US" sz="1150" dirty="0">
                <a:solidFill>
                  <a:srgbClr val="4B5563"/>
                </a:solidFill>
                <a:latin typeface="Raleway" pitchFamily="2" charset="0"/>
                <a:ea typeface="Inter" pitchFamily="34" charset="-122"/>
                <a:cs typeface="Inter" pitchFamily="34" charset="-120"/>
              </a:rPr>
              <a:t>​Track joining ratio and SLA</a:t>
            </a:r>
            <a:endParaRPr lang="en-US" sz="1150" dirty="0">
              <a:latin typeface="Raleway" pitchFamily="2" charset="0"/>
            </a:endParaRPr>
          </a:p>
          <a:p>
            <a:pPr marL="139700" indent="-139700" algn="l">
              <a:lnSpc>
                <a:spcPts val="1260"/>
              </a:lnSpc>
              <a:spcAft>
                <a:spcPts val="600"/>
              </a:spcAft>
              <a:buSzPct val="100000"/>
              <a:buChar char="•"/>
            </a:pPr>
            <a:r>
              <a:rPr lang="en-US" sz="1150" dirty="0">
                <a:solidFill>
                  <a:srgbClr val="4B5563"/>
                </a:solidFill>
                <a:latin typeface="Raleway" pitchFamily="2" charset="0"/>
                <a:ea typeface="Inter" pitchFamily="34" charset="-122"/>
                <a:cs typeface="Inter" pitchFamily="34" charset="-120"/>
              </a:rPr>
              <a:t>​Weekly governance reviews</a:t>
            </a:r>
            <a:endParaRPr lang="en-US" sz="1150" dirty="0">
              <a:latin typeface="Raleway" pitchFamily="2" charset="0"/>
            </a:endParaRPr>
          </a:p>
          <a:p>
            <a:pPr marL="139700" indent="-139700" algn="l">
              <a:lnSpc>
                <a:spcPts val="1260"/>
              </a:lnSpc>
              <a:spcAft>
                <a:spcPts val="600"/>
              </a:spcAft>
              <a:buSzPct val="100000"/>
              <a:buChar char="•"/>
            </a:pPr>
            <a:r>
              <a:rPr lang="en-US" sz="1150" dirty="0">
                <a:solidFill>
                  <a:srgbClr val="4B5563"/>
                </a:solidFill>
                <a:latin typeface="Raleway" pitchFamily="2" charset="0"/>
                <a:ea typeface="Inter" pitchFamily="34" charset="-122"/>
                <a:cs typeface="Inter" pitchFamily="34" charset="-120"/>
              </a:rPr>
              <a:t>​Continuous pipeline replenishment</a:t>
            </a:r>
            <a:endParaRPr lang="en-US" sz="1150" dirty="0">
              <a:latin typeface="Raleway" pitchFamily="2" charset="0"/>
            </a:endParaRPr>
          </a:p>
        </p:txBody>
      </p:sp>
      <p:sp>
        <p:nvSpPr>
          <p:cNvPr id="50" name="Shape 23"/>
          <p:cNvSpPr/>
          <p:nvPr/>
        </p:nvSpPr>
        <p:spPr>
          <a:xfrm>
            <a:off x="571500" y="5048402"/>
            <a:ext cx="304495" cy="304495"/>
          </a:xfrm>
          <a:prstGeom prst="roundRect">
            <a:avLst>
              <a:gd name="adj" fmla="val 18919"/>
            </a:avLst>
          </a:prstGeom>
          <a:solidFill>
            <a:srgbClr val="E0F0EE"/>
          </a:solidFill>
          <a:ln w="12700">
            <a:solidFill>
              <a:srgbClr val="FFFFFF">
                <a:alpha val="0"/>
              </a:srgbClr>
            </a:solidFill>
            <a:prstDash val="solid"/>
          </a:ln>
        </p:spPr>
        <p:txBody>
          <a:bodyPr/>
          <a:lstStyle/>
          <a:p>
            <a:endParaRPr lang="en-US">
              <a:latin typeface="Raleway" pitchFamily="2" charset="0"/>
            </a:endParaRPr>
          </a:p>
        </p:txBody>
      </p:sp>
      <p:pic>
        <p:nvPicPr>
          <p:cNvPr id="51" name="Image 25" descr="gen-dedup-7e358a94e44e4fa43a54aae5ce00aa47.png"/>
          <p:cNvPicPr>
            <a:picLocks noChangeAspect="1"/>
          </p:cNvPicPr>
          <p:nvPr/>
        </p:nvPicPr>
        <p:blipFill>
          <a:blip r:embed="rId20"/>
          <a:srcRect t="-100" b="-100"/>
          <a:stretch/>
        </p:blipFill>
        <p:spPr>
          <a:xfrm>
            <a:off x="666598" y="5124298"/>
            <a:ext cx="114300" cy="152705"/>
          </a:xfrm>
          <a:prstGeom prst="rect">
            <a:avLst/>
          </a:prstGeom>
        </p:spPr>
      </p:pic>
      <p:sp>
        <p:nvSpPr>
          <p:cNvPr id="52" name="Text 24"/>
          <p:cNvSpPr txBox="1"/>
          <p:nvPr/>
        </p:nvSpPr>
        <p:spPr>
          <a:xfrm>
            <a:off x="990295" y="5086807"/>
            <a:ext cx="2857500" cy="219456"/>
          </a:xfrm>
          <a:prstGeom prst="rect">
            <a:avLst/>
          </a:prstGeom>
          <a:noFill/>
          <a:ln/>
        </p:spPr>
        <p:txBody>
          <a:bodyPr wrap="none" lIns="0" tIns="0" rIns="0" bIns="0" rtlCol="0" anchor="ctr"/>
          <a:lstStyle/>
          <a:p>
            <a:pPr marL="0" indent="0" algn="l">
              <a:buNone/>
            </a:pPr>
            <a:r>
              <a:rPr lang="en-US" sz="1300" b="1" dirty="0">
                <a:solidFill>
                  <a:srgbClr val="1F2A44"/>
                </a:solidFill>
                <a:latin typeface="Raleway" pitchFamily="2" charset="0"/>
                <a:ea typeface="Fraunces" pitchFamily="34" charset="-122"/>
                <a:cs typeface="Fraunces" pitchFamily="34" charset="-120"/>
              </a:rPr>
              <a:t>Delivery Strengths</a:t>
            </a:r>
            <a:endParaRPr lang="en-US" sz="1300" dirty="0">
              <a:latin typeface="Raleway" pitchFamily="2" charset="0"/>
            </a:endParaRPr>
          </a:p>
        </p:txBody>
      </p:sp>
      <p:pic>
        <p:nvPicPr>
          <p:cNvPr id="53" name="Image 26" descr="gen-dedup-564235ad4609c9efa5814b009357ec1f.png"/>
          <p:cNvPicPr>
            <a:picLocks noChangeAspect="1"/>
          </p:cNvPicPr>
          <p:nvPr/>
        </p:nvPicPr>
        <p:blipFill>
          <a:blip r:embed="rId21"/>
          <a:srcRect t="-12275" b="-12275"/>
          <a:stretch/>
        </p:blipFill>
        <p:spPr>
          <a:xfrm>
            <a:off x="571500" y="5649354"/>
            <a:ext cx="152705" cy="190195"/>
          </a:xfrm>
          <a:prstGeom prst="rect">
            <a:avLst/>
          </a:prstGeom>
        </p:spPr>
      </p:pic>
      <p:sp>
        <p:nvSpPr>
          <p:cNvPr id="54" name="Text 25"/>
          <p:cNvSpPr txBox="1"/>
          <p:nvPr/>
        </p:nvSpPr>
        <p:spPr>
          <a:xfrm>
            <a:off x="895198" y="5649354"/>
            <a:ext cx="1810512" cy="352958"/>
          </a:xfrm>
          <a:prstGeom prst="rect">
            <a:avLst/>
          </a:prstGeom>
          <a:noFill/>
          <a:ln/>
        </p:spPr>
        <p:txBody>
          <a:bodyPr wrap="square" lIns="0" tIns="0" rIns="0" bIns="0" rtlCol="0" anchor="ctr"/>
          <a:lstStyle/>
          <a:p>
            <a:pPr marL="0" indent="0" algn="l">
              <a:buNone/>
            </a:pPr>
            <a:r>
              <a:rPr lang="en-US" sz="1100" b="1" dirty="0">
                <a:solidFill>
                  <a:srgbClr val="2A3346"/>
                </a:solidFill>
                <a:latin typeface="Raleway" pitchFamily="2" charset="0"/>
                <a:ea typeface="Inter" pitchFamily="34" charset="-122"/>
                <a:cs typeface="Inter" pitchFamily="34" charset="-120"/>
              </a:rPr>
              <a:t>Partnerships with Top 20 colleges.</a:t>
            </a:r>
            <a:endParaRPr lang="en-US" sz="1100" dirty="0">
              <a:latin typeface="Raleway" pitchFamily="2" charset="0"/>
            </a:endParaRPr>
          </a:p>
        </p:txBody>
      </p:sp>
      <p:pic>
        <p:nvPicPr>
          <p:cNvPr id="55" name="Image 27" descr="gen-dedup-564235ad4609c9efa5814b009357ec1f.png"/>
          <p:cNvPicPr>
            <a:picLocks noChangeAspect="1"/>
          </p:cNvPicPr>
          <p:nvPr/>
        </p:nvPicPr>
        <p:blipFill>
          <a:blip r:embed="rId21"/>
          <a:srcRect t="-12275" b="-12275"/>
          <a:stretch/>
        </p:blipFill>
        <p:spPr>
          <a:xfrm>
            <a:off x="2800807" y="5649354"/>
            <a:ext cx="152705" cy="190195"/>
          </a:xfrm>
          <a:prstGeom prst="rect">
            <a:avLst/>
          </a:prstGeom>
        </p:spPr>
      </p:pic>
      <p:sp>
        <p:nvSpPr>
          <p:cNvPr id="56" name="Text 26"/>
          <p:cNvSpPr txBox="1"/>
          <p:nvPr/>
        </p:nvSpPr>
        <p:spPr>
          <a:xfrm>
            <a:off x="3124505" y="5649354"/>
            <a:ext cx="1810512" cy="352958"/>
          </a:xfrm>
          <a:prstGeom prst="rect">
            <a:avLst/>
          </a:prstGeom>
          <a:noFill/>
          <a:ln/>
        </p:spPr>
        <p:txBody>
          <a:bodyPr wrap="square" lIns="0" tIns="0" rIns="0" bIns="0" rtlCol="0" anchor="ctr"/>
          <a:lstStyle/>
          <a:p>
            <a:pPr marL="0" indent="0" algn="l">
              <a:buNone/>
            </a:pPr>
            <a:r>
              <a:rPr lang="en-US" sz="1100" b="1" dirty="0">
                <a:solidFill>
                  <a:srgbClr val="2A3346"/>
                </a:solidFill>
                <a:latin typeface="Raleway" pitchFamily="2" charset="0"/>
                <a:ea typeface="Inter" pitchFamily="34" charset="-122"/>
                <a:cs typeface="Inter" pitchFamily="34" charset="-120"/>
              </a:rPr>
              <a:t>10,000+ active candidate database.</a:t>
            </a:r>
            <a:endParaRPr lang="en-US" sz="1100" dirty="0">
              <a:latin typeface="Raleway" pitchFamily="2" charset="0"/>
            </a:endParaRPr>
          </a:p>
        </p:txBody>
      </p:sp>
      <p:pic>
        <p:nvPicPr>
          <p:cNvPr id="57" name="Image 28" descr="gen-dedup-564235ad4609c9efa5814b009357ec1f.png"/>
          <p:cNvPicPr>
            <a:picLocks noChangeAspect="1"/>
          </p:cNvPicPr>
          <p:nvPr/>
        </p:nvPicPr>
        <p:blipFill>
          <a:blip r:embed="rId21"/>
          <a:srcRect t="-12275" b="-12275"/>
          <a:stretch/>
        </p:blipFill>
        <p:spPr>
          <a:xfrm>
            <a:off x="5029200" y="5649354"/>
            <a:ext cx="152705" cy="190195"/>
          </a:xfrm>
          <a:prstGeom prst="rect">
            <a:avLst/>
          </a:prstGeom>
        </p:spPr>
      </p:pic>
      <p:sp>
        <p:nvSpPr>
          <p:cNvPr id="58" name="Text 27"/>
          <p:cNvSpPr txBox="1"/>
          <p:nvPr/>
        </p:nvSpPr>
        <p:spPr>
          <a:xfrm>
            <a:off x="5352898" y="5649354"/>
            <a:ext cx="1905610" cy="523951"/>
          </a:xfrm>
          <a:prstGeom prst="rect">
            <a:avLst/>
          </a:prstGeom>
          <a:noFill/>
          <a:ln/>
        </p:spPr>
        <p:txBody>
          <a:bodyPr wrap="square" lIns="0" tIns="0" rIns="0" bIns="0" rtlCol="0" anchor="ctr"/>
          <a:lstStyle/>
          <a:p>
            <a:pPr marL="0" indent="0" algn="l">
              <a:buNone/>
            </a:pPr>
            <a:r>
              <a:rPr lang="en-US" sz="1100" b="1" dirty="0">
                <a:solidFill>
                  <a:srgbClr val="2A3346"/>
                </a:solidFill>
                <a:latin typeface="Raleway" pitchFamily="2" charset="0"/>
                <a:ea typeface="Inter" pitchFamily="34" charset="-122"/>
                <a:cs typeface="Inter" pitchFamily="34" charset="-120"/>
              </a:rPr>
              <a:t>Proven five-year delivery experience in Customer Support hiring.</a:t>
            </a:r>
            <a:endParaRPr lang="en-US" sz="1100" dirty="0">
              <a:latin typeface="Raleway" pitchFamily="2" charset="0"/>
            </a:endParaRPr>
          </a:p>
        </p:txBody>
      </p:sp>
      <p:pic>
        <p:nvPicPr>
          <p:cNvPr id="59" name="Image 29" descr="gen-dedup-564235ad4609c9efa5814b009357ec1f.png"/>
          <p:cNvPicPr>
            <a:picLocks noChangeAspect="1"/>
          </p:cNvPicPr>
          <p:nvPr/>
        </p:nvPicPr>
        <p:blipFill>
          <a:blip r:embed="rId21"/>
          <a:srcRect t="-12275" b="-12275"/>
          <a:stretch/>
        </p:blipFill>
        <p:spPr>
          <a:xfrm>
            <a:off x="7448702" y="5649354"/>
            <a:ext cx="152705" cy="190195"/>
          </a:xfrm>
          <a:prstGeom prst="rect">
            <a:avLst/>
          </a:prstGeom>
        </p:spPr>
      </p:pic>
      <p:sp>
        <p:nvSpPr>
          <p:cNvPr id="60" name="Text 28"/>
          <p:cNvSpPr txBox="1"/>
          <p:nvPr/>
        </p:nvSpPr>
        <p:spPr>
          <a:xfrm>
            <a:off x="7772400" y="5649354"/>
            <a:ext cx="1619402" cy="352958"/>
          </a:xfrm>
          <a:prstGeom prst="rect">
            <a:avLst/>
          </a:prstGeom>
          <a:noFill/>
          <a:ln/>
        </p:spPr>
        <p:txBody>
          <a:bodyPr wrap="square" lIns="0" tIns="0" rIns="0" bIns="0" rtlCol="0" anchor="ctr"/>
          <a:lstStyle/>
          <a:p>
            <a:pPr marL="0" indent="0" algn="l">
              <a:buNone/>
            </a:pPr>
            <a:r>
              <a:rPr lang="en-US" sz="1100" b="1" dirty="0">
                <a:solidFill>
                  <a:srgbClr val="2A3346"/>
                </a:solidFill>
                <a:latin typeface="Raleway" pitchFamily="2" charset="0"/>
                <a:ea typeface="Inter" pitchFamily="34" charset="-122"/>
                <a:cs typeface="Inter" pitchFamily="34" charset="-120"/>
              </a:rPr>
              <a:t>Capacity to deliver 300 CPO hires per quarter.</a:t>
            </a:r>
            <a:endParaRPr lang="en-US" sz="1100" dirty="0">
              <a:latin typeface="Raleway" pitchFamily="2" charset="0"/>
            </a:endParaRPr>
          </a:p>
        </p:txBody>
      </p:sp>
      <p:pic>
        <p:nvPicPr>
          <p:cNvPr id="61" name="Image 30" descr="gen-dedup-564235ad4609c9efa5814b009357ec1f.png"/>
          <p:cNvPicPr>
            <a:picLocks noChangeAspect="1"/>
          </p:cNvPicPr>
          <p:nvPr/>
        </p:nvPicPr>
        <p:blipFill>
          <a:blip r:embed="rId21"/>
          <a:srcRect t="-12275" b="-12275"/>
          <a:stretch/>
        </p:blipFill>
        <p:spPr>
          <a:xfrm>
            <a:off x="9581998" y="5649354"/>
            <a:ext cx="152705" cy="190195"/>
          </a:xfrm>
          <a:prstGeom prst="rect">
            <a:avLst/>
          </a:prstGeom>
        </p:spPr>
      </p:pic>
      <p:sp>
        <p:nvSpPr>
          <p:cNvPr id="62" name="Text 29"/>
          <p:cNvSpPr txBox="1"/>
          <p:nvPr/>
        </p:nvSpPr>
        <p:spPr>
          <a:xfrm>
            <a:off x="9905695" y="5649354"/>
            <a:ext cx="1666951" cy="352958"/>
          </a:xfrm>
          <a:prstGeom prst="rect">
            <a:avLst/>
          </a:prstGeom>
          <a:noFill/>
          <a:ln/>
        </p:spPr>
        <p:txBody>
          <a:bodyPr wrap="square" lIns="0" tIns="0" rIns="0" bIns="0" rtlCol="0" anchor="ctr"/>
          <a:lstStyle/>
          <a:p>
            <a:pPr marL="0" indent="0" algn="l">
              <a:buNone/>
            </a:pPr>
            <a:r>
              <a:rPr lang="en-US" sz="1100" b="1" dirty="0">
                <a:solidFill>
                  <a:srgbClr val="2A3346"/>
                </a:solidFill>
                <a:latin typeface="Raleway" pitchFamily="2" charset="0"/>
                <a:ea typeface="Inter" pitchFamily="34" charset="-122"/>
                <a:cs typeface="Inter" pitchFamily="34" charset="-120"/>
              </a:rPr>
              <a:t>Three walk-in drives every week.</a:t>
            </a:r>
            <a:endParaRPr lang="en-US" sz="1100" dirty="0">
              <a:latin typeface="Raleway" pitchFamily="2"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gen-dedup-52a6aed37365ba1b37d9c18af825b761.png"/>
          <p:cNvPicPr>
            <a:picLocks noChangeAspect="1"/>
          </p:cNvPicPr>
          <p:nvPr/>
        </p:nvPicPr>
        <p:blipFill>
          <a:blip r:embed="rId3"/>
          <a:srcRect l="-198" r="-198"/>
          <a:stretch/>
        </p:blipFill>
        <p:spPr>
          <a:xfrm>
            <a:off x="0" y="0"/>
            <a:ext cx="4876495" cy="75895"/>
          </a:xfrm>
          <a:prstGeom prst="rect">
            <a:avLst/>
          </a:prstGeom>
        </p:spPr>
      </p:pic>
      <p:pic>
        <p:nvPicPr>
          <p:cNvPr id="3" name="Image 1" descr="gen-dedup-b6bc99787a821c9ace348c3d347c76b2.png"/>
          <p:cNvPicPr>
            <a:picLocks noChangeAspect="1"/>
          </p:cNvPicPr>
          <p:nvPr/>
        </p:nvPicPr>
        <p:blipFill>
          <a:blip r:embed="rId4"/>
          <a:srcRect l="-201" r="-201"/>
          <a:stretch/>
        </p:blipFill>
        <p:spPr>
          <a:xfrm>
            <a:off x="4876495" y="0"/>
            <a:ext cx="7315200" cy="75895"/>
          </a:xfrm>
          <a:prstGeom prst="rect">
            <a:avLst/>
          </a:prstGeom>
        </p:spPr>
      </p:pic>
      <p:sp>
        <p:nvSpPr>
          <p:cNvPr id="4" name="Shape 0"/>
          <p:cNvSpPr/>
          <p:nvPr/>
        </p:nvSpPr>
        <p:spPr>
          <a:xfrm>
            <a:off x="9334195" y="-1429207"/>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2" descr="gen-dedup-db50b546e9bae7cd91e656957d1236d6.png"/>
          <p:cNvPicPr>
            <a:picLocks noChangeAspect="1"/>
          </p:cNvPicPr>
          <p:nvPr/>
        </p:nvPicPr>
        <p:blipFill>
          <a:blip r:embed="rId5"/>
          <a:srcRect l="-384" r="-384"/>
          <a:stretch/>
        </p:blipFill>
        <p:spPr>
          <a:xfrm>
            <a:off x="381305" y="381305"/>
            <a:ext cx="38405" cy="476402"/>
          </a:xfrm>
          <a:prstGeom prst="rect">
            <a:avLst/>
          </a:prstGeom>
        </p:spPr>
      </p:pic>
      <p:sp>
        <p:nvSpPr>
          <p:cNvPr id="6" name="Shape 1"/>
          <p:cNvSpPr/>
          <p:nvPr/>
        </p:nvSpPr>
        <p:spPr>
          <a:xfrm>
            <a:off x="381305" y="1143000"/>
            <a:ext cx="11449202" cy="3353105"/>
          </a:xfrm>
          <a:prstGeom prst="roundRect">
            <a:avLst>
              <a:gd name="adj" fmla="val 2263"/>
            </a:avLst>
          </a:prstGeom>
          <a:solidFill>
            <a:srgbClr val="FFFFFF"/>
          </a:solidFill>
          <a:ln w="12700">
            <a:solidFill>
              <a:srgbClr val="E5E8EE"/>
            </a:solidFill>
            <a:prstDash val="solid"/>
          </a:ln>
          <a:effectLst>
            <a:outerShdw blurRad="114300" dist="38100" dir="16200000" algn="bl" rotWithShape="0">
              <a:srgbClr val="000000">
                <a:alpha val="3000"/>
              </a:srgbClr>
            </a:outerShdw>
          </a:effectLst>
        </p:spPr>
        <p:txBody>
          <a:bodyPr/>
          <a:lstStyle/>
          <a:p>
            <a:endParaRPr lang="en-US">
              <a:latin typeface="Raleway" pitchFamily="2" charset="0"/>
            </a:endParaRPr>
          </a:p>
        </p:txBody>
      </p:sp>
      <p:sp>
        <p:nvSpPr>
          <p:cNvPr id="7" name="Shape 2"/>
          <p:cNvSpPr/>
          <p:nvPr/>
        </p:nvSpPr>
        <p:spPr>
          <a:xfrm>
            <a:off x="381305" y="4667098"/>
            <a:ext cx="11430000" cy="1238098"/>
          </a:xfrm>
          <a:prstGeom prst="roundRect">
            <a:avLst>
              <a:gd name="adj" fmla="val 6130"/>
            </a:avLst>
          </a:prstGeom>
          <a:solidFill>
            <a:srgbClr val="2A9D8F"/>
          </a:solidFill>
          <a:ln w="12700">
            <a:solidFill>
              <a:srgbClr val="FFFFFF">
                <a:alpha val="0"/>
              </a:srgbClr>
            </a:solidFill>
            <a:prstDash val="solid"/>
          </a:ln>
        </p:spPr>
        <p:txBody>
          <a:bodyPr/>
          <a:lstStyle/>
          <a:p>
            <a:endParaRPr lang="en-US">
              <a:latin typeface="Raleway" pitchFamily="2" charset="0"/>
            </a:endParaRPr>
          </a:p>
        </p:txBody>
      </p:sp>
      <p:pic>
        <p:nvPicPr>
          <p:cNvPr id="8" name="Image 3" descr="gen-dedup-585cde59db80495211d9f9275819a0e9.png"/>
          <p:cNvPicPr>
            <a:picLocks noChangeAspect="1"/>
          </p:cNvPicPr>
          <p:nvPr/>
        </p:nvPicPr>
        <p:blipFill>
          <a:blip r:embed="rId6"/>
          <a:srcRect l="-2" r="-2"/>
          <a:stretch/>
        </p:blipFill>
        <p:spPr>
          <a:xfrm>
            <a:off x="381305" y="6096305"/>
            <a:ext cx="11487607" cy="571500"/>
          </a:xfrm>
          <a:prstGeom prst="rect">
            <a:avLst/>
          </a:prstGeom>
        </p:spPr>
      </p:pic>
      <p:pic>
        <p:nvPicPr>
          <p:cNvPr id="9" name="Image 4" descr="gen-dedup-76e37ab332a35b71054b9cd9efd3a7f3.png"/>
          <p:cNvPicPr>
            <a:picLocks noChangeAspect="1"/>
          </p:cNvPicPr>
          <p:nvPr/>
        </p:nvPicPr>
        <p:blipFill>
          <a:blip r:embed="rId7"/>
          <a:srcRect t="-73" b="-73"/>
          <a:stretch/>
        </p:blipFill>
        <p:spPr>
          <a:xfrm>
            <a:off x="381305" y="4524451"/>
            <a:ext cx="2095805" cy="286207"/>
          </a:xfrm>
          <a:prstGeom prst="rect">
            <a:avLst/>
          </a:prstGeom>
        </p:spPr>
      </p:pic>
      <p:pic>
        <p:nvPicPr>
          <p:cNvPr id="10" name="Image 5" descr="gen-dedup-1299df1a9106269eceef43134d53c151.png"/>
          <p:cNvPicPr>
            <a:picLocks noChangeAspect="1"/>
          </p:cNvPicPr>
          <p:nvPr/>
        </p:nvPicPr>
        <p:blipFill>
          <a:blip r:embed="rId8"/>
          <a:srcRect t="-2083" b="-2083"/>
          <a:stretch/>
        </p:blipFill>
        <p:spPr>
          <a:xfrm>
            <a:off x="4000500" y="5000854"/>
            <a:ext cx="9144" cy="571500"/>
          </a:xfrm>
          <a:prstGeom prst="rect">
            <a:avLst/>
          </a:prstGeom>
        </p:spPr>
      </p:pic>
      <p:pic>
        <p:nvPicPr>
          <p:cNvPr id="11" name="Image 6" descr="gen-dedup-1299df1a9106269eceef43134d53c151.png"/>
          <p:cNvPicPr>
            <a:picLocks noChangeAspect="1"/>
          </p:cNvPicPr>
          <p:nvPr/>
        </p:nvPicPr>
        <p:blipFill>
          <a:blip r:embed="rId8"/>
          <a:srcRect t="-2083" b="-2083"/>
          <a:stretch/>
        </p:blipFill>
        <p:spPr>
          <a:xfrm>
            <a:off x="7715707" y="5000854"/>
            <a:ext cx="9144" cy="571500"/>
          </a:xfrm>
          <a:prstGeom prst="rect">
            <a:avLst/>
          </a:prstGeom>
        </p:spPr>
      </p:pic>
      <p:sp>
        <p:nvSpPr>
          <p:cNvPr id="12" name="Text 3"/>
          <p:cNvSpPr txBox="1"/>
          <p:nvPr/>
        </p:nvSpPr>
        <p:spPr>
          <a:xfrm>
            <a:off x="11182198" y="228600"/>
            <a:ext cx="476402" cy="143561"/>
          </a:xfrm>
          <a:prstGeom prst="rect">
            <a:avLst/>
          </a:prstGeom>
          <a:noFill/>
          <a:ln/>
        </p:spPr>
        <p:txBody>
          <a:bodyPr wrap="none" lIns="0" tIns="0" rIns="0" bIns="0" rtlCol="0" anchor="ctr"/>
          <a:lstStyle/>
          <a:p>
            <a:pPr marL="0" indent="0" algn="r">
              <a:buNone/>
            </a:pPr>
            <a:r>
              <a:rPr lang="en-US" sz="900" b="1" dirty="0">
                <a:solidFill>
                  <a:srgbClr val="94A0B5"/>
                </a:solidFill>
                <a:latin typeface="Inter" pitchFamily="34" charset="0"/>
                <a:ea typeface="Inter" pitchFamily="34" charset="-122"/>
                <a:cs typeface="Inter" pitchFamily="34" charset="-120"/>
              </a:rPr>
              <a:t>39</a:t>
            </a:r>
            <a:endParaRPr lang="en-US" sz="900" dirty="0"/>
          </a:p>
        </p:txBody>
      </p:sp>
      <p:sp>
        <p:nvSpPr>
          <p:cNvPr id="13" name="Text 4"/>
          <p:cNvSpPr txBox="1"/>
          <p:nvPr/>
        </p:nvSpPr>
        <p:spPr>
          <a:xfrm>
            <a:off x="533095" y="362102"/>
            <a:ext cx="11163910" cy="324612"/>
          </a:xfrm>
          <a:prstGeom prst="rect">
            <a:avLst/>
          </a:prstGeom>
          <a:noFill/>
          <a:ln/>
        </p:spPr>
        <p:txBody>
          <a:bodyPr wrap="none" lIns="0" tIns="0" rIns="0" bIns="0" rtlCol="0" anchor="ctr"/>
          <a:lstStyle/>
          <a:p>
            <a:pPr marL="0" indent="0" algn="l">
              <a:buNone/>
            </a:pPr>
            <a:r>
              <a:rPr lang="en-US" sz="2400" b="1" dirty="0">
                <a:solidFill>
                  <a:srgbClr val="1F2A44"/>
                </a:solidFill>
                <a:latin typeface="Oswald" panose="00000500000000000000" pitchFamily="2" charset="0"/>
                <a:ea typeface="Fraunces" pitchFamily="34" charset="-122"/>
                <a:cs typeface="Fraunces" pitchFamily="34" charset="-120"/>
              </a:rPr>
              <a:t>The Strategic Hiring Imperative </a:t>
            </a:r>
            <a:r>
              <a:rPr lang="en-US" sz="2400" b="1" dirty="0">
                <a:solidFill>
                  <a:srgbClr val="64738A"/>
                </a:solidFill>
                <a:latin typeface="Oswald" panose="00000500000000000000" pitchFamily="2" charset="0"/>
                <a:ea typeface="Fraunces" pitchFamily="34" charset="-122"/>
                <a:cs typeface="Fraunces" pitchFamily="34" charset="-120"/>
              </a:rPr>
              <a:t>– Risk Mitigation &amp; Performance Assurance</a:t>
            </a:r>
            <a:endParaRPr lang="en-US" sz="2400" dirty="0">
              <a:latin typeface="Oswald" panose="00000500000000000000" pitchFamily="2" charset="0"/>
            </a:endParaRPr>
          </a:p>
        </p:txBody>
      </p:sp>
      <p:sp>
        <p:nvSpPr>
          <p:cNvPr id="14" name="Text 5"/>
          <p:cNvSpPr txBox="1"/>
          <p:nvPr/>
        </p:nvSpPr>
        <p:spPr>
          <a:xfrm>
            <a:off x="533095" y="724205"/>
            <a:ext cx="10478110" cy="181051"/>
          </a:xfrm>
          <a:prstGeom prst="rect">
            <a:avLst/>
          </a:prstGeom>
          <a:noFill/>
          <a:ln/>
        </p:spPr>
        <p:txBody>
          <a:bodyPr wrap="none" lIns="0" tIns="0" rIns="0" bIns="0" rtlCol="0" anchor="ctr"/>
          <a:lstStyle/>
          <a:p>
            <a:pPr marL="0" indent="0" algn="l">
              <a:buNone/>
            </a:pPr>
            <a:r>
              <a:rPr lang="en-US" sz="1500" b="1" kern="0" spc="38" dirty="0">
                <a:solidFill>
                  <a:srgbClr val="2A9D8F"/>
                </a:solidFill>
                <a:latin typeface="Roboto Condensed" panose="02000000000000000000" pitchFamily="2" charset="0"/>
                <a:ea typeface="Roboto Condensed" panose="02000000000000000000" pitchFamily="2" charset="0"/>
                <a:cs typeface="Roboto Condensed" panose="02000000000000000000" pitchFamily="2" charset="0"/>
              </a:rPr>
              <a:t>Strategic Hiring: Transformational Flexibility Meets Execution Certainty</a:t>
            </a:r>
            <a:endParaRPr lang="en-US" sz="1500" dirty="0">
              <a:latin typeface="Roboto Condensed" panose="02000000000000000000" pitchFamily="2" charset="0"/>
              <a:ea typeface="Roboto Condensed" panose="02000000000000000000" pitchFamily="2" charset="0"/>
              <a:cs typeface="Roboto Condensed" panose="02000000000000000000" pitchFamily="2" charset="0"/>
            </a:endParaRPr>
          </a:p>
        </p:txBody>
      </p:sp>
      <p:graphicFrame>
        <p:nvGraphicFramePr>
          <p:cNvPr id="15" name="Table 0"/>
          <p:cNvGraphicFramePr>
            <a:graphicFrameLocks noGrp="1"/>
          </p:cNvGraphicFramePr>
          <p:nvPr/>
        </p:nvGraphicFramePr>
        <p:xfrm>
          <a:off x="381305" y="1143000"/>
          <a:ext cx="11430000" cy="3487670"/>
        </p:xfrm>
        <a:graphic>
          <a:graphicData uri="http://schemas.openxmlformats.org/drawingml/2006/table">
            <a:tbl>
              <a:tblPr/>
              <a:tblGrid>
                <a:gridCol w="2352751">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3362249">
                  <a:extLst>
                    <a:ext uri="{9D8B030D-6E8A-4147-A177-3AD203B41FA5}">
                      <a16:colId xmlns:a16="http://schemas.microsoft.com/office/drawing/2014/main" val="20003"/>
                    </a:ext>
                  </a:extLst>
                </a:gridCol>
              </a:tblGrid>
              <a:tr h="476250">
                <a:tc>
                  <a:txBody>
                    <a:bodyPr/>
                    <a:lstStyle/>
                    <a:p>
                      <a:pPr marL="0" indent="0" algn="l">
                        <a:buNone/>
                      </a:pPr>
                      <a:r>
                        <a:rPr lang="en-US" sz="1100" b="1" dirty="0">
                          <a:solidFill>
                            <a:srgbClr val="FFFFFF"/>
                          </a:solidFill>
                          <a:latin typeface="Raleway" pitchFamily="2" charset="0"/>
                          <a:ea typeface="Inter" pitchFamily="34" charset="-122"/>
                          <a:cs typeface="Inter" pitchFamily="34" charset="-120"/>
                        </a:rPr>
                        <a:t>DIMENSION</a:t>
                      </a:r>
                      <a:endParaRPr lang="en-US" sz="1100" dirty="0">
                        <a:latin typeface="Raleway" pitchFamily="2" charset="0"/>
                        <a:ea typeface="Inter" charset="0"/>
                        <a:cs typeface="Inter" charset="0"/>
                      </a:endParaRPr>
                    </a:p>
                  </a:txBody>
                  <a:tcPr marL="190195" marR="190195" marT="133502" marB="133502" anchor="ctr">
                    <a:lnL w="0" cap="flat" cmpd="sng" algn="ctr">
                      <a:solidFill>
                        <a:srgbClr val="E5E8EE"/>
                      </a:solidFill>
                      <a:prstDash val="solid"/>
                      <a:round/>
                      <a:headEnd type="none" w="med" len="med"/>
                      <a:tailEnd type="none" w="med" len="med"/>
                    </a:lnL>
                    <a:lnR w="0" cap="flat" cmpd="sng" algn="ctr">
                      <a:solidFill>
                        <a:srgbClr val="E5E8EE"/>
                      </a:solidFill>
                      <a:prstDash val="solid"/>
                      <a:round/>
                      <a:headEnd type="none" w="med" len="med"/>
                      <a:tailEnd type="none" w="med" len="med"/>
                    </a:lnR>
                    <a:lnT w="0" cap="flat" cmpd="sng" algn="ctr">
                      <a:solidFill>
                        <a:srgbClr val="E5E8EE"/>
                      </a:solidFill>
                      <a:prstDash val="solid"/>
                      <a:round/>
                      <a:headEnd type="none" w="med" len="med"/>
                      <a:tailEnd type="none" w="med" len="med"/>
                    </a:lnT>
                    <a:lnB w="0" cap="flat" cmpd="sng" algn="ctr">
                      <a:solidFill>
                        <a:srgbClr val="E5E8EE"/>
                      </a:solidFill>
                      <a:prstDash val="solid"/>
                      <a:round/>
                      <a:headEnd type="none" w="med" len="med"/>
                      <a:tailEnd type="none" w="med" len="med"/>
                    </a:lnB>
                    <a:solidFill>
                      <a:srgbClr val="1F2A44"/>
                    </a:solidFill>
                  </a:tcPr>
                </a:tc>
                <a:tc>
                  <a:txBody>
                    <a:bodyPr/>
                    <a:lstStyle/>
                    <a:p>
                      <a:pPr marL="0" indent="0" algn="l">
                        <a:buNone/>
                      </a:pPr>
                      <a:r>
                        <a:rPr lang="en-US" sz="1100" b="1" dirty="0">
                          <a:solidFill>
                            <a:srgbClr val="FFFFFF"/>
                          </a:solidFill>
                          <a:latin typeface="Raleway" pitchFamily="2" charset="0"/>
                          <a:ea typeface="Inter" pitchFamily="34" charset="-122"/>
                          <a:cs typeface="Inter" pitchFamily="34" charset="-120"/>
                        </a:rPr>
                        <a:t>FULL-TIME DIRECT HIRE</a:t>
                      </a:r>
                      <a:endParaRPr lang="en-US" sz="1100" dirty="0">
                        <a:latin typeface="Raleway" pitchFamily="2" charset="0"/>
                        <a:ea typeface="Inter" charset="0"/>
                        <a:cs typeface="Inter" charset="0"/>
                      </a:endParaRPr>
                    </a:p>
                  </a:txBody>
                  <a:tcPr marL="190195" marR="190195" marT="133502" marB="133502" anchor="ctr">
                    <a:lnL w="0" cap="flat" cmpd="sng" algn="ctr">
                      <a:solidFill>
                        <a:srgbClr val="E5E8EE"/>
                      </a:solidFill>
                      <a:prstDash val="solid"/>
                      <a:round/>
                      <a:headEnd type="none" w="med" len="med"/>
                      <a:tailEnd type="none" w="med" len="med"/>
                    </a:lnL>
                    <a:lnR w="0" cap="flat" cmpd="sng" algn="ctr">
                      <a:solidFill>
                        <a:srgbClr val="E5E8EE"/>
                      </a:solidFill>
                      <a:prstDash val="solid"/>
                      <a:round/>
                      <a:headEnd type="none" w="med" len="med"/>
                      <a:tailEnd type="none" w="med" len="med"/>
                    </a:lnR>
                    <a:lnT w="0" cap="flat" cmpd="sng" algn="ctr">
                      <a:solidFill>
                        <a:srgbClr val="E5E8EE"/>
                      </a:solidFill>
                      <a:prstDash val="solid"/>
                      <a:round/>
                      <a:headEnd type="none" w="med" len="med"/>
                      <a:tailEnd type="none" w="med" len="med"/>
                    </a:lnT>
                    <a:lnB w="0" cap="flat" cmpd="sng" algn="ctr">
                      <a:solidFill>
                        <a:srgbClr val="E5E8EE"/>
                      </a:solidFill>
                      <a:prstDash val="solid"/>
                      <a:round/>
                      <a:headEnd type="none" w="med" len="med"/>
                      <a:tailEnd type="none" w="med" len="med"/>
                    </a:lnB>
                    <a:solidFill>
                      <a:srgbClr val="1F2A44"/>
                    </a:solidFill>
                  </a:tcPr>
                </a:tc>
                <a:tc>
                  <a:txBody>
                    <a:bodyPr/>
                    <a:lstStyle/>
                    <a:p>
                      <a:pPr marL="0" indent="0" algn="l">
                        <a:buNone/>
                      </a:pPr>
                      <a:r>
                        <a:rPr lang="en-US" sz="1100" b="1" dirty="0">
                          <a:solidFill>
                            <a:srgbClr val="FFFFFF"/>
                          </a:solidFill>
                          <a:latin typeface="Raleway" pitchFamily="2" charset="0"/>
                          <a:ea typeface="Inter" pitchFamily="34" charset="-122"/>
                          <a:cs typeface="Inter" pitchFamily="34" charset="-120"/>
                        </a:rPr>
                        <a:t>STRATEGIC HIRING MODEL</a:t>
                      </a:r>
                      <a:endParaRPr lang="en-US" sz="1100" dirty="0">
                        <a:latin typeface="Raleway" pitchFamily="2" charset="0"/>
                        <a:ea typeface="Inter" charset="0"/>
                        <a:cs typeface="Inter" charset="0"/>
                      </a:endParaRPr>
                    </a:p>
                  </a:txBody>
                  <a:tcPr marL="190195" marR="190195" marT="133502" marB="133502" anchor="ctr">
                    <a:lnL w="0" cap="flat" cmpd="sng" algn="ctr">
                      <a:solidFill>
                        <a:srgbClr val="E5E8EE"/>
                      </a:solidFill>
                      <a:prstDash val="solid"/>
                      <a:round/>
                      <a:headEnd type="none" w="med" len="med"/>
                      <a:tailEnd type="none" w="med" len="med"/>
                    </a:lnL>
                    <a:lnR w="0" cap="flat" cmpd="sng" algn="ctr">
                      <a:solidFill>
                        <a:srgbClr val="E5E8EE"/>
                      </a:solidFill>
                      <a:prstDash val="solid"/>
                      <a:round/>
                      <a:headEnd type="none" w="med" len="med"/>
                      <a:tailEnd type="none" w="med" len="med"/>
                    </a:lnR>
                    <a:lnT w="0" cap="flat" cmpd="sng" algn="ctr">
                      <a:solidFill>
                        <a:srgbClr val="E5E8EE"/>
                      </a:solidFill>
                      <a:prstDash val="solid"/>
                      <a:round/>
                      <a:headEnd type="none" w="med" len="med"/>
                      <a:tailEnd type="none" w="med" len="med"/>
                    </a:lnT>
                    <a:lnB w="0" cap="flat" cmpd="sng" algn="ctr">
                      <a:solidFill>
                        <a:srgbClr val="E5E8EE"/>
                      </a:solidFill>
                      <a:prstDash val="solid"/>
                      <a:round/>
                      <a:headEnd type="none" w="med" len="med"/>
                      <a:tailEnd type="none" w="med" len="med"/>
                    </a:lnB>
                    <a:solidFill>
                      <a:srgbClr val="1F2A44"/>
                    </a:solidFill>
                  </a:tcPr>
                </a:tc>
                <a:tc>
                  <a:txBody>
                    <a:bodyPr/>
                    <a:lstStyle/>
                    <a:p>
                      <a:pPr marL="0" indent="0" algn="l">
                        <a:buNone/>
                      </a:pPr>
                      <a:r>
                        <a:rPr lang="en-US" sz="1100" b="1" dirty="0">
                          <a:solidFill>
                            <a:srgbClr val="FFFFFF"/>
                          </a:solidFill>
                          <a:latin typeface="Raleway" pitchFamily="2" charset="0"/>
                          <a:ea typeface="Inter" pitchFamily="34" charset="-122"/>
                          <a:cs typeface="Inter" pitchFamily="34" charset="-120"/>
                        </a:rPr>
                        <a:t>J2W ADVANTAGE</a:t>
                      </a:r>
                      <a:endParaRPr lang="en-US" sz="1100" dirty="0">
                        <a:latin typeface="Raleway" pitchFamily="2" charset="0"/>
                        <a:ea typeface="Inter" charset="0"/>
                        <a:cs typeface="Inter" charset="0"/>
                      </a:endParaRPr>
                    </a:p>
                  </a:txBody>
                  <a:tcPr marL="190195" marR="190195" marT="133502" marB="133502" anchor="ctr">
                    <a:lnL w="0" cap="flat" cmpd="sng" algn="ctr">
                      <a:solidFill>
                        <a:srgbClr val="E5E8EE"/>
                      </a:solidFill>
                      <a:prstDash val="solid"/>
                      <a:round/>
                      <a:headEnd type="none" w="med" len="med"/>
                      <a:tailEnd type="none" w="med" len="med"/>
                    </a:lnL>
                    <a:lnR w="0" cap="flat" cmpd="sng" algn="ctr">
                      <a:solidFill>
                        <a:srgbClr val="E5E8EE"/>
                      </a:solidFill>
                      <a:prstDash val="solid"/>
                      <a:round/>
                      <a:headEnd type="none" w="med" len="med"/>
                      <a:tailEnd type="none" w="med" len="med"/>
                    </a:lnR>
                    <a:lnT w="0" cap="flat" cmpd="sng" algn="ctr">
                      <a:solidFill>
                        <a:srgbClr val="E5E8EE"/>
                      </a:solidFill>
                      <a:prstDash val="solid"/>
                      <a:round/>
                      <a:headEnd type="none" w="med" len="med"/>
                      <a:tailEnd type="none" w="med" len="med"/>
                    </a:lnT>
                    <a:lnB w="0" cap="flat" cmpd="sng" algn="ctr">
                      <a:solidFill>
                        <a:srgbClr val="E5E8EE"/>
                      </a:solidFill>
                      <a:prstDash val="solid"/>
                      <a:round/>
                      <a:headEnd type="none" w="med" len="med"/>
                      <a:tailEnd type="none" w="med" len="med"/>
                    </a:lnB>
                    <a:solidFill>
                      <a:srgbClr val="2A9D8F"/>
                    </a:solidFill>
                  </a:tcPr>
                </a:tc>
                <a:extLst>
                  <a:ext uri="{0D108BD9-81ED-4DB2-BD59-A6C34878D82A}">
                    <a16:rowId xmlns:a16="http://schemas.microsoft.com/office/drawing/2014/main" val="10000"/>
                  </a:ext>
                </a:extLst>
              </a:tr>
              <a:tr h="476250">
                <a:tc>
                  <a:txBody>
                    <a:bodyPr/>
                    <a:lstStyle/>
                    <a:p>
                      <a:pPr marL="0" indent="0" algn="l">
                        <a:buNone/>
                      </a:pPr>
                      <a:r>
                        <a:rPr lang="en-US" sz="1100" b="1" dirty="0">
                          <a:solidFill>
                            <a:srgbClr val="1F2A44"/>
                          </a:solidFill>
                          <a:latin typeface="Raleway" pitchFamily="2" charset="0"/>
                          <a:ea typeface="Inter" pitchFamily="34" charset="-122"/>
                          <a:cs typeface="Inter" pitchFamily="34" charset="-120"/>
                        </a:rPr>
                        <a:t>Time-to-Productivity</a:t>
                      </a:r>
                      <a:endParaRPr lang="en-US" sz="1100" dirty="0">
                        <a:latin typeface="Raleway" pitchFamily="2" charset="0"/>
                        <a:ea typeface="Inter" charset="0"/>
                        <a:cs typeface="Inter" charset="0"/>
                      </a:endParaRPr>
                    </a:p>
                  </a:txBody>
                  <a:tcPr marL="190195" marR="190195" marT="133502" marB="133502" anchor="ctr">
                    <a:lnL w="0" cap="flat" cmpd="sng" algn="ctr">
                      <a:solidFill>
                        <a:srgbClr val="E5E8EE"/>
                      </a:solidFill>
                      <a:prstDash val="solid"/>
                      <a:round/>
                      <a:headEnd type="none" w="med" len="med"/>
                      <a:tailEnd type="none" w="med" len="med"/>
                    </a:lnL>
                    <a:lnR w="0" cap="flat" cmpd="sng" algn="ctr">
                      <a:solidFill>
                        <a:srgbClr val="E5E8EE"/>
                      </a:solidFill>
                      <a:prstDash val="solid"/>
                      <a:round/>
                      <a:headEnd type="none" w="med" len="med"/>
                      <a:tailEnd type="none" w="med" len="med"/>
                    </a:lnR>
                    <a:lnT w="0" cap="flat" cmpd="sng" algn="ctr">
                      <a:solidFill>
                        <a:srgbClr val="E5E8EE"/>
                      </a:solidFill>
                      <a:prstDash val="solid"/>
                      <a:round/>
                      <a:headEnd type="none" w="med" len="med"/>
                      <a:tailEnd type="none" w="med" len="med"/>
                    </a:lnT>
                    <a:lnB w="9525" cap="flat" cmpd="sng" algn="ctr">
                      <a:solidFill>
                        <a:srgbClr val="E5E8EE"/>
                      </a:solidFill>
                      <a:prstDash val="solid"/>
                      <a:round/>
                      <a:headEnd type="none" w="med" len="med"/>
                      <a:tailEnd type="none" w="med" len="med"/>
                    </a:lnB>
                  </a:tcPr>
                </a:tc>
                <a:tc>
                  <a:txBody>
                    <a:bodyPr/>
                    <a:lstStyle/>
                    <a:p>
                      <a:pPr marL="0" indent="0" algn="l">
                        <a:buNone/>
                      </a:pPr>
                      <a:r>
                        <a:rPr lang="en-US" sz="1100" dirty="0">
                          <a:solidFill>
                            <a:srgbClr val="2A3346"/>
                          </a:solidFill>
                          <a:latin typeface="Raleway" pitchFamily="2" charset="0"/>
                          <a:ea typeface="Inter" pitchFamily="34" charset="-122"/>
                          <a:cs typeface="Inter" pitchFamily="34" charset="-120"/>
                        </a:rPr>
                        <a:t>60–90 days (typical India ramp)</a:t>
                      </a:r>
                      <a:endParaRPr lang="en-US" sz="1100" dirty="0">
                        <a:latin typeface="Raleway" pitchFamily="2" charset="0"/>
                        <a:ea typeface="Inter" charset="0"/>
                        <a:cs typeface="Inter" charset="0"/>
                      </a:endParaRPr>
                    </a:p>
                  </a:txBody>
                  <a:tcPr marL="190195" marR="190195" marT="133502" marB="133502" anchor="ctr">
                    <a:lnL w="0" cap="flat" cmpd="sng" algn="ctr">
                      <a:solidFill>
                        <a:srgbClr val="E5E8EE"/>
                      </a:solidFill>
                      <a:prstDash val="solid"/>
                      <a:round/>
                      <a:headEnd type="none" w="med" len="med"/>
                      <a:tailEnd type="none" w="med" len="med"/>
                    </a:lnL>
                    <a:lnR w="0" cap="flat" cmpd="sng" algn="ctr">
                      <a:solidFill>
                        <a:srgbClr val="E5E8EE"/>
                      </a:solidFill>
                      <a:prstDash val="solid"/>
                      <a:round/>
                      <a:headEnd type="none" w="med" len="med"/>
                      <a:tailEnd type="none" w="med" len="med"/>
                    </a:lnR>
                    <a:lnT w="0" cap="flat" cmpd="sng" algn="ctr">
                      <a:solidFill>
                        <a:srgbClr val="E5E8EE"/>
                      </a:solidFill>
                      <a:prstDash val="solid"/>
                      <a:round/>
                      <a:headEnd type="none" w="med" len="med"/>
                      <a:tailEnd type="none" w="med" len="med"/>
                    </a:lnT>
                    <a:lnB w="9525" cap="flat" cmpd="sng" algn="ctr">
                      <a:solidFill>
                        <a:srgbClr val="E5E8EE"/>
                      </a:solidFill>
                      <a:prstDash val="solid"/>
                      <a:round/>
                      <a:headEnd type="none" w="med" len="med"/>
                      <a:tailEnd type="none" w="med" len="med"/>
                    </a:lnB>
                  </a:tcPr>
                </a:tc>
                <a:tc>
                  <a:txBody>
                    <a:bodyPr/>
                    <a:lstStyle/>
                    <a:p>
                      <a:pPr marL="0" indent="0" algn="l">
                        <a:buNone/>
                      </a:pPr>
                      <a:r>
                        <a:rPr lang="en-US" sz="1100" b="1" dirty="0">
                          <a:solidFill>
                            <a:srgbClr val="2A3346"/>
                          </a:solidFill>
                          <a:latin typeface="Raleway" pitchFamily="2" charset="0"/>
                          <a:ea typeface="Inter" pitchFamily="34" charset="-122"/>
                          <a:cs typeface="Inter" pitchFamily="34" charset="-120"/>
                        </a:rPr>
                        <a:t>30–45 days (proven track record)</a:t>
                      </a:r>
                      <a:endParaRPr lang="en-US" sz="1100" dirty="0">
                        <a:latin typeface="Raleway" pitchFamily="2" charset="0"/>
                        <a:ea typeface="Inter" charset="0"/>
                        <a:cs typeface="Inter" charset="0"/>
                      </a:endParaRPr>
                    </a:p>
                  </a:txBody>
                  <a:tcPr marL="190195" marR="190195" marT="133502" marB="133502" anchor="ctr">
                    <a:lnL w="0" cap="flat" cmpd="sng" algn="ctr">
                      <a:solidFill>
                        <a:srgbClr val="E5E8EE"/>
                      </a:solidFill>
                      <a:prstDash val="solid"/>
                      <a:round/>
                      <a:headEnd type="none" w="med" len="med"/>
                      <a:tailEnd type="none" w="med" len="med"/>
                    </a:lnL>
                    <a:lnR w="0" cap="flat" cmpd="sng" algn="ctr">
                      <a:solidFill>
                        <a:srgbClr val="E5E8EE"/>
                      </a:solidFill>
                      <a:prstDash val="solid"/>
                      <a:round/>
                      <a:headEnd type="none" w="med" len="med"/>
                      <a:tailEnd type="none" w="med" len="med"/>
                    </a:lnR>
                    <a:lnT w="0" cap="flat" cmpd="sng" algn="ctr">
                      <a:solidFill>
                        <a:srgbClr val="E5E8EE"/>
                      </a:solidFill>
                      <a:prstDash val="solid"/>
                      <a:round/>
                      <a:headEnd type="none" w="med" len="med"/>
                      <a:tailEnd type="none" w="med" len="med"/>
                    </a:lnT>
                    <a:lnB w="9525" cap="flat" cmpd="sng" algn="ctr">
                      <a:solidFill>
                        <a:srgbClr val="E5E8EE"/>
                      </a:solidFill>
                      <a:prstDash val="solid"/>
                      <a:round/>
                      <a:headEnd type="none" w="med" len="med"/>
                      <a:tailEnd type="none" w="med" len="med"/>
                    </a:lnB>
                  </a:tcPr>
                </a:tc>
                <a:tc>
                  <a:txBody>
                    <a:bodyPr/>
                    <a:lstStyle/>
                    <a:p>
                      <a:pPr marL="0" indent="0" algn="l">
                        <a:buNone/>
                      </a:pPr>
                      <a:r>
                        <a:rPr lang="en-US" sz="1100" b="1" dirty="0">
                          <a:solidFill>
                            <a:srgbClr val="1F2A44"/>
                          </a:solidFill>
                          <a:latin typeface="Raleway" pitchFamily="2" charset="0"/>
                          <a:ea typeface="Inter" pitchFamily="34" charset="-122"/>
                          <a:cs typeface="Inter" pitchFamily="34" charset="-120"/>
                        </a:rPr>
                        <a:t>J2W payroll covers cost, risk absorption model</a:t>
                      </a:r>
                      <a:endParaRPr lang="en-US" sz="1100" dirty="0">
                        <a:latin typeface="Raleway" pitchFamily="2" charset="0"/>
                        <a:ea typeface="Inter" charset="0"/>
                        <a:cs typeface="Inter" charset="0"/>
                      </a:endParaRPr>
                    </a:p>
                  </a:txBody>
                  <a:tcPr marL="190195" marR="190195" marT="133502" marB="133502" anchor="ctr">
                    <a:lnL w="0" cap="flat" cmpd="sng" algn="ctr">
                      <a:solidFill>
                        <a:srgbClr val="E5E8EE"/>
                      </a:solidFill>
                      <a:prstDash val="solid"/>
                      <a:round/>
                      <a:headEnd type="none" w="med" len="med"/>
                      <a:tailEnd type="none" w="med" len="med"/>
                    </a:lnL>
                    <a:lnR w="0" cap="flat" cmpd="sng" algn="ctr">
                      <a:solidFill>
                        <a:srgbClr val="E5E8EE"/>
                      </a:solidFill>
                      <a:prstDash val="solid"/>
                      <a:round/>
                      <a:headEnd type="none" w="med" len="med"/>
                      <a:tailEnd type="none" w="med" len="med"/>
                    </a:lnR>
                    <a:lnT w="0" cap="flat" cmpd="sng" algn="ctr">
                      <a:solidFill>
                        <a:srgbClr val="E5E8EE"/>
                      </a:solidFill>
                      <a:prstDash val="solid"/>
                      <a:round/>
                      <a:headEnd type="none" w="med" len="med"/>
                      <a:tailEnd type="none" w="med" len="med"/>
                    </a:lnT>
                    <a:lnB w="9525" cap="flat" cmpd="sng" algn="ctr">
                      <a:solidFill>
                        <a:srgbClr val="E5E8EE"/>
                      </a:solidFill>
                      <a:prstDash val="solid"/>
                      <a:round/>
                      <a:headEnd type="none" w="med" len="med"/>
                      <a:tailEnd type="none" w="med" len="med"/>
                    </a:lnB>
                    <a:solidFill>
                      <a:srgbClr val="2A9D8F">
                        <a:alpha val="4000"/>
                      </a:srgbClr>
                    </a:solidFill>
                  </a:tcPr>
                </a:tc>
                <a:extLst>
                  <a:ext uri="{0D108BD9-81ED-4DB2-BD59-A6C34878D82A}">
                    <a16:rowId xmlns:a16="http://schemas.microsoft.com/office/drawing/2014/main" val="10001"/>
                  </a:ext>
                </a:extLst>
              </a:tr>
              <a:tr h="476250">
                <a:tc>
                  <a:txBody>
                    <a:bodyPr/>
                    <a:lstStyle/>
                    <a:p>
                      <a:pPr marL="0" indent="0" algn="l">
                        <a:buNone/>
                      </a:pPr>
                      <a:r>
                        <a:rPr lang="en-US" sz="1100" b="1" dirty="0">
                          <a:solidFill>
                            <a:srgbClr val="1F2A44"/>
                          </a:solidFill>
                          <a:latin typeface="Raleway" pitchFamily="2" charset="0"/>
                          <a:ea typeface="Inter" pitchFamily="34" charset="-122"/>
                          <a:cs typeface="Inter" pitchFamily="34" charset="-120"/>
                        </a:rPr>
                        <a:t>Cultural Alignment Risk</a:t>
                      </a:r>
                      <a:endParaRPr lang="en-US" sz="1100" dirty="0">
                        <a:latin typeface="Raleway" pitchFamily="2" charset="0"/>
                        <a:ea typeface="Inter" charset="0"/>
                        <a:cs typeface="Inter" charset="0"/>
                      </a:endParaRPr>
                    </a:p>
                  </a:txBody>
                  <a:tcPr marL="190195" marR="190195" marT="133502" marB="133502" anchor="ctr">
                    <a:lnL w="0" cap="flat" cmpd="sng" algn="ctr">
                      <a:solidFill>
                        <a:srgbClr val="E5E8EE"/>
                      </a:solidFill>
                      <a:prstDash val="solid"/>
                      <a:round/>
                      <a:headEnd type="none" w="med" len="med"/>
                      <a:tailEnd type="none" w="med" len="med"/>
                    </a:lnL>
                    <a:lnR w="0" cap="flat" cmpd="sng" algn="ctr">
                      <a:solidFill>
                        <a:srgbClr val="E5E8EE"/>
                      </a:solidFill>
                      <a:prstDash val="solid"/>
                      <a:round/>
                      <a:headEnd type="none" w="med" len="med"/>
                      <a:tailEnd type="none" w="med" len="med"/>
                    </a:lnR>
                    <a:lnT w="9525" cap="flat" cmpd="sng" algn="ctr">
                      <a:solidFill>
                        <a:srgbClr val="E5E8EE"/>
                      </a:solidFill>
                      <a:prstDash val="solid"/>
                      <a:round/>
                      <a:headEnd type="none" w="med" len="med"/>
                      <a:tailEnd type="none" w="med" len="med"/>
                    </a:lnT>
                    <a:lnB w="9525" cap="flat" cmpd="sng" algn="ctr">
                      <a:solidFill>
                        <a:srgbClr val="E5E8EE"/>
                      </a:solidFill>
                      <a:prstDash val="solid"/>
                      <a:round/>
                      <a:headEnd type="none" w="med" len="med"/>
                      <a:tailEnd type="none" w="med" len="med"/>
                    </a:lnB>
                  </a:tcPr>
                </a:tc>
                <a:tc>
                  <a:txBody>
                    <a:bodyPr/>
                    <a:lstStyle/>
                    <a:p>
                      <a:pPr marL="0" indent="0" algn="l">
                        <a:buNone/>
                      </a:pPr>
                      <a:r>
                        <a:rPr lang="en-US" sz="1100" dirty="0">
                          <a:solidFill>
                            <a:srgbClr val="2A3346"/>
                          </a:solidFill>
                          <a:latin typeface="Raleway" pitchFamily="2" charset="0"/>
                          <a:ea typeface="Inter" pitchFamily="34" charset="-122"/>
                          <a:cs typeface="Inter" pitchFamily="34" charset="-120"/>
                        </a:rPr>
                        <a:t>High; irreversible 30-day notice penalty</a:t>
                      </a:r>
                      <a:endParaRPr lang="en-US" sz="1100" dirty="0">
                        <a:latin typeface="Raleway" pitchFamily="2" charset="0"/>
                        <a:ea typeface="Inter" charset="0"/>
                        <a:cs typeface="Inter" charset="0"/>
                      </a:endParaRPr>
                    </a:p>
                  </a:txBody>
                  <a:tcPr marL="190195" marR="190195" marT="133502" marB="133502" anchor="ctr">
                    <a:lnL w="0" cap="flat" cmpd="sng" algn="ctr">
                      <a:solidFill>
                        <a:srgbClr val="E5E8EE"/>
                      </a:solidFill>
                      <a:prstDash val="solid"/>
                      <a:round/>
                      <a:headEnd type="none" w="med" len="med"/>
                      <a:tailEnd type="none" w="med" len="med"/>
                    </a:lnL>
                    <a:lnR w="0" cap="flat" cmpd="sng" algn="ctr">
                      <a:solidFill>
                        <a:srgbClr val="E5E8EE"/>
                      </a:solidFill>
                      <a:prstDash val="solid"/>
                      <a:round/>
                      <a:headEnd type="none" w="med" len="med"/>
                      <a:tailEnd type="none" w="med" len="med"/>
                    </a:lnR>
                    <a:lnT w="9525" cap="flat" cmpd="sng" algn="ctr">
                      <a:solidFill>
                        <a:srgbClr val="E5E8EE"/>
                      </a:solidFill>
                      <a:prstDash val="solid"/>
                      <a:round/>
                      <a:headEnd type="none" w="med" len="med"/>
                      <a:tailEnd type="none" w="med" len="med"/>
                    </a:lnT>
                    <a:lnB w="9525" cap="flat" cmpd="sng" algn="ctr">
                      <a:solidFill>
                        <a:srgbClr val="E5E8EE"/>
                      </a:solidFill>
                      <a:prstDash val="solid"/>
                      <a:round/>
                      <a:headEnd type="none" w="med" len="med"/>
                      <a:tailEnd type="none" w="med" len="med"/>
                    </a:lnB>
                  </a:tcPr>
                </a:tc>
                <a:tc>
                  <a:txBody>
                    <a:bodyPr/>
                    <a:lstStyle/>
                    <a:p>
                      <a:pPr marL="0" indent="0" algn="l">
                        <a:buNone/>
                      </a:pPr>
                      <a:r>
                        <a:rPr lang="en-US" sz="1100" b="1" dirty="0">
                          <a:solidFill>
                            <a:srgbClr val="2A3346"/>
                          </a:solidFill>
                          <a:latin typeface="Raleway" pitchFamily="2" charset="0"/>
                          <a:ea typeface="Inter" pitchFamily="34" charset="-122"/>
                          <a:cs typeface="Inter" pitchFamily="34" charset="-120"/>
                        </a:rPr>
                        <a:t>Mitigated; 90-day validation window</a:t>
                      </a:r>
                      <a:endParaRPr lang="en-US" sz="1100" dirty="0">
                        <a:latin typeface="Raleway" pitchFamily="2" charset="0"/>
                        <a:ea typeface="Inter" charset="0"/>
                        <a:cs typeface="Inter" charset="0"/>
                      </a:endParaRPr>
                    </a:p>
                  </a:txBody>
                  <a:tcPr marL="190195" marR="190195" marT="133502" marB="133502" anchor="ctr">
                    <a:lnL w="0" cap="flat" cmpd="sng" algn="ctr">
                      <a:solidFill>
                        <a:srgbClr val="E5E8EE"/>
                      </a:solidFill>
                      <a:prstDash val="solid"/>
                      <a:round/>
                      <a:headEnd type="none" w="med" len="med"/>
                      <a:tailEnd type="none" w="med" len="med"/>
                    </a:lnL>
                    <a:lnR w="0" cap="flat" cmpd="sng" algn="ctr">
                      <a:solidFill>
                        <a:srgbClr val="E5E8EE"/>
                      </a:solidFill>
                      <a:prstDash val="solid"/>
                      <a:round/>
                      <a:headEnd type="none" w="med" len="med"/>
                      <a:tailEnd type="none" w="med" len="med"/>
                    </a:lnR>
                    <a:lnT w="9525" cap="flat" cmpd="sng" algn="ctr">
                      <a:solidFill>
                        <a:srgbClr val="E5E8EE"/>
                      </a:solidFill>
                      <a:prstDash val="solid"/>
                      <a:round/>
                      <a:headEnd type="none" w="med" len="med"/>
                      <a:tailEnd type="none" w="med" len="med"/>
                    </a:lnT>
                    <a:lnB w="9525" cap="flat" cmpd="sng" algn="ctr">
                      <a:solidFill>
                        <a:srgbClr val="E5E8EE"/>
                      </a:solidFill>
                      <a:prstDash val="solid"/>
                      <a:round/>
                      <a:headEnd type="none" w="med" len="med"/>
                      <a:tailEnd type="none" w="med" len="med"/>
                    </a:lnB>
                  </a:tcPr>
                </a:tc>
                <a:tc>
                  <a:txBody>
                    <a:bodyPr/>
                    <a:lstStyle/>
                    <a:p>
                      <a:pPr marL="0" indent="0" algn="l">
                        <a:buNone/>
                      </a:pPr>
                      <a:r>
                        <a:rPr lang="en-US" sz="1100" b="1" dirty="0">
                          <a:solidFill>
                            <a:srgbClr val="1F2A44"/>
                          </a:solidFill>
                          <a:latin typeface="Raleway" pitchFamily="2" charset="0"/>
                          <a:ea typeface="Inter" pitchFamily="34" charset="-122"/>
                          <a:cs typeface="Inter" pitchFamily="34" charset="-120"/>
                        </a:rPr>
                        <a:t>Continuous feedback loops; replacement guarantee</a:t>
                      </a:r>
                      <a:endParaRPr lang="en-US" sz="1100" dirty="0">
                        <a:latin typeface="Raleway" pitchFamily="2" charset="0"/>
                        <a:ea typeface="Inter" charset="0"/>
                        <a:cs typeface="Inter" charset="0"/>
                      </a:endParaRPr>
                    </a:p>
                  </a:txBody>
                  <a:tcPr marL="190195" marR="190195" marT="133502" marB="133502" anchor="ctr">
                    <a:lnL w="0" cap="flat" cmpd="sng" algn="ctr">
                      <a:solidFill>
                        <a:srgbClr val="E5E8EE"/>
                      </a:solidFill>
                      <a:prstDash val="solid"/>
                      <a:round/>
                      <a:headEnd type="none" w="med" len="med"/>
                      <a:tailEnd type="none" w="med" len="med"/>
                    </a:lnL>
                    <a:lnR w="0" cap="flat" cmpd="sng" algn="ctr">
                      <a:solidFill>
                        <a:srgbClr val="E5E8EE"/>
                      </a:solidFill>
                      <a:prstDash val="solid"/>
                      <a:round/>
                      <a:headEnd type="none" w="med" len="med"/>
                      <a:tailEnd type="none" w="med" len="med"/>
                    </a:lnR>
                    <a:lnT w="9525" cap="flat" cmpd="sng" algn="ctr">
                      <a:solidFill>
                        <a:srgbClr val="E5E8EE"/>
                      </a:solidFill>
                      <a:prstDash val="solid"/>
                      <a:round/>
                      <a:headEnd type="none" w="med" len="med"/>
                      <a:tailEnd type="none" w="med" len="med"/>
                    </a:lnT>
                    <a:lnB w="9525" cap="flat" cmpd="sng" algn="ctr">
                      <a:solidFill>
                        <a:srgbClr val="E5E8EE"/>
                      </a:solidFill>
                      <a:prstDash val="solid"/>
                      <a:round/>
                      <a:headEnd type="none" w="med" len="med"/>
                      <a:tailEnd type="none" w="med" len="med"/>
                    </a:lnB>
                    <a:solidFill>
                      <a:srgbClr val="2A9D8F">
                        <a:alpha val="4000"/>
                      </a:srgbClr>
                    </a:solidFill>
                  </a:tcPr>
                </a:tc>
                <a:extLst>
                  <a:ext uri="{0D108BD9-81ED-4DB2-BD59-A6C34878D82A}">
                    <a16:rowId xmlns:a16="http://schemas.microsoft.com/office/drawing/2014/main" val="10002"/>
                  </a:ext>
                </a:extLst>
              </a:tr>
              <a:tr h="476250">
                <a:tc>
                  <a:txBody>
                    <a:bodyPr/>
                    <a:lstStyle/>
                    <a:p>
                      <a:pPr marL="0" indent="0" algn="l">
                        <a:buNone/>
                      </a:pPr>
                      <a:r>
                        <a:rPr lang="en-US" sz="1100" b="1" dirty="0">
                          <a:solidFill>
                            <a:srgbClr val="1F2A44"/>
                          </a:solidFill>
                          <a:latin typeface="Raleway" pitchFamily="2" charset="0"/>
                          <a:ea typeface="Inter" pitchFamily="34" charset="-122"/>
                          <a:cs typeface="Inter" pitchFamily="34" charset="-120"/>
                        </a:rPr>
                        <a:t>Skill Verification</a:t>
                      </a:r>
                      <a:endParaRPr lang="en-US" sz="1100" dirty="0">
                        <a:latin typeface="Raleway" pitchFamily="2" charset="0"/>
                        <a:ea typeface="Inter" charset="0"/>
                        <a:cs typeface="Inter" charset="0"/>
                      </a:endParaRPr>
                    </a:p>
                  </a:txBody>
                  <a:tcPr marL="190195" marR="190195" marT="133502" marB="133502" anchor="ctr">
                    <a:lnL w="0" cap="flat" cmpd="sng" algn="ctr">
                      <a:solidFill>
                        <a:srgbClr val="E5E8EE"/>
                      </a:solidFill>
                      <a:prstDash val="solid"/>
                      <a:round/>
                      <a:headEnd type="none" w="med" len="med"/>
                      <a:tailEnd type="none" w="med" len="med"/>
                    </a:lnL>
                    <a:lnR w="0" cap="flat" cmpd="sng" algn="ctr">
                      <a:solidFill>
                        <a:srgbClr val="E5E8EE"/>
                      </a:solidFill>
                      <a:prstDash val="solid"/>
                      <a:round/>
                      <a:headEnd type="none" w="med" len="med"/>
                      <a:tailEnd type="none" w="med" len="med"/>
                    </a:lnR>
                    <a:lnT w="9525" cap="flat" cmpd="sng" algn="ctr">
                      <a:solidFill>
                        <a:srgbClr val="E5E8EE"/>
                      </a:solidFill>
                      <a:prstDash val="solid"/>
                      <a:round/>
                      <a:headEnd type="none" w="med" len="med"/>
                      <a:tailEnd type="none" w="med" len="med"/>
                    </a:lnT>
                    <a:lnB w="9525" cap="flat" cmpd="sng" algn="ctr">
                      <a:solidFill>
                        <a:srgbClr val="E5E8EE"/>
                      </a:solidFill>
                      <a:prstDash val="solid"/>
                      <a:round/>
                      <a:headEnd type="none" w="med" len="med"/>
                      <a:tailEnd type="none" w="med" len="med"/>
                    </a:lnB>
                  </a:tcPr>
                </a:tc>
                <a:tc>
                  <a:txBody>
                    <a:bodyPr/>
                    <a:lstStyle/>
                    <a:p>
                      <a:pPr marL="0" indent="0" algn="l">
                        <a:buNone/>
                      </a:pPr>
                      <a:r>
                        <a:rPr lang="en-US" sz="1100" dirty="0">
                          <a:solidFill>
                            <a:srgbClr val="2A3346"/>
                          </a:solidFill>
                          <a:latin typeface="Raleway" pitchFamily="2" charset="0"/>
                          <a:ea typeface="Inter" pitchFamily="34" charset="-122"/>
                          <a:cs typeface="Inter" pitchFamily="34" charset="-120"/>
                        </a:rPr>
                        <a:t>Resume-based assessment</a:t>
                      </a:r>
                      <a:endParaRPr lang="en-US" sz="1100" dirty="0">
                        <a:latin typeface="Raleway" pitchFamily="2" charset="0"/>
                        <a:ea typeface="Inter" charset="0"/>
                        <a:cs typeface="Inter" charset="0"/>
                      </a:endParaRPr>
                    </a:p>
                  </a:txBody>
                  <a:tcPr marL="190195" marR="190195" marT="133502" marB="133502" anchor="ctr">
                    <a:lnL w="0" cap="flat" cmpd="sng" algn="ctr">
                      <a:solidFill>
                        <a:srgbClr val="E5E8EE"/>
                      </a:solidFill>
                      <a:prstDash val="solid"/>
                      <a:round/>
                      <a:headEnd type="none" w="med" len="med"/>
                      <a:tailEnd type="none" w="med" len="med"/>
                    </a:lnL>
                    <a:lnR w="0" cap="flat" cmpd="sng" algn="ctr">
                      <a:solidFill>
                        <a:srgbClr val="E5E8EE"/>
                      </a:solidFill>
                      <a:prstDash val="solid"/>
                      <a:round/>
                      <a:headEnd type="none" w="med" len="med"/>
                      <a:tailEnd type="none" w="med" len="med"/>
                    </a:lnR>
                    <a:lnT w="9525" cap="flat" cmpd="sng" algn="ctr">
                      <a:solidFill>
                        <a:srgbClr val="E5E8EE"/>
                      </a:solidFill>
                      <a:prstDash val="solid"/>
                      <a:round/>
                      <a:headEnd type="none" w="med" len="med"/>
                      <a:tailEnd type="none" w="med" len="med"/>
                    </a:lnT>
                    <a:lnB w="9525" cap="flat" cmpd="sng" algn="ctr">
                      <a:solidFill>
                        <a:srgbClr val="E5E8EE"/>
                      </a:solidFill>
                      <a:prstDash val="solid"/>
                      <a:round/>
                      <a:headEnd type="none" w="med" len="med"/>
                      <a:tailEnd type="none" w="med" len="med"/>
                    </a:lnB>
                  </a:tcPr>
                </a:tc>
                <a:tc>
                  <a:txBody>
                    <a:bodyPr/>
                    <a:lstStyle/>
                    <a:p>
                      <a:pPr marL="0" indent="0" algn="l">
                        <a:buNone/>
                      </a:pPr>
                      <a:r>
                        <a:rPr lang="en-US" sz="1100" b="1" dirty="0">
                          <a:solidFill>
                            <a:srgbClr val="2A3346"/>
                          </a:solidFill>
                          <a:latin typeface="Raleway" pitchFamily="2" charset="0"/>
                          <a:ea typeface="Inter" pitchFamily="34" charset="-122"/>
                          <a:cs typeface="Inter" pitchFamily="34" charset="-120"/>
                        </a:rPr>
                        <a:t>Real-world project performance</a:t>
                      </a:r>
                      <a:endParaRPr lang="en-US" sz="1100" dirty="0">
                        <a:latin typeface="Raleway" pitchFamily="2" charset="0"/>
                        <a:ea typeface="Inter" charset="0"/>
                        <a:cs typeface="Inter" charset="0"/>
                      </a:endParaRPr>
                    </a:p>
                  </a:txBody>
                  <a:tcPr marL="190195" marR="190195" marT="133502" marB="133502" anchor="ctr">
                    <a:lnL w="0" cap="flat" cmpd="sng" algn="ctr">
                      <a:solidFill>
                        <a:srgbClr val="E5E8EE"/>
                      </a:solidFill>
                      <a:prstDash val="solid"/>
                      <a:round/>
                      <a:headEnd type="none" w="med" len="med"/>
                      <a:tailEnd type="none" w="med" len="med"/>
                    </a:lnL>
                    <a:lnR w="0" cap="flat" cmpd="sng" algn="ctr">
                      <a:solidFill>
                        <a:srgbClr val="E5E8EE"/>
                      </a:solidFill>
                      <a:prstDash val="solid"/>
                      <a:round/>
                      <a:headEnd type="none" w="med" len="med"/>
                      <a:tailEnd type="none" w="med" len="med"/>
                    </a:lnR>
                    <a:lnT w="9525" cap="flat" cmpd="sng" algn="ctr">
                      <a:solidFill>
                        <a:srgbClr val="E5E8EE"/>
                      </a:solidFill>
                      <a:prstDash val="solid"/>
                      <a:round/>
                      <a:headEnd type="none" w="med" len="med"/>
                      <a:tailEnd type="none" w="med" len="med"/>
                    </a:lnT>
                    <a:lnB w="9525" cap="flat" cmpd="sng" algn="ctr">
                      <a:solidFill>
                        <a:srgbClr val="E5E8EE"/>
                      </a:solidFill>
                      <a:prstDash val="solid"/>
                      <a:round/>
                      <a:headEnd type="none" w="med" len="med"/>
                      <a:tailEnd type="none" w="med" len="med"/>
                    </a:lnB>
                  </a:tcPr>
                </a:tc>
                <a:tc>
                  <a:txBody>
                    <a:bodyPr/>
                    <a:lstStyle/>
                    <a:p>
                      <a:pPr marL="0" indent="0" algn="l">
                        <a:buNone/>
                      </a:pPr>
                      <a:r>
                        <a:rPr lang="en-US" sz="1100" b="1" dirty="0">
                          <a:solidFill>
                            <a:srgbClr val="1F2A44"/>
                          </a:solidFill>
                          <a:latin typeface="Raleway" pitchFamily="2" charset="0"/>
                          <a:ea typeface="Inter" pitchFamily="34" charset="-122"/>
                          <a:cs typeface="Inter" pitchFamily="34" charset="-120"/>
                        </a:rPr>
                        <a:t>Demonstrated competency in banking context</a:t>
                      </a:r>
                      <a:endParaRPr lang="en-US" sz="1100" dirty="0">
                        <a:latin typeface="Raleway" pitchFamily="2" charset="0"/>
                        <a:ea typeface="Inter" charset="0"/>
                        <a:cs typeface="Inter" charset="0"/>
                      </a:endParaRPr>
                    </a:p>
                  </a:txBody>
                  <a:tcPr marL="190195" marR="190195" marT="133502" marB="133502" anchor="ctr">
                    <a:lnL w="0" cap="flat" cmpd="sng" algn="ctr">
                      <a:solidFill>
                        <a:srgbClr val="E5E8EE"/>
                      </a:solidFill>
                      <a:prstDash val="solid"/>
                      <a:round/>
                      <a:headEnd type="none" w="med" len="med"/>
                      <a:tailEnd type="none" w="med" len="med"/>
                    </a:lnL>
                    <a:lnR w="0" cap="flat" cmpd="sng" algn="ctr">
                      <a:solidFill>
                        <a:srgbClr val="E5E8EE"/>
                      </a:solidFill>
                      <a:prstDash val="solid"/>
                      <a:round/>
                      <a:headEnd type="none" w="med" len="med"/>
                      <a:tailEnd type="none" w="med" len="med"/>
                    </a:lnR>
                    <a:lnT w="9525" cap="flat" cmpd="sng" algn="ctr">
                      <a:solidFill>
                        <a:srgbClr val="E5E8EE"/>
                      </a:solidFill>
                      <a:prstDash val="solid"/>
                      <a:round/>
                      <a:headEnd type="none" w="med" len="med"/>
                      <a:tailEnd type="none" w="med" len="med"/>
                    </a:lnT>
                    <a:lnB w="9525" cap="flat" cmpd="sng" algn="ctr">
                      <a:solidFill>
                        <a:srgbClr val="E5E8EE"/>
                      </a:solidFill>
                      <a:prstDash val="solid"/>
                      <a:round/>
                      <a:headEnd type="none" w="med" len="med"/>
                      <a:tailEnd type="none" w="med" len="med"/>
                    </a:lnB>
                    <a:solidFill>
                      <a:srgbClr val="2A9D8F">
                        <a:alpha val="4000"/>
                      </a:srgbClr>
                    </a:solidFill>
                  </a:tcPr>
                </a:tc>
                <a:extLst>
                  <a:ext uri="{0D108BD9-81ED-4DB2-BD59-A6C34878D82A}">
                    <a16:rowId xmlns:a16="http://schemas.microsoft.com/office/drawing/2014/main" val="10003"/>
                  </a:ext>
                </a:extLst>
              </a:tr>
              <a:tr h="476250">
                <a:tc>
                  <a:txBody>
                    <a:bodyPr/>
                    <a:lstStyle/>
                    <a:p>
                      <a:pPr marL="0" indent="0" algn="l">
                        <a:buNone/>
                      </a:pPr>
                      <a:r>
                        <a:rPr lang="en-US" sz="1100" b="1" dirty="0">
                          <a:solidFill>
                            <a:srgbClr val="1F2A44"/>
                          </a:solidFill>
                          <a:latin typeface="Raleway" pitchFamily="2" charset="0"/>
                          <a:ea typeface="Inter" pitchFamily="34" charset="-122"/>
                          <a:cs typeface="Inter" pitchFamily="34" charset="-120"/>
                        </a:rPr>
                        <a:t>Market Rate Volatility</a:t>
                      </a:r>
                      <a:endParaRPr lang="en-US" sz="1100" dirty="0">
                        <a:latin typeface="Raleway" pitchFamily="2" charset="0"/>
                        <a:ea typeface="Inter" charset="0"/>
                        <a:cs typeface="Inter" charset="0"/>
                      </a:endParaRPr>
                    </a:p>
                  </a:txBody>
                  <a:tcPr marL="190195" marR="190195" marT="133502" marB="133502" anchor="ctr">
                    <a:lnL w="0" cap="flat" cmpd="sng" algn="ctr">
                      <a:solidFill>
                        <a:srgbClr val="E5E8EE"/>
                      </a:solidFill>
                      <a:prstDash val="solid"/>
                      <a:round/>
                      <a:headEnd type="none" w="med" len="med"/>
                      <a:tailEnd type="none" w="med" len="med"/>
                    </a:lnL>
                    <a:lnR w="0" cap="flat" cmpd="sng" algn="ctr">
                      <a:solidFill>
                        <a:srgbClr val="E5E8EE"/>
                      </a:solidFill>
                      <a:prstDash val="solid"/>
                      <a:round/>
                      <a:headEnd type="none" w="med" len="med"/>
                      <a:tailEnd type="none" w="med" len="med"/>
                    </a:lnR>
                    <a:lnT w="9525" cap="flat" cmpd="sng" algn="ctr">
                      <a:solidFill>
                        <a:srgbClr val="E5E8EE"/>
                      </a:solidFill>
                      <a:prstDash val="solid"/>
                      <a:round/>
                      <a:headEnd type="none" w="med" len="med"/>
                      <a:tailEnd type="none" w="med" len="med"/>
                    </a:lnT>
                    <a:lnB w="9525" cap="flat" cmpd="sng" algn="ctr">
                      <a:solidFill>
                        <a:srgbClr val="E5E8EE"/>
                      </a:solidFill>
                      <a:prstDash val="solid"/>
                      <a:round/>
                      <a:headEnd type="none" w="med" len="med"/>
                      <a:tailEnd type="none" w="med" len="med"/>
                    </a:lnB>
                  </a:tcPr>
                </a:tc>
                <a:tc>
                  <a:txBody>
                    <a:bodyPr/>
                    <a:lstStyle/>
                    <a:p>
                      <a:pPr marL="0" indent="0" algn="l">
                        <a:buNone/>
                      </a:pPr>
                      <a:r>
                        <a:rPr lang="en-US" sz="1100" dirty="0">
                          <a:solidFill>
                            <a:srgbClr val="2A3346"/>
                          </a:solidFill>
                          <a:latin typeface="Raleway" pitchFamily="2" charset="0"/>
                          <a:ea typeface="Inter" pitchFamily="34" charset="-122"/>
                          <a:cs typeface="Inter" pitchFamily="34" charset="-120"/>
                        </a:rPr>
                        <a:t>Locked at day-1 salary; long-term inflation exposure</a:t>
                      </a:r>
                      <a:endParaRPr lang="en-US" sz="1100" dirty="0">
                        <a:latin typeface="Raleway" pitchFamily="2" charset="0"/>
                        <a:ea typeface="Inter" charset="0"/>
                        <a:cs typeface="Inter" charset="0"/>
                      </a:endParaRPr>
                    </a:p>
                  </a:txBody>
                  <a:tcPr marL="190195" marR="190195" marT="133502" marB="133502" anchor="ctr">
                    <a:lnL w="0" cap="flat" cmpd="sng" algn="ctr">
                      <a:solidFill>
                        <a:srgbClr val="E5E8EE"/>
                      </a:solidFill>
                      <a:prstDash val="solid"/>
                      <a:round/>
                      <a:headEnd type="none" w="med" len="med"/>
                      <a:tailEnd type="none" w="med" len="med"/>
                    </a:lnL>
                    <a:lnR w="0" cap="flat" cmpd="sng" algn="ctr">
                      <a:solidFill>
                        <a:srgbClr val="E5E8EE"/>
                      </a:solidFill>
                      <a:prstDash val="solid"/>
                      <a:round/>
                      <a:headEnd type="none" w="med" len="med"/>
                      <a:tailEnd type="none" w="med" len="med"/>
                    </a:lnR>
                    <a:lnT w="9525" cap="flat" cmpd="sng" algn="ctr">
                      <a:solidFill>
                        <a:srgbClr val="E5E8EE"/>
                      </a:solidFill>
                      <a:prstDash val="solid"/>
                      <a:round/>
                      <a:headEnd type="none" w="med" len="med"/>
                      <a:tailEnd type="none" w="med" len="med"/>
                    </a:lnT>
                    <a:lnB w="9525" cap="flat" cmpd="sng" algn="ctr">
                      <a:solidFill>
                        <a:srgbClr val="E5E8EE"/>
                      </a:solidFill>
                      <a:prstDash val="solid"/>
                      <a:round/>
                      <a:headEnd type="none" w="med" len="med"/>
                      <a:tailEnd type="none" w="med" len="med"/>
                    </a:lnB>
                  </a:tcPr>
                </a:tc>
                <a:tc>
                  <a:txBody>
                    <a:bodyPr/>
                    <a:lstStyle/>
                    <a:p>
                      <a:pPr marL="0" indent="0" algn="l">
                        <a:buNone/>
                      </a:pPr>
                      <a:r>
                        <a:rPr lang="en-US" sz="1100" b="1" dirty="0">
                          <a:solidFill>
                            <a:srgbClr val="2A3346"/>
                          </a:solidFill>
                          <a:latin typeface="Raleway" pitchFamily="2" charset="0"/>
                          <a:ea typeface="Inter" pitchFamily="34" charset="-122"/>
                          <a:cs typeface="Inter" pitchFamily="34" charset="-120"/>
                        </a:rPr>
                        <a:t>Flexible; 90-day market reset</a:t>
                      </a:r>
                      <a:endParaRPr lang="en-US" sz="1100" dirty="0">
                        <a:latin typeface="Raleway" pitchFamily="2" charset="0"/>
                        <a:ea typeface="Inter" charset="0"/>
                        <a:cs typeface="Inter" charset="0"/>
                      </a:endParaRPr>
                    </a:p>
                  </a:txBody>
                  <a:tcPr marL="190195" marR="190195" marT="133502" marB="133502" anchor="ctr">
                    <a:lnL w="0" cap="flat" cmpd="sng" algn="ctr">
                      <a:solidFill>
                        <a:srgbClr val="E5E8EE"/>
                      </a:solidFill>
                      <a:prstDash val="solid"/>
                      <a:round/>
                      <a:headEnd type="none" w="med" len="med"/>
                      <a:tailEnd type="none" w="med" len="med"/>
                    </a:lnL>
                    <a:lnR w="0" cap="flat" cmpd="sng" algn="ctr">
                      <a:solidFill>
                        <a:srgbClr val="E5E8EE"/>
                      </a:solidFill>
                      <a:prstDash val="solid"/>
                      <a:round/>
                      <a:headEnd type="none" w="med" len="med"/>
                      <a:tailEnd type="none" w="med" len="med"/>
                    </a:lnR>
                    <a:lnT w="9525" cap="flat" cmpd="sng" algn="ctr">
                      <a:solidFill>
                        <a:srgbClr val="E5E8EE"/>
                      </a:solidFill>
                      <a:prstDash val="solid"/>
                      <a:round/>
                      <a:headEnd type="none" w="med" len="med"/>
                      <a:tailEnd type="none" w="med" len="med"/>
                    </a:lnT>
                    <a:lnB w="9525" cap="flat" cmpd="sng" algn="ctr">
                      <a:solidFill>
                        <a:srgbClr val="E5E8EE"/>
                      </a:solidFill>
                      <a:prstDash val="solid"/>
                      <a:round/>
                      <a:headEnd type="none" w="med" len="med"/>
                      <a:tailEnd type="none" w="med" len="med"/>
                    </a:lnB>
                  </a:tcPr>
                </a:tc>
                <a:tc>
                  <a:txBody>
                    <a:bodyPr/>
                    <a:lstStyle/>
                    <a:p>
                      <a:pPr marL="0" indent="0" algn="l">
                        <a:buNone/>
                      </a:pPr>
                      <a:r>
                        <a:rPr lang="en-US" sz="1100" b="1" dirty="0">
                          <a:solidFill>
                            <a:srgbClr val="1F2A44"/>
                          </a:solidFill>
                          <a:latin typeface="Raleway" pitchFamily="2" charset="0"/>
                          <a:ea typeface="Inter" pitchFamily="34" charset="-122"/>
                          <a:cs typeface="Inter" pitchFamily="34" charset="-120"/>
                        </a:rPr>
                        <a:t>J2W absorbs rate fluctuations during contract phase</a:t>
                      </a:r>
                      <a:endParaRPr lang="en-US" sz="1100" dirty="0">
                        <a:latin typeface="Raleway" pitchFamily="2" charset="0"/>
                        <a:ea typeface="Inter" charset="0"/>
                        <a:cs typeface="Inter" charset="0"/>
                      </a:endParaRPr>
                    </a:p>
                  </a:txBody>
                  <a:tcPr marL="190195" marR="190195" marT="133502" marB="133502" anchor="ctr">
                    <a:lnL w="0" cap="flat" cmpd="sng" algn="ctr">
                      <a:solidFill>
                        <a:srgbClr val="E5E8EE"/>
                      </a:solidFill>
                      <a:prstDash val="solid"/>
                      <a:round/>
                      <a:headEnd type="none" w="med" len="med"/>
                      <a:tailEnd type="none" w="med" len="med"/>
                    </a:lnL>
                    <a:lnR w="0" cap="flat" cmpd="sng" algn="ctr">
                      <a:solidFill>
                        <a:srgbClr val="E5E8EE"/>
                      </a:solidFill>
                      <a:prstDash val="solid"/>
                      <a:round/>
                      <a:headEnd type="none" w="med" len="med"/>
                      <a:tailEnd type="none" w="med" len="med"/>
                    </a:lnR>
                    <a:lnT w="9525" cap="flat" cmpd="sng" algn="ctr">
                      <a:solidFill>
                        <a:srgbClr val="E5E8EE"/>
                      </a:solidFill>
                      <a:prstDash val="solid"/>
                      <a:round/>
                      <a:headEnd type="none" w="med" len="med"/>
                      <a:tailEnd type="none" w="med" len="med"/>
                    </a:lnT>
                    <a:lnB w="9525" cap="flat" cmpd="sng" algn="ctr">
                      <a:solidFill>
                        <a:srgbClr val="E5E8EE"/>
                      </a:solidFill>
                      <a:prstDash val="solid"/>
                      <a:round/>
                      <a:headEnd type="none" w="med" len="med"/>
                      <a:tailEnd type="none" w="med" len="med"/>
                    </a:lnB>
                    <a:solidFill>
                      <a:srgbClr val="2A9D8F">
                        <a:alpha val="4000"/>
                      </a:srgbClr>
                    </a:solidFill>
                  </a:tcPr>
                </a:tc>
                <a:extLst>
                  <a:ext uri="{0D108BD9-81ED-4DB2-BD59-A6C34878D82A}">
                    <a16:rowId xmlns:a16="http://schemas.microsoft.com/office/drawing/2014/main" val="10004"/>
                  </a:ext>
                </a:extLst>
              </a:tr>
              <a:tr h="476250">
                <a:tc>
                  <a:txBody>
                    <a:bodyPr/>
                    <a:lstStyle/>
                    <a:p>
                      <a:pPr marL="0" indent="0" algn="l">
                        <a:buNone/>
                      </a:pPr>
                      <a:r>
                        <a:rPr lang="en-US" sz="1100" b="1" dirty="0">
                          <a:solidFill>
                            <a:srgbClr val="1F2A44"/>
                          </a:solidFill>
                          <a:latin typeface="Raleway" pitchFamily="2" charset="0"/>
                          <a:ea typeface="Inter" pitchFamily="34" charset="-122"/>
                          <a:cs typeface="Inter" pitchFamily="34" charset="-120"/>
                        </a:rPr>
                        <a:t>Regulatory Compliance</a:t>
                      </a:r>
                      <a:endParaRPr lang="en-US" sz="1100" dirty="0">
                        <a:latin typeface="Raleway" pitchFamily="2" charset="0"/>
                        <a:ea typeface="Inter" charset="0"/>
                        <a:cs typeface="Inter" charset="0"/>
                      </a:endParaRPr>
                    </a:p>
                  </a:txBody>
                  <a:tcPr marL="190195" marR="190195" marT="133502" marB="133502" anchor="ctr">
                    <a:lnL w="0" cap="flat" cmpd="sng" algn="ctr">
                      <a:solidFill>
                        <a:srgbClr val="E5E8EE"/>
                      </a:solidFill>
                      <a:prstDash val="solid"/>
                      <a:round/>
                      <a:headEnd type="none" w="med" len="med"/>
                      <a:tailEnd type="none" w="med" len="med"/>
                    </a:lnL>
                    <a:lnR w="0" cap="flat" cmpd="sng" algn="ctr">
                      <a:solidFill>
                        <a:srgbClr val="E5E8EE"/>
                      </a:solidFill>
                      <a:prstDash val="solid"/>
                      <a:round/>
                      <a:headEnd type="none" w="med" len="med"/>
                      <a:tailEnd type="none" w="med" len="med"/>
                    </a:lnR>
                    <a:lnT w="9525" cap="flat" cmpd="sng" algn="ctr">
                      <a:solidFill>
                        <a:srgbClr val="E5E8EE"/>
                      </a:solidFill>
                      <a:prstDash val="solid"/>
                      <a:round/>
                      <a:headEnd type="none" w="med" len="med"/>
                      <a:tailEnd type="none" w="med" len="med"/>
                    </a:lnT>
                    <a:lnB w="0" cap="flat" cmpd="sng" algn="ctr">
                      <a:solidFill>
                        <a:srgbClr val="E5E8EE"/>
                      </a:solidFill>
                      <a:prstDash val="solid"/>
                      <a:round/>
                      <a:headEnd type="none" w="med" len="med"/>
                      <a:tailEnd type="none" w="med" len="med"/>
                    </a:lnB>
                  </a:tcPr>
                </a:tc>
                <a:tc>
                  <a:txBody>
                    <a:bodyPr/>
                    <a:lstStyle/>
                    <a:p>
                      <a:pPr marL="0" indent="0" algn="l">
                        <a:buNone/>
                      </a:pPr>
                      <a:r>
                        <a:rPr lang="en-US" sz="1100" dirty="0">
                          <a:solidFill>
                            <a:srgbClr val="2A3346"/>
                          </a:solidFill>
                          <a:latin typeface="Raleway" pitchFamily="2" charset="0"/>
                          <a:ea typeface="Inter" pitchFamily="34" charset="-122"/>
                          <a:cs typeface="Inter" pitchFamily="34" charset="-120"/>
                        </a:rPr>
                        <a:t>Full statutory obligation immediately</a:t>
                      </a:r>
                      <a:endParaRPr lang="en-US" sz="1100" dirty="0">
                        <a:latin typeface="Raleway" pitchFamily="2" charset="0"/>
                        <a:ea typeface="Inter" charset="0"/>
                        <a:cs typeface="Inter" charset="0"/>
                      </a:endParaRPr>
                    </a:p>
                  </a:txBody>
                  <a:tcPr marL="190195" marR="190195" marT="133502" marB="133502" anchor="ctr">
                    <a:lnL w="0" cap="flat" cmpd="sng" algn="ctr">
                      <a:solidFill>
                        <a:srgbClr val="E5E8EE"/>
                      </a:solidFill>
                      <a:prstDash val="solid"/>
                      <a:round/>
                      <a:headEnd type="none" w="med" len="med"/>
                      <a:tailEnd type="none" w="med" len="med"/>
                    </a:lnL>
                    <a:lnR w="0" cap="flat" cmpd="sng" algn="ctr">
                      <a:solidFill>
                        <a:srgbClr val="E5E8EE"/>
                      </a:solidFill>
                      <a:prstDash val="solid"/>
                      <a:round/>
                      <a:headEnd type="none" w="med" len="med"/>
                      <a:tailEnd type="none" w="med" len="med"/>
                    </a:lnR>
                    <a:lnT w="9525" cap="flat" cmpd="sng" algn="ctr">
                      <a:solidFill>
                        <a:srgbClr val="E5E8EE"/>
                      </a:solidFill>
                      <a:prstDash val="solid"/>
                      <a:round/>
                      <a:headEnd type="none" w="med" len="med"/>
                      <a:tailEnd type="none" w="med" len="med"/>
                    </a:lnT>
                    <a:lnB w="0" cap="flat" cmpd="sng" algn="ctr">
                      <a:solidFill>
                        <a:srgbClr val="E5E8EE"/>
                      </a:solidFill>
                      <a:prstDash val="solid"/>
                      <a:round/>
                      <a:headEnd type="none" w="med" len="med"/>
                      <a:tailEnd type="none" w="med" len="med"/>
                    </a:lnB>
                  </a:tcPr>
                </a:tc>
                <a:tc>
                  <a:txBody>
                    <a:bodyPr/>
                    <a:lstStyle/>
                    <a:p>
                      <a:pPr marL="0" indent="0" algn="l">
                        <a:buNone/>
                      </a:pPr>
                      <a:r>
                        <a:rPr lang="en-US" sz="1100" b="1" dirty="0">
                          <a:solidFill>
                            <a:srgbClr val="2A3346"/>
                          </a:solidFill>
                          <a:latin typeface="Raleway" pitchFamily="2" charset="0"/>
                          <a:ea typeface="Inter" pitchFamily="34" charset="-122"/>
                          <a:cs typeface="Inter" pitchFamily="34" charset="-120"/>
                        </a:rPr>
                        <a:t>Managed by J2W as primary employer</a:t>
                      </a:r>
                      <a:endParaRPr lang="en-US" sz="1100" dirty="0">
                        <a:latin typeface="Raleway" pitchFamily="2" charset="0"/>
                        <a:ea typeface="Inter" charset="0"/>
                        <a:cs typeface="Inter" charset="0"/>
                      </a:endParaRPr>
                    </a:p>
                  </a:txBody>
                  <a:tcPr marL="190195" marR="190195" marT="133502" marB="133502" anchor="ctr">
                    <a:lnL w="0" cap="flat" cmpd="sng" algn="ctr">
                      <a:solidFill>
                        <a:srgbClr val="E5E8EE"/>
                      </a:solidFill>
                      <a:prstDash val="solid"/>
                      <a:round/>
                      <a:headEnd type="none" w="med" len="med"/>
                      <a:tailEnd type="none" w="med" len="med"/>
                    </a:lnL>
                    <a:lnR w="0" cap="flat" cmpd="sng" algn="ctr">
                      <a:solidFill>
                        <a:srgbClr val="E5E8EE"/>
                      </a:solidFill>
                      <a:prstDash val="solid"/>
                      <a:round/>
                      <a:headEnd type="none" w="med" len="med"/>
                      <a:tailEnd type="none" w="med" len="med"/>
                    </a:lnR>
                    <a:lnT w="9525" cap="flat" cmpd="sng" algn="ctr">
                      <a:solidFill>
                        <a:srgbClr val="E5E8EE"/>
                      </a:solidFill>
                      <a:prstDash val="solid"/>
                      <a:round/>
                      <a:headEnd type="none" w="med" len="med"/>
                      <a:tailEnd type="none" w="med" len="med"/>
                    </a:lnT>
                    <a:lnB w="0" cap="flat" cmpd="sng" algn="ctr">
                      <a:solidFill>
                        <a:srgbClr val="E5E8EE"/>
                      </a:solidFill>
                      <a:prstDash val="solid"/>
                      <a:round/>
                      <a:headEnd type="none" w="med" len="med"/>
                      <a:tailEnd type="none" w="med" len="med"/>
                    </a:lnB>
                  </a:tcPr>
                </a:tc>
                <a:tc>
                  <a:txBody>
                    <a:bodyPr/>
                    <a:lstStyle/>
                    <a:p>
                      <a:pPr marL="0" indent="0" algn="l">
                        <a:buNone/>
                      </a:pPr>
                      <a:r>
                        <a:rPr lang="en-US" sz="1100" b="1" dirty="0">
                          <a:solidFill>
                            <a:srgbClr val="1F2A44"/>
                          </a:solidFill>
                          <a:latin typeface="Raleway" pitchFamily="2" charset="0"/>
                          <a:ea typeface="Inter" pitchFamily="34" charset="-122"/>
                          <a:cs typeface="Inter" pitchFamily="34" charset="-120"/>
                        </a:rPr>
                        <a:t>Simplified transition; legal risk eliminated</a:t>
                      </a:r>
                      <a:endParaRPr lang="en-US" sz="1100" dirty="0">
                        <a:latin typeface="Raleway" pitchFamily="2" charset="0"/>
                        <a:ea typeface="Inter" charset="0"/>
                        <a:cs typeface="Inter" charset="0"/>
                      </a:endParaRPr>
                    </a:p>
                  </a:txBody>
                  <a:tcPr marL="190195" marR="190195" marT="133502" marB="133502" anchor="ctr">
                    <a:lnL w="0" cap="flat" cmpd="sng" algn="ctr">
                      <a:solidFill>
                        <a:srgbClr val="E5E8EE"/>
                      </a:solidFill>
                      <a:prstDash val="solid"/>
                      <a:round/>
                      <a:headEnd type="none" w="med" len="med"/>
                      <a:tailEnd type="none" w="med" len="med"/>
                    </a:lnL>
                    <a:lnR w="0" cap="flat" cmpd="sng" algn="ctr">
                      <a:solidFill>
                        <a:srgbClr val="E5E8EE"/>
                      </a:solidFill>
                      <a:prstDash val="solid"/>
                      <a:round/>
                      <a:headEnd type="none" w="med" len="med"/>
                      <a:tailEnd type="none" w="med" len="med"/>
                    </a:lnR>
                    <a:lnT w="9525" cap="flat" cmpd="sng" algn="ctr">
                      <a:solidFill>
                        <a:srgbClr val="E5E8EE"/>
                      </a:solidFill>
                      <a:prstDash val="solid"/>
                      <a:round/>
                      <a:headEnd type="none" w="med" len="med"/>
                      <a:tailEnd type="none" w="med" len="med"/>
                    </a:lnT>
                    <a:lnB w="0" cap="flat" cmpd="sng" algn="ctr">
                      <a:solidFill>
                        <a:srgbClr val="E5E8EE"/>
                      </a:solidFill>
                      <a:prstDash val="solid"/>
                      <a:round/>
                      <a:headEnd type="none" w="med" len="med"/>
                      <a:tailEnd type="none" w="med" len="med"/>
                    </a:lnB>
                    <a:solidFill>
                      <a:srgbClr val="2A9D8F">
                        <a:alpha val="4000"/>
                      </a:srgbClr>
                    </a:solidFill>
                  </a:tcPr>
                </a:tc>
                <a:extLst>
                  <a:ext uri="{0D108BD9-81ED-4DB2-BD59-A6C34878D82A}">
                    <a16:rowId xmlns:a16="http://schemas.microsoft.com/office/drawing/2014/main" val="10005"/>
                  </a:ext>
                </a:extLst>
              </a:tr>
            </a:tbl>
          </a:graphicData>
        </a:graphic>
      </p:graphicFrame>
      <p:sp>
        <p:nvSpPr>
          <p:cNvPr id="16" name="Text 6"/>
          <p:cNvSpPr txBox="1"/>
          <p:nvPr/>
        </p:nvSpPr>
        <p:spPr>
          <a:xfrm>
            <a:off x="803758" y="4595774"/>
            <a:ext cx="1465783" cy="143561"/>
          </a:xfrm>
          <a:prstGeom prst="rect">
            <a:avLst/>
          </a:prstGeom>
          <a:noFill/>
          <a:ln/>
        </p:spPr>
        <p:txBody>
          <a:bodyPr wrap="none" lIns="0" tIns="0" rIns="0" bIns="0" rtlCol="0" anchor="ctr"/>
          <a:lstStyle/>
          <a:p>
            <a:pPr marL="0" indent="0" algn="l">
              <a:buNone/>
            </a:pPr>
            <a:r>
              <a:rPr lang="en-US" sz="900" b="1" kern="0" spc="75" dirty="0">
                <a:solidFill>
                  <a:srgbClr val="FFFFFF"/>
                </a:solidFill>
                <a:latin typeface="Raleway" pitchFamily="2" charset="0"/>
                <a:ea typeface="Inter" pitchFamily="34" charset="-122"/>
                <a:cs typeface="Inter" pitchFamily="34" charset="-120"/>
              </a:rPr>
              <a:t>Financial Impact</a:t>
            </a:r>
            <a:endParaRPr lang="en-US" sz="900" dirty="0">
              <a:latin typeface="Raleway" pitchFamily="2" charset="0"/>
            </a:endParaRPr>
          </a:p>
        </p:txBody>
      </p:sp>
      <p:sp>
        <p:nvSpPr>
          <p:cNvPr id="17" name="Text 7"/>
          <p:cNvSpPr txBox="1"/>
          <p:nvPr/>
        </p:nvSpPr>
        <p:spPr>
          <a:xfrm>
            <a:off x="666598" y="4898875"/>
            <a:ext cx="3143707" cy="381305"/>
          </a:xfrm>
          <a:prstGeom prst="rect">
            <a:avLst/>
          </a:prstGeom>
          <a:noFill/>
          <a:ln/>
        </p:spPr>
        <p:txBody>
          <a:bodyPr wrap="none" lIns="0" tIns="0" rIns="0" bIns="0" rtlCol="0" anchor="ctr"/>
          <a:lstStyle/>
          <a:p>
            <a:pPr marL="0" indent="0" algn="l">
              <a:buNone/>
            </a:pPr>
            <a:r>
              <a:rPr lang="en-US" sz="3000" b="1" dirty="0">
                <a:solidFill>
                  <a:schemeClr val="bg1"/>
                </a:solidFill>
                <a:latin typeface="Raleway" pitchFamily="2" charset="0"/>
                <a:ea typeface="Fraunces" pitchFamily="34" charset="-122"/>
                <a:cs typeface="Fraunces" pitchFamily="34" charset="-120"/>
              </a:rPr>
              <a:t>45–50%</a:t>
            </a:r>
            <a:endParaRPr lang="en-US" sz="3000" dirty="0">
              <a:solidFill>
                <a:schemeClr val="bg1"/>
              </a:solidFill>
              <a:latin typeface="Raleway" pitchFamily="2" charset="0"/>
            </a:endParaRPr>
          </a:p>
        </p:txBody>
      </p:sp>
      <p:sp>
        <p:nvSpPr>
          <p:cNvPr id="18" name="Text 8"/>
          <p:cNvSpPr txBox="1"/>
          <p:nvPr/>
        </p:nvSpPr>
        <p:spPr>
          <a:xfrm>
            <a:off x="666598" y="5359298"/>
            <a:ext cx="3143707" cy="365760"/>
          </a:xfrm>
          <a:prstGeom prst="rect">
            <a:avLst/>
          </a:prstGeom>
          <a:noFill/>
          <a:ln/>
        </p:spPr>
        <p:txBody>
          <a:bodyPr wrap="square" lIns="0" tIns="0" rIns="0" bIns="0" rtlCol="0" anchor="t"/>
          <a:lstStyle/>
          <a:p>
            <a:pPr marL="0" indent="0" algn="l">
              <a:lnSpc>
                <a:spcPts val="1365"/>
              </a:lnSpc>
              <a:buNone/>
            </a:pPr>
            <a:r>
              <a:rPr lang="en-US" sz="1100" b="1" dirty="0">
                <a:solidFill>
                  <a:schemeClr val="bg1"/>
                </a:solidFill>
                <a:latin typeface="Raleway" pitchFamily="2" charset="0"/>
                <a:ea typeface="Inter" pitchFamily="34" charset="-122"/>
                <a:cs typeface="Inter" pitchFamily="34" charset="-120"/>
              </a:rPr>
              <a:t>of permanent year-1 compensation</a:t>
            </a:r>
            <a:endParaRPr lang="en-US" sz="1100" dirty="0">
              <a:solidFill>
                <a:schemeClr val="bg1"/>
              </a:solidFill>
              <a:latin typeface="Raleway" pitchFamily="2" charset="0"/>
            </a:endParaRPr>
          </a:p>
          <a:p>
            <a:pPr marL="0" indent="0" algn="l">
              <a:lnSpc>
                <a:spcPts val="1365"/>
              </a:lnSpc>
              <a:buNone/>
            </a:pPr>
            <a:r>
              <a:rPr lang="en-US" sz="1100" dirty="0">
                <a:solidFill>
                  <a:schemeClr val="bg1"/>
                </a:solidFill>
                <a:latin typeface="Raleway" pitchFamily="2" charset="0"/>
                <a:ea typeface="Inter" pitchFamily="34" charset="-122"/>
                <a:cs typeface="Inter" pitchFamily="34" charset="-120"/>
              </a:rPr>
              <a:t>(J2W absorbs employment overhead)</a:t>
            </a:r>
            <a:endParaRPr lang="en-US" sz="1100" dirty="0">
              <a:solidFill>
                <a:schemeClr val="bg1"/>
              </a:solidFill>
              <a:latin typeface="Raleway" pitchFamily="2" charset="0"/>
            </a:endParaRPr>
          </a:p>
        </p:txBody>
      </p:sp>
      <p:sp>
        <p:nvSpPr>
          <p:cNvPr id="19" name="Text 9"/>
          <p:cNvSpPr txBox="1"/>
          <p:nvPr/>
        </p:nvSpPr>
        <p:spPr>
          <a:xfrm>
            <a:off x="4381805" y="4898875"/>
            <a:ext cx="3143707" cy="381305"/>
          </a:xfrm>
          <a:prstGeom prst="rect">
            <a:avLst/>
          </a:prstGeom>
          <a:noFill/>
          <a:ln/>
        </p:spPr>
        <p:txBody>
          <a:bodyPr wrap="none" lIns="0" tIns="0" rIns="0" bIns="0" rtlCol="0" anchor="ctr"/>
          <a:lstStyle/>
          <a:p>
            <a:pPr marL="0" indent="0" algn="l">
              <a:buNone/>
            </a:pPr>
            <a:r>
              <a:rPr lang="en-US" sz="3000" b="1" dirty="0">
                <a:solidFill>
                  <a:schemeClr val="bg1"/>
                </a:solidFill>
                <a:latin typeface="Raleway" pitchFamily="2" charset="0"/>
                <a:ea typeface="Fraunces" pitchFamily="34" charset="-122"/>
                <a:cs typeface="Fraunces" pitchFamily="34" charset="-120"/>
              </a:rPr>
              <a:t>85%</a:t>
            </a:r>
            <a:endParaRPr lang="en-US" sz="3000" dirty="0">
              <a:solidFill>
                <a:schemeClr val="bg1"/>
              </a:solidFill>
              <a:latin typeface="Raleway" pitchFamily="2" charset="0"/>
            </a:endParaRPr>
          </a:p>
        </p:txBody>
      </p:sp>
      <p:sp>
        <p:nvSpPr>
          <p:cNvPr id="20" name="Text 10"/>
          <p:cNvSpPr txBox="1"/>
          <p:nvPr/>
        </p:nvSpPr>
        <p:spPr>
          <a:xfrm>
            <a:off x="4381805" y="5359298"/>
            <a:ext cx="3143707" cy="365760"/>
          </a:xfrm>
          <a:prstGeom prst="rect">
            <a:avLst/>
          </a:prstGeom>
          <a:noFill/>
          <a:ln/>
        </p:spPr>
        <p:txBody>
          <a:bodyPr wrap="square" lIns="0" tIns="0" rIns="0" bIns="0" rtlCol="0" anchor="t"/>
          <a:lstStyle/>
          <a:p>
            <a:pPr marL="0" indent="0" algn="l">
              <a:lnSpc>
                <a:spcPts val="1365"/>
              </a:lnSpc>
              <a:buNone/>
            </a:pPr>
            <a:r>
              <a:rPr lang="en-US" sz="1100" b="1" dirty="0">
                <a:solidFill>
                  <a:schemeClr val="bg1"/>
                </a:solidFill>
                <a:latin typeface="Raleway" pitchFamily="2" charset="0"/>
                <a:ea typeface="Inter" pitchFamily="34" charset="-122"/>
                <a:cs typeface="Inter" pitchFamily="34" charset="-120"/>
              </a:rPr>
              <a:t>reduction in mis-hire risk</a:t>
            </a:r>
            <a:endParaRPr lang="en-US" sz="1100" dirty="0">
              <a:solidFill>
                <a:schemeClr val="bg1"/>
              </a:solidFill>
              <a:latin typeface="Raleway" pitchFamily="2" charset="0"/>
            </a:endParaRPr>
          </a:p>
          <a:p>
            <a:pPr marL="0" indent="0" algn="l">
              <a:lnSpc>
                <a:spcPts val="1365"/>
              </a:lnSpc>
              <a:buNone/>
            </a:pPr>
            <a:r>
              <a:rPr lang="en-US" sz="1100" dirty="0">
                <a:solidFill>
                  <a:schemeClr val="bg1"/>
                </a:solidFill>
                <a:latin typeface="Raleway" pitchFamily="2" charset="0"/>
                <a:ea typeface="Inter" pitchFamily="34" charset="-122"/>
                <a:cs typeface="Inter" pitchFamily="34" charset="-120"/>
              </a:rPr>
              <a:t>(J2W internal data across 250+ placements)</a:t>
            </a:r>
            <a:endParaRPr lang="en-US" sz="1100" dirty="0">
              <a:solidFill>
                <a:schemeClr val="bg1"/>
              </a:solidFill>
              <a:latin typeface="Raleway" pitchFamily="2" charset="0"/>
            </a:endParaRPr>
          </a:p>
        </p:txBody>
      </p:sp>
      <p:sp>
        <p:nvSpPr>
          <p:cNvPr id="21" name="Text 11"/>
          <p:cNvSpPr txBox="1"/>
          <p:nvPr/>
        </p:nvSpPr>
        <p:spPr>
          <a:xfrm>
            <a:off x="8096098" y="4898875"/>
            <a:ext cx="3143707" cy="381305"/>
          </a:xfrm>
          <a:prstGeom prst="rect">
            <a:avLst/>
          </a:prstGeom>
          <a:noFill/>
          <a:ln/>
        </p:spPr>
        <p:txBody>
          <a:bodyPr wrap="none" lIns="0" tIns="0" rIns="0" bIns="0" rtlCol="0" anchor="ctr"/>
          <a:lstStyle/>
          <a:p>
            <a:pPr marL="0" indent="0" algn="l">
              <a:buNone/>
            </a:pPr>
            <a:r>
              <a:rPr lang="en-US" sz="3000" b="1" dirty="0">
                <a:solidFill>
                  <a:schemeClr val="bg1"/>
                </a:solidFill>
                <a:latin typeface="Raleway" pitchFamily="2" charset="0"/>
                <a:ea typeface="Fraunces" pitchFamily="34" charset="-122"/>
                <a:cs typeface="Fraunces" pitchFamily="34" charset="-120"/>
              </a:rPr>
              <a:t>8–12%</a:t>
            </a:r>
            <a:endParaRPr lang="en-US" sz="3000" dirty="0">
              <a:solidFill>
                <a:schemeClr val="bg1"/>
              </a:solidFill>
              <a:latin typeface="Raleway" pitchFamily="2" charset="0"/>
            </a:endParaRPr>
          </a:p>
        </p:txBody>
      </p:sp>
      <p:sp>
        <p:nvSpPr>
          <p:cNvPr id="22" name="Text 12"/>
          <p:cNvSpPr txBox="1"/>
          <p:nvPr/>
        </p:nvSpPr>
        <p:spPr>
          <a:xfrm>
            <a:off x="8096098" y="5359298"/>
            <a:ext cx="3143707" cy="365760"/>
          </a:xfrm>
          <a:prstGeom prst="rect">
            <a:avLst/>
          </a:prstGeom>
          <a:noFill/>
          <a:ln/>
        </p:spPr>
        <p:txBody>
          <a:bodyPr wrap="square" lIns="0" tIns="0" rIns="0" bIns="0" rtlCol="0" anchor="t"/>
          <a:lstStyle/>
          <a:p>
            <a:pPr marL="0" indent="0" algn="l">
              <a:lnSpc>
                <a:spcPts val="1365"/>
              </a:lnSpc>
              <a:buNone/>
            </a:pPr>
            <a:r>
              <a:rPr lang="en-US" sz="1100" b="1" dirty="0">
                <a:solidFill>
                  <a:schemeClr val="bg1"/>
                </a:solidFill>
                <a:latin typeface="Raleway" pitchFamily="2" charset="0"/>
                <a:ea typeface="Inter" pitchFamily="34" charset="-122"/>
                <a:cs typeface="Inter" pitchFamily="34" charset="-120"/>
              </a:rPr>
              <a:t>total 12-month cost reduction</a:t>
            </a:r>
            <a:endParaRPr lang="en-US" sz="1100" dirty="0">
              <a:solidFill>
                <a:schemeClr val="bg1"/>
              </a:solidFill>
              <a:latin typeface="Raleway" pitchFamily="2" charset="0"/>
            </a:endParaRPr>
          </a:p>
          <a:p>
            <a:pPr marL="0" indent="0" algn="l">
              <a:lnSpc>
                <a:spcPts val="1365"/>
              </a:lnSpc>
              <a:buNone/>
            </a:pPr>
            <a:r>
              <a:rPr lang="en-US" sz="1100" dirty="0">
                <a:solidFill>
                  <a:schemeClr val="bg1"/>
                </a:solidFill>
                <a:latin typeface="Raleway" pitchFamily="2" charset="0"/>
                <a:ea typeface="Inter" pitchFamily="34" charset="-122"/>
                <a:cs typeface="Inter" pitchFamily="34" charset="-120"/>
              </a:rPr>
              <a:t>(Day-366 conversion vs. direct hire)</a:t>
            </a:r>
            <a:endParaRPr lang="en-US" sz="1100" dirty="0">
              <a:solidFill>
                <a:schemeClr val="bg1"/>
              </a:solidFill>
              <a:latin typeface="Raleway" pitchFamily="2" charset="0"/>
            </a:endParaRPr>
          </a:p>
        </p:txBody>
      </p:sp>
      <p:sp>
        <p:nvSpPr>
          <p:cNvPr id="23" name="Text 13"/>
          <p:cNvSpPr txBox="1"/>
          <p:nvPr/>
        </p:nvSpPr>
        <p:spPr>
          <a:xfrm>
            <a:off x="619049" y="6174943"/>
            <a:ext cx="10954512" cy="419710"/>
          </a:xfrm>
          <a:prstGeom prst="rect">
            <a:avLst/>
          </a:prstGeom>
          <a:noFill/>
          <a:ln/>
        </p:spPr>
        <p:txBody>
          <a:bodyPr wrap="square" lIns="0" tIns="0" rIns="0" bIns="0" rtlCol="0" anchor="ctr"/>
          <a:lstStyle/>
          <a:p>
            <a:pPr marL="0" indent="0" algn="l">
              <a:buNone/>
            </a:pPr>
            <a:r>
              <a:rPr lang="en-US" sz="1200" b="1" dirty="0">
                <a:solidFill>
                  <a:srgbClr val="1F2A44"/>
                </a:solidFill>
                <a:latin typeface="Raleway" pitchFamily="2" charset="0"/>
                <a:ea typeface="Inter" pitchFamily="34" charset="-122"/>
                <a:cs typeface="Inter" pitchFamily="34" charset="-120"/>
              </a:rPr>
              <a:t>Strategic Hiring is not compromise; it is strategic optionality</a:t>
            </a:r>
            <a:r>
              <a:rPr lang="en-US" sz="1200" dirty="0">
                <a:solidFill>
                  <a:srgbClr val="1F2A44"/>
                </a:solidFill>
                <a:latin typeface="Raleway" pitchFamily="2" charset="0"/>
                <a:ea typeface="Inter" pitchFamily="34" charset="-122"/>
                <a:cs typeface="Inter" pitchFamily="34" charset="-120"/>
              </a:rPr>
              <a:t> – allowing client to acquire transformational talent with performance certainty, while J2W's operational infrastructure absorbs execution risk.</a:t>
            </a:r>
            <a:endParaRPr lang="en-US" sz="1200" dirty="0">
              <a:latin typeface="Raleway" pitchFamily="2"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7A9A2-3F80-FB51-FBFF-C64E567053A3}"/>
            </a:ext>
          </a:extLst>
        </p:cNvPr>
        <p:cNvGrpSpPr/>
        <p:nvPr/>
      </p:nvGrpSpPr>
      <p:grpSpPr>
        <a:xfrm>
          <a:off x="0" y="0"/>
          <a:ext cx="0" cy="0"/>
          <a:chOff x="0" y="0"/>
          <a:chExt cx="0" cy="0"/>
        </a:xfrm>
      </p:grpSpPr>
      <p:sp>
        <p:nvSpPr>
          <p:cNvPr id="83" name="Google Shape;1167;p28">
            <a:extLst>
              <a:ext uri="{FF2B5EF4-FFF2-40B4-BE49-F238E27FC236}">
                <a16:creationId xmlns:a16="http://schemas.microsoft.com/office/drawing/2014/main" id="{716471D0-FF9C-103A-34D0-08F23B2D1462}"/>
              </a:ext>
            </a:extLst>
          </p:cNvPr>
          <p:cNvSpPr/>
          <p:nvPr/>
        </p:nvSpPr>
        <p:spPr>
          <a:xfrm>
            <a:off x="2440104" y="2160244"/>
            <a:ext cx="11477" cy="704858"/>
          </a:xfrm>
          <a:custGeom>
            <a:avLst/>
            <a:gdLst/>
            <a:ahLst/>
            <a:cxnLst/>
            <a:rect l="l" t="t" r="r" b="b"/>
            <a:pathLst>
              <a:path w="323" h="19837" extrusionOk="0">
                <a:moveTo>
                  <a:pt x="156" y="1"/>
                </a:moveTo>
                <a:cubicBezTo>
                  <a:pt x="72" y="1"/>
                  <a:pt x="1" y="72"/>
                  <a:pt x="1" y="156"/>
                </a:cubicBezTo>
                <a:lnTo>
                  <a:pt x="1" y="19682"/>
                </a:lnTo>
                <a:cubicBezTo>
                  <a:pt x="1" y="19765"/>
                  <a:pt x="72" y="19837"/>
                  <a:pt x="156" y="19837"/>
                </a:cubicBezTo>
                <a:cubicBezTo>
                  <a:pt x="251" y="19837"/>
                  <a:pt x="322" y="19765"/>
                  <a:pt x="322" y="19682"/>
                </a:cubicBezTo>
                <a:lnTo>
                  <a:pt x="322" y="156"/>
                </a:lnTo>
                <a:cubicBezTo>
                  <a:pt x="322" y="72"/>
                  <a:pt x="251" y="1"/>
                  <a:pt x="156" y="1"/>
                </a:cubicBezTo>
                <a:close/>
              </a:path>
            </a:pathLst>
          </a:custGeom>
          <a:solidFill>
            <a:srgbClr val="000000"/>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grpSp>
        <p:nvGrpSpPr>
          <p:cNvPr id="85" name="Google Shape;1169;p28">
            <a:extLst>
              <a:ext uri="{FF2B5EF4-FFF2-40B4-BE49-F238E27FC236}">
                <a16:creationId xmlns:a16="http://schemas.microsoft.com/office/drawing/2014/main" id="{8A541D6C-1626-CF66-4AE8-55E6D3A00B4B}"/>
              </a:ext>
            </a:extLst>
          </p:cNvPr>
          <p:cNvGrpSpPr/>
          <p:nvPr/>
        </p:nvGrpSpPr>
        <p:grpSpPr>
          <a:xfrm>
            <a:off x="4138719" y="969718"/>
            <a:ext cx="1291642" cy="2101441"/>
            <a:chOff x="4509810" y="1070674"/>
            <a:chExt cx="1291642" cy="2101441"/>
          </a:xfrm>
        </p:grpSpPr>
        <p:sp>
          <p:nvSpPr>
            <p:cNvPr id="86" name="Google Shape;1170;p28">
              <a:extLst>
                <a:ext uri="{FF2B5EF4-FFF2-40B4-BE49-F238E27FC236}">
                  <a16:creationId xmlns:a16="http://schemas.microsoft.com/office/drawing/2014/main" id="{399D75F4-7A53-9473-FBEF-A2EE2F18D56C}"/>
                </a:ext>
              </a:extLst>
            </p:cNvPr>
            <p:cNvSpPr/>
            <p:nvPr/>
          </p:nvSpPr>
          <p:spPr>
            <a:xfrm>
              <a:off x="5146097" y="2261200"/>
              <a:ext cx="11441" cy="704858"/>
            </a:xfrm>
            <a:custGeom>
              <a:avLst/>
              <a:gdLst/>
              <a:ahLst/>
              <a:cxnLst/>
              <a:rect l="l" t="t" r="r" b="b"/>
              <a:pathLst>
                <a:path w="322" h="19837" extrusionOk="0">
                  <a:moveTo>
                    <a:pt x="155" y="1"/>
                  </a:moveTo>
                  <a:cubicBezTo>
                    <a:pt x="72" y="1"/>
                    <a:pt x="1" y="72"/>
                    <a:pt x="1" y="156"/>
                  </a:cubicBezTo>
                  <a:lnTo>
                    <a:pt x="1" y="19682"/>
                  </a:lnTo>
                  <a:cubicBezTo>
                    <a:pt x="1" y="19765"/>
                    <a:pt x="72" y="19837"/>
                    <a:pt x="155" y="19837"/>
                  </a:cubicBezTo>
                  <a:cubicBezTo>
                    <a:pt x="251" y="19837"/>
                    <a:pt x="322" y="19765"/>
                    <a:pt x="322" y="19682"/>
                  </a:cubicBezTo>
                  <a:lnTo>
                    <a:pt x="322" y="156"/>
                  </a:lnTo>
                  <a:cubicBezTo>
                    <a:pt x="322" y="72"/>
                    <a:pt x="251" y="1"/>
                    <a:pt x="155" y="1"/>
                  </a:cubicBezTo>
                  <a:close/>
                </a:path>
              </a:pathLst>
            </a:custGeom>
            <a:solidFill>
              <a:srgbClr val="000000"/>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grpSp>
          <p:nvGrpSpPr>
            <p:cNvPr id="87" name="Google Shape;1171;p28">
              <a:extLst>
                <a:ext uri="{FF2B5EF4-FFF2-40B4-BE49-F238E27FC236}">
                  <a16:creationId xmlns:a16="http://schemas.microsoft.com/office/drawing/2014/main" id="{34468A44-505F-2527-2E43-6ADCB8F47E51}"/>
                </a:ext>
              </a:extLst>
            </p:cNvPr>
            <p:cNvGrpSpPr/>
            <p:nvPr/>
          </p:nvGrpSpPr>
          <p:grpSpPr>
            <a:xfrm>
              <a:off x="4989575" y="1647760"/>
              <a:ext cx="332122" cy="501793"/>
              <a:chOff x="4989575" y="1647760"/>
              <a:chExt cx="332122" cy="501793"/>
            </a:xfrm>
          </p:grpSpPr>
          <p:sp>
            <p:nvSpPr>
              <p:cNvPr id="91" name="Google Shape;1172;p28">
                <a:extLst>
                  <a:ext uri="{FF2B5EF4-FFF2-40B4-BE49-F238E27FC236}">
                    <a16:creationId xmlns:a16="http://schemas.microsoft.com/office/drawing/2014/main" id="{52E165A7-C1D7-660D-F7DB-7CEEA3FF8367}"/>
                  </a:ext>
                </a:extLst>
              </p:cNvPr>
              <p:cNvSpPr/>
              <p:nvPr/>
            </p:nvSpPr>
            <p:spPr>
              <a:xfrm>
                <a:off x="4989575" y="1836476"/>
                <a:ext cx="332122" cy="313077"/>
              </a:xfrm>
              <a:custGeom>
                <a:avLst/>
                <a:gdLst/>
                <a:ahLst/>
                <a:cxnLst/>
                <a:rect l="l" t="t" r="r" b="b"/>
                <a:pathLst>
                  <a:path w="9347" h="8811" extrusionOk="0">
                    <a:moveTo>
                      <a:pt x="8096" y="214"/>
                    </a:moveTo>
                    <a:cubicBezTo>
                      <a:pt x="8668" y="214"/>
                      <a:pt x="9132" y="679"/>
                      <a:pt x="9132" y="1238"/>
                    </a:cubicBezTo>
                    <a:lnTo>
                      <a:pt x="9132" y="7561"/>
                    </a:lnTo>
                    <a:cubicBezTo>
                      <a:pt x="9132" y="8132"/>
                      <a:pt x="8668" y="8596"/>
                      <a:pt x="8096" y="8596"/>
                    </a:cubicBezTo>
                    <a:lnTo>
                      <a:pt x="1250" y="8596"/>
                    </a:lnTo>
                    <a:cubicBezTo>
                      <a:pt x="679" y="8596"/>
                      <a:pt x="226" y="8132"/>
                      <a:pt x="226" y="7561"/>
                    </a:cubicBezTo>
                    <a:lnTo>
                      <a:pt x="226" y="1238"/>
                    </a:lnTo>
                    <a:cubicBezTo>
                      <a:pt x="226" y="679"/>
                      <a:pt x="679" y="214"/>
                      <a:pt x="1250" y="214"/>
                    </a:cubicBezTo>
                    <a:close/>
                    <a:moveTo>
                      <a:pt x="1250" y="0"/>
                    </a:moveTo>
                    <a:cubicBezTo>
                      <a:pt x="560" y="0"/>
                      <a:pt x="0" y="560"/>
                      <a:pt x="0" y="1238"/>
                    </a:cubicBezTo>
                    <a:lnTo>
                      <a:pt x="0" y="7561"/>
                    </a:lnTo>
                    <a:cubicBezTo>
                      <a:pt x="0" y="8251"/>
                      <a:pt x="560" y="8811"/>
                      <a:pt x="1250" y="8811"/>
                    </a:cubicBezTo>
                    <a:lnTo>
                      <a:pt x="8096" y="8811"/>
                    </a:lnTo>
                    <a:cubicBezTo>
                      <a:pt x="8787" y="8811"/>
                      <a:pt x="9347" y="8251"/>
                      <a:pt x="9347" y="7561"/>
                    </a:cubicBezTo>
                    <a:lnTo>
                      <a:pt x="9347" y="1238"/>
                    </a:lnTo>
                    <a:cubicBezTo>
                      <a:pt x="9347" y="560"/>
                      <a:pt x="8787" y="0"/>
                      <a:pt x="8096" y="0"/>
                    </a:cubicBezTo>
                    <a:close/>
                  </a:path>
                </a:pathLst>
              </a:custGeom>
              <a:solidFill>
                <a:srgbClr val="4949E7"/>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92" name="Google Shape;1173;p28">
                <a:extLst>
                  <a:ext uri="{FF2B5EF4-FFF2-40B4-BE49-F238E27FC236}">
                    <a16:creationId xmlns:a16="http://schemas.microsoft.com/office/drawing/2014/main" id="{C339217B-76D8-33B2-225D-BCB57B79E556}"/>
                  </a:ext>
                </a:extLst>
              </p:cNvPr>
              <p:cNvSpPr/>
              <p:nvPr/>
            </p:nvSpPr>
            <p:spPr>
              <a:xfrm>
                <a:off x="5137214" y="1879186"/>
                <a:ext cx="143018" cy="189566"/>
              </a:xfrm>
              <a:custGeom>
                <a:avLst/>
                <a:gdLst/>
                <a:ahLst/>
                <a:cxnLst/>
                <a:rect l="l" t="t" r="r" b="b"/>
                <a:pathLst>
                  <a:path w="4025" h="5335" extrusionOk="0">
                    <a:moveTo>
                      <a:pt x="108" y="1"/>
                    </a:moveTo>
                    <a:cubicBezTo>
                      <a:pt x="48" y="1"/>
                      <a:pt x="1" y="48"/>
                      <a:pt x="1" y="108"/>
                    </a:cubicBezTo>
                    <a:cubicBezTo>
                      <a:pt x="1" y="167"/>
                      <a:pt x="48" y="227"/>
                      <a:pt x="108" y="227"/>
                    </a:cubicBezTo>
                    <a:lnTo>
                      <a:pt x="3168" y="227"/>
                    </a:lnTo>
                    <a:cubicBezTo>
                      <a:pt x="3513" y="227"/>
                      <a:pt x="3799" y="513"/>
                      <a:pt x="3799" y="858"/>
                    </a:cubicBezTo>
                    <a:lnTo>
                      <a:pt x="3799" y="5227"/>
                    </a:lnTo>
                    <a:cubicBezTo>
                      <a:pt x="3799" y="5287"/>
                      <a:pt x="3846" y="5335"/>
                      <a:pt x="3906" y="5335"/>
                    </a:cubicBezTo>
                    <a:cubicBezTo>
                      <a:pt x="3977" y="5335"/>
                      <a:pt x="4025" y="5287"/>
                      <a:pt x="4025" y="5227"/>
                    </a:cubicBezTo>
                    <a:lnTo>
                      <a:pt x="4025" y="858"/>
                    </a:lnTo>
                    <a:cubicBezTo>
                      <a:pt x="4025" y="382"/>
                      <a:pt x="3632" y="1"/>
                      <a:pt x="3168" y="1"/>
                    </a:cubicBezTo>
                    <a:close/>
                  </a:path>
                </a:pathLst>
              </a:custGeom>
              <a:solidFill>
                <a:srgbClr val="4949E7"/>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93" name="Google Shape;1174;p28">
                <a:extLst>
                  <a:ext uri="{FF2B5EF4-FFF2-40B4-BE49-F238E27FC236}">
                    <a16:creationId xmlns:a16="http://schemas.microsoft.com/office/drawing/2014/main" id="{EABA45A2-47DB-D472-A97E-8D9D3FB7B98F}"/>
                  </a:ext>
                </a:extLst>
              </p:cNvPr>
              <p:cNvSpPr/>
              <p:nvPr/>
            </p:nvSpPr>
            <p:spPr>
              <a:xfrm>
                <a:off x="5043727" y="1647760"/>
                <a:ext cx="224246" cy="196353"/>
              </a:xfrm>
              <a:custGeom>
                <a:avLst/>
                <a:gdLst/>
                <a:ahLst/>
                <a:cxnLst/>
                <a:rect l="l" t="t" r="r" b="b"/>
                <a:pathLst>
                  <a:path w="6311" h="5526" extrusionOk="0">
                    <a:moveTo>
                      <a:pt x="3346" y="215"/>
                    </a:moveTo>
                    <a:cubicBezTo>
                      <a:pt x="4858" y="215"/>
                      <a:pt x="6084" y="1454"/>
                      <a:pt x="6084" y="2954"/>
                    </a:cubicBezTo>
                    <a:lnTo>
                      <a:pt x="6084" y="5311"/>
                    </a:lnTo>
                    <a:lnTo>
                      <a:pt x="215" y="5311"/>
                    </a:lnTo>
                    <a:lnTo>
                      <a:pt x="215" y="2954"/>
                    </a:lnTo>
                    <a:cubicBezTo>
                      <a:pt x="215" y="1454"/>
                      <a:pt x="1441" y="215"/>
                      <a:pt x="2953" y="215"/>
                    </a:cubicBezTo>
                    <a:close/>
                    <a:moveTo>
                      <a:pt x="2953" y="1"/>
                    </a:moveTo>
                    <a:cubicBezTo>
                      <a:pt x="1322" y="1"/>
                      <a:pt x="0" y="1323"/>
                      <a:pt x="0" y="2954"/>
                    </a:cubicBezTo>
                    <a:lnTo>
                      <a:pt x="0" y="5525"/>
                    </a:lnTo>
                    <a:lnTo>
                      <a:pt x="6311" y="5525"/>
                    </a:lnTo>
                    <a:lnTo>
                      <a:pt x="6311" y="2954"/>
                    </a:lnTo>
                    <a:cubicBezTo>
                      <a:pt x="6311" y="1323"/>
                      <a:pt x="4977" y="1"/>
                      <a:pt x="3346" y="1"/>
                    </a:cubicBezTo>
                    <a:close/>
                  </a:path>
                </a:pathLst>
              </a:custGeom>
              <a:solidFill>
                <a:srgbClr val="4949E7"/>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94" name="Google Shape;1175;p28">
                <a:extLst>
                  <a:ext uri="{FF2B5EF4-FFF2-40B4-BE49-F238E27FC236}">
                    <a16:creationId xmlns:a16="http://schemas.microsoft.com/office/drawing/2014/main" id="{9533EEE9-9EFA-7A6B-FDC5-46443D3DDF9F}"/>
                  </a:ext>
                </a:extLst>
              </p:cNvPr>
              <p:cNvSpPr/>
              <p:nvPr/>
            </p:nvSpPr>
            <p:spPr>
              <a:xfrm>
                <a:off x="5068245" y="1676542"/>
                <a:ext cx="175175" cy="167571"/>
              </a:xfrm>
              <a:custGeom>
                <a:avLst/>
                <a:gdLst/>
                <a:ahLst/>
                <a:cxnLst/>
                <a:rect l="l" t="t" r="r" b="b"/>
                <a:pathLst>
                  <a:path w="4930" h="4716" extrusionOk="0">
                    <a:moveTo>
                      <a:pt x="2620" y="215"/>
                    </a:moveTo>
                    <a:cubicBezTo>
                      <a:pt x="3775" y="215"/>
                      <a:pt x="4716" y="1155"/>
                      <a:pt x="4716" y="2310"/>
                    </a:cubicBezTo>
                    <a:lnTo>
                      <a:pt x="4716" y="4501"/>
                    </a:lnTo>
                    <a:lnTo>
                      <a:pt x="215" y="4501"/>
                    </a:lnTo>
                    <a:lnTo>
                      <a:pt x="215" y="2310"/>
                    </a:lnTo>
                    <a:cubicBezTo>
                      <a:pt x="215" y="1155"/>
                      <a:pt x="1156" y="215"/>
                      <a:pt x="2311" y="215"/>
                    </a:cubicBezTo>
                    <a:close/>
                    <a:moveTo>
                      <a:pt x="2311" y="1"/>
                    </a:moveTo>
                    <a:cubicBezTo>
                      <a:pt x="1037" y="1"/>
                      <a:pt x="1" y="1036"/>
                      <a:pt x="1" y="2310"/>
                    </a:cubicBezTo>
                    <a:lnTo>
                      <a:pt x="1" y="4715"/>
                    </a:lnTo>
                    <a:lnTo>
                      <a:pt x="4930" y="4715"/>
                    </a:lnTo>
                    <a:lnTo>
                      <a:pt x="4930" y="2310"/>
                    </a:lnTo>
                    <a:cubicBezTo>
                      <a:pt x="4930" y="1036"/>
                      <a:pt x="3894" y="1"/>
                      <a:pt x="2620" y="1"/>
                    </a:cubicBezTo>
                    <a:close/>
                  </a:path>
                </a:pathLst>
              </a:custGeom>
              <a:solidFill>
                <a:srgbClr val="4949E7"/>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grpSp>
        <p:sp>
          <p:nvSpPr>
            <p:cNvPr id="88" name="Google Shape;1176;p28">
              <a:extLst>
                <a:ext uri="{FF2B5EF4-FFF2-40B4-BE49-F238E27FC236}">
                  <a16:creationId xmlns:a16="http://schemas.microsoft.com/office/drawing/2014/main" id="{FC9A0794-6D05-4A9F-77EC-859EA4A2F9CB}"/>
                </a:ext>
              </a:extLst>
            </p:cNvPr>
            <p:cNvSpPr/>
            <p:nvPr/>
          </p:nvSpPr>
          <p:spPr>
            <a:xfrm>
              <a:off x="4509810" y="2732081"/>
              <a:ext cx="1291642" cy="440034"/>
            </a:xfrm>
            <a:custGeom>
              <a:avLst/>
              <a:gdLst/>
              <a:ahLst/>
              <a:cxnLst/>
              <a:rect l="l" t="t" r="r" b="b"/>
              <a:pathLst>
                <a:path w="36351" h="12384" extrusionOk="0">
                  <a:moveTo>
                    <a:pt x="1" y="1"/>
                  </a:moveTo>
                  <a:lnTo>
                    <a:pt x="1" y="1358"/>
                  </a:lnTo>
                  <a:cubicBezTo>
                    <a:pt x="2429" y="1644"/>
                    <a:pt x="4311" y="3692"/>
                    <a:pt x="4311" y="6192"/>
                  </a:cubicBezTo>
                  <a:cubicBezTo>
                    <a:pt x="4311" y="8692"/>
                    <a:pt x="2429" y="10752"/>
                    <a:pt x="1" y="11038"/>
                  </a:cubicBezTo>
                  <a:lnTo>
                    <a:pt x="1" y="12383"/>
                  </a:lnTo>
                  <a:lnTo>
                    <a:pt x="32040" y="12383"/>
                  </a:lnTo>
                  <a:lnTo>
                    <a:pt x="32040" y="10502"/>
                  </a:lnTo>
                  <a:cubicBezTo>
                    <a:pt x="34422" y="10502"/>
                    <a:pt x="36350" y="8573"/>
                    <a:pt x="36350" y="6192"/>
                  </a:cubicBezTo>
                  <a:cubicBezTo>
                    <a:pt x="36350" y="3823"/>
                    <a:pt x="34422" y="1894"/>
                    <a:pt x="32040" y="1894"/>
                  </a:cubicBezTo>
                  <a:lnTo>
                    <a:pt x="32040" y="1"/>
                  </a:lnTo>
                  <a:close/>
                </a:path>
              </a:pathLst>
            </a:custGeom>
            <a:solidFill>
              <a:schemeClr val="accent1"/>
            </a:solidFill>
            <a:ln>
              <a:noFill/>
            </a:ln>
          </p:spPr>
          <p:txBody>
            <a:bodyPr spcFirstLastPara="1" wrap="square" lIns="91425" tIns="91425" rIns="91425" bIns="91425" anchor="ctr" anchorCtr="0">
              <a:noAutofit/>
            </a:bodyPr>
            <a:lstStyle/>
            <a:p>
              <a:pPr algn="ctr">
                <a:buClr>
                  <a:srgbClr val="000000"/>
                </a:buClr>
                <a:buFont typeface="Arial"/>
                <a:buNone/>
              </a:pPr>
              <a:r>
                <a:rPr lang="en" sz="1400" kern="0">
                  <a:solidFill>
                    <a:srgbClr val="FFFFFF"/>
                  </a:solidFill>
                  <a:latin typeface="Oswald" panose="00000500000000000000" pitchFamily="2" charset="0"/>
                  <a:ea typeface="Fira Sans Extra Condensed Medium"/>
                  <a:cs typeface="Fira Sans Extra Condensed Medium"/>
                  <a:sym typeface="Fira Sans Extra Condensed Medium"/>
                </a:rPr>
                <a:t>Phase 4</a:t>
              </a:r>
              <a:endParaRPr sz="1400" kern="0">
                <a:solidFill>
                  <a:srgbClr val="FFFFFF"/>
                </a:solidFill>
                <a:latin typeface="Oswald" panose="00000500000000000000" pitchFamily="2" charset="0"/>
                <a:ea typeface="Fira Sans Extra Condensed Medium"/>
                <a:cs typeface="Fira Sans Extra Condensed Medium"/>
                <a:sym typeface="Fira Sans Extra Condensed Medium"/>
              </a:endParaRPr>
            </a:p>
          </p:txBody>
        </p:sp>
        <p:sp>
          <p:nvSpPr>
            <p:cNvPr id="89" name="Google Shape;1177;p28">
              <a:extLst>
                <a:ext uri="{FF2B5EF4-FFF2-40B4-BE49-F238E27FC236}">
                  <a16:creationId xmlns:a16="http://schemas.microsoft.com/office/drawing/2014/main" id="{373F2C13-5F7E-7D5B-C108-440C87EF50C3}"/>
                </a:ext>
              </a:extLst>
            </p:cNvPr>
            <p:cNvSpPr/>
            <p:nvPr/>
          </p:nvSpPr>
          <p:spPr>
            <a:xfrm>
              <a:off x="5120300" y="2235403"/>
              <a:ext cx="63070" cy="63070"/>
            </a:xfrm>
            <a:custGeom>
              <a:avLst/>
              <a:gdLst/>
              <a:ahLst/>
              <a:cxnLst/>
              <a:rect l="l" t="t" r="r" b="b"/>
              <a:pathLst>
                <a:path w="1775" h="1775" extrusionOk="0">
                  <a:moveTo>
                    <a:pt x="881" y="1"/>
                  </a:moveTo>
                  <a:cubicBezTo>
                    <a:pt x="393" y="1"/>
                    <a:pt x="0" y="394"/>
                    <a:pt x="0" y="882"/>
                  </a:cubicBezTo>
                  <a:cubicBezTo>
                    <a:pt x="0" y="1382"/>
                    <a:pt x="393" y="1775"/>
                    <a:pt x="881" y="1775"/>
                  </a:cubicBezTo>
                  <a:cubicBezTo>
                    <a:pt x="1381" y="1775"/>
                    <a:pt x="1774" y="1382"/>
                    <a:pt x="1774" y="882"/>
                  </a:cubicBezTo>
                  <a:cubicBezTo>
                    <a:pt x="1774" y="394"/>
                    <a:pt x="1381" y="1"/>
                    <a:pt x="881" y="1"/>
                  </a:cubicBezTo>
                  <a:close/>
                </a:path>
              </a:pathLst>
            </a:custGeom>
            <a:solidFill>
              <a:srgbClr val="000000"/>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90" name="Google Shape;1178;p28">
              <a:extLst>
                <a:ext uri="{FF2B5EF4-FFF2-40B4-BE49-F238E27FC236}">
                  <a16:creationId xmlns:a16="http://schemas.microsoft.com/office/drawing/2014/main" id="{14687F98-091A-C7F3-3D07-F2C41B196118}"/>
                </a:ext>
              </a:extLst>
            </p:cNvPr>
            <p:cNvSpPr txBox="1"/>
            <p:nvPr/>
          </p:nvSpPr>
          <p:spPr>
            <a:xfrm>
              <a:off x="4599720" y="1070674"/>
              <a:ext cx="1167300" cy="534900"/>
            </a:xfrm>
            <a:prstGeom prst="rect">
              <a:avLst/>
            </a:prstGeom>
            <a:noFill/>
            <a:ln>
              <a:noFill/>
            </a:ln>
          </p:spPr>
          <p:txBody>
            <a:bodyPr spcFirstLastPara="1" wrap="square" lIns="91425" tIns="91425" rIns="91425" bIns="91425" anchor="ctr" anchorCtr="0">
              <a:noAutofit/>
            </a:bodyPr>
            <a:lstStyle/>
            <a:p>
              <a:pPr algn="ctr">
                <a:buClr>
                  <a:srgbClr val="000000"/>
                </a:buClr>
                <a:buFont typeface="Arial"/>
                <a:buNone/>
              </a:pPr>
              <a:r>
                <a:rPr lang="en" sz="1500" kern="0">
                  <a:solidFill>
                    <a:srgbClr val="434343"/>
                  </a:solidFill>
                  <a:latin typeface="Oswald" panose="00000500000000000000" pitchFamily="2" charset="0"/>
                  <a:ea typeface="Roboto"/>
                  <a:cs typeface="Roboto"/>
                  <a:sym typeface="Roboto"/>
                </a:rPr>
                <a:t>BGV Initiation</a:t>
              </a:r>
              <a:endParaRPr sz="1500" kern="0">
                <a:solidFill>
                  <a:srgbClr val="434343"/>
                </a:solidFill>
                <a:latin typeface="Oswald" panose="00000500000000000000" pitchFamily="2" charset="0"/>
                <a:ea typeface="Roboto"/>
                <a:cs typeface="Roboto"/>
                <a:sym typeface="Roboto"/>
              </a:endParaRPr>
            </a:p>
          </p:txBody>
        </p:sp>
      </p:grpSp>
      <p:grpSp>
        <p:nvGrpSpPr>
          <p:cNvPr id="95" name="Google Shape;1179;p28">
            <a:extLst>
              <a:ext uri="{FF2B5EF4-FFF2-40B4-BE49-F238E27FC236}">
                <a16:creationId xmlns:a16="http://schemas.microsoft.com/office/drawing/2014/main" id="{A3BB47C8-D0E8-D9C2-29C7-A00A40917F36}"/>
              </a:ext>
            </a:extLst>
          </p:cNvPr>
          <p:cNvGrpSpPr/>
          <p:nvPr/>
        </p:nvGrpSpPr>
        <p:grpSpPr>
          <a:xfrm>
            <a:off x="5285232" y="969718"/>
            <a:ext cx="1355430" cy="2101441"/>
            <a:chOff x="5656323" y="1070674"/>
            <a:chExt cx="1355430" cy="2101441"/>
          </a:xfrm>
        </p:grpSpPr>
        <p:sp>
          <p:nvSpPr>
            <p:cNvPr id="96" name="Google Shape;1180;p28">
              <a:extLst>
                <a:ext uri="{FF2B5EF4-FFF2-40B4-BE49-F238E27FC236}">
                  <a16:creationId xmlns:a16="http://schemas.microsoft.com/office/drawing/2014/main" id="{D526E92E-4508-31E0-93DD-75CF9142BD08}"/>
                </a:ext>
              </a:extLst>
            </p:cNvPr>
            <p:cNvSpPr/>
            <p:nvPr/>
          </p:nvSpPr>
          <p:spPr>
            <a:xfrm>
              <a:off x="6313317" y="2261200"/>
              <a:ext cx="11477" cy="704858"/>
            </a:xfrm>
            <a:custGeom>
              <a:avLst/>
              <a:gdLst/>
              <a:ahLst/>
              <a:cxnLst/>
              <a:rect l="l" t="t" r="r" b="b"/>
              <a:pathLst>
                <a:path w="323" h="19837" extrusionOk="0">
                  <a:moveTo>
                    <a:pt x="168" y="1"/>
                  </a:moveTo>
                  <a:cubicBezTo>
                    <a:pt x="72" y="1"/>
                    <a:pt x="1" y="72"/>
                    <a:pt x="1" y="156"/>
                  </a:cubicBezTo>
                  <a:lnTo>
                    <a:pt x="1" y="19682"/>
                  </a:lnTo>
                  <a:cubicBezTo>
                    <a:pt x="1" y="19765"/>
                    <a:pt x="72" y="19837"/>
                    <a:pt x="168" y="19837"/>
                  </a:cubicBezTo>
                  <a:cubicBezTo>
                    <a:pt x="251" y="19837"/>
                    <a:pt x="322" y="19765"/>
                    <a:pt x="322" y="19682"/>
                  </a:cubicBezTo>
                  <a:lnTo>
                    <a:pt x="322" y="156"/>
                  </a:lnTo>
                  <a:cubicBezTo>
                    <a:pt x="322" y="72"/>
                    <a:pt x="251" y="1"/>
                    <a:pt x="168" y="1"/>
                  </a:cubicBezTo>
                  <a:close/>
                </a:path>
              </a:pathLst>
            </a:custGeom>
            <a:solidFill>
              <a:srgbClr val="000000"/>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grpSp>
          <p:nvGrpSpPr>
            <p:cNvPr id="97" name="Google Shape;1181;p28">
              <a:extLst>
                <a:ext uri="{FF2B5EF4-FFF2-40B4-BE49-F238E27FC236}">
                  <a16:creationId xmlns:a16="http://schemas.microsoft.com/office/drawing/2014/main" id="{4D1CBBC3-6EC6-39B5-9116-967996FCB4F7}"/>
                </a:ext>
              </a:extLst>
            </p:cNvPr>
            <p:cNvGrpSpPr/>
            <p:nvPr/>
          </p:nvGrpSpPr>
          <p:grpSpPr>
            <a:xfrm>
              <a:off x="6086582" y="1676116"/>
              <a:ext cx="337630" cy="473435"/>
              <a:chOff x="6086582" y="1676116"/>
              <a:chExt cx="337630" cy="473435"/>
            </a:xfrm>
          </p:grpSpPr>
          <p:sp>
            <p:nvSpPr>
              <p:cNvPr id="101" name="Google Shape;1182;p28">
                <a:extLst>
                  <a:ext uri="{FF2B5EF4-FFF2-40B4-BE49-F238E27FC236}">
                    <a16:creationId xmlns:a16="http://schemas.microsoft.com/office/drawing/2014/main" id="{07AFAA24-89E9-29B3-B55B-37B214D1C1C0}"/>
                  </a:ext>
                </a:extLst>
              </p:cNvPr>
              <p:cNvSpPr/>
              <p:nvPr/>
            </p:nvSpPr>
            <p:spPr>
              <a:xfrm>
                <a:off x="6248185" y="1819526"/>
                <a:ext cx="63923" cy="111750"/>
              </a:xfrm>
              <a:custGeom>
                <a:avLst/>
                <a:gdLst/>
                <a:ahLst/>
                <a:cxnLst/>
                <a:rect l="l" t="t" r="r" b="b"/>
                <a:pathLst>
                  <a:path w="1799" h="3145" extrusionOk="0">
                    <a:moveTo>
                      <a:pt x="841" y="1"/>
                    </a:moveTo>
                    <a:cubicBezTo>
                      <a:pt x="574" y="1"/>
                      <a:pt x="127" y="12"/>
                      <a:pt x="12" y="632"/>
                    </a:cubicBezTo>
                    <a:cubicBezTo>
                      <a:pt x="0" y="691"/>
                      <a:pt x="36" y="751"/>
                      <a:pt x="96" y="763"/>
                    </a:cubicBezTo>
                    <a:cubicBezTo>
                      <a:pt x="103" y="764"/>
                      <a:pt x="111" y="765"/>
                      <a:pt x="119" y="765"/>
                    </a:cubicBezTo>
                    <a:cubicBezTo>
                      <a:pt x="170" y="765"/>
                      <a:pt x="216" y="731"/>
                      <a:pt x="227" y="680"/>
                    </a:cubicBezTo>
                    <a:cubicBezTo>
                      <a:pt x="310" y="215"/>
                      <a:pt x="596" y="215"/>
                      <a:pt x="858" y="215"/>
                    </a:cubicBezTo>
                    <a:lnTo>
                      <a:pt x="929" y="215"/>
                    </a:lnTo>
                    <a:cubicBezTo>
                      <a:pt x="1108" y="215"/>
                      <a:pt x="1584" y="322"/>
                      <a:pt x="1584" y="799"/>
                    </a:cubicBezTo>
                    <a:lnTo>
                      <a:pt x="1584" y="3037"/>
                    </a:lnTo>
                    <a:cubicBezTo>
                      <a:pt x="1584" y="3097"/>
                      <a:pt x="1631" y="3144"/>
                      <a:pt x="1691" y="3144"/>
                    </a:cubicBezTo>
                    <a:cubicBezTo>
                      <a:pt x="1751" y="3144"/>
                      <a:pt x="1798" y="3097"/>
                      <a:pt x="1798" y="3037"/>
                    </a:cubicBezTo>
                    <a:lnTo>
                      <a:pt x="1798" y="799"/>
                    </a:lnTo>
                    <a:cubicBezTo>
                      <a:pt x="1798" y="215"/>
                      <a:pt x="1262" y="1"/>
                      <a:pt x="929" y="1"/>
                    </a:cubicBezTo>
                    <a:lnTo>
                      <a:pt x="869" y="1"/>
                    </a:lnTo>
                    <a:cubicBezTo>
                      <a:pt x="860" y="1"/>
                      <a:pt x="850" y="1"/>
                      <a:pt x="841" y="1"/>
                    </a:cubicBezTo>
                    <a:close/>
                  </a:path>
                </a:pathLst>
              </a:custGeom>
              <a:solidFill>
                <a:srgbClr val="EC3A3B"/>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02" name="Google Shape;1183;p28">
                <a:extLst>
                  <a:ext uri="{FF2B5EF4-FFF2-40B4-BE49-F238E27FC236}">
                    <a16:creationId xmlns:a16="http://schemas.microsoft.com/office/drawing/2014/main" id="{ECB7326C-28AB-D4D6-E474-602D018B6A99}"/>
                  </a:ext>
                </a:extLst>
              </p:cNvPr>
              <p:cNvSpPr/>
              <p:nvPr/>
            </p:nvSpPr>
            <p:spPr>
              <a:xfrm>
                <a:off x="6304008" y="1819526"/>
                <a:ext cx="63923" cy="111750"/>
              </a:xfrm>
              <a:custGeom>
                <a:avLst/>
                <a:gdLst/>
                <a:ahLst/>
                <a:cxnLst/>
                <a:rect l="l" t="t" r="r" b="b"/>
                <a:pathLst>
                  <a:path w="1799" h="3145" extrusionOk="0">
                    <a:moveTo>
                      <a:pt x="841" y="1"/>
                    </a:moveTo>
                    <a:cubicBezTo>
                      <a:pt x="575" y="1"/>
                      <a:pt x="128" y="12"/>
                      <a:pt x="13" y="632"/>
                    </a:cubicBezTo>
                    <a:cubicBezTo>
                      <a:pt x="1" y="691"/>
                      <a:pt x="37" y="751"/>
                      <a:pt x="96" y="763"/>
                    </a:cubicBezTo>
                    <a:cubicBezTo>
                      <a:pt x="104" y="764"/>
                      <a:pt x="112" y="765"/>
                      <a:pt x="119" y="765"/>
                    </a:cubicBezTo>
                    <a:cubicBezTo>
                      <a:pt x="170" y="765"/>
                      <a:pt x="217" y="731"/>
                      <a:pt x="227" y="680"/>
                    </a:cubicBezTo>
                    <a:cubicBezTo>
                      <a:pt x="311" y="215"/>
                      <a:pt x="596" y="215"/>
                      <a:pt x="870" y="215"/>
                    </a:cubicBezTo>
                    <a:lnTo>
                      <a:pt x="930" y="215"/>
                    </a:lnTo>
                    <a:cubicBezTo>
                      <a:pt x="1108" y="215"/>
                      <a:pt x="1584" y="322"/>
                      <a:pt x="1584" y="799"/>
                    </a:cubicBezTo>
                    <a:lnTo>
                      <a:pt x="1584" y="3037"/>
                    </a:lnTo>
                    <a:cubicBezTo>
                      <a:pt x="1584" y="3097"/>
                      <a:pt x="1632" y="3144"/>
                      <a:pt x="1692" y="3144"/>
                    </a:cubicBezTo>
                    <a:cubicBezTo>
                      <a:pt x="1751" y="3144"/>
                      <a:pt x="1799" y="3097"/>
                      <a:pt x="1799" y="3037"/>
                    </a:cubicBezTo>
                    <a:lnTo>
                      <a:pt x="1799" y="799"/>
                    </a:lnTo>
                    <a:cubicBezTo>
                      <a:pt x="1799" y="215"/>
                      <a:pt x="1263" y="1"/>
                      <a:pt x="930" y="1"/>
                    </a:cubicBezTo>
                    <a:lnTo>
                      <a:pt x="870" y="1"/>
                    </a:lnTo>
                    <a:cubicBezTo>
                      <a:pt x="861" y="1"/>
                      <a:pt x="851" y="1"/>
                      <a:pt x="841" y="1"/>
                    </a:cubicBezTo>
                    <a:close/>
                  </a:path>
                </a:pathLst>
              </a:custGeom>
              <a:solidFill>
                <a:srgbClr val="EC3A3B"/>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03" name="Google Shape;1184;p28">
                <a:extLst>
                  <a:ext uri="{FF2B5EF4-FFF2-40B4-BE49-F238E27FC236}">
                    <a16:creationId xmlns:a16="http://schemas.microsoft.com/office/drawing/2014/main" id="{22C28AFD-BACD-C7EA-24CD-30BF02E0BA72}"/>
                  </a:ext>
                </a:extLst>
              </p:cNvPr>
              <p:cNvSpPr/>
              <p:nvPr/>
            </p:nvSpPr>
            <p:spPr>
              <a:xfrm>
                <a:off x="6086582" y="1676116"/>
                <a:ext cx="337630" cy="473435"/>
              </a:xfrm>
              <a:custGeom>
                <a:avLst/>
                <a:gdLst/>
                <a:ahLst/>
                <a:cxnLst/>
                <a:rect l="l" t="t" r="r" b="b"/>
                <a:pathLst>
                  <a:path w="9502" h="13324" extrusionOk="0">
                    <a:moveTo>
                      <a:pt x="3846" y="1"/>
                    </a:moveTo>
                    <a:cubicBezTo>
                      <a:pt x="3274" y="1"/>
                      <a:pt x="2941" y="382"/>
                      <a:pt x="2941" y="1025"/>
                    </a:cubicBezTo>
                    <a:lnTo>
                      <a:pt x="2941" y="8180"/>
                    </a:lnTo>
                    <a:cubicBezTo>
                      <a:pt x="2631" y="7883"/>
                      <a:pt x="1977" y="7252"/>
                      <a:pt x="1500" y="6859"/>
                    </a:cubicBezTo>
                    <a:cubicBezTo>
                      <a:pt x="1375" y="6754"/>
                      <a:pt x="1227" y="6702"/>
                      <a:pt x="1073" y="6702"/>
                    </a:cubicBezTo>
                    <a:cubicBezTo>
                      <a:pt x="878" y="6702"/>
                      <a:pt x="674" y="6787"/>
                      <a:pt x="500" y="6954"/>
                    </a:cubicBezTo>
                    <a:cubicBezTo>
                      <a:pt x="179" y="7263"/>
                      <a:pt x="0" y="7823"/>
                      <a:pt x="381" y="8371"/>
                    </a:cubicBezTo>
                    <a:cubicBezTo>
                      <a:pt x="1012" y="9240"/>
                      <a:pt x="3882" y="12395"/>
                      <a:pt x="4013" y="12526"/>
                    </a:cubicBezTo>
                    <a:cubicBezTo>
                      <a:pt x="4548" y="13098"/>
                      <a:pt x="5417" y="13324"/>
                      <a:pt x="6239" y="13324"/>
                    </a:cubicBezTo>
                    <a:cubicBezTo>
                      <a:pt x="6858" y="13324"/>
                      <a:pt x="7442" y="13205"/>
                      <a:pt x="7858" y="13002"/>
                    </a:cubicBezTo>
                    <a:cubicBezTo>
                      <a:pt x="8727" y="12574"/>
                      <a:pt x="9501" y="11240"/>
                      <a:pt x="9501" y="10133"/>
                    </a:cubicBezTo>
                    <a:lnTo>
                      <a:pt x="9501" y="5382"/>
                    </a:lnTo>
                    <a:cubicBezTo>
                      <a:pt x="9501" y="4799"/>
                      <a:pt x="8954" y="4585"/>
                      <a:pt x="8620" y="4585"/>
                    </a:cubicBezTo>
                    <a:lnTo>
                      <a:pt x="8561" y="4585"/>
                    </a:lnTo>
                    <a:cubicBezTo>
                      <a:pt x="8551" y="4585"/>
                      <a:pt x="8542" y="4585"/>
                      <a:pt x="8532" y="4585"/>
                    </a:cubicBezTo>
                    <a:cubicBezTo>
                      <a:pt x="8265" y="4585"/>
                      <a:pt x="7818" y="4596"/>
                      <a:pt x="7703" y="5216"/>
                    </a:cubicBezTo>
                    <a:cubicBezTo>
                      <a:pt x="7692" y="5275"/>
                      <a:pt x="7739" y="5335"/>
                      <a:pt x="7799" y="5347"/>
                    </a:cubicBezTo>
                    <a:cubicBezTo>
                      <a:pt x="7805" y="5348"/>
                      <a:pt x="7811" y="5349"/>
                      <a:pt x="7818" y="5349"/>
                    </a:cubicBezTo>
                    <a:cubicBezTo>
                      <a:pt x="7861" y="5349"/>
                      <a:pt x="7907" y="5315"/>
                      <a:pt x="7918" y="5263"/>
                    </a:cubicBezTo>
                    <a:cubicBezTo>
                      <a:pt x="8013" y="4799"/>
                      <a:pt x="8287" y="4799"/>
                      <a:pt x="8561" y="4799"/>
                    </a:cubicBezTo>
                    <a:lnTo>
                      <a:pt x="8620" y="4799"/>
                    </a:lnTo>
                    <a:cubicBezTo>
                      <a:pt x="8799" y="4799"/>
                      <a:pt x="9275" y="4906"/>
                      <a:pt x="9275" y="5382"/>
                    </a:cubicBezTo>
                    <a:lnTo>
                      <a:pt x="9275" y="10133"/>
                    </a:lnTo>
                    <a:cubicBezTo>
                      <a:pt x="9275" y="11169"/>
                      <a:pt x="8573" y="12407"/>
                      <a:pt x="7763" y="12800"/>
                    </a:cubicBezTo>
                    <a:cubicBezTo>
                      <a:pt x="7380" y="12989"/>
                      <a:pt x="6821" y="13106"/>
                      <a:pt x="6240" y="13106"/>
                    </a:cubicBezTo>
                    <a:cubicBezTo>
                      <a:pt x="5468" y="13106"/>
                      <a:pt x="4657" y="12900"/>
                      <a:pt x="4167" y="12383"/>
                    </a:cubicBezTo>
                    <a:cubicBezTo>
                      <a:pt x="4144" y="12347"/>
                      <a:pt x="1191" y="9109"/>
                      <a:pt x="560" y="8240"/>
                    </a:cubicBezTo>
                    <a:cubicBezTo>
                      <a:pt x="250" y="7811"/>
                      <a:pt x="381" y="7359"/>
                      <a:pt x="643" y="7109"/>
                    </a:cubicBezTo>
                    <a:cubicBezTo>
                      <a:pt x="758" y="7001"/>
                      <a:pt x="912" y="6924"/>
                      <a:pt x="1068" y="6924"/>
                    </a:cubicBezTo>
                    <a:cubicBezTo>
                      <a:pt x="1171" y="6924"/>
                      <a:pt x="1275" y="6957"/>
                      <a:pt x="1369" y="7037"/>
                    </a:cubicBezTo>
                    <a:cubicBezTo>
                      <a:pt x="1988" y="7549"/>
                      <a:pt x="2965" y="8514"/>
                      <a:pt x="2977" y="8526"/>
                    </a:cubicBezTo>
                    <a:lnTo>
                      <a:pt x="3167" y="8704"/>
                    </a:lnTo>
                    <a:lnTo>
                      <a:pt x="3167" y="1025"/>
                    </a:lnTo>
                    <a:cubicBezTo>
                      <a:pt x="3167" y="501"/>
                      <a:pt x="3405" y="215"/>
                      <a:pt x="3846" y="215"/>
                    </a:cubicBezTo>
                    <a:cubicBezTo>
                      <a:pt x="4060" y="215"/>
                      <a:pt x="4251" y="286"/>
                      <a:pt x="4382" y="417"/>
                    </a:cubicBezTo>
                    <a:cubicBezTo>
                      <a:pt x="4489" y="536"/>
                      <a:pt x="4560" y="691"/>
                      <a:pt x="4560" y="858"/>
                    </a:cubicBezTo>
                    <a:lnTo>
                      <a:pt x="4560" y="7168"/>
                    </a:lnTo>
                    <a:cubicBezTo>
                      <a:pt x="4560" y="7228"/>
                      <a:pt x="4608" y="7275"/>
                      <a:pt x="4667" y="7275"/>
                    </a:cubicBezTo>
                    <a:cubicBezTo>
                      <a:pt x="4727" y="7275"/>
                      <a:pt x="4775" y="7228"/>
                      <a:pt x="4775" y="7168"/>
                    </a:cubicBezTo>
                    <a:lnTo>
                      <a:pt x="4775" y="858"/>
                    </a:lnTo>
                    <a:cubicBezTo>
                      <a:pt x="4775" y="632"/>
                      <a:pt x="4691" y="417"/>
                      <a:pt x="4536" y="263"/>
                    </a:cubicBezTo>
                    <a:cubicBezTo>
                      <a:pt x="4358" y="96"/>
                      <a:pt x="4120" y="1"/>
                      <a:pt x="3846" y="1"/>
                    </a:cubicBezTo>
                    <a:close/>
                  </a:path>
                </a:pathLst>
              </a:custGeom>
              <a:solidFill>
                <a:srgbClr val="EC3A3B"/>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04" name="Google Shape;1185;p28">
                <a:extLst>
                  <a:ext uri="{FF2B5EF4-FFF2-40B4-BE49-F238E27FC236}">
                    <a16:creationId xmlns:a16="http://schemas.microsoft.com/office/drawing/2014/main" id="{1BF60D97-4BD8-7E0D-9142-CAA1D9FC919E}"/>
                  </a:ext>
                </a:extLst>
              </p:cNvPr>
              <p:cNvSpPr/>
              <p:nvPr/>
            </p:nvSpPr>
            <p:spPr>
              <a:xfrm>
                <a:off x="6331936" y="1996302"/>
                <a:ext cx="74085" cy="122374"/>
              </a:xfrm>
              <a:custGeom>
                <a:avLst/>
                <a:gdLst/>
                <a:ahLst/>
                <a:cxnLst/>
                <a:rect l="l" t="t" r="r" b="b"/>
                <a:pathLst>
                  <a:path w="2085" h="3444" extrusionOk="0">
                    <a:moveTo>
                      <a:pt x="1710" y="1"/>
                    </a:moveTo>
                    <a:cubicBezTo>
                      <a:pt x="1704" y="1"/>
                      <a:pt x="1698" y="1"/>
                      <a:pt x="1691" y="3"/>
                    </a:cubicBezTo>
                    <a:cubicBezTo>
                      <a:pt x="1632" y="3"/>
                      <a:pt x="1584" y="62"/>
                      <a:pt x="1596" y="122"/>
                    </a:cubicBezTo>
                    <a:cubicBezTo>
                      <a:pt x="1596" y="146"/>
                      <a:pt x="1846" y="2539"/>
                      <a:pt x="84" y="3229"/>
                    </a:cubicBezTo>
                    <a:cubicBezTo>
                      <a:pt x="25" y="3253"/>
                      <a:pt x="1" y="3313"/>
                      <a:pt x="25" y="3372"/>
                    </a:cubicBezTo>
                    <a:cubicBezTo>
                      <a:pt x="36" y="3408"/>
                      <a:pt x="72" y="3444"/>
                      <a:pt x="120" y="3444"/>
                    </a:cubicBezTo>
                    <a:cubicBezTo>
                      <a:pt x="132" y="3444"/>
                      <a:pt x="144" y="3432"/>
                      <a:pt x="156" y="3432"/>
                    </a:cubicBezTo>
                    <a:cubicBezTo>
                      <a:pt x="2084" y="2682"/>
                      <a:pt x="1811" y="122"/>
                      <a:pt x="1811" y="98"/>
                    </a:cubicBezTo>
                    <a:cubicBezTo>
                      <a:pt x="1800" y="45"/>
                      <a:pt x="1761" y="1"/>
                      <a:pt x="1710" y="1"/>
                    </a:cubicBezTo>
                    <a:close/>
                  </a:path>
                </a:pathLst>
              </a:custGeom>
              <a:solidFill>
                <a:srgbClr val="EC3A3B"/>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grpSp>
        <p:sp>
          <p:nvSpPr>
            <p:cNvPr id="98" name="Google Shape;1186;p28">
              <a:extLst>
                <a:ext uri="{FF2B5EF4-FFF2-40B4-BE49-F238E27FC236}">
                  <a16:creationId xmlns:a16="http://schemas.microsoft.com/office/drawing/2014/main" id="{A3585137-67E6-5535-AEFA-907D745D14CA}"/>
                </a:ext>
              </a:extLst>
            </p:cNvPr>
            <p:cNvSpPr/>
            <p:nvPr/>
          </p:nvSpPr>
          <p:spPr>
            <a:xfrm>
              <a:off x="5677456" y="2732081"/>
              <a:ext cx="1291216" cy="440034"/>
            </a:xfrm>
            <a:custGeom>
              <a:avLst/>
              <a:gdLst/>
              <a:ahLst/>
              <a:cxnLst/>
              <a:rect l="l" t="t" r="r" b="b"/>
              <a:pathLst>
                <a:path w="36339" h="12384" extrusionOk="0">
                  <a:moveTo>
                    <a:pt x="1" y="1"/>
                  </a:moveTo>
                  <a:lnTo>
                    <a:pt x="1" y="1358"/>
                  </a:lnTo>
                  <a:cubicBezTo>
                    <a:pt x="2418" y="1644"/>
                    <a:pt x="4299" y="3692"/>
                    <a:pt x="4299" y="6192"/>
                  </a:cubicBezTo>
                  <a:cubicBezTo>
                    <a:pt x="4299" y="8692"/>
                    <a:pt x="2418" y="10752"/>
                    <a:pt x="1" y="11038"/>
                  </a:cubicBezTo>
                  <a:lnTo>
                    <a:pt x="1" y="12383"/>
                  </a:lnTo>
                  <a:lnTo>
                    <a:pt x="32041" y="12383"/>
                  </a:lnTo>
                  <a:lnTo>
                    <a:pt x="32041" y="10502"/>
                  </a:lnTo>
                  <a:cubicBezTo>
                    <a:pt x="34422" y="10502"/>
                    <a:pt x="36339" y="8573"/>
                    <a:pt x="36339" y="6192"/>
                  </a:cubicBezTo>
                  <a:cubicBezTo>
                    <a:pt x="36339" y="3823"/>
                    <a:pt x="34422" y="1894"/>
                    <a:pt x="32041" y="1894"/>
                  </a:cubicBezTo>
                  <a:lnTo>
                    <a:pt x="32041" y="1"/>
                  </a:lnTo>
                  <a:close/>
                </a:path>
              </a:pathLst>
            </a:custGeom>
            <a:solidFill>
              <a:schemeClr val="accent1"/>
            </a:solidFill>
            <a:ln>
              <a:noFill/>
            </a:ln>
          </p:spPr>
          <p:txBody>
            <a:bodyPr spcFirstLastPara="1" wrap="square" lIns="91425" tIns="91425" rIns="91425" bIns="91425" anchor="ctr" anchorCtr="0">
              <a:noAutofit/>
            </a:bodyPr>
            <a:lstStyle/>
            <a:p>
              <a:pPr algn="ctr">
                <a:buClr>
                  <a:srgbClr val="000000"/>
                </a:buClr>
                <a:buFont typeface="Arial"/>
                <a:buNone/>
              </a:pPr>
              <a:r>
                <a:rPr lang="en" sz="1400" kern="0">
                  <a:solidFill>
                    <a:srgbClr val="FFFFFF"/>
                  </a:solidFill>
                  <a:latin typeface="Oswald" panose="00000500000000000000" pitchFamily="2" charset="0"/>
                  <a:ea typeface="Fira Sans Extra Condensed Medium"/>
                  <a:cs typeface="Fira Sans Extra Condensed Medium"/>
                  <a:sym typeface="Fira Sans Extra Condensed Medium"/>
                </a:rPr>
                <a:t>Phase 5</a:t>
              </a:r>
              <a:endParaRPr sz="1400" kern="0">
                <a:solidFill>
                  <a:srgbClr val="FFFFFF"/>
                </a:solidFill>
                <a:latin typeface="Oswald" panose="00000500000000000000" pitchFamily="2" charset="0"/>
                <a:ea typeface="Fira Sans Extra Condensed Medium"/>
                <a:cs typeface="Fira Sans Extra Condensed Medium"/>
                <a:sym typeface="Fira Sans Extra Condensed Medium"/>
              </a:endParaRPr>
            </a:p>
          </p:txBody>
        </p:sp>
        <p:sp>
          <p:nvSpPr>
            <p:cNvPr id="99" name="Google Shape;1187;p28">
              <a:extLst>
                <a:ext uri="{FF2B5EF4-FFF2-40B4-BE49-F238E27FC236}">
                  <a16:creationId xmlns:a16="http://schemas.microsoft.com/office/drawing/2014/main" id="{97F43694-0890-C155-45AB-2019188B526D}"/>
                </a:ext>
              </a:extLst>
            </p:cNvPr>
            <p:cNvSpPr/>
            <p:nvPr/>
          </p:nvSpPr>
          <p:spPr>
            <a:xfrm>
              <a:off x="6287520" y="2235403"/>
              <a:ext cx="63497" cy="63070"/>
            </a:xfrm>
            <a:custGeom>
              <a:avLst/>
              <a:gdLst/>
              <a:ahLst/>
              <a:cxnLst/>
              <a:rect l="l" t="t" r="r" b="b"/>
              <a:pathLst>
                <a:path w="1787" h="1775" extrusionOk="0">
                  <a:moveTo>
                    <a:pt x="894" y="1"/>
                  </a:moveTo>
                  <a:cubicBezTo>
                    <a:pt x="405" y="1"/>
                    <a:pt x="1" y="394"/>
                    <a:pt x="1" y="882"/>
                  </a:cubicBezTo>
                  <a:cubicBezTo>
                    <a:pt x="1" y="1382"/>
                    <a:pt x="405" y="1775"/>
                    <a:pt x="894" y="1775"/>
                  </a:cubicBezTo>
                  <a:cubicBezTo>
                    <a:pt x="1382" y="1775"/>
                    <a:pt x="1787" y="1382"/>
                    <a:pt x="1787" y="882"/>
                  </a:cubicBezTo>
                  <a:cubicBezTo>
                    <a:pt x="1787" y="394"/>
                    <a:pt x="1382" y="1"/>
                    <a:pt x="894" y="1"/>
                  </a:cubicBezTo>
                  <a:close/>
                </a:path>
              </a:pathLst>
            </a:custGeom>
            <a:solidFill>
              <a:srgbClr val="000000"/>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00" name="Google Shape;1188;p28">
              <a:extLst>
                <a:ext uri="{FF2B5EF4-FFF2-40B4-BE49-F238E27FC236}">
                  <a16:creationId xmlns:a16="http://schemas.microsoft.com/office/drawing/2014/main" id="{87791E86-D3DA-0DD6-EE7C-4FAD9E33066C}"/>
                </a:ext>
              </a:extLst>
            </p:cNvPr>
            <p:cNvSpPr txBox="1"/>
            <p:nvPr/>
          </p:nvSpPr>
          <p:spPr>
            <a:xfrm>
              <a:off x="5656323" y="1070674"/>
              <a:ext cx="1355430" cy="534900"/>
            </a:xfrm>
            <a:prstGeom prst="rect">
              <a:avLst/>
            </a:prstGeom>
            <a:noFill/>
            <a:ln>
              <a:noFill/>
            </a:ln>
          </p:spPr>
          <p:txBody>
            <a:bodyPr spcFirstLastPara="1" wrap="square" lIns="91425" tIns="91425" rIns="91425" bIns="91425" anchor="ctr" anchorCtr="0">
              <a:noAutofit/>
            </a:bodyPr>
            <a:lstStyle/>
            <a:p>
              <a:pPr algn="ctr">
                <a:buClr>
                  <a:srgbClr val="000000"/>
                </a:buClr>
                <a:buFont typeface="Arial"/>
                <a:buNone/>
              </a:pPr>
              <a:r>
                <a:rPr lang="en" sz="1500" kern="0">
                  <a:solidFill>
                    <a:srgbClr val="434343"/>
                  </a:solidFill>
                  <a:latin typeface="Oswald" panose="00000500000000000000" pitchFamily="2" charset="0"/>
                  <a:ea typeface="Roboto"/>
                  <a:cs typeface="Roboto"/>
                  <a:sym typeface="Roboto"/>
                </a:rPr>
                <a:t>Employee Engagement</a:t>
              </a:r>
              <a:endParaRPr sz="1500" kern="0">
                <a:solidFill>
                  <a:srgbClr val="434343"/>
                </a:solidFill>
                <a:latin typeface="Oswald" panose="00000500000000000000" pitchFamily="2" charset="0"/>
                <a:ea typeface="Roboto"/>
                <a:cs typeface="Roboto"/>
                <a:sym typeface="Roboto"/>
              </a:endParaRPr>
            </a:p>
          </p:txBody>
        </p:sp>
      </p:grpSp>
      <p:grpSp>
        <p:nvGrpSpPr>
          <p:cNvPr id="105" name="Google Shape;1189;p28">
            <a:extLst>
              <a:ext uri="{FF2B5EF4-FFF2-40B4-BE49-F238E27FC236}">
                <a16:creationId xmlns:a16="http://schemas.microsoft.com/office/drawing/2014/main" id="{3A9C801D-9595-2D1E-2FA0-D61396213E25}"/>
              </a:ext>
            </a:extLst>
          </p:cNvPr>
          <p:cNvGrpSpPr/>
          <p:nvPr/>
        </p:nvGrpSpPr>
        <p:grpSpPr>
          <a:xfrm>
            <a:off x="6474047" y="998770"/>
            <a:ext cx="1318849" cy="2072389"/>
            <a:chOff x="6845138" y="1099726"/>
            <a:chExt cx="1318849" cy="2072389"/>
          </a:xfrm>
        </p:grpSpPr>
        <p:sp>
          <p:nvSpPr>
            <p:cNvPr id="106" name="Google Shape;1190;p28">
              <a:extLst>
                <a:ext uri="{FF2B5EF4-FFF2-40B4-BE49-F238E27FC236}">
                  <a16:creationId xmlns:a16="http://schemas.microsoft.com/office/drawing/2014/main" id="{FB6D0D85-D9EC-1A06-FBDF-0446DD88558D}"/>
                </a:ext>
              </a:extLst>
            </p:cNvPr>
            <p:cNvSpPr/>
            <p:nvPr/>
          </p:nvSpPr>
          <p:spPr>
            <a:xfrm>
              <a:off x="7480999" y="2261200"/>
              <a:ext cx="11441" cy="704858"/>
            </a:xfrm>
            <a:custGeom>
              <a:avLst/>
              <a:gdLst/>
              <a:ahLst/>
              <a:cxnLst/>
              <a:rect l="l" t="t" r="r" b="b"/>
              <a:pathLst>
                <a:path w="322" h="19837" extrusionOk="0">
                  <a:moveTo>
                    <a:pt x="155" y="1"/>
                  </a:moveTo>
                  <a:cubicBezTo>
                    <a:pt x="72" y="1"/>
                    <a:pt x="0" y="72"/>
                    <a:pt x="0" y="156"/>
                  </a:cubicBezTo>
                  <a:lnTo>
                    <a:pt x="0" y="19682"/>
                  </a:lnTo>
                  <a:cubicBezTo>
                    <a:pt x="0" y="19765"/>
                    <a:pt x="72" y="19837"/>
                    <a:pt x="155" y="19837"/>
                  </a:cubicBezTo>
                  <a:cubicBezTo>
                    <a:pt x="250" y="19837"/>
                    <a:pt x="322" y="19765"/>
                    <a:pt x="322" y="19682"/>
                  </a:cubicBezTo>
                  <a:lnTo>
                    <a:pt x="322" y="156"/>
                  </a:lnTo>
                  <a:cubicBezTo>
                    <a:pt x="322" y="72"/>
                    <a:pt x="250" y="1"/>
                    <a:pt x="155" y="1"/>
                  </a:cubicBezTo>
                  <a:close/>
                </a:path>
              </a:pathLst>
            </a:custGeom>
            <a:solidFill>
              <a:srgbClr val="000000"/>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grpSp>
          <p:nvGrpSpPr>
            <p:cNvPr id="107" name="Google Shape;1191;p28">
              <a:extLst>
                <a:ext uri="{FF2B5EF4-FFF2-40B4-BE49-F238E27FC236}">
                  <a16:creationId xmlns:a16="http://schemas.microsoft.com/office/drawing/2014/main" id="{E24BB692-ABAC-0026-5997-D1C5BC423CDF}"/>
                </a:ext>
              </a:extLst>
            </p:cNvPr>
            <p:cNvGrpSpPr/>
            <p:nvPr/>
          </p:nvGrpSpPr>
          <p:grpSpPr>
            <a:xfrm>
              <a:off x="7307954" y="1698963"/>
              <a:ext cx="365560" cy="450589"/>
              <a:chOff x="7307954" y="1698963"/>
              <a:chExt cx="365560" cy="450589"/>
            </a:xfrm>
          </p:grpSpPr>
          <p:sp>
            <p:nvSpPr>
              <p:cNvPr id="111" name="Google Shape;1192;p28">
                <a:extLst>
                  <a:ext uri="{FF2B5EF4-FFF2-40B4-BE49-F238E27FC236}">
                    <a16:creationId xmlns:a16="http://schemas.microsoft.com/office/drawing/2014/main" id="{4D4540B5-DF73-D250-1D59-71043298944A}"/>
                  </a:ext>
                </a:extLst>
              </p:cNvPr>
              <p:cNvSpPr/>
              <p:nvPr/>
            </p:nvSpPr>
            <p:spPr>
              <a:xfrm>
                <a:off x="7432319" y="1819526"/>
                <a:ext cx="241195" cy="330026"/>
              </a:xfrm>
              <a:custGeom>
                <a:avLst/>
                <a:gdLst/>
                <a:ahLst/>
                <a:cxnLst/>
                <a:rect l="l" t="t" r="r" b="b"/>
                <a:pathLst>
                  <a:path w="6788" h="9288" extrusionOk="0">
                    <a:moveTo>
                      <a:pt x="3609" y="1"/>
                    </a:moveTo>
                    <a:cubicBezTo>
                      <a:pt x="3549" y="1"/>
                      <a:pt x="3501" y="49"/>
                      <a:pt x="3501" y="120"/>
                    </a:cubicBezTo>
                    <a:cubicBezTo>
                      <a:pt x="3501" y="179"/>
                      <a:pt x="3549" y="227"/>
                      <a:pt x="3609" y="227"/>
                    </a:cubicBezTo>
                    <a:lnTo>
                      <a:pt x="6561" y="227"/>
                    </a:lnTo>
                    <a:lnTo>
                      <a:pt x="6561" y="9073"/>
                    </a:lnTo>
                    <a:lnTo>
                      <a:pt x="215" y="9073"/>
                    </a:lnTo>
                    <a:lnTo>
                      <a:pt x="215" y="7383"/>
                    </a:lnTo>
                    <a:cubicBezTo>
                      <a:pt x="215" y="7323"/>
                      <a:pt x="168" y="7276"/>
                      <a:pt x="108" y="7276"/>
                    </a:cubicBezTo>
                    <a:cubicBezTo>
                      <a:pt x="49" y="7276"/>
                      <a:pt x="1" y="7323"/>
                      <a:pt x="1" y="7383"/>
                    </a:cubicBezTo>
                    <a:lnTo>
                      <a:pt x="1" y="9288"/>
                    </a:lnTo>
                    <a:lnTo>
                      <a:pt x="6787" y="9288"/>
                    </a:lnTo>
                    <a:lnTo>
                      <a:pt x="6787" y="1"/>
                    </a:ln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12" name="Google Shape;1193;p28">
                <a:extLst>
                  <a:ext uri="{FF2B5EF4-FFF2-40B4-BE49-F238E27FC236}">
                    <a16:creationId xmlns:a16="http://schemas.microsoft.com/office/drawing/2014/main" id="{67C3277B-9E77-9CCC-239E-AF96A4AA9EF1}"/>
                  </a:ext>
                </a:extLst>
              </p:cNvPr>
              <p:cNvSpPr/>
              <p:nvPr/>
            </p:nvSpPr>
            <p:spPr>
              <a:xfrm>
                <a:off x="7307954" y="1698963"/>
                <a:ext cx="256403" cy="387127"/>
              </a:xfrm>
              <a:custGeom>
                <a:avLst/>
                <a:gdLst/>
                <a:ahLst/>
                <a:cxnLst/>
                <a:rect l="l" t="t" r="r" b="b"/>
                <a:pathLst>
                  <a:path w="7216" h="10895" extrusionOk="0">
                    <a:moveTo>
                      <a:pt x="7001" y="215"/>
                    </a:moveTo>
                    <a:lnTo>
                      <a:pt x="7001" y="10669"/>
                    </a:lnTo>
                    <a:lnTo>
                      <a:pt x="215" y="10669"/>
                    </a:lnTo>
                    <a:lnTo>
                      <a:pt x="215" y="215"/>
                    </a:lnTo>
                    <a:close/>
                    <a:moveTo>
                      <a:pt x="0" y="1"/>
                    </a:moveTo>
                    <a:lnTo>
                      <a:pt x="0" y="10895"/>
                    </a:lnTo>
                    <a:lnTo>
                      <a:pt x="7216" y="10895"/>
                    </a:lnTo>
                    <a:lnTo>
                      <a:pt x="7216" y="1"/>
                    </a:ln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13" name="Google Shape;1194;p28">
                <a:extLst>
                  <a:ext uri="{FF2B5EF4-FFF2-40B4-BE49-F238E27FC236}">
                    <a16:creationId xmlns:a16="http://schemas.microsoft.com/office/drawing/2014/main" id="{DC89F1EE-43AD-820E-6AFD-275385905905}"/>
                  </a:ext>
                </a:extLst>
              </p:cNvPr>
              <p:cNvSpPr/>
              <p:nvPr/>
            </p:nvSpPr>
            <p:spPr>
              <a:xfrm>
                <a:off x="7343487" y="1739577"/>
                <a:ext cx="185338" cy="7639"/>
              </a:xfrm>
              <a:custGeom>
                <a:avLst/>
                <a:gdLst/>
                <a:ahLst/>
                <a:cxnLst/>
                <a:rect l="l" t="t" r="r" b="b"/>
                <a:pathLst>
                  <a:path w="5216" h="215" extrusionOk="0">
                    <a:moveTo>
                      <a:pt x="108" y="1"/>
                    </a:moveTo>
                    <a:cubicBezTo>
                      <a:pt x="48" y="1"/>
                      <a:pt x="1" y="48"/>
                      <a:pt x="1" y="108"/>
                    </a:cubicBezTo>
                    <a:cubicBezTo>
                      <a:pt x="1" y="167"/>
                      <a:pt x="48" y="215"/>
                      <a:pt x="108" y="215"/>
                    </a:cubicBezTo>
                    <a:lnTo>
                      <a:pt x="5096" y="215"/>
                    </a:lnTo>
                    <a:cubicBezTo>
                      <a:pt x="5168" y="215"/>
                      <a:pt x="5216" y="167"/>
                      <a:pt x="5216" y="108"/>
                    </a:cubicBezTo>
                    <a:cubicBezTo>
                      <a:pt x="5216" y="48"/>
                      <a:pt x="5168" y="1"/>
                      <a:pt x="5096" y="1"/>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14" name="Google Shape;1195;p28">
                <a:extLst>
                  <a:ext uri="{FF2B5EF4-FFF2-40B4-BE49-F238E27FC236}">
                    <a16:creationId xmlns:a16="http://schemas.microsoft.com/office/drawing/2014/main" id="{0130EE85-89ED-FC67-CB3D-1087A7872EFF}"/>
                  </a:ext>
                </a:extLst>
              </p:cNvPr>
              <p:cNvSpPr/>
              <p:nvPr/>
            </p:nvSpPr>
            <p:spPr>
              <a:xfrm>
                <a:off x="7343487" y="1775963"/>
                <a:ext cx="185338" cy="7639"/>
              </a:xfrm>
              <a:custGeom>
                <a:avLst/>
                <a:gdLst/>
                <a:ahLst/>
                <a:cxnLst/>
                <a:rect l="l" t="t" r="r" b="b"/>
                <a:pathLst>
                  <a:path w="5216" h="215" extrusionOk="0">
                    <a:moveTo>
                      <a:pt x="108" y="1"/>
                    </a:moveTo>
                    <a:cubicBezTo>
                      <a:pt x="48" y="1"/>
                      <a:pt x="1" y="48"/>
                      <a:pt x="1" y="108"/>
                    </a:cubicBezTo>
                    <a:cubicBezTo>
                      <a:pt x="1" y="167"/>
                      <a:pt x="48" y="215"/>
                      <a:pt x="108" y="215"/>
                    </a:cubicBezTo>
                    <a:lnTo>
                      <a:pt x="5096" y="215"/>
                    </a:lnTo>
                    <a:cubicBezTo>
                      <a:pt x="5168" y="215"/>
                      <a:pt x="5216" y="167"/>
                      <a:pt x="5216" y="108"/>
                    </a:cubicBezTo>
                    <a:cubicBezTo>
                      <a:pt x="5216" y="48"/>
                      <a:pt x="5168" y="1"/>
                      <a:pt x="5096" y="1"/>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15" name="Google Shape;1196;p28">
                <a:extLst>
                  <a:ext uri="{FF2B5EF4-FFF2-40B4-BE49-F238E27FC236}">
                    <a16:creationId xmlns:a16="http://schemas.microsoft.com/office/drawing/2014/main" id="{E4B53581-2DBB-A8CB-0381-AFC101758407}"/>
                  </a:ext>
                </a:extLst>
              </p:cNvPr>
              <p:cNvSpPr/>
              <p:nvPr/>
            </p:nvSpPr>
            <p:spPr>
              <a:xfrm>
                <a:off x="7343487" y="1812349"/>
                <a:ext cx="185338" cy="7639"/>
              </a:xfrm>
              <a:custGeom>
                <a:avLst/>
                <a:gdLst/>
                <a:ahLst/>
                <a:cxnLst/>
                <a:rect l="l" t="t" r="r" b="b"/>
                <a:pathLst>
                  <a:path w="5216" h="215" extrusionOk="0">
                    <a:moveTo>
                      <a:pt x="108" y="0"/>
                    </a:moveTo>
                    <a:cubicBezTo>
                      <a:pt x="48" y="0"/>
                      <a:pt x="1" y="48"/>
                      <a:pt x="1" y="108"/>
                    </a:cubicBezTo>
                    <a:cubicBezTo>
                      <a:pt x="1" y="167"/>
                      <a:pt x="48" y="215"/>
                      <a:pt x="108" y="215"/>
                    </a:cubicBezTo>
                    <a:lnTo>
                      <a:pt x="5096" y="215"/>
                    </a:lnTo>
                    <a:cubicBezTo>
                      <a:pt x="5168" y="215"/>
                      <a:pt x="5216" y="167"/>
                      <a:pt x="5216" y="108"/>
                    </a:cubicBezTo>
                    <a:cubicBezTo>
                      <a:pt x="5216" y="48"/>
                      <a:pt x="5168" y="0"/>
                      <a:pt x="5096" y="0"/>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16" name="Google Shape;1197;p28">
                <a:extLst>
                  <a:ext uri="{FF2B5EF4-FFF2-40B4-BE49-F238E27FC236}">
                    <a16:creationId xmlns:a16="http://schemas.microsoft.com/office/drawing/2014/main" id="{4E745A48-9514-C2A9-C521-BE9EE6AB0D98}"/>
                  </a:ext>
                </a:extLst>
              </p:cNvPr>
              <p:cNvSpPr/>
              <p:nvPr/>
            </p:nvSpPr>
            <p:spPr>
              <a:xfrm>
                <a:off x="7343487" y="1848734"/>
                <a:ext cx="185338" cy="7639"/>
              </a:xfrm>
              <a:custGeom>
                <a:avLst/>
                <a:gdLst/>
                <a:ahLst/>
                <a:cxnLst/>
                <a:rect l="l" t="t" r="r" b="b"/>
                <a:pathLst>
                  <a:path w="5216" h="215" extrusionOk="0">
                    <a:moveTo>
                      <a:pt x="108" y="0"/>
                    </a:moveTo>
                    <a:cubicBezTo>
                      <a:pt x="48" y="0"/>
                      <a:pt x="1" y="48"/>
                      <a:pt x="1" y="108"/>
                    </a:cubicBezTo>
                    <a:cubicBezTo>
                      <a:pt x="1" y="167"/>
                      <a:pt x="48" y="215"/>
                      <a:pt x="108" y="215"/>
                    </a:cubicBezTo>
                    <a:lnTo>
                      <a:pt x="5096" y="215"/>
                    </a:lnTo>
                    <a:cubicBezTo>
                      <a:pt x="5168" y="215"/>
                      <a:pt x="5216" y="167"/>
                      <a:pt x="5216" y="108"/>
                    </a:cubicBezTo>
                    <a:cubicBezTo>
                      <a:pt x="5216" y="48"/>
                      <a:pt x="5168" y="0"/>
                      <a:pt x="5096" y="0"/>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17" name="Google Shape;1198;p28">
                <a:extLst>
                  <a:ext uri="{FF2B5EF4-FFF2-40B4-BE49-F238E27FC236}">
                    <a16:creationId xmlns:a16="http://schemas.microsoft.com/office/drawing/2014/main" id="{7680EA58-6C02-8B80-ABFD-4EC3573AAABF}"/>
                  </a:ext>
                </a:extLst>
              </p:cNvPr>
              <p:cNvSpPr/>
              <p:nvPr/>
            </p:nvSpPr>
            <p:spPr>
              <a:xfrm>
                <a:off x="7343487" y="1885120"/>
                <a:ext cx="185338" cy="7639"/>
              </a:xfrm>
              <a:custGeom>
                <a:avLst/>
                <a:gdLst/>
                <a:ahLst/>
                <a:cxnLst/>
                <a:rect l="l" t="t" r="r" b="b"/>
                <a:pathLst>
                  <a:path w="5216" h="215" extrusionOk="0">
                    <a:moveTo>
                      <a:pt x="108" y="0"/>
                    </a:moveTo>
                    <a:cubicBezTo>
                      <a:pt x="48" y="0"/>
                      <a:pt x="1" y="48"/>
                      <a:pt x="1" y="108"/>
                    </a:cubicBezTo>
                    <a:cubicBezTo>
                      <a:pt x="1" y="167"/>
                      <a:pt x="48" y="215"/>
                      <a:pt x="108" y="215"/>
                    </a:cubicBezTo>
                    <a:lnTo>
                      <a:pt x="5096" y="215"/>
                    </a:lnTo>
                    <a:cubicBezTo>
                      <a:pt x="5168" y="215"/>
                      <a:pt x="5216" y="167"/>
                      <a:pt x="5216" y="108"/>
                    </a:cubicBezTo>
                    <a:cubicBezTo>
                      <a:pt x="5216" y="48"/>
                      <a:pt x="5168" y="0"/>
                      <a:pt x="5096" y="0"/>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18" name="Google Shape;1199;p28">
                <a:extLst>
                  <a:ext uri="{FF2B5EF4-FFF2-40B4-BE49-F238E27FC236}">
                    <a16:creationId xmlns:a16="http://schemas.microsoft.com/office/drawing/2014/main" id="{72CCB8EF-64B5-4379-9184-CF95CA85A5F5}"/>
                  </a:ext>
                </a:extLst>
              </p:cNvPr>
              <p:cNvSpPr/>
              <p:nvPr/>
            </p:nvSpPr>
            <p:spPr>
              <a:xfrm>
                <a:off x="7343487" y="1921506"/>
                <a:ext cx="185338" cy="8066"/>
              </a:xfrm>
              <a:custGeom>
                <a:avLst/>
                <a:gdLst/>
                <a:ahLst/>
                <a:cxnLst/>
                <a:rect l="l" t="t" r="r" b="b"/>
                <a:pathLst>
                  <a:path w="5216" h="227" extrusionOk="0">
                    <a:moveTo>
                      <a:pt x="108" y="0"/>
                    </a:moveTo>
                    <a:cubicBezTo>
                      <a:pt x="48" y="0"/>
                      <a:pt x="1" y="48"/>
                      <a:pt x="1" y="107"/>
                    </a:cubicBezTo>
                    <a:cubicBezTo>
                      <a:pt x="1" y="179"/>
                      <a:pt x="48" y="227"/>
                      <a:pt x="108" y="227"/>
                    </a:cubicBezTo>
                    <a:lnTo>
                      <a:pt x="5096" y="227"/>
                    </a:lnTo>
                    <a:cubicBezTo>
                      <a:pt x="5168" y="227"/>
                      <a:pt x="5216" y="179"/>
                      <a:pt x="5216" y="107"/>
                    </a:cubicBezTo>
                    <a:cubicBezTo>
                      <a:pt x="5216" y="48"/>
                      <a:pt x="5168" y="0"/>
                      <a:pt x="5096" y="0"/>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19" name="Google Shape;1200;p28">
                <a:extLst>
                  <a:ext uri="{FF2B5EF4-FFF2-40B4-BE49-F238E27FC236}">
                    <a16:creationId xmlns:a16="http://schemas.microsoft.com/office/drawing/2014/main" id="{917A3234-7418-CFD5-AC80-3A5EF96B4F56}"/>
                  </a:ext>
                </a:extLst>
              </p:cNvPr>
              <p:cNvSpPr/>
              <p:nvPr/>
            </p:nvSpPr>
            <p:spPr>
              <a:xfrm>
                <a:off x="7343487" y="1957891"/>
                <a:ext cx="185338" cy="8066"/>
              </a:xfrm>
              <a:custGeom>
                <a:avLst/>
                <a:gdLst/>
                <a:ahLst/>
                <a:cxnLst/>
                <a:rect l="l" t="t" r="r" b="b"/>
                <a:pathLst>
                  <a:path w="5216" h="227" extrusionOk="0">
                    <a:moveTo>
                      <a:pt x="108" y="0"/>
                    </a:moveTo>
                    <a:cubicBezTo>
                      <a:pt x="48" y="0"/>
                      <a:pt x="1" y="60"/>
                      <a:pt x="1" y="119"/>
                    </a:cubicBezTo>
                    <a:cubicBezTo>
                      <a:pt x="1" y="179"/>
                      <a:pt x="48" y="226"/>
                      <a:pt x="108" y="226"/>
                    </a:cubicBezTo>
                    <a:lnTo>
                      <a:pt x="5096" y="226"/>
                    </a:lnTo>
                    <a:cubicBezTo>
                      <a:pt x="5168" y="226"/>
                      <a:pt x="5216" y="179"/>
                      <a:pt x="5216" y="119"/>
                    </a:cubicBezTo>
                    <a:cubicBezTo>
                      <a:pt x="5216" y="60"/>
                      <a:pt x="5168" y="0"/>
                      <a:pt x="5096" y="0"/>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20" name="Google Shape;1201;p28">
                <a:extLst>
                  <a:ext uri="{FF2B5EF4-FFF2-40B4-BE49-F238E27FC236}">
                    <a16:creationId xmlns:a16="http://schemas.microsoft.com/office/drawing/2014/main" id="{14951EEF-C771-295C-058F-0D90F1D6B217}"/>
                  </a:ext>
                </a:extLst>
              </p:cNvPr>
              <p:cNvSpPr/>
              <p:nvPr/>
            </p:nvSpPr>
            <p:spPr>
              <a:xfrm>
                <a:off x="7343487" y="1994703"/>
                <a:ext cx="185338" cy="7639"/>
              </a:xfrm>
              <a:custGeom>
                <a:avLst/>
                <a:gdLst/>
                <a:ahLst/>
                <a:cxnLst/>
                <a:rect l="l" t="t" r="r" b="b"/>
                <a:pathLst>
                  <a:path w="5216" h="215" extrusionOk="0">
                    <a:moveTo>
                      <a:pt x="108" y="0"/>
                    </a:moveTo>
                    <a:cubicBezTo>
                      <a:pt x="48" y="0"/>
                      <a:pt x="1" y="48"/>
                      <a:pt x="1" y="107"/>
                    </a:cubicBezTo>
                    <a:cubicBezTo>
                      <a:pt x="1" y="167"/>
                      <a:pt x="48" y="214"/>
                      <a:pt x="108" y="214"/>
                    </a:cubicBezTo>
                    <a:lnTo>
                      <a:pt x="5096" y="214"/>
                    </a:lnTo>
                    <a:cubicBezTo>
                      <a:pt x="5168" y="214"/>
                      <a:pt x="5216" y="167"/>
                      <a:pt x="5216" y="107"/>
                    </a:cubicBezTo>
                    <a:cubicBezTo>
                      <a:pt x="5216" y="48"/>
                      <a:pt x="5168" y="0"/>
                      <a:pt x="5096" y="0"/>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21" name="Google Shape;1202;p28">
                <a:extLst>
                  <a:ext uri="{FF2B5EF4-FFF2-40B4-BE49-F238E27FC236}">
                    <a16:creationId xmlns:a16="http://schemas.microsoft.com/office/drawing/2014/main" id="{0A0CA42F-4F4C-C151-CF36-1CF53AD35F96}"/>
                  </a:ext>
                </a:extLst>
              </p:cNvPr>
              <p:cNvSpPr/>
              <p:nvPr/>
            </p:nvSpPr>
            <p:spPr>
              <a:xfrm>
                <a:off x="7343487" y="2031053"/>
                <a:ext cx="185338" cy="7675"/>
              </a:xfrm>
              <a:custGeom>
                <a:avLst/>
                <a:gdLst/>
                <a:ahLst/>
                <a:cxnLst/>
                <a:rect l="l" t="t" r="r" b="b"/>
                <a:pathLst>
                  <a:path w="5216" h="216" extrusionOk="0">
                    <a:moveTo>
                      <a:pt x="108" y="1"/>
                    </a:moveTo>
                    <a:cubicBezTo>
                      <a:pt x="48" y="1"/>
                      <a:pt x="1" y="49"/>
                      <a:pt x="1" y="108"/>
                    </a:cubicBezTo>
                    <a:cubicBezTo>
                      <a:pt x="1" y="168"/>
                      <a:pt x="48" y="215"/>
                      <a:pt x="108" y="215"/>
                    </a:cubicBezTo>
                    <a:lnTo>
                      <a:pt x="5096" y="215"/>
                    </a:lnTo>
                    <a:cubicBezTo>
                      <a:pt x="5168" y="215"/>
                      <a:pt x="5216" y="168"/>
                      <a:pt x="5216" y="108"/>
                    </a:cubicBezTo>
                    <a:cubicBezTo>
                      <a:pt x="5216" y="49"/>
                      <a:pt x="5168" y="1"/>
                      <a:pt x="5096" y="1"/>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grpSp>
        <p:sp>
          <p:nvSpPr>
            <p:cNvPr id="108" name="Google Shape;1203;p28">
              <a:extLst>
                <a:ext uri="{FF2B5EF4-FFF2-40B4-BE49-F238E27FC236}">
                  <a16:creationId xmlns:a16="http://schemas.microsoft.com/office/drawing/2014/main" id="{83A987A5-D40D-7A01-C7A5-D21B8AB0CE0E}"/>
                </a:ext>
              </a:extLst>
            </p:cNvPr>
            <p:cNvSpPr/>
            <p:nvPr/>
          </p:nvSpPr>
          <p:spPr>
            <a:xfrm>
              <a:off x="6845138" y="2732081"/>
              <a:ext cx="1291180" cy="440034"/>
            </a:xfrm>
            <a:custGeom>
              <a:avLst/>
              <a:gdLst/>
              <a:ahLst/>
              <a:cxnLst/>
              <a:rect l="l" t="t" r="r" b="b"/>
              <a:pathLst>
                <a:path w="36338" h="12384" extrusionOk="0">
                  <a:moveTo>
                    <a:pt x="0" y="1"/>
                  </a:moveTo>
                  <a:lnTo>
                    <a:pt x="0" y="1358"/>
                  </a:lnTo>
                  <a:cubicBezTo>
                    <a:pt x="2417" y="1644"/>
                    <a:pt x="4298" y="3692"/>
                    <a:pt x="4298" y="6192"/>
                  </a:cubicBezTo>
                  <a:cubicBezTo>
                    <a:pt x="4298" y="8692"/>
                    <a:pt x="2417" y="10752"/>
                    <a:pt x="0" y="11038"/>
                  </a:cubicBezTo>
                  <a:lnTo>
                    <a:pt x="0" y="12383"/>
                  </a:lnTo>
                  <a:lnTo>
                    <a:pt x="32040" y="12383"/>
                  </a:lnTo>
                  <a:lnTo>
                    <a:pt x="32040" y="10502"/>
                  </a:lnTo>
                  <a:cubicBezTo>
                    <a:pt x="34409" y="10502"/>
                    <a:pt x="36338" y="8573"/>
                    <a:pt x="36338" y="6192"/>
                  </a:cubicBezTo>
                  <a:cubicBezTo>
                    <a:pt x="36338" y="3823"/>
                    <a:pt x="34409" y="1894"/>
                    <a:pt x="32040" y="1894"/>
                  </a:cubicBezTo>
                  <a:lnTo>
                    <a:pt x="32040" y="1"/>
                  </a:lnTo>
                  <a:close/>
                </a:path>
              </a:pathLst>
            </a:custGeom>
            <a:solidFill>
              <a:schemeClr val="accent1"/>
            </a:solidFill>
            <a:ln>
              <a:noFill/>
            </a:ln>
          </p:spPr>
          <p:txBody>
            <a:bodyPr spcFirstLastPara="1" wrap="square" lIns="91425" tIns="91425" rIns="91425" bIns="91425" anchor="ctr" anchorCtr="0">
              <a:noAutofit/>
            </a:bodyPr>
            <a:lstStyle/>
            <a:p>
              <a:pPr algn="ctr">
                <a:buClr>
                  <a:srgbClr val="000000"/>
                </a:buClr>
                <a:buFont typeface="Arial"/>
                <a:buNone/>
              </a:pPr>
              <a:r>
                <a:rPr lang="en" sz="1400" kern="0">
                  <a:solidFill>
                    <a:srgbClr val="FFFFFF"/>
                  </a:solidFill>
                  <a:latin typeface="Oswald" panose="00000500000000000000" pitchFamily="2" charset="0"/>
                  <a:ea typeface="Fira Sans Extra Condensed Medium"/>
                  <a:cs typeface="Fira Sans Extra Condensed Medium"/>
                  <a:sym typeface="Fira Sans Extra Condensed Medium"/>
                </a:rPr>
                <a:t>Phase 6</a:t>
              </a:r>
              <a:endParaRPr sz="1400" kern="0">
                <a:solidFill>
                  <a:srgbClr val="FFFFFF"/>
                </a:solidFill>
                <a:latin typeface="Oswald" panose="00000500000000000000" pitchFamily="2" charset="0"/>
                <a:ea typeface="Fira Sans Extra Condensed Medium"/>
                <a:cs typeface="Fira Sans Extra Condensed Medium"/>
                <a:sym typeface="Fira Sans Extra Condensed Medium"/>
              </a:endParaRPr>
            </a:p>
          </p:txBody>
        </p:sp>
        <p:sp>
          <p:nvSpPr>
            <p:cNvPr id="109" name="Google Shape;1204;p28">
              <a:extLst>
                <a:ext uri="{FF2B5EF4-FFF2-40B4-BE49-F238E27FC236}">
                  <a16:creationId xmlns:a16="http://schemas.microsoft.com/office/drawing/2014/main" id="{CBF4B274-AB7B-3E9B-C224-EB6292378E3C}"/>
                </a:ext>
              </a:extLst>
            </p:cNvPr>
            <p:cNvSpPr/>
            <p:nvPr/>
          </p:nvSpPr>
          <p:spPr>
            <a:xfrm>
              <a:off x="7455167" y="2235403"/>
              <a:ext cx="63070" cy="63070"/>
            </a:xfrm>
            <a:custGeom>
              <a:avLst/>
              <a:gdLst/>
              <a:ahLst/>
              <a:cxnLst/>
              <a:rect l="l" t="t" r="r" b="b"/>
              <a:pathLst>
                <a:path w="1775" h="1775" extrusionOk="0">
                  <a:moveTo>
                    <a:pt x="882" y="1"/>
                  </a:moveTo>
                  <a:cubicBezTo>
                    <a:pt x="394" y="1"/>
                    <a:pt x="1" y="394"/>
                    <a:pt x="1" y="882"/>
                  </a:cubicBezTo>
                  <a:cubicBezTo>
                    <a:pt x="1" y="1382"/>
                    <a:pt x="394" y="1775"/>
                    <a:pt x="882" y="1775"/>
                  </a:cubicBezTo>
                  <a:cubicBezTo>
                    <a:pt x="1382" y="1775"/>
                    <a:pt x="1775" y="1382"/>
                    <a:pt x="1775" y="882"/>
                  </a:cubicBezTo>
                  <a:cubicBezTo>
                    <a:pt x="1775" y="394"/>
                    <a:pt x="1382" y="1"/>
                    <a:pt x="882" y="1"/>
                  </a:cubicBezTo>
                  <a:close/>
                </a:path>
              </a:pathLst>
            </a:custGeom>
            <a:solidFill>
              <a:srgbClr val="000000"/>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10" name="Google Shape;1205;p28">
              <a:extLst>
                <a:ext uri="{FF2B5EF4-FFF2-40B4-BE49-F238E27FC236}">
                  <a16:creationId xmlns:a16="http://schemas.microsoft.com/office/drawing/2014/main" id="{9BC774F1-119B-6F70-F432-181C4D80A201}"/>
                </a:ext>
              </a:extLst>
            </p:cNvPr>
            <p:cNvSpPr txBox="1"/>
            <p:nvPr/>
          </p:nvSpPr>
          <p:spPr>
            <a:xfrm>
              <a:off x="6872487" y="1099726"/>
              <a:ext cx="1291500" cy="534900"/>
            </a:xfrm>
            <a:prstGeom prst="rect">
              <a:avLst/>
            </a:prstGeom>
            <a:noFill/>
            <a:ln>
              <a:noFill/>
            </a:ln>
          </p:spPr>
          <p:txBody>
            <a:bodyPr spcFirstLastPara="1" wrap="square" lIns="91425" tIns="91425" rIns="91425" bIns="91425" anchor="ctr" anchorCtr="0">
              <a:noAutofit/>
            </a:bodyPr>
            <a:lstStyle/>
            <a:p>
              <a:pPr algn="ctr">
                <a:buClr>
                  <a:srgbClr val="000000"/>
                </a:buClr>
                <a:buFont typeface="Arial"/>
                <a:buNone/>
              </a:pPr>
              <a:r>
                <a:rPr lang="en" sz="1500" kern="0">
                  <a:solidFill>
                    <a:srgbClr val="434343"/>
                  </a:solidFill>
                  <a:latin typeface="Oswald" panose="00000500000000000000" pitchFamily="2" charset="0"/>
                  <a:ea typeface="Roboto"/>
                  <a:cs typeface="Roboto"/>
                  <a:sym typeface="Roboto"/>
                </a:rPr>
                <a:t>Onboarding</a:t>
              </a:r>
              <a:endParaRPr sz="1500" kern="0">
                <a:solidFill>
                  <a:srgbClr val="434343"/>
                </a:solidFill>
                <a:latin typeface="Oswald" panose="00000500000000000000" pitchFamily="2" charset="0"/>
                <a:ea typeface="Roboto"/>
                <a:cs typeface="Roboto"/>
                <a:sym typeface="Roboto"/>
              </a:endParaRPr>
            </a:p>
          </p:txBody>
        </p:sp>
      </p:grpSp>
      <p:grpSp>
        <p:nvGrpSpPr>
          <p:cNvPr id="122" name="Google Shape;1206;p28">
            <a:extLst>
              <a:ext uri="{FF2B5EF4-FFF2-40B4-BE49-F238E27FC236}">
                <a16:creationId xmlns:a16="http://schemas.microsoft.com/office/drawing/2014/main" id="{B2554248-DF1C-379B-EA12-9AD5870B36A4}"/>
              </a:ext>
            </a:extLst>
          </p:cNvPr>
          <p:cNvGrpSpPr/>
          <p:nvPr/>
        </p:nvGrpSpPr>
        <p:grpSpPr>
          <a:xfrm>
            <a:off x="636597" y="995664"/>
            <a:ext cx="1291216" cy="2075495"/>
            <a:chOff x="1007688" y="1096620"/>
            <a:chExt cx="1291216" cy="2075495"/>
          </a:xfrm>
        </p:grpSpPr>
        <p:sp>
          <p:nvSpPr>
            <p:cNvPr id="123" name="Google Shape;1207;p28">
              <a:extLst>
                <a:ext uri="{FF2B5EF4-FFF2-40B4-BE49-F238E27FC236}">
                  <a16:creationId xmlns:a16="http://schemas.microsoft.com/office/drawing/2014/main" id="{BD782012-A3FA-2281-775A-9A6AEB215088}"/>
                </a:ext>
              </a:extLst>
            </p:cNvPr>
            <p:cNvSpPr/>
            <p:nvPr/>
          </p:nvSpPr>
          <p:spPr>
            <a:xfrm>
              <a:off x="1643549" y="2261200"/>
              <a:ext cx="11477" cy="704858"/>
            </a:xfrm>
            <a:custGeom>
              <a:avLst/>
              <a:gdLst/>
              <a:ahLst/>
              <a:cxnLst/>
              <a:rect l="l" t="t" r="r" b="b"/>
              <a:pathLst>
                <a:path w="323" h="19837" extrusionOk="0">
                  <a:moveTo>
                    <a:pt x="167" y="1"/>
                  </a:moveTo>
                  <a:cubicBezTo>
                    <a:pt x="72" y="1"/>
                    <a:pt x="1" y="72"/>
                    <a:pt x="1" y="156"/>
                  </a:cubicBezTo>
                  <a:lnTo>
                    <a:pt x="1" y="19682"/>
                  </a:lnTo>
                  <a:cubicBezTo>
                    <a:pt x="1" y="19765"/>
                    <a:pt x="72" y="19837"/>
                    <a:pt x="167" y="19837"/>
                  </a:cubicBezTo>
                  <a:cubicBezTo>
                    <a:pt x="251" y="19837"/>
                    <a:pt x="322" y="19765"/>
                    <a:pt x="322" y="19682"/>
                  </a:cubicBezTo>
                  <a:lnTo>
                    <a:pt x="322" y="156"/>
                  </a:lnTo>
                  <a:cubicBezTo>
                    <a:pt x="322" y="72"/>
                    <a:pt x="251" y="1"/>
                    <a:pt x="167" y="1"/>
                  </a:cubicBezTo>
                  <a:close/>
                </a:path>
              </a:pathLst>
            </a:custGeom>
            <a:solidFill>
              <a:srgbClr val="000000"/>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24" name="Google Shape;1208;p28">
              <a:extLst>
                <a:ext uri="{FF2B5EF4-FFF2-40B4-BE49-F238E27FC236}">
                  <a16:creationId xmlns:a16="http://schemas.microsoft.com/office/drawing/2014/main" id="{B4808649-F3D9-640A-E517-1A6416430ACE}"/>
                </a:ext>
              </a:extLst>
            </p:cNvPr>
            <p:cNvSpPr/>
            <p:nvPr/>
          </p:nvSpPr>
          <p:spPr>
            <a:xfrm>
              <a:off x="1440905" y="1674446"/>
              <a:ext cx="426497" cy="222540"/>
            </a:xfrm>
            <a:custGeom>
              <a:avLst/>
              <a:gdLst/>
              <a:ahLst/>
              <a:cxnLst/>
              <a:rect l="l" t="t" r="r" b="b"/>
              <a:pathLst>
                <a:path w="12003" h="6263" extrusionOk="0">
                  <a:moveTo>
                    <a:pt x="5918" y="298"/>
                  </a:moveTo>
                  <a:lnTo>
                    <a:pt x="11645" y="5525"/>
                  </a:lnTo>
                  <a:cubicBezTo>
                    <a:pt x="11752" y="5632"/>
                    <a:pt x="11764" y="5810"/>
                    <a:pt x="11657" y="5929"/>
                  </a:cubicBezTo>
                  <a:cubicBezTo>
                    <a:pt x="11609" y="5989"/>
                    <a:pt x="11538" y="6025"/>
                    <a:pt x="11454" y="6025"/>
                  </a:cubicBezTo>
                  <a:cubicBezTo>
                    <a:pt x="11383" y="6025"/>
                    <a:pt x="11312" y="6001"/>
                    <a:pt x="11252" y="5953"/>
                  </a:cubicBezTo>
                  <a:lnTo>
                    <a:pt x="5918" y="1084"/>
                  </a:lnTo>
                  <a:lnTo>
                    <a:pt x="691" y="5965"/>
                  </a:lnTo>
                  <a:cubicBezTo>
                    <a:pt x="641" y="6016"/>
                    <a:pt x="574" y="6040"/>
                    <a:pt x="507" y="6040"/>
                  </a:cubicBezTo>
                  <a:cubicBezTo>
                    <a:pt x="431" y="6040"/>
                    <a:pt x="355" y="6010"/>
                    <a:pt x="298" y="5953"/>
                  </a:cubicBezTo>
                  <a:cubicBezTo>
                    <a:pt x="251" y="5906"/>
                    <a:pt x="215" y="5834"/>
                    <a:pt x="215" y="5751"/>
                  </a:cubicBezTo>
                  <a:cubicBezTo>
                    <a:pt x="215" y="5667"/>
                    <a:pt x="251" y="5596"/>
                    <a:pt x="310" y="5548"/>
                  </a:cubicBezTo>
                  <a:lnTo>
                    <a:pt x="5918" y="298"/>
                  </a:lnTo>
                  <a:close/>
                  <a:moveTo>
                    <a:pt x="5918" y="0"/>
                  </a:moveTo>
                  <a:lnTo>
                    <a:pt x="155" y="5394"/>
                  </a:lnTo>
                  <a:cubicBezTo>
                    <a:pt x="60" y="5477"/>
                    <a:pt x="1" y="5608"/>
                    <a:pt x="1" y="5751"/>
                  </a:cubicBezTo>
                  <a:cubicBezTo>
                    <a:pt x="1" y="5882"/>
                    <a:pt x="48" y="6013"/>
                    <a:pt x="143" y="6108"/>
                  </a:cubicBezTo>
                  <a:cubicBezTo>
                    <a:pt x="239" y="6215"/>
                    <a:pt x="370" y="6263"/>
                    <a:pt x="501" y="6263"/>
                  </a:cubicBezTo>
                  <a:cubicBezTo>
                    <a:pt x="620" y="6263"/>
                    <a:pt x="751" y="6215"/>
                    <a:pt x="846" y="6120"/>
                  </a:cubicBezTo>
                  <a:lnTo>
                    <a:pt x="5918" y="1381"/>
                  </a:lnTo>
                  <a:lnTo>
                    <a:pt x="11109" y="6108"/>
                  </a:lnTo>
                  <a:cubicBezTo>
                    <a:pt x="11195" y="6194"/>
                    <a:pt x="11309" y="6241"/>
                    <a:pt x="11427" y="6241"/>
                  </a:cubicBezTo>
                  <a:cubicBezTo>
                    <a:pt x="11440" y="6241"/>
                    <a:pt x="11453" y="6240"/>
                    <a:pt x="11466" y="6239"/>
                  </a:cubicBezTo>
                  <a:cubicBezTo>
                    <a:pt x="11609" y="6239"/>
                    <a:pt x="11728" y="6179"/>
                    <a:pt x="11824" y="6072"/>
                  </a:cubicBezTo>
                  <a:cubicBezTo>
                    <a:pt x="12002" y="5870"/>
                    <a:pt x="11990" y="5548"/>
                    <a:pt x="11788" y="5370"/>
                  </a:cubicBezTo>
                  <a:lnTo>
                    <a:pt x="5918" y="0"/>
                  </a:lnTo>
                  <a:close/>
                </a:path>
              </a:pathLst>
            </a:custGeom>
            <a:solidFill>
              <a:srgbClr val="FCBD24"/>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25" name="Google Shape;1209;p28">
              <a:extLst>
                <a:ext uri="{FF2B5EF4-FFF2-40B4-BE49-F238E27FC236}">
                  <a16:creationId xmlns:a16="http://schemas.microsoft.com/office/drawing/2014/main" id="{BFC693B5-6365-8068-76F9-D65CC8364606}"/>
                </a:ext>
              </a:extLst>
            </p:cNvPr>
            <p:cNvSpPr/>
            <p:nvPr/>
          </p:nvSpPr>
          <p:spPr>
            <a:xfrm>
              <a:off x="1498859" y="1712928"/>
              <a:ext cx="305082" cy="436623"/>
            </a:xfrm>
            <a:custGeom>
              <a:avLst/>
              <a:gdLst/>
              <a:ahLst/>
              <a:cxnLst/>
              <a:rect l="l" t="t" r="r" b="b"/>
              <a:pathLst>
                <a:path w="8586" h="12288" extrusionOk="0">
                  <a:moveTo>
                    <a:pt x="4287" y="298"/>
                  </a:moveTo>
                  <a:lnTo>
                    <a:pt x="8371" y="4132"/>
                  </a:lnTo>
                  <a:lnTo>
                    <a:pt x="8371" y="12073"/>
                  </a:lnTo>
                  <a:lnTo>
                    <a:pt x="6204" y="12073"/>
                  </a:lnTo>
                  <a:lnTo>
                    <a:pt x="6204" y="6989"/>
                  </a:lnTo>
                  <a:cubicBezTo>
                    <a:pt x="6204" y="5954"/>
                    <a:pt x="5370" y="5120"/>
                    <a:pt x="4347" y="5120"/>
                  </a:cubicBezTo>
                  <a:cubicBezTo>
                    <a:pt x="3323" y="5120"/>
                    <a:pt x="2477" y="5954"/>
                    <a:pt x="2477" y="6989"/>
                  </a:cubicBezTo>
                  <a:lnTo>
                    <a:pt x="2477" y="12073"/>
                  </a:lnTo>
                  <a:lnTo>
                    <a:pt x="215" y="12073"/>
                  </a:lnTo>
                  <a:lnTo>
                    <a:pt x="215" y="4132"/>
                  </a:lnTo>
                  <a:lnTo>
                    <a:pt x="4287" y="298"/>
                  </a:lnTo>
                  <a:close/>
                  <a:moveTo>
                    <a:pt x="4287" y="1"/>
                  </a:moveTo>
                  <a:lnTo>
                    <a:pt x="1" y="4037"/>
                  </a:lnTo>
                  <a:lnTo>
                    <a:pt x="1" y="12288"/>
                  </a:lnTo>
                  <a:lnTo>
                    <a:pt x="2703" y="12288"/>
                  </a:lnTo>
                  <a:lnTo>
                    <a:pt x="2703" y="6989"/>
                  </a:lnTo>
                  <a:cubicBezTo>
                    <a:pt x="2703" y="6085"/>
                    <a:pt x="3442" y="5346"/>
                    <a:pt x="4347" y="5346"/>
                  </a:cubicBezTo>
                  <a:cubicBezTo>
                    <a:pt x="5251" y="5346"/>
                    <a:pt x="5990" y="6085"/>
                    <a:pt x="5990" y="6989"/>
                  </a:cubicBezTo>
                  <a:lnTo>
                    <a:pt x="5990" y="12288"/>
                  </a:lnTo>
                  <a:lnTo>
                    <a:pt x="8585" y="12288"/>
                  </a:lnTo>
                  <a:lnTo>
                    <a:pt x="8585" y="4037"/>
                  </a:lnTo>
                  <a:lnTo>
                    <a:pt x="4287" y="1"/>
                  </a:lnTo>
                  <a:close/>
                </a:path>
              </a:pathLst>
            </a:custGeom>
            <a:solidFill>
              <a:schemeClr val="tx2"/>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26" name="Google Shape;1210;p28">
              <a:extLst>
                <a:ext uri="{FF2B5EF4-FFF2-40B4-BE49-F238E27FC236}">
                  <a16:creationId xmlns:a16="http://schemas.microsoft.com/office/drawing/2014/main" id="{7779BF20-05FF-0052-74B8-7423A714ADAA}"/>
                </a:ext>
              </a:extLst>
            </p:cNvPr>
            <p:cNvSpPr/>
            <p:nvPr/>
          </p:nvSpPr>
          <p:spPr>
            <a:xfrm>
              <a:off x="1649056" y="1869876"/>
              <a:ext cx="93095" cy="192941"/>
            </a:xfrm>
            <a:custGeom>
              <a:avLst/>
              <a:gdLst/>
              <a:ahLst/>
              <a:cxnLst/>
              <a:rect l="l" t="t" r="r" b="b"/>
              <a:pathLst>
                <a:path w="2620" h="5430" extrusionOk="0">
                  <a:moveTo>
                    <a:pt x="120" y="1"/>
                  </a:moveTo>
                  <a:cubicBezTo>
                    <a:pt x="72" y="1"/>
                    <a:pt x="12" y="48"/>
                    <a:pt x="12" y="108"/>
                  </a:cubicBezTo>
                  <a:cubicBezTo>
                    <a:pt x="0" y="167"/>
                    <a:pt x="48" y="215"/>
                    <a:pt x="108" y="227"/>
                  </a:cubicBezTo>
                  <a:cubicBezTo>
                    <a:pt x="120" y="227"/>
                    <a:pt x="965" y="286"/>
                    <a:pt x="1620" y="846"/>
                  </a:cubicBezTo>
                  <a:cubicBezTo>
                    <a:pt x="2286" y="1406"/>
                    <a:pt x="2406" y="1953"/>
                    <a:pt x="2406" y="2834"/>
                  </a:cubicBezTo>
                  <a:lnTo>
                    <a:pt x="2406" y="5323"/>
                  </a:lnTo>
                  <a:cubicBezTo>
                    <a:pt x="2406" y="5382"/>
                    <a:pt x="2453" y="5430"/>
                    <a:pt x="2513" y="5430"/>
                  </a:cubicBezTo>
                  <a:cubicBezTo>
                    <a:pt x="2572" y="5430"/>
                    <a:pt x="2620" y="5382"/>
                    <a:pt x="2620" y="5323"/>
                  </a:cubicBezTo>
                  <a:lnTo>
                    <a:pt x="2620" y="2834"/>
                  </a:lnTo>
                  <a:cubicBezTo>
                    <a:pt x="2620" y="1906"/>
                    <a:pt x="2489" y="1287"/>
                    <a:pt x="1763" y="679"/>
                  </a:cubicBezTo>
                  <a:cubicBezTo>
                    <a:pt x="1060" y="84"/>
                    <a:pt x="167" y="13"/>
                    <a:pt x="120" y="1"/>
                  </a:cubicBezTo>
                  <a:close/>
                </a:path>
              </a:pathLst>
            </a:custGeom>
            <a:solidFill>
              <a:srgbClr val="FCBD24"/>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27" name="Google Shape;1211;p28">
              <a:extLst>
                <a:ext uri="{FF2B5EF4-FFF2-40B4-BE49-F238E27FC236}">
                  <a16:creationId xmlns:a16="http://schemas.microsoft.com/office/drawing/2014/main" id="{A8FC2BBA-78D1-5DCD-E247-C4511248F9EE}"/>
                </a:ext>
              </a:extLst>
            </p:cNvPr>
            <p:cNvSpPr/>
            <p:nvPr/>
          </p:nvSpPr>
          <p:spPr>
            <a:xfrm>
              <a:off x="1007688" y="2732081"/>
              <a:ext cx="1291216" cy="440034"/>
            </a:xfrm>
            <a:custGeom>
              <a:avLst/>
              <a:gdLst/>
              <a:ahLst/>
              <a:cxnLst/>
              <a:rect l="l" t="t" r="r" b="b"/>
              <a:pathLst>
                <a:path w="36339" h="12384" extrusionOk="0">
                  <a:moveTo>
                    <a:pt x="1" y="1"/>
                  </a:moveTo>
                  <a:lnTo>
                    <a:pt x="1" y="1358"/>
                  </a:lnTo>
                  <a:cubicBezTo>
                    <a:pt x="2418" y="1644"/>
                    <a:pt x="4299" y="3692"/>
                    <a:pt x="4299" y="6192"/>
                  </a:cubicBezTo>
                  <a:cubicBezTo>
                    <a:pt x="4299" y="8692"/>
                    <a:pt x="2418" y="10752"/>
                    <a:pt x="1" y="11038"/>
                  </a:cubicBezTo>
                  <a:lnTo>
                    <a:pt x="1" y="12383"/>
                  </a:lnTo>
                  <a:lnTo>
                    <a:pt x="32040" y="12383"/>
                  </a:lnTo>
                  <a:lnTo>
                    <a:pt x="32040" y="10502"/>
                  </a:lnTo>
                  <a:cubicBezTo>
                    <a:pt x="34410" y="10502"/>
                    <a:pt x="36338" y="8573"/>
                    <a:pt x="36338" y="6192"/>
                  </a:cubicBezTo>
                  <a:cubicBezTo>
                    <a:pt x="36338" y="3823"/>
                    <a:pt x="34410" y="1894"/>
                    <a:pt x="32040" y="1894"/>
                  </a:cubicBezTo>
                  <a:lnTo>
                    <a:pt x="32040" y="1"/>
                  </a:lnTo>
                  <a:close/>
                </a:path>
              </a:pathLst>
            </a:custGeom>
            <a:solidFill>
              <a:schemeClr val="accent1"/>
            </a:solidFill>
            <a:ln>
              <a:noFill/>
            </a:ln>
          </p:spPr>
          <p:txBody>
            <a:bodyPr spcFirstLastPara="1" wrap="square" lIns="91425" tIns="91425" rIns="91425" bIns="91425" anchor="ctr" anchorCtr="0">
              <a:noAutofit/>
            </a:bodyPr>
            <a:lstStyle/>
            <a:p>
              <a:pPr algn="ctr">
                <a:buClr>
                  <a:srgbClr val="000000"/>
                </a:buClr>
                <a:buFont typeface="Arial"/>
                <a:buNone/>
              </a:pPr>
              <a:r>
                <a:rPr lang="en" sz="1400" kern="0" dirty="0">
                  <a:solidFill>
                    <a:srgbClr val="FFFFFF"/>
                  </a:solidFill>
                  <a:latin typeface="Oswald" panose="00000500000000000000" pitchFamily="2" charset="0"/>
                  <a:ea typeface="Fira Sans Extra Condensed Medium"/>
                  <a:cs typeface="Fira Sans Extra Condensed Medium"/>
                  <a:sym typeface="Fira Sans Extra Condensed Medium"/>
                </a:rPr>
                <a:t>Phase 1</a:t>
              </a:r>
              <a:endParaRPr sz="1400" kern="0" dirty="0">
                <a:solidFill>
                  <a:srgbClr val="FFFFFF"/>
                </a:solidFill>
                <a:latin typeface="Oswald" panose="00000500000000000000" pitchFamily="2" charset="0"/>
                <a:ea typeface="Fira Sans Extra Condensed Medium"/>
                <a:cs typeface="Fira Sans Extra Condensed Medium"/>
                <a:sym typeface="Fira Sans Extra Condensed Medium"/>
              </a:endParaRPr>
            </a:p>
          </p:txBody>
        </p:sp>
        <p:sp>
          <p:nvSpPr>
            <p:cNvPr id="128" name="Google Shape;1212;p28">
              <a:extLst>
                <a:ext uri="{FF2B5EF4-FFF2-40B4-BE49-F238E27FC236}">
                  <a16:creationId xmlns:a16="http://schemas.microsoft.com/office/drawing/2014/main" id="{8122203B-067A-2960-B16C-E7760D2CBC30}"/>
                </a:ext>
              </a:extLst>
            </p:cNvPr>
            <p:cNvSpPr/>
            <p:nvPr/>
          </p:nvSpPr>
          <p:spPr>
            <a:xfrm>
              <a:off x="1617752" y="2235403"/>
              <a:ext cx="63070" cy="63070"/>
            </a:xfrm>
            <a:custGeom>
              <a:avLst/>
              <a:gdLst/>
              <a:ahLst/>
              <a:cxnLst/>
              <a:rect l="l" t="t" r="r" b="b"/>
              <a:pathLst>
                <a:path w="1775" h="1775" extrusionOk="0">
                  <a:moveTo>
                    <a:pt x="893" y="1"/>
                  </a:moveTo>
                  <a:cubicBezTo>
                    <a:pt x="393" y="1"/>
                    <a:pt x="0" y="394"/>
                    <a:pt x="0" y="882"/>
                  </a:cubicBezTo>
                  <a:cubicBezTo>
                    <a:pt x="0" y="1382"/>
                    <a:pt x="393" y="1775"/>
                    <a:pt x="893" y="1775"/>
                  </a:cubicBezTo>
                  <a:cubicBezTo>
                    <a:pt x="1382" y="1775"/>
                    <a:pt x="1774" y="1382"/>
                    <a:pt x="1774" y="882"/>
                  </a:cubicBezTo>
                  <a:cubicBezTo>
                    <a:pt x="1774" y="394"/>
                    <a:pt x="1382" y="1"/>
                    <a:pt x="893" y="1"/>
                  </a:cubicBezTo>
                  <a:close/>
                </a:path>
              </a:pathLst>
            </a:custGeom>
            <a:solidFill>
              <a:srgbClr val="000000"/>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29" name="Google Shape;1213;p28">
              <a:extLst>
                <a:ext uri="{FF2B5EF4-FFF2-40B4-BE49-F238E27FC236}">
                  <a16:creationId xmlns:a16="http://schemas.microsoft.com/office/drawing/2014/main" id="{98A37D5D-4C74-82FE-3933-8353A8B0E91C}"/>
                </a:ext>
              </a:extLst>
            </p:cNvPr>
            <p:cNvSpPr txBox="1"/>
            <p:nvPr/>
          </p:nvSpPr>
          <p:spPr>
            <a:xfrm>
              <a:off x="1111953" y="1096620"/>
              <a:ext cx="1167300" cy="534900"/>
            </a:xfrm>
            <a:prstGeom prst="rect">
              <a:avLst/>
            </a:prstGeom>
            <a:noFill/>
            <a:ln>
              <a:noFill/>
            </a:ln>
          </p:spPr>
          <p:txBody>
            <a:bodyPr spcFirstLastPara="1" wrap="square" lIns="91425" tIns="91425" rIns="91425" bIns="91425" anchor="ctr" anchorCtr="0">
              <a:noAutofit/>
            </a:bodyPr>
            <a:lstStyle/>
            <a:p>
              <a:pPr algn="ctr">
                <a:buClr>
                  <a:srgbClr val="000000"/>
                </a:buClr>
                <a:buFont typeface="Arial"/>
                <a:buNone/>
              </a:pPr>
              <a:r>
                <a:rPr lang="en" sz="1500" kern="0">
                  <a:solidFill>
                    <a:srgbClr val="434343"/>
                  </a:solidFill>
                  <a:latin typeface="Oswald" panose="00000500000000000000" pitchFamily="2" charset="0"/>
                  <a:ea typeface="Roboto"/>
                  <a:cs typeface="Roboto"/>
                  <a:sym typeface="Roboto"/>
                </a:rPr>
                <a:t>Profile Screening</a:t>
              </a:r>
              <a:endParaRPr sz="1500" kern="0">
                <a:solidFill>
                  <a:srgbClr val="434343"/>
                </a:solidFill>
                <a:latin typeface="Oswald" panose="00000500000000000000" pitchFamily="2" charset="0"/>
                <a:ea typeface="Roboto"/>
                <a:cs typeface="Roboto"/>
                <a:sym typeface="Roboto"/>
              </a:endParaRPr>
            </a:p>
          </p:txBody>
        </p:sp>
      </p:grpSp>
      <p:grpSp>
        <p:nvGrpSpPr>
          <p:cNvPr id="130" name="Google Shape;1214;p28">
            <a:extLst>
              <a:ext uri="{FF2B5EF4-FFF2-40B4-BE49-F238E27FC236}">
                <a16:creationId xmlns:a16="http://schemas.microsoft.com/office/drawing/2014/main" id="{6FAA4335-4B7A-1304-578E-0E702615CD76}"/>
              </a:ext>
            </a:extLst>
          </p:cNvPr>
          <p:cNvGrpSpPr/>
          <p:nvPr/>
        </p:nvGrpSpPr>
        <p:grpSpPr>
          <a:xfrm>
            <a:off x="1803817" y="971067"/>
            <a:ext cx="1291642" cy="2100092"/>
            <a:chOff x="2174908" y="1072023"/>
            <a:chExt cx="1291642" cy="2100092"/>
          </a:xfrm>
        </p:grpSpPr>
        <p:grpSp>
          <p:nvGrpSpPr>
            <p:cNvPr id="131" name="Google Shape;1215;p28">
              <a:extLst>
                <a:ext uri="{FF2B5EF4-FFF2-40B4-BE49-F238E27FC236}">
                  <a16:creationId xmlns:a16="http://schemas.microsoft.com/office/drawing/2014/main" id="{385FEA3F-10EB-B5FB-C333-4EB9AE32F0BA}"/>
                </a:ext>
              </a:extLst>
            </p:cNvPr>
            <p:cNvGrpSpPr/>
            <p:nvPr/>
          </p:nvGrpSpPr>
          <p:grpSpPr>
            <a:xfrm>
              <a:off x="2567937" y="1575025"/>
              <a:ext cx="505596" cy="574530"/>
              <a:chOff x="2567937" y="1575025"/>
              <a:chExt cx="505596" cy="574530"/>
            </a:xfrm>
          </p:grpSpPr>
          <p:sp>
            <p:nvSpPr>
              <p:cNvPr id="135" name="Google Shape;1216;p28">
                <a:extLst>
                  <a:ext uri="{FF2B5EF4-FFF2-40B4-BE49-F238E27FC236}">
                    <a16:creationId xmlns:a16="http://schemas.microsoft.com/office/drawing/2014/main" id="{6E7809C4-2F0E-8382-D044-A183FFB32EBF}"/>
                  </a:ext>
                </a:extLst>
              </p:cNvPr>
              <p:cNvSpPr/>
              <p:nvPr/>
            </p:nvSpPr>
            <p:spPr>
              <a:xfrm>
                <a:off x="2667358" y="1687344"/>
                <a:ext cx="302950" cy="396223"/>
              </a:xfrm>
              <a:custGeom>
                <a:avLst/>
                <a:gdLst/>
                <a:ahLst/>
                <a:cxnLst/>
                <a:rect l="l" t="t" r="r" b="b"/>
                <a:pathLst>
                  <a:path w="8526" h="11151" extrusionOk="0">
                    <a:moveTo>
                      <a:pt x="4326" y="218"/>
                    </a:moveTo>
                    <a:cubicBezTo>
                      <a:pt x="5309" y="218"/>
                      <a:pt x="6237" y="574"/>
                      <a:pt x="6978" y="1232"/>
                    </a:cubicBezTo>
                    <a:cubicBezTo>
                      <a:pt x="7823" y="1994"/>
                      <a:pt x="8299" y="3078"/>
                      <a:pt x="8299" y="4209"/>
                    </a:cubicBezTo>
                    <a:cubicBezTo>
                      <a:pt x="8299" y="5316"/>
                      <a:pt x="7859" y="6340"/>
                      <a:pt x="7061" y="7102"/>
                    </a:cubicBezTo>
                    <a:cubicBezTo>
                      <a:pt x="6299" y="7829"/>
                      <a:pt x="5871" y="8769"/>
                      <a:pt x="5871" y="9769"/>
                    </a:cubicBezTo>
                    <a:lnTo>
                      <a:pt x="5871" y="10924"/>
                    </a:lnTo>
                    <a:lnTo>
                      <a:pt x="2763" y="10924"/>
                    </a:lnTo>
                    <a:lnTo>
                      <a:pt x="2763" y="9734"/>
                    </a:lnTo>
                    <a:cubicBezTo>
                      <a:pt x="2763" y="8757"/>
                      <a:pt x="2346" y="7829"/>
                      <a:pt x="1584" y="7114"/>
                    </a:cubicBezTo>
                    <a:cubicBezTo>
                      <a:pt x="668" y="6257"/>
                      <a:pt x="227" y="5054"/>
                      <a:pt x="346" y="3804"/>
                    </a:cubicBezTo>
                    <a:cubicBezTo>
                      <a:pt x="537" y="1947"/>
                      <a:pt x="2013" y="447"/>
                      <a:pt x="3858" y="244"/>
                    </a:cubicBezTo>
                    <a:cubicBezTo>
                      <a:pt x="4015" y="226"/>
                      <a:pt x="4171" y="218"/>
                      <a:pt x="4326" y="218"/>
                    </a:cubicBezTo>
                    <a:close/>
                    <a:moveTo>
                      <a:pt x="4334" y="0"/>
                    </a:moveTo>
                    <a:cubicBezTo>
                      <a:pt x="4169" y="0"/>
                      <a:pt x="4002" y="10"/>
                      <a:pt x="3835" y="30"/>
                    </a:cubicBezTo>
                    <a:cubicBezTo>
                      <a:pt x="1882" y="244"/>
                      <a:pt x="322" y="1816"/>
                      <a:pt x="132" y="3780"/>
                    </a:cubicBezTo>
                    <a:cubicBezTo>
                      <a:pt x="1" y="5090"/>
                      <a:pt x="477" y="6364"/>
                      <a:pt x="1430" y="7269"/>
                    </a:cubicBezTo>
                    <a:cubicBezTo>
                      <a:pt x="2144" y="7936"/>
                      <a:pt x="2537" y="8817"/>
                      <a:pt x="2537" y="9734"/>
                    </a:cubicBezTo>
                    <a:lnTo>
                      <a:pt x="2537" y="11150"/>
                    </a:lnTo>
                    <a:lnTo>
                      <a:pt x="6097" y="11150"/>
                    </a:lnTo>
                    <a:lnTo>
                      <a:pt x="6097" y="9769"/>
                    </a:lnTo>
                    <a:cubicBezTo>
                      <a:pt x="6097" y="8829"/>
                      <a:pt x="6490" y="7948"/>
                      <a:pt x="7216" y="7257"/>
                    </a:cubicBezTo>
                    <a:cubicBezTo>
                      <a:pt x="8061" y="6459"/>
                      <a:pt x="8526" y="5376"/>
                      <a:pt x="8526" y="4209"/>
                    </a:cubicBezTo>
                    <a:cubicBezTo>
                      <a:pt x="8526" y="3018"/>
                      <a:pt x="8014" y="1875"/>
                      <a:pt x="7121" y="1078"/>
                    </a:cubicBezTo>
                    <a:cubicBezTo>
                      <a:pt x="6341" y="380"/>
                      <a:pt x="5366" y="0"/>
                      <a:pt x="4334" y="0"/>
                    </a:cubicBezTo>
                    <a:close/>
                  </a:path>
                </a:pathLst>
              </a:custGeom>
              <a:solidFill>
                <a:srgbClr val="69E781"/>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36" name="Google Shape;1217;p28">
                <a:extLst>
                  <a:ext uri="{FF2B5EF4-FFF2-40B4-BE49-F238E27FC236}">
                    <a16:creationId xmlns:a16="http://schemas.microsoft.com/office/drawing/2014/main" id="{ABADEFD6-B62D-B1A1-C346-0ABB41DA906E}"/>
                  </a:ext>
                </a:extLst>
              </p:cNvPr>
              <p:cNvSpPr/>
              <p:nvPr/>
            </p:nvSpPr>
            <p:spPr>
              <a:xfrm>
                <a:off x="2766779" y="2075505"/>
                <a:ext cx="109191" cy="74050"/>
              </a:xfrm>
              <a:custGeom>
                <a:avLst/>
                <a:gdLst/>
                <a:ahLst/>
                <a:cxnLst/>
                <a:rect l="l" t="t" r="r" b="b"/>
                <a:pathLst>
                  <a:path w="3073" h="2084" extrusionOk="0">
                    <a:moveTo>
                      <a:pt x="2858" y="226"/>
                    </a:moveTo>
                    <a:lnTo>
                      <a:pt x="2858" y="1548"/>
                    </a:lnTo>
                    <a:cubicBezTo>
                      <a:pt x="2858" y="1727"/>
                      <a:pt x="2715" y="1869"/>
                      <a:pt x="2537" y="1869"/>
                    </a:cubicBezTo>
                    <a:lnTo>
                      <a:pt x="537" y="1869"/>
                    </a:lnTo>
                    <a:cubicBezTo>
                      <a:pt x="358" y="1869"/>
                      <a:pt x="215" y="1727"/>
                      <a:pt x="215" y="1548"/>
                    </a:cubicBezTo>
                    <a:lnTo>
                      <a:pt x="215" y="226"/>
                    </a:lnTo>
                    <a:close/>
                    <a:moveTo>
                      <a:pt x="1" y="0"/>
                    </a:moveTo>
                    <a:lnTo>
                      <a:pt x="1" y="1548"/>
                    </a:lnTo>
                    <a:cubicBezTo>
                      <a:pt x="1" y="1846"/>
                      <a:pt x="239" y="2084"/>
                      <a:pt x="537" y="2084"/>
                    </a:cubicBezTo>
                    <a:lnTo>
                      <a:pt x="2537" y="2084"/>
                    </a:lnTo>
                    <a:cubicBezTo>
                      <a:pt x="2834" y="2084"/>
                      <a:pt x="3073" y="1846"/>
                      <a:pt x="3073" y="1548"/>
                    </a:cubicBezTo>
                    <a:lnTo>
                      <a:pt x="3073" y="0"/>
                    </a:lnTo>
                    <a:close/>
                  </a:path>
                </a:pathLst>
              </a:custGeom>
              <a:solidFill>
                <a:srgbClr val="69E781"/>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37" name="Google Shape;1218;p28">
                <a:extLst>
                  <a:ext uri="{FF2B5EF4-FFF2-40B4-BE49-F238E27FC236}">
                    <a16:creationId xmlns:a16="http://schemas.microsoft.com/office/drawing/2014/main" id="{291AA5F3-454C-92C3-05AB-D881B18DBF21}"/>
                  </a:ext>
                </a:extLst>
              </p:cNvPr>
              <p:cNvSpPr/>
              <p:nvPr/>
            </p:nvSpPr>
            <p:spPr>
              <a:xfrm>
                <a:off x="2770190" y="2084815"/>
                <a:ext cx="101978" cy="15243"/>
              </a:xfrm>
              <a:custGeom>
                <a:avLst/>
                <a:gdLst/>
                <a:ahLst/>
                <a:cxnLst/>
                <a:rect l="l" t="t" r="r" b="b"/>
                <a:pathLst>
                  <a:path w="2870" h="429" extrusionOk="0">
                    <a:moveTo>
                      <a:pt x="12" y="0"/>
                    </a:moveTo>
                    <a:lnTo>
                      <a:pt x="0" y="214"/>
                    </a:lnTo>
                    <a:lnTo>
                      <a:pt x="2846" y="429"/>
                    </a:lnTo>
                    <a:lnTo>
                      <a:pt x="2869" y="214"/>
                    </a:lnTo>
                    <a:lnTo>
                      <a:pt x="12" y="0"/>
                    </a:lnTo>
                    <a:close/>
                  </a:path>
                </a:pathLst>
              </a:custGeom>
              <a:solidFill>
                <a:srgbClr val="69E781"/>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38" name="Google Shape;1219;p28">
                <a:extLst>
                  <a:ext uri="{FF2B5EF4-FFF2-40B4-BE49-F238E27FC236}">
                    <a16:creationId xmlns:a16="http://schemas.microsoft.com/office/drawing/2014/main" id="{BED2FA48-4A04-B793-1096-B3E9DBA8F4F7}"/>
                  </a:ext>
                </a:extLst>
              </p:cNvPr>
              <p:cNvSpPr/>
              <p:nvPr/>
            </p:nvSpPr>
            <p:spPr>
              <a:xfrm>
                <a:off x="2770190" y="2102581"/>
                <a:ext cx="101978" cy="15243"/>
              </a:xfrm>
              <a:custGeom>
                <a:avLst/>
                <a:gdLst/>
                <a:ahLst/>
                <a:cxnLst/>
                <a:rect l="l" t="t" r="r" b="b"/>
                <a:pathLst>
                  <a:path w="2870" h="429" extrusionOk="0">
                    <a:moveTo>
                      <a:pt x="12" y="0"/>
                    </a:moveTo>
                    <a:lnTo>
                      <a:pt x="0" y="214"/>
                    </a:lnTo>
                    <a:lnTo>
                      <a:pt x="2846" y="429"/>
                    </a:lnTo>
                    <a:lnTo>
                      <a:pt x="2869" y="214"/>
                    </a:lnTo>
                    <a:lnTo>
                      <a:pt x="12" y="0"/>
                    </a:lnTo>
                    <a:close/>
                  </a:path>
                </a:pathLst>
              </a:custGeom>
              <a:solidFill>
                <a:srgbClr val="69E781"/>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39" name="Google Shape;1220;p28">
                <a:extLst>
                  <a:ext uri="{FF2B5EF4-FFF2-40B4-BE49-F238E27FC236}">
                    <a16:creationId xmlns:a16="http://schemas.microsoft.com/office/drawing/2014/main" id="{00DEA7E1-73FA-D39D-EBCD-EC047EFFBDE4}"/>
                  </a:ext>
                </a:extLst>
              </p:cNvPr>
              <p:cNvSpPr/>
              <p:nvPr/>
            </p:nvSpPr>
            <p:spPr>
              <a:xfrm>
                <a:off x="2770190" y="2120348"/>
                <a:ext cx="101978" cy="15670"/>
              </a:xfrm>
              <a:custGeom>
                <a:avLst/>
                <a:gdLst/>
                <a:ahLst/>
                <a:cxnLst/>
                <a:rect l="l" t="t" r="r" b="b"/>
                <a:pathLst>
                  <a:path w="2870" h="441" extrusionOk="0">
                    <a:moveTo>
                      <a:pt x="12" y="0"/>
                    </a:moveTo>
                    <a:lnTo>
                      <a:pt x="0" y="215"/>
                    </a:lnTo>
                    <a:lnTo>
                      <a:pt x="2846" y="441"/>
                    </a:lnTo>
                    <a:lnTo>
                      <a:pt x="2869" y="215"/>
                    </a:lnTo>
                    <a:lnTo>
                      <a:pt x="12" y="0"/>
                    </a:lnTo>
                    <a:close/>
                  </a:path>
                </a:pathLst>
              </a:custGeom>
              <a:solidFill>
                <a:srgbClr val="69E781"/>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40" name="Google Shape;1221;p28">
                <a:extLst>
                  <a:ext uri="{FF2B5EF4-FFF2-40B4-BE49-F238E27FC236}">
                    <a16:creationId xmlns:a16="http://schemas.microsoft.com/office/drawing/2014/main" id="{C3A6C29F-9675-53EB-1E55-3FD90501166F}"/>
                  </a:ext>
                </a:extLst>
              </p:cNvPr>
              <p:cNvSpPr/>
              <p:nvPr/>
            </p:nvSpPr>
            <p:spPr>
              <a:xfrm>
                <a:off x="2795987" y="1817003"/>
                <a:ext cx="49106" cy="266565"/>
              </a:xfrm>
              <a:custGeom>
                <a:avLst/>
                <a:gdLst/>
                <a:ahLst/>
                <a:cxnLst/>
                <a:rect l="l" t="t" r="r" b="b"/>
                <a:pathLst>
                  <a:path w="1382" h="7502" extrusionOk="0">
                    <a:moveTo>
                      <a:pt x="691" y="215"/>
                    </a:moveTo>
                    <a:cubicBezTo>
                      <a:pt x="953" y="215"/>
                      <a:pt x="1167" y="429"/>
                      <a:pt x="1167" y="691"/>
                    </a:cubicBezTo>
                    <a:lnTo>
                      <a:pt x="1167" y="7275"/>
                    </a:lnTo>
                    <a:lnTo>
                      <a:pt x="227" y="7275"/>
                    </a:lnTo>
                    <a:lnTo>
                      <a:pt x="227" y="691"/>
                    </a:lnTo>
                    <a:cubicBezTo>
                      <a:pt x="227" y="429"/>
                      <a:pt x="429" y="215"/>
                      <a:pt x="691" y="215"/>
                    </a:cubicBezTo>
                    <a:close/>
                    <a:moveTo>
                      <a:pt x="691" y="0"/>
                    </a:moveTo>
                    <a:cubicBezTo>
                      <a:pt x="310" y="0"/>
                      <a:pt x="0" y="310"/>
                      <a:pt x="0" y="691"/>
                    </a:cubicBezTo>
                    <a:lnTo>
                      <a:pt x="0" y="7501"/>
                    </a:lnTo>
                    <a:lnTo>
                      <a:pt x="1381" y="7501"/>
                    </a:lnTo>
                    <a:lnTo>
                      <a:pt x="1381" y="691"/>
                    </a:lnTo>
                    <a:cubicBezTo>
                      <a:pt x="1381" y="310"/>
                      <a:pt x="1072" y="0"/>
                      <a:pt x="691" y="0"/>
                    </a:cubicBezTo>
                    <a:close/>
                  </a:path>
                </a:pathLst>
              </a:custGeom>
              <a:solidFill>
                <a:srgbClr val="69E781"/>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41" name="Google Shape;1222;p28">
                <a:extLst>
                  <a:ext uri="{FF2B5EF4-FFF2-40B4-BE49-F238E27FC236}">
                    <a16:creationId xmlns:a16="http://schemas.microsoft.com/office/drawing/2014/main" id="{9200000B-E4B9-924F-6E5B-529B0435D03F}"/>
                  </a:ext>
                </a:extLst>
              </p:cNvPr>
              <p:cNvSpPr/>
              <p:nvPr/>
            </p:nvSpPr>
            <p:spPr>
              <a:xfrm>
                <a:off x="2567937" y="1823755"/>
                <a:ext cx="83395" cy="8101"/>
              </a:xfrm>
              <a:custGeom>
                <a:avLst/>
                <a:gdLst/>
                <a:ahLst/>
                <a:cxnLst/>
                <a:rect l="l" t="t" r="r" b="b"/>
                <a:pathLst>
                  <a:path w="2347" h="228" extrusionOk="0">
                    <a:moveTo>
                      <a:pt x="108" y="1"/>
                    </a:moveTo>
                    <a:cubicBezTo>
                      <a:pt x="48" y="1"/>
                      <a:pt x="1" y="49"/>
                      <a:pt x="1" y="120"/>
                    </a:cubicBezTo>
                    <a:cubicBezTo>
                      <a:pt x="1" y="180"/>
                      <a:pt x="48" y="227"/>
                      <a:pt x="108" y="227"/>
                    </a:cubicBezTo>
                    <a:lnTo>
                      <a:pt x="2239" y="227"/>
                    </a:lnTo>
                    <a:cubicBezTo>
                      <a:pt x="2299" y="227"/>
                      <a:pt x="2346" y="180"/>
                      <a:pt x="2346" y="120"/>
                    </a:cubicBezTo>
                    <a:cubicBezTo>
                      <a:pt x="2346" y="49"/>
                      <a:pt x="2299" y="1"/>
                      <a:pt x="2239" y="1"/>
                    </a:cubicBezTo>
                    <a:close/>
                  </a:path>
                </a:pathLst>
              </a:custGeom>
              <a:solidFill>
                <a:srgbClr val="69E781"/>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42" name="Google Shape;1223;p28">
                <a:extLst>
                  <a:ext uri="{FF2B5EF4-FFF2-40B4-BE49-F238E27FC236}">
                    <a16:creationId xmlns:a16="http://schemas.microsoft.com/office/drawing/2014/main" id="{7D7197D7-C5E4-2088-EAD5-E1C4F0FBFDC2}"/>
                  </a:ext>
                </a:extLst>
              </p:cNvPr>
              <p:cNvSpPr/>
              <p:nvPr/>
            </p:nvSpPr>
            <p:spPr>
              <a:xfrm>
                <a:off x="2990174" y="1823755"/>
                <a:ext cx="83359" cy="8101"/>
              </a:xfrm>
              <a:custGeom>
                <a:avLst/>
                <a:gdLst/>
                <a:ahLst/>
                <a:cxnLst/>
                <a:rect l="l" t="t" r="r" b="b"/>
                <a:pathLst>
                  <a:path w="2346" h="228" extrusionOk="0">
                    <a:moveTo>
                      <a:pt x="107" y="1"/>
                    </a:moveTo>
                    <a:cubicBezTo>
                      <a:pt x="48" y="1"/>
                      <a:pt x="0" y="49"/>
                      <a:pt x="0" y="120"/>
                    </a:cubicBezTo>
                    <a:cubicBezTo>
                      <a:pt x="0" y="180"/>
                      <a:pt x="48" y="227"/>
                      <a:pt x="107" y="227"/>
                    </a:cubicBezTo>
                    <a:lnTo>
                      <a:pt x="2239" y="227"/>
                    </a:lnTo>
                    <a:cubicBezTo>
                      <a:pt x="2298" y="227"/>
                      <a:pt x="2346" y="180"/>
                      <a:pt x="2346" y="120"/>
                    </a:cubicBezTo>
                    <a:cubicBezTo>
                      <a:pt x="2346" y="49"/>
                      <a:pt x="2298" y="1"/>
                      <a:pt x="2239" y="1"/>
                    </a:cubicBezTo>
                    <a:close/>
                  </a:path>
                </a:pathLst>
              </a:custGeom>
              <a:solidFill>
                <a:srgbClr val="69E781"/>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43" name="Google Shape;1224;p28">
                <a:extLst>
                  <a:ext uri="{FF2B5EF4-FFF2-40B4-BE49-F238E27FC236}">
                    <a16:creationId xmlns:a16="http://schemas.microsoft.com/office/drawing/2014/main" id="{7E71D27C-512E-13AB-2139-9826548B5FC6}"/>
                  </a:ext>
                </a:extLst>
              </p:cNvPr>
              <p:cNvSpPr/>
              <p:nvPr/>
            </p:nvSpPr>
            <p:spPr>
              <a:xfrm>
                <a:off x="2640282" y="1946450"/>
                <a:ext cx="62253" cy="61400"/>
              </a:xfrm>
              <a:custGeom>
                <a:avLst/>
                <a:gdLst/>
                <a:ahLst/>
                <a:cxnLst/>
                <a:rect l="l" t="t" r="r" b="b"/>
                <a:pathLst>
                  <a:path w="1752" h="1728" extrusionOk="0">
                    <a:moveTo>
                      <a:pt x="1630" y="1"/>
                    </a:moveTo>
                    <a:cubicBezTo>
                      <a:pt x="1602" y="1"/>
                      <a:pt x="1572" y="13"/>
                      <a:pt x="1549" y="36"/>
                    </a:cubicBezTo>
                    <a:lnTo>
                      <a:pt x="48" y="1537"/>
                    </a:lnTo>
                    <a:cubicBezTo>
                      <a:pt x="1" y="1584"/>
                      <a:pt x="1" y="1656"/>
                      <a:pt x="48" y="1691"/>
                    </a:cubicBezTo>
                    <a:cubicBezTo>
                      <a:pt x="60" y="1715"/>
                      <a:pt x="96" y="1727"/>
                      <a:pt x="120" y="1727"/>
                    </a:cubicBezTo>
                    <a:cubicBezTo>
                      <a:pt x="156" y="1727"/>
                      <a:pt x="179" y="1715"/>
                      <a:pt x="203" y="1691"/>
                    </a:cubicBezTo>
                    <a:lnTo>
                      <a:pt x="1703" y="191"/>
                    </a:lnTo>
                    <a:cubicBezTo>
                      <a:pt x="1751" y="144"/>
                      <a:pt x="1751" y="72"/>
                      <a:pt x="1703" y="36"/>
                    </a:cubicBezTo>
                    <a:cubicBezTo>
                      <a:pt x="1686" y="13"/>
                      <a:pt x="1659" y="1"/>
                      <a:pt x="1630" y="1"/>
                    </a:cubicBezTo>
                    <a:close/>
                  </a:path>
                </a:pathLst>
              </a:custGeom>
              <a:solidFill>
                <a:srgbClr val="69E781"/>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44" name="Google Shape;1225;p28">
                <a:extLst>
                  <a:ext uri="{FF2B5EF4-FFF2-40B4-BE49-F238E27FC236}">
                    <a16:creationId xmlns:a16="http://schemas.microsoft.com/office/drawing/2014/main" id="{CCACFCA8-750E-1EE2-7EED-98DFF3B5A44A}"/>
                  </a:ext>
                </a:extLst>
              </p:cNvPr>
              <p:cNvSpPr/>
              <p:nvPr/>
            </p:nvSpPr>
            <p:spPr>
              <a:xfrm>
                <a:off x="2938971" y="1647760"/>
                <a:ext cx="62217" cy="61400"/>
              </a:xfrm>
              <a:custGeom>
                <a:avLst/>
                <a:gdLst/>
                <a:ahLst/>
                <a:cxnLst/>
                <a:rect l="l" t="t" r="r" b="b"/>
                <a:pathLst>
                  <a:path w="1751" h="1728" extrusionOk="0">
                    <a:moveTo>
                      <a:pt x="1626" y="1"/>
                    </a:moveTo>
                    <a:cubicBezTo>
                      <a:pt x="1599" y="1"/>
                      <a:pt x="1572" y="13"/>
                      <a:pt x="1548" y="37"/>
                    </a:cubicBezTo>
                    <a:lnTo>
                      <a:pt x="48" y="1537"/>
                    </a:lnTo>
                    <a:cubicBezTo>
                      <a:pt x="1" y="1584"/>
                      <a:pt x="1" y="1656"/>
                      <a:pt x="48" y="1692"/>
                    </a:cubicBezTo>
                    <a:cubicBezTo>
                      <a:pt x="60" y="1715"/>
                      <a:pt x="96" y="1727"/>
                      <a:pt x="120" y="1727"/>
                    </a:cubicBezTo>
                    <a:cubicBezTo>
                      <a:pt x="144" y="1727"/>
                      <a:pt x="179" y="1715"/>
                      <a:pt x="191" y="1692"/>
                    </a:cubicBezTo>
                    <a:lnTo>
                      <a:pt x="1703" y="191"/>
                    </a:lnTo>
                    <a:cubicBezTo>
                      <a:pt x="1751" y="144"/>
                      <a:pt x="1751" y="72"/>
                      <a:pt x="1703" y="37"/>
                    </a:cubicBezTo>
                    <a:cubicBezTo>
                      <a:pt x="1679" y="13"/>
                      <a:pt x="1653" y="1"/>
                      <a:pt x="1626" y="1"/>
                    </a:cubicBezTo>
                    <a:close/>
                  </a:path>
                </a:pathLst>
              </a:custGeom>
              <a:solidFill>
                <a:srgbClr val="69E781"/>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45" name="Google Shape;1226;p28">
                <a:extLst>
                  <a:ext uri="{FF2B5EF4-FFF2-40B4-BE49-F238E27FC236}">
                    <a16:creationId xmlns:a16="http://schemas.microsoft.com/office/drawing/2014/main" id="{627D19A3-483B-7204-2CC8-08740FAB504A}"/>
                  </a:ext>
                </a:extLst>
              </p:cNvPr>
              <p:cNvSpPr/>
              <p:nvPr/>
            </p:nvSpPr>
            <p:spPr>
              <a:xfrm>
                <a:off x="2816703" y="1575025"/>
                <a:ext cx="8066" cy="83359"/>
              </a:xfrm>
              <a:custGeom>
                <a:avLst/>
                <a:gdLst/>
                <a:ahLst/>
                <a:cxnLst/>
                <a:rect l="l" t="t" r="r" b="b"/>
                <a:pathLst>
                  <a:path w="227" h="2346" extrusionOk="0">
                    <a:moveTo>
                      <a:pt x="108" y="0"/>
                    </a:moveTo>
                    <a:cubicBezTo>
                      <a:pt x="48" y="0"/>
                      <a:pt x="1" y="48"/>
                      <a:pt x="1" y="107"/>
                    </a:cubicBezTo>
                    <a:lnTo>
                      <a:pt x="1" y="2238"/>
                    </a:lnTo>
                    <a:cubicBezTo>
                      <a:pt x="1" y="2298"/>
                      <a:pt x="48" y="2346"/>
                      <a:pt x="108" y="2346"/>
                    </a:cubicBezTo>
                    <a:cubicBezTo>
                      <a:pt x="167" y="2346"/>
                      <a:pt x="227" y="2298"/>
                      <a:pt x="227" y="2238"/>
                    </a:cubicBezTo>
                    <a:lnTo>
                      <a:pt x="227" y="107"/>
                    </a:lnTo>
                    <a:cubicBezTo>
                      <a:pt x="227" y="48"/>
                      <a:pt x="167" y="0"/>
                      <a:pt x="108" y="0"/>
                    </a:cubicBezTo>
                    <a:close/>
                  </a:path>
                </a:pathLst>
              </a:custGeom>
              <a:solidFill>
                <a:srgbClr val="69E781"/>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46" name="Google Shape;1227;p28">
                <a:extLst>
                  <a:ext uri="{FF2B5EF4-FFF2-40B4-BE49-F238E27FC236}">
                    <a16:creationId xmlns:a16="http://schemas.microsoft.com/office/drawing/2014/main" id="{C8E199C7-CC9F-96A4-F32B-3E93AFB4DC78}"/>
                  </a:ext>
                </a:extLst>
              </p:cNvPr>
              <p:cNvSpPr/>
              <p:nvPr/>
            </p:nvSpPr>
            <p:spPr>
              <a:xfrm>
                <a:off x="2938971" y="1946450"/>
                <a:ext cx="62217" cy="61400"/>
              </a:xfrm>
              <a:custGeom>
                <a:avLst/>
                <a:gdLst/>
                <a:ahLst/>
                <a:cxnLst/>
                <a:rect l="l" t="t" r="r" b="b"/>
                <a:pathLst>
                  <a:path w="1751" h="1728" extrusionOk="0">
                    <a:moveTo>
                      <a:pt x="120" y="1"/>
                    </a:moveTo>
                    <a:cubicBezTo>
                      <a:pt x="93" y="1"/>
                      <a:pt x="66" y="13"/>
                      <a:pt x="48" y="36"/>
                    </a:cubicBezTo>
                    <a:cubicBezTo>
                      <a:pt x="1" y="72"/>
                      <a:pt x="1" y="144"/>
                      <a:pt x="48" y="191"/>
                    </a:cubicBezTo>
                    <a:lnTo>
                      <a:pt x="1548" y="1691"/>
                    </a:lnTo>
                    <a:cubicBezTo>
                      <a:pt x="1572" y="1715"/>
                      <a:pt x="1596" y="1727"/>
                      <a:pt x="1632" y="1727"/>
                    </a:cubicBezTo>
                    <a:cubicBezTo>
                      <a:pt x="1656" y="1727"/>
                      <a:pt x="1679" y="1715"/>
                      <a:pt x="1703" y="1691"/>
                    </a:cubicBezTo>
                    <a:cubicBezTo>
                      <a:pt x="1751" y="1656"/>
                      <a:pt x="1751" y="1584"/>
                      <a:pt x="1703" y="1537"/>
                    </a:cubicBezTo>
                    <a:lnTo>
                      <a:pt x="191" y="36"/>
                    </a:lnTo>
                    <a:cubicBezTo>
                      <a:pt x="173" y="13"/>
                      <a:pt x="146" y="1"/>
                      <a:pt x="120" y="1"/>
                    </a:cubicBezTo>
                    <a:close/>
                  </a:path>
                </a:pathLst>
              </a:custGeom>
              <a:solidFill>
                <a:srgbClr val="69E781"/>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47" name="Google Shape;1228;p28">
                <a:extLst>
                  <a:ext uri="{FF2B5EF4-FFF2-40B4-BE49-F238E27FC236}">
                    <a16:creationId xmlns:a16="http://schemas.microsoft.com/office/drawing/2014/main" id="{88440CCA-21CA-49C3-EFFD-ECE450B2E7B7}"/>
                  </a:ext>
                </a:extLst>
              </p:cNvPr>
              <p:cNvSpPr/>
              <p:nvPr/>
            </p:nvSpPr>
            <p:spPr>
              <a:xfrm>
                <a:off x="2640282" y="1647760"/>
                <a:ext cx="62253" cy="61400"/>
              </a:xfrm>
              <a:custGeom>
                <a:avLst/>
                <a:gdLst/>
                <a:ahLst/>
                <a:cxnLst/>
                <a:rect l="l" t="t" r="r" b="b"/>
                <a:pathLst>
                  <a:path w="1752" h="1728" extrusionOk="0">
                    <a:moveTo>
                      <a:pt x="121" y="1"/>
                    </a:moveTo>
                    <a:cubicBezTo>
                      <a:pt x="93" y="1"/>
                      <a:pt x="66" y="13"/>
                      <a:pt x="48" y="37"/>
                    </a:cubicBezTo>
                    <a:cubicBezTo>
                      <a:pt x="1" y="72"/>
                      <a:pt x="1" y="144"/>
                      <a:pt x="48" y="191"/>
                    </a:cubicBezTo>
                    <a:lnTo>
                      <a:pt x="1549" y="1692"/>
                    </a:lnTo>
                    <a:cubicBezTo>
                      <a:pt x="1572" y="1715"/>
                      <a:pt x="1596" y="1727"/>
                      <a:pt x="1632" y="1727"/>
                    </a:cubicBezTo>
                    <a:cubicBezTo>
                      <a:pt x="1656" y="1727"/>
                      <a:pt x="1680" y="1715"/>
                      <a:pt x="1703" y="1692"/>
                    </a:cubicBezTo>
                    <a:cubicBezTo>
                      <a:pt x="1751" y="1656"/>
                      <a:pt x="1751" y="1584"/>
                      <a:pt x="1703" y="1537"/>
                    </a:cubicBezTo>
                    <a:lnTo>
                      <a:pt x="203" y="37"/>
                    </a:lnTo>
                    <a:cubicBezTo>
                      <a:pt x="179" y="13"/>
                      <a:pt x="150" y="1"/>
                      <a:pt x="121" y="1"/>
                    </a:cubicBezTo>
                    <a:close/>
                  </a:path>
                </a:pathLst>
              </a:custGeom>
              <a:solidFill>
                <a:srgbClr val="69E781"/>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48" name="Google Shape;1229;p28">
                <a:extLst>
                  <a:ext uri="{FF2B5EF4-FFF2-40B4-BE49-F238E27FC236}">
                    <a16:creationId xmlns:a16="http://schemas.microsoft.com/office/drawing/2014/main" id="{21C9B174-FE83-DFD6-0D00-6A4E1AD103AD}"/>
                  </a:ext>
                </a:extLst>
              </p:cNvPr>
              <p:cNvSpPr/>
              <p:nvPr/>
            </p:nvSpPr>
            <p:spPr>
              <a:xfrm>
                <a:off x="2853515" y="1726217"/>
                <a:ext cx="84638" cy="109440"/>
              </a:xfrm>
              <a:custGeom>
                <a:avLst/>
                <a:gdLst/>
                <a:ahLst/>
                <a:cxnLst/>
                <a:rect l="l" t="t" r="r" b="b"/>
                <a:pathLst>
                  <a:path w="2382" h="3080" extrusionOk="0">
                    <a:moveTo>
                      <a:pt x="118" y="0"/>
                    </a:moveTo>
                    <a:cubicBezTo>
                      <a:pt x="72" y="0"/>
                      <a:pt x="31" y="32"/>
                      <a:pt x="12" y="79"/>
                    </a:cubicBezTo>
                    <a:cubicBezTo>
                      <a:pt x="1" y="138"/>
                      <a:pt x="36" y="198"/>
                      <a:pt x="96" y="210"/>
                    </a:cubicBezTo>
                    <a:cubicBezTo>
                      <a:pt x="108" y="222"/>
                      <a:pt x="1894" y="734"/>
                      <a:pt x="2156" y="2984"/>
                    </a:cubicBezTo>
                    <a:cubicBezTo>
                      <a:pt x="2156" y="3032"/>
                      <a:pt x="2203" y="3079"/>
                      <a:pt x="2263" y="3079"/>
                    </a:cubicBezTo>
                    <a:lnTo>
                      <a:pt x="2275" y="3079"/>
                    </a:lnTo>
                    <a:cubicBezTo>
                      <a:pt x="2334" y="3067"/>
                      <a:pt x="2382" y="3020"/>
                      <a:pt x="2370" y="2960"/>
                    </a:cubicBezTo>
                    <a:cubicBezTo>
                      <a:pt x="2096" y="567"/>
                      <a:pt x="167" y="8"/>
                      <a:pt x="155" y="8"/>
                    </a:cubicBezTo>
                    <a:cubicBezTo>
                      <a:pt x="143" y="2"/>
                      <a:pt x="130" y="0"/>
                      <a:pt x="118" y="0"/>
                    </a:cubicBezTo>
                    <a:close/>
                  </a:path>
                </a:pathLst>
              </a:custGeom>
              <a:solidFill>
                <a:srgbClr val="69E781"/>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grpSp>
        <p:sp>
          <p:nvSpPr>
            <p:cNvPr id="132" name="Google Shape;1230;p28">
              <a:extLst>
                <a:ext uri="{FF2B5EF4-FFF2-40B4-BE49-F238E27FC236}">
                  <a16:creationId xmlns:a16="http://schemas.microsoft.com/office/drawing/2014/main" id="{4AB608ED-C160-6606-695C-CA0D0225554A}"/>
                </a:ext>
              </a:extLst>
            </p:cNvPr>
            <p:cNvSpPr/>
            <p:nvPr/>
          </p:nvSpPr>
          <p:spPr>
            <a:xfrm>
              <a:off x="2174908" y="2732081"/>
              <a:ext cx="1291642" cy="440034"/>
            </a:xfrm>
            <a:custGeom>
              <a:avLst/>
              <a:gdLst/>
              <a:ahLst/>
              <a:cxnLst/>
              <a:rect l="l" t="t" r="r" b="b"/>
              <a:pathLst>
                <a:path w="36351" h="12384" extrusionOk="0">
                  <a:moveTo>
                    <a:pt x="1" y="1"/>
                  </a:moveTo>
                  <a:lnTo>
                    <a:pt x="1" y="1358"/>
                  </a:lnTo>
                  <a:cubicBezTo>
                    <a:pt x="2430" y="1644"/>
                    <a:pt x="4311" y="3692"/>
                    <a:pt x="4311" y="6192"/>
                  </a:cubicBezTo>
                  <a:cubicBezTo>
                    <a:pt x="4311" y="8692"/>
                    <a:pt x="2430" y="10752"/>
                    <a:pt x="1" y="11038"/>
                  </a:cubicBezTo>
                  <a:lnTo>
                    <a:pt x="1" y="12383"/>
                  </a:lnTo>
                  <a:lnTo>
                    <a:pt x="32041" y="12383"/>
                  </a:lnTo>
                  <a:lnTo>
                    <a:pt x="32041" y="10502"/>
                  </a:lnTo>
                  <a:cubicBezTo>
                    <a:pt x="34422" y="10502"/>
                    <a:pt x="36351" y="8573"/>
                    <a:pt x="36351" y="6192"/>
                  </a:cubicBezTo>
                  <a:cubicBezTo>
                    <a:pt x="36351" y="3823"/>
                    <a:pt x="34422" y="1894"/>
                    <a:pt x="32041" y="1894"/>
                  </a:cubicBezTo>
                  <a:lnTo>
                    <a:pt x="32041" y="1"/>
                  </a:lnTo>
                  <a:close/>
                </a:path>
              </a:pathLst>
            </a:custGeom>
            <a:solidFill>
              <a:schemeClr val="accent1"/>
            </a:solidFill>
            <a:ln>
              <a:noFill/>
            </a:ln>
          </p:spPr>
          <p:txBody>
            <a:bodyPr spcFirstLastPara="1" wrap="square" lIns="91425" tIns="91425" rIns="91425" bIns="91425" anchor="ctr" anchorCtr="0">
              <a:noAutofit/>
            </a:bodyPr>
            <a:lstStyle/>
            <a:p>
              <a:pPr algn="ctr">
                <a:buClr>
                  <a:srgbClr val="000000"/>
                </a:buClr>
                <a:buFont typeface="Arial"/>
                <a:buNone/>
              </a:pPr>
              <a:r>
                <a:rPr lang="en" sz="1400" kern="0">
                  <a:solidFill>
                    <a:srgbClr val="FFFFFF"/>
                  </a:solidFill>
                  <a:latin typeface="Oswald" panose="00000500000000000000" pitchFamily="2" charset="0"/>
                  <a:ea typeface="Fira Sans Extra Condensed Medium"/>
                  <a:cs typeface="Fira Sans Extra Condensed Medium"/>
                  <a:sym typeface="Fira Sans Extra Condensed Medium"/>
                </a:rPr>
                <a:t>Phase 2</a:t>
              </a:r>
              <a:endParaRPr sz="1400" kern="0">
                <a:solidFill>
                  <a:srgbClr val="FFFFFF"/>
                </a:solidFill>
                <a:latin typeface="Oswald" panose="00000500000000000000" pitchFamily="2" charset="0"/>
                <a:ea typeface="Fira Sans Extra Condensed Medium"/>
                <a:cs typeface="Fira Sans Extra Condensed Medium"/>
                <a:sym typeface="Fira Sans Extra Condensed Medium"/>
              </a:endParaRPr>
            </a:p>
          </p:txBody>
        </p:sp>
        <p:sp>
          <p:nvSpPr>
            <p:cNvPr id="133" name="Google Shape;1231;p28">
              <a:extLst>
                <a:ext uri="{FF2B5EF4-FFF2-40B4-BE49-F238E27FC236}">
                  <a16:creationId xmlns:a16="http://schemas.microsoft.com/office/drawing/2014/main" id="{AD13FD47-7823-BC40-DE88-960FC0E94AAA}"/>
                </a:ext>
              </a:extLst>
            </p:cNvPr>
            <p:cNvSpPr/>
            <p:nvPr/>
          </p:nvSpPr>
          <p:spPr>
            <a:xfrm>
              <a:off x="2785398" y="2235403"/>
              <a:ext cx="63070" cy="63070"/>
            </a:xfrm>
            <a:custGeom>
              <a:avLst/>
              <a:gdLst/>
              <a:ahLst/>
              <a:cxnLst/>
              <a:rect l="l" t="t" r="r" b="b"/>
              <a:pathLst>
                <a:path w="1775" h="1775" extrusionOk="0">
                  <a:moveTo>
                    <a:pt x="882" y="1"/>
                  </a:moveTo>
                  <a:cubicBezTo>
                    <a:pt x="394" y="1"/>
                    <a:pt x="1" y="394"/>
                    <a:pt x="1" y="882"/>
                  </a:cubicBezTo>
                  <a:cubicBezTo>
                    <a:pt x="1" y="1382"/>
                    <a:pt x="394" y="1775"/>
                    <a:pt x="882" y="1775"/>
                  </a:cubicBezTo>
                  <a:cubicBezTo>
                    <a:pt x="1370" y="1775"/>
                    <a:pt x="1775" y="1382"/>
                    <a:pt x="1775" y="882"/>
                  </a:cubicBezTo>
                  <a:cubicBezTo>
                    <a:pt x="1775" y="394"/>
                    <a:pt x="1370" y="1"/>
                    <a:pt x="882" y="1"/>
                  </a:cubicBezTo>
                  <a:close/>
                </a:path>
              </a:pathLst>
            </a:custGeom>
            <a:solidFill>
              <a:srgbClr val="000000"/>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34" name="Google Shape;1232;p28">
              <a:extLst>
                <a:ext uri="{FF2B5EF4-FFF2-40B4-BE49-F238E27FC236}">
                  <a16:creationId xmlns:a16="http://schemas.microsoft.com/office/drawing/2014/main" id="{5BD2F1ED-D2A5-47E5-5938-0F18D7DB09E3}"/>
                </a:ext>
              </a:extLst>
            </p:cNvPr>
            <p:cNvSpPr txBox="1"/>
            <p:nvPr/>
          </p:nvSpPr>
          <p:spPr>
            <a:xfrm>
              <a:off x="2279253" y="1072023"/>
              <a:ext cx="1167300" cy="534900"/>
            </a:xfrm>
            <a:prstGeom prst="rect">
              <a:avLst/>
            </a:prstGeom>
            <a:noFill/>
            <a:ln>
              <a:noFill/>
            </a:ln>
          </p:spPr>
          <p:txBody>
            <a:bodyPr spcFirstLastPara="1" wrap="square" lIns="91425" tIns="91425" rIns="91425" bIns="91425" anchor="ctr" anchorCtr="0">
              <a:noAutofit/>
            </a:bodyPr>
            <a:lstStyle/>
            <a:p>
              <a:pPr algn="ctr">
                <a:buClr>
                  <a:srgbClr val="000000"/>
                </a:buClr>
                <a:buFont typeface="Arial"/>
                <a:buNone/>
              </a:pPr>
              <a:r>
                <a:rPr lang="en" sz="1500" kern="0">
                  <a:solidFill>
                    <a:srgbClr val="434343"/>
                  </a:solidFill>
                  <a:latin typeface="Oswald" panose="00000500000000000000" pitchFamily="2" charset="0"/>
                  <a:ea typeface="Roboto"/>
                  <a:cs typeface="Roboto"/>
                  <a:sym typeface="Roboto"/>
                </a:rPr>
                <a:t>Interview Schudiling</a:t>
              </a:r>
              <a:endParaRPr sz="1500" kern="0">
                <a:solidFill>
                  <a:srgbClr val="434343"/>
                </a:solidFill>
                <a:latin typeface="Oswald" panose="00000500000000000000" pitchFamily="2" charset="0"/>
                <a:ea typeface="Roboto"/>
                <a:cs typeface="Roboto"/>
                <a:sym typeface="Roboto"/>
              </a:endParaRPr>
            </a:p>
          </p:txBody>
        </p:sp>
      </p:grpSp>
      <p:grpSp>
        <p:nvGrpSpPr>
          <p:cNvPr id="149" name="Google Shape;1233;p28">
            <a:extLst>
              <a:ext uri="{FF2B5EF4-FFF2-40B4-BE49-F238E27FC236}">
                <a16:creationId xmlns:a16="http://schemas.microsoft.com/office/drawing/2014/main" id="{55E5F40E-773D-4BD2-0836-63033FADC633}"/>
              </a:ext>
            </a:extLst>
          </p:cNvPr>
          <p:cNvGrpSpPr/>
          <p:nvPr/>
        </p:nvGrpSpPr>
        <p:grpSpPr>
          <a:xfrm>
            <a:off x="2971499" y="1020364"/>
            <a:ext cx="1291216" cy="2050795"/>
            <a:chOff x="3342590" y="1121320"/>
            <a:chExt cx="1291216" cy="2050795"/>
          </a:xfrm>
        </p:grpSpPr>
        <p:sp>
          <p:nvSpPr>
            <p:cNvPr id="150" name="Google Shape;1234;p28">
              <a:extLst>
                <a:ext uri="{FF2B5EF4-FFF2-40B4-BE49-F238E27FC236}">
                  <a16:creationId xmlns:a16="http://schemas.microsoft.com/office/drawing/2014/main" id="{8F1AC92B-2F4B-82C4-CA4E-8B92DD6474BD}"/>
                </a:ext>
              </a:extLst>
            </p:cNvPr>
            <p:cNvSpPr/>
            <p:nvPr/>
          </p:nvSpPr>
          <p:spPr>
            <a:xfrm>
              <a:off x="3978451" y="2261200"/>
              <a:ext cx="11441" cy="704858"/>
            </a:xfrm>
            <a:custGeom>
              <a:avLst/>
              <a:gdLst/>
              <a:ahLst/>
              <a:cxnLst/>
              <a:rect l="l" t="t" r="r" b="b"/>
              <a:pathLst>
                <a:path w="322" h="19837" extrusionOk="0">
                  <a:moveTo>
                    <a:pt x="167" y="1"/>
                  </a:moveTo>
                  <a:cubicBezTo>
                    <a:pt x="72" y="1"/>
                    <a:pt x="0" y="72"/>
                    <a:pt x="0" y="156"/>
                  </a:cubicBezTo>
                  <a:lnTo>
                    <a:pt x="0" y="19682"/>
                  </a:lnTo>
                  <a:cubicBezTo>
                    <a:pt x="0" y="19765"/>
                    <a:pt x="72" y="19837"/>
                    <a:pt x="167" y="19837"/>
                  </a:cubicBezTo>
                  <a:cubicBezTo>
                    <a:pt x="250" y="19837"/>
                    <a:pt x="322" y="19765"/>
                    <a:pt x="322" y="19682"/>
                  </a:cubicBezTo>
                  <a:lnTo>
                    <a:pt x="322" y="156"/>
                  </a:lnTo>
                  <a:cubicBezTo>
                    <a:pt x="322" y="72"/>
                    <a:pt x="250" y="1"/>
                    <a:pt x="167" y="1"/>
                  </a:cubicBezTo>
                  <a:close/>
                </a:path>
              </a:pathLst>
            </a:custGeom>
            <a:solidFill>
              <a:srgbClr val="000000"/>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grpSp>
          <p:nvGrpSpPr>
            <p:cNvPr id="151" name="Google Shape;1235;p28">
              <a:extLst>
                <a:ext uri="{FF2B5EF4-FFF2-40B4-BE49-F238E27FC236}">
                  <a16:creationId xmlns:a16="http://schemas.microsoft.com/office/drawing/2014/main" id="{50B345B6-E339-579D-C4FB-F7AF9129A03A}"/>
                </a:ext>
              </a:extLst>
            </p:cNvPr>
            <p:cNvGrpSpPr/>
            <p:nvPr/>
          </p:nvGrpSpPr>
          <p:grpSpPr>
            <a:xfrm>
              <a:off x="3826157" y="1650745"/>
              <a:ext cx="324092" cy="498805"/>
              <a:chOff x="3826157" y="1650745"/>
              <a:chExt cx="324092" cy="498805"/>
            </a:xfrm>
          </p:grpSpPr>
          <p:sp>
            <p:nvSpPr>
              <p:cNvPr id="155" name="Google Shape;1236;p28">
                <a:extLst>
                  <a:ext uri="{FF2B5EF4-FFF2-40B4-BE49-F238E27FC236}">
                    <a16:creationId xmlns:a16="http://schemas.microsoft.com/office/drawing/2014/main" id="{94E76AF2-1C26-5E85-CBCF-A75BCE3938D9}"/>
                  </a:ext>
                </a:extLst>
              </p:cNvPr>
              <p:cNvSpPr/>
              <p:nvPr/>
            </p:nvSpPr>
            <p:spPr>
              <a:xfrm>
                <a:off x="3850248" y="1674446"/>
                <a:ext cx="275874" cy="275839"/>
              </a:xfrm>
              <a:custGeom>
                <a:avLst/>
                <a:gdLst/>
                <a:ahLst/>
                <a:cxnLst/>
                <a:rect l="l" t="t" r="r" b="b"/>
                <a:pathLst>
                  <a:path w="7764" h="7763" extrusionOk="0">
                    <a:moveTo>
                      <a:pt x="3882" y="226"/>
                    </a:moveTo>
                    <a:cubicBezTo>
                      <a:pt x="5906" y="226"/>
                      <a:pt x="7549" y="1869"/>
                      <a:pt x="7549" y="3881"/>
                    </a:cubicBezTo>
                    <a:cubicBezTo>
                      <a:pt x="7549" y="5906"/>
                      <a:pt x="5906" y="7549"/>
                      <a:pt x="3882" y="7549"/>
                    </a:cubicBezTo>
                    <a:cubicBezTo>
                      <a:pt x="1858" y="7549"/>
                      <a:pt x="215" y="5906"/>
                      <a:pt x="215" y="3881"/>
                    </a:cubicBezTo>
                    <a:cubicBezTo>
                      <a:pt x="215" y="1869"/>
                      <a:pt x="1858" y="226"/>
                      <a:pt x="3882" y="226"/>
                    </a:cubicBezTo>
                    <a:close/>
                    <a:moveTo>
                      <a:pt x="3882" y="0"/>
                    </a:moveTo>
                    <a:cubicBezTo>
                      <a:pt x="1739" y="0"/>
                      <a:pt x="1" y="1750"/>
                      <a:pt x="1" y="3881"/>
                    </a:cubicBezTo>
                    <a:cubicBezTo>
                      <a:pt x="1" y="6025"/>
                      <a:pt x="1739" y="7763"/>
                      <a:pt x="3882" y="7763"/>
                    </a:cubicBezTo>
                    <a:cubicBezTo>
                      <a:pt x="6025" y="7763"/>
                      <a:pt x="7764" y="6025"/>
                      <a:pt x="7764" y="3881"/>
                    </a:cubicBezTo>
                    <a:cubicBezTo>
                      <a:pt x="7764" y="1750"/>
                      <a:pt x="6025" y="0"/>
                      <a:pt x="3882" y="0"/>
                    </a:cubicBezTo>
                    <a:close/>
                  </a:path>
                </a:pathLst>
              </a:custGeom>
              <a:solidFill>
                <a:srgbClr val="869FB2"/>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56" name="Google Shape;1237;p28">
                <a:extLst>
                  <a:ext uri="{FF2B5EF4-FFF2-40B4-BE49-F238E27FC236}">
                    <a16:creationId xmlns:a16="http://schemas.microsoft.com/office/drawing/2014/main" id="{D39CE082-70D2-ADAC-E2EA-6AB2F728304B}"/>
                  </a:ext>
                </a:extLst>
              </p:cNvPr>
              <p:cNvSpPr/>
              <p:nvPr/>
            </p:nvSpPr>
            <p:spPr>
              <a:xfrm>
                <a:off x="3826157" y="1650745"/>
                <a:ext cx="324092" cy="498805"/>
              </a:xfrm>
              <a:custGeom>
                <a:avLst/>
                <a:gdLst/>
                <a:ahLst/>
                <a:cxnLst/>
                <a:rect l="l" t="t" r="r" b="b"/>
                <a:pathLst>
                  <a:path w="9121" h="14038" extrusionOk="0">
                    <a:moveTo>
                      <a:pt x="4560" y="215"/>
                    </a:moveTo>
                    <a:cubicBezTo>
                      <a:pt x="6953" y="215"/>
                      <a:pt x="8894" y="2167"/>
                      <a:pt x="8894" y="4548"/>
                    </a:cubicBezTo>
                    <a:cubicBezTo>
                      <a:pt x="8894" y="6573"/>
                      <a:pt x="7501" y="8275"/>
                      <a:pt x="5620" y="8751"/>
                    </a:cubicBezTo>
                    <a:cubicBezTo>
                      <a:pt x="5548" y="8775"/>
                      <a:pt x="5477" y="8787"/>
                      <a:pt x="5405" y="8811"/>
                    </a:cubicBezTo>
                    <a:cubicBezTo>
                      <a:pt x="5132" y="8859"/>
                      <a:pt x="4846" y="8894"/>
                      <a:pt x="4560" y="8894"/>
                    </a:cubicBezTo>
                    <a:cubicBezTo>
                      <a:pt x="4274" y="8894"/>
                      <a:pt x="3989" y="8859"/>
                      <a:pt x="3715" y="8811"/>
                    </a:cubicBezTo>
                    <a:cubicBezTo>
                      <a:pt x="3643" y="8787"/>
                      <a:pt x="3572" y="8775"/>
                      <a:pt x="3489" y="8751"/>
                    </a:cubicBezTo>
                    <a:cubicBezTo>
                      <a:pt x="1619" y="8275"/>
                      <a:pt x="226" y="6573"/>
                      <a:pt x="226" y="4548"/>
                    </a:cubicBezTo>
                    <a:cubicBezTo>
                      <a:pt x="226" y="2167"/>
                      <a:pt x="2167" y="215"/>
                      <a:pt x="4560" y="215"/>
                    </a:cubicBezTo>
                    <a:close/>
                    <a:moveTo>
                      <a:pt x="5405" y="9025"/>
                    </a:moveTo>
                    <a:lnTo>
                      <a:pt x="5405" y="12978"/>
                    </a:lnTo>
                    <a:cubicBezTo>
                      <a:pt x="5405" y="13442"/>
                      <a:pt x="5024" y="13823"/>
                      <a:pt x="4560" y="13823"/>
                    </a:cubicBezTo>
                    <a:cubicBezTo>
                      <a:pt x="4096" y="13823"/>
                      <a:pt x="3715" y="13442"/>
                      <a:pt x="3715" y="12978"/>
                    </a:cubicBezTo>
                    <a:lnTo>
                      <a:pt x="3715" y="9025"/>
                    </a:lnTo>
                    <a:cubicBezTo>
                      <a:pt x="3989" y="9073"/>
                      <a:pt x="4274" y="9109"/>
                      <a:pt x="4560" y="9109"/>
                    </a:cubicBezTo>
                    <a:cubicBezTo>
                      <a:pt x="4846" y="9109"/>
                      <a:pt x="5132" y="9073"/>
                      <a:pt x="5405" y="9025"/>
                    </a:cubicBezTo>
                    <a:close/>
                    <a:moveTo>
                      <a:pt x="4560" y="0"/>
                    </a:moveTo>
                    <a:cubicBezTo>
                      <a:pt x="2048" y="0"/>
                      <a:pt x="0" y="2036"/>
                      <a:pt x="0" y="4548"/>
                    </a:cubicBezTo>
                    <a:cubicBezTo>
                      <a:pt x="0" y="6704"/>
                      <a:pt x="1500" y="8501"/>
                      <a:pt x="3489" y="8978"/>
                    </a:cubicBezTo>
                    <a:lnTo>
                      <a:pt x="3489" y="12978"/>
                    </a:lnTo>
                    <a:cubicBezTo>
                      <a:pt x="3489" y="13561"/>
                      <a:pt x="3977" y="14038"/>
                      <a:pt x="4560" y="14038"/>
                    </a:cubicBezTo>
                    <a:cubicBezTo>
                      <a:pt x="5144" y="14038"/>
                      <a:pt x="5620" y="13561"/>
                      <a:pt x="5620" y="12978"/>
                    </a:cubicBezTo>
                    <a:lnTo>
                      <a:pt x="5620" y="8978"/>
                    </a:lnTo>
                    <a:cubicBezTo>
                      <a:pt x="7620" y="8501"/>
                      <a:pt x="9120" y="6704"/>
                      <a:pt x="9120" y="4548"/>
                    </a:cubicBezTo>
                    <a:cubicBezTo>
                      <a:pt x="9120" y="2036"/>
                      <a:pt x="7072" y="0"/>
                      <a:pt x="4560" y="0"/>
                    </a:cubicBezTo>
                    <a:close/>
                  </a:path>
                </a:pathLst>
              </a:custGeom>
              <a:solidFill>
                <a:srgbClr val="869FB2"/>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57" name="Google Shape;1238;p28">
                <a:extLst>
                  <a:ext uri="{FF2B5EF4-FFF2-40B4-BE49-F238E27FC236}">
                    <a16:creationId xmlns:a16="http://schemas.microsoft.com/office/drawing/2014/main" id="{217ECB6E-337E-2B64-3C8B-4709887FC5E5}"/>
                  </a:ext>
                </a:extLst>
              </p:cNvPr>
              <p:cNvSpPr/>
              <p:nvPr/>
            </p:nvSpPr>
            <p:spPr>
              <a:xfrm>
                <a:off x="4003821" y="1713781"/>
                <a:ext cx="104110" cy="183206"/>
              </a:xfrm>
              <a:custGeom>
                <a:avLst/>
                <a:gdLst/>
                <a:ahLst/>
                <a:cxnLst/>
                <a:rect l="l" t="t" r="r" b="b"/>
                <a:pathLst>
                  <a:path w="2930" h="5156" extrusionOk="0">
                    <a:moveTo>
                      <a:pt x="108" y="0"/>
                    </a:moveTo>
                    <a:cubicBezTo>
                      <a:pt x="48" y="0"/>
                      <a:pt x="1" y="48"/>
                      <a:pt x="1" y="107"/>
                    </a:cubicBezTo>
                    <a:cubicBezTo>
                      <a:pt x="1" y="167"/>
                      <a:pt x="48" y="215"/>
                      <a:pt x="108" y="215"/>
                    </a:cubicBezTo>
                    <a:cubicBezTo>
                      <a:pt x="822" y="215"/>
                      <a:pt x="1989" y="834"/>
                      <a:pt x="2299" y="2001"/>
                    </a:cubicBezTo>
                    <a:cubicBezTo>
                      <a:pt x="2691" y="3501"/>
                      <a:pt x="1977" y="4572"/>
                      <a:pt x="1489" y="4965"/>
                    </a:cubicBezTo>
                    <a:cubicBezTo>
                      <a:pt x="1441" y="5001"/>
                      <a:pt x="1441" y="5072"/>
                      <a:pt x="1477" y="5120"/>
                    </a:cubicBezTo>
                    <a:cubicBezTo>
                      <a:pt x="1501" y="5144"/>
                      <a:pt x="1525" y="5156"/>
                      <a:pt x="1560" y="5156"/>
                    </a:cubicBezTo>
                    <a:cubicBezTo>
                      <a:pt x="1584" y="5156"/>
                      <a:pt x="1608" y="5156"/>
                      <a:pt x="1632" y="5132"/>
                    </a:cubicBezTo>
                    <a:cubicBezTo>
                      <a:pt x="2156" y="4703"/>
                      <a:pt x="2930" y="3548"/>
                      <a:pt x="2501" y="1953"/>
                    </a:cubicBezTo>
                    <a:cubicBezTo>
                      <a:pt x="2168" y="679"/>
                      <a:pt x="894" y="0"/>
                      <a:pt x="108" y="0"/>
                    </a:cubicBezTo>
                    <a:close/>
                  </a:path>
                </a:pathLst>
              </a:custGeom>
              <a:solidFill>
                <a:srgbClr val="869FB2"/>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grpSp>
        <p:sp>
          <p:nvSpPr>
            <p:cNvPr id="152" name="Google Shape;1239;p28">
              <a:extLst>
                <a:ext uri="{FF2B5EF4-FFF2-40B4-BE49-F238E27FC236}">
                  <a16:creationId xmlns:a16="http://schemas.microsoft.com/office/drawing/2014/main" id="{6858F742-6140-2ABB-A784-D0808C0F9C7C}"/>
                </a:ext>
              </a:extLst>
            </p:cNvPr>
            <p:cNvSpPr/>
            <p:nvPr/>
          </p:nvSpPr>
          <p:spPr>
            <a:xfrm>
              <a:off x="3342590" y="2732081"/>
              <a:ext cx="1291216" cy="440034"/>
            </a:xfrm>
            <a:custGeom>
              <a:avLst/>
              <a:gdLst/>
              <a:ahLst/>
              <a:cxnLst/>
              <a:rect l="l" t="t" r="r" b="b"/>
              <a:pathLst>
                <a:path w="36339" h="12384" extrusionOk="0">
                  <a:moveTo>
                    <a:pt x="0" y="1"/>
                  </a:moveTo>
                  <a:lnTo>
                    <a:pt x="0" y="1358"/>
                  </a:lnTo>
                  <a:cubicBezTo>
                    <a:pt x="2417" y="1644"/>
                    <a:pt x="4298" y="3692"/>
                    <a:pt x="4298" y="6192"/>
                  </a:cubicBezTo>
                  <a:cubicBezTo>
                    <a:pt x="4298" y="8692"/>
                    <a:pt x="2417" y="10752"/>
                    <a:pt x="0" y="11038"/>
                  </a:cubicBezTo>
                  <a:lnTo>
                    <a:pt x="0" y="12383"/>
                  </a:lnTo>
                  <a:lnTo>
                    <a:pt x="32040" y="12383"/>
                  </a:lnTo>
                  <a:lnTo>
                    <a:pt x="32040" y="10502"/>
                  </a:lnTo>
                  <a:cubicBezTo>
                    <a:pt x="34409" y="10502"/>
                    <a:pt x="36338" y="8573"/>
                    <a:pt x="36338" y="6192"/>
                  </a:cubicBezTo>
                  <a:cubicBezTo>
                    <a:pt x="36338" y="3823"/>
                    <a:pt x="34409" y="1894"/>
                    <a:pt x="32040" y="1894"/>
                  </a:cubicBezTo>
                  <a:lnTo>
                    <a:pt x="32040" y="1"/>
                  </a:lnTo>
                  <a:close/>
                </a:path>
              </a:pathLst>
            </a:custGeom>
            <a:solidFill>
              <a:schemeClr val="accent1"/>
            </a:solidFill>
            <a:ln>
              <a:noFill/>
            </a:ln>
          </p:spPr>
          <p:txBody>
            <a:bodyPr spcFirstLastPara="1" wrap="square" lIns="91425" tIns="91425" rIns="91425" bIns="91425" anchor="ctr" anchorCtr="0">
              <a:noAutofit/>
            </a:bodyPr>
            <a:lstStyle/>
            <a:p>
              <a:pPr algn="ctr">
                <a:buClr>
                  <a:srgbClr val="000000"/>
                </a:buClr>
                <a:buFont typeface="Arial"/>
                <a:buNone/>
              </a:pPr>
              <a:r>
                <a:rPr lang="en" sz="1400" kern="0">
                  <a:solidFill>
                    <a:srgbClr val="FFFFFF"/>
                  </a:solidFill>
                  <a:latin typeface="Oswald" panose="00000500000000000000" pitchFamily="2" charset="0"/>
                  <a:ea typeface="Fira Sans Extra Condensed Medium"/>
                  <a:cs typeface="Fira Sans Extra Condensed Medium"/>
                  <a:sym typeface="Fira Sans Extra Condensed Medium"/>
                </a:rPr>
                <a:t>Phase 3</a:t>
              </a:r>
              <a:endParaRPr sz="1400" kern="0">
                <a:solidFill>
                  <a:srgbClr val="FFFFFF"/>
                </a:solidFill>
                <a:latin typeface="Oswald" panose="00000500000000000000" pitchFamily="2" charset="0"/>
                <a:ea typeface="Fira Sans Extra Condensed Medium"/>
                <a:cs typeface="Fira Sans Extra Condensed Medium"/>
                <a:sym typeface="Fira Sans Extra Condensed Medium"/>
              </a:endParaRPr>
            </a:p>
          </p:txBody>
        </p:sp>
        <p:sp>
          <p:nvSpPr>
            <p:cNvPr id="153" name="Google Shape;1240;p28">
              <a:extLst>
                <a:ext uri="{FF2B5EF4-FFF2-40B4-BE49-F238E27FC236}">
                  <a16:creationId xmlns:a16="http://schemas.microsoft.com/office/drawing/2014/main" id="{AC727B32-DEC6-CAFC-C98E-C640EB1BEDF1}"/>
                </a:ext>
              </a:extLst>
            </p:cNvPr>
            <p:cNvSpPr/>
            <p:nvPr/>
          </p:nvSpPr>
          <p:spPr>
            <a:xfrm>
              <a:off x="3952654" y="2235403"/>
              <a:ext cx="63070" cy="63070"/>
            </a:xfrm>
            <a:custGeom>
              <a:avLst/>
              <a:gdLst/>
              <a:ahLst/>
              <a:cxnLst/>
              <a:rect l="l" t="t" r="r" b="b"/>
              <a:pathLst>
                <a:path w="1775" h="1775" extrusionOk="0">
                  <a:moveTo>
                    <a:pt x="893" y="1"/>
                  </a:moveTo>
                  <a:cubicBezTo>
                    <a:pt x="405" y="1"/>
                    <a:pt x="0" y="394"/>
                    <a:pt x="0" y="882"/>
                  </a:cubicBezTo>
                  <a:cubicBezTo>
                    <a:pt x="0" y="1382"/>
                    <a:pt x="405" y="1775"/>
                    <a:pt x="893" y="1775"/>
                  </a:cubicBezTo>
                  <a:cubicBezTo>
                    <a:pt x="1381" y="1775"/>
                    <a:pt x="1774" y="1382"/>
                    <a:pt x="1774" y="882"/>
                  </a:cubicBezTo>
                  <a:cubicBezTo>
                    <a:pt x="1774" y="394"/>
                    <a:pt x="1381" y="1"/>
                    <a:pt x="893" y="1"/>
                  </a:cubicBezTo>
                  <a:close/>
                </a:path>
              </a:pathLst>
            </a:custGeom>
            <a:solidFill>
              <a:srgbClr val="000000"/>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54" name="Google Shape;1241;p28">
              <a:extLst>
                <a:ext uri="{FF2B5EF4-FFF2-40B4-BE49-F238E27FC236}">
                  <a16:creationId xmlns:a16="http://schemas.microsoft.com/office/drawing/2014/main" id="{8C9FF1E5-BA6C-7EC9-3B4B-82F9227D0145}"/>
                </a:ext>
              </a:extLst>
            </p:cNvPr>
            <p:cNvSpPr txBox="1"/>
            <p:nvPr/>
          </p:nvSpPr>
          <p:spPr>
            <a:xfrm>
              <a:off x="3432074" y="1121320"/>
              <a:ext cx="1167300" cy="534900"/>
            </a:xfrm>
            <a:prstGeom prst="rect">
              <a:avLst/>
            </a:prstGeom>
            <a:noFill/>
            <a:ln>
              <a:noFill/>
            </a:ln>
          </p:spPr>
          <p:txBody>
            <a:bodyPr spcFirstLastPara="1" wrap="square" lIns="91425" tIns="91425" rIns="91425" bIns="91425" anchor="ctr" anchorCtr="0">
              <a:noAutofit/>
            </a:bodyPr>
            <a:lstStyle/>
            <a:p>
              <a:pPr algn="ctr">
                <a:buClr>
                  <a:srgbClr val="000000"/>
                </a:buClr>
                <a:buFont typeface="Arial"/>
                <a:buNone/>
              </a:pPr>
              <a:r>
                <a:rPr lang="en" sz="1500" kern="0">
                  <a:solidFill>
                    <a:srgbClr val="434343"/>
                  </a:solidFill>
                  <a:latin typeface="Oswald" panose="00000500000000000000" pitchFamily="2" charset="0"/>
                  <a:ea typeface="Roboto"/>
                  <a:cs typeface="Roboto"/>
                  <a:sym typeface="Roboto"/>
                </a:rPr>
                <a:t>Candidate</a:t>
              </a:r>
            </a:p>
            <a:p>
              <a:pPr algn="ctr">
                <a:buClr>
                  <a:srgbClr val="000000"/>
                </a:buClr>
                <a:buFont typeface="Arial"/>
                <a:buNone/>
              </a:pPr>
              <a:r>
                <a:rPr lang="en" sz="1500" kern="0">
                  <a:solidFill>
                    <a:srgbClr val="434343"/>
                  </a:solidFill>
                  <a:latin typeface="Oswald" panose="00000500000000000000" pitchFamily="2" charset="0"/>
                  <a:ea typeface="Roboto"/>
                  <a:cs typeface="Roboto"/>
                  <a:sym typeface="Roboto"/>
                </a:rPr>
                <a:t>Selection</a:t>
              </a:r>
              <a:endParaRPr sz="1500" kern="0">
                <a:solidFill>
                  <a:srgbClr val="434343"/>
                </a:solidFill>
                <a:latin typeface="Oswald" panose="00000500000000000000" pitchFamily="2" charset="0"/>
                <a:ea typeface="Roboto"/>
                <a:cs typeface="Roboto"/>
                <a:sym typeface="Roboto"/>
              </a:endParaRPr>
            </a:p>
          </p:txBody>
        </p:sp>
      </p:grpSp>
      <p:grpSp>
        <p:nvGrpSpPr>
          <p:cNvPr id="158" name="Google Shape;1189;p28">
            <a:extLst>
              <a:ext uri="{FF2B5EF4-FFF2-40B4-BE49-F238E27FC236}">
                <a16:creationId xmlns:a16="http://schemas.microsoft.com/office/drawing/2014/main" id="{98C4F42F-6D82-A48E-86DF-33684BB9CEF1}"/>
              </a:ext>
            </a:extLst>
          </p:cNvPr>
          <p:cNvGrpSpPr/>
          <p:nvPr/>
        </p:nvGrpSpPr>
        <p:grpSpPr>
          <a:xfrm>
            <a:off x="7651891" y="1027822"/>
            <a:ext cx="1291500" cy="2049876"/>
            <a:chOff x="6844818" y="1122239"/>
            <a:chExt cx="1291500" cy="2049876"/>
          </a:xfrm>
        </p:grpSpPr>
        <p:sp>
          <p:nvSpPr>
            <p:cNvPr id="159" name="Google Shape;1190;p28">
              <a:extLst>
                <a:ext uri="{FF2B5EF4-FFF2-40B4-BE49-F238E27FC236}">
                  <a16:creationId xmlns:a16="http://schemas.microsoft.com/office/drawing/2014/main" id="{9B2F1AB9-EDE3-0C72-8135-DD5F1D0B71A3}"/>
                </a:ext>
              </a:extLst>
            </p:cNvPr>
            <p:cNvSpPr/>
            <p:nvPr/>
          </p:nvSpPr>
          <p:spPr>
            <a:xfrm>
              <a:off x="7480999" y="2261200"/>
              <a:ext cx="11441" cy="704858"/>
            </a:xfrm>
            <a:custGeom>
              <a:avLst/>
              <a:gdLst/>
              <a:ahLst/>
              <a:cxnLst/>
              <a:rect l="l" t="t" r="r" b="b"/>
              <a:pathLst>
                <a:path w="322" h="19837" extrusionOk="0">
                  <a:moveTo>
                    <a:pt x="155" y="1"/>
                  </a:moveTo>
                  <a:cubicBezTo>
                    <a:pt x="72" y="1"/>
                    <a:pt x="0" y="72"/>
                    <a:pt x="0" y="156"/>
                  </a:cubicBezTo>
                  <a:lnTo>
                    <a:pt x="0" y="19682"/>
                  </a:lnTo>
                  <a:cubicBezTo>
                    <a:pt x="0" y="19765"/>
                    <a:pt x="72" y="19837"/>
                    <a:pt x="155" y="19837"/>
                  </a:cubicBezTo>
                  <a:cubicBezTo>
                    <a:pt x="250" y="19837"/>
                    <a:pt x="322" y="19765"/>
                    <a:pt x="322" y="19682"/>
                  </a:cubicBezTo>
                  <a:lnTo>
                    <a:pt x="322" y="156"/>
                  </a:lnTo>
                  <a:cubicBezTo>
                    <a:pt x="322" y="72"/>
                    <a:pt x="250" y="1"/>
                    <a:pt x="155" y="1"/>
                  </a:cubicBezTo>
                  <a:close/>
                </a:path>
              </a:pathLst>
            </a:custGeom>
            <a:solidFill>
              <a:srgbClr val="000000"/>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grpSp>
          <p:nvGrpSpPr>
            <p:cNvPr id="160" name="Google Shape;1191;p28">
              <a:extLst>
                <a:ext uri="{FF2B5EF4-FFF2-40B4-BE49-F238E27FC236}">
                  <a16:creationId xmlns:a16="http://schemas.microsoft.com/office/drawing/2014/main" id="{861BADA9-9485-9720-28D1-1D523A69360F}"/>
                </a:ext>
              </a:extLst>
            </p:cNvPr>
            <p:cNvGrpSpPr/>
            <p:nvPr/>
          </p:nvGrpSpPr>
          <p:grpSpPr>
            <a:xfrm>
              <a:off x="7307954" y="1698963"/>
              <a:ext cx="365560" cy="450589"/>
              <a:chOff x="7307954" y="1698963"/>
              <a:chExt cx="365560" cy="450589"/>
            </a:xfrm>
          </p:grpSpPr>
          <p:sp>
            <p:nvSpPr>
              <p:cNvPr id="164" name="Google Shape;1192;p28">
                <a:extLst>
                  <a:ext uri="{FF2B5EF4-FFF2-40B4-BE49-F238E27FC236}">
                    <a16:creationId xmlns:a16="http://schemas.microsoft.com/office/drawing/2014/main" id="{E7AE7FC5-D147-1219-F91A-373F2AF71DA7}"/>
                  </a:ext>
                </a:extLst>
              </p:cNvPr>
              <p:cNvSpPr/>
              <p:nvPr/>
            </p:nvSpPr>
            <p:spPr>
              <a:xfrm>
                <a:off x="7432319" y="1819526"/>
                <a:ext cx="241195" cy="330026"/>
              </a:xfrm>
              <a:custGeom>
                <a:avLst/>
                <a:gdLst/>
                <a:ahLst/>
                <a:cxnLst/>
                <a:rect l="l" t="t" r="r" b="b"/>
                <a:pathLst>
                  <a:path w="6788" h="9288" extrusionOk="0">
                    <a:moveTo>
                      <a:pt x="3609" y="1"/>
                    </a:moveTo>
                    <a:cubicBezTo>
                      <a:pt x="3549" y="1"/>
                      <a:pt x="3501" y="49"/>
                      <a:pt x="3501" y="120"/>
                    </a:cubicBezTo>
                    <a:cubicBezTo>
                      <a:pt x="3501" y="179"/>
                      <a:pt x="3549" y="227"/>
                      <a:pt x="3609" y="227"/>
                    </a:cubicBezTo>
                    <a:lnTo>
                      <a:pt x="6561" y="227"/>
                    </a:lnTo>
                    <a:lnTo>
                      <a:pt x="6561" y="9073"/>
                    </a:lnTo>
                    <a:lnTo>
                      <a:pt x="215" y="9073"/>
                    </a:lnTo>
                    <a:lnTo>
                      <a:pt x="215" y="7383"/>
                    </a:lnTo>
                    <a:cubicBezTo>
                      <a:pt x="215" y="7323"/>
                      <a:pt x="168" y="7276"/>
                      <a:pt x="108" y="7276"/>
                    </a:cubicBezTo>
                    <a:cubicBezTo>
                      <a:pt x="49" y="7276"/>
                      <a:pt x="1" y="7323"/>
                      <a:pt x="1" y="7383"/>
                    </a:cubicBezTo>
                    <a:lnTo>
                      <a:pt x="1" y="9288"/>
                    </a:lnTo>
                    <a:lnTo>
                      <a:pt x="6787" y="9288"/>
                    </a:lnTo>
                    <a:lnTo>
                      <a:pt x="6787" y="1"/>
                    </a:ln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65" name="Google Shape;1193;p28">
                <a:extLst>
                  <a:ext uri="{FF2B5EF4-FFF2-40B4-BE49-F238E27FC236}">
                    <a16:creationId xmlns:a16="http://schemas.microsoft.com/office/drawing/2014/main" id="{8028112C-D71C-CCA7-4EC6-44555A9F272B}"/>
                  </a:ext>
                </a:extLst>
              </p:cNvPr>
              <p:cNvSpPr/>
              <p:nvPr/>
            </p:nvSpPr>
            <p:spPr>
              <a:xfrm>
                <a:off x="7307954" y="1698963"/>
                <a:ext cx="256403" cy="387127"/>
              </a:xfrm>
              <a:custGeom>
                <a:avLst/>
                <a:gdLst/>
                <a:ahLst/>
                <a:cxnLst/>
                <a:rect l="l" t="t" r="r" b="b"/>
                <a:pathLst>
                  <a:path w="7216" h="10895" extrusionOk="0">
                    <a:moveTo>
                      <a:pt x="7001" y="215"/>
                    </a:moveTo>
                    <a:lnTo>
                      <a:pt x="7001" y="10669"/>
                    </a:lnTo>
                    <a:lnTo>
                      <a:pt x="215" y="10669"/>
                    </a:lnTo>
                    <a:lnTo>
                      <a:pt x="215" y="215"/>
                    </a:lnTo>
                    <a:close/>
                    <a:moveTo>
                      <a:pt x="0" y="1"/>
                    </a:moveTo>
                    <a:lnTo>
                      <a:pt x="0" y="10895"/>
                    </a:lnTo>
                    <a:lnTo>
                      <a:pt x="7216" y="10895"/>
                    </a:lnTo>
                    <a:lnTo>
                      <a:pt x="7216" y="1"/>
                    </a:ln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66" name="Google Shape;1194;p28">
                <a:extLst>
                  <a:ext uri="{FF2B5EF4-FFF2-40B4-BE49-F238E27FC236}">
                    <a16:creationId xmlns:a16="http://schemas.microsoft.com/office/drawing/2014/main" id="{AD150857-6F0C-7F74-F6D1-A8CE9895667E}"/>
                  </a:ext>
                </a:extLst>
              </p:cNvPr>
              <p:cNvSpPr/>
              <p:nvPr/>
            </p:nvSpPr>
            <p:spPr>
              <a:xfrm>
                <a:off x="7343487" y="1739577"/>
                <a:ext cx="185338" cy="7639"/>
              </a:xfrm>
              <a:custGeom>
                <a:avLst/>
                <a:gdLst/>
                <a:ahLst/>
                <a:cxnLst/>
                <a:rect l="l" t="t" r="r" b="b"/>
                <a:pathLst>
                  <a:path w="5216" h="215" extrusionOk="0">
                    <a:moveTo>
                      <a:pt x="108" y="1"/>
                    </a:moveTo>
                    <a:cubicBezTo>
                      <a:pt x="48" y="1"/>
                      <a:pt x="1" y="48"/>
                      <a:pt x="1" y="108"/>
                    </a:cubicBezTo>
                    <a:cubicBezTo>
                      <a:pt x="1" y="167"/>
                      <a:pt x="48" y="215"/>
                      <a:pt x="108" y="215"/>
                    </a:cubicBezTo>
                    <a:lnTo>
                      <a:pt x="5096" y="215"/>
                    </a:lnTo>
                    <a:cubicBezTo>
                      <a:pt x="5168" y="215"/>
                      <a:pt x="5216" y="167"/>
                      <a:pt x="5216" y="108"/>
                    </a:cubicBezTo>
                    <a:cubicBezTo>
                      <a:pt x="5216" y="48"/>
                      <a:pt x="5168" y="1"/>
                      <a:pt x="5096" y="1"/>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67" name="Google Shape;1195;p28">
                <a:extLst>
                  <a:ext uri="{FF2B5EF4-FFF2-40B4-BE49-F238E27FC236}">
                    <a16:creationId xmlns:a16="http://schemas.microsoft.com/office/drawing/2014/main" id="{12E86D8F-E083-240B-C607-97B06FAB9A88}"/>
                  </a:ext>
                </a:extLst>
              </p:cNvPr>
              <p:cNvSpPr/>
              <p:nvPr/>
            </p:nvSpPr>
            <p:spPr>
              <a:xfrm>
                <a:off x="7343487" y="1775963"/>
                <a:ext cx="185338" cy="7639"/>
              </a:xfrm>
              <a:custGeom>
                <a:avLst/>
                <a:gdLst/>
                <a:ahLst/>
                <a:cxnLst/>
                <a:rect l="l" t="t" r="r" b="b"/>
                <a:pathLst>
                  <a:path w="5216" h="215" extrusionOk="0">
                    <a:moveTo>
                      <a:pt x="108" y="1"/>
                    </a:moveTo>
                    <a:cubicBezTo>
                      <a:pt x="48" y="1"/>
                      <a:pt x="1" y="48"/>
                      <a:pt x="1" y="108"/>
                    </a:cubicBezTo>
                    <a:cubicBezTo>
                      <a:pt x="1" y="167"/>
                      <a:pt x="48" y="215"/>
                      <a:pt x="108" y="215"/>
                    </a:cubicBezTo>
                    <a:lnTo>
                      <a:pt x="5096" y="215"/>
                    </a:lnTo>
                    <a:cubicBezTo>
                      <a:pt x="5168" y="215"/>
                      <a:pt x="5216" y="167"/>
                      <a:pt x="5216" y="108"/>
                    </a:cubicBezTo>
                    <a:cubicBezTo>
                      <a:pt x="5216" y="48"/>
                      <a:pt x="5168" y="1"/>
                      <a:pt x="5096" y="1"/>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68" name="Google Shape;1196;p28">
                <a:extLst>
                  <a:ext uri="{FF2B5EF4-FFF2-40B4-BE49-F238E27FC236}">
                    <a16:creationId xmlns:a16="http://schemas.microsoft.com/office/drawing/2014/main" id="{17A05F95-871D-FBA0-8B56-4E0E3553098A}"/>
                  </a:ext>
                </a:extLst>
              </p:cNvPr>
              <p:cNvSpPr/>
              <p:nvPr/>
            </p:nvSpPr>
            <p:spPr>
              <a:xfrm>
                <a:off x="7343487" y="1812349"/>
                <a:ext cx="185338" cy="7639"/>
              </a:xfrm>
              <a:custGeom>
                <a:avLst/>
                <a:gdLst/>
                <a:ahLst/>
                <a:cxnLst/>
                <a:rect l="l" t="t" r="r" b="b"/>
                <a:pathLst>
                  <a:path w="5216" h="215" extrusionOk="0">
                    <a:moveTo>
                      <a:pt x="108" y="0"/>
                    </a:moveTo>
                    <a:cubicBezTo>
                      <a:pt x="48" y="0"/>
                      <a:pt x="1" y="48"/>
                      <a:pt x="1" y="108"/>
                    </a:cubicBezTo>
                    <a:cubicBezTo>
                      <a:pt x="1" y="167"/>
                      <a:pt x="48" y="215"/>
                      <a:pt x="108" y="215"/>
                    </a:cubicBezTo>
                    <a:lnTo>
                      <a:pt x="5096" y="215"/>
                    </a:lnTo>
                    <a:cubicBezTo>
                      <a:pt x="5168" y="215"/>
                      <a:pt x="5216" y="167"/>
                      <a:pt x="5216" y="108"/>
                    </a:cubicBezTo>
                    <a:cubicBezTo>
                      <a:pt x="5216" y="48"/>
                      <a:pt x="5168" y="0"/>
                      <a:pt x="5096" y="0"/>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69" name="Google Shape;1197;p28">
                <a:extLst>
                  <a:ext uri="{FF2B5EF4-FFF2-40B4-BE49-F238E27FC236}">
                    <a16:creationId xmlns:a16="http://schemas.microsoft.com/office/drawing/2014/main" id="{7801B434-43AC-9C77-A2C3-DB882D4B5F39}"/>
                  </a:ext>
                </a:extLst>
              </p:cNvPr>
              <p:cNvSpPr/>
              <p:nvPr/>
            </p:nvSpPr>
            <p:spPr>
              <a:xfrm>
                <a:off x="7343487" y="1848734"/>
                <a:ext cx="185338" cy="7639"/>
              </a:xfrm>
              <a:custGeom>
                <a:avLst/>
                <a:gdLst/>
                <a:ahLst/>
                <a:cxnLst/>
                <a:rect l="l" t="t" r="r" b="b"/>
                <a:pathLst>
                  <a:path w="5216" h="215" extrusionOk="0">
                    <a:moveTo>
                      <a:pt x="108" y="0"/>
                    </a:moveTo>
                    <a:cubicBezTo>
                      <a:pt x="48" y="0"/>
                      <a:pt x="1" y="48"/>
                      <a:pt x="1" y="108"/>
                    </a:cubicBezTo>
                    <a:cubicBezTo>
                      <a:pt x="1" y="167"/>
                      <a:pt x="48" y="215"/>
                      <a:pt x="108" y="215"/>
                    </a:cubicBezTo>
                    <a:lnTo>
                      <a:pt x="5096" y="215"/>
                    </a:lnTo>
                    <a:cubicBezTo>
                      <a:pt x="5168" y="215"/>
                      <a:pt x="5216" y="167"/>
                      <a:pt x="5216" y="108"/>
                    </a:cubicBezTo>
                    <a:cubicBezTo>
                      <a:pt x="5216" y="48"/>
                      <a:pt x="5168" y="0"/>
                      <a:pt x="5096" y="0"/>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70" name="Google Shape;1198;p28">
                <a:extLst>
                  <a:ext uri="{FF2B5EF4-FFF2-40B4-BE49-F238E27FC236}">
                    <a16:creationId xmlns:a16="http://schemas.microsoft.com/office/drawing/2014/main" id="{BEDBBA74-8480-7835-DABA-C035BF1788E2}"/>
                  </a:ext>
                </a:extLst>
              </p:cNvPr>
              <p:cNvSpPr/>
              <p:nvPr/>
            </p:nvSpPr>
            <p:spPr>
              <a:xfrm>
                <a:off x="7343487" y="1885120"/>
                <a:ext cx="185338" cy="7639"/>
              </a:xfrm>
              <a:custGeom>
                <a:avLst/>
                <a:gdLst/>
                <a:ahLst/>
                <a:cxnLst/>
                <a:rect l="l" t="t" r="r" b="b"/>
                <a:pathLst>
                  <a:path w="5216" h="215" extrusionOk="0">
                    <a:moveTo>
                      <a:pt x="108" y="0"/>
                    </a:moveTo>
                    <a:cubicBezTo>
                      <a:pt x="48" y="0"/>
                      <a:pt x="1" y="48"/>
                      <a:pt x="1" y="108"/>
                    </a:cubicBezTo>
                    <a:cubicBezTo>
                      <a:pt x="1" y="167"/>
                      <a:pt x="48" y="215"/>
                      <a:pt x="108" y="215"/>
                    </a:cubicBezTo>
                    <a:lnTo>
                      <a:pt x="5096" y="215"/>
                    </a:lnTo>
                    <a:cubicBezTo>
                      <a:pt x="5168" y="215"/>
                      <a:pt x="5216" y="167"/>
                      <a:pt x="5216" y="108"/>
                    </a:cubicBezTo>
                    <a:cubicBezTo>
                      <a:pt x="5216" y="48"/>
                      <a:pt x="5168" y="0"/>
                      <a:pt x="5096" y="0"/>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71" name="Google Shape;1199;p28">
                <a:extLst>
                  <a:ext uri="{FF2B5EF4-FFF2-40B4-BE49-F238E27FC236}">
                    <a16:creationId xmlns:a16="http://schemas.microsoft.com/office/drawing/2014/main" id="{AAD5E79A-640F-761D-326B-A2450708D7B9}"/>
                  </a:ext>
                </a:extLst>
              </p:cNvPr>
              <p:cNvSpPr/>
              <p:nvPr/>
            </p:nvSpPr>
            <p:spPr>
              <a:xfrm>
                <a:off x="7343487" y="1921506"/>
                <a:ext cx="185338" cy="8066"/>
              </a:xfrm>
              <a:custGeom>
                <a:avLst/>
                <a:gdLst/>
                <a:ahLst/>
                <a:cxnLst/>
                <a:rect l="l" t="t" r="r" b="b"/>
                <a:pathLst>
                  <a:path w="5216" h="227" extrusionOk="0">
                    <a:moveTo>
                      <a:pt x="108" y="0"/>
                    </a:moveTo>
                    <a:cubicBezTo>
                      <a:pt x="48" y="0"/>
                      <a:pt x="1" y="48"/>
                      <a:pt x="1" y="107"/>
                    </a:cubicBezTo>
                    <a:cubicBezTo>
                      <a:pt x="1" y="179"/>
                      <a:pt x="48" y="227"/>
                      <a:pt x="108" y="227"/>
                    </a:cubicBezTo>
                    <a:lnTo>
                      <a:pt x="5096" y="227"/>
                    </a:lnTo>
                    <a:cubicBezTo>
                      <a:pt x="5168" y="227"/>
                      <a:pt x="5216" y="179"/>
                      <a:pt x="5216" y="107"/>
                    </a:cubicBezTo>
                    <a:cubicBezTo>
                      <a:pt x="5216" y="48"/>
                      <a:pt x="5168" y="0"/>
                      <a:pt x="5096" y="0"/>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72" name="Google Shape;1200;p28">
                <a:extLst>
                  <a:ext uri="{FF2B5EF4-FFF2-40B4-BE49-F238E27FC236}">
                    <a16:creationId xmlns:a16="http://schemas.microsoft.com/office/drawing/2014/main" id="{435D180E-0806-94AC-263B-F6525EB551A8}"/>
                  </a:ext>
                </a:extLst>
              </p:cNvPr>
              <p:cNvSpPr/>
              <p:nvPr/>
            </p:nvSpPr>
            <p:spPr>
              <a:xfrm>
                <a:off x="7343487" y="1957891"/>
                <a:ext cx="185338" cy="8066"/>
              </a:xfrm>
              <a:custGeom>
                <a:avLst/>
                <a:gdLst/>
                <a:ahLst/>
                <a:cxnLst/>
                <a:rect l="l" t="t" r="r" b="b"/>
                <a:pathLst>
                  <a:path w="5216" h="227" extrusionOk="0">
                    <a:moveTo>
                      <a:pt x="108" y="0"/>
                    </a:moveTo>
                    <a:cubicBezTo>
                      <a:pt x="48" y="0"/>
                      <a:pt x="1" y="60"/>
                      <a:pt x="1" y="119"/>
                    </a:cubicBezTo>
                    <a:cubicBezTo>
                      <a:pt x="1" y="179"/>
                      <a:pt x="48" y="226"/>
                      <a:pt x="108" y="226"/>
                    </a:cubicBezTo>
                    <a:lnTo>
                      <a:pt x="5096" y="226"/>
                    </a:lnTo>
                    <a:cubicBezTo>
                      <a:pt x="5168" y="226"/>
                      <a:pt x="5216" y="179"/>
                      <a:pt x="5216" y="119"/>
                    </a:cubicBezTo>
                    <a:cubicBezTo>
                      <a:pt x="5216" y="60"/>
                      <a:pt x="5168" y="0"/>
                      <a:pt x="5096" y="0"/>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73" name="Google Shape;1201;p28">
                <a:extLst>
                  <a:ext uri="{FF2B5EF4-FFF2-40B4-BE49-F238E27FC236}">
                    <a16:creationId xmlns:a16="http://schemas.microsoft.com/office/drawing/2014/main" id="{AB574B4B-8946-7C62-2AAE-8E5E92FD1713}"/>
                  </a:ext>
                </a:extLst>
              </p:cNvPr>
              <p:cNvSpPr/>
              <p:nvPr/>
            </p:nvSpPr>
            <p:spPr>
              <a:xfrm>
                <a:off x="7343487" y="1994703"/>
                <a:ext cx="185338" cy="7639"/>
              </a:xfrm>
              <a:custGeom>
                <a:avLst/>
                <a:gdLst/>
                <a:ahLst/>
                <a:cxnLst/>
                <a:rect l="l" t="t" r="r" b="b"/>
                <a:pathLst>
                  <a:path w="5216" h="215" extrusionOk="0">
                    <a:moveTo>
                      <a:pt x="108" y="0"/>
                    </a:moveTo>
                    <a:cubicBezTo>
                      <a:pt x="48" y="0"/>
                      <a:pt x="1" y="48"/>
                      <a:pt x="1" y="107"/>
                    </a:cubicBezTo>
                    <a:cubicBezTo>
                      <a:pt x="1" y="167"/>
                      <a:pt x="48" y="214"/>
                      <a:pt x="108" y="214"/>
                    </a:cubicBezTo>
                    <a:lnTo>
                      <a:pt x="5096" y="214"/>
                    </a:lnTo>
                    <a:cubicBezTo>
                      <a:pt x="5168" y="214"/>
                      <a:pt x="5216" y="167"/>
                      <a:pt x="5216" y="107"/>
                    </a:cubicBezTo>
                    <a:cubicBezTo>
                      <a:pt x="5216" y="48"/>
                      <a:pt x="5168" y="0"/>
                      <a:pt x="5096" y="0"/>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74" name="Google Shape;1202;p28">
                <a:extLst>
                  <a:ext uri="{FF2B5EF4-FFF2-40B4-BE49-F238E27FC236}">
                    <a16:creationId xmlns:a16="http://schemas.microsoft.com/office/drawing/2014/main" id="{EE1F65A9-AC15-54CC-23C9-49896E1C9A0F}"/>
                  </a:ext>
                </a:extLst>
              </p:cNvPr>
              <p:cNvSpPr/>
              <p:nvPr/>
            </p:nvSpPr>
            <p:spPr>
              <a:xfrm>
                <a:off x="7343487" y="2031053"/>
                <a:ext cx="185338" cy="7675"/>
              </a:xfrm>
              <a:custGeom>
                <a:avLst/>
                <a:gdLst/>
                <a:ahLst/>
                <a:cxnLst/>
                <a:rect l="l" t="t" r="r" b="b"/>
                <a:pathLst>
                  <a:path w="5216" h="216" extrusionOk="0">
                    <a:moveTo>
                      <a:pt x="108" y="1"/>
                    </a:moveTo>
                    <a:cubicBezTo>
                      <a:pt x="48" y="1"/>
                      <a:pt x="1" y="49"/>
                      <a:pt x="1" y="108"/>
                    </a:cubicBezTo>
                    <a:cubicBezTo>
                      <a:pt x="1" y="168"/>
                      <a:pt x="48" y="215"/>
                      <a:pt x="108" y="215"/>
                    </a:cubicBezTo>
                    <a:lnTo>
                      <a:pt x="5096" y="215"/>
                    </a:lnTo>
                    <a:cubicBezTo>
                      <a:pt x="5168" y="215"/>
                      <a:pt x="5216" y="168"/>
                      <a:pt x="5216" y="108"/>
                    </a:cubicBezTo>
                    <a:cubicBezTo>
                      <a:pt x="5216" y="49"/>
                      <a:pt x="5168" y="1"/>
                      <a:pt x="5096" y="1"/>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grpSp>
        <p:sp>
          <p:nvSpPr>
            <p:cNvPr id="161" name="Google Shape;1203;p28">
              <a:extLst>
                <a:ext uri="{FF2B5EF4-FFF2-40B4-BE49-F238E27FC236}">
                  <a16:creationId xmlns:a16="http://schemas.microsoft.com/office/drawing/2014/main" id="{82D1B619-5F65-765C-6C93-B9944B919DFF}"/>
                </a:ext>
              </a:extLst>
            </p:cNvPr>
            <p:cNvSpPr/>
            <p:nvPr/>
          </p:nvSpPr>
          <p:spPr>
            <a:xfrm>
              <a:off x="6845138" y="2732081"/>
              <a:ext cx="1291180" cy="440034"/>
            </a:xfrm>
            <a:custGeom>
              <a:avLst/>
              <a:gdLst/>
              <a:ahLst/>
              <a:cxnLst/>
              <a:rect l="l" t="t" r="r" b="b"/>
              <a:pathLst>
                <a:path w="36338" h="12384" extrusionOk="0">
                  <a:moveTo>
                    <a:pt x="0" y="1"/>
                  </a:moveTo>
                  <a:lnTo>
                    <a:pt x="0" y="1358"/>
                  </a:lnTo>
                  <a:cubicBezTo>
                    <a:pt x="2417" y="1644"/>
                    <a:pt x="4298" y="3692"/>
                    <a:pt x="4298" y="6192"/>
                  </a:cubicBezTo>
                  <a:cubicBezTo>
                    <a:pt x="4298" y="8692"/>
                    <a:pt x="2417" y="10752"/>
                    <a:pt x="0" y="11038"/>
                  </a:cubicBezTo>
                  <a:lnTo>
                    <a:pt x="0" y="12383"/>
                  </a:lnTo>
                  <a:lnTo>
                    <a:pt x="32040" y="12383"/>
                  </a:lnTo>
                  <a:lnTo>
                    <a:pt x="32040" y="10502"/>
                  </a:lnTo>
                  <a:cubicBezTo>
                    <a:pt x="34409" y="10502"/>
                    <a:pt x="36338" y="8573"/>
                    <a:pt x="36338" y="6192"/>
                  </a:cubicBezTo>
                  <a:cubicBezTo>
                    <a:pt x="36338" y="3823"/>
                    <a:pt x="34409" y="1894"/>
                    <a:pt x="32040" y="1894"/>
                  </a:cubicBezTo>
                  <a:lnTo>
                    <a:pt x="32040" y="1"/>
                  </a:lnTo>
                  <a:close/>
                </a:path>
              </a:pathLst>
            </a:custGeom>
            <a:solidFill>
              <a:schemeClr val="accent1"/>
            </a:solidFill>
            <a:ln>
              <a:noFill/>
            </a:ln>
          </p:spPr>
          <p:txBody>
            <a:bodyPr spcFirstLastPara="1" wrap="square" lIns="91425" tIns="91425" rIns="91425" bIns="91425" anchor="ctr" anchorCtr="0">
              <a:noAutofit/>
            </a:bodyPr>
            <a:lstStyle/>
            <a:p>
              <a:pPr algn="ctr">
                <a:buClr>
                  <a:srgbClr val="000000"/>
                </a:buClr>
                <a:buFont typeface="Arial"/>
                <a:buNone/>
              </a:pPr>
              <a:r>
                <a:rPr lang="en" sz="1400" kern="0">
                  <a:solidFill>
                    <a:srgbClr val="FFFFFF"/>
                  </a:solidFill>
                  <a:latin typeface="Oswald" panose="00000500000000000000" pitchFamily="2" charset="0"/>
                  <a:ea typeface="Fira Sans Extra Condensed Medium"/>
                  <a:cs typeface="Fira Sans Extra Condensed Medium"/>
                  <a:sym typeface="Fira Sans Extra Condensed Medium"/>
                </a:rPr>
                <a:t>Phase 7</a:t>
              </a:r>
              <a:endParaRPr sz="1400" kern="0">
                <a:solidFill>
                  <a:srgbClr val="FFFFFF"/>
                </a:solidFill>
                <a:latin typeface="Oswald" panose="00000500000000000000" pitchFamily="2" charset="0"/>
                <a:ea typeface="Fira Sans Extra Condensed Medium"/>
                <a:cs typeface="Fira Sans Extra Condensed Medium"/>
                <a:sym typeface="Fira Sans Extra Condensed Medium"/>
              </a:endParaRPr>
            </a:p>
          </p:txBody>
        </p:sp>
        <p:sp>
          <p:nvSpPr>
            <p:cNvPr id="162" name="Google Shape;1204;p28">
              <a:extLst>
                <a:ext uri="{FF2B5EF4-FFF2-40B4-BE49-F238E27FC236}">
                  <a16:creationId xmlns:a16="http://schemas.microsoft.com/office/drawing/2014/main" id="{CA8E1562-EA24-166D-F10C-416C394EA8BC}"/>
                </a:ext>
              </a:extLst>
            </p:cNvPr>
            <p:cNvSpPr/>
            <p:nvPr/>
          </p:nvSpPr>
          <p:spPr>
            <a:xfrm>
              <a:off x="7455167" y="2235403"/>
              <a:ext cx="63070" cy="63070"/>
            </a:xfrm>
            <a:custGeom>
              <a:avLst/>
              <a:gdLst/>
              <a:ahLst/>
              <a:cxnLst/>
              <a:rect l="l" t="t" r="r" b="b"/>
              <a:pathLst>
                <a:path w="1775" h="1775" extrusionOk="0">
                  <a:moveTo>
                    <a:pt x="882" y="1"/>
                  </a:moveTo>
                  <a:cubicBezTo>
                    <a:pt x="394" y="1"/>
                    <a:pt x="1" y="394"/>
                    <a:pt x="1" y="882"/>
                  </a:cubicBezTo>
                  <a:cubicBezTo>
                    <a:pt x="1" y="1382"/>
                    <a:pt x="394" y="1775"/>
                    <a:pt x="882" y="1775"/>
                  </a:cubicBezTo>
                  <a:cubicBezTo>
                    <a:pt x="1382" y="1775"/>
                    <a:pt x="1775" y="1382"/>
                    <a:pt x="1775" y="882"/>
                  </a:cubicBezTo>
                  <a:cubicBezTo>
                    <a:pt x="1775" y="394"/>
                    <a:pt x="1382" y="1"/>
                    <a:pt x="882" y="1"/>
                  </a:cubicBezTo>
                  <a:close/>
                </a:path>
              </a:pathLst>
            </a:custGeom>
            <a:solidFill>
              <a:srgbClr val="000000"/>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163" name="Google Shape;1205;p28">
              <a:extLst>
                <a:ext uri="{FF2B5EF4-FFF2-40B4-BE49-F238E27FC236}">
                  <a16:creationId xmlns:a16="http://schemas.microsoft.com/office/drawing/2014/main" id="{9234B4A4-ADAC-ED44-7C47-492488E739CD}"/>
                </a:ext>
              </a:extLst>
            </p:cNvPr>
            <p:cNvSpPr txBox="1"/>
            <p:nvPr/>
          </p:nvSpPr>
          <p:spPr>
            <a:xfrm>
              <a:off x="6844818" y="1122239"/>
              <a:ext cx="1291500" cy="534900"/>
            </a:xfrm>
            <a:prstGeom prst="rect">
              <a:avLst/>
            </a:prstGeom>
            <a:noFill/>
            <a:ln>
              <a:noFill/>
            </a:ln>
          </p:spPr>
          <p:txBody>
            <a:bodyPr spcFirstLastPara="1" wrap="square" lIns="91425" tIns="91425" rIns="91425" bIns="91425" anchor="ctr" anchorCtr="0">
              <a:noAutofit/>
            </a:bodyPr>
            <a:lstStyle/>
            <a:p>
              <a:pPr algn="ctr">
                <a:buClr>
                  <a:srgbClr val="000000"/>
                </a:buClr>
                <a:buFont typeface="Arial"/>
                <a:buNone/>
              </a:pPr>
              <a:r>
                <a:rPr lang="en" sz="1500" kern="0">
                  <a:solidFill>
                    <a:srgbClr val="434343"/>
                  </a:solidFill>
                  <a:latin typeface="Oswald" panose="00000500000000000000" pitchFamily="2" charset="0"/>
                  <a:ea typeface="Roboto"/>
                  <a:cs typeface="Roboto"/>
                  <a:sym typeface="Roboto"/>
                </a:rPr>
                <a:t>Induction</a:t>
              </a:r>
              <a:endParaRPr sz="1500" kern="0">
                <a:solidFill>
                  <a:srgbClr val="434343"/>
                </a:solidFill>
                <a:latin typeface="Oswald" panose="00000500000000000000" pitchFamily="2" charset="0"/>
                <a:ea typeface="Roboto"/>
                <a:cs typeface="Roboto"/>
                <a:sym typeface="Roboto"/>
              </a:endParaRPr>
            </a:p>
          </p:txBody>
        </p:sp>
      </p:grpSp>
      <p:grpSp>
        <p:nvGrpSpPr>
          <p:cNvPr id="209" name="Google Shape;1189;p28">
            <a:extLst>
              <a:ext uri="{FF2B5EF4-FFF2-40B4-BE49-F238E27FC236}">
                <a16:creationId xmlns:a16="http://schemas.microsoft.com/office/drawing/2014/main" id="{FD24C92F-8C3D-68C9-30B4-B226EADF4CB4}"/>
              </a:ext>
            </a:extLst>
          </p:cNvPr>
          <p:cNvGrpSpPr/>
          <p:nvPr/>
        </p:nvGrpSpPr>
        <p:grpSpPr>
          <a:xfrm>
            <a:off x="8728789" y="1040360"/>
            <a:ext cx="1397312" cy="2035620"/>
            <a:chOff x="6739006" y="1136495"/>
            <a:chExt cx="1397312" cy="2035620"/>
          </a:xfrm>
        </p:grpSpPr>
        <p:sp>
          <p:nvSpPr>
            <p:cNvPr id="210" name="Google Shape;1190;p28">
              <a:extLst>
                <a:ext uri="{FF2B5EF4-FFF2-40B4-BE49-F238E27FC236}">
                  <a16:creationId xmlns:a16="http://schemas.microsoft.com/office/drawing/2014/main" id="{F3166A78-8782-5F2C-E67B-90167905DC9F}"/>
                </a:ext>
              </a:extLst>
            </p:cNvPr>
            <p:cNvSpPr/>
            <p:nvPr/>
          </p:nvSpPr>
          <p:spPr>
            <a:xfrm>
              <a:off x="7480999" y="2261200"/>
              <a:ext cx="11441" cy="704858"/>
            </a:xfrm>
            <a:custGeom>
              <a:avLst/>
              <a:gdLst/>
              <a:ahLst/>
              <a:cxnLst/>
              <a:rect l="l" t="t" r="r" b="b"/>
              <a:pathLst>
                <a:path w="322" h="19837" extrusionOk="0">
                  <a:moveTo>
                    <a:pt x="155" y="1"/>
                  </a:moveTo>
                  <a:cubicBezTo>
                    <a:pt x="72" y="1"/>
                    <a:pt x="0" y="72"/>
                    <a:pt x="0" y="156"/>
                  </a:cubicBezTo>
                  <a:lnTo>
                    <a:pt x="0" y="19682"/>
                  </a:lnTo>
                  <a:cubicBezTo>
                    <a:pt x="0" y="19765"/>
                    <a:pt x="72" y="19837"/>
                    <a:pt x="155" y="19837"/>
                  </a:cubicBezTo>
                  <a:cubicBezTo>
                    <a:pt x="250" y="19837"/>
                    <a:pt x="322" y="19765"/>
                    <a:pt x="322" y="19682"/>
                  </a:cubicBezTo>
                  <a:lnTo>
                    <a:pt x="322" y="156"/>
                  </a:lnTo>
                  <a:cubicBezTo>
                    <a:pt x="322" y="72"/>
                    <a:pt x="250" y="1"/>
                    <a:pt x="155" y="1"/>
                  </a:cubicBezTo>
                  <a:close/>
                </a:path>
              </a:pathLst>
            </a:custGeom>
            <a:solidFill>
              <a:srgbClr val="000000"/>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grpSp>
          <p:nvGrpSpPr>
            <p:cNvPr id="211" name="Google Shape;1191;p28">
              <a:extLst>
                <a:ext uri="{FF2B5EF4-FFF2-40B4-BE49-F238E27FC236}">
                  <a16:creationId xmlns:a16="http://schemas.microsoft.com/office/drawing/2014/main" id="{1A76A9B5-4037-0C77-5D46-CA79EF9B6837}"/>
                </a:ext>
              </a:extLst>
            </p:cNvPr>
            <p:cNvGrpSpPr/>
            <p:nvPr/>
          </p:nvGrpSpPr>
          <p:grpSpPr>
            <a:xfrm>
              <a:off x="7307954" y="1698963"/>
              <a:ext cx="365560" cy="450589"/>
              <a:chOff x="7307954" y="1698963"/>
              <a:chExt cx="365560" cy="450589"/>
            </a:xfrm>
          </p:grpSpPr>
          <p:sp>
            <p:nvSpPr>
              <p:cNvPr id="215" name="Google Shape;1192;p28">
                <a:extLst>
                  <a:ext uri="{FF2B5EF4-FFF2-40B4-BE49-F238E27FC236}">
                    <a16:creationId xmlns:a16="http://schemas.microsoft.com/office/drawing/2014/main" id="{CC323FEA-7A96-944D-57A7-D43B2A1AA3C8}"/>
                  </a:ext>
                </a:extLst>
              </p:cNvPr>
              <p:cNvSpPr/>
              <p:nvPr/>
            </p:nvSpPr>
            <p:spPr>
              <a:xfrm>
                <a:off x="7432319" y="1819526"/>
                <a:ext cx="241195" cy="330026"/>
              </a:xfrm>
              <a:custGeom>
                <a:avLst/>
                <a:gdLst/>
                <a:ahLst/>
                <a:cxnLst/>
                <a:rect l="l" t="t" r="r" b="b"/>
                <a:pathLst>
                  <a:path w="6788" h="9288" extrusionOk="0">
                    <a:moveTo>
                      <a:pt x="3609" y="1"/>
                    </a:moveTo>
                    <a:cubicBezTo>
                      <a:pt x="3549" y="1"/>
                      <a:pt x="3501" y="49"/>
                      <a:pt x="3501" y="120"/>
                    </a:cubicBezTo>
                    <a:cubicBezTo>
                      <a:pt x="3501" y="179"/>
                      <a:pt x="3549" y="227"/>
                      <a:pt x="3609" y="227"/>
                    </a:cubicBezTo>
                    <a:lnTo>
                      <a:pt x="6561" y="227"/>
                    </a:lnTo>
                    <a:lnTo>
                      <a:pt x="6561" y="9073"/>
                    </a:lnTo>
                    <a:lnTo>
                      <a:pt x="215" y="9073"/>
                    </a:lnTo>
                    <a:lnTo>
                      <a:pt x="215" y="7383"/>
                    </a:lnTo>
                    <a:cubicBezTo>
                      <a:pt x="215" y="7323"/>
                      <a:pt x="168" y="7276"/>
                      <a:pt x="108" y="7276"/>
                    </a:cubicBezTo>
                    <a:cubicBezTo>
                      <a:pt x="49" y="7276"/>
                      <a:pt x="1" y="7323"/>
                      <a:pt x="1" y="7383"/>
                    </a:cubicBezTo>
                    <a:lnTo>
                      <a:pt x="1" y="9288"/>
                    </a:lnTo>
                    <a:lnTo>
                      <a:pt x="6787" y="9288"/>
                    </a:lnTo>
                    <a:lnTo>
                      <a:pt x="6787" y="1"/>
                    </a:ln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216" name="Google Shape;1193;p28">
                <a:extLst>
                  <a:ext uri="{FF2B5EF4-FFF2-40B4-BE49-F238E27FC236}">
                    <a16:creationId xmlns:a16="http://schemas.microsoft.com/office/drawing/2014/main" id="{E769DD15-D638-7D11-EBC9-F814A9C734C8}"/>
                  </a:ext>
                </a:extLst>
              </p:cNvPr>
              <p:cNvSpPr/>
              <p:nvPr/>
            </p:nvSpPr>
            <p:spPr>
              <a:xfrm>
                <a:off x="7307954" y="1698963"/>
                <a:ext cx="256403" cy="387127"/>
              </a:xfrm>
              <a:custGeom>
                <a:avLst/>
                <a:gdLst/>
                <a:ahLst/>
                <a:cxnLst/>
                <a:rect l="l" t="t" r="r" b="b"/>
                <a:pathLst>
                  <a:path w="7216" h="10895" extrusionOk="0">
                    <a:moveTo>
                      <a:pt x="7001" y="215"/>
                    </a:moveTo>
                    <a:lnTo>
                      <a:pt x="7001" y="10669"/>
                    </a:lnTo>
                    <a:lnTo>
                      <a:pt x="215" y="10669"/>
                    </a:lnTo>
                    <a:lnTo>
                      <a:pt x="215" y="215"/>
                    </a:lnTo>
                    <a:close/>
                    <a:moveTo>
                      <a:pt x="0" y="1"/>
                    </a:moveTo>
                    <a:lnTo>
                      <a:pt x="0" y="10895"/>
                    </a:lnTo>
                    <a:lnTo>
                      <a:pt x="7216" y="10895"/>
                    </a:lnTo>
                    <a:lnTo>
                      <a:pt x="7216" y="1"/>
                    </a:ln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217" name="Google Shape;1194;p28">
                <a:extLst>
                  <a:ext uri="{FF2B5EF4-FFF2-40B4-BE49-F238E27FC236}">
                    <a16:creationId xmlns:a16="http://schemas.microsoft.com/office/drawing/2014/main" id="{2B904047-EC6F-A433-C4D1-7E5CBB91DA59}"/>
                  </a:ext>
                </a:extLst>
              </p:cNvPr>
              <p:cNvSpPr/>
              <p:nvPr/>
            </p:nvSpPr>
            <p:spPr>
              <a:xfrm>
                <a:off x="7343487" y="1739577"/>
                <a:ext cx="185338" cy="7639"/>
              </a:xfrm>
              <a:custGeom>
                <a:avLst/>
                <a:gdLst/>
                <a:ahLst/>
                <a:cxnLst/>
                <a:rect l="l" t="t" r="r" b="b"/>
                <a:pathLst>
                  <a:path w="5216" h="215" extrusionOk="0">
                    <a:moveTo>
                      <a:pt x="108" y="1"/>
                    </a:moveTo>
                    <a:cubicBezTo>
                      <a:pt x="48" y="1"/>
                      <a:pt x="1" y="48"/>
                      <a:pt x="1" y="108"/>
                    </a:cubicBezTo>
                    <a:cubicBezTo>
                      <a:pt x="1" y="167"/>
                      <a:pt x="48" y="215"/>
                      <a:pt x="108" y="215"/>
                    </a:cubicBezTo>
                    <a:lnTo>
                      <a:pt x="5096" y="215"/>
                    </a:lnTo>
                    <a:cubicBezTo>
                      <a:pt x="5168" y="215"/>
                      <a:pt x="5216" y="167"/>
                      <a:pt x="5216" y="108"/>
                    </a:cubicBezTo>
                    <a:cubicBezTo>
                      <a:pt x="5216" y="48"/>
                      <a:pt x="5168" y="1"/>
                      <a:pt x="5096" y="1"/>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218" name="Google Shape;1195;p28">
                <a:extLst>
                  <a:ext uri="{FF2B5EF4-FFF2-40B4-BE49-F238E27FC236}">
                    <a16:creationId xmlns:a16="http://schemas.microsoft.com/office/drawing/2014/main" id="{C78EE463-5B20-596C-591E-463163FEA272}"/>
                  </a:ext>
                </a:extLst>
              </p:cNvPr>
              <p:cNvSpPr/>
              <p:nvPr/>
            </p:nvSpPr>
            <p:spPr>
              <a:xfrm>
                <a:off x="7343487" y="1775963"/>
                <a:ext cx="185338" cy="7639"/>
              </a:xfrm>
              <a:custGeom>
                <a:avLst/>
                <a:gdLst/>
                <a:ahLst/>
                <a:cxnLst/>
                <a:rect l="l" t="t" r="r" b="b"/>
                <a:pathLst>
                  <a:path w="5216" h="215" extrusionOk="0">
                    <a:moveTo>
                      <a:pt x="108" y="1"/>
                    </a:moveTo>
                    <a:cubicBezTo>
                      <a:pt x="48" y="1"/>
                      <a:pt x="1" y="48"/>
                      <a:pt x="1" y="108"/>
                    </a:cubicBezTo>
                    <a:cubicBezTo>
                      <a:pt x="1" y="167"/>
                      <a:pt x="48" y="215"/>
                      <a:pt x="108" y="215"/>
                    </a:cubicBezTo>
                    <a:lnTo>
                      <a:pt x="5096" y="215"/>
                    </a:lnTo>
                    <a:cubicBezTo>
                      <a:pt x="5168" y="215"/>
                      <a:pt x="5216" y="167"/>
                      <a:pt x="5216" y="108"/>
                    </a:cubicBezTo>
                    <a:cubicBezTo>
                      <a:pt x="5216" y="48"/>
                      <a:pt x="5168" y="1"/>
                      <a:pt x="5096" y="1"/>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219" name="Google Shape;1196;p28">
                <a:extLst>
                  <a:ext uri="{FF2B5EF4-FFF2-40B4-BE49-F238E27FC236}">
                    <a16:creationId xmlns:a16="http://schemas.microsoft.com/office/drawing/2014/main" id="{D8DE4272-CCF5-26C2-637D-F9B29E9D24D6}"/>
                  </a:ext>
                </a:extLst>
              </p:cNvPr>
              <p:cNvSpPr/>
              <p:nvPr/>
            </p:nvSpPr>
            <p:spPr>
              <a:xfrm>
                <a:off x="7343487" y="1812349"/>
                <a:ext cx="185338" cy="7639"/>
              </a:xfrm>
              <a:custGeom>
                <a:avLst/>
                <a:gdLst/>
                <a:ahLst/>
                <a:cxnLst/>
                <a:rect l="l" t="t" r="r" b="b"/>
                <a:pathLst>
                  <a:path w="5216" h="215" extrusionOk="0">
                    <a:moveTo>
                      <a:pt x="108" y="0"/>
                    </a:moveTo>
                    <a:cubicBezTo>
                      <a:pt x="48" y="0"/>
                      <a:pt x="1" y="48"/>
                      <a:pt x="1" y="108"/>
                    </a:cubicBezTo>
                    <a:cubicBezTo>
                      <a:pt x="1" y="167"/>
                      <a:pt x="48" y="215"/>
                      <a:pt x="108" y="215"/>
                    </a:cubicBezTo>
                    <a:lnTo>
                      <a:pt x="5096" y="215"/>
                    </a:lnTo>
                    <a:cubicBezTo>
                      <a:pt x="5168" y="215"/>
                      <a:pt x="5216" y="167"/>
                      <a:pt x="5216" y="108"/>
                    </a:cubicBezTo>
                    <a:cubicBezTo>
                      <a:pt x="5216" y="48"/>
                      <a:pt x="5168" y="0"/>
                      <a:pt x="5096" y="0"/>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220" name="Google Shape;1197;p28">
                <a:extLst>
                  <a:ext uri="{FF2B5EF4-FFF2-40B4-BE49-F238E27FC236}">
                    <a16:creationId xmlns:a16="http://schemas.microsoft.com/office/drawing/2014/main" id="{55CFAC17-5016-FD3B-A07E-D82B46F4E490}"/>
                  </a:ext>
                </a:extLst>
              </p:cNvPr>
              <p:cNvSpPr/>
              <p:nvPr/>
            </p:nvSpPr>
            <p:spPr>
              <a:xfrm>
                <a:off x="7343487" y="1848734"/>
                <a:ext cx="185338" cy="7639"/>
              </a:xfrm>
              <a:custGeom>
                <a:avLst/>
                <a:gdLst/>
                <a:ahLst/>
                <a:cxnLst/>
                <a:rect l="l" t="t" r="r" b="b"/>
                <a:pathLst>
                  <a:path w="5216" h="215" extrusionOk="0">
                    <a:moveTo>
                      <a:pt x="108" y="0"/>
                    </a:moveTo>
                    <a:cubicBezTo>
                      <a:pt x="48" y="0"/>
                      <a:pt x="1" y="48"/>
                      <a:pt x="1" y="108"/>
                    </a:cubicBezTo>
                    <a:cubicBezTo>
                      <a:pt x="1" y="167"/>
                      <a:pt x="48" y="215"/>
                      <a:pt x="108" y="215"/>
                    </a:cubicBezTo>
                    <a:lnTo>
                      <a:pt x="5096" y="215"/>
                    </a:lnTo>
                    <a:cubicBezTo>
                      <a:pt x="5168" y="215"/>
                      <a:pt x="5216" y="167"/>
                      <a:pt x="5216" y="108"/>
                    </a:cubicBezTo>
                    <a:cubicBezTo>
                      <a:pt x="5216" y="48"/>
                      <a:pt x="5168" y="0"/>
                      <a:pt x="5096" y="0"/>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221" name="Google Shape;1198;p28">
                <a:extLst>
                  <a:ext uri="{FF2B5EF4-FFF2-40B4-BE49-F238E27FC236}">
                    <a16:creationId xmlns:a16="http://schemas.microsoft.com/office/drawing/2014/main" id="{C9DDE432-9C9C-BFAF-EDB4-B4EBDA883801}"/>
                  </a:ext>
                </a:extLst>
              </p:cNvPr>
              <p:cNvSpPr/>
              <p:nvPr/>
            </p:nvSpPr>
            <p:spPr>
              <a:xfrm>
                <a:off x="7343487" y="1885120"/>
                <a:ext cx="185338" cy="7639"/>
              </a:xfrm>
              <a:custGeom>
                <a:avLst/>
                <a:gdLst/>
                <a:ahLst/>
                <a:cxnLst/>
                <a:rect l="l" t="t" r="r" b="b"/>
                <a:pathLst>
                  <a:path w="5216" h="215" extrusionOk="0">
                    <a:moveTo>
                      <a:pt x="108" y="0"/>
                    </a:moveTo>
                    <a:cubicBezTo>
                      <a:pt x="48" y="0"/>
                      <a:pt x="1" y="48"/>
                      <a:pt x="1" y="108"/>
                    </a:cubicBezTo>
                    <a:cubicBezTo>
                      <a:pt x="1" y="167"/>
                      <a:pt x="48" y="215"/>
                      <a:pt x="108" y="215"/>
                    </a:cubicBezTo>
                    <a:lnTo>
                      <a:pt x="5096" y="215"/>
                    </a:lnTo>
                    <a:cubicBezTo>
                      <a:pt x="5168" y="215"/>
                      <a:pt x="5216" y="167"/>
                      <a:pt x="5216" y="108"/>
                    </a:cubicBezTo>
                    <a:cubicBezTo>
                      <a:pt x="5216" y="48"/>
                      <a:pt x="5168" y="0"/>
                      <a:pt x="5096" y="0"/>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222" name="Google Shape;1199;p28">
                <a:extLst>
                  <a:ext uri="{FF2B5EF4-FFF2-40B4-BE49-F238E27FC236}">
                    <a16:creationId xmlns:a16="http://schemas.microsoft.com/office/drawing/2014/main" id="{600D1562-51F5-72C1-B6BD-A29CC083CB0F}"/>
                  </a:ext>
                </a:extLst>
              </p:cNvPr>
              <p:cNvSpPr/>
              <p:nvPr/>
            </p:nvSpPr>
            <p:spPr>
              <a:xfrm>
                <a:off x="7343487" y="1921506"/>
                <a:ext cx="185338" cy="8066"/>
              </a:xfrm>
              <a:custGeom>
                <a:avLst/>
                <a:gdLst/>
                <a:ahLst/>
                <a:cxnLst/>
                <a:rect l="l" t="t" r="r" b="b"/>
                <a:pathLst>
                  <a:path w="5216" h="227" extrusionOk="0">
                    <a:moveTo>
                      <a:pt x="108" y="0"/>
                    </a:moveTo>
                    <a:cubicBezTo>
                      <a:pt x="48" y="0"/>
                      <a:pt x="1" y="48"/>
                      <a:pt x="1" y="107"/>
                    </a:cubicBezTo>
                    <a:cubicBezTo>
                      <a:pt x="1" y="179"/>
                      <a:pt x="48" y="227"/>
                      <a:pt x="108" y="227"/>
                    </a:cubicBezTo>
                    <a:lnTo>
                      <a:pt x="5096" y="227"/>
                    </a:lnTo>
                    <a:cubicBezTo>
                      <a:pt x="5168" y="227"/>
                      <a:pt x="5216" y="179"/>
                      <a:pt x="5216" y="107"/>
                    </a:cubicBezTo>
                    <a:cubicBezTo>
                      <a:pt x="5216" y="48"/>
                      <a:pt x="5168" y="0"/>
                      <a:pt x="5096" y="0"/>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223" name="Google Shape;1200;p28">
                <a:extLst>
                  <a:ext uri="{FF2B5EF4-FFF2-40B4-BE49-F238E27FC236}">
                    <a16:creationId xmlns:a16="http://schemas.microsoft.com/office/drawing/2014/main" id="{C5B52FC9-D44E-428D-BE06-3FE5E9D8ABE1}"/>
                  </a:ext>
                </a:extLst>
              </p:cNvPr>
              <p:cNvSpPr/>
              <p:nvPr/>
            </p:nvSpPr>
            <p:spPr>
              <a:xfrm>
                <a:off x="7343487" y="1957891"/>
                <a:ext cx="185338" cy="8066"/>
              </a:xfrm>
              <a:custGeom>
                <a:avLst/>
                <a:gdLst/>
                <a:ahLst/>
                <a:cxnLst/>
                <a:rect l="l" t="t" r="r" b="b"/>
                <a:pathLst>
                  <a:path w="5216" h="227" extrusionOk="0">
                    <a:moveTo>
                      <a:pt x="108" y="0"/>
                    </a:moveTo>
                    <a:cubicBezTo>
                      <a:pt x="48" y="0"/>
                      <a:pt x="1" y="60"/>
                      <a:pt x="1" y="119"/>
                    </a:cubicBezTo>
                    <a:cubicBezTo>
                      <a:pt x="1" y="179"/>
                      <a:pt x="48" y="226"/>
                      <a:pt x="108" y="226"/>
                    </a:cubicBezTo>
                    <a:lnTo>
                      <a:pt x="5096" y="226"/>
                    </a:lnTo>
                    <a:cubicBezTo>
                      <a:pt x="5168" y="226"/>
                      <a:pt x="5216" y="179"/>
                      <a:pt x="5216" y="119"/>
                    </a:cubicBezTo>
                    <a:cubicBezTo>
                      <a:pt x="5216" y="60"/>
                      <a:pt x="5168" y="0"/>
                      <a:pt x="5096" y="0"/>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224" name="Google Shape;1201;p28">
                <a:extLst>
                  <a:ext uri="{FF2B5EF4-FFF2-40B4-BE49-F238E27FC236}">
                    <a16:creationId xmlns:a16="http://schemas.microsoft.com/office/drawing/2014/main" id="{F848D5EB-42B1-02A9-6CED-006AB7C48F0B}"/>
                  </a:ext>
                </a:extLst>
              </p:cNvPr>
              <p:cNvSpPr/>
              <p:nvPr/>
            </p:nvSpPr>
            <p:spPr>
              <a:xfrm>
                <a:off x="7343487" y="1994703"/>
                <a:ext cx="185338" cy="7639"/>
              </a:xfrm>
              <a:custGeom>
                <a:avLst/>
                <a:gdLst/>
                <a:ahLst/>
                <a:cxnLst/>
                <a:rect l="l" t="t" r="r" b="b"/>
                <a:pathLst>
                  <a:path w="5216" h="215" extrusionOk="0">
                    <a:moveTo>
                      <a:pt x="108" y="0"/>
                    </a:moveTo>
                    <a:cubicBezTo>
                      <a:pt x="48" y="0"/>
                      <a:pt x="1" y="48"/>
                      <a:pt x="1" y="107"/>
                    </a:cubicBezTo>
                    <a:cubicBezTo>
                      <a:pt x="1" y="167"/>
                      <a:pt x="48" y="214"/>
                      <a:pt x="108" y="214"/>
                    </a:cubicBezTo>
                    <a:lnTo>
                      <a:pt x="5096" y="214"/>
                    </a:lnTo>
                    <a:cubicBezTo>
                      <a:pt x="5168" y="214"/>
                      <a:pt x="5216" y="167"/>
                      <a:pt x="5216" y="107"/>
                    </a:cubicBezTo>
                    <a:cubicBezTo>
                      <a:pt x="5216" y="48"/>
                      <a:pt x="5168" y="0"/>
                      <a:pt x="5096" y="0"/>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225" name="Google Shape;1202;p28">
                <a:extLst>
                  <a:ext uri="{FF2B5EF4-FFF2-40B4-BE49-F238E27FC236}">
                    <a16:creationId xmlns:a16="http://schemas.microsoft.com/office/drawing/2014/main" id="{80C4AD59-9EFB-1D49-11E5-7672E5A98927}"/>
                  </a:ext>
                </a:extLst>
              </p:cNvPr>
              <p:cNvSpPr/>
              <p:nvPr/>
            </p:nvSpPr>
            <p:spPr>
              <a:xfrm>
                <a:off x="7343487" y="2031053"/>
                <a:ext cx="185338" cy="7675"/>
              </a:xfrm>
              <a:custGeom>
                <a:avLst/>
                <a:gdLst/>
                <a:ahLst/>
                <a:cxnLst/>
                <a:rect l="l" t="t" r="r" b="b"/>
                <a:pathLst>
                  <a:path w="5216" h="216" extrusionOk="0">
                    <a:moveTo>
                      <a:pt x="108" y="1"/>
                    </a:moveTo>
                    <a:cubicBezTo>
                      <a:pt x="48" y="1"/>
                      <a:pt x="1" y="49"/>
                      <a:pt x="1" y="108"/>
                    </a:cubicBezTo>
                    <a:cubicBezTo>
                      <a:pt x="1" y="168"/>
                      <a:pt x="48" y="215"/>
                      <a:pt x="108" y="215"/>
                    </a:cubicBezTo>
                    <a:lnTo>
                      <a:pt x="5096" y="215"/>
                    </a:lnTo>
                    <a:cubicBezTo>
                      <a:pt x="5168" y="215"/>
                      <a:pt x="5216" y="168"/>
                      <a:pt x="5216" y="108"/>
                    </a:cubicBezTo>
                    <a:cubicBezTo>
                      <a:pt x="5216" y="49"/>
                      <a:pt x="5168" y="1"/>
                      <a:pt x="5096" y="1"/>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grpSp>
        <p:sp>
          <p:nvSpPr>
            <p:cNvPr id="212" name="Google Shape;1203;p28">
              <a:extLst>
                <a:ext uri="{FF2B5EF4-FFF2-40B4-BE49-F238E27FC236}">
                  <a16:creationId xmlns:a16="http://schemas.microsoft.com/office/drawing/2014/main" id="{6DB132E0-6681-057D-A215-134A59F965E6}"/>
                </a:ext>
              </a:extLst>
            </p:cNvPr>
            <p:cNvSpPr/>
            <p:nvPr/>
          </p:nvSpPr>
          <p:spPr>
            <a:xfrm>
              <a:off x="6845138" y="2732081"/>
              <a:ext cx="1291180" cy="440034"/>
            </a:xfrm>
            <a:custGeom>
              <a:avLst/>
              <a:gdLst/>
              <a:ahLst/>
              <a:cxnLst/>
              <a:rect l="l" t="t" r="r" b="b"/>
              <a:pathLst>
                <a:path w="36338" h="12384" extrusionOk="0">
                  <a:moveTo>
                    <a:pt x="0" y="1"/>
                  </a:moveTo>
                  <a:lnTo>
                    <a:pt x="0" y="1358"/>
                  </a:lnTo>
                  <a:cubicBezTo>
                    <a:pt x="2417" y="1644"/>
                    <a:pt x="4298" y="3692"/>
                    <a:pt x="4298" y="6192"/>
                  </a:cubicBezTo>
                  <a:cubicBezTo>
                    <a:pt x="4298" y="8692"/>
                    <a:pt x="2417" y="10752"/>
                    <a:pt x="0" y="11038"/>
                  </a:cubicBezTo>
                  <a:lnTo>
                    <a:pt x="0" y="12383"/>
                  </a:lnTo>
                  <a:lnTo>
                    <a:pt x="32040" y="12383"/>
                  </a:lnTo>
                  <a:lnTo>
                    <a:pt x="32040" y="10502"/>
                  </a:lnTo>
                  <a:cubicBezTo>
                    <a:pt x="34409" y="10502"/>
                    <a:pt x="36338" y="8573"/>
                    <a:pt x="36338" y="6192"/>
                  </a:cubicBezTo>
                  <a:cubicBezTo>
                    <a:pt x="36338" y="3823"/>
                    <a:pt x="34409" y="1894"/>
                    <a:pt x="32040" y="1894"/>
                  </a:cubicBezTo>
                  <a:lnTo>
                    <a:pt x="32040" y="1"/>
                  </a:lnTo>
                  <a:close/>
                </a:path>
              </a:pathLst>
            </a:custGeom>
            <a:solidFill>
              <a:schemeClr val="accent1"/>
            </a:solidFill>
            <a:ln>
              <a:noFill/>
            </a:ln>
          </p:spPr>
          <p:txBody>
            <a:bodyPr spcFirstLastPara="1" wrap="square" lIns="91425" tIns="91425" rIns="91425" bIns="91425" anchor="ctr" anchorCtr="0">
              <a:noAutofit/>
            </a:bodyPr>
            <a:lstStyle/>
            <a:p>
              <a:pPr algn="ctr">
                <a:buClr>
                  <a:srgbClr val="000000"/>
                </a:buClr>
                <a:buFont typeface="Arial"/>
                <a:buNone/>
              </a:pPr>
              <a:r>
                <a:rPr lang="en" sz="1400" kern="0">
                  <a:solidFill>
                    <a:srgbClr val="FFFFFF"/>
                  </a:solidFill>
                  <a:latin typeface="Oswald" panose="00000500000000000000" pitchFamily="2" charset="0"/>
                  <a:ea typeface="Fira Sans Extra Condensed Medium"/>
                  <a:cs typeface="Fira Sans Extra Condensed Medium"/>
                  <a:sym typeface="Fira Sans Extra Condensed Medium"/>
                </a:rPr>
                <a:t>Phase 8</a:t>
              </a:r>
              <a:endParaRPr sz="1400" kern="0">
                <a:solidFill>
                  <a:srgbClr val="FFFFFF"/>
                </a:solidFill>
                <a:latin typeface="Oswald" panose="00000500000000000000" pitchFamily="2" charset="0"/>
                <a:ea typeface="Fira Sans Extra Condensed Medium"/>
                <a:cs typeface="Fira Sans Extra Condensed Medium"/>
                <a:sym typeface="Fira Sans Extra Condensed Medium"/>
              </a:endParaRPr>
            </a:p>
          </p:txBody>
        </p:sp>
        <p:sp>
          <p:nvSpPr>
            <p:cNvPr id="213" name="Google Shape;1204;p28">
              <a:extLst>
                <a:ext uri="{FF2B5EF4-FFF2-40B4-BE49-F238E27FC236}">
                  <a16:creationId xmlns:a16="http://schemas.microsoft.com/office/drawing/2014/main" id="{F5FF3D33-74FA-AF93-3EC6-AB8EE901510B}"/>
                </a:ext>
              </a:extLst>
            </p:cNvPr>
            <p:cNvSpPr/>
            <p:nvPr/>
          </p:nvSpPr>
          <p:spPr>
            <a:xfrm>
              <a:off x="7455167" y="2235403"/>
              <a:ext cx="63070" cy="63070"/>
            </a:xfrm>
            <a:custGeom>
              <a:avLst/>
              <a:gdLst/>
              <a:ahLst/>
              <a:cxnLst/>
              <a:rect l="l" t="t" r="r" b="b"/>
              <a:pathLst>
                <a:path w="1775" h="1775" extrusionOk="0">
                  <a:moveTo>
                    <a:pt x="882" y="1"/>
                  </a:moveTo>
                  <a:cubicBezTo>
                    <a:pt x="394" y="1"/>
                    <a:pt x="1" y="394"/>
                    <a:pt x="1" y="882"/>
                  </a:cubicBezTo>
                  <a:cubicBezTo>
                    <a:pt x="1" y="1382"/>
                    <a:pt x="394" y="1775"/>
                    <a:pt x="882" y="1775"/>
                  </a:cubicBezTo>
                  <a:cubicBezTo>
                    <a:pt x="1382" y="1775"/>
                    <a:pt x="1775" y="1382"/>
                    <a:pt x="1775" y="882"/>
                  </a:cubicBezTo>
                  <a:cubicBezTo>
                    <a:pt x="1775" y="394"/>
                    <a:pt x="1382" y="1"/>
                    <a:pt x="882" y="1"/>
                  </a:cubicBezTo>
                  <a:close/>
                </a:path>
              </a:pathLst>
            </a:custGeom>
            <a:solidFill>
              <a:srgbClr val="000000"/>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214" name="Google Shape;1205;p28">
              <a:extLst>
                <a:ext uri="{FF2B5EF4-FFF2-40B4-BE49-F238E27FC236}">
                  <a16:creationId xmlns:a16="http://schemas.microsoft.com/office/drawing/2014/main" id="{BDBE60E0-D28D-8F85-1389-37C5D8FA6512}"/>
                </a:ext>
              </a:extLst>
            </p:cNvPr>
            <p:cNvSpPr txBox="1"/>
            <p:nvPr/>
          </p:nvSpPr>
          <p:spPr>
            <a:xfrm>
              <a:off x="6739006" y="1136495"/>
              <a:ext cx="1291500" cy="534900"/>
            </a:xfrm>
            <a:prstGeom prst="rect">
              <a:avLst/>
            </a:prstGeom>
            <a:noFill/>
            <a:ln>
              <a:noFill/>
            </a:ln>
          </p:spPr>
          <p:txBody>
            <a:bodyPr spcFirstLastPara="1" wrap="square" lIns="91425" tIns="91425" rIns="91425" bIns="91425" anchor="ctr" anchorCtr="0">
              <a:noAutofit/>
            </a:bodyPr>
            <a:lstStyle/>
            <a:p>
              <a:pPr algn="ctr">
                <a:buClr>
                  <a:srgbClr val="000000"/>
                </a:buClr>
                <a:buFont typeface="Arial"/>
                <a:buNone/>
              </a:pPr>
              <a:r>
                <a:rPr lang="en" sz="1500" kern="0">
                  <a:solidFill>
                    <a:srgbClr val="434343"/>
                  </a:solidFill>
                  <a:latin typeface="Oswald" panose="00000500000000000000" pitchFamily="2" charset="0"/>
                  <a:ea typeface="Roboto"/>
                  <a:cs typeface="Roboto"/>
                  <a:sym typeface="Roboto"/>
                </a:rPr>
                <a:t>Process Training</a:t>
              </a:r>
              <a:endParaRPr sz="1500" kern="0">
                <a:solidFill>
                  <a:srgbClr val="434343"/>
                </a:solidFill>
                <a:latin typeface="Oswald" panose="00000500000000000000" pitchFamily="2" charset="0"/>
                <a:ea typeface="Roboto"/>
                <a:cs typeface="Roboto"/>
                <a:sym typeface="Roboto"/>
              </a:endParaRPr>
            </a:p>
          </p:txBody>
        </p:sp>
      </p:grpSp>
      <p:grpSp>
        <p:nvGrpSpPr>
          <p:cNvPr id="226" name="Google Shape;1189;p28">
            <a:extLst>
              <a:ext uri="{FF2B5EF4-FFF2-40B4-BE49-F238E27FC236}">
                <a16:creationId xmlns:a16="http://schemas.microsoft.com/office/drawing/2014/main" id="{DA197626-712E-D5E1-58E5-852BF9D14CCD}"/>
              </a:ext>
            </a:extLst>
          </p:cNvPr>
          <p:cNvGrpSpPr/>
          <p:nvPr/>
        </p:nvGrpSpPr>
        <p:grpSpPr>
          <a:xfrm>
            <a:off x="9910716" y="1042078"/>
            <a:ext cx="1397312" cy="2035620"/>
            <a:chOff x="6739006" y="1136495"/>
            <a:chExt cx="1397312" cy="2035620"/>
          </a:xfrm>
        </p:grpSpPr>
        <p:sp>
          <p:nvSpPr>
            <p:cNvPr id="227" name="Google Shape;1190;p28">
              <a:extLst>
                <a:ext uri="{FF2B5EF4-FFF2-40B4-BE49-F238E27FC236}">
                  <a16:creationId xmlns:a16="http://schemas.microsoft.com/office/drawing/2014/main" id="{7E525721-8335-C85D-2371-3A82DFCD597D}"/>
                </a:ext>
              </a:extLst>
            </p:cNvPr>
            <p:cNvSpPr/>
            <p:nvPr/>
          </p:nvSpPr>
          <p:spPr>
            <a:xfrm>
              <a:off x="7480999" y="2261200"/>
              <a:ext cx="11441" cy="704858"/>
            </a:xfrm>
            <a:custGeom>
              <a:avLst/>
              <a:gdLst/>
              <a:ahLst/>
              <a:cxnLst/>
              <a:rect l="l" t="t" r="r" b="b"/>
              <a:pathLst>
                <a:path w="322" h="19837" extrusionOk="0">
                  <a:moveTo>
                    <a:pt x="155" y="1"/>
                  </a:moveTo>
                  <a:cubicBezTo>
                    <a:pt x="72" y="1"/>
                    <a:pt x="0" y="72"/>
                    <a:pt x="0" y="156"/>
                  </a:cubicBezTo>
                  <a:lnTo>
                    <a:pt x="0" y="19682"/>
                  </a:lnTo>
                  <a:cubicBezTo>
                    <a:pt x="0" y="19765"/>
                    <a:pt x="72" y="19837"/>
                    <a:pt x="155" y="19837"/>
                  </a:cubicBezTo>
                  <a:cubicBezTo>
                    <a:pt x="250" y="19837"/>
                    <a:pt x="322" y="19765"/>
                    <a:pt x="322" y="19682"/>
                  </a:cubicBezTo>
                  <a:lnTo>
                    <a:pt x="322" y="156"/>
                  </a:lnTo>
                  <a:cubicBezTo>
                    <a:pt x="322" y="72"/>
                    <a:pt x="250" y="1"/>
                    <a:pt x="155" y="1"/>
                  </a:cubicBezTo>
                  <a:close/>
                </a:path>
              </a:pathLst>
            </a:custGeom>
            <a:solidFill>
              <a:srgbClr val="000000"/>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grpSp>
          <p:nvGrpSpPr>
            <p:cNvPr id="228" name="Google Shape;1191;p28">
              <a:extLst>
                <a:ext uri="{FF2B5EF4-FFF2-40B4-BE49-F238E27FC236}">
                  <a16:creationId xmlns:a16="http://schemas.microsoft.com/office/drawing/2014/main" id="{D1208399-531F-38A5-1FCE-3FE271A37C50}"/>
                </a:ext>
              </a:extLst>
            </p:cNvPr>
            <p:cNvGrpSpPr/>
            <p:nvPr/>
          </p:nvGrpSpPr>
          <p:grpSpPr>
            <a:xfrm>
              <a:off x="7307954" y="1698963"/>
              <a:ext cx="365560" cy="450589"/>
              <a:chOff x="7307954" y="1698963"/>
              <a:chExt cx="365560" cy="450589"/>
            </a:xfrm>
          </p:grpSpPr>
          <p:sp>
            <p:nvSpPr>
              <p:cNvPr id="232" name="Google Shape;1192;p28">
                <a:extLst>
                  <a:ext uri="{FF2B5EF4-FFF2-40B4-BE49-F238E27FC236}">
                    <a16:creationId xmlns:a16="http://schemas.microsoft.com/office/drawing/2014/main" id="{631F29CF-A516-0B34-48AF-DB63D27AF3C9}"/>
                  </a:ext>
                </a:extLst>
              </p:cNvPr>
              <p:cNvSpPr/>
              <p:nvPr/>
            </p:nvSpPr>
            <p:spPr>
              <a:xfrm>
                <a:off x="7432319" y="1819526"/>
                <a:ext cx="241195" cy="330026"/>
              </a:xfrm>
              <a:custGeom>
                <a:avLst/>
                <a:gdLst/>
                <a:ahLst/>
                <a:cxnLst/>
                <a:rect l="l" t="t" r="r" b="b"/>
                <a:pathLst>
                  <a:path w="6788" h="9288" extrusionOk="0">
                    <a:moveTo>
                      <a:pt x="3609" y="1"/>
                    </a:moveTo>
                    <a:cubicBezTo>
                      <a:pt x="3549" y="1"/>
                      <a:pt x="3501" y="49"/>
                      <a:pt x="3501" y="120"/>
                    </a:cubicBezTo>
                    <a:cubicBezTo>
                      <a:pt x="3501" y="179"/>
                      <a:pt x="3549" y="227"/>
                      <a:pt x="3609" y="227"/>
                    </a:cubicBezTo>
                    <a:lnTo>
                      <a:pt x="6561" y="227"/>
                    </a:lnTo>
                    <a:lnTo>
                      <a:pt x="6561" y="9073"/>
                    </a:lnTo>
                    <a:lnTo>
                      <a:pt x="215" y="9073"/>
                    </a:lnTo>
                    <a:lnTo>
                      <a:pt x="215" y="7383"/>
                    </a:lnTo>
                    <a:cubicBezTo>
                      <a:pt x="215" y="7323"/>
                      <a:pt x="168" y="7276"/>
                      <a:pt x="108" y="7276"/>
                    </a:cubicBezTo>
                    <a:cubicBezTo>
                      <a:pt x="49" y="7276"/>
                      <a:pt x="1" y="7323"/>
                      <a:pt x="1" y="7383"/>
                    </a:cubicBezTo>
                    <a:lnTo>
                      <a:pt x="1" y="9288"/>
                    </a:lnTo>
                    <a:lnTo>
                      <a:pt x="6787" y="9288"/>
                    </a:lnTo>
                    <a:lnTo>
                      <a:pt x="6787" y="1"/>
                    </a:ln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233" name="Google Shape;1193;p28">
                <a:extLst>
                  <a:ext uri="{FF2B5EF4-FFF2-40B4-BE49-F238E27FC236}">
                    <a16:creationId xmlns:a16="http://schemas.microsoft.com/office/drawing/2014/main" id="{6DDB7ED4-3B4D-FE72-11B4-052B9DF7B160}"/>
                  </a:ext>
                </a:extLst>
              </p:cNvPr>
              <p:cNvSpPr/>
              <p:nvPr/>
            </p:nvSpPr>
            <p:spPr>
              <a:xfrm>
                <a:off x="7307954" y="1698963"/>
                <a:ext cx="256403" cy="387127"/>
              </a:xfrm>
              <a:custGeom>
                <a:avLst/>
                <a:gdLst/>
                <a:ahLst/>
                <a:cxnLst/>
                <a:rect l="l" t="t" r="r" b="b"/>
                <a:pathLst>
                  <a:path w="7216" h="10895" extrusionOk="0">
                    <a:moveTo>
                      <a:pt x="7001" y="215"/>
                    </a:moveTo>
                    <a:lnTo>
                      <a:pt x="7001" y="10669"/>
                    </a:lnTo>
                    <a:lnTo>
                      <a:pt x="215" y="10669"/>
                    </a:lnTo>
                    <a:lnTo>
                      <a:pt x="215" y="215"/>
                    </a:lnTo>
                    <a:close/>
                    <a:moveTo>
                      <a:pt x="0" y="1"/>
                    </a:moveTo>
                    <a:lnTo>
                      <a:pt x="0" y="10895"/>
                    </a:lnTo>
                    <a:lnTo>
                      <a:pt x="7216" y="10895"/>
                    </a:lnTo>
                    <a:lnTo>
                      <a:pt x="7216" y="1"/>
                    </a:ln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234" name="Google Shape;1194;p28">
                <a:extLst>
                  <a:ext uri="{FF2B5EF4-FFF2-40B4-BE49-F238E27FC236}">
                    <a16:creationId xmlns:a16="http://schemas.microsoft.com/office/drawing/2014/main" id="{3FAD3A8F-F89D-E5B7-6CD3-52B4319634A0}"/>
                  </a:ext>
                </a:extLst>
              </p:cNvPr>
              <p:cNvSpPr/>
              <p:nvPr/>
            </p:nvSpPr>
            <p:spPr>
              <a:xfrm>
                <a:off x="7343487" y="1739577"/>
                <a:ext cx="185338" cy="7639"/>
              </a:xfrm>
              <a:custGeom>
                <a:avLst/>
                <a:gdLst/>
                <a:ahLst/>
                <a:cxnLst/>
                <a:rect l="l" t="t" r="r" b="b"/>
                <a:pathLst>
                  <a:path w="5216" h="215" extrusionOk="0">
                    <a:moveTo>
                      <a:pt x="108" y="1"/>
                    </a:moveTo>
                    <a:cubicBezTo>
                      <a:pt x="48" y="1"/>
                      <a:pt x="1" y="48"/>
                      <a:pt x="1" y="108"/>
                    </a:cubicBezTo>
                    <a:cubicBezTo>
                      <a:pt x="1" y="167"/>
                      <a:pt x="48" y="215"/>
                      <a:pt x="108" y="215"/>
                    </a:cubicBezTo>
                    <a:lnTo>
                      <a:pt x="5096" y="215"/>
                    </a:lnTo>
                    <a:cubicBezTo>
                      <a:pt x="5168" y="215"/>
                      <a:pt x="5216" y="167"/>
                      <a:pt x="5216" y="108"/>
                    </a:cubicBezTo>
                    <a:cubicBezTo>
                      <a:pt x="5216" y="48"/>
                      <a:pt x="5168" y="1"/>
                      <a:pt x="5096" y="1"/>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235" name="Google Shape;1195;p28">
                <a:extLst>
                  <a:ext uri="{FF2B5EF4-FFF2-40B4-BE49-F238E27FC236}">
                    <a16:creationId xmlns:a16="http://schemas.microsoft.com/office/drawing/2014/main" id="{3F876EB3-831F-89B5-5D10-60A0A1D0AF43}"/>
                  </a:ext>
                </a:extLst>
              </p:cNvPr>
              <p:cNvSpPr/>
              <p:nvPr/>
            </p:nvSpPr>
            <p:spPr>
              <a:xfrm>
                <a:off x="7343487" y="1775963"/>
                <a:ext cx="185338" cy="7639"/>
              </a:xfrm>
              <a:custGeom>
                <a:avLst/>
                <a:gdLst/>
                <a:ahLst/>
                <a:cxnLst/>
                <a:rect l="l" t="t" r="r" b="b"/>
                <a:pathLst>
                  <a:path w="5216" h="215" extrusionOk="0">
                    <a:moveTo>
                      <a:pt x="108" y="1"/>
                    </a:moveTo>
                    <a:cubicBezTo>
                      <a:pt x="48" y="1"/>
                      <a:pt x="1" y="48"/>
                      <a:pt x="1" y="108"/>
                    </a:cubicBezTo>
                    <a:cubicBezTo>
                      <a:pt x="1" y="167"/>
                      <a:pt x="48" y="215"/>
                      <a:pt x="108" y="215"/>
                    </a:cubicBezTo>
                    <a:lnTo>
                      <a:pt x="5096" y="215"/>
                    </a:lnTo>
                    <a:cubicBezTo>
                      <a:pt x="5168" y="215"/>
                      <a:pt x="5216" y="167"/>
                      <a:pt x="5216" y="108"/>
                    </a:cubicBezTo>
                    <a:cubicBezTo>
                      <a:pt x="5216" y="48"/>
                      <a:pt x="5168" y="1"/>
                      <a:pt x="5096" y="1"/>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236" name="Google Shape;1196;p28">
                <a:extLst>
                  <a:ext uri="{FF2B5EF4-FFF2-40B4-BE49-F238E27FC236}">
                    <a16:creationId xmlns:a16="http://schemas.microsoft.com/office/drawing/2014/main" id="{FC94DCF4-5109-EC6C-ADFC-5B48991D996C}"/>
                  </a:ext>
                </a:extLst>
              </p:cNvPr>
              <p:cNvSpPr/>
              <p:nvPr/>
            </p:nvSpPr>
            <p:spPr>
              <a:xfrm>
                <a:off x="7343487" y="1812349"/>
                <a:ext cx="185338" cy="7639"/>
              </a:xfrm>
              <a:custGeom>
                <a:avLst/>
                <a:gdLst/>
                <a:ahLst/>
                <a:cxnLst/>
                <a:rect l="l" t="t" r="r" b="b"/>
                <a:pathLst>
                  <a:path w="5216" h="215" extrusionOk="0">
                    <a:moveTo>
                      <a:pt x="108" y="0"/>
                    </a:moveTo>
                    <a:cubicBezTo>
                      <a:pt x="48" y="0"/>
                      <a:pt x="1" y="48"/>
                      <a:pt x="1" y="108"/>
                    </a:cubicBezTo>
                    <a:cubicBezTo>
                      <a:pt x="1" y="167"/>
                      <a:pt x="48" y="215"/>
                      <a:pt x="108" y="215"/>
                    </a:cubicBezTo>
                    <a:lnTo>
                      <a:pt x="5096" y="215"/>
                    </a:lnTo>
                    <a:cubicBezTo>
                      <a:pt x="5168" y="215"/>
                      <a:pt x="5216" y="167"/>
                      <a:pt x="5216" y="108"/>
                    </a:cubicBezTo>
                    <a:cubicBezTo>
                      <a:pt x="5216" y="48"/>
                      <a:pt x="5168" y="0"/>
                      <a:pt x="5096" y="0"/>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237" name="Google Shape;1197;p28">
                <a:extLst>
                  <a:ext uri="{FF2B5EF4-FFF2-40B4-BE49-F238E27FC236}">
                    <a16:creationId xmlns:a16="http://schemas.microsoft.com/office/drawing/2014/main" id="{12924D8E-1CE7-3ECB-3372-3C498803C9D2}"/>
                  </a:ext>
                </a:extLst>
              </p:cNvPr>
              <p:cNvSpPr/>
              <p:nvPr/>
            </p:nvSpPr>
            <p:spPr>
              <a:xfrm>
                <a:off x="7343487" y="1848734"/>
                <a:ext cx="185338" cy="7639"/>
              </a:xfrm>
              <a:custGeom>
                <a:avLst/>
                <a:gdLst/>
                <a:ahLst/>
                <a:cxnLst/>
                <a:rect l="l" t="t" r="r" b="b"/>
                <a:pathLst>
                  <a:path w="5216" h="215" extrusionOk="0">
                    <a:moveTo>
                      <a:pt x="108" y="0"/>
                    </a:moveTo>
                    <a:cubicBezTo>
                      <a:pt x="48" y="0"/>
                      <a:pt x="1" y="48"/>
                      <a:pt x="1" y="108"/>
                    </a:cubicBezTo>
                    <a:cubicBezTo>
                      <a:pt x="1" y="167"/>
                      <a:pt x="48" y="215"/>
                      <a:pt x="108" y="215"/>
                    </a:cubicBezTo>
                    <a:lnTo>
                      <a:pt x="5096" y="215"/>
                    </a:lnTo>
                    <a:cubicBezTo>
                      <a:pt x="5168" y="215"/>
                      <a:pt x="5216" y="167"/>
                      <a:pt x="5216" y="108"/>
                    </a:cubicBezTo>
                    <a:cubicBezTo>
                      <a:pt x="5216" y="48"/>
                      <a:pt x="5168" y="0"/>
                      <a:pt x="5096" y="0"/>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238" name="Google Shape;1198;p28">
                <a:extLst>
                  <a:ext uri="{FF2B5EF4-FFF2-40B4-BE49-F238E27FC236}">
                    <a16:creationId xmlns:a16="http://schemas.microsoft.com/office/drawing/2014/main" id="{2164B9C4-75C7-63B2-F58F-E185A143C60B}"/>
                  </a:ext>
                </a:extLst>
              </p:cNvPr>
              <p:cNvSpPr/>
              <p:nvPr/>
            </p:nvSpPr>
            <p:spPr>
              <a:xfrm>
                <a:off x="7343487" y="1885120"/>
                <a:ext cx="185338" cy="7639"/>
              </a:xfrm>
              <a:custGeom>
                <a:avLst/>
                <a:gdLst/>
                <a:ahLst/>
                <a:cxnLst/>
                <a:rect l="l" t="t" r="r" b="b"/>
                <a:pathLst>
                  <a:path w="5216" h="215" extrusionOk="0">
                    <a:moveTo>
                      <a:pt x="108" y="0"/>
                    </a:moveTo>
                    <a:cubicBezTo>
                      <a:pt x="48" y="0"/>
                      <a:pt x="1" y="48"/>
                      <a:pt x="1" y="108"/>
                    </a:cubicBezTo>
                    <a:cubicBezTo>
                      <a:pt x="1" y="167"/>
                      <a:pt x="48" y="215"/>
                      <a:pt x="108" y="215"/>
                    </a:cubicBezTo>
                    <a:lnTo>
                      <a:pt x="5096" y="215"/>
                    </a:lnTo>
                    <a:cubicBezTo>
                      <a:pt x="5168" y="215"/>
                      <a:pt x="5216" y="167"/>
                      <a:pt x="5216" y="108"/>
                    </a:cubicBezTo>
                    <a:cubicBezTo>
                      <a:pt x="5216" y="48"/>
                      <a:pt x="5168" y="0"/>
                      <a:pt x="5096" y="0"/>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239" name="Google Shape;1199;p28">
                <a:extLst>
                  <a:ext uri="{FF2B5EF4-FFF2-40B4-BE49-F238E27FC236}">
                    <a16:creationId xmlns:a16="http://schemas.microsoft.com/office/drawing/2014/main" id="{875A8EF2-3E64-03A0-E322-203AAEB8AE2D}"/>
                  </a:ext>
                </a:extLst>
              </p:cNvPr>
              <p:cNvSpPr/>
              <p:nvPr/>
            </p:nvSpPr>
            <p:spPr>
              <a:xfrm>
                <a:off x="7343487" y="1921506"/>
                <a:ext cx="185338" cy="8066"/>
              </a:xfrm>
              <a:custGeom>
                <a:avLst/>
                <a:gdLst/>
                <a:ahLst/>
                <a:cxnLst/>
                <a:rect l="l" t="t" r="r" b="b"/>
                <a:pathLst>
                  <a:path w="5216" h="227" extrusionOk="0">
                    <a:moveTo>
                      <a:pt x="108" y="0"/>
                    </a:moveTo>
                    <a:cubicBezTo>
                      <a:pt x="48" y="0"/>
                      <a:pt x="1" y="48"/>
                      <a:pt x="1" y="107"/>
                    </a:cubicBezTo>
                    <a:cubicBezTo>
                      <a:pt x="1" y="179"/>
                      <a:pt x="48" y="227"/>
                      <a:pt x="108" y="227"/>
                    </a:cubicBezTo>
                    <a:lnTo>
                      <a:pt x="5096" y="227"/>
                    </a:lnTo>
                    <a:cubicBezTo>
                      <a:pt x="5168" y="227"/>
                      <a:pt x="5216" y="179"/>
                      <a:pt x="5216" y="107"/>
                    </a:cubicBezTo>
                    <a:cubicBezTo>
                      <a:pt x="5216" y="48"/>
                      <a:pt x="5168" y="0"/>
                      <a:pt x="5096" y="0"/>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240" name="Google Shape;1200;p28">
                <a:extLst>
                  <a:ext uri="{FF2B5EF4-FFF2-40B4-BE49-F238E27FC236}">
                    <a16:creationId xmlns:a16="http://schemas.microsoft.com/office/drawing/2014/main" id="{F44CCCFB-6BAB-33AF-2C47-D9416781FB1C}"/>
                  </a:ext>
                </a:extLst>
              </p:cNvPr>
              <p:cNvSpPr/>
              <p:nvPr/>
            </p:nvSpPr>
            <p:spPr>
              <a:xfrm>
                <a:off x="7343487" y="1957891"/>
                <a:ext cx="185338" cy="8066"/>
              </a:xfrm>
              <a:custGeom>
                <a:avLst/>
                <a:gdLst/>
                <a:ahLst/>
                <a:cxnLst/>
                <a:rect l="l" t="t" r="r" b="b"/>
                <a:pathLst>
                  <a:path w="5216" h="227" extrusionOk="0">
                    <a:moveTo>
                      <a:pt x="108" y="0"/>
                    </a:moveTo>
                    <a:cubicBezTo>
                      <a:pt x="48" y="0"/>
                      <a:pt x="1" y="60"/>
                      <a:pt x="1" y="119"/>
                    </a:cubicBezTo>
                    <a:cubicBezTo>
                      <a:pt x="1" y="179"/>
                      <a:pt x="48" y="226"/>
                      <a:pt x="108" y="226"/>
                    </a:cubicBezTo>
                    <a:lnTo>
                      <a:pt x="5096" y="226"/>
                    </a:lnTo>
                    <a:cubicBezTo>
                      <a:pt x="5168" y="226"/>
                      <a:pt x="5216" y="179"/>
                      <a:pt x="5216" y="119"/>
                    </a:cubicBezTo>
                    <a:cubicBezTo>
                      <a:pt x="5216" y="60"/>
                      <a:pt x="5168" y="0"/>
                      <a:pt x="5096" y="0"/>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241" name="Google Shape;1201;p28">
                <a:extLst>
                  <a:ext uri="{FF2B5EF4-FFF2-40B4-BE49-F238E27FC236}">
                    <a16:creationId xmlns:a16="http://schemas.microsoft.com/office/drawing/2014/main" id="{DF0D9D1F-0C17-F634-548A-E3379AB24EEC}"/>
                  </a:ext>
                </a:extLst>
              </p:cNvPr>
              <p:cNvSpPr/>
              <p:nvPr/>
            </p:nvSpPr>
            <p:spPr>
              <a:xfrm>
                <a:off x="7343487" y="1994703"/>
                <a:ext cx="185338" cy="7639"/>
              </a:xfrm>
              <a:custGeom>
                <a:avLst/>
                <a:gdLst/>
                <a:ahLst/>
                <a:cxnLst/>
                <a:rect l="l" t="t" r="r" b="b"/>
                <a:pathLst>
                  <a:path w="5216" h="215" extrusionOk="0">
                    <a:moveTo>
                      <a:pt x="108" y="0"/>
                    </a:moveTo>
                    <a:cubicBezTo>
                      <a:pt x="48" y="0"/>
                      <a:pt x="1" y="48"/>
                      <a:pt x="1" y="107"/>
                    </a:cubicBezTo>
                    <a:cubicBezTo>
                      <a:pt x="1" y="167"/>
                      <a:pt x="48" y="214"/>
                      <a:pt x="108" y="214"/>
                    </a:cubicBezTo>
                    <a:lnTo>
                      <a:pt x="5096" y="214"/>
                    </a:lnTo>
                    <a:cubicBezTo>
                      <a:pt x="5168" y="214"/>
                      <a:pt x="5216" y="167"/>
                      <a:pt x="5216" y="107"/>
                    </a:cubicBezTo>
                    <a:cubicBezTo>
                      <a:pt x="5216" y="48"/>
                      <a:pt x="5168" y="0"/>
                      <a:pt x="5096" y="0"/>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242" name="Google Shape;1202;p28">
                <a:extLst>
                  <a:ext uri="{FF2B5EF4-FFF2-40B4-BE49-F238E27FC236}">
                    <a16:creationId xmlns:a16="http://schemas.microsoft.com/office/drawing/2014/main" id="{36589A87-D79E-0EF4-9804-D023D6D47730}"/>
                  </a:ext>
                </a:extLst>
              </p:cNvPr>
              <p:cNvSpPr/>
              <p:nvPr/>
            </p:nvSpPr>
            <p:spPr>
              <a:xfrm>
                <a:off x="7343487" y="2031053"/>
                <a:ext cx="185338" cy="7675"/>
              </a:xfrm>
              <a:custGeom>
                <a:avLst/>
                <a:gdLst/>
                <a:ahLst/>
                <a:cxnLst/>
                <a:rect l="l" t="t" r="r" b="b"/>
                <a:pathLst>
                  <a:path w="5216" h="216" extrusionOk="0">
                    <a:moveTo>
                      <a:pt x="108" y="1"/>
                    </a:moveTo>
                    <a:cubicBezTo>
                      <a:pt x="48" y="1"/>
                      <a:pt x="1" y="49"/>
                      <a:pt x="1" y="108"/>
                    </a:cubicBezTo>
                    <a:cubicBezTo>
                      <a:pt x="1" y="168"/>
                      <a:pt x="48" y="215"/>
                      <a:pt x="108" y="215"/>
                    </a:cubicBezTo>
                    <a:lnTo>
                      <a:pt x="5096" y="215"/>
                    </a:lnTo>
                    <a:cubicBezTo>
                      <a:pt x="5168" y="215"/>
                      <a:pt x="5216" y="168"/>
                      <a:pt x="5216" y="108"/>
                    </a:cubicBezTo>
                    <a:cubicBezTo>
                      <a:pt x="5216" y="49"/>
                      <a:pt x="5168" y="1"/>
                      <a:pt x="5096" y="1"/>
                    </a:cubicBezTo>
                    <a:close/>
                  </a:path>
                </a:pathLst>
              </a:custGeom>
              <a:solidFill>
                <a:srgbClr val="5EB2F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grpSp>
        <p:sp>
          <p:nvSpPr>
            <p:cNvPr id="229" name="Google Shape;1203;p28">
              <a:extLst>
                <a:ext uri="{FF2B5EF4-FFF2-40B4-BE49-F238E27FC236}">
                  <a16:creationId xmlns:a16="http://schemas.microsoft.com/office/drawing/2014/main" id="{51857CE3-7CF9-37DC-4AD5-355273C403C5}"/>
                </a:ext>
              </a:extLst>
            </p:cNvPr>
            <p:cNvSpPr/>
            <p:nvPr/>
          </p:nvSpPr>
          <p:spPr>
            <a:xfrm>
              <a:off x="6845138" y="2732081"/>
              <a:ext cx="1291180" cy="440034"/>
            </a:xfrm>
            <a:custGeom>
              <a:avLst/>
              <a:gdLst/>
              <a:ahLst/>
              <a:cxnLst/>
              <a:rect l="l" t="t" r="r" b="b"/>
              <a:pathLst>
                <a:path w="36338" h="12384" extrusionOk="0">
                  <a:moveTo>
                    <a:pt x="0" y="1"/>
                  </a:moveTo>
                  <a:lnTo>
                    <a:pt x="0" y="1358"/>
                  </a:lnTo>
                  <a:cubicBezTo>
                    <a:pt x="2417" y="1644"/>
                    <a:pt x="4298" y="3692"/>
                    <a:pt x="4298" y="6192"/>
                  </a:cubicBezTo>
                  <a:cubicBezTo>
                    <a:pt x="4298" y="8692"/>
                    <a:pt x="2417" y="10752"/>
                    <a:pt x="0" y="11038"/>
                  </a:cubicBezTo>
                  <a:lnTo>
                    <a:pt x="0" y="12383"/>
                  </a:lnTo>
                  <a:lnTo>
                    <a:pt x="32040" y="12383"/>
                  </a:lnTo>
                  <a:lnTo>
                    <a:pt x="32040" y="10502"/>
                  </a:lnTo>
                  <a:cubicBezTo>
                    <a:pt x="34409" y="10502"/>
                    <a:pt x="36338" y="8573"/>
                    <a:pt x="36338" y="6192"/>
                  </a:cubicBezTo>
                  <a:cubicBezTo>
                    <a:pt x="36338" y="3823"/>
                    <a:pt x="34409" y="1894"/>
                    <a:pt x="32040" y="1894"/>
                  </a:cubicBezTo>
                  <a:lnTo>
                    <a:pt x="32040" y="1"/>
                  </a:lnTo>
                  <a:close/>
                </a:path>
              </a:pathLst>
            </a:custGeom>
            <a:solidFill>
              <a:schemeClr val="accent1"/>
            </a:solidFill>
            <a:ln>
              <a:noFill/>
            </a:ln>
          </p:spPr>
          <p:txBody>
            <a:bodyPr spcFirstLastPara="1" wrap="square" lIns="91425" tIns="91425" rIns="91425" bIns="91425" anchor="ctr" anchorCtr="0">
              <a:noAutofit/>
            </a:bodyPr>
            <a:lstStyle/>
            <a:p>
              <a:pPr algn="ctr">
                <a:buClr>
                  <a:srgbClr val="000000"/>
                </a:buClr>
                <a:buFont typeface="Arial"/>
                <a:buNone/>
              </a:pPr>
              <a:r>
                <a:rPr lang="en" sz="1400" kern="0">
                  <a:solidFill>
                    <a:srgbClr val="FFFFFF"/>
                  </a:solidFill>
                  <a:latin typeface="Oswald" panose="00000500000000000000" pitchFamily="2" charset="0"/>
                  <a:ea typeface="Fira Sans Extra Condensed Medium"/>
                  <a:cs typeface="Fira Sans Extra Condensed Medium"/>
                  <a:sym typeface="Fira Sans Extra Condensed Medium"/>
                </a:rPr>
                <a:t>Phase 9</a:t>
              </a:r>
              <a:endParaRPr sz="1400" kern="0">
                <a:solidFill>
                  <a:srgbClr val="FFFFFF"/>
                </a:solidFill>
                <a:latin typeface="Oswald" panose="00000500000000000000" pitchFamily="2" charset="0"/>
                <a:ea typeface="Fira Sans Extra Condensed Medium"/>
                <a:cs typeface="Fira Sans Extra Condensed Medium"/>
                <a:sym typeface="Fira Sans Extra Condensed Medium"/>
              </a:endParaRPr>
            </a:p>
          </p:txBody>
        </p:sp>
        <p:sp>
          <p:nvSpPr>
            <p:cNvPr id="230" name="Google Shape;1204;p28">
              <a:extLst>
                <a:ext uri="{FF2B5EF4-FFF2-40B4-BE49-F238E27FC236}">
                  <a16:creationId xmlns:a16="http://schemas.microsoft.com/office/drawing/2014/main" id="{18DF79D3-F65B-B191-BFD4-39DBC533BA87}"/>
                </a:ext>
              </a:extLst>
            </p:cNvPr>
            <p:cNvSpPr/>
            <p:nvPr/>
          </p:nvSpPr>
          <p:spPr>
            <a:xfrm>
              <a:off x="7455167" y="2235403"/>
              <a:ext cx="63070" cy="63070"/>
            </a:xfrm>
            <a:custGeom>
              <a:avLst/>
              <a:gdLst/>
              <a:ahLst/>
              <a:cxnLst/>
              <a:rect l="l" t="t" r="r" b="b"/>
              <a:pathLst>
                <a:path w="1775" h="1775" extrusionOk="0">
                  <a:moveTo>
                    <a:pt x="882" y="1"/>
                  </a:moveTo>
                  <a:cubicBezTo>
                    <a:pt x="394" y="1"/>
                    <a:pt x="1" y="394"/>
                    <a:pt x="1" y="882"/>
                  </a:cubicBezTo>
                  <a:cubicBezTo>
                    <a:pt x="1" y="1382"/>
                    <a:pt x="394" y="1775"/>
                    <a:pt x="882" y="1775"/>
                  </a:cubicBezTo>
                  <a:cubicBezTo>
                    <a:pt x="1382" y="1775"/>
                    <a:pt x="1775" y="1382"/>
                    <a:pt x="1775" y="882"/>
                  </a:cubicBezTo>
                  <a:cubicBezTo>
                    <a:pt x="1775" y="394"/>
                    <a:pt x="1382" y="1"/>
                    <a:pt x="882" y="1"/>
                  </a:cubicBezTo>
                  <a:close/>
                </a:path>
              </a:pathLst>
            </a:custGeom>
            <a:solidFill>
              <a:srgbClr val="000000"/>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Oswald" panose="00000500000000000000" pitchFamily="2" charset="0"/>
                <a:cs typeface="Arial"/>
                <a:sym typeface="Arial"/>
              </a:endParaRPr>
            </a:p>
          </p:txBody>
        </p:sp>
        <p:sp>
          <p:nvSpPr>
            <p:cNvPr id="231" name="Google Shape;1205;p28">
              <a:extLst>
                <a:ext uri="{FF2B5EF4-FFF2-40B4-BE49-F238E27FC236}">
                  <a16:creationId xmlns:a16="http://schemas.microsoft.com/office/drawing/2014/main" id="{EAC4B42D-1E06-2008-678E-2E28E8D3B3F2}"/>
                </a:ext>
              </a:extLst>
            </p:cNvPr>
            <p:cNvSpPr txBox="1"/>
            <p:nvPr/>
          </p:nvSpPr>
          <p:spPr>
            <a:xfrm>
              <a:off x="6739006" y="1136495"/>
              <a:ext cx="1291500" cy="534900"/>
            </a:xfrm>
            <a:prstGeom prst="rect">
              <a:avLst/>
            </a:prstGeom>
            <a:noFill/>
            <a:ln>
              <a:noFill/>
            </a:ln>
          </p:spPr>
          <p:txBody>
            <a:bodyPr spcFirstLastPara="1" wrap="square" lIns="91425" tIns="91425" rIns="91425" bIns="91425" anchor="ctr" anchorCtr="0">
              <a:noAutofit/>
            </a:bodyPr>
            <a:lstStyle/>
            <a:p>
              <a:pPr algn="ctr">
                <a:buClr>
                  <a:srgbClr val="000000"/>
                </a:buClr>
                <a:buFont typeface="Arial"/>
                <a:buNone/>
              </a:pPr>
              <a:r>
                <a:rPr lang="en" sz="1500" kern="0">
                  <a:solidFill>
                    <a:srgbClr val="434343"/>
                  </a:solidFill>
                  <a:latin typeface="Oswald" panose="00000500000000000000" pitchFamily="2" charset="0"/>
                  <a:ea typeface="Roboto"/>
                  <a:cs typeface="Roboto"/>
                  <a:sym typeface="Roboto"/>
                </a:rPr>
                <a:t>Production</a:t>
              </a:r>
              <a:endParaRPr sz="1500" kern="0">
                <a:solidFill>
                  <a:srgbClr val="434343"/>
                </a:solidFill>
                <a:latin typeface="Oswald" panose="00000500000000000000" pitchFamily="2" charset="0"/>
                <a:ea typeface="Roboto"/>
                <a:cs typeface="Roboto"/>
                <a:sym typeface="Roboto"/>
              </a:endParaRPr>
            </a:p>
          </p:txBody>
        </p:sp>
      </p:grpSp>
      <p:sp>
        <p:nvSpPr>
          <p:cNvPr id="243" name="Text 2">
            <a:extLst>
              <a:ext uri="{FF2B5EF4-FFF2-40B4-BE49-F238E27FC236}">
                <a16:creationId xmlns:a16="http://schemas.microsoft.com/office/drawing/2014/main" id="{DCD7F7AC-B7BC-5CA0-6867-8FE5C9F4596F}"/>
              </a:ext>
            </a:extLst>
          </p:cNvPr>
          <p:cNvSpPr/>
          <p:nvPr/>
        </p:nvSpPr>
        <p:spPr>
          <a:xfrm>
            <a:off x="818696" y="117653"/>
            <a:ext cx="10972800" cy="609600"/>
          </a:xfrm>
          <a:prstGeom prst="rect">
            <a:avLst/>
          </a:prstGeom>
          <a:noFill/>
          <a:ln/>
        </p:spPr>
        <p:txBody>
          <a:bodyPr wrap="square" lIns="0" tIns="0" rIns="0" bIns="0" rtlCol="0" anchor="ctr"/>
          <a:lstStyle/>
          <a:p>
            <a:r>
              <a:rPr lang="en-IN" sz="2400" b="1" dirty="0">
                <a:latin typeface="Oswald" panose="00000500000000000000" pitchFamily="2" charset="0"/>
              </a:rPr>
              <a:t>LIFECYCLE FOR OPERATIONS</a:t>
            </a:r>
            <a:endParaRPr lang="en-US" sz="2400" b="1" dirty="0">
              <a:latin typeface="Oswald" panose="00000500000000000000" pitchFamily="2" charset="0"/>
            </a:endParaRPr>
          </a:p>
        </p:txBody>
      </p:sp>
      <p:grpSp>
        <p:nvGrpSpPr>
          <p:cNvPr id="8" name="Group 7">
            <a:extLst>
              <a:ext uri="{FF2B5EF4-FFF2-40B4-BE49-F238E27FC236}">
                <a16:creationId xmlns:a16="http://schemas.microsoft.com/office/drawing/2014/main" id="{278E79C9-75E1-A512-7D1F-86028DA75C7E}"/>
              </a:ext>
            </a:extLst>
          </p:cNvPr>
          <p:cNvGrpSpPr/>
          <p:nvPr/>
        </p:nvGrpSpPr>
        <p:grpSpPr>
          <a:xfrm>
            <a:off x="229416" y="3294972"/>
            <a:ext cx="11692000" cy="3480000"/>
            <a:chOff x="200000" y="690000"/>
            <a:chExt cx="11692000" cy="3480000"/>
          </a:xfrm>
        </p:grpSpPr>
        <p:sp>
          <p:nvSpPr>
            <p:cNvPr id="9" name="Rectangle 8">
              <a:extLst>
                <a:ext uri="{FF2B5EF4-FFF2-40B4-BE49-F238E27FC236}">
                  <a16:creationId xmlns:a16="http://schemas.microsoft.com/office/drawing/2014/main" id="{C1EE569C-5CB3-8F31-A87A-8EFBF6EF61B5}"/>
                </a:ext>
              </a:extLst>
            </p:cNvPr>
            <p:cNvSpPr/>
            <p:nvPr/>
          </p:nvSpPr>
          <p:spPr>
            <a:xfrm>
              <a:off x="200000" y="700000"/>
              <a:ext cx="3864000" cy="480000"/>
            </a:xfrm>
            <a:prstGeom prst="rect">
              <a:avLst/>
            </a:prstGeom>
            <a:solidFill>
              <a:srgbClr val="D628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dirty="0">
                <a:latin typeface="Raleway" pitchFamily="2"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39FD9D7A-39C1-CE48-442E-E07DCC63C6B5}"/>
                </a:ext>
              </a:extLst>
            </p:cNvPr>
            <p:cNvSpPr txBox="1"/>
            <p:nvPr/>
          </p:nvSpPr>
          <p:spPr>
            <a:xfrm>
              <a:off x="260000" y="700000"/>
              <a:ext cx="3744000" cy="360000"/>
            </a:xfrm>
            <a:prstGeom prst="rect">
              <a:avLst/>
            </a:prstGeom>
            <a:noFill/>
          </p:spPr>
          <p:txBody>
            <a:bodyPr wrap="square"/>
            <a:lstStyle/>
            <a:p>
              <a:pPr algn="ctr"/>
              <a:r>
                <a:rPr sz="1200" b="1" i="0" dirty="0">
                  <a:solidFill>
                    <a:srgbClr val="FFFFFF"/>
                  </a:solidFill>
                  <a:latin typeface="Raleway" pitchFamily="2" charset="0"/>
                  <a:ea typeface="Calibri" panose="020F0502020204030204" pitchFamily="34" charset="0"/>
                  <a:cs typeface="Calibri" panose="020F0502020204030204" pitchFamily="34" charset="0"/>
                </a:rPr>
                <a:t>Stage 1
Capability Building</a:t>
              </a:r>
            </a:p>
          </p:txBody>
        </p:sp>
        <p:sp>
          <p:nvSpPr>
            <p:cNvPr id="11" name="Rectangle 10">
              <a:extLst>
                <a:ext uri="{FF2B5EF4-FFF2-40B4-BE49-F238E27FC236}">
                  <a16:creationId xmlns:a16="http://schemas.microsoft.com/office/drawing/2014/main" id="{6873A8AA-646A-F455-41F4-3FC77FF86900}"/>
                </a:ext>
              </a:extLst>
            </p:cNvPr>
            <p:cNvSpPr/>
            <p:nvPr/>
          </p:nvSpPr>
          <p:spPr>
            <a:xfrm>
              <a:off x="200000" y="1200000"/>
              <a:ext cx="1932000" cy="220000"/>
            </a:xfrm>
            <a:prstGeom prst="rect">
              <a:avLst/>
            </a:prstGeom>
            <a:solidFill>
              <a:srgbClr val="ECF0F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0D4B6D"/>
                  </a:solidFill>
                  <a:latin typeface="Raleway" pitchFamily="2" charset="0"/>
                  <a:ea typeface="Calibri" panose="020F0502020204030204" pitchFamily="34" charset="0"/>
                  <a:cs typeface="Calibri" panose="020F0502020204030204" pitchFamily="34" charset="0"/>
                </a:rPr>
                <a:t>Deliverables</a:t>
              </a:r>
            </a:p>
          </p:txBody>
        </p:sp>
        <p:sp>
          <p:nvSpPr>
            <p:cNvPr id="12" name="Rectangle 11">
              <a:extLst>
                <a:ext uri="{FF2B5EF4-FFF2-40B4-BE49-F238E27FC236}">
                  <a16:creationId xmlns:a16="http://schemas.microsoft.com/office/drawing/2014/main" id="{4CC01B1A-197E-4362-9368-4C6794C80BA2}"/>
                </a:ext>
              </a:extLst>
            </p:cNvPr>
            <p:cNvSpPr/>
            <p:nvPr/>
          </p:nvSpPr>
          <p:spPr>
            <a:xfrm>
              <a:off x="2132000" y="1200000"/>
              <a:ext cx="1932000" cy="220000"/>
            </a:xfrm>
            <a:prstGeom prst="rect">
              <a:avLst/>
            </a:prstGeom>
            <a:solidFill>
              <a:srgbClr val="ECF0F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dirty="0">
                  <a:solidFill>
                    <a:srgbClr val="0D4B6D"/>
                  </a:solidFill>
                  <a:latin typeface="Raleway" pitchFamily="2" charset="0"/>
                  <a:ea typeface="Calibri" panose="020F0502020204030204" pitchFamily="34" charset="0"/>
                  <a:cs typeface="Calibri" panose="020F0502020204030204" pitchFamily="34" charset="0"/>
                </a:rPr>
                <a:t>Ownership</a:t>
              </a:r>
            </a:p>
          </p:txBody>
        </p:sp>
        <p:sp>
          <p:nvSpPr>
            <p:cNvPr id="13" name="Rectangle 12">
              <a:extLst>
                <a:ext uri="{FF2B5EF4-FFF2-40B4-BE49-F238E27FC236}">
                  <a16:creationId xmlns:a16="http://schemas.microsoft.com/office/drawing/2014/main" id="{C2031A21-8333-829A-FD2F-E339F0DF507A}"/>
                </a:ext>
              </a:extLst>
            </p:cNvPr>
            <p:cNvSpPr/>
            <p:nvPr/>
          </p:nvSpPr>
          <p:spPr>
            <a:xfrm>
              <a:off x="200000" y="1420000"/>
              <a:ext cx="1932000" cy="250000"/>
            </a:xfrm>
            <a:prstGeom prst="rect">
              <a:avLst/>
            </a:prstGeom>
            <a:solidFill>
              <a:srgbClr val="FFFFFF"/>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0D4B6D"/>
                  </a:solidFill>
                  <a:latin typeface="Raleway" pitchFamily="2" charset="0"/>
                  <a:ea typeface="Calibri" panose="020F0502020204030204" pitchFamily="34" charset="0"/>
                  <a:cs typeface="Calibri" panose="020F0502020204030204" pitchFamily="34" charset="0"/>
                </a:rPr>
                <a:t>Requirement &amp; JD</a:t>
              </a:r>
            </a:p>
          </p:txBody>
        </p:sp>
        <p:sp>
          <p:nvSpPr>
            <p:cNvPr id="16" name="Rectangle 15">
              <a:extLst>
                <a:ext uri="{FF2B5EF4-FFF2-40B4-BE49-F238E27FC236}">
                  <a16:creationId xmlns:a16="http://schemas.microsoft.com/office/drawing/2014/main" id="{23E13ABF-1CB5-36EE-31CA-1428DAFA6FD3}"/>
                </a:ext>
              </a:extLst>
            </p:cNvPr>
            <p:cNvSpPr/>
            <p:nvPr/>
          </p:nvSpPr>
          <p:spPr>
            <a:xfrm>
              <a:off x="2132000" y="1420000"/>
              <a:ext cx="1932000" cy="250000"/>
            </a:xfrm>
            <a:prstGeom prst="rect">
              <a:avLst/>
            </a:prstGeom>
            <a:solidFill>
              <a:srgbClr val="FFFFFF"/>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200" b="1" dirty="0">
                  <a:solidFill>
                    <a:srgbClr val="16A085"/>
                  </a:solidFill>
                  <a:latin typeface="Raleway" pitchFamily="2" charset="0"/>
                  <a:ea typeface="Calibri" panose="020F0502020204030204" pitchFamily="34" charset="0"/>
                  <a:cs typeface="Calibri" panose="020F0502020204030204" pitchFamily="34" charset="0"/>
                </a:rPr>
                <a:t>Client</a:t>
              </a:r>
              <a:endParaRPr sz="1200" b="1" dirty="0">
                <a:solidFill>
                  <a:srgbClr val="16A085"/>
                </a:solidFill>
                <a:latin typeface="Raleway" pitchFamily="2" charset="0"/>
                <a:ea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0CB8E481-023D-85DC-05A0-1E434D131DF5}"/>
                </a:ext>
              </a:extLst>
            </p:cNvPr>
            <p:cNvSpPr/>
            <p:nvPr/>
          </p:nvSpPr>
          <p:spPr>
            <a:xfrm>
              <a:off x="200000" y="1670000"/>
              <a:ext cx="1932000" cy="250000"/>
            </a:xfrm>
            <a:prstGeom prst="rect">
              <a:avLst/>
            </a:prstGeom>
            <a:solidFill>
              <a:srgbClr val="ECF0F1"/>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0D4B6D"/>
                  </a:solidFill>
                  <a:latin typeface="Raleway" pitchFamily="2" charset="0"/>
                  <a:ea typeface="Calibri" panose="020F0502020204030204" pitchFamily="34" charset="0"/>
                  <a:cs typeface="Calibri" panose="020F0502020204030204" pitchFamily="34" charset="0"/>
                </a:rPr>
                <a:t>Hiring Plan</a:t>
              </a:r>
            </a:p>
          </p:txBody>
        </p:sp>
        <p:sp>
          <p:nvSpPr>
            <p:cNvPr id="18" name="Rectangle 17">
              <a:extLst>
                <a:ext uri="{FF2B5EF4-FFF2-40B4-BE49-F238E27FC236}">
                  <a16:creationId xmlns:a16="http://schemas.microsoft.com/office/drawing/2014/main" id="{7B7D2481-0B3B-35D6-64C4-CDC549080D67}"/>
                </a:ext>
              </a:extLst>
            </p:cNvPr>
            <p:cNvSpPr/>
            <p:nvPr/>
          </p:nvSpPr>
          <p:spPr>
            <a:xfrm>
              <a:off x="2132000" y="1670000"/>
              <a:ext cx="1932000" cy="250000"/>
            </a:xfrm>
            <a:prstGeom prst="rect">
              <a:avLst/>
            </a:prstGeom>
            <a:solidFill>
              <a:srgbClr val="ECF0F1"/>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dirty="0">
                  <a:solidFill>
                    <a:schemeClr val="tx1"/>
                  </a:solidFill>
                  <a:latin typeface="Raleway" pitchFamily="2" charset="0"/>
                  <a:ea typeface="Calibri" panose="020F0502020204030204" pitchFamily="34" charset="0"/>
                  <a:cs typeface="Calibri" panose="020F0502020204030204" pitchFamily="34" charset="0"/>
                </a:rPr>
                <a:t>J2W</a:t>
              </a:r>
            </a:p>
          </p:txBody>
        </p:sp>
        <p:sp>
          <p:nvSpPr>
            <p:cNvPr id="19" name="Rectangle 18">
              <a:extLst>
                <a:ext uri="{FF2B5EF4-FFF2-40B4-BE49-F238E27FC236}">
                  <a16:creationId xmlns:a16="http://schemas.microsoft.com/office/drawing/2014/main" id="{9FD1BF87-0287-4D10-265F-332AEADB989E}"/>
                </a:ext>
              </a:extLst>
            </p:cNvPr>
            <p:cNvSpPr/>
            <p:nvPr/>
          </p:nvSpPr>
          <p:spPr>
            <a:xfrm>
              <a:off x="200000" y="1920000"/>
              <a:ext cx="1932000" cy="250000"/>
            </a:xfrm>
            <a:prstGeom prst="rect">
              <a:avLst/>
            </a:prstGeom>
            <a:solidFill>
              <a:srgbClr val="FFFFFF"/>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0D4B6D"/>
                  </a:solidFill>
                  <a:latin typeface="Raleway" pitchFamily="2" charset="0"/>
                  <a:ea typeface="Calibri" panose="020F0502020204030204" pitchFamily="34" charset="0"/>
                  <a:cs typeface="Calibri" panose="020F0502020204030204" pitchFamily="34" charset="0"/>
                </a:rPr>
                <a:t>Sourcing</a:t>
              </a:r>
            </a:p>
          </p:txBody>
        </p:sp>
        <p:sp>
          <p:nvSpPr>
            <p:cNvPr id="20" name="Rectangle 19">
              <a:extLst>
                <a:ext uri="{FF2B5EF4-FFF2-40B4-BE49-F238E27FC236}">
                  <a16:creationId xmlns:a16="http://schemas.microsoft.com/office/drawing/2014/main" id="{2B2E587F-8CB5-1EC1-9064-C02DABA082AD}"/>
                </a:ext>
              </a:extLst>
            </p:cNvPr>
            <p:cNvSpPr/>
            <p:nvPr/>
          </p:nvSpPr>
          <p:spPr>
            <a:xfrm>
              <a:off x="2132000" y="1920000"/>
              <a:ext cx="1932000" cy="250000"/>
            </a:xfrm>
            <a:prstGeom prst="rect">
              <a:avLst/>
            </a:prstGeom>
            <a:solidFill>
              <a:srgbClr val="FFFFFF"/>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chemeClr val="tx1"/>
                  </a:solidFill>
                  <a:latin typeface="Raleway" pitchFamily="2" charset="0"/>
                  <a:ea typeface="Calibri" panose="020F0502020204030204" pitchFamily="34" charset="0"/>
                  <a:cs typeface="Calibri" panose="020F0502020204030204" pitchFamily="34" charset="0"/>
                </a:rPr>
                <a:t>J2W</a:t>
              </a:r>
            </a:p>
          </p:txBody>
        </p:sp>
        <p:sp>
          <p:nvSpPr>
            <p:cNvPr id="21" name="Rectangle 20">
              <a:extLst>
                <a:ext uri="{FF2B5EF4-FFF2-40B4-BE49-F238E27FC236}">
                  <a16:creationId xmlns:a16="http://schemas.microsoft.com/office/drawing/2014/main" id="{CAAAE071-89FC-AB21-A58B-5D6692DFAA59}"/>
                </a:ext>
              </a:extLst>
            </p:cNvPr>
            <p:cNvSpPr/>
            <p:nvPr/>
          </p:nvSpPr>
          <p:spPr>
            <a:xfrm>
              <a:off x="200000" y="2170000"/>
              <a:ext cx="1932000" cy="250000"/>
            </a:xfrm>
            <a:prstGeom prst="rect">
              <a:avLst/>
            </a:prstGeom>
            <a:solidFill>
              <a:srgbClr val="ECF0F1"/>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0D4B6D"/>
                  </a:solidFill>
                  <a:latin typeface="Raleway" pitchFamily="2" charset="0"/>
                  <a:ea typeface="Calibri" panose="020F0502020204030204" pitchFamily="34" charset="0"/>
                  <a:cs typeface="Calibri" panose="020F0502020204030204" pitchFamily="34" charset="0"/>
                </a:rPr>
                <a:t>Interviews &amp; Selections</a:t>
              </a:r>
            </a:p>
          </p:txBody>
        </p:sp>
        <p:sp>
          <p:nvSpPr>
            <p:cNvPr id="22" name="Rectangle 21">
              <a:extLst>
                <a:ext uri="{FF2B5EF4-FFF2-40B4-BE49-F238E27FC236}">
                  <a16:creationId xmlns:a16="http://schemas.microsoft.com/office/drawing/2014/main" id="{A300BE8D-74FD-E328-2128-92F7393A9B19}"/>
                </a:ext>
              </a:extLst>
            </p:cNvPr>
            <p:cNvSpPr/>
            <p:nvPr/>
          </p:nvSpPr>
          <p:spPr>
            <a:xfrm>
              <a:off x="2132000" y="2170000"/>
              <a:ext cx="1932000" cy="250000"/>
            </a:xfrm>
            <a:prstGeom prst="rect">
              <a:avLst/>
            </a:prstGeom>
            <a:solidFill>
              <a:srgbClr val="ECF0F1"/>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200" b="1" dirty="0">
                  <a:solidFill>
                    <a:srgbClr val="16A085"/>
                  </a:solidFill>
                  <a:latin typeface="Raleway" pitchFamily="2" charset="0"/>
                  <a:ea typeface="Calibri" panose="020F0502020204030204" pitchFamily="34" charset="0"/>
                  <a:cs typeface="Calibri" panose="020F0502020204030204" pitchFamily="34" charset="0"/>
                </a:rPr>
                <a:t>Client</a:t>
              </a:r>
              <a:endParaRPr sz="1200" b="1" dirty="0">
                <a:solidFill>
                  <a:srgbClr val="16A085"/>
                </a:solidFill>
                <a:latin typeface="Raleway" pitchFamily="2" charset="0"/>
                <a:ea typeface="Calibri" panose="020F0502020204030204" pitchFamily="34" charset="0"/>
                <a:cs typeface="Calibri" panose="020F0502020204030204" pitchFamily="34" charset="0"/>
              </a:endParaRPr>
            </a:p>
          </p:txBody>
        </p:sp>
        <p:sp>
          <p:nvSpPr>
            <p:cNvPr id="23" name="Rectangle 22">
              <a:extLst>
                <a:ext uri="{FF2B5EF4-FFF2-40B4-BE49-F238E27FC236}">
                  <a16:creationId xmlns:a16="http://schemas.microsoft.com/office/drawing/2014/main" id="{F1668957-6D95-2C8C-A16C-01607C6C10A9}"/>
                </a:ext>
              </a:extLst>
            </p:cNvPr>
            <p:cNvSpPr/>
            <p:nvPr/>
          </p:nvSpPr>
          <p:spPr>
            <a:xfrm>
              <a:off x="200000" y="2420000"/>
              <a:ext cx="1932000" cy="250000"/>
            </a:xfrm>
            <a:prstGeom prst="rect">
              <a:avLst/>
            </a:prstGeom>
            <a:solidFill>
              <a:srgbClr val="FFFFFF"/>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0D4B6D"/>
                  </a:solidFill>
                  <a:latin typeface="Raleway" pitchFamily="2" charset="0"/>
                  <a:ea typeface="Calibri" panose="020F0502020204030204" pitchFamily="34" charset="0"/>
                  <a:cs typeface="Calibri" panose="020F0502020204030204" pitchFamily="34" charset="0"/>
                </a:rPr>
                <a:t>Warm Calls</a:t>
              </a:r>
            </a:p>
          </p:txBody>
        </p:sp>
        <p:sp>
          <p:nvSpPr>
            <p:cNvPr id="24" name="Rectangle 23">
              <a:extLst>
                <a:ext uri="{FF2B5EF4-FFF2-40B4-BE49-F238E27FC236}">
                  <a16:creationId xmlns:a16="http://schemas.microsoft.com/office/drawing/2014/main" id="{C6FAA010-F37E-857B-1354-74D6FD0DFD91}"/>
                </a:ext>
              </a:extLst>
            </p:cNvPr>
            <p:cNvSpPr/>
            <p:nvPr/>
          </p:nvSpPr>
          <p:spPr>
            <a:xfrm>
              <a:off x="2132000" y="2420000"/>
              <a:ext cx="1932000" cy="250000"/>
            </a:xfrm>
            <a:prstGeom prst="rect">
              <a:avLst/>
            </a:prstGeom>
            <a:solidFill>
              <a:srgbClr val="FFFFFF"/>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chemeClr val="tx1"/>
                  </a:solidFill>
                  <a:latin typeface="Raleway" pitchFamily="2" charset="0"/>
                  <a:ea typeface="Calibri" panose="020F0502020204030204" pitchFamily="34" charset="0"/>
                  <a:cs typeface="Calibri" panose="020F0502020204030204" pitchFamily="34" charset="0"/>
                </a:rPr>
                <a:t>J2W</a:t>
              </a:r>
            </a:p>
          </p:txBody>
        </p:sp>
        <p:sp>
          <p:nvSpPr>
            <p:cNvPr id="25" name="Rectangle 24">
              <a:extLst>
                <a:ext uri="{FF2B5EF4-FFF2-40B4-BE49-F238E27FC236}">
                  <a16:creationId xmlns:a16="http://schemas.microsoft.com/office/drawing/2014/main" id="{9B64D7C1-4358-343A-220C-0CA372E489B9}"/>
                </a:ext>
              </a:extLst>
            </p:cNvPr>
            <p:cNvSpPr/>
            <p:nvPr/>
          </p:nvSpPr>
          <p:spPr>
            <a:xfrm>
              <a:off x="200000" y="2670000"/>
              <a:ext cx="1932000" cy="250000"/>
            </a:xfrm>
            <a:prstGeom prst="rect">
              <a:avLst/>
            </a:prstGeom>
            <a:solidFill>
              <a:srgbClr val="ECF0F1"/>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0D4B6D"/>
                  </a:solidFill>
                  <a:latin typeface="Raleway" pitchFamily="2" charset="0"/>
                  <a:ea typeface="Calibri" panose="020F0502020204030204" pitchFamily="34" charset="0"/>
                  <a:cs typeface="Calibri" panose="020F0502020204030204" pitchFamily="34" charset="0"/>
                </a:rPr>
                <a:t>BGVs</a:t>
              </a:r>
            </a:p>
          </p:txBody>
        </p:sp>
        <p:sp>
          <p:nvSpPr>
            <p:cNvPr id="26" name="Rectangle 25">
              <a:extLst>
                <a:ext uri="{FF2B5EF4-FFF2-40B4-BE49-F238E27FC236}">
                  <a16:creationId xmlns:a16="http://schemas.microsoft.com/office/drawing/2014/main" id="{023CCBD1-563B-0451-4803-D02156E8FB63}"/>
                </a:ext>
              </a:extLst>
            </p:cNvPr>
            <p:cNvSpPr/>
            <p:nvPr/>
          </p:nvSpPr>
          <p:spPr>
            <a:xfrm>
              <a:off x="2132000" y="2670000"/>
              <a:ext cx="1932000" cy="250000"/>
            </a:xfrm>
            <a:prstGeom prst="rect">
              <a:avLst/>
            </a:prstGeom>
            <a:solidFill>
              <a:srgbClr val="ECF0F1"/>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chemeClr val="tx1"/>
                  </a:solidFill>
                  <a:latin typeface="Raleway" pitchFamily="2" charset="0"/>
                  <a:ea typeface="Calibri" panose="020F0502020204030204" pitchFamily="34" charset="0"/>
                  <a:cs typeface="Calibri" panose="020F0502020204030204" pitchFamily="34" charset="0"/>
                </a:rPr>
                <a:t>J2W</a:t>
              </a:r>
            </a:p>
          </p:txBody>
        </p:sp>
        <p:sp>
          <p:nvSpPr>
            <p:cNvPr id="27" name="Rectangle 26">
              <a:extLst>
                <a:ext uri="{FF2B5EF4-FFF2-40B4-BE49-F238E27FC236}">
                  <a16:creationId xmlns:a16="http://schemas.microsoft.com/office/drawing/2014/main" id="{227614DA-06F9-BC8C-4B2B-7DA6970F7514}"/>
                </a:ext>
              </a:extLst>
            </p:cNvPr>
            <p:cNvSpPr/>
            <p:nvPr/>
          </p:nvSpPr>
          <p:spPr>
            <a:xfrm>
              <a:off x="4114000" y="700000"/>
              <a:ext cx="3864000" cy="48000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Raleway" pitchFamily="2" charset="0"/>
                <a:ea typeface="Calibri" panose="020F0502020204030204" pitchFamily="34" charset="0"/>
                <a:cs typeface="Calibri" panose="020F0502020204030204" pitchFamily="34" charset="0"/>
              </a:endParaRPr>
            </a:p>
          </p:txBody>
        </p:sp>
        <p:sp>
          <p:nvSpPr>
            <p:cNvPr id="28" name="TextBox 27">
              <a:extLst>
                <a:ext uri="{FF2B5EF4-FFF2-40B4-BE49-F238E27FC236}">
                  <a16:creationId xmlns:a16="http://schemas.microsoft.com/office/drawing/2014/main" id="{A79AB300-EBD5-4508-5433-8DF3CB162C38}"/>
                </a:ext>
              </a:extLst>
            </p:cNvPr>
            <p:cNvSpPr txBox="1"/>
            <p:nvPr/>
          </p:nvSpPr>
          <p:spPr>
            <a:xfrm>
              <a:off x="4174000" y="720000"/>
              <a:ext cx="3744000" cy="360000"/>
            </a:xfrm>
            <a:prstGeom prst="rect">
              <a:avLst/>
            </a:prstGeom>
            <a:noFill/>
          </p:spPr>
          <p:txBody>
            <a:bodyPr wrap="square"/>
            <a:lstStyle/>
            <a:p>
              <a:pPr algn="ctr"/>
              <a:r>
                <a:rPr sz="1200" b="1" i="0">
                  <a:solidFill>
                    <a:srgbClr val="FFFFFF"/>
                  </a:solidFill>
                  <a:latin typeface="Raleway" pitchFamily="2" charset="0"/>
                  <a:ea typeface="Calibri" panose="020F0502020204030204" pitchFamily="34" charset="0"/>
                  <a:cs typeface="Calibri" panose="020F0502020204030204" pitchFamily="34" charset="0"/>
                </a:rPr>
                <a:t>Stage 2
Resource Management</a:t>
              </a:r>
            </a:p>
          </p:txBody>
        </p:sp>
        <p:sp>
          <p:nvSpPr>
            <p:cNvPr id="29" name="Rectangle 28">
              <a:extLst>
                <a:ext uri="{FF2B5EF4-FFF2-40B4-BE49-F238E27FC236}">
                  <a16:creationId xmlns:a16="http://schemas.microsoft.com/office/drawing/2014/main" id="{CA37F4D6-7EB5-DE72-9C74-E9B8B0694B43}"/>
                </a:ext>
              </a:extLst>
            </p:cNvPr>
            <p:cNvSpPr/>
            <p:nvPr/>
          </p:nvSpPr>
          <p:spPr>
            <a:xfrm>
              <a:off x="4114000" y="1200000"/>
              <a:ext cx="1932000" cy="220000"/>
            </a:xfrm>
            <a:prstGeom prst="rect">
              <a:avLst/>
            </a:prstGeom>
            <a:solidFill>
              <a:srgbClr val="ECF0F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0D4B6D"/>
                  </a:solidFill>
                  <a:latin typeface="Raleway" pitchFamily="2" charset="0"/>
                  <a:ea typeface="Calibri" panose="020F0502020204030204" pitchFamily="34" charset="0"/>
                  <a:cs typeface="Calibri" panose="020F0502020204030204" pitchFamily="34" charset="0"/>
                </a:rPr>
                <a:t>Deliverables</a:t>
              </a:r>
            </a:p>
          </p:txBody>
        </p:sp>
        <p:sp>
          <p:nvSpPr>
            <p:cNvPr id="30" name="Rectangle 29">
              <a:extLst>
                <a:ext uri="{FF2B5EF4-FFF2-40B4-BE49-F238E27FC236}">
                  <a16:creationId xmlns:a16="http://schemas.microsoft.com/office/drawing/2014/main" id="{F85AD9D0-D70F-7C40-E072-9EF7551BBDF2}"/>
                </a:ext>
              </a:extLst>
            </p:cNvPr>
            <p:cNvSpPr/>
            <p:nvPr/>
          </p:nvSpPr>
          <p:spPr>
            <a:xfrm>
              <a:off x="6046000" y="1200000"/>
              <a:ext cx="1932000" cy="220000"/>
            </a:xfrm>
            <a:prstGeom prst="rect">
              <a:avLst/>
            </a:prstGeom>
            <a:solidFill>
              <a:srgbClr val="ECF0F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0D4B6D"/>
                  </a:solidFill>
                  <a:latin typeface="Raleway" pitchFamily="2" charset="0"/>
                  <a:ea typeface="Calibri" panose="020F0502020204030204" pitchFamily="34" charset="0"/>
                  <a:cs typeface="Calibri" panose="020F0502020204030204" pitchFamily="34" charset="0"/>
                </a:rPr>
                <a:t>Ownership</a:t>
              </a:r>
            </a:p>
          </p:txBody>
        </p:sp>
        <p:sp>
          <p:nvSpPr>
            <p:cNvPr id="31" name="Rectangle 30">
              <a:extLst>
                <a:ext uri="{FF2B5EF4-FFF2-40B4-BE49-F238E27FC236}">
                  <a16:creationId xmlns:a16="http://schemas.microsoft.com/office/drawing/2014/main" id="{BE709A32-DA30-D182-94B3-6B7BF3923A9C}"/>
                </a:ext>
              </a:extLst>
            </p:cNvPr>
            <p:cNvSpPr/>
            <p:nvPr/>
          </p:nvSpPr>
          <p:spPr>
            <a:xfrm>
              <a:off x="4114000" y="1420000"/>
              <a:ext cx="2389464" cy="171907"/>
            </a:xfrm>
            <a:prstGeom prst="rect">
              <a:avLst/>
            </a:prstGeom>
            <a:solidFill>
              <a:srgbClr val="FFFFFF"/>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dirty="0">
                  <a:solidFill>
                    <a:srgbClr val="0D4B6D"/>
                  </a:solidFill>
                  <a:latin typeface="Raleway" pitchFamily="2" charset="0"/>
                  <a:ea typeface="Calibri" panose="020F0502020204030204" pitchFamily="34" charset="0"/>
                  <a:cs typeface="Calibri" panose="020F0502020204030204" pitchFamily="34" charset="0"/>
                </a:rPr>
                <a:t>Orientation &amp; Onboarding</a:t>
              </a:r>
            </a:p>
          </p:txBody>
        </p:sp>
        <p:sp>
          <p:nvSpPr>
            <p:cNvPr id="32" name="Rectangle 31">
              <a:extLst>
                <a:ext uri="{FF2B5EF4-FFF2-40B4-BE49-F238E27FC236}">
                  <a16:creationId xmlns:a16="http://schemas.microsoft.com/office/drawing/2014/main" id="{03E00FB4-2225-D725-43D1-4CF731973797}"/>
                </a:ext>
              </a:extLst>
            </p:cNvPr>
            <p:cNvSpPr/>
            <p:nvPr/>
          </p:nvSpPr>
          <p:spPr>
            <a:xfrm>
              <a:off x="6046000" y="1420000"/>
              <a:ext cx="1932000" cy="250000"/>
            </a:xfrm>
            <a:prstGeom prst="rect">
              <a:avLst/>
            </a:prstGeom>
            <a:solidFill>
              <a:srgbClr val="FFFFFF"/>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dirty="0">
                  <a:solidFill>
                    <a:schemeClr val="tx1"/>
                  </a:solidFill>
                  <a:latin typeface="Raleway" pitchFamily="2" charset="0"/>
                  <a:ea typeface="Calibri" panose="020F0502020204030204" pitchFamily="34" charset="0"/>
                  <a:cs typeface="Calibri" panose="020F0502020204030204" pitchFamily="34" charset="0"/>
                </a:rPr>
                <a:t>J2W</a:t>
              </a:r>
            </a:p>
          </p:txBody>
        </p:sp>
        <p:sp>
          <p:nvSpPr>
            <p:cNvPr id="33" name="Rectangle 32">
              <a:extLst>
                <a:ext uri="{FF2B5EF4-FFF2-40B4-BE49-F238E27FC236}">
                  <a16:creationId xmlns:a16="http://schemas.microsoft.com/office/drawing/2014/main" id="{1E44F05A-B6CC-D54E-BE62-825ED8F28CAF}"/>
                </a:ext>
              </a:extLst>
            </p:cNvPr>
            <p:cNvSpPr/>
            <p:nvPr/>
          </p:nvSpPr>
          <p:spPr>
            <a:xfrm>
              <a:off x="4114000" y="1670000"/>
              <a:ext cx="1932000" cy="250000"/>
            </a:xfrm>
            <a:prstGeom prst="rect">
              <a:avLst/>
            </a:prstGeom>
            <a:solidFill>
              <a:srgbClr val="ECF0F1"/>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0D4B6D"/>
                  </a:solidFill>
                  <a:latin typeface="Raleway" pitchFamily="2" charset="0"/>
                  <a:ea typeface="Calibri" panose="020F0502020204030204" pitchFamily="34" charset="0"/>
                  <a:cs typeface="Calibri" panose="020F0502020204030204" pitchFamily="34" charset="0"/>
                </a:rPr>
                <a:t>Asset Allocation</a:t>
              </a:r>
            </a:p>
          </p:txBody>
        </p:sp>
        <p:sp>
          <p:nvSpPr>
            <p:cNvPr id="34" name="Rectangle 33">
              <a:extLst>
                <a:ext uri="{FF2B5EF4-FFF2-40B4-BE49-F238E27FC236}">
                  <a16:creationId xmlns:a16="http://schemas.microsoft.com/office/drawing/2014/main" id="{8D8BA504-3CBB-AD86-8529-2BC718E89338}"/>
                </a:ext>
              </a:extLst>
            </p:cNvPr>
            <p:cNvSpPr/>
            <p:nvPr/>
          </p:nvSpPr>
          <p:spPr>
            <a:xfrm>
              <a:off x="6046000" y="1670000"/>
              <a:ext cx="1932000" cy="250000"/>
            </a:xfrm>
            <a:prstGeom prst="rect">
              <a:avLst/>
            </a:prstGeom>
            <a:solidFill>
              <a:srgbClr val="ECF0F1"/>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200" b="1" dirty="0">
                  <a:solidFill>
                    <a:srgbClr val="16A085"/>
                  </a:solidFill>
                  <a:latin typeface="Raleway" pitchFamily="2" charset="0"/>
                  <a:ea typeface="Calibri" panose="020F0502020204030204" pitchFamily="34" charset="0"/>
                  <a:cs typeface="Calibri" panose="020F0502020204030204" pitchFamily="34" charset="0"/>
                </a:rPr>
                <a:t>Client</a:t>
              </a:r>
              <a:endParaRPr sz="1200" b="1" dirty="0">
                <a:solidFill>
                  <a:srgbClr val="16A085"/>
                </a:solidFill>
                <a:latin typeface="Raleway" pitchFamily="2" charset="0"/>
                <a:ea typeface="Calibri" panose="020F0502020204030204" pitchFamily="34" charset="0"/>
                <a:cs typeface="Calibri" panose="020F0502020204030204" pitchFamily="34" charset="0"/>
              </a:endParaRPr>
            </a:p>
          </p:txBody>
        </p:sp>
        <p:sp>
          <p:nvSpPr>
            <p:cNvPr id="35" name="Rectangle 34">
              <a:extLst>
                <a:ext uri="{FF2B5EF4-FFF2-40B4-BE49-F238E27FC236}">
                  <a16:creationId xmlns:a16="http://schemas.microsoft.com/office/drawing/2014/main" id="{E09A53D6-1163-25AD-9F9B-6E921C119504}"/>
                </a:ext>
              </a:extLst>
            </p:cNvPr>
            <p:cNvSpPr/>
            <p:nvPr/>
          </p:nvSpPr>
          <p:spPr>
            <a:xfrm>
              <a:off x="4114000" y="1920000"/>
              <a:ext cx="1932000" cy="250000"/>
            </a:xfrm>
            <a:prstGeom prst="rect">
              <a:avLst/>
            </a:prstGeom>
            <a:solidFill>
              <a:srgbClr val="FFFFFF"/>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0D4B6D"/>
                  </a:solidFill>
                  <a:latin typeface="Raleway" pitchFamily="2" charset="0"/>
                  <a:ea typeface="Calibri" panose="020F0502020204030204" pitchFamily="34" charset="0"/>
                  <a:cs typeface="Calibri" panose="020F0502020204030204" pitchFamily="34" charset="0"/>
                </a:rPr>
                <a:t>Access Controls</a:t>
              </a:r>
            </a:p>
          </p:txBody>
        </p:sp>
        <p:sp>
          <p:nvSpPr>
            <p:cNvPr id="36" name="Rectangle 35">
              <a:extLst>
                <a:ext uri="{FF2B5EF4-FFF2-40B4-BE49-F238E27FC236}">
                  <a16:creationId xmlns:a16="http://schemas.microsoft.com/office/drawing/2014/main" id="{CD021EE4-B1F9-3F8B-2080-4CE6320A9C36}"/>
                </a:ext>
              </a:extLst>
            </p:cNvPr>
            <p:cNvSpPr/>
            <p:nvPr/>
          </p:nvSpPr>
          <p:spPr>
            <a:xfrm>
              <a:off x="6046000" y="1920000"/>
              <a:ext cx="1932000" cy="250000"/>
            </a:xfrm>
            <a:prstGeom prst="rect">
              <a:avLst/>
            </a:prstGeom>
            <a:solidFill>
              <a:srgbClr val="FFFFFF"/>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200" b="1" dirty="0">
                  <a:solidFill>
                    <a:srgbClr val="16A085"/>
                  </a:solidFill>
                  <a:latin typeface="Raleway" pitchFamily="2" charset="0"/>
                  <a:ea typeface="Calibri" panose="020F0502020204030204" pitchFamily="34" charset="0"/>
                  <a:cs typeface="Calibri" panose="020F0502020204030204" pitchFamily="34" charset="0"/>
                </a:rPr>
                <a:t>Client</a:t>
              </a:r>
              <a:endParaRPr sz="1200" b="1" dirty="0">
                <a:solidFill>
                  <a:srgbClr val="16A085"/>
                </a:solidFill>
                <a:latin typeface="Raleway" pitchFamily="2" charset="0"/>
                <a:ea typeface="Calibri" panose="020F0502020204030204" pitchFamily="34" charset="0"/>
                <a:cs typeface="Calibri" panose="020F0502020204030204" pitchFamily="34" charset="0"/>
              </a:endParaRPr>
            </a:p>
          </p:txBody>
        </p:sp>
        <p:sp>
          <p:nvSpPr>
            <p:cNvPr id="37" name="Rectangle 36">
              <a:extLst>
                <a:ext uri="{FF2B5EF4-FFF2-40B4-BE49-F238E27FC236}">
                  <a16:creationId xmlns:a16="http://schemas.microsoft.com/office/drawing/2014/main" id="{6BA5F09A-2AA7-1DFD-B623-CD131739A0DD}"/>
                </a:ext>
              </a:extLst>
            </p:cNvPr>
            <p:cNvSpPr/>
            <p:nvPr/>
          </p:nvSpPr>
          <p:spPr>
            <a:xfrm>
              <a:off x="4114000" y="2170000"/>
              <a:ext cx="1932000" cy="250000"/>
            </a:xfrm>
            <a:prstGeom prst="rect">
              <a:avLst/>
            </a:prstGeom>
            <a:solidFill>
              <a:srgbClr val="ECF0F1"/>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0D4B6D"/>
                  </a:solidFill>
                  <a:latin typeface="Raleway" pitchFamily="2" charset="0"/>
                  <a:ea typeface="Calibri" panose="020F0502020204030204" pitchFamily="34" charset="0"/>
                  <a:cs typeface="Calibri" panose="020F0502020204030204" pitchFamily="34" charset="0"/>
                </a:rPr>
                <a:t>Training</a:t>
              </a:r>
            </a:p>
          </p:txBody>
        </p:sp>
        <p:sp>
          <p:nvSpPr>
            <p:cNvPr id="38" name="Rectangle 37">
              <a:extLst>
                <a:ext uri="{FF2B5EF4-FFF2-40B4-BE49-F238E27FC236}">
                  <a16:creationId xmlns:a16="http://schemas.microsoft.com/office/drawing/2014/main" id="{D4C543B1-5560-D63F-DC5F-75C3B1F7897F}"/>
                </a:ext>
              </a:extLst>
            </p:cNvPr>
            <p:cNvSpPr/>
            <p:nvPr/>
          </p:nvSpPr>
          <p:spPr>
            <a:xfrm>
              <a:off x="6046000" y="2170000"/>
              <a:ext cx="1932000" cy="250000"/>
            </a:xfrm>
            <a:prstGeom prst="rect">
              <a:avLst/>
            </a:prstGeom>
            <a:solidFill>
              <a:srgbClr val="ECF0F1"/>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200" b="1" dirty="0">
                  <a:solidFill>
                    <a:srgbClr val="16A085"/>
                  </a:solidFill>
                  <a:latin typeface="Raleway" pitchFamily="2" charset="0"/>
                  <a:ea typeface="Calibri" panose="020F0502020204030204" pitchFamily="34" charset="0"/>
                  <a:cs typeface="Calibri" panose="020F0502020204030204" pitchFamily="34" charset="0"/>
                </a:rPr>
                <a:t>Client</a:t>
              </a:r>
              <a:endParaRPr sz="1200" b="1" dirty="0">
                <a:solidFill>
                  <a:srgbClr val="16A085"/>
                </a:solidFill>
                <a:latin typeface="Raleway" pitchFamily="2" charset="0"/>
                <a:ea typeface="Calibri" panose="020F0502020204030204" pitchFamily="34" charset="0"/>
                <a:cs typeface="Calibri" panose="020F0502020204030204" pitchFamily="34" charset="0"/>
              </a:endParaRPr>
            </a:p>
          </p:txBody>
        </p:sp>
        <p:sp>
          <p:nvSpPr>
            <p:cNvPr id="39" name="Rectangle 38">
              <a:extLst>
                <a:ext uri="{FF2B5EF4-FFF2-40B4-BE49-F238E27FC236}">
                  <a16:creationId xmlns:a16="http://schemas.microsoft.com/office/drawing/2014/main" id="{D00BE44A-6826-5394-0967-A67FD8F14611}"/>
                </a:ext>
              </a:extLst>
            </p:cNvPr>
            <p:cNvSpPr/>
            <p:nvPr/>
          </p:nvSpPr>
          <p:spPr>
            <a:xfrm>
              <a:off x="4114000" y="2420000"/>
              <a:ext cx="1932000" cy="250000"/>
            </a:xfrm>
            <a:prstGeom prst="rect">
              <a:avLst/>
            </a:prstGeom>
            <a:solidFill>
              <a:srgbClr val="FFFFFF"/>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0D4B6D"/>
                  </a:solidFill>
                  <a:latin typeface="Raleway" pitchFamily="2" charset="0"/>
                  <a:ea typeface="Calibri" panose="020F0502020204030204" pitchFamily="34" charset="0"/>
                  <a:cs typeface="Calibri" panose="020F0502020204030204" pitchFamily="34" charset="0"/>
                </a:rPr>
                <a:t>OJT Support</a:t>
              </a:r>
            </a:p>
          </p:txBody>
        </p:sp>
        <p:sp>
          <p:nvSpPr>
            <p:cNvPr id="40" name="Rectangle 39">
              <a:extLst>
                <a:ext uri="{FF2B5EF4-FFF2-40B4-BE49-F238E27FC236}">
                  <a16:creationId xmlns:a16="http://schemas.microsoft.com/office/drawing/2014/main" id="{C75E524F-4BB2-C6E1-75B5-9CA1CFCA34DC}"/>
                </a:ext>
              </a:extLst>
            </p:cNvPr>
            <p:cNvSpPr/>
            <p:nvPr/>
          </p:nvSpPr>
          <p:spPr>
            <a:xfrm>
              <a:off x="6046000" y="2420000"/>
              <a:ext cx="1932000" cy="250000"/>
            </a:xfrm>
            <a:prstGeom prst="rect">
              <a:avLst/>
            </a:prstGeom>
            <a:solidFill>
              <a:srgbClr val="FFFFFF"/>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200" b="1" dirty="0">
                  <a:solidFill>
                    <a:srgbClr val="16A085"/>
                  </a:solidFill>
                  <a:latin typeface="Raleway" pitchFamily="2" charset="0"/>
                  <a:ea typeface="Calibri" panose="020F0502020204030204" pitchFamily="34" charset="0"/>
                  <a:cs typeface="Calibri" panose="020F0502020204030204" pitchFamily="34" charset="0"/>
                </a:rPr>
                <a:t>Client</a:t>
              </a:r>
              <a:endParaRPr sz="1200" b="1" dirty="0">
                <a:solidFill>
                  <a:srgbClr val="16A085"/>
                </a:solidFill>
                <a:latin typeface="Raleway" pitchFamily="2" charset="0"/>
                <a:ea typeface="Calibri" panose="020F0502020204030204" pitchFamily="34" charset="0"/>
                <a:cs typeface="Calibri" panose="020F0502020204030204" pitchFamily="34" charset="0"/>
              </a:endParaRPr>
            </a:p>
          </p:txBody>
        </p:sp>
        <p:sp>
          <p:nvSpPr>
            <p:cNvPr id="41" name="Rectangle 40">
              <a:extLst>
                <a:ext uri="{FF2B5EF4-FFF2-40B4-BE49-F238E27FC236}">
                  <a16:creationId xmlns:a16="http://schemas.microsoft.com/office/drawing/2014/main" id="{75215FB6-91E3-ECAC-637F-D892F6A79550}"/>
                </a:ext>
              </a:extLst>
            </p:cNvPr>
            <p:cNvSpPr/>
            <p:nvPr/>
          </p:nvSpPr>
          <p:spPr>
            <a:xfrm>
              <a:off x="4114000" y="2670000"/>
              <a:ext cx="1932000" cy="250000"/>
            </a:xfrm>
            <a:prstGeom prst="rect">
              <a:avLst/>
            </a:prstGeom>
            <a:solidFill>
              <a:srgbClr val="ECF0F1"/>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0D4B6D"/>
                  </a:solidFill>
                  <a:latin typeface="Raleway" pitchFamily="2" charset="0"/>
                  <a:ea typeface="Calibri" panose="020F0502020204030204" pitchFamily="34" charset="0"/>
                  <a:cs typeface="Calibri" panose="020F0502020204030204" pitchFamily="34" charset="0"/>
                </a:rPr>
                <a:t>Attendance &amp; Shrinkage</a:t>
              </a:r>
            </a:p>
          </p:txBody>
        </p:sp>
        <p:sp>
          <p:nvSpPr>
            <p:cNvPr id="42" name="Rectangle 41">
              <a:extLst>
                <a:ext uri="{FF2B5EF4-FFF2-40B4-BE49-F238E27FC236}">
                  <a16:creationId xmlns:a16="http://schemas.microsoft.com/office/drawing/2014/main" id="{53AF9549-EF18-11E8-E763-C2F96F47C62F}"/>
                </a:ext>
              </a:extLst>
            </p:cNvPr>
            <p:cNvSpPr/>
            <p:nvPr/>
          </p:nvSpPr>
          <p:spPr>
            <a:xfrm>
              <a:off x="6046000" y="2670000"/>
              <a:ext cx="1932000" cy="250000"/>
            </a:xfrm>
            <a:prstGeom prst="rect">
              <a:avLst/>
            </a:prstGeom>
            <a:solidFill>
              <a:srgbClr val="ECF0F1"/>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dirty="0">
                  <a:solidFill>
                    <a:schemeClr val="tx1"/>
                  </a:solidFill>
                  <a:latin typeface="Raleway" pitchFamily="2" charset="0"/>
                  <a:ea typeface="Calibri" panose="020F0502020204030204" pitchFamily="34" charset="0"/>
                  <a:cs typeface="Calibri" panose="020F0502020204030204" pitchFamily="34" charset="0"/>
                </a:rPr>
                <a:t>J2W</a:t>
              </a:r>
            </a:p>
          </p:txBody>
        </p:sp>
        <p:sp>
          <p:nvSpPr>
            <p:cNvPr id="43" name="Rectangle 42">
              <a:extLst>
                <a:ext uri="{FF2B5EF4-FFF2-40B4-BE49-F238E27FC236}">
                  <a16:creationId xmlns:a16="http://schemas.microsoft.com/office/drawing/2014/main" id="{C8F2EC72-ED28-A860-42CE-01189A4CE73E}"/>
                </a:ext>
              </a:extLst>
            </p:cNvPr>
            <p:cNvSpPr/>
            <p:nvPr/>
          </p:nvSpPr>
          <p:spPr>
            <a:xfrm>
              <a:off x="4114000" y="2920000"/>
              <a:ext cx="1932000" cy="250000"/>
            </a:xfrm>
            <a:prstGeom prst="rect">
              <a:avLst/>
            </a:prstGeom>
            <a:solidFill>
              <a:srgbClr val="FFFFFF"/>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0D4B6D"/>
                  </a:solidFill>
                  <a:latin typeface="Raleway" pitchFamily="2" charset="0"/>
                  <a:ea typeface="Calibri" panose="020F0502020204030204" pitchFamily="34" charset="0"/>
                  <a:cs typeface="Calibri" panose="020F0502020204030204" pitchFamily="34" charset="0"/>
                </a:rPr>
                <a:t>Performance Mgmt</a:t>
              </a:r>
            </a:p>
          </p:txBody>
        </p:sp>
        <p:sp>
          <p:nvSpPr>
            <p:cNvPr id="44" name="Rectangle 43">
              <a:extLst>
                <a:ext uri="{FF2B5EF4-FFF2-40B4-BE49-F238E27FC236}">
                  <a16:creationId xmlns:a16="http://schemas.microsoft.com/office/drawing/2014/main" id="{90609F77-7B43-A935-906E-4F4A320A8F26}"/>
                </a:ext>
              </a:extLst>
            </p:cNvPr>
            <p:cNvSpPr/>
            <p:nvPr/>
          </p:nvSpPr>
          <p:spPr>
            <a:xfrm>
              <a:off x="6046000" y="2920000"/>
              <a:ext cx="1932000" cy="250000"/>
            </a:xfrm>
            <a:prstGeom prst="rect">
              <a:avLst/>
            </a:prstGeom>
            <a:solidFill>
              <a:srgbClr val="FFFFFF"/>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chemeClr val="tx1"/>
                  </a:solidFill>
                  <a:latin typeface="Raleway" pitchFamily="2" charset="0"/>
                  <a:ea typeface="Calibri" panose="020F0502020204030204" pitchFamily="34" charset="0"/>
                  <a:cs typeface="Calibri" panose="020F0502020204030204" pitchFamily="34" charset="0"/>
                </a:rPr>
                <a:t>J2W</a:t>
              </a:r>
            </a:p>
          </p:txBody>
        </p:sp>
        <p:sp>
          <p:nvSpPr>
            <p:cNvPr id="45" name="Rectangle 44">
              <a:extLst>
                <a:ext uri="{FF2B5EF4-FFF2-40B4-BE49-F238E27FC236}">
                  <a16:creationId xmlns:a16="http://schemas.microsoft.com/office/drawing/2014/main" id="{2B843C6D-C09F-B3C4-A38F-29A8ED4452BE}"/>
                </a:ext>
              </a:extLst>
            </p:cNvPr>
            <p:cNvSpPr/>
            <p:nvPr/>
          </p:nvSpPr>
          <p:spPr>
            <a:xfrm>
              <a:off x="4114000" y="3170000"/>
              <a:ext cx="1932000" cy="250000"/>
            </a:xfrm>
            <a:prstGeom prst="rect">
              <a:avLst/>
            </a:prstGeom>
            <a:solidFill>
              <a:srgbClr val="ECF0F1"/>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dirty="0">
                  <a:solidFill>
                    <a:srgbClr val="0D4B6D"/>
                  </a:solidFill>
                  <a:latin typeface="Raleway" pitchFamily="2" charset="0"/>
                  <a:ea typeface="Calibri" panose="020F0502020204030204" pitchFamily="34" charset="0"/>
                  <a:cs typeface="Calibri" panose="020F0502020204030204" pitchFamily="34" charset="0"/>
                </a:rPr>
                <a:t>Engagement Activities</a:t>
              </a:r>
            </a:p>
          </p:txBody>
        </p:sp>
        <p:sp>
          <p:nvSpPr>
            <p:cNvPr id="46" name="Rectangle 45">
              <a:extLst>
                <a:ext uri="{FF2B5EF4-FFF2-40B4-BE49-F238E27FC236}">
                  <a16:creationId xmlns:a16="http://schemas.microsoft.com/office/drawing/2014/main" id="{2DB13160-573D-85AB-A4ED-C5873638F3B0}"/>
                </a:ext>
              </a:extLst>
            </p:cNvPr>
            <p:cNvSpPr/>
            <p:nvPr/>
          </p:nvSpPr>
          <p:spPr>
            <a:xfrm>
              <a:off x="6046000" y="3170000"/>
              <a:ext cx="1932000" cy="250000"/>
            </a:xfrm>
            <a:prstGeom prst="rect">
              <a:avLst/>
            </a:prstGeom>
            <a:solidFill>
              <a:srgbClr val="ECF0F1"/>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chemeClr val="tx1"/>
                  </a:solidFill>
                  <a:latin typeface="Raleway" pitchFamily="2" charset="0"/>
                  <a:ea typeface="Calibri" panose="020F0502020204030204" pitchFamily="34" charset="0"/>
                  <a:cs typeface="Calibri" panose="020F0502020204030204" pitchFamily="34" charset="0"/>
                </a:rPr>
                <a:t>J2W</a:t>
              </a:r>
            </a:p>
          </p:txBody>
        </p:sp>
        <p:sp>
          <p:nvSpPr>
            <p:cNvPr id="47" name="Rectangle 46">
              <a:extLst>
                <a:ext uri="{FF2B5EF4-FFF2-40B4-BE49-F238E27FC236}">
                  <a16:creationId xmlns:a16="http://schemas.microsoft.com/office/drawing/2014/main" id="{83936EB0-7C54-F8AA-6964-33B7D3B7E850}"/>
                </a:ext>
              </a:extLst>
            </p:cNvPr>
            <p:cNvSpPr/>
            <p:nvPr/>
          </p:nvSpPr>
          <p:spPr>
            <a:xfrm>
              <a:off x="4114000" y="3420000"/>
              <a:ext cx="1932000" cy="250000"/>
            </a:xfrm>
            <a:prstGeom prst="rect">
              <a:avLst/>
            </a:prstGeom>
            <a:solidFill>
              <a:srgbClr val="FFFFFF"/>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0D4B6D"/>
                  </a:solidFill>
                  <a:latin typeface="Raleway" pitchFamily="2" charset="0"/>
                  <a:ea typeface="Calibri" panose="020F0502020204030204" pitchFamily="34" charset="0"/>
                  <a:cs typeface="Calibri" panose="020F0502020204030204" pitchFamily="34" charset="0"/>
                </a:rPr>
                <a:t>Attrition Management</a:t>
              </a:r>
            </a:p>
          </p:txBody>
        </p:sp>
        <p:sp>
          <p:nvSpPr>
            <p:cNvPr id="48" name="Rectangle 47">
              <a:extLst>
                <a:ext uri="{FF2B5EF4-FFF2-40B4-BE49-F238E27FC236}">
                  <a16:creationId xmlns:a16="http://schemas.microsoft.com/office/drawing/2014/main" id="{95BDF308-0D3D-0A6E-6D2C-32CCF8B36ED4}"/>
                </a:ext>
              </a:extLst>
            </p:cNvPr>
            <p:cNvSpPr/>
            <p:nvPr/>
          </p:nvSpPr>
          <p:spPr>
            <a:xfrm>
              <a:off x="6046000" y="3420000"/>
              <a:ext cx="1932000" cy="250000"/>
            </a:xfrm>
            <a:prstGeom prst="rect">
              <a:avLst/>
            </a:prstGeom>
            <a:solidFill>
              <a:srgbClr val="FFFFFF"/>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chemeClr val="tx1"/>
                  </a:solidFill>
                  <a:latin typeface="Raleway" pitchFamily="2" charset="0"/>
                  <a:ea typeface="Calibri" panose="020F0502020204030204" pitchFamily="34" charset="0"/>
                  <a:cs typeface="Calibri" panose="020F0502020204030204" pitchFamily="34" charset="0"/>
                </a:rPr>
                <a:t>J2W</a:t>
              </a:r>
            </a:p>
          </p:txBody>
        </p:sp>
        <p:sp>
          <p:nvSpPr>
            <p:cNvPr id="49" name="Rectangle 48">
              <a:extLst>
                <a:ext uri="{FF2B5EF4-FFF2-40B4-BE49-F238E27FC236}">
                  <a16:creationId xmlns:a16="http://schemas.microsoft.com/office/drawing/2014/main" id="{32E3FA25-BE27-57B5-A55E-56A051BDCB8C}"/>
                </a:ext>
              </a:extLst>
            </p:cNvPr>
            <p:cNvSpPr/>
            <p:nvPr/>
          </p:nvSpPr>
          <p:spPr>
            <a:xfrm>
              <a:off x="4114000" y="3670000"/>
              <a:ext cx="1932000" cy="250000"/>
            </a:xfrm>
            <a:prstGeom prst="rect">
              <a:avLst/>
            </a:prstGeom>
            <a:solidFill>
              <a:srgbClr val="ECF0F1"/>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0D4B6D"/>
                  </a:solidFill>
                  <a:latin typeface="Raleway" pitchFamily="2" charset="0"/>
                  <a:ea typeface="Calibri" panose="020F0502020204030204" pitchFamily="34" charset="0"/>
                  <a:cs typeface="Calibri" panose="020F0502020204030204" pitchFamily="34" charset="0"/>
                </a:rPr>
                <a:t>Asset Management</a:t>
              </a:r>
            </a:p>
          </p:txBody>
        </p:sp>
        <p:sp>
          <p:nvSpPr>
            <p:cNvPr id="50" name="Rectangle 49">
              <a:extLst>
                <a:ext uri="{FF2B5EF4-FFF2-40B4-BE49-F238E27FC236}">
                  <a16:creationId xmlns:a16="http://schemas.microsoft.com/office/drawing/2014/main" id="{0256F9D0-FAB7-AB83-E07C-DC81D70A05ED}"/>
                </a:ext>
              </a:extLst>
            </p:cNvPr>
            <p:cNvSpPr/>
            <p:nvPr/>
          </p:nvSpPr>
          <p:spPr>
            <a:xfrm>
              <a:off x="6046000" y="3670000"/>
              <a:ext cx="1932000" cy="250000"/>
            </a:xfrm>
            <a:prstGeom prst="rect">
              <a:avLst/>
            </a:prstGeom>
            <a:solidFill>
              <a:srgbClr val="ECF0F1"/>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chemeClr val="tx1"/>
                  </a:solidFill>
                  <a:latin typeface="Raleway" pitchFamily="2" charset="0"/>
                  <a:ea typeface="Calibri" panose="020F0502020204030204" pitchFamily="34" charset="0"/>
                  <a:cs typeface="Calibri" panose="020F0502020204030204" pitchFamily="34" charset="0"/>
                </a:rPr>
                <a:t>J2W</a:t>
              </a:r>
            </a:p>
          </p:txBody>
        </p:sp>
        <p:sp>
          <p:nvSpPr>
            <p:cNvPr id="51" name="Rectangle 50">
              <a:extLst>
                <a:ext uri="{FF2B5EF4-FFF2-40B4-BE49-F238E27FC236}">
                  <a16:creationId xmlns:a16="http://schemas.microsoft.com/office/drawing/2014/main" id="{8381714A-B196-14DB-0918-4BA24E6DF5F2}"/>
                </a:ext>
              </a:extLst>
            </p:cNvPr>
            <p:cNvSpPr/>
            <p:nvPr/>
          </p:nvSpPr>
          <p:spPr>
            <a:xfrm>
              <a:off x="4114000" y="3920000"/>
              <a:ext cx="1932000" cy="250000"/>
            </a:xfrm>
            <a:prstGeom prst="rect">
              <a:avLst/>
            </a:prstGeom>
            <a:solidFill>
              <a:srgbClr val="FFFFFF"/>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0D4B6D"/>
                  </a:solidFill>
                  <a:latin typeface="Raleway" pitchFamily="2" charset="0"/>
                  <a:ea typeface="Calibri" panose="020F0502020204030204" pitchFamily="34" charset="0"/>
                  <a:cs typeface="Calibri" panose="020F0502020204030204" pitchFamily="34" charset="0"/>
                </a:rPr>
                <a:t>Governance &amp; Visibility</a:t>
              </a:r>
            </a:p>
          </p:txBody>
        </p:sp>
        <p:sp>
          <p:nvSpPr>
            <p:cNvPr id="52" name="Rectangle 51">
              <a:extLst>
                <a:ext uri="{FF2B5EF4-FFF2-40B4-BE49-F238E27FC236}">
                  <a16:creationId xmlns:a16="http://schemas.microsoft.com/office/drawing/2014/main" id="{CD5DADA5-E0F3-08E6-1BB7-ABAC42BA94FA}"/>
                </a:ext>
              </a:extLst>
            </p:cNvPr>
            <p:cNvSpPr/>
            <p:nvPr/>
          </p:nvSpPr>
          <p:spPr>
            <a:xfrm>
              <a:off x="6046000" y="3920000"/>
              <a:ext cx="1932000" cy="250000"/>
            </a:xfrm>
            <a:prstGeom prst="rect">
              <a:avLst/>
            </a:prstGeom>
            <a:solidFill>
              <a:srgbClr val="FFFFFF"/>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chemeClr val="tx1"/>
                  </a:solidFill>
                  <a:latin typeface="Raleway" pitchFamily="2" charset="0"/>
                  <a:ea typeface="Calibri" panose="020F0502020204030204" pitchFamily="34" charset="0"/>
                  <a:cs typeface="Calibri" panose="020F0502020204030204" pitchFamily="34" charset="0"/>
                </a:rPr>
                <a:t>J2W</a:t>
              </a:r>
            </a:p>
          </p:txBody>
        </p:sp>
        <p:sp>
          <p:nvSpPr>
            <p:cNvPr id="53" name="Rectangle 52">
              <a:extLst>
                <a:ext uri="{FF2B5EF4-FFF2-40B4-BE49-F238E27FC236}">
                  <a16:creationId xmlns:a16="http://schemas.microsoft.com/office/drawing/2014/main" id="{80817510-C915-7197-45F5-29C8D3DFAD12}"/>
                </a:ext>
              </a:extLst>
            </p:cNvPr>
            <p:cNvSpPr/>
            <p:nvPr/>
          </p:nvSpPr>
          <p:spPr>
            <a:xfrm>
              <a:off x="8028000" y="700000"/>
              <a:ext cx="3864000" cy="480000"/>
            </a:xfrm>
            <a:prstGeom prst="rect">
              <a:avLst/>
            </a:prstGeom>
            <a:solidFill>
              <a:schemeClr val="bg2">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latin typeface="Raleway" pitchFamily="2" charset="0"/>
                <a:ea typeface="Calibri" panose="020F0502020204030204" pitchFamily="34" charset="0"/>
                <a:cs typeface="Calibri" panose="020F0502020204030204" pitchFamily="34" charset="0"/>
              </a:endParaRPr>
            </a:p>
          </p:txBody>
        </p:sp>
        <p:sp>
          <p:nvSpPr>
            <p:cNvPr id="54" name="TextBox 53">
              <a:extLst>
                <a:ext uri="{FF2B5EF4-FFF2-40B4-BE49-F238E27FC236}">
                  <a16:creationId xmlns:a16="http://schemas.microsoft.com/office/drawing/2014/main" id="{468F798A-CD8A-7654-6936-59EBE970B0F4}"/>
                </a:ext>
              </a:extLst>
            </p:cNvPr>
            <p:cNvSpPr txBox="1"/>
            <p:nvPr/>
          </p:nvSpPr>
          <p:spPr>
            <a:xfrm>
              <a:off x="8088000" y="690000"/>
              <a:ext cx="3744000" cy="360000"/>
            </a:xfrm>
            <a:prstGeom prst="rect">
              <a:avLst/>
            </a:prstGeom>
            <a:noFill/>
          </p:spPr>
          <p:txBody>
            <a:bodyPr wrap="square"/>
            <a:lstStyle/>
            <a:p>
              <a:pPr algn="ctr"/>
              <a:r>
                <a:rPr sz="1200" b="1" i="0">
                  <a:solidFill>
                    <a:srgbClr val="FFFFFF"/>
                  </a:solidFill>
                  <a:latin typeface="Raleway" pitchFamily="2" charset="0"/>
                  <a:ea typeface="Calibri" panose="020F0502020204030204" pitchFamily="34" charset="0"/>
                  <a:cs typeface="Calibri" panose="020F0502020204030204" pitchFamily="34" charset="0"/>
                </a:rPr>
                <a:t>Stage 3
Exit Management</a:t>
              </a:r>
            </a:p>
          </p:txBody>
        </p:sp>
        <p:sp>
          <p:nvSpPr>
            <p:cNvPr id="55" name="Rectangle 54">
              <a:extLst>
                <a:ext uri="{FF2B5EF4-FFF2-40B4-BE49-F238E27FC236}">
                  <a16:creationId xmlns:a16="http://schemas.microsoft.com/office/drawing/2014/main" id="{5D262037-EC18-8874-8DEF-2FF49DEFAB43}"/>
                </a:ext>
              </a:extLst>
            </p:cNvPr>
            <p:cNvSpPr/>
            <p:nvPr/>
          </p:nvSpPr>
          <p:spPr>
            <a:xfrm>
              <a:off x="8028000" y="1200000"/>
              <a:ext cx="1932000" cy="220000"/>
            </a:xfrm>
            <a:prstGeom prst="rect">
              <a:avLst/>
            </a:prstGeom>
            <a:solidFill>
              <a:srgbClr val="ECF0F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0D4B6D"/>
                  </a:solidFill>
                  <a:latin typeface="Raleway" pitchFamily="2" charset="0"/>
                  <a:ea typeface="Calibri" panose="020F0502020204030204" pitchFamily="34" charset="0"/>
                  <a:cs typeface="Calibri" panose="020F0502020204030204" pitchFamily="34" charset="0"/>
                </a:rPr>
                <a:t>Deliverables</a:t>
              </a:r>
            </a:p>
          </p:txBody>
        </p:sp>
        <p:sp>
          <p:nvSpPr>
            <p:cNvPr id="56" name="Rectangle 55">
              <a:extLst>
                <a:ext uri="{FF2B5EF4-FFF2-40B4-BE49-F238E27FC236}">
                  <a16:creationId xmlns:a16="http://schemas.microsoft.com/office/drawing/2014/main" id="{65B11852-6F6B-C16C-CF38-E41D33CD5007}"/>
                </a:ext>
              </a:extLst>
            </p:cNvPr>
            <p:cNvSpPr/>
            <p:nvPr/>
          </p:nvSpPr>
          <p:spPr>
            <a:xfrm>
              <a:off x="9960000" y="1200000"/>
              <a:ext cx="1932000" cy="220000"/>
            </a:xfrm>
            <a:prstGeom prst="rect">
              <a:avLst/>
            </a:prstGeom>
            <a:solidFill>
              <a:srgbClr val="ECF0F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0D4B6D"/>
                  </a:solidFill>
                  <a:latin typeface="Raleway" pitchFamily="2" charset="0"/>
                  <a:ea typeface="Calibri" panose="020F0502020204030204" pitchFamily="34" charset="0"/>
                  <a:cs typeface="Calibri" panose="020F0502020204030204" pitchFamily="34" charset="0"/>
                </a:rPr>
                <a:t>Ownership</a:t>
              </a:r>
            </a:p>
          </p:txBody>
        </p:sp>
        <p:sp>
          <p:nvSpPr>
            <p:cNvPr id="57" name="Rectangle 56">
              <a:extLst>
                <a:ext uri="{FF2B5EF4-FFF2-40B4-BE49-F238E27FC236}">
                  <a16:creationId xmlns:a16="http://schemas.microsoft.com/office/drawing/2014/main" id="{68BB4853-8459-D2D4-B30F-FBCEAC9EDAAD}"/>
                </a:ext>
              </a:extLst>
            </p:cNvPr>
            <p:cNvSpPr/>
            <p:nvPr/>
          </p:nvSpPr>
          <p:spPr>
            <a:xfrm>
              <a:off x="8028000" y="1420000"/>
              <a:ext cx="1932000" cy="250000"/>
            </a:xfrm>
            <a:prstGeom prst="rect">
              <a:avLst/>
            </a:prstGeom>
            <a:solidFill>
              <a:srgbClr val="FFFFFF"/>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0D4B6D"/>
                  </a:solidFill>
                  <a:latin typeface="Raleway" pitchFamily="2" charset="0"/>
                  <a:ea typeface="Calibri" panose="020F0502020204030204" pitchFamily="34" charset="0"/>
                  <a:cs typeface="Calibri" panose="020F0502020204030204" pitchFamily="34" charset="0"/>
                </a:rPr>
                <a:t>Exit Notification</a:t>
              </a:r>
            </a:p>
          </p:txBody>
        </p:sp>
        <p:sp>
          <p:nvSpPr>
            <p:cNvPr id="58" name="Rectangle 57">
              <a:extLst>
                <a:ext uri="{FF2B5EF4-FFF2-40B4-BE49-F238E27FC236}">
                  <a16:creationId xmlns:a16="http://schemas.microsoft.com/office/drawing/2014/main" id="{FFCF0AD7-E18B-B4F9-722F-09C9399346ED}"/>
                </a:ext>
              </a:extLst>
            </p:cNvPr>
            <p:cNvSpPr/>
            <p:nvPr/>
          </p:nvSpPr>
          <p:spPr>
            <a:xfrm>
              <a:off x="9960000" y="1420000"/>
              <a:ext cx="1932000" cy="250000"/>
            </a:xfrm>
            <a:prstGeom prst="rect">
              <a:avLst/>
            </a:prstGeom>
            <a:solidFill>
              <a:srgbClr val="FFFFFF"/>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chemeClr val="tx1"/>
                  </a:solidFill>
                  <a:latin typeface="Raleway" pitchFamily="2" charset="0"/>
                  <a:ea typeface="Calibri" panose="020F0502020204030204" pitchFamily="34" charset="0"/>
                  <a:cs typeface="Calibri" panose="020F0502020204030204" pitchFamily="34" charset="0"/>
                </a:rPr>
                <a:t>J2W</a:t>
              </a:r>
            </a:p>
          </p:txBody>
        </p:sp>
        <p:sp>
          <p:nvSpPr>
            <p:cNvPr id="59" name="Rectangle 58">
              <a:extLst>
                <a:ext uri="{FF2B5EF4-FFF2-40B4-BE49-F238E27FC236}">
                  <a16:creationId xmlns:a16="http://schemas.microsoft.com/office/drawing/2014/main" id="{56462909-F69D-7F0C-FF5A-179F2E3DC812}"/>
                </a:ext>
              </a:extLst>
            </p:cNvPr>
            <p:cNvSpPr/>
            <p:nvPr/>
          </p:nvSpPr>
          <p:spPr>
            <a:xfrm>
              <a:off x="8028000" y="1670000"/>
              <a:ext cx="1932000" cy="250000"/>
            </a:xfrm>
            <a:prstGeom prst="rect">
              <a:avLst/>
            </a:prstGeom>
            <a:solidFill>
              <a:srgbClr val="ECF0F1"/>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0D4B6D"/>
                  </a:solidFill>
                  <a:latin typeface="Raleway" pitchFamily="2" charset="0"/>
                  <a:ea typeface="Calibri" panose="020F0502020204030204" pitchFamily="34" charset="0"/>
                  <a:cs typeface="Calibri" panose="020F0502020204030204" pitchFamily="34" charset="0"/>
                </a:rPr>
                <a:t>Transition &amp; KT</a:t>
              </a:r>
            </a:p>
          </p:txBody>
        </p:sp>
        <p:sp>
          <p:nvSpPr>
            <p:cNvPr id="60" name="Rectangle 59">
              <a:extLst>
                <a:ext uri="{FF2B5EF4-FFF2-40B4-BE49-F238E27FC236}">
                  <a16:creationId xmlns:a16="http://schemas.microsoft.com/office/drawing/2014/main" id="{A6B2F914-9490-C890-6CBD-C5B9CE1E0C6F}"/>
                </a:ext>
              </a:extLst>
            </p:cNvPr>
            <p:cNvSpPr/>
            <p:nvPr/>
          </p:nvSpPr>
          <p:spPr>
            <a:xfrm>
              <a:off x="9960000" y="1670000"/>
              <a:ext cx="1932000" cy="250000"/>
            </a:xfrm>
            <a:prstGeom prst="rect">
              <a:avLst/>
            </a:prstGeom>
            <a:solidFill>
              <a:srgbClr val="ECF0F1"/>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chemeClr val="tx1"/>
                  </a:solidFill>
                  <a:latin typeface="Raleway" pitchFamily="2" charset="0"/>
                  <a:ea typeface="Calibri" panose="020F0502020204030204" pitchFamily="34" charset="0"/>
                  <a:cs typeface="Calibri" panose="020F0502020204030204" pitchFamily="34" charset="0"/>
                </a:rPr>
                <a:t>J2W</a:t>
              </a:r>
            </a:p>
          </p:txBody>
        </p:sp>
        <p:sp>
          <p:nvSpPr>
            <p:cNvPr id="61" name="Rectangle 60">
              <a:extLst>
                <a:ext uri="{FF2B5EF4-FFF2-40B4-BE49-F238E27FC236}">
                  <a16:creationId xmlns:a16="http://schemas.microsoft.com/office/drawing/2014/main" id="{FD4BCF2C-26CD-69D1-B44B-65EA7A54F513}"/>
                </a:ext>
              </a:extLst>
            </p:cNvPr>
            <p:cNvSpPr/>
            <p:nvPr/>
          </p:nvSpPr>
          <p:spPr>
            <a:xfrm>
              <a:off x="8028000" y="1920000"/>
              <a:ext cx="1932000" cy="250000"/>
            </a:xfrm>
            <a:prstGeom prst="rect">
              <a:avLst/>
            </a:prstGeom>
            <a:solidFill>
              <a:srgbClr val="FFFFFF"/>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0D4B6D"/>
                  </a:solidFill>
                  <a:latin typeface="Raleway" pitchFamily="2" charset="0"/>
                  <a:ea typeface="Calibri" panose="020F0502020204030204" pitchFamily="34" charset="0"/>
                  <a:cs typeface="Calibri" panose="020F0502020204030204" pitchFamily="34" charset="0"/>
                </a:rPr>
                <a:t>Redeployments</a:t>
              </a:r>
            </a:p>
          </p:txBody>
        </p:sp>
        <p:sp>
          <p:nvSpPr>
            <p:cNvPr id="62" name="Rectangle 61">
              <a:extLst>
                <a:ext uri="{FF2B5EF4-FFF2-40B4-BE49-F238E27FC236}">
                  <a16:creationId xmlns:a16="http://schemas.microsoft.com/office/drawing/2014/main" id="{8B7A48A4-7436-3045-0AA8-F3D6869DFEB5}"/>
                </a:ext>
              </a:extLst>
            </p:cNvPr>
            <p:cNvSpPr/>
            <p:nvPr/>
          </p:nvSpPr>
          <p:spPr>
            <a:xfrm>
              <a:off x="9960000" y="1920000"/>
              <a:ext cx="1932000" cy="250000"/>
            </a:xfrm>
            <a:prstGeom prst="rect">
              <a:avLst/>
            </a:prstGeom>
            <a:solidFill>
              <a:srgbClr val="FFFFFF"/>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chemeClr val="tx1"/>
                  </a:solidFill>
                  <a:latin typeface="Raleway" pitchFamily="2" charset="0"/>
                  <a:ea typeface="Calibri" panose="020F0502020204030204" pitchFamily="34" charset="0"/>
                  <a:cs typeface="Calibri" panose="020F0502020204030204" pitchFamily="34" charset="0"/>
                </a:rPr>
                <a:t>J2W</a:t>
              </a:r>
            </a:p>
          </p:txBody>
        </p:sp>
        <p:sp>
          <p:nvSpPr>
            <p:cNvPr id="63" name="Rectangle 62">
              <a:extLst>
                <a:ext uri="{FF2B5EF4-FFF2-40B4-BE49-F238E27FC236}">
                  <a16:creationId xmlns:a16="http://schemas.microsoft.com/office/drawing/2014/main" id="{FABAAB48-0027-53F2-5475-063F02F55DAA}"/>
                </a:ext>
              </a:extLst>
            </p:cNvPr>
            <p:cNvSpPr/>
            <p:nvPr/>
          </p:nvSpPr>
          <p:spPr>
            <a:xfrm>
              <a:off x="8028000" y="2170000"/>
              <a:ext cx="1932000" cy="250000"/>
            </a:xfrm>
            <a:prstGeom prst="rect">
              <a:avLst/>
            </a:prstGeom>
            <a:solidFill>
              <a:srgbClr val="ECF0F1"/>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0D4B6D"/>
                  </a:solidFill>
                  <a:latin typeface="Raleway" pitchFamily="2" charset="0"/>
                  <a:ea typeface="Calibri" panose="020F0502020204030204" pitchFamily="34" charset="0"/>
                  <a:cs typeface="Calibri" panose="020F0502020204030204" pitchFamily="34" charset="0"/>
                </a:rPr>
                <a:t>Asset Collection</a:t>
              </a:r>
            </a:p>
          </p:txBody>
        </p:sp>
        <p:sp>
          <p:nvSpPr>
            <p:cNvPr id="64" name="Rectangle 63">
              <a:extLst>
                <a:ext uri="{FF2B5EF4-FFF2-40B4-BE49-F238E27FC236}">
                  <a16:creationId xmlns:a16="http://schemas.microsoft.com/office/drawing/2014/main" id="{63B5B1B9-59C6-EF09-9547-51C0973C930A}"/>
                </a:ext>
              </a:extLst>
            </p:cNvPr>
            <p:cNvSpPr/>
            <p:nvPr/>
          </p:nvSpPr>
          <p:spPr>
            <a:xfrm>
              <a:off x="9960000" y="2170000"/>
              <a:ext cx="1932000" cy="250000"/>
            </a:xfrm>
            <a:prstGeom prst="rect">
              <a:avLst/>
            </a:prstGeom>
            <a:solidFill>
              <a:srgbClr val="ECF0F1"/>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chemeClr val="tx1"/>
                  </a:solidFill>
                  <a:latin typeface="Raleway" pitchFamily="2" charset="0"/>
                  <a:ea typeface="Calibri" panose="020F0502020204030204" pitchFamily="34" charset="0"/>
                  <a:cs typeface="Calibri" panose="020F0502020204030204" pitchFamily="34" charset="0"/>
                </a:rPr>
                <a:t>J2W</a:t>
              </a:r>
            </a:p>
          </p:txBody>
        </p:sp>
        <p:sp>
          <p:nvSpPr>
            <p:cNvPr id="65" name="Rectangle 64">
              <a:extLst>
                <a:ext uri="{FF2B5EF4-FFF2-40B4-BE49-F238E27FC236}">
                  <a16:creationId xmlns:a16="http://schemas.microsoft.com/office/drawing/2014/main" id="{064D736C-41F2-C1C2-3241-4FB34E12981C}"/>
                </a:ext>
              </a:extLst>
            </p:cNvPr>
            <p:cNvSpPr/>
            <p:nvPr/>
          </p:nvSpPr>
          <p:spPr>
            <a:xfrm>
              <a:off x="8028000" y="2420000"/>
              <a:ext cx="1932000" cy="250000"/>
            </a:xfrm>
            <a:prstGeom prst="rect">
              <a:avLst/>
            </a:prstGeom>
            <a:solidFill>
              <a:srgbClr val="FFFFFF"/>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0D4B6D"/>
                  </a:solidFill>
                  <a:latin typeface="Raleway" pitchFamily="2" charset="0"/>
                  <a:ea typeface="Calibri" panose="020F0502020204030204" pitchFamily="34" charset="0"/>
                  <a:cs typeface="Calibri" panose="020F0502020204030204" pitchFamily="34" charset="0"/>
                </a:rPr>
                <a:t>NOCs</a:t>
              </a:r>
            </a:p>
          </p:txBody>
        </p:sp>
        <p:sp>
          <p:nvSpPr>
            <p:cNvPr id="66" name="Rectangle 65">
              <a:extLst>
                <a:ext uri="{FF2B5EF4-FFF2-40B4-BE49-F238E27FC236}">
                  <a16:creationId xmlns:a16="http://schemas.microsoft.com/office/drawing/2014/main" id="{161F0B9C-21D4-C826-B48A-33C07115D9F0}"/>
                </a:ext>
              </a:extLst>
            </p:cNvPr>
            <p:cNvSpPr/>
            <p:nvPr/>
          </p:nvSpPr>
          <p:spPr>
            <a:xfrm>
              <a:off x="9960000" y="2420000"/>
              <a:ext cx="1932000" cy="250000"/>
            </a:xfrm>
            <a:prstGeom prst="rect">
              <a:avLst/>
            </a:prstGeom>
            <a:solidFill>
              <a:srgbClr val="FFFFFF"/>
            </a:solidFill>
            <a:ln w="12700">
              <a:solidFill>
                <a:srgbClr val="ECF0F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chemeClr val="tx1"/>
                  </a:solidFill>
                  <a:latin typeface="Raleway" pitchFamily="2" charset="0"/>
                  <a:ea typeface="Calibri" panose="020F0502020204030204" pitchFamily="34" charset="0"/>
                  <a:cs typeface="Calibri" panose="020F0502020204030204" pitchFamily="34" charset="0"/>
                </a:rPr>
                <a:t>J2W</a:t>
              </a:r>
            </a:p>
          </p:txBody>
        </p:sp>
      </p:grpSp>
      <p:pic>
        <p:nvPicPr>
          <p:cNvPr id="4" name="Image 1" descr="gen-dedup-323228122ff92d2332e711a84ca3b40c.png">
            <a:extLst>
              <a:ext uri="{FF2B5EF4-FFF2-40B4-BE49-F238E27FC236}">
                <a16:creationId xmlns:a16="http://schemas.microsoft.com/office/drawing/2014/main" id="{476AB5FF-1605-E1FF-2C16-349745667138}"/>
              </a:ext>
            </a:extLst>
          </p:cNvPr>
          <p:cNvPicPr>
            <a:picLocks noChangeAspect="1"/>
          </p:cNvPicPr>
          <p:nvPr/>
        </p:nvPicPr>
        <p:blipFill>
          <a:blip r:embed="rId3"/>
          <a:srcRect l="-198" r="-198"/>
          <a:stretch/>
        </p:blipFill>
        <p:spPr>
          <a:xfrm>
            <a:off x="0" y="0"/>
            <a:ext cx="8124444" cy="75895"/>
          </a:xfrm>
          <a:prstGeom prst="rect">
            <a:avLst/>
          </a:prstGeom>
        </p:spPr>
      </p:pic>
      <p:pic>
        <p:nvPicPr>
          <p:cNvPr id="7" name="Image 2" descr="gen-dedup-9663ecf744b06e35d4c2cebaab92a2ea.png">
            <a:extLst>
              <a:ext uri="{FF2B5EF4-FFF2-40B4-BE49-F238E27FC236}">
                <a16:creationId xmlns:a16="http://schemas.microsoft.com/office/drawing/2014/main" id="{D456ED6E-AF28-1EB2-A349-6A858D1A4AE1}"/>
              </a:ext>
            </a:extLst>
          </p:cNvPr>
          <p:cNvPicPr>
            <a:picLocks noChangeAspect="1"/>
          </p:cNvPicPr>
          <p:nvPr/>
        </p:nvPicPr>
        <p:blipFill>
          <a:blip r:embed="rId4"/>
          <a:srcRect l="-202" r="-202"/>
          <a:stretch/>
        </p:blipFill>
        <p:spPr>
          <a:xfrm>
            <a:off x="8124444" y="0"/>
            <a:ext cx="4067251" cy="75895"/>
          </a:xfrm>
          <a:prstGeom prst="rect">
            <a:avLst/>
          </a:prstGeom>
        </p:spPr>
      </p:pic>
      <p:pic>
        <p:nvPicPr>
          <p:cNvPr id="15" name="Image 3" descr="gen-dedup-ef527bea2207a14ec6e8d4c8ae9cdc45.png">
            <a:extLst>
              <a:ext uri="{FF2B5EF4-FFF2-40B4-BE49-F238E27FC236}">
                <a16:creationId xmlns:a16="http://schemas.microsoft.com/office/drawing/2014/main" id="{81467DE1-E8C2-6D46-BAAF-A94EEE2A9218}"/>
              </a:ext>
            </a:extLst>
          </p:cNvPr>
          <p:cNvPicPr>
            <a:picLocks noChangeAspect="1"/>
          </p:cNvPicPr>
          <p:nvPr/>
        </p:nvPicPr>
        <p:blipFill>
          <a:blip r:embed="rId5"/>
          <a:srcRect l="-384" r="-384"/>
          <a:stretch/>
        </p:blipFill>
        <p:spPr>
          <a:xfrm>
            <a:off x="609905" y="250851"/>
            <a:ext cx="57607" cy="476402"/>
          </a:xfrm>
          <a:prstGeom prst="rect">
            <a:avLst/>
          </a:prstGeom>
        </p:spPr>
      </p:pic>
      <p:sp>
        <p:nvSpPr>
          <p:cNvPr id="3" name="Text 10">
            <a:extLst>
              <a:ext uri="{FF2B5EF4-FFF2-40B4-BE49-F238E27FC236}">
                <a16:creationId xmlns:a16="http://schemas.microsoft.com/office/drawing/2014/main" id="{6CA9F7E2-1E59-4D12-A739-60DA551DA5E7}"/>
              </a:ext>
            </a:extLst>
          </p:cNvPr>
          <p:cNvSpPr txBox="1"/>
          <p:nvPr/>
        </p:nvSpPr>
        <p:spPr>
          <a:xfrm>
            <a:off x="819302" y="664769"/>
            <a:ext cx="10478110" cy="171907"/>
          </a:xfrm>
          <a:prstGeom prst="rect">
            <a:avLst/>
          </a:prstGeom>
          <a:noFill/>
          <a:ln/>
        </p:spPr>
        <p:txBody>
          <a:bodyPr wrap="none" lIns="0" tIns="0" rIns="0" bIns="0" rtlCol="0" anchor="ctr"/>
          <a:lstStyle/>
          <a:p>
            <a:pPr marL="0" indent="0" algn="l">
              <a:buNone/>
            </a:pPr>
            <a:r>
              <a:rPr lang="en-US" sz="1500" b="1" kern="0" spc="56" dirty="0">
                <a:solidFill>
                  <a:srgbClr val="2A9D8F"/>
                </a:solidFill>
                <a:latin typeface="Roboto Condensed" pitchFamily="34" charset="0"/>
                <a:ea typeface="Roboto Condensed" pitchFamily="34" charset="-122"/>
                <a:cs typeface="Roboto Condensed" pitchFamily="34" charset="-120"/>
              </a:rPr>
              <a:t>End-to-end Workforce Lifecycle Management - From Screening To Exit</a:t>
            </a:r>
            <a:endParaRPr lang="en-US" sz="1500" dirty="0"/>
          </a:p>
        </p:txBody>
      </p:sp>
    </p:spTree>
    <p:extLst>
      <p:ext uri="{BB962C8B-B14F-4D97-AF65-F5344CB8AC3E}">
        <p14:creationId xmlns:p14="http://schemas.microsoft.com/office/powerpoint/2010/main" val="22544813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gen-dedup-e3e5efede2ea6a135da8da59a828adc3.png"/>
          <p:cNvPicPr>
            <a:picLocks noChangeAspect="1"/>
          </p:cNvPicPr>
          <p:nvPr/>
        </p:nvPicPr>
        <p:blipFill>
          <a:blip r:embed="rId3"/>
          <a:srcRect t="-403" b="-403"/>
          <a:stretch/>
        </p:blipFill>
        <p:spPr>
          <a:xfrm>
            <a:off x="0" y="0"/>
            <a:ext cx="4876495" cy="57607"/>
          </a:xfrm>
          <a:prstGeom prst="rect">
            <a:avLst/>
          </a:prstGeom>
        </p:spPr>
      </p:pic>
      <p:pic>
        <p:nvPicPr>
          <p:cNvPr id="3" name="Image 1" descr="gen-dedup-8f2b51904704db7afbf58c969153d6e7.png"/>
          <p:cNvPicPr>
            <a:picLocks noChangeAspect="1"/>
          </p:cNvPicPr>
          <p:nvPr/>
        </p:nvPicPr>
        <p:blipFill>
          <a:blip r:embed="rId4"/>
          <a:srcRect t="-400" b="-400"/>
          <a:stretch/>
        </p:blipFill>
        <p:spPr>
          <a:xfrm>
            <a:off x="4876495" y="0"/>
            <a:ext cx="7315200" cy="57607"/>
          </a:xfrm>
          <a:prstGeom prst="rect">
            <a:avLst/>
          </a:prstGeom>
        </p:spPr>
      </p:pic>
      <p:pic>
        <p:nvPicPr>
          <p:cNvPr id="4" name="Image 2" descr="gen-dedup-3381abfd1a6f9b6661a995d1481586b4.png"/>
          <p:cNvPicPr>
            <a:picLocks noChangeAspect="1"/>
          </p:cNvPicPr>
          <p:nvPr/>
        </p:nvPicPr>
        <p:blipFill>
          <a:blip r:embed="rId5"/>
          <a:srcRect l="-384" r="-384"/>
          <a:stretch/>
        </p:blipFill>
        <p:spPr>
          <a:xfrm>
            <a:off x="533095" y="437998"/>
            <a:ext cx="38405" cy="476402"/>
          </a:xfrm>
          <a:prstGeom prst="rect">
            <a:avLst/>
          </a:prstGeom>
        </p:spPr>
      </p:pic>
      <p:sp>
        <p:nvSpPr>
          <p:cNvPr id="5" name="Shape 0"/>
          <p:cNvSpPr/>
          <p:nvPr/>
        </p:nvSpPr>
        <p:spPr>
          <a:xfrm>
            <a:off x="533095" y="1238098"/>
            <a:ext cx="2115007" cy="1571854"/>
          </a:xfrm>
          <a:prstGeom prst="roundRect">
            <a:avLst>
              <a:gd name="adj" fmla="val 4828"/>
            </a:avLst>
          </a:prstGeom>
          <a:solidFill>
            <a:srgbClr val="FFFFFF"/>
          </a:solidFill>
          <a:ln w="12700">
            <a:solidFill>
              <a:srgbClr val="E5E8EE"/>
            </a:solidFill>
            <a:prstDash val="solid"/>
          </a:ln>
          <a:effectLst>
            <a:outerShdw blurRad="114300" dist="38100" dir="16200000" algn="bl" rotWithShape="0">
              <a:srgbClr val="000000">
                <a:alpha val="3000"/>
              </a:srgbClr>
            </a:outerShdw>
          </a:effectLst>
        </p:spPr>
        <p:txBody>
          <a:bodyPr/>
          <a:lstStyle/>
          <a:p>
            <a:endParaRPr lang="en-US">
              <a:latin typeface="Raleway" pitchFamily="2" charset="0"/>
            </a:endParaRPr>
          </a:p>
        </p:txBody>
      </p:sp>
      <p:sp>
        <p:nvSpPr>
          <p:cNvPr id="6" name="Shape 1"/>
          <p:cNvSpPr/>
          <p:nvPr/>
        </p:nvSpPr>
        <p:spPr>
          <a:xfrm>
            <a:off x="533095" y="1238098"/>
            <a:ext cx="2115007" cy="38405"/>
          </a:xfrm>
          <a:prstGeom prst="roundRect">
            <a:avLst>
              <a:gd name="adj" fmla="val 197618"/>
            </a:avLst>
          </a:prstGeom>
          <a:solidFill>
            <a:srgbClr val="289C8F"/>
          </a:solidFill>
          <a:ln w="12700">
            <a:solidFill>
              <a:srgbClr val="289C8F">
                <a:alpha val="0"/>
              </a:srgbClr>
            </a:solidFill>
            <a:prstDash val="solid"/>
          </a:ln>
        </p:spPr>
        <p:txBody>
          <a:bodyPr/>
          <a:lstStyle/>
          <a:p>
            <a:endParaRPr lang="en-US">
              <a:latin typeface="Raleway" pitchFamily="2" charset="0"/>
            </a:endParaRPr>
          </a:p>
        </p:txBody>
      </p:sp>
      <p:sp>
        <p:nvSpPr>
          <p:cNvPr id="7" name="Shape 2"/>
          <p:cNvSpPr/>
          <p:nvPr/>
        </p:nvSpPr>
        <p:spPr>
          <a:xfrm>
            <a:off x="2781605" y="1238098"/>
            <a:ext cx="2115007" cy="1571854"/>
          </a:xfrm>
          <a:prstGeom prst="roundRect">
            <a:avLst>
              <a:gd name="adj" fmla="val 4828"/>
            </a:avLst>
          </a:prstGeom>
          <a:solidFill>
            <a:srgbClr val="FFFFFF"/>
          </a:solidFill>
          <a:ln w="12700">
            <a:solidFill>
              <a:srgbClr val="E5E8EE"/>
            </a:solidFill>
            <a:prstDash val="solid"/>
          </a:ln>
          <a:effectLst>
            <a:outerShdw blurRad="114300" dist="38100" dir="16200000" algn="bl" rotWithShape="0">
              <a:srgbClr val="000000">
                <a:alpha val="3000"/>
              </a:srgbClr>
            </a:outerShdw>
          </a:effectLst>
        </p:spPr>
        <p:txBody>
          <a:bodyPr/>
          <a:lstStyle/>
          <a:p>
            <a:endParaRPr lang="en-US">
              <a:latin typeface="Raleway" pitchFamily="2" charset="0"/>
            </a:endParaRPr>
          </a:p>
        </p:txBody>
      </p:sp>
      <p:sp>
        <p:nvSpPr>
          <p:cNvPr id="8" name="Shape 3"/>
          <p:cNvSpPr/>
          <p:nvPr/>
        </p:nvSpPr>
        <p:spPr>
          <a:xfrm>
            <a:off x="2781605" y="1238098"/>
            <a:ext cx="2115007" cy="38405"/>
          </a:xfrm>
          <a:prstGeom prst="roundRect">
            <a:avLst>
              <a:gd name="adj" fmla="val 197618"/>
            </a:avLst>
          </a:prstGeom>
          <a:solidFill>
            <a:srgbClr val="289C8F"/>
          </a:solidFill>
          <a:ln w="12700">
            <a:solidFill>
              <a:srgbClr val="289C8F">
                <a:alpha val="0"/>
              </a:srgbClr>
            </a:solidFill>
            <a:prstDash val="solid"/>
          </a:ln>
        </p:spPr>
        <p:txBody>
          <a:bodyPr/>
          <a:lstStyle/>
          <a:p>
            <a:endParaRPr lang="en-US">
              <a:latin typeface="Raleway" pitchFamily="2" charset="0"/>
            </a:endParaRPr>
          </a:p>
        </p:txBody>
      </p:sp>
      <p:sp>
        <p:nvSpPr>
          <p:cNvPr id="9" name="Shape 4"/>
          <p:cNvSpPr/>
          <p:nvPr/>
        </p:nvSpPr>
        <p:spPr>
          <a:xfrm>
            <a:off x="5029200" y="1238098"/>
            <a:ext cx="2115007" cy="1571854"/>
          </a:xfrm>
          <a:prstGeom prst="roundRect">
            <a:avLst>
              <a:gd name="adj" fmla="val 4828"/>
            </a:avLst>
          </a:prstGeom>
          <a:solidFill>
            <a:srgbClr val="FFFFFF"/>
          </a:solidFill>
          <a:ln w="12700">
            <a:solidFill>
              <a:srgbClr val="E5E8EE"/>
            </a:solidFill>
            <a:prstDash val="solid"/>
          </a:ln>
          <a:effectLst>
            <a:outerShdw blurRad="114300" dist="38100" dir="16200000" algn="bl" rotWithShape="0">
              <a:srgbClr val="000000">
                <a:alpha val="3000"/>
              </a:srgbClr>
            </a:outerShdw>
          </a:effectLst>
        </p:spPr>
        <p:txBody>
          <a:bodyPr/>
          <a:lstStyle/>
          <a:p>
            <a:endParaRPr lang="en-US">
              <a:latin typeface="Raleway" pitchFamily="2" charset="0"/>
            </a:endParaRPr>
          </a:p>
        </p:txBody>
      </p:sp>
      <p:sp>
        <p:nvSpPr>
          <p:cNvPr id="10" name="Shape 5"/>
          <p:cNvSpPr/>
          <p:nvPr/>
        </p:nvSpPr>
        <p:spPr>
          <a:xfrm>
            <a:off x="5029200" y="1238098"/>
            <a:ext cx="2115007" cy="38405"/>
          </a:xfrm>
          <a:prstGeom prst="roundRect">
            <a:avLst>
              <a:gd name="adj" fmla="val 197618"/>
            </a:avLst>
          </a:prstGeom>
          <a:solidFill>
            <a:srgbClr val="289C8F"/>
          </a:solidFill>
          <a:ln w="12700">
            <a:solidFill>
              <a:srgbClr val="289C8F">
                <a:alpha val="0"/>
              </a:srgbClr>
            </a:solidFill>
            <a:prstDash val="solid"/>
          </a:ln>
        </p:spPr>
        <p:txBody>
          <a:bodyPr/>
          <a:lstStyle/>
          <a:p>
            <a:endParaRPr lang="en-US">
              <a:latin typeface="Raleway" pitchFamily="2" charset="0"/>
            </a:endParaRPr>
          </a:p>
        </p:txBody>
      </p:sp>
      <p:sp>
        <p:nvSpPr>
          <p:cNvPr id="11" name="Shape 6"/>
          <p:cNvSpPr/>
          <p:nvPr/>
        </p:nvSpPr>
        <p:spPr>
          <a:xfrm>
            <a:off x="7276795" y="1238098"/>
            <a:ext cx="2115007" cy="1571854"/>
          </a:xfrm>
          <a:prstGeom prst="roundRect">
            <a:avLst>
              <a:gd name="adj" fmla="val 4828"/>
            </a:avLst>
          </a:prstGeom>
          <a:solidFill>
            <a:srgbClr val="FFFFFF"/>
          </a:solidFill>
          <a:ln w="12700">
            <a:solidFill>
              <a:srgbClr val="E5E8EE"/>
            </a:solidFill>
            <a:prstDash val="solid"/>
          </a:ln>
          <a:effectLst>
            <a:outerShdw blurRad="114300" dist="38100" dir="16200000" algn="bl" rotWithShape="0">
              <a:srgbClr val="000000">
                <a:alpha val="3000"/>
              </a:srgbClr>
            </a:outerShdw>
          </a:effectLst>
        </p:spPr>
        <p:txBody>
          <a:bodyPr/>
          <a:lstStyle/>
          <a:p>
            <a:endParaRPr lang="en-US">
              <a:latin typeface="Raleway" pitchFamily="2" charset="0"/>
            </a:endParaRPr>
          </a:p>
        </p:txBody>
      </p:sp>
      <p:sp>
        <p:nvSpPr>
          <p:cNvPr id="12" name="Shape 7"/>
          <p:cNvSpPr/>
          <p:nvPr/>
        </p:nvSpPr>
        <p:spPr>
          <a:xfrm>
            <a:off x="7276795" y="1238098"/>
            <a:ext cx="2115007" cy="38405"/>
          </a:xfrm>
          <a:prstGeom prst="roundRect">
            <a:avLst>
              <a:gd name="adj" fmla="val 197618"/>
            </a:avLst>
          </a:prstGeom>
          <a:solidFill>
            <a:srgbClr val="289C8F"/>
          </a:solidFill>
          <a:ln w="12700">
            <a:solidFill>
              <a:srgbClr val="289C8F">
                <a:alpha val="0"/>
              </a:srgbClr>
            </a:solidFill>
            <a:prstDash val="solid"/>
          </a:ln>
        </p:spPr>
        <p:txBody>
          <a:bodyPr/>
          <a:lstStyle/>
          <a:p>
            <a:endParaRPr lang="en-US">
              <a:latin typeface="Raleway" pitchFamily="2" charset="0"/>
            </a:endParaRPr>
          </a:p>
        </p:txBody>
      </p:sp>
      <p:sp>
        <p:nvSpPr>
          <p:cNvPr id="13" name="Shape 8"/>
          <p:cNvSpPr/>
          <p:nvPr/>
        </p:nvSpPr>
        <p:spPr>
          <a:xfrm>
            <a:off x="9525305" y="1238098"/>
            <a:ext cx="2115007" cy="1571854"/>
          </a:xfrm>
          <a:prstGeom prst="roundRect">
            <a:avLst>
              <a:gd name="adj" fmla="val 4828"/>
            </a:avLst>
          </a:prstGeom>
          <a:solidFill>
            <a:srgbClr val="FFFFFF"/>
          </a:solidFill>
          <a:ln w="12700">
            <a:solidFill>
              <a:srgbClr val="E5E8EE"/>
            </a:solidFill>
            <a:prstDash val="solid"/>
          </a:ln>
          <a:effectLst>
            <a:outerShdw blurRad="114300" dist="38100" dir="16200000" algn="bl" rotWithShape="0">
              <a:srgbClr val="000000">
                <a:alpha val="3000"/>
              </a:srgbClr>
            </a:outerShdw>
          </a:effectLst>
        </p:spPr>
        <p:txBody>
          <a:bodyPr/>
          <a:lstStyle/>
          <a:p>
            <a:endParaRPr lang="en-US">
              <a:latin typeface="Raleway" pitchFamily="2" charset="0"/>
            </a:endParaRPr>
          </a:p>
        </p:txBody>
      </p:sp>
      <p:sp>
        <p:nvSpPr>
          <p:cNvPr id="14" name="Shape 9"/>
          <p:cNvSpPr/>
          <p:nvPr/>
        </p:nvSpPr>
        <p:spPr>
          <a:xfrm>
            <a:off x="9525305" y="1238098"/>
            <a:ext cx="2115007" cy="38405"/>
          </a:xfrm>
          <a:prstGeom prst="roundRect">
            <a:avLst>
              <a:gd name="adj" fmla="val 197618"/>
            </a:avLst>
          </a:prstGeom>
          <a:solidFill>
            <a:srgbClr val="289C8F"/>
          </a:solidFill>
          <a:ln w="12700">
            <a:solidFill>
              <a:srgbClr val="289C8F">
                <a:alpha val="0"/>
              </a:srgbClr>
            </a:solidFill>
            <a:prstDash val="solid"/>
          </a:ln>
        </p:spPr>
        <p:txBody>
          <a:bodyPr/>
          <a:lstStyle/>
          <a:p>
            <a:endParaRPr lang="en-US">
              <a:latin typeface="Raleway" pitchFamily="2" charset="0"/>
            </a:endParaRPr>
          </a:p>
        </p:txBody>
      </p:sp>
      <p:sp>
        <p:nvSpPr>
          <p:cNvPr id="15" name="Shape 10"/>
          <p:cNvSpPr/>
          <p:nvPr/>
        </p:nvSpPr>
        <p:spPr>
          <a:xfrm>
            <a:off x="533095" y="2952598"/>
            <a:ext cx="2115007" cy="1571854"/>
          </a:xfrm>
          <a:prstGeom prst="roundRect">
            <a:avLst>
              <a:gd name="adj" fmla="val 4828"/>
            </a:avLst>
          </a:prstGeom>
          <a:solidFill>
            <a:srgbClr val="FFFFFF"/>
          </a:solidFill>
          <a:ln w="12700">
            <a:solidFill>
              <a:srgbClr val="E5E8EE"/>
            </a:solidFill>
            <a:prstDash val="solid"/>
          </a:ln>
          <a:effectLst>
            <a:outerShdw blurRad="114300" dist="38100" dir="16200000" algn="bl" rotWithShape="0">
              <a:srgbClr val="000000">
                <a:alpha val="3000"/>
              </a:srgbClr>
            </a:outerShdw>
          </a:effectLst>
        </p:spPr>
        <p:txBody>
          <a:bodyPr/>
          <a:lstStyle/>
          <a:p>
            <a:endParaRPr lang="en-US" sz="1100">
              <a:latin typeface="Raleway" pitchFamily="2" charset="0"/>
            </a:endParaRPr>
          </a:p>
        </p:txBody>
      </p:sp>
      <p:sp>
        <p:nvSpPr>
          <p:cNvPr id="16" name="Shape 11"/>
          <p:cNvSpPr/>
          <p:nvPr/>
        </p:nvSpPr>
        <p:spPr>
          <a:xfrm>
            <a:off x="533095" y="2952598"/>
            <a:ext cx="2115007" cy="38405"/>
          </a:xfrm>
          <a:prstGeom prst="roundRect">
            <a:avLst>
              <a:gd name="adj" fmla="val 197618"/>
            </a:avLst>
          </a:prstGeom>
          <a:solidFill>
            <a:srgbClr val="289C8F"/>
          </a:solidFill>
          <a:ln w="12700">
            <a:solidFill>
              <a:srgbClr val="289C8F">
                <a:alpha val="0"/>
              </a:srgbClr>
            </a:solidFill>
            <a:prstDash val="solid"/>
          </a:ln>
        </p:spPr>
        <p:txBody>
          <a:bodyPr/>
          <a:lstStyle/>
          <a:p>
            <a:endParaRPr lang="en-US" sz="1400">
              <a:latin typeface="Raleway" pitchFamily="2" charset="0"/>
            </a:endParaRPr>
          </a:p>
        </p:txBody>
      </p:sp>
      <p:sp>
        <p:nvSpPr>
          <p:cNvPr id="17" name="Shape 12"/>
          <p:cNvSpPr/>
          <p:nvPr/>
        </p:nvSpPr>
        <p:spPr>
          <a:xfrm>
            <a:off x="2781605" y="2952598"/>
            <a:ext cx="2115007" cy="1571854"/>
          </a:xfrm>
          <a:prstGeom prst="roundRect">
            <a:avLst>
              <a:gd name="adj" fmla="val 4828"/>
            </a:avLst>
          </a:prstGeom>
          <a:solidFill>
            <a:srgbClr val="FFFFFF"/>
          </a:solidFill>
          <a:ln w="12700">
            <a:solidFill>
              <a:srgbClr val="E5E8EE"/>
            </a:solidFill>
            <a:prstDash val="solid"/>
          </a:ln>
          <a:effectLst>
            <a:outerShdw blurRad="114300" dist="38100" dir="16200000" algn="bl" rotWithShape="0">
              <a:srgbClr val="000000">
                <a:alpha val="3000"/>
              </a:srgbClr>
            </a:outerShdw>
          </a:effectLst>
        </p:spPr>
        <p:txBody>
          <a:bodyPr/>
          <a:lstStyle/>
          <a:p>
            <a:endParaRPr lang="en-US" sz="1100">
              <a:latin typeface="Raleway" pitchFamily="2" charset="0"/>
            </a:endParaRPr>
          </a:p>
        </p:txBody>
      </p:sp>
      <p:sp>
        <p:nvSpPr>
          <p:cNvPr id="18" name="Shape 13"/>
          <p:cNvSpPr/>
          <p:nvPr/>
        </p:nvSpPr>
        <p:spPr>
          <a:xfrm>
            <a:off x="2781605" y="2952598"/>
            <a:ext cx="2115007" cy="38405"/>
          </a:xfrm>
          <a:prstGeom prst="roundRect">
            <a:avLst>
              <a:gd name="adj" fmla="val 197618"/>
            </a:avLst>
          </a:prstGeom>
          <a:solidFill>
            <a:srgbClr val="289C8F"/>
          </a:solidFill>
          <a:ln w="12700">
            <a:solidFill>
              <a:srgbClr val="289C8F">
                <a:alpha val="0"/>
              </a:srgbClr>
            </a:solidFill>
            <a:prstDash val="solid"/>
          </a:ln>
        </p:spPr>
        <p:txBody>
          <a:bodyPr/>
          <a:lstStyle/>
          <a:p>
            <a:endParaRPr lang="en-US" sz="1400">
              <a:latin typeface="Raleway" pitchFamily="2" charset="0"/>
            </a:endParaRPr>
          </a:p>
        </p:txBody>
      </p:sp>
      <p:sp>
        <p:nvSpPr>
          <p:cNvPr id="19" name="Shape 14"/>
          <p:cNvSpPr/>
          <p:nvPr/>
        </p:nvSpPr>
        <p:spPr>
          <a:xfrm>
            <a:off x="5029200" y="2952598"/>
            <a:ext cx="2115007" cy="1571854"/>
          </a:xfrm>
          <a:prstGeom prst="roundRect">
            <a:avLst>
              <a:gd name="adj" fmla="val 4828"/>
            </a:avLst>
          </a:prstGeom>
          <a:solidFill>
            <a:srgbClr val="FFFFFF"/>
          </a:solidFill>
          <a:ln w="12700">
            <a:solidFill>
              <a:srgbClr val="E5E8EE"/>
            </a:solidFill>
            <a:prstDash val="solid"/>
          </a:ln>
          <a:effectLst>
            <a:outerShdw blurRad="114300" dist="38100" dir="16200000" algn="bl" rotWithShape="0">
              <a:srgbClr val="000000">
                <a:alpha val="3000"/>
              </a:srgbClr>
            </a:outerShdw>
          </a:effectLst>
        </p:spPr>
        <p:txBody>
          <a:bodyPr/>
          <a:lstStyle/>
          <a:p>
            <a:endParaRPr lang="en-US" sz="1100">
              <a:latin typeface="Raleway" pitchFamily="2" charset="0"/>
            </a:endParaRPr>
          </a:p>
        </p:txBody>
      </p:sp>
      <p:sp>
        <p:nvSpPr>
          <p:cNvPr id="20" name="Shape 15"/>
          <p:cNvSpPr/>
          <p:nvPr/>
        </p:nvSpPr>
        <p:spPr>
          <a:xfrm>
            <a:off x="5029200" y="2952598"/>
            <a:ext cx="2115007" cy="38405"/>
          </a:xfrm>
          <a:prstGeom prst="roundRect">
            <a:avLst>
              <a:gd name="adj" fmla="val 197618"/>
            </a:avLst>
          </a:prstGeom>
          <a:solidFill>
            <a:srgbClr val="289C8F"/>
          </a:solidFill>
          <a:ln w="12700">
            <a:solidFill>
              <a:srgbClr val="289C8F">
                <a:alpha val="0"/>
              </a:srgbClr>
            </a:solidFill>
            <a:prstDash val="solid"/>
          </a:ln>
        </p:spPr>
        <p:txBody>
          <a:bodyPr/>
          <a:lstStyle/>
          <a:p>
            <a:endParaRPr lang="en-US" sz="1400">
              <a:latin typeface="Raleway" pitchFamily="2" charset="0"/>
            </a:endParaRPr>
          </a:p>
        </p:txBody>
      </p:sp>
      <p:sp>
        <p:nvSpPr>
          <p:cNvPr id="21" name="Shape 16"/>
          <p:cNvSpPr/>
          <p:nvPr/>
        </p:nvSpPr>
        <p:spPr>
          <a:xfrm>
            <a:off x="7276795" y="2952598"/>
            <a:ext cx="2115007" cy="1571854"/>
          </a:xfrm>
          <a:prstGeom prst="roundRect">
            <a:avLst>
              <a:gd name="adj" fmla="val 4828"/>
            </a:avLst>
          </a:prstGeom>
          <a:solidFill>
            <a:srgbClr val="FFFFFF"/>
          </a:solidFill>
          <a:ln w="12700">
            <a:solidFill>
              <a:srgbClr val="E5E8EE"/>
            </a:solidFill>
            <a:prstDash val="solid"/>
          </a:ln>
          <a:effectLst>
            <a:outerShdw blurRad="114300" dist="38100" dir="16200000" algn="bl" rotWithShape="0">
              <a:srgbClr val="000000">
                <a:alpha val="3000"/>
              </a:srgbClr>
            </a:outerShdw>
          </a:effectLst>
        </p:spPr>
        <p:txBody>
          <a:bodyPr/>
          <a:lstStyle/>
          <a:p>
            <a:endParaRPr lang="en-US" sz="1100">
              <a:latin typeface="Raleway" pitchFamily="2" charset="0"/>
            </a:endParaRPr>
          </a:p>
        </p:txBody>
      </p:sp>
      <p:sp>
        <p:nvSpPr>
          <p:cNvPr id="22" name="Shape 17"/>
          <p:cNvSpPr/>
          <p:nvPr/>
        </p:nvSpPr>
        <p:spPr>
          <a:xfrm>
            <a:off x="7276795" y="2952598"/>
            <a:ext cx="2115007" cy="38405"/>
          </a:xfrm>
          <a:prstGeom prst="roundRect">
            <a:avLst>
              <a:gd name="adj" fmla="val 197618"/>
            </a:avLst>
          </a:prstGeom>
          <a:solidFill>
            <a:srgbClr val="289C8F"/>
          </a:solidFill>
          <a:ln w="12700">
            <a:solidFill>
              <a:srgbClr val="289C8F">
                <a:alpha val="0"/>
              </a:srgbClr>
            </a:solidFill>
            <a:prstDash val="solid"/>
          </a:ln>
        </p:spPr>
        <p:txBody>
          <a:bodyPr/>
          <a:lstStyle/>
          <a:p>
            <a:endParaRPr lang="en-US" sz="1400">
              <a:latin typeface="Raleway" pitchFamily="2" charset="0"/>
            </a:endParaRPr>
          </a:p>
        </p:txBody>
      </p:sp>
      <p:sp>
        <p:nvSpPr>
          <p:cNvPr id="23" name="Shape 18"/>
          <p:cNvSpPr/>
          <p:nvPr/>
        </p:nvSpPr>
        <p:spPr>
          <a:xfrm>
            <a:off x="9525305" y="2952598"/>
            <a:ext cx="2115007" cy="1571854"/>
          </a:xfrm>
          <a:prstGeom prst="roundRect">
            <a:avLst>
              <a:gd name="adj" fmla="val 4828"/>
            </a:avLst>
          </a:prstGeom>
          <a:solidFill>
            <a:srgbClr val="FFFFFF"/>
          </a:solidFill>
          <a:ln w="12700">
            <a:solidFill>
              <a:srgbClr val="E5E8EE"/>
            </a:solidFill>
            <a:prstDash val="solid"/>
          </a:ln>
          <a:effectLst>
            <a:outerShdw blurRad="114300" dist="38100" dir="16200000" algn="bl" rotWithShape="0">
              <a:srgbClr val="000000">
                <a:alpha val="3000"/>
              </a:srgbClr>
            </a:outerShdw>
          </a:effectLst>
        </p:spPr>
        <p:txBody>
          <a:bodyPr/>
          <a:lstStyle/>
          <a:p>
            <a:endParaRPr lang="en-US">
              <a:latin typeface="Raleway" pitchFamily="2" charset="0"/>
            </a:endParaRPr>
          </a:p>
        </p:txBody>
      </p:sp>
      <p:sp>
        <p:nvSpPr>
          <p:cNvPr id="24" name="Shape 19"/>
          <p:cNvSpPr/>
          <p:nvPr/>
        </p:nvSpPr>
        <p:spPr>
          <a:xfrm>
            <a:off x="9525305" y="2952598"/>
            <a:ext cx="2115007" cy="38405"/>
          </a:xfrm>
          <a:prstGeom prst="roundRect">
            <a:avLst>
              <a:gd name="adj" fmla="val 197618"/>
            </a:avLst>
          </a:prstGeom>
          <a:solidFill>
            <a:srgbClr val="289C8F"/>
          </a:solidFill>
          <a:ln w="12700">
            <a:solidFill>
              <a:srgbClr val="289C8F">
                <a:alpha val="0"/>
              </a:srgbClr>
            </a:solidFill>
            <a:prstDash val="solid"/>
          </a:ln>
        </p:spPr>
        <p:txBody>
          <a:bodyPr/>
          <a:lstStyle/>
          <a:p>
            <a:endParaRPr lang="en-US" sz="1400">
              <a:latin typeface="Raleway" pitchFamily="2" charset="0"/>
            </a:endParaRPr>
          </a:p>
        </p:txBody>
      </p:sp>
      <p:sp>
        <p:nvSpPr>
          <p:cNvPr id="25" name="Shape 20"/>
          <p:cNvSpPr/>
          <p:nvPr/>
        </p:nvSpPr>
        <p:spPr>
          <a:xfrm>
            <a:off x="533095" y="4809744"/>
            <a:ext cx="11087100" cy="571500"/>
          </a:xfrm>
          <a:prstGeom prst="roundRect">
            <a:avLst>
              <a:gd name="adj" fmla="val 13280"/>
            </a:avLst>
          </a:prstGeom>
          <a:solidFill>
            <a:srgbClr val="E0F0EE"/>
          </a:solidFill>
          <a:ln w="12700">
            <a:solidFill>
              <a:srgbClr val="FFFFFF">
                <a:alpha val="0"/>
              </a:srgbClr>
            </a:solidFill>
            <a:prstDash val="solid"/>
          </a:ln>
        </p:spPr>
        <p:txBody>
          <a:bodyPr/>
          <a:lstStyle/>
          <a:p>
            <a:endParaRPr lang="en-US">
              <a:latin typeface="Raleway" pitchFamily="2" charset="0"/>
            </a:endParaRPr>
          </a:p>
        </p:txBody>
      </p:sp>
      <p:sp>
        <p:nvSpPr>
          <p:cNvPr id="26" name="Shape 21"/>
          <p:cNvSpPr/>
          <p:nvPr/>
        </p:nvSpPr>
        <p:spPr>
          <a:xfrm>
            <a:off x="533095" y="5572354"/>
            <a:ext cx="11144707" cy="857707"/>
          </a:xfrm>
          <a:prstGeom prst="roundRect">
            <a:avLst>
              <a:gd name="adj" fmla="val 8849"/>
            </a:avLst>
          </a:prstGeom>
          <a:solidFill>
            <a:srgbClr val="1F2A44"/>
          </a:solidFill>
          <a:ln/>
        </p:spPr>
        <p:txBody>
          <a:bodyPr/>
          <a:lstStyle/>
          <a:p>
            <a:endParaRPr lang="en-US">
              <a:latin typeface="Raleway" pitchFamily="2" charset="0"/>
            </a:endParaRPr>
          </a:p>
        </p:txBody>
      </p:sp>
      <p:sp>
        <p:nvSpPr>
          <p:cNvPr id="27" name="Shape 22"/>
          <p:cNvSpPr/>
          <p:nvPr/>
        </p:nvSpPr>
        <p:spPr>
          <a:xfrm>
            <a:off x="533095" y="5572354"/>
            <a:ext cx="57607" cy="857707"/>
          </a:xfrm>
          <a:prstGeom prst="roundRect">
            <a:avLst>
              <a:gd name="adj" fmla="val 131746"/>
            </a:avLst>
          </a:prstGeom>
          <a:solidFill>
            <a:srgbClr val="D8293A"/>
          </a:solidFill>
          <a:ln w="12700">
            <a:solidFill>
              <a:srgbClr val="D8293A">
                <a:alpha val="0"/>
              </a:srgbClr>
            </a:solidFill>
            <a:prstDash val="solid"/>
          </a:ln>
        </p:spPr>
        <p:txBody>
          <a:bodyPr/>
          <a:lstStyle/>
          <a:p>
            <a:endParaRPr lang="en-US">
              <a:latin typeface="Raleway" pitchFamily="2" charset="0"/>
            </a:endParaRPr>
          </a:p>
        </p:txBody>
      </p:sp>
      <p:sp>
        <p:nvSpPr>
          <p:cNvPr id="29" name="Text 24"/>
          <p:cNvSpPr txBox="1"/>
          <p:nvPr/>
        </p:nvSpPr>
        <p:spPr>
          <a:xfrm>
            <a:off x="685800" y="381305"/>
            <a:ext cx="9525305" cy="352958"/>
          </a:xfrm>
          <a:prstGeom prst="rect">
            <a:avLst/>
          </a:prstGeom>
          <a:noFill/>
          <a:ln/>
        </p:spPr>
        <p:txBody>
          <a:bodyPr wrap="none" lIns="0" tIns="0" rIns="0" bIns="0" rtlCol="0" anchor="ctr"/>
          <a:lstStyle/>
          <a:p>
            <a:pPr marL="0" indent="0" algn="l">
              <a:buNone/>
            </a:pPr>
            <a:r>
              <a:rPr lang="en-US" sz="2400" b="1" dirty="0">
                <a:solidFill>
                  <a:srgbClr val="1F2A44"/>
                </a:solidFill>
                <a:latin typeface="Oswald" panose="00000500000000000000" pitchFamily="2" charset="0"/>
                <a:ea typeface="Fraunces" pitchFamily="34" charset="-122"/>
                <a:cs typeface="Fraunces" pitchFamily="34" charset="-120"/>
              </a:rPr>
              <a:t>ENGAGEMENT &amp; RETENTION OPERATING MODEL</a:t>
            </a:r>
            <a:endParaRPr lang="en-US" sz="2400" dirty="0">
              <a:latin typeface="Oswald" panose="00000500000000000000" pitchFamily="2" charset="0"/>
            </a:endParaRPr>
          </a:p>
        </p:txBody>
      </p:sp>
      <p:sp>
        <p:nvSpPr>
          <p:cNvPr id="30" name="Text 25"/>
          <p:cNvSpPr txBox="1"/>
          <p:nvPr/>
        </p:nvSpPr>
        <p:spPr>
          <a:xfrm>
            <a:off x="685800" y="790956"/>
            <a:ext cx="9525305" cy="162763"/>
          </a:xfrm>
          <a:prstGeom prst="rect">
            <a:avLst/>
          </a:prstGeom>
          <a:noFill/>
          <a:ln/>
        </p:spPr>
        <p:txBody>
          <a:bodyPr wrap="none" lIns="0" tIns="0" rIns="0" bIns="0" rtlCol="0" anchor="ctr"/>
          <a:lstStyle/>
          <a:p>
            <a:pPr marL="0" indent="0" algn="l">
              <a:buNone/>
            </a:pPr>
            <a:r>
              <a:rPr lang="en-US" sz="1500" b="1" dirty="0">
                <a:solidFill>
                  <a:srgbClr val="2A9D8F"/>
                </a:solidFill>
                <a:latin typeface="Roboto Condensed" panose="02000000000000000000" pitchFamily="2" charset="0"/>
                <a:ea typeface="Roboto Condensed" panose="02000000000000000000" pitchFamily="2" charset="0"/>
                <a:cs typeface="Roboto Condensed" panose="02000000000000000000" pitchFamily="2" charset="0"/>
              </a:rPr>
              <a:t>Engagement approach to protect offer acceptance, joining, onboarding experience and early retention</a:t>
            </a:r>
          </a:p>
        </p:txBody>
      </p:sp>
      <p:pic>
        <p:nvPicPr>
          <p:cNvPr id="31" name="Image 3" descr="gen-dedup-5bb4209ef079b31493c29820114b75a3.png"/>
          <p:cNvPicPr>
            <a:picLocks noChangeAspect="1"/>
          </p:cNvPicPr>
          <p:nvPr/>
        </p:nvPicPr>
        <p:blipFill>
          <a:blip r:embed="rId6"/>
          <a:srcRect t="-33500" b="-33500"/>
          <a:stretch/>
        </p:blipFill>
        <p:spPr>
          <a:xfrm>
            <a:off x="685800" y="1404518"/>
            <a:ext cx="114300" cy="152705"/>
          </a:xfrm>
          <a:prstGeom prst="rect">
            <a:avLst/>
          </a:prstGeom>
        </p:spPr>
      </p:pic>
      <p:sp>
        <p:nvSpPr>
          <p:cNvPr id="32" name="Text 26"/>
          <p:cNvSpPr txBox="1"/>
          <p:nvPr/>
        </p:nvSpPr>
        <p:spPr>
          <a:xfrm>
            <a:off x="875995" y="1390802"/>
            <a:ext cx="975665" cy="181051"/>
          </a:xfrm>
          <a:prstGeom prst="rect">
            <a:avLst/>
          </a:prstGeom>
          <a:noFill/>
          <a:ln/>
        </p:spPr>
        <p:txBody>
          <a:bodyPr wrap="none" lIns="0" tIns="0" rIns="0" bIns="0" rtlCol="0" anchor="ctr"/>
          <a:lstStyle/>
          <a:p>
            <a:pPr marL="0" indent="0" algn="l">
              <a:buNone/>
            </a:pPr>
            <a:r>
              <a:rPr lang="en-US" sz="1400" b="1" dirty="0">
                <a:solidFill>
                  <a:srgbClr val="1F2A44"/>
                </a:solidFill>
                <a:latin typeface="Raleway" pitchFamily="2" charset="0"/>
                <a:ea typeface="Fraunces" pitchFamily="34" charset="-122"/>
                <a:cs typeface="Fraunces" pitchFamily="34" charset="-120"/>
              </a:rPr>
              <a:t>Pre-Joining</a:t>
            </a:r>
            <a:endParaRPr lang="en-US" sz="1400" dirty="0">
              <a:latin typeface="Raleway" pitchFamily="2" charset="0"/>
            </a:endParaRPr>
          </a:p>
        </p:txBody>
      </p:sp>
      <p:sp>
        <p:nvSpPr>
          <p:cNvPr id="33" name="Text 27"/>
          <p:cNvSpPr txBox="1"/>
          <p:nvPr/>
        </p:nvSpPr>
        <p:spPr>
          <a:xfrm>
            <a:off x="698805" y="1661465"/>
            <a:ext cx="1778305" cy="621792"/>
          </a:xfrm>
          <a:prstGeom prst="rect">
            <a:avLst/>
          </a:prstGeom>
          <a:noFill/>
          <a:ln/>
        </p:spPr>
        <p:txBody>
          <a:bodyPr wrap="square" lIns="0" tIns="0" rIns="0" bIns="0" rtlCol="0" anchor="t"/>
          <a:lstStyle/>
          <a:p>
            <a:pPr marL="139700" indent="-139700" algn="l">
              <a:lnSpc>
                <a:spcPts val="1560"/>
              </a:lnSpc>
              <a:buSzPct val="100000"/>
              <a:buChar char="•"/>
            </a:pPr>
            <a:r>
              <a:rPr lang="en-US" sz="1200" dirty="0">
                <a:solidFill>
                  <a:srgbClr val="2A3346"/>
                </a:solidFill>
                <a:latin typeface="Raleway" pitchFamily="2" charset="0"/>
                <a:ea typeface="Inter" pitchFamily="34" charset="-122"/>
                <a:cs typeface="Inter" pitchFamily="34" charset="-120"/>
              </a:rPr>
              <a:t>​Welcome call</a:t>
            </a:r>
            <a:endParaRPr lang="en-US" sz="1200" dirty="0">
              <a:latin typeface="Raleway" pitchFamily="2" charset="0"/>
            </a:endParaRPr>
          </a:p>
          <a:p>
            <a:pPr marL="139700" indent="-139700" algn="l">
              <a:lnSpc>
                <a:spcPts val="1560"/>
              </a:lnSpc>
              <a:buSzPct val="100000"/>
              <a:buChar char="•"/>
            </a:pPr>
            <a:r>
              <a:rPr lang="en-US" sz="1200" dirty="0">
                <a:solidFill>
                  <a:srgbClr val="2A3346"/>
                </a:solidFill>
                <a:latin typeface="Raleway" pitchFamily="2" charset="0"/>
                <a:ea typeface="Inter" pitchFamily="34" charset="-122"/>
                <a:cs typeface="Inter" pitchFamily="34" charset="-120"/>
              </a:rPr>
              <a:t>​Joiner group</a:t>
            </a:r>
            <a:endParaRPr lang="en-US" sz="1200" dirty="0">
              <a:latin typeface="Raleway" pitchFamily="2" charset="0"/>
            </a:endParaRPr>
          </a:p>
          <a:p>
            <a:pPr marL="139700" indent="-139700" algn="l">
              <a:lnSpc>
                <a:spcPts val="1560"/>
              </a:lnSpc>
              <a:buSzPct val="100000"/>
              <a:buChar char="•"/>
            </a:pPr>
            <a:r>
              <a:rPr lang="en-US" sz="1200" dirty="0">
                <a:solidFill>
                  <a:srgbClr val="2A3346"/>
                </a:solidFill>
                <a:latin typeface="Raleway" pitchFamily="2" charset="0"/>
                <a:ea typeface="Inter" pitchFamily="34" charset="-122"/>
                <a:cs typeface="Inter" pitchFamily="34" charset="-120"/>
              </a:rPr>
              <a:t>​DOJ reminders</a:t>
            </a:r>
            <a:endParaRPr lang="en-US" sz="1200" dirty="0">
              <a:latin typeface="Raleway" pitchFamily="2" charset="0"/>
            </a:endParaRPr>
          </a:p>
        </p:txBody>
      </p:sp>
      <p:pic>
        <p:nvPicPr>
          <p:cNvPr id="34" name="Image 4" descr="gen-dedup-e7d0b175ce68104e5146ab39d4667527.png"/>
          <p:cNvPicPr>
            <a:picLocks noChangeAspect="1"/>
          </p:cNvPicPr>
          <p:nvPr/>
        </p:nvPicPr>
        <p:blipFill>
          <a:blip r:embed="rId7"/>
          <a:srcRect t="-25150" b="-25150"/>
          <a:stretch/>
        </p:blipFill>
        <p:spPr>
          <a:xfrm>
            <a:off x="2933395" y="1404518"/>
            <a:ext cx="114300" cy="152705"/>
          </a:xfrm>
          <a:prstGeom prst="rect">
            <a:avLst/>
          </a:prstGeom>
        </p:spPr>
      </p:pic>
      <p:sp>
        <p:nvSpPr>
          <p:cNvPr id="35" name="Text 28"/>
          <p:cNvSpPr txBox="1"/>
          <p:nvPr/>
        </p:nvSpPr>
        <p:spPr>
          <a:xfrm>
            <a:off x="3124505" y="1390802"/>
            <a:ext cx="919886" cy="181051"/>
          </a:xfrm>
          <a:prstGeom prst="rect">
            <a:avLst/>
          </a:prstGeom>
          <a:noFill/>
          <a:ln/>
        </p:spPr>
        <p:txBody>
          <a:bodyPr wrap="none" lIns="0" tIns="0" rIns="0" bIns="0" rtlCol="0" anchor="ctr"/>
          <a:lstStyle/>
          <a:p>
            <a:pPr marL="0" indent="0" algn="l">
              <a:buNone/>
            </a:pPr>
            <a:r>
              <a:rPr lang="en-US" sz="1400" b="1" dirty="0">
                <a:solidFill>
                  <a:srgbClr val="1F2A44"/>
                </a:solidFill>
                <a:latin typeface="Raleway" pitchFamily="2" charset="0"/>
                <a:ea typeface="Fraunces" pitchFamily="34" charset="-122"/>
                <a:cs typeface="Fraunces" pitchFamily="34" charset="-120"/>
              </a:rPr>
              <a:t>Onboarding</a:t>
            </a:r>
            <a:endParaRPr lang="en-US" sz="1400" dirty="0">
              <a:latin typeface="Raleway" pitchFamily="2" charset="0"/>
            </a:endParaRPr>
          </a:p>
        </p:txBody>
      </p:sp>
      <p:sp>
        <p:nvSpPr>
          <p:cNvPr id="36" name="Text 29"/>
          <p:cNvSpPr txBox="1"/>
          <p:nvPr/>
        </p:nvSpPr>
        <p:spPr>
          <a:xfrm>
            <a:off x="2946400" y="1661465"/>
            <a:ext cx="1778305" cy="621792"/>
          </a:xfrm>
          <a:prstGeom prst="rect">
            <a:avLst/>
          </a:prstGeom>
          <a:noFill/>
          <a:ln/>
        </p:spPr>
        <p:txBody>
          <a:bodyPr wrap="square" lIns="0" tIns="0" rIns="0" bIns="0" rtlCol="0" anchor="t"/>
          <a:lstStyle/>
          <a:p>
            <a:pPr marL="139700" indent="-139700" algn="l">
              <a:lnSpc>
                <a:spcPts val="1560"/>
              </a:lnSpc>
              <a:buSzPct val="100000"/>
              <a:buChar char="•"/>
            </a:pPr>
            <a:r>
              <a:rPr lang="en-US" sz="1200" dirty="0">
                <a:solidFill>
                  <a:srgbClr val="2A3346"/>
                </a:solidFill>
                <a:latin typeface="Raleway" pitchFamily="2" charset="0"/>
                <a:ea typeface="Inter" pitchFamily="34" charset="-122"/>
                <a:cs typeface="Inter" pitchFamily="34" charset="-120"/>
              </a:rPr>
              <a:t>​Welcome desk</a:t>
            </a:r>
            <a:endParaRPr lang="en-US" sz="1200" dirty="0">
              <a:latin typeface="Raleway" pitchFamily="2" charset="0"/>
            </a:endParaRPr>
          </a:p>
          <a:p>
            <a:pPr marL="139700" indent="-139700" algn="l">
              <a:lnSpc>
                <a:spcPts val="1560"/>
              </a:lnSpc>
              <a:buSzPct val="100000"/>
              <a:buChar char="•"/>
            </a:pPr>
            <a:r>
              <a:rPr lang="en-US" sz="1200" dirty="0">
                <a:solidFill>
                  <a:srgbClr val="2A3346"/>
                </a:solidFill>
                <a:latin typeface="Raleway" pitchFamily="2" charset="0"/>
                <a:ea typeface="Inter" pitchFamily="34" charset="-122"/>
                <a:cs typeface="Inter" pitchFamily="34" charset="-120"/>
              </a:rPr>
              <a:t>​Buddy + SPOC</a:t>
            </a:r>
            <a:endParaRPr lang="en-US" sz="1200" dirty="0">
              <a:latin typeface="Raleway" pitchFamily="2" charset="0"/>
            </a:endParaRPr>
          </a:p>
          <a:p>
            <a:pPr marL="139700" indent="-139700" algn="l">
              <a:lnSpc>
                <a:spcPts val="1560"/>
              </a:lnSpc>
              <a:buSzPct val="100000"/>
              <a:buChar char="•"/>
            </a:pPr>
            <a:r>
              <a:rPr lang="en-US" sz="1200" dirty="0">
                <a:solidFill>
                  <a:srgbClr val="2A3346"/>
                </a:solidFill>
                <a:latin typeface="Raleway" pitchFamily="2" charset="0"/>
                <a:ea typeface="Inter" pitchFamily="34" charset="-122"/>
                <a:cs typeface="Inter" pitchFamily="34" charset="-120"/>
              </a:rPr>
              <a:t>​Day-1 feedback</a:t>
            </a:r>
            <a:endParaRPr lang="en-US" sz="1200" dirty="0">
              <a:latin typeface="Raleway" pitchFamily="2" charset="0"/>
            </a:endParaRPr>
          </a:p>
        </p:txBody>
      </p:sp>
      <p:pic>
        <p:nvPicPr>
          <p:cNvPr id="37" name="Image 5" descr="gen-dedup-d1099ec842727c9541224c4cdf2e219e.png"/>
          <p:cNvPicPr>
            <a:picLocks noChangeAspect="1"/>
          </p:cNvPicPr>
          <p:nvPr/>
        </p:nvPicPr>
        <p:blipFill>
          <a:blip r:embed="rId8"/>
          <a:srcRect t="-25150" b="-25150"/>
          <a:stretch/>
        </p:blipFill>
        <p:spPr>
          <a:xfrm>
            <a:off x="5181905" y="1404518"/>
            <a:ext cx="114300" cy="152705"/>
          </a:xfrm>
          <a:prstGeom prst="rect">
            <a:avLst/>
          </a:prstGeom>
        </p:spPr>
      </p:pic>
      <p:sp>
        <p:nvSpPr>
          <p:cNvPr id="38" name="Text 30"/>
          <p:cNvSpPr txBox="1"/>
          <p:nvPr/>
        </p:nvSpPr>
        <p:spPr>
          <a:xfrm>
            <a:off x="5372100" y="1390802"/>
            <a:ext cx="734263" cy="181051"/>
          </a:xfrm>
          <a:prstGeom prst="rect">
            <a:avLst/>
          </a:prstGeom>
          <a:noFill/>
          <a:ln/>
        </p:spPr>
        <p:txBody>
          <a:bodyPr wrap="none" lIns="0" tIns="0" rIns="0" bIns="0" rtlCol="0" anchor="ctr"/>
          <a:lstStyle/>
          <a:p>
            <a:pPr marL="0" indent="0" algn="l">
              <a:buNone/>
            </a:pPr>
            <a:r>
              <a:rPr lang="en-US" sz="1400" b="1" dirty="0">
                <a:solidFill>
                  <a:srgbClr val="1F2A44"/>
                </a:solidFill>
                <a:latin typeface="Raleway" pitchFamily="2" charset="0"/>
                <a:ea typeface="Fraunces" pitchFamily="34" charset="-122"/>
                <a:cs typeface="Fraunces" pitchFamily="34" charset="-120"/>
              </a:rPr>
              <a:t>Learning</a:t>
            </a:r>
            <a:endParaRPr lang="en-US" sz="1400" dirty="0">
              <a:latin typeface="Raleway" pitchFamily="2" charset="0"/>
            </a:endParaRPr>
          </a:p>
        </p:txBody>
      </p:sp>
      <p:sp>
        <p:nvSpPr>
          <p:cNvPr id="39" name="Text 31"/>
          <p:cNvSpPr txBox="1"/>
          <p:nvPr/>
        </p:nvSpPr>
        <p:spPr>
          <a:xfrm>
            <a:off x="5193995" y="1661465"/>
            <a:ext cx="1778305" cy="621792"/>
          </a:xfrm>
          <a:prstGeom prst="rect">
            <a:avLst/>
          </a:prstGeom>
          <a:noFill/>
          <a:ln/>
        </p:spPr>
        <p:txBody>
          <a:bodyPr wrap="square" lIns="0" tIns="0" rIns="0" bIns="0" rtlCol="0" anchor="t"/>
          <a:lstStyle/>
          <a:p>
            <a:pPr marL="139700" indent="-139700" algn="l">
              <a:lnSpc>
                <a:spcPts val="1560"/>
              </a:lnSpc>
              <a:buSzPct val="100000"/>
              <a:buChar char="•"/>
            </a:pPr>
            <a:r>
              <a:rPr lang="en-US" sz="1200" dirty="0">
                <a:solidFill>
                  <a:srgbClr val="2A3346"/>
                </a:solidFill>
                <a:latin typeface="Raleway" pitchFamily="2" charset="0"/>
                <a:ea typeface="Inter" pitchFamily="34" charset="-122"/>
                <a:cs typeface="Inter" pitchFamily="34" charset="-120"/>
              </a:rPr>
              <a:t>​Skill clinics</a:t>
            </a:r>
            <a:endParaRPr lang="en-US" sz="1200" dirty="0">
              <a:latin typeface="Raleway" pitchFamily="2" charset="0"/>
            </a:endParaRPr>
          </a:p>
          <a:p>
            <a:pPr marL="139700" indent="-139700" algn="l">
              <a:lnSpc>
                <a:spcPts val="1560"/>
              </a:lnSpc>
              <a:buSzPct val="100000"/>
              <a:buChar char="•"/>
            </a:pPr>
            <a:r>
              <a:rPr lang="en-US" sz="1200" dirty="0">
                <a:solidFill>
                  <a:srgbClr val="2A3346"/>
                </a:solidFill>
                <a:latin typeface="Raleway" pitchFamily="2" charset="0"/>
                <a:ea typeface="Inter" pitchFamily="34" charset="-122"/>
                <a:cs typeface="Inter" pitchFamily="34" charset="-120"/>
              </a:rPr>
              <a:t>​Career path sessions</a:t>
            </a:r>
            <a:endParaRPr lang="en-US" sz="1200" dirty="0">
              <a:latin typeface="Raleway" pitchFamily="2" charset="0"/>
            </a:endParaRPr>
          </a:p>
          <a:p>
            <a:pPr marL="139700" indent="-139700" algn="l">
              <a:lnSpc>
                <a:spcPts val="1560"/>
              </a:lnSpc>
              <a:buSzPct val="100000"/>
              <a:buChar char="•"/>
            </a:pPr>
            <a:r>
              <a:rPr lang="en-US" sz="1200" dirty="0">
                <a:solidFill>
                  <a:srgbClr val="2A3346"/>
                </a:solidFill>
                <a:latin typeface="Raleway" pitchFamily="2" charset="0"/>
                <a:ea typeface="Inter" pitchFamily="34" charset="-122"/>
                <a:cs typeface="Inter" pitchFamily="34" charset="-120"/>
              </a:rPr>
              <a:t>​Coaching calendar</a:t>
            </a:r>
            <a:endParaRPr lang="en-US" sz="1200" dirty="0">
              <a:latin typeface="Raleway" pitchFamily="2" charset="0"/>
            </a:endParaRPr>
          </a:p>
        </p:txBody>
      </p:sp>
      <p:pic>
        <p:nvPicPr>
          <p:cNvPr id="40" name="Image 6" descr="gen-dedup-2e00fa6be7fc495ef2a19099c3871a4d.png"/>
          <p:cNvPicPr>
            <a:picLocks noChangeAspect="1"/>
          </p:cNvPicPr>
          <p:nvPr/>
        </p:nvPicPr>
        <p:blipFill>
          <a:blip r:embed="rId9"/>
          <a:srcRect t="-33500" b="-33500"/>
          <a:stretch/>
        </p:blipFill>
        <p:spPr>
          <a:xfrm>
            <a:off x="7429500" y="1404518"/>
            <a:ext cx="114300" cy="152705"/>
          </a:xfrm>
          <a:prstGeom prst="rect">
            <a:avLst/>
          </a:prstGeom>
        </p:spPr>
      </p:pic>
      <p:sp>
        <p:nvSpPr>
          <p:cNvPr id="41" name="Text 32"/>
          <p:cNvSpPr txBox="1"/>
          <p:nvPr/>
        </p:nvSpPr>
        <p:spPr>
          <a:xfrm>
            <a:off x="7619695" y="1390802"/>
            <a:ext cx="1103681" cy="181051"/>
          </a:xfrm>
          <a:prstGeom prst="rect">
            <a:avLst/>
          </a:prstGeom>
          <a:noFill/>
          <a:ln/>
        </p:spPr>
        <p:txBody>
          <a:bodyPr wrap="none" lIns="0" tIns="0" rIns="0" bIns="0" rtlCol="0" anchor="ctr"/>
          <a:lstStyle/>
          <a:p>
            <a:pPr marL="0" indent="0" algn="l">
              <a:buNone/>
            </a:pPr>
            <a:r>
              <a:rPr lang="en-US" sz="1400" b="1" dirty="0">
                <a:solidFill>
                  <a:srgbClr val="1F2A44"/>
                </a:solidFill>
                <a:latin typeface="Raleway" pitchFamily="2" charset="0"/>
                <a:ea typeface="Fraunces" pitchFamily="34" charset="-122"/>
                <a:cs typeface="Fraunces" pitchFamily="34" charset="-120"/>
              </a:rPr>
              <a:t>Team Bonding</a:t>
            </a:r>
            <a:endParaRPr lang="en-US" sz="1400" dirty="0">
              <a:latin typeface="Raleway" pitchFamily="2" charset="0"/>
            </a:endParaRPr>
          </a:p>
        </p:txBody>
      </p:sp>
      <p:sp>
        <p:nvSpPr>
          <p:cNvPr id="42" name="Text 33"/>
          <p:cNvSpPr txBox="1"/>
          <p:nvPr/>
        </p:nvSpPr>
        <p:spPr>
          <a:xfrm>
            <a:off x="7442505" y="1661465"/>
            <a:ext cx="1778305" cy="621792"/>
          </a:xfrm>
          <a:prstGeom prst="rect">
            <a:avLst/>
          </a:prstGeom>
          <a:noFill/>
          <a:ln/>
        </p:spPr>
        <p:txBody>
          <a:bodyPr wrap="square" lIns="0" tIns="0" rIns="0" bIns="0" rtlCol="0" anchor="t"/>
          <a:lstStyle/>
          <a:p>
            <a:pPr marL="139700" indent="-139700" algn="l">
              <a:lnSpc>
                <a:spcPts val="1560"/>
              </a:lnSpc>
              <a:buSzPct val="100000"/>
              <a:buChar char="•"/>
            </a:pPr>
            <a:r>
              <a:rPr lang="en-US" sz="1200" dirty="0">
                <a:solidFill>
                  <a:srgbClr val="2A3346"/>
                </a:solidFill>
                <a:latin typeface="Raleway" pitchFamily="2" charset="0"/>
                <a:ea typeface="Inter" pitchFamily="34" charset="-122"/>
                <a:cs typeface="Inter" pitchFamily="34" charset="-120"/>
              </a:rPr>
              <a:t>​Team lunch/dinner</a:t>
            </a:r>
            <a:endParaRPr lang="en-US" sz="1200" dirty="0">
              <a:latin typeface="Raleway" pitchFamily="2" charset="0"/>
            </a:endParaRPr>
          </a:p>
          <a:p>
            <a:pPr marL="139700" indent="-139700" algn="l">
              <a:lnSpc>
                <a:spcPts val="1560"/>
              </a:lnSpc>
              <a:buSzPct val="100000"/>
              <a:buChar char="•"/>
            </a:pPr>
            <a:r>
              <a:rPr lang="en-US" sz="1200" dirty="0">
                <a:solidFill>
                  <a:srgbClr val="2A3346"/>
                </a:solidFill>
                <a:latin typeface="Raleway" pitchFamily="2" charset="0"/>
                <a:ea typeface="Inter" pitchFamily="34" charset="-122"/>
                <a:cs typeface="Inter" pitchFamily="34" charset="-120"/>
              </a:rPr>
              <a:t>​Fun Fridays</a:t>
            </a:r>
            <a:endParaRPr lang="en-US" sz="1200" dirty="0">
              <a:latin typeface="Raleway" pitchFamily="2" charset="0"/>
            </a:endParaRPr>
          </a:p>
          <a:p>
            <a:pPr marL="139700" indent="-139700" algn="l">
              <a:lnSpc>
                <a:spcPts val="1560"/>
              </a:lnSpc>
              <a:buSzPct val="100000"/>
              <a:buChar char="•"/>
            </a:pPr>
            <a:r>
              <a:rPr lang="en-US" sz="1200" dirty="0">
                <a:solidFill>
                  <a:srgbClr val="2A3346"/>
                </a:solidFill>
                <a:latin typeface="Raleway" pitchFamily="2" charset="0"/>
                <a:ea typeface="Inter" pitchFamily="34" charset="-122"/>
                <a:cs typeface="Inter" pitchFamily="34" charset="-120"/>
              </a:rPr>
              <a:t>​Festival celebrations</a:t>
            </a:r>
            <a:endParaRPr lang="en-US" sz="1200" dirty="0">
              <a:latin typeface="Raleway" pitchFamily="2" charset="0"/>
            </a:endParaRPr>
          </a:p>
        </p:txBody>
      </p:sp>
      <p:pic>
        <p:nvPicPr>
          <p:cNvPr id="43" name="Image 7" descr="gen-dedup-344a0b921b0cf3fcaaba6cc187c7af25.png"/>
          <p:cNvPicPr>
            <a:picLocks noChangeAspect="1"/>
          </p:cNvPicPr>
          <p:nvPr/>
        </p:nvPicPr>
        <p:blipFill>
          <a:blip r:embed="rId10"/>
          <a:srcRect t="-25150" b="-25150"/>
          <a:stretch/>
        </p:blipFill>
        <p:spPr>
          <a:xfrm>
            <a:off x="9677095" y="1404518"/>
            <a:ext cx="114300" cy="152705"/>
          </a:xfrm>
          <a:prstGeom prst="rect">
            <a:avLst/>
          </a:prstGeom>
        </p:spPr>
      </p:pic>
      <p:sp>
        <p:nvSpPr>
          <p:cNvPr id="44" name="Text 34"/>
          <p:cNvSpPr txBox="1"/>
          <p:nvPr/>
        </p:nvSpPr>
        <p:spPr>
          <a:xfrm>
            <a:off x="9868205" y="1390802"/>
            <a:ext cx="333756" cy="181051"/>
          </a:xfrm>
          <a:prstGeom prst="rect">
            <a:avLst/>
          </a:prstGeom>
          <a:noFill/>
          <a:ln/>
        </p:spPr>
        <p:txBody>
          <a:bodyPr wrap="none" lIns="0" tIns="0" rIns="0" bIns="0" rtlCol="0" anchor="ctr"/>
          <a:lstStyle/>
          <a:p>
            <a:pPr marL="0" indent="0" algn="l">
              <a:buNone/>
            </a:pPr>
            <a:r>
              <a:rPr lang="en-US" sz="1400" b="1" dirty="0">
                <a:solidFill>
                  <a:srgbClr val="1F2A44"/>
                </a:solidFill>
                <a:latin typeface="Raleway" pitchFamily="2" charset="0"/>
                <a:ea typeface="Fraunces" pitchFamily="34" charset="-122"/>
                <a:cs typeface="Fraunces" pitchFamily="34" charset="-120"/>
              </a:rPr>
              <a:t>R&amp;R</a:t>
            </a:r>
            <a:endParaRPr lang="en-US" sz="1400" dirty="0">
              <a:latin typeface="Raleway" pitchFamily="2" charset="0"/>
            </a:endParaRPr>
          </a:p>
        </p:txBody>
      </p:sp>
      <p:sp>
        <p:nvSpPr>
          <p:cNvPr id="45" name="Text 35"/>
          <p:cNvSpPr txBox="1"/>
          <p:nvPr/>
        </p:nvSpPr>
        <p:spPr>
          <a:xfrm>
            <a:off x="9690100" y="1661465"/>
            <a:ext cx="1778305" cy="621792"/>
          </a:xfrm>
          <a:prstGeom prst="rect">
            <a:avLst/>
          </a:prstGeom>
          <a:noFill/>
          <a:ln/>
        </p:spPr>
        <p:txBody>
          <a:bodyPr wrap="square" lIns="0" tIns="0" rIns="0" bIns="0" rtlCol="0" anchor="t"/>
          <a:lstStyle/>
          <a:p>
            <a:pPr marL="139700" indent="-139700" algn="l">
              <a:lnSpc>
                <a:spcPts val="1560"/>
              </a:lnSpc>
              <a:buSzPct val="100000"/>
              <a:buChar char="•"/>
            </a:pPr>
            <a:r>
              <a:rPr lang="en-US" sz="1200" dirty="0">
                <a:solidFill>
                  <a:srgbClr val="2A3346"/>
                </a:solidFill>
                <a:latin typeface="Raleway" pitchFamily="2" charset="0"/>
                <a:ea typeface="Inter" pitchFamily="34" charset="-122"/>
                <a:cs typeface="Inter" pitchFamily="34" charset="-120"/>
              </a:rPr>
              <a:t>​Quarterly champion</a:t>
            </a:r>
            <a:endParaRPr lang="en-US" sz="1200" dirty="0">
              <a:latin typeface="Raleway" pitchFamily="2" charset="0"/>
            </a:endParaRPr>
          </a:p>
          <a:p>
            <a:pPr marL="139700" indent="-139700" algn="l">
              <a:lnSpc>
                <a:spcPts val="1560"/>
              </a:lnSpc>
              <a:buSzPct val="100000"/>
              <a:buChar char="•"/>
            </a:pPr>
            <a:r>
              <a:rPr lang="en-US" sz="1200" dirty="0">
                <a:solidFill>
                  <a:srgbClr val="2A3346"/>
                </a:solidFill>
                <a:latin typeface="Raleway" pitchFamily="2" charset="0"/>
                <a:ea typeface="Inter" pitchFamily="34" charset="-122"/>
                <a:cs typeface="Inter" pitchFamily="34" charset="-120"/>
              </a:rPr>
              <a:t>​Spot awards</a:t>
            </a:r>
            <a:endParaRPr lang="en-US" sz="1200" dirty="0">
              <a:latin typeface="Raleway" pitchFamily="2" charset="0"/>
            </a:endParaRPr>
          </a:p>
          <a:p>
            <a:pPr marL="139700" indent="-139700" algn="l">
              <a:lnSpc>
                <a:spcPts val="1560"/>
              </a:lnSpc>
              <a:buSzPct val="100000"/>
              <a:buChar char="•"/>
            </a:pPr>
            <a:r>
              <a:rPr lang="en-US" sz="1200" dirty="0">
                <a:solidFill>
                  <a:srgbClr val="2A3346"/>
                </a:solidFill>
                <a:latin typeface="Raleway" pitchFamily="2" charset="0"/>
                <a:ea typeface="Inter" pitchFamily="34" charset="-122"/>
                <a:cs typeface="Inter" pitchFamily="34" charset="-120"/>
              </a:rPr>
              <a:t>​Milestone recognition</a:t>
            </a:r>
            <a:endParaRPr lang="en-US" sz="1200" dirty="0">
              <a:latin typeface="Raleway" pitchFamily="2" charset="0"/>
            </a:endParaRPr>
          </a:p>
        </p:txBody>
      </p:sp>
      <p:pic>
        <p:nvPicPr>
          <p:cNvPr id="46" name="Image 8" descr="gen-dedup-f5be6804941732cc10589279018d51ec.png"/>
          <p:cNvPicPr>
            <a:picLocks noChangeAspect="1"/>
          </p:cNvPicPr>
          <p:nvPr/>
        </p:nvPicPr>
        <p:blipFill>
          <a:blip r:embed="rId11"/>
          <a:srcRect t="-16800" b="-16800"/>
          <a:stretch/>
        </p:blipFill>
        <p:spPr>
          <a:xfrm>
            <a:off x="685800" y="3119018"/>
            <a:ext cx="114300" cy="152705"/>
          </a:xfrm>
          <a:prstGeom prst="rect">
            <a:avLst/>
          </a:prstGeom>
        </p:spPr>
      </p:pic>
      <p:sp>
        <p:nvSpPr>
          <p:cNvPr id="47" name="Text 36"/>
          <p:cNvSpPr txBox="1"/>
          <p:nvPr/>
        </p:nvSpPr>
        <p:spPr>
          <a:xfrm>
            <a:off x="875995" y="3105302"/>
            <a:ext cx="1621231" cy="181051"/>
          </a:xfrm>
          <a:prstGeom prst="rect">
            <a:avLst/>
          </a:prstGeom>
          <a:noFill/>
          <a:ln/>
        </p:spPr>
        <p:txBody>
          <a:bodyPr wrap="none" lIns="0" tIns="0" rIns="0" bIns="0" rtlCol="0" anchor="ctr"/>
          <a:lstStyle/>
          <a:p>
            <a:pPr marL="0" indent="0" algn="l">
              <a:buNone/>
            </a:pPr>
            <a:r>
              <a:rPr lang="en-US" sz="1400" b="1" dirty="0">
                <a:solidFill>
                  <a:srgbClr val="1F2A44"/>
                </a:solidFill>
                <a:latin typeface="Raleway" pitchFamily="2" charset="0"/>
                <a:ea typeface="Fraunces" pitchFamily="34" charset="-122"/>
                <a:cs typeface="Fraunces" pitchFamily="34" charset="-120"/>
              </a:rPr>
              <a:t>Employee Listening</a:t>
            </a:r>
            <a:endParaRPr lang="en-US" sz="1400" dirty="0">
              <a:latin typeface="Raleway" pitchFamily="2" charset="0"/>
            </a:endParaRPr>
          </a:p>
        </p:txBody>
      </p:sp>
      <p:sp>
        <p:nvSpPr>
          <p:cNvPr id="48" name="Text 37"/>
          <p:cNvSpPr txBox="1"/>
          <p:nvPr/>
        </p:nvSpPr>
        <p:spPr>
          <a:xfrm>
            <a:off x="698805" y="3375965"/>
            <a:ext cx="1778305" cy="621792"/>
          </a:xfrm>
          <a:prstGeom prst="rect">
            <a:avLst/>
          </a:prstGeom>
          <a:noFill/>
          <a:ln/>
        </p:spPr>
        <p:txBody>
          <a:bodyPr wrap="square" lIns="0" tIns="0" rIns="0" bIns="0" rtlCol="0" anchor="t"/>
          <a:lstStyle/>
          <a:p>
            <a:pPr marL="139700" indent="-139700" algn="l">
              <a:lnSpc>
                <a:spcPts val="1560"/>
              </a:lnSpc>
              <a:buSzPct val="100000"/>
              <a:buChar char="•"/>
            </a:pPr>
            <a:r>
              <a:rPr lang="en-US" sz="1200" dirty="0">
                <a:solidFill>
                  <a:srgbClr val="2A3346"/>
                </a:solidFill>
                <a:latin typeface="Raleway" pitchFamily="2" charset="0"/>
                <a:ea typeface="Inter" pitchFamily="34" charset="-122"/>
                <a:cs typeface="Inter" pitchFamily="34" charset="-120"/>
              </a:rPr>
              <a:t>​Pulse surveys</a:t>
            </a:r>
            <a:endParaRPr lang="en-US" sz="1200" dirty="0">
              <a:latin typeface="Raleway" pitchFamily="2" charset="0"/>
            </a:endParaRPr>
          </a:p>
          <a:p>
            <a:pPr marL="139700" indent="-139700" algn="l">
              <a:lnSpc>
                <a:spcPts val="1560"/>
              </a:lnSpc>
              <a:buSzPct val="100000"/>
              <a:buChar char="•"/>
            </a:pPr>
            <a:r>
              <a:rPr lang="en-US" sz="1200" dirty="0">
                <a:solidFill>
                  <a:srgbClr val="2A3346"/>
                </a:solidFill>
                <a:latin typeface="Raleway" pitchFamily="2" charset="0"/>
                <a:ea typeface="Inter" pitchFamily="34" charset="-122"/>
                <a:cs typeface="Inter" pitchFamily="34" charset="-120"/>
              </a:rPr>
              <a:t>​Open house</a:t>
            </a:r>
            <a:endParaRPr lang="en-US" sz="1200" dirty="0">
              <a:latin typeface="Raleway" pitchFamily="2" charset="0"/>
            </a:endParaRPr>
          </a:p>
          <a:p>
            <a:pPr marL="139700" indent="-139700" algn="l">
              <a:lnSpc>
                <a:spcPts val="1560"/>
              </a:lnSpc>
              <a:buSzPct val="100000"/>
              <a:buChar char="•"/>
            </a:pPr>
            <a:r>
              <a:rPr lang="en-US" sz="1200" dirty="0">
                <a:solidFill>
                  <a:srgbClr val="2A3346"/>
                </a:solidFill>
                <a:latin typeface="Raleway" pitchFamily="2" charset="0"/>
                <a:ea typeface="Inter" pitchFamily="34" charset="-122"/>
                <a:cs typeface="Inter" pitchFamily="34" charset="-120"/>
              </a:rPr>
              <a:t>​Issue tracker</a:t>
            </a:r>
            <a:endParaRPr lang="en-US" sz="1200" dirty="0">
              <a:latin typeface="Raleway" pitchFamily="2" charset="0"/>
            </a:endParaRPr>
          </a:p>
        </p:txBody>
      </p:sp>
      <p:pic>
        <p:nvPicPr>
          <p:cNvPr id="49" name="Image 9" descr="gen-dedup-91ec5b27424a7edc15e84d24cbb8f0d8.png"/>
          <p:cNvPicPr>
            <a:picLocks noChangeAspect="1"/>
          </p:cNvPicPr>
          <p:nvPr/>
        </p:nvPicPr>
        <p:blipFill>
          <a:blip r:embed="rId12"/>
          <a:srcRect t="-16800" b="-16800"/>
          <a:stretch/>
        </p:blipFill>
        <p:spPr>
          <a:xfrm>
            <a:off x="2933395" y="3119018"/>
            <a:ext cx="114300" cy="152705"/>
          </a:xfrm>
          <a:prstGeom prst="rect">
            <a:avLst/>
          </a:prstGeom>
        </p:spPr>
      </p:pic>
      <p:sp>
        <p:nvSpPr>
          <p:cNvPr id="50" name="Text 38"/>
          <p:cNvSpPr txBox="1"/>
          <p:nvPr/>
        </p:nvSpPr>
        <p:spPr>
          <a:xfrm>
            <a:off x="3124505" y="3105302"/>
            <a:ext cx="1463040" cy="181051"/>
          </a:xfrm>
          <a:prstGeom prst="rect">
            <a:avLst/>
          </a:prstGeom>
          <a:noFill/>
          <a:ln/>
        </p:spPr>
        <p:txBody>
          <a:bodyPr wrap="none" lIns="0" tIns="0" rIns="0" bIns="0" rtlCol="0" anchor="ctr"/>
          <a:lstStyle/>
          <a:p>
            <a:pPr marL="0" indent="0" algn="l">
              <a:buNone/>
            </a:pPr>
            <a:r>
              <a:rPr lang="en-US" sz="1400" b="1" dirty="0">
                <a:solidFill>
                  <a:srgbClr val="1F2A44"/>
                </a:solidFill>
                <a:latin typeface="Raleway" pitchFamily="2" charset="0"/>
                <a:ea typeface="Fraunces" pitchFamily="34" charset="-122"/>
                <a:cs typeface="Fraunces" pitchFamily="34" charset="-120"/>
              </a:rPr>
              <a:t>Wellness &amp; Safety</a:t>
            </a:r>
            <a:endParaRPr lang="en-US" sz="1400" dirty="0">
              <a:latin typeface="Raleway" pitchFamily="2" charset="0"/>
            </a:endParaRPr>
          </a:p>
        </p:txBody>
      </p:sp>
      <p:sp>
        <p:nvSpPr>
          <p:cNvPr id="51" name="Text 39"/>
          <p:cNvSpPr txBox="1"/>
          <p:nvPr/>
        </p:nvSpPr>
        <p:spPr>
          <a:xfrm>
            <a:off x="2946400" y="3375965"/>
            <a:ext cx="1778305" cy="621792"/>
          </a:xfrm>
          <a:prstGeom prst="rect">
            <a:avLst/>
          </a:prstGeom>
          <a:noFill/>
          <a:ln/>
        </p:spPr>
        <p:txBody>
          <a:bodyPr wrap="square" lIns="0" tIns="0" rIns="0" bIns="0" rtlCol="0" anchor="t"/>
          <a:lstStyle/>
          <a:p>
            <a:pPr marL="139700" indent="-139700" algn="l">
              <a:lnSpc>
                <a:spcPts val="1560"/>
              </a:lnSpc>
              <a:buSzPct val="100000"/>
              <a:buChar char="•"/>
            </a:pPr>
            <a:r>
              <a:rPr lang="en-US" sz="1200" dirty="0">
                <a:solidFill>
                  <a:srgbClr val="2A3346"/>
                </a:solidFill>
                <a:latin typeface="Raleway" pitchFamily="2" charset="0"/>
                <a:ea typeface="Inter" pitchFamily="34" charset="-122"/>
                <a:cs typeface="Inter" pitchFamily="34" charset="-120"/>
              </a:rPr>
              <a:t>​Stress sessions</a:t>
            </a:r>
            <a:endParaRPr lang="en-US" sz="1200" dirty="0">
              <a:latin typeface="Raleway" pitchFamily="2" charset="0"/>
            </a:endParaRPr>
          </a:p>
          <a:p>
            <a:pPr marL="139700" indent="-139700" algn="l">
              <a:lnSpc>
                <a:spcPts val="1560"/>
              </a:lnSpc>
              <a:buSzPct val="100000"/>
              <a:buChar char="•"/>
            </a:pPr>
            <a:r>
              <a:rPr lang="en-US" sz="1200" dirty="0">
                <a:solidFill>
                  <a:srgbClr val="2A3346"/>
                </a:solidFill>
                <a:latin typeface="Raleway" pitchFamily="2" charset="0"/>
                <a:ea typeface="Inter" pitchFamily="34" charset="-122"/>
                <a:cs typeface="Inter" pitchFamily="34" charset="-120"/>
              </a:rPr>
              <a:t>​Shift fatigue check</a:t>
            </a:r>
            <a:endParaRPr lang="en-US" sz="1200" dirty="0">
              <a:latin typeface="Raleway" pitchFamily="2" charset="0"/>
            </a:endParaRPr>
          </a:p>
          <a:p>
            <a:pPr marL="139700" indent="-139700" algn="l">
              <a:lnSpc>
                <a:spcPts val="1560"/>
              </a:lnSpc>
              <a:buSzPct val="100000"/>
              <a:buChar char="•"/>
            </a:pPr>
            <a:r>
              <a:rPr lang="en-US" sz="1200" dirty="0">
                <a:solidFill>
                  <a:srgbClr val="2A3346"/>
                </a:solidFill>
                <a:latin typeface="Raleway" pitchFamily="2" charset="0"/>
                <a:ea typeface="Inter" pitchFamily="34" charset="-122"/>
                <a:cs typeface="Inter" pitchFamily="34" charset="-120"/>
              </a:rPr>
              <a:t>​Late-shift support</a:t>
            </a:r>
            <a:endParaRPr lang="en-US" sz="1200" dirty="0">
              <a:latin typeface="Raleway" pitchFamily="2" charset="0"/>
            </a:endParaRPr>
          </a:p>
        </p:txBody>
      </p:sp>
      <p:pic>
        <p:nvPicPr>
          <p:cNvPr id="52" name="Image 10" descr="gen-dedup-1a6be58cec0ff7a0794675d7f083f4f9.png"/>
          <p:cNvPicPr>
            <a:picLocks noChangeAspect="1"/>
          </p:cNvPicPr>
          <p:nvPr/>
        </p:nvPicPr>
        <p:blipFill>
          <a:blip r:embed="rId13"/>
          <a:srcRect t="-33500" b="-33500"/>
          <a:stretch/>
        </p:blipFill>
        <p:spPr>
          <a:xfrm>
            <a:off x="5181905" y="3119018"/>
            <a:ext cx="114300" cy="152705"/>
          </a:xfrm>
          <a:prstGeom prst="rect">
            <a:avLst/>
          </a:prstGeom>
        </p:spPr>
      </p:pic>
      <p:sp>
        <p:nvSpPr>
          <p:cNvPr id="53" name="Text 40"/>
          <p:cNvSpPr txBox="1"/>
          <p:nvPr/>
        </p:nvSpPr>
        <p:spPr>
          <a:xfrm>
            <a:off x="5372100" y="3105302"/>
            <a:ext cx="1378001" cy="181051"/>
          </a:xfrm>
          <a:prstGeom prst="rect">
            <a:avLst/>
          </a:prstGeom>
          <a:noFill/>
          <a:ln/>
        </p:spPr>
        <p:txBody>
          <a:bodyPr wrap="none" lIns="0" tIns="0" rIns="0" bIns="0" rtlCol="0" anchor="ctr"/>
          <a:lstStyle/>
          <a:p>
            <a:pPr marL="0" indent="0" algn="l">
              <a:buNone/>
            </a:pPr>
            <a:r>
              <a:rPr lang="en-US" sz="1400" b="1" dirty="0">
                <a:solidFill>
                  <a:srgbClr val="1F2A44"/>
                </a:solidFill>
                <a:latin typeface="Raleway" pitchFamily="2" charset="0"/>
                <a:ea typeface="Fraunces" pitchFamily="34" charset="-122"/>
                <a:cs typeface="Fraunces" pitchFamily="34" charset="-120"/>
              </a:rPr>
              <a:t>Manager Connect</a:t>
            </a:r>
            <a:endParaRPr lang="en-US" sz="1400" dirty="0">
              <a:latin typeface="Raleway" pitchFamily="2" charset="0"/>
            </a:endParaRPr>
          </a:p>
        </p:txBody>
      </p:sp>
      <p:sp>
        <p:nvSpPr>
          <p:cNvPr id="54" name="Text 41"/>
          <p:cNvSpPr txBox="1"/>
          <p:nvPr/>
        </p:nvSpPr>
        <p:spPr>
          <a:xfrm>
            <a:off x="5193995" y="3375965"/>
            <a:ext cx="1778305" cy="621792"/>
          </a:xfrm>
          <a:prstGeom prst="rect">
            <a:avLst/>
          </a:prstGeom>
          <a:noFill/>
          <a:ln/>
        </p:spPr>
        <p:txBody>
          <a:bodyPr wrap="square" lIns="0" tIns="0" rIns="0" bIns="0" rtlCol="0" anchor="t"/>
          <a:lstStyle/>
          <a:p>
            <a:pPr marL="139700" indent="-139700" algn="l">
              <a:lnSpc>
                <a:spcPts val="1560"/>
              </a:lnSpc>
              <a:buSzPct val="100000"/>
              <a:buChar char="•"/>
            </a:pPr>
            <a:r>
              <a:rPr lang="en-US" sz="1200" dirty="0">
                <a:solidFill>
                  <a:srgbClr val="2A3346"/>
                </a:solidFill>
                <a:latin typeface="Raleway" pitchFamily="2" charset="0"/>
                <a:ea typeface="Inter" pitchFamily="34" charset="-122"/>
                <a:cs typeface="Inter" pitchFamily="34" charset="-120"/>
              </a:rPr>
              <a:t>​Huddles</a:t>
            </a:r>
            <a:endParaRPr lang="en-US" sz="1200" dirty="0">
              <a:latin typeface="Raleway" pitchFamily="2" charset="0"/>
            </a:endParaRPr>
          </a:p>
          <a:p>
            <a:pPr marL="139700" indent="-139700" algn="l">
              <a:lnSpc>
                <a:spcPts val="1560"/>
              </a:lnSpc>
              <a:buSzPct val="100000"/>
              <a:buChar char="•"/>
            </a:pPr>
            <a:r>
              <a:rPr lang="en-US" sz="1200" dirty="0">
                <a:solidFill>
                  <a:srgbClr val="2A3346"/>
                </a:solidFill>
                <a:latin typeface="Raleway" pitchFamily="2" charset="0"/>
                <a:ea typeface="Inter" pitchFamily="34" charset="-122"/>
                <a:cs typeface="Inter" pitchFamily="34" charset="-120"/>
              </a:rPr>
              <a:t>​Roundtables</a:t>
            </a:r>
            <a:endParaRPr lang="en-US" sz="1200" dirty="0">
              <a:latin typeface="Raleway" pitchFamily="2" charset="0"/>
            </a:endParaRPr>
          </a:p>
          <a:p>
            <a:pPr marL="139700" indent="-139700" algn="l">
              <a:lnSpc>
                <a:spcPts val="1560"/>
              </a:lnSpc>
              <a:buSzPct val="100000"/>
              <a:buChar char="•"/>
            </a:pPr>
            <a:r>
              <a:rPr lang="en-US" sz="1200" dirty="0">
                <a:solidFill>
                  <a:srgbClr val="2A3346"/>
                </a:solidFill>
                <a:latin typeface="Raleway" pitchFamily="2" charset="0"/>
                <a:ea typeface="Inter" pitchFamily="34" charset="-122"/>
                <a:cs typeface="Inter" pitchFamily="34" charset="-120"/>
              </a:rPr>
              <a:t>​Skip-level connects</a:t>
            </a:r>
            <a:endParaRPr lang="en-US" sz="1200" dirty="0">
              <a:latin typeface="Raleway" pitchFamily="2" charset="0"/>
            </a:endParaRPr>
          </a:p>
        </p:txBody>
      </p:sp>
      <p:pic>
        <p:nvPicPr>
          <p:cNvPr id="55" name="Image 11" descr="gen-dedup-1ac8d13bd771379683ed8b759ced54e3.png"/>
          <p:cNvPicPr>
            <a:picLocks noChangeAspect="1"/>
          </p:cNvPicPr>
          <p:nvPr/>
        </p:nvPicPr>
        <p:blipFill>
          <a:blip r:embed="rId14"/>
          <a:srcRect t="-16800" b="-16800"/>
          <a:stretch/>
        </p:blipFill>
        <p:spPr>
          <a:xfrm>
            <a:off x="7429500" y="3119018"/>
            <a:ext cx="114300" cy="152705"/>
          </a:xfrm>
          <a:prstGeom prst="rect">
            <a:avLst/>
          </a:prstGeom>
        </p:spPr>
      </p:pic>
      <p:sp>
        <p:nvSpPr>
          <p:cNvPr id="56" name="Text 42"/>
          <p:cNvSpPr txBox="1"/>
          <p:nvPr/>
        </p:nvSpPr>
        <p:spPr>
          <a:xfrm>
            <a:off x="7619695" y="3105302"/>
            <a:ext cx="1194206" cy="181051"/>
          </a:xfrm>
          <a:prstGeom prst="rect">
            <a:avLst/>
          </a:prstGeom>
          <a:noFill/>
          <a:ln/>
        </p:spPr>
        <p:txBody>
          <a:bodyPr wrap="none" lIns="0" tIns="0" rIns="0" bIns="0" rtlCol="0" anchor="ctr"/>
          <a:lstStyle/>
          <a:p>
            <a:pPr marL="0" indent="0" algn="l">
              <a:buNone/>
            </a:pPr>
            <a:r>
              <a:rPr lang="en-US" sz="1400" b="1" dirty="0">
                <a:solidFill>
                  <a:srgbClr val="1F2A44"/>
                </a:solidFill>
                <a:latin typeface="Raleway" pitchFamily="2" charset="0"/>
                <a:ea typeface="Fraunces" pitchFamily="34" charset="-122"/>
                <a:cs typeface="Fraunces" pitchFamily="34" charset="-120"/>
              </a:rPr>
              <a:t>Retention EWS</a:t>
            </a:r>
            <a:endParaRPr lang="en-US" sz="1400" dirty="0">
              <a:latin typeface="Raleway" pitchFamily="2" charset="0"/>
            </a:endParaRPr>
          </a:p>
        </p:txBody>
      </p:sp>
      <p:sp>
        <p:nvSpPr>
          <p:cNvPr id="57" name="Text 43"/>
          <p:cNvSpPr txBox="1"/>
          <p:nvPr/>
        </p:nvSpPr>
        <p:spPr>
          <a:xfrm>
            <a:off x="7442505" y="3375965"/>
            <a:ext cx="1778305" cy="621792"/>
          </a:xfrm>
          <a:prstGeom prst="rect">
            <a:avLst/>
          </a:prstGeom>
          <a:noFill/>
          <a:ln/>
        </p:spPr>
        <p:txBody>
          <a:bodyPr wrap="square" lIns="0" tIns="0" rIns="0" bIns="0" rtlCol="0" anchor="t"/>
          <a:lstStyle/>
          <a:p>
            <a:pPr marL="139700" indent="-139700" algn="l">
              <a:lnSpc>
                <a:spcPts val="1560"/>
              </a:lnSpc>
              <a:buSzPct val="100000"/>
              <a:buChar char="•"/>
            </a:pPr>
            <a:r>
              <a:rPr lang="en-US" sz="1200" dirty="0">
                <a:solidFill>
                  <a:srgbClr val="2A3346"/>
                </a:solidFill>
                <a:latin typeface="Raleway" pitchFamily="2" charset="0"/>
                <a:ea typeface="Inter" pitchFamily="34" charset="-122"/>
                <a:cs typeface="Inter" pitchFamily="34" charset="-120"/>
              </a:rPr>
              <a:t>​Risk tagging</a:t>
            </a:r>
            <a:endParaRPr lang="en-US" sz="1200" dirty="0">
              <a:latin typeface="Raleway" pitchFamily="2" charset="0"/>
            </a:endParaRPr>
          </a:p>
          <a:p>
            <a:pPr marL="139700" indent="-139700" algn="l">
              <a:lnSpc>
                <a:spcPts val="1560"/>
              </a:lnSpc>
              <a:buSzPct val="100000"/>
              <a:buChar char="•"/>
            </a:pPr>
            <a:r>
              <a:rPr lang="en-US" sz="1200" dirty="0">
                <a:solidFill>
                  <a:srgbClr val="2A3346"/>
                </a:solidFill>
                <a:latin typeface="Raleway" pitchFamily="2" charset="0"/>
                <a:ea typeface="Inter" pitchFamily="34" charset="-122"/>
                <a:cs typeface="Inter" pitchFamily="34" charset="-120"/>
              </a:rPr>
              <a:t>​1:1 counselling</a:t>
            </a:r>
            <a:endParaRPr lang="en-US" sz="1200" dirty="0">
              <a:latin typeface="Raleway" pitchFamily="2" charset="0"/>
            </a:endParaRPr>
          </a:p>
          <a:p>
            <a:pPr marL="139700" indent="-139700" algn="l">
              <a:lnSpc>
                <a:spcPts val="1560"/>
              </a:lnSpc>
              <a:buSzPct val="100000"/>
              <a:buChar char="•"/>
            </a:pPr>
            <a:r>
              <a:rPr lang="en-US" sz="1200" dirty="0">
                <a:solidFill>
                  <a:srgbClr val="2A3346"/>
                </a:solidFill>
                <a:latin typeface="Raleway" pitchFamily="2" charset="0"/>
                <a:ea typeface="Inter" pitchFamily="34" charset="-122"/>
                <a:cs typeface="Inter" pitchFamily="34" charset="-120"/>
              </a:rPr>
              <a:t>​Backfill tracker</a:t>
            </a:r>
            <a:endParaRPr lang="en-US" sz="1200" dirty="0">
              <a:latin typeface="Raleway" pitchFamily="2" charset="0"/>
            </a:endParaRPr>
          </a:p>
        </p:txBody>
      </p:sp>
      <p:pic>
        <p:nvPicPr>
          <p:cNvPr id="58" name="Image 12" descr="gen-dedup-ef3e2c640eeaaaf90a6fff1b95179db4.png"/>
          <p:cNvPicPr>
            <a:picLocks noChangeAspect="1"/>
          </p:cNvPicPr>
          <p:nvPr/>
        </p:nvPicPr>
        <p:blipFill>
          <a:blip r:embed="rId15"/>
          <a:srcRect t="-25150" b="-25150"/>
          <a:stretch/>
        </p:blipFill>
        <p:spPr>
          <a:xfrm>
            <a:off x="9677095" y="3119018"/>
            <a:ext cx="114300" cy="152705"/>
          </a:xfrm>
          <a:prstGeom prst="rect">
            <a:avLst/>
          </a:prstGeom>
        </p:spPr>
      </p:pic>
      <p:sp>
        <p:nvSpPr>
          <p:cNvPr id="59" name="Text 44"/>
          <p:cNvSpPr txBox="1"/>
          <p:nvPr/>
        </p:nvSpPr>
        <p:spPr>
          <a:xfrm>
            <a:off x="9868205" y="3105302"/>
            <a:ext cx="1270102" cy="181051"/>
          </a:xfrm>
          <a:prstGeom prst="rect">
            <a:avLst/>
          </a:prstGeom>
          <a:noFill/>
          <a:ln/>
        </p:spPr>
        <p:txBody>
          <a:bodyPr wrap="none" lIns="0" tIns="0" rIns="0" bIns="0" rtlCol="0" anchor="ctr"/>
          <a:lstStyle/>
          <a:p>
            <a:pPr marL="0" indent="0" algn="l">
              <a:buNone/>
            </a:pPr>
            <a:r>
              <a:rPr lang="en-US" sz="1400" b="1" dirty="0">
                <a:solidFill>
                  <a:srgbClr val="1F2A44"/>
                </a:solidFill>
                <a:latin typeface="Raleway" pitchFamily="2" charset="0"/>
                <a:ea typeface="Fraunces" pitchFamily="34" charset="-122"/>
                <a:cs typeface="Fraunces" pitchFamily="34" charset="-120"/>
              </a:rPr>
              <a:t>Client Visibility</a:t>
            </a:r>
            <a:endParaRPr lang="en-US" sz="1400" dirty="0">
              <a:latin typeface="Raleway" pitchFamily="2" charset="0"/>
            </a:endParaRPr>
          </a:p>
        </p:txBody>
      </p:sp>
      <p:sp>
        <p:nvSpPr>
          <p:cNvPr id="60" name="Text 45"/>
          <p:cNvSpPr txBox="1"/>
          <p:nvPr/>
        </p:nvSpPr>
        <p:spPr>
          <a:xfrm>
            <a:off x="9690100" y="3375965"/>
            <a:ext cx="1778305" cy="621792"/>
          </a:xfrm>
          <a:prstGeom prst="rect">
            <a:avLst/>
          </a:prstGeom>
          <a:noFill/>
          <a:ln/>
        </p:spPr>
        <p:txBody>
          <a:bodyPr wrap="square" lIns="0" tIns="0" rIns="0" bIns="0" rtlCol="0" anchor="t"/>
          <a:lstStyle/>
          <a:p>
            <a:pPr marL="139700" indent="-139700" algn="l">
              <a:lnSpc>
                <a:spcPts val="1560"/>
              </a:lnSpc>
              <a:buSzPct val="100000"/>
              <a:buChar char="•"/>
            </a:pPr>
            <a:r>
              <a:rPr lang="en-US" sz="1200" dirty="0">
                <a:solidFill>
                  <a:srgbClr val="2A3346"/>
                </a:solidFill>
                <a:latin typeface="Raleway" pitchFamily="2" charset="0"/>
                <a:ea typeface="Inter" pitchFamily="34" charset="-122"/>
                <a:cs typeface="Inter" pitchFamily="34" charset="-120"/>
              </a:rPr>
              <a:t>​EWS/RAG dashboard</a:t>
            </a:r>
            <a:endParaRPr lang="en-US" sz="1200" dirty="0">
              <a:latin typeface="Raleway" pitchFamily="2" charset="0"/>
            </a:endParaRPr>
          </a:p>
          <a:p>
            <a:pPr marL="139700" indent="-139700" algn="l">
              <a:lnSpc>
                <a:spcPts val="1560"/>
              </a:lnSpc>
              <a:buSzPct val="100000"/>
              <a:buChar char="•"/>
            </a:pPr>
            <a:r>
              <a:rPr lang="en-US" sz="1200" dirty="0">
                <a:solidFill>
                  <a:srgbClr val="2A3346"/>
                </a:solidFill>
                <a:latin typeface="Raleway" pitchFamily="2" charset="0"/>
                <a:ea typeface="Inter" pitchFamily="34" charset="-122"/>
                <a:cs typeface="Inter" pitchFamily="34" charset="-120"/>
              </a:rPr>
              <a:t>​No-show tracker</a:t>
            </a:r>
            <a:endParaRPr lang="en-US" sz="1200" dirty="0">
              <a:latin typeface="Raleway" pitchFamily="2" charset="0"/>
            </a:endParaRPr>
          </a:p>
          <a:p>
            <a:pPr marL="139700" indent="-139700" algn="l">
              <a:lnSpc>
                <a:spcPts val="1560"/>
              </a:lnSpc>
              <a:buSzPct val="100000"/>
              <a:buChar char="•"/>
            </a:pPr>
            <a:r>
              <a:rPr lang="en-US" sz="1200" dirty="0">
                <a:solidFill>
                  <a:srgbClr val="2A3346"/>
                </a:solidFill>
                <a:latin typeface="Raleway" pitchFamily="2" charset="0"/>
                <a:ea typeface="Inter" pitchFamily="34" charset="-122"/>
                <a:cs typeface="Inter" pitchFamily="34" charset="-120"/>
              </a:rPr>
              <a:t>​Issue closure log</a:t>
            </a:r>
            <a:endParaRPr lang="en-US" sz="1200" dirty="0">
              <a:latin typeface="Raleway" pitchFamily="2" charset="0"/>
            </a:endParaRPr>
          </a:p>
        </p:txBody>
      </p:sp>
      <p:sp>
        <p:nvSpPr>
          <p:cNvPr id="61" name="Text 46"/>
          <p:cNvSpPr txBox="1"/>
          <p:nvPr/>
        </p:nvSpPr>
        <p:spPr>
          <a:xfrm>
            <a:off x="685800" y="4910328"/>
            <a:ext cx="10782605" cy="372161"/>
          </a:xfrm>
          <a:prstGeom prst="rect">
            <a:avLst/>
          </a:prstGeom>
          <a:noFill/>
          <a:ln/>
        </p:spPr>
        <p:txBody>
          <a:bodyPr wrap="square" lIns="0" tIns="0" rIns="0" bIns="0" rtlCol="0" anchor="ctr"/>
          <a:lstStyle/>
          <a:p>
            <a:pPr marL="0" indent="0" algn="ctr">
              <a:buNone/>
            </a:pPr>
            <a:r>
              <a:rPr lang="en-US" sz="1400" b="1" dirty="0">
                <a:solidFill>
                  <a:srgbClr val="1F2A44"/>
                </a:solidFill>
                <a:latin typeface="Raleway" pitchFamily="2" charset="0"/>
                <a:ea typeface="Inter" pitchFamily="34" charset="-122"/>
                <a:cs typeface="Inter" pitchFamily="34" charset="-120"/>
              </a:rPr>
              <a:t>Governance Pack:</a:t>
            </a:r>
            <a:r>
              <a:rPr lang="en-US" sz="1400" b="1" dirty="0">
                <a:solidFill>
                  <a:srgbClr val="289C8F"/>
                </a:solidFill>
                <a:latin typeface="Raleway" pitchFamily="2" charset="0"/>
                <a:ea typeface="Inter" pitchFamily="34" charset="-122"/>
                <a:cs typeface="Inter" pitchFamily="34" charset="-120"/>
              </a:rPr>
              <a:t> Weekly engagement calendar </a:t>
            </a:r>
            <a:r>
              <a:rPr lang="en-US" sz="1400" b="1" dirty="0">
                <a:solidFill>
                  <a:srgbClr val="94A0B5"/>
                </a:solidFill>
                <a:latin typeface="Raleway" pitchFamily="2" charset="0"/>
                <a:ea typeface="Inter" pitchFamily="34" charset="-122"/>
                <a:cs typeface="Inter" pitchFamily="34" charset="-120"/>
              </a:rPr>
              <a:t>|</a:t>
            </a:r>
            <a:r>
              <a:rPr lang="en-US" sz="1400" b="1" dirty="0">
                <a:solidFill>
                  <a:srgbClr val="289C8F"/>
                </a:solidFill>
                <a:latin typeface="Raleway" pitchFamily="2" charset="0"/>
                <a:ea typeface="Inter" pitchFamily="34" charset="-122"/>
                <a:cs typeface="Inter" pitchFamily="34" charset="-120"/>
              </a:rPr>
              <a:t> pulse/EWS dashboard </a:t>
            </a:r>
            <a:r>
              <a:rPr lang="en-US" sz="1400" b="1" dirty="0">
                <a:solidFill>
                  <a:srgbClr val="94A0B5"/>
                </a:solidFill>
                <a:latin typeface="Raleway" pitchFamily="2" charset="0"/>
                <a:ea typeface="Inter" pitchFamily="34" charset="-122"/>
                <a:cs typeface="Inter" pitchFamily="34" charset="-120"/>
              </a:rPr>
              <a:t>|</a:t>
            </a:r>
            <a:r>
              <a:rPr lang="en-US" sz="1400" b="1" dirty="0">
                <a:solidFill>
                  <a:srgbClr val="289C8F"/>
                </a:solidFill>
                <a:latin typeface="Raleway" pitchFamily="2" charset="0"/>
                <a:ea typeface="Inter" pitchFamily="34" charset="-122"/>
                <a:cs typeface="Inter" pitchFamily="34" charset="-120"/>
              </a:rPr>
              <a:t> attendance &amp; no-show tracker </a:t>
            </a:r>
            <a:r>
              <a:rPr lang="en-US" sz="1400" b="1" dirty="0">
                <a:solidFill>
                  <a:srgbClr val="94A0B5"/>
                </a:solidFill>
                <a:latin typeface="Raleway" pitchFamily="2" charset="0"/>
                <a:ea typeface="Inter" pitchFamily="34" charset="-122"/>
                <a:cs typeface="Inter" pitchFamily="34" charset="-120"/>
              </a:rPr>
              <a:t>|</a:t>
            </a:r>
            <a:r>
              <a:rPr lang="en-US" sz="1400" b="1" dirty="0">
                <a:solidFill>
                  <a:srgbClr val="289C8F"/>
                </a:solidFill>
                <a:latin typeface="Raleway" pitchFamily="2" charset="0"/>
                <a:ea typeface="Inter" pitchFamily="34" charset="-122"/>
                <a:cs typeface="Inter" pitchFamily="34" charset="-120"/>
              </a:rPr>
              <a:t> issue closure log </a:t>
            </a:r>
            <a:r>
              <a:rPr lang="en-US" sz="1400" b="1" dirty="0">
                <a:solidFill>
                  <a:srgbClr val="94A0B5"/>
                </a:solidFill>
                <a:latin typeface="Raleway" pitchFamily="2" charset="0"/>
                <a:ea typeface="Inter" pitchFamily="34" charset="-122"/>
                <a:cs typeface="Inter" pitchFamily="34" charset="-120"/>
              </a:rPr>
              <a:t>|</a:t>
            </a:r>
            <a:r>
              <a:rPr lang="en-US" sz="1400" b="1" dirty="0">
                <a:solidFill>
                  <a:srgbClr val="289C8F"/>
                </a:solidFill>
                <a:latin typeface="Raleway" pitchFamily="2" charset="0"/>
                <a:ea typeface="Inter" pitchFamily="34" charset="-122"/>
                <a:cs typeface="Inter" pitchFamily="34" charset="-120"/>
              </a:rPr>
              <a:t> R&amp;R summary </a:t>
            </a:r>
            <a:r>
              <a:rPr lang="en-US" sz="1400" b="1" dirty="0">
                <a:solidFill>
                  <a:srgbClr val="94A0B5"/>
                </a:solidFill>
                <a:latin typeface="Raleway" pitchFamily="2" charset="0"/>
                <a:ea typeface="Inter" pitchFamily="34" charset="-122"/>
                <a:cs typeface="Inter" pitchFamily="34" charset="-120"/>
              </a:rPr>
              <a:t>|</a:t>
            </a:r>
            <a:r>
              <a:rPr lang="en-US" sz="1400" b="1" dirty="0">
                <a:solidFill>
                  <a:srgbClr val="289C8F"/>
                </a:solidFill>
                <a:latin typeface="Raleway" pitchFamily="2" charset="0"/>
                <a:ea typeface="Inter" pitchFamily="34" charset="-122"/>
                <a:cs typeface="Inter" pitchFamily="34" charset="-120"/>
              </a:rPr>
              <a:t> learning calendar </a:t>
            </a:r>
            <a:r>
              <a:rPr lang="en-US" sz="1400" b="1" dirty="0">
                <a:solidFill>
                  <a:srgbClr val="94A0B5"/>
                </a:solidFill>
                <a:latin typeface="Raleway" pitchFamily="2" charset="0"/>
                <a:ea typeface="Inter" pitchFamily="34" charset="-122"/>
                <a:cs typeface="Inter" pitchFamily="34" charset="-120"/>
              </a:rPr>
              <a:t>|</a:t>
            </a:r>
            <a:r>
              <a:rPr lang="en-US" sz="1400" b="1" dirty="0">
                <a:solidFill>
                  <a:srgbClr val="289C8F"/>
                </a:solidFill>
                <a:latin typeface="Raleway" pitchFamily="2" charset="0"/>
                <a:ea typeface="Inter" pitchFamily="34" charset="-122"/>
                <a:cs typeface="Inter" pitchFamily="34" charset="-120"/>
              </a:rPr>
              <a:t> retention action tracker</a:t>
            </a:r>
            <a:endParaRPr lang="en-US" sz="1400" dirty="0">
              <a:latin typeface="Raleway" pitchFamily="2" charset="0"/>
            </a:endParaRPr>
          </a:p>
        </p:txBody>
      </p:sp>
      <p:sp>
        <p:nvSpPr>
          <p:cNvPr id="62" name="Text 47"/>
          <p:cNvSpPr txBox="1"/>
          <p:nvPr/>
        </p:nvSpPr>
        <p:spPr>
          <a:xfrm>
            <a:off x="761695" y="5743346"/>
            <a:ext cx="10668305" cy="514807"/>
          </a:xfrm>
          <a:prstGeom prst="rect">
            <a:avLst/>
          </a:prstGeom>
          <a:noFill/>
          <a:ln/>
        </p:spPr>
        <p:txBody>
          <a:bodyPr wrap="square" lIns="0" tIns="0" rIns="0" bIns="0" rtlCol="0" anchor="ctr"/>
          <a:lstStyle/>
          <a:p>
            <a:pPr marL="0" indent="0" algn="ctr">
              <a:buNone/>
            </a:pPr>
            <a:r>
              <a:rPr lang="en-US" sz="1400" b="1" dirty="0">
                <a:solidFill>
                  <a:srgbClr val="FFFFFF"/>
                </a:solidFill>
                <a:latin typeface="Raleway" pitchFamily="2" charset="0"/>
                <a:ea typeface="Fraunces" pitchFamily="34" charset="-122"/>
                <a:cs typeface="Fraunces" pitchFamily="34" charset="-120"/>
              </a:rPr>
              <a:t>Engagement will be operated as a </a:t>
            </a:r>
            <a:r>
              <a:rPr lang="en-US" sz="1400" b="1" dirty="0">
                <a:solidFill>
                  <a:srgbClr val="289C8F"/>
                </a:solidFill>
                <a:latin typeface="Raleway" pitchFamily="2" charset="0"/>
                <a:ea typeface="Fraunces" pitchFamily="34" charset="-122"/>
                <a:cs typeface="Fraunces" pitchFamily="34" charset="-120"/>
              </a:rPr>
              <a:t>measurable delivery control</a:t>
            </a:r>
            <a:r>
              <a:rPr lang="en-US" sz="1400" b="1" dirty="0">
                <a:solidFill>
                  <a:srgbClr val="FFFFFF"/>
                </a:solidFill>
                <a:latin typeface="Raleway" pitchFamily="2" charset="0"/>
                <a:ea typeface="Fraunces" pitchFamily="34" charset="-122"/>
                <a:cs typeface="Fraunces" pitchFamily="34" charset="-120"/>
              </a:rPr>
              <a:t> - not one-time activities - to improve joining, capability building, morale and early retention.</a:t>
            </a:r>
            <a:endParaRPr lang="en-US" sz="1400" dirty="0">
              <a:latin typeface="Raleway" pitchFamily="2"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cad3a534ee2971c6a497c9faf59fb5cd.png"/>
          <p:cNvPicPr>
            <a:picLocks noChangeAspect="1"/>
          </p:cNvPicPr>
          <p:nvPr/>
        </p:nvPicPr>
        <p:blipFill>
          <a:blip r:embed="rId3"/>
          <a:srcRect l="-202" r="-202"/>
          <a:stretch/>
        </p:blipFill>
        <p:spPr>
          <a:xfrm>
            <a:off x="0" y="0"/>
            <a:ext cx="8128102" cy="75895"/>
          </a:xfrm>
          <a:prstGeom prst="rect">
            <a:avLst/>
          </a:prstGeom>
        </p:spPr>
      </p:pic>
      <p:pic>
        <p:nvPicPr>
          <p:cNvPr id="5" name="Image 1" descr="gen-dedup-64882feb7a832238af77b962fc7a8538.png"/>
          <p:cNvPicPr>
            <a:picLocks noChangeAspect="1"/>
          </p:cNvPicPr>
          <p:nvPr/>
        </p:nvPicPr>
        <p:blipFill>
          <a:blip r:embed="rId4"/>
          <a:srcRect l="-197" r="-197"/>
          <a:stretch/>
        </p:blipFill>
        <p:spPr>
          <a:xfrm>
            <a:off x="8128102"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6da70c599291e253314366a10c094ffa.png"/>
          <p:cNvPicPr>
            <a:picLocks noChangeAspect="1"/>
          </p:cNvPicPr>
          <p:nvPr/>
        </p:nvPicPr>
        <p:blipFill>
          <a:blip r:embed="rId5">
            <a:alphaModFix amt="15000"/>
          </a:blip>
          <a:srcRect/>
          <a:stretch/>
        </p:blipFill>
        <p:spPr>
          <a:xfrm>
            <a:off x="381305" y="1143000"/>
            <a:ext cx="1429207" cy="1429207"/>
          </a:xfrm>
          <a:prstGeom prst="rect">
            <a:avLst/>
          </a:prstGeom>
        </p:spPr>
      </p:pic>
      <p:sp>
        <p:nvSpPr>
          <p:cNvPr id="8" name="Shape 3"/>
          <p:cNvSpPr/>
          <p:nvPr/>
        </p:nvSpPr>
        <p:spPr>
          <a:xfrm>
            <a:off x="609905" y="1143000"/>
            <a:ext cx="5352898" cy="2572207"/>
          </a:xfrm>
          <a:prstGeom prst="roundRect">
            <a:avLst>
              <a:gd name="adj" fmla="val 1580"/>
            </a:avLst>
          </a:prstGeom>
          <a:solidFill>
            <a:srgbClr val="FFFFFF"/>
          </a:solidFill>
          <a:ln w="12700">
            <a:solidFill>
              <a:srgbClr val="E5E7EB"/>
            </a:solidFill>
            <a:prstDash val="solid"/>
          </a:ln>
        </p:spPr>
        <p:txBody>
          <a:bodyPr/>
          <a:lstStyle/>
          <a:p>
            <a:endParaRPr lang="en-US"/>
          </a:p>
        </p:txBody>
      </p:sp>
      <p:sp>
        <p:nvSpPr>
          <p:cNvPr id="9" name="Shape 4"/>
          <p:cNvSpPr/>
          <p:nvPr/>
        </p:nvSpPr>
        <p:spPr>
          <a:xfrm>
            <a:off x="609905" y="1143000"/>
            <a:ext cx="5352898" cy="38405"/>
          </a:xfrm>
          <a:prstGeom prst="roundRect">
            <a:avLst>
              <a:gd name="adj" fmla="val 105820"/>
            </a:avLst>
          </a:prstGeom>
          <a:solidFill>
            <a:srgbClr val="D62839"/>
          </a:solidFill>
          <a:ln w="12700">
            <a:solidFill>
              <a:srgbClr val="D62839">
                <a:alpha val="0"/>
              </a:srgbClr>
            </a:solidFill>
            <a:prstDash val="solid"/>
          </a:ln>
        </p:spPr>
        <p:txBody>
          <a:bodyPr/>
          <a:lstStyle/>
          <a:p>
            <a:endParaRPr lang="en-US"/>
          </a:p>
        </p:txBody>
      </p:sp>
      <p:sp>
        <p:nvSpPr>
          <p:cNvPr id="10" name="Shape 5"/>
          <p:cNvSpPr/>
          <p:nvPr/>
        </p:nvSpPr>
        <p:spPr>
          <a:xfrm>
            <a:off x="6172200" y="1143000"/>
            <a:ext cx="5429707" cy="2667305"/>
          </a:xfrm>
          <a:prstGeom prst="roundRect">
            <a:avLst>
              <a:gd name="adj" fmla="val 1469"/>
            </a:avLst>
          </a:prstGeom>
          <a:solidFill>
            <a:srgbClr val="FFFFFF"/>
          </a:solidFill>
          <a:ln w="12700">
            <a:solidFill>
              <a:srgbClr val="E5E7EB"/>
            </a:solidFill>
            <a:prstDash val="solid"/>
          </a:ln>
        </p:spPr>
        <p:txBody>
          <a:bodyPr/>
          <a:lstStyle/>
          <a:p>
            <a:endParaRPr lang="en-US"/>
          </a:p>
        </p:txBody>
      </p:sp>
      <p:sp>
        <p:nvSpPr>
          <p:cNvPr id="11" name="Shape 6"/>
          <p:cNvSpPr/>
          <p:nvPr/>
        </p:nvSpPr>
        <p:spPr>
          <a:xfrm>
            <a:off x="6172200" y="1143000"/>
            <a:ext cx="5429707" cy="38405"/>
          </a:xfrm>
          <a:prstGeom prst="roundRect">
            <a:avLst>
              <a:gd name="adj" fmla="val 102040"/>
            </a:avLst>
          </a:prstGeom>
          <a:solidFill>
            <a:srgbClr val="2A9D8F"/>
          </a:solidFill>
          <a:ln w="12700">
            <a:solidFill>
              <a:srgbClr val="2A9D8F">
                <a:alpha val="0"/>
              </a:srgbClr>
            </a:solidFill>
            <a:prstDash val="solid"/>
          </a:ln>
        </p:spPr>
        <p:txBody>
          <a:bodyPr/>
          <a:lstStyle/>
          <a:p>
            <a:endParaRPr lang="en-US"/>
          </a:p>
        </p:txBody>
      </p:sp>
      <p:sp>
        <p:nvSpPr>
          <p:cNvPr id="12" name="Shape 7"/>
          <p:cNvSpPr/>
          <p:nvPr/>
        </p:nvSpPr>
        <p:spPr>
          <a:xfrm>
            <a:off x="609905" y="3857854"/>
            <a:ext cx="5352898" cy="2286000"/>
          </a:xfrm>
          <a:prstGeom prst="roundRect">
            <a:avLst>
              <a:gd name="adj" fmla="val 2000"/>
            </a:avLst>
          </a:prstGeom>
          <a:solidFill>
            <a:srgbClr val="FFFFFF"/>
          </a:solidFill>
          <a:ln w="12700">
            <a:solidFill>
              <a:srgbClr val="E5E7EB"/>
            </a:solidFill>
            <a:prstDash val="solid"/>
          </a:ln>
        </p:spPr>
        <p:txBody>
          <a:bodyPr/>
          <a:lstStyle/>
          <a:p>
            <a:endParaRPr lang="en-US"/>
          </a:p>
        </p:txBody>
      </p:sp>
      <p:sp>
        <p:nvSpPr>
          <p:cNvPr id="13" name="Shape 8"/>
          <p:cNvSpPr/>
          <p:nvPr/>
        </p:nvSpPr>
        <p:spPr>
          <a:xfrm>
            <a:off x="609905" y="3857854"/>
            <a:ext cx="5352898" cy="38405"/>
          </a:xfrm>
          <a:prstGeom prst="roundRect">
            <a:avLst>
              <a:gd name="adj" fmla="val 119047"/>
            </a:avLst>
          </a:prstGeom>
          <a:solidFill>
            <a:srgbClr val="2A9D8F"/>
          </a:solidFill>
          <a:ln w="12700">
            <a:solidFill>
              <a:srgbClr val="2A9D8F">
                <a:alpha val="0"/>
              </a:srgbClr>
            </a:solidFill>
            <a:prstDash val="solid"/>
          </a:ln>
        </p:spPr>
        <p:txBody>
          <a:bodyPr/>
          <a:lstStyle/>
          <a:p>
            <a:endParaRPr lang="en-US"/>
          </a:p>
        </p:txBody>
      </p:sp>
      <p:sp>
        <p:nvSpPr>
          <p:cNvPr id="14" name="Shape 9"/>
          <p:cNvSpPr/>
          <p:nvPr/>
        </p:nvSpPr>
        <p:spPr>
          <a:xfrm>
            <a:off x="6172200" y="3857854"/>
            <a:ext cx="5429707" cy="2286000"/>
          </a:xfrm>
          <a:prstGeom prst="roundRect">
            <a:avLst>
              <a:gd name="adj" fmla="val 2000"/>
            </a:avLst>
          </a:prstGeom>
          <a:solidFill>
            <a:srgbClr val="FFFFFF"/>
          </a:solidFill>
          <a:ln w="12700">
            <a:solidFill>
              <a:srgbClr val="E5E7EB"/>
            </a:solidFill>
            <a:prstDash val="solid"/>
          </a:ln>
        </p:spPr>
        <p:txBody>
          <a:bodyPr/>
          <a:lstStyle/>
          <a:p>
            <a:endParaRPr lang="en-US"/>
          </a:p>
        </p:txBody>
      </p:sp>
      <p:sp>
        <p:nvSpPr>
          <p:cNvPr id="15" name="Shape 10"/>
          <p:cNvSpPr/>
          <p:nvPr/>
        </p:nvSpPr>
        <p:spPr>
          <a:xfrm>
            <a:off x="6172200" y="3857854"/>
            <a:ext cx="5429707" cy="38405"/>
          </a:xfrm>
          <a:prstGeom prst="roundRect">
            <a:avLst>
              <a:gd name="adj" fmla="val 119047"/>
            </a:avLst>
          </a:prstGeom>
          <a:solidFill>
            <a:srgbClr val="D62839"/>
          </a:solidFill>
          <a:ln w="12700">
            <a:solidFill>
              <a:srgbClr val="D62839">
                <a:alpha val="0"/>
              </a:srgbClr>
            </a:solidFill>
            <a:prstDash val="solid"/>
          </a:ln>
        </p:spPr>
        <p:txBody>
          <a:bodyPr/>
          <a:lstStyle/>
          <a:p>
            <a:endParaRPr lang="en-US"/>
          </a:p>
        </p:txBody>
      </p:sp>
      <p:sp>
        <p:nvSpPr>
          <p:cNvPr id="16" name="Shape 11"/>
          <p:cNvSpPr/>
          <p:nvPr/>
        </p:nvSpPr>
        <p:spPr>
          <a:xfrm>
            <a:off x="609905" y="6238951"/>
            <a:ext cx="10992002" cy="437998"/>
          </a:xfrm>
          <a:prstGeom prst="roundRect">
            <a:avLst>
              <a:gd name="adj" fmla="val 36307"/>
            </a:avLst>
          </a:prstGeom>
          <a:solidFill>
            <a:srgbClr val="F8FAFC"/>
          </a:solidFill>
          <a:ln w="12700">
            <a:solidFill>
              <a:srgbClr val="E2E8F0"/>
            </a:solidFill>
            <a:prstDash val="solid"/>
          </a:ln>
        </p:spPr>
        <p:txBody>
          <a:bodyPr/>
          <a:lstStyle/>
          <a:p>
            <a:endParaRPr lang="en-US"/>
          </a:p>
        </p:txBody>
      </p:sp>
      <p:pic>
        <p:nvPicPr>
          <p:cNvPr id="17" name="Image 3" descr="gen-dedup-ceebc0fa9ea338beb9aa6e4a9468a2a5.png"/>
          <p:cNvPicPr>
            <a:picLocks noChangeAspect="1"/>
          </p:cNvPicPr>
          <p:nvPr/>
        </p:nvPicPr>
        <p:blipFill>
          <a:blip r:embed="rId6"/>
          <a:srcRect l="-400" r="-400"/>
          <a:stretch/>
        </p:blipFill>
        <p:spPr>
          <a:xfrm>
            <a:off x="609905" y="374904"/>
            <a:ext cx="57607" cy="457200"/>
          </a:xfrm>
          <a:prstGeom prst="rect">
            <a:avLst/>
          </a:prstGeom>
        </p:spPr>
      </p:pic>
      <p:sp>
        <p:nvSpPr>
          <p:cNvPr id="18" name="Text 12"/>
          <p:cNvSpPr txBox="1"/>
          <p:nvPr/>
        </p:nvSpPr>
        <p:spPr>
          <a:xfrm>
            <a:off x="819302" y="304495"/>
            <a:ext cx="9592056" cy="372161"/>
          </a:xfrm>
          <a:prstGeom prst="rect">
            <a:avLst/>
          </a:prstGeom>
          <a:noFill/>
          <a:ln/>
        </p:spPr>
        <p:txBody>
          <a:bodyPr wrap="none" lIns="0" tIns="0" rIns="0" bIns="0" rtlCol="0" anchor="ctr"/>
          <a:lstStyle/>
          <a:p>
            <a:pPr marL="0" indent="0" algn="l">
              <a:buNone/>
            </a:pPr>
            <a:r>
              <a:rPr lang="en-US" sz="2600" b="1">
                <a:solidFill>
                  <a:srgbClr val="111827"/>
                </a:solidFill>
                <a:latin typeface="Oswald" pitchFamily="34" charset="0"/>
                <a:ea typeface="Oswald" pitchFamily="34" charset="-122"/>
                <a:cs typeface="Oswald" pitchFamily="34" charset="-120"/>
              </a:rPr>
              <a:t>COMPETITIVE ADVANTAGES AT SCALE – EXECUTION PROOF POINTS</a:t>
            </a:r>
            <a:endParaRPr lang="en-US" sz="2600"/>
          </a:p>
        </p:txBody>
      </p:sp>
      <p:sp>
        <p:nvSpPr>
          <p:cNvPr id="19" name="Text 13"/>
          <p:cNvSpPr txBox="1"/>
          <p:nvPr/>
        </p:nvSpPr>
        <p:spPr>
          <a:xfrm>
            <a:off x="819302" y="711403"/>
            <a:ext cx="8906256" cy="191110"/>
          </a:xfrm>
          <a:prstGeom prst="rect">
            <a:avLst/>
          </a:prstGeom>
          <a:noFill/>
          <a:ln/>
        </p:spPr>
        <p:txBody>
          <a:bodyPr wrap="none" lIns="0" tIns="0" rIns="0" bIns="0" rtlCol="0" anchor="ctr"/>
          <a:lstStyle/>
          <a:p>
            <a:pPr marL="0" indent="0" algn="l">
              <a:buNone/>
            </a:pPr>
            <a:r>
              <a:rPr lang="en-US" sz="1300" b="1" kern="0" spc="66">
                <a:solidFill>
                  <a:srgbClr val="2A9D8F"/>
                </a:solidFill>
                <a:latin typeface="Roboto Condensed" pitchFamily="34" charset="0"/>
                <a:ea typeface="Roboto Condensed" pitchFamily="34" charset="-122"/>
                <a:cs typeface="Roboto Condensed" pitchFamily="34" charset="-120"/>
              </a:rPr>
              <a:t>J2W Track Record: From Vision to Operational Excellence</a:t>
            </a:r>
            <a:endParaRPr lang="en-US" sz="1300"/>
          </a:p>
        </p:txBody>
      </p:sp>
      <p:pic>
        <p:nvPicPr>
          <p:cNvPr id="20" name="Image 4" descr="gen-dedup-0694d8d7925cf9b99d92b905a7e8c15e.png"/>
          <p:cNvPicPr>
            <a:picLocks noChangeAspect="1"/>
          </p:cNvPicPr>
          <p:nvPr/>
        </p:nvPicPr>
        <p:blipFill>
          <a:blip r:embed="rId7"/>
          <a:srcRect t="-14384" b="-14384"/>
          <a:stretch/>
        </p:blipFill>
        <p:spPr>
          <a:xfrm>
            <a:off x="761695" y="1309421"/>
            <a:ext cx="133502" cy="171907"/>
          </a:xfrm>
          <a:prstGeom prst="rect">
            <a:avLst/>
          </a:prstGeom>
        </p:spPr>
      </p:pic>
      <p:sp>
        <p:nvSpPr>
          <p:cNvPr id="21" name="Text 14"/>
          <p:cNvSpPr txBox="1"/>
          <p:nvPr/>
        </p:nvSpPr>
        <p:spPr>
          <a:xfrm>
            <a:off x="972007" y="1257300"/>
            <a:ext cx="1745590"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PROVEN EXECUTION</a:t>
            </a:r>
            <a:endParaRPr lang="en-US" sz="1400"/>
          </a:p>
        </p:txBody>
      </p:sp>
      <p:sp>
        <p:nvSpPr>
          <p:cNvPr id="22" name="Shape 15"/>
          <p:cNvSpPr/>
          <p:nvPr/>
        </p:nvSpPr>
        <p:spPr>
          <a:xfrm>
            <a:off x="761695" y="1762049"/>
            <a:ext cx="5029200" cy="571500"/>
          </a:xfrm>
          <a:prstGeom prst="rect">
            <a:avLst/>
          </a:prstGeom>
          <a:solidFill>
            <a:srgbClr val="FEF2F2"/>
          </a:solidFill>
          <a:ln/>
        </p:spPr>
        <p:txBody>
          <a:bodyPr/>
          <a:lstStyle/>
          <a:p>
            <a:endParaRPr lang="en-US"/>
          </a:p>
        </p:txBody>
      </p:sp>
      <p:sp>
        <p:nvSpPr>
          <p:cNvPr id="23" name="Shape 16"/>
          <p:cNvSpPr/>
          <p:nvPr/>
        </p:nvSpPr>
        <p:spPr>
          <a:xfrm>
            <a:off x="761695" y="1762049"/>
            <a:ext cx="38405" cy="571500"/>
          </a:xfrm>
          <a:prstGeom prst="rect">
            <a:avLst/>
          </a:prstGeom>
          <a:solidFill>
            <a:srgbClr val="D62839"/>
          </a:solidFill>
          <a:ln w="12700">
            <a:solidFill>
              <a:srgbClr val="D62839">
                <a:alpha val="0"/>
              </a:srgbClr>
            </a:solidFill>
            <a:prstDash val="solid"/>
          </a:ln>
        </p:spPr>
        <p:txBody>
          <a:bodyPr/>
          <a:lstStyle/>
          <a:p>
            <a:endParaRPr lang="en-US"/>
          </a:p>
        </p:txBody>
      </p:sp>
      <p:sp>
        <p:nvSpPr>
          <p:cNvPr id="24" name="Text 17"/>
          <p:cNvSpPr txBox="1"/>
          <p:nvPr/>
        </p:nvSpPr>
        <p:spPr>
          <a:xfrm>
            <a:off x="1028700" y="1914754"/>
            <a:ext cx="5220310" cy="267005"/>
          </a:xfrm>
          <a:prstGeom prst="rect">
            <a:avLst/>
          </a:prstGeom>
          <a:noFill/>
          <a:ln/>
        </p:spPr>
        <p:txBody>
          <a:bodyPr wrap="none" lIns="0" tIns="0" rIns="0" bIns="0" rtlCol="0" anchor="ctr"/>
          <a:lstStyle/>
          <a:p>
            <a:pPr marL="0" indent="0" algn="l">
              <a:buNone/>
            </a:pPr>
            <a:r>
              <a:rPr lang="en-US" sz="1300" b="1" i="1" dirty="0">
                <a:solidFill>
                  <a:srgbClr val="991B1B"/>
                </a:solidFill>
                <a:latin typeface="Raleway" pitchFamily="34" charset="0"/>
                <a:ea typeface="Raleway" pitchFamily="34" charset="-122"/>
                <a:cs typeface="Raleway" pitchFamily="34" charset="-120"/>
              </a:rPr>
              <a:t>"Excellence is not promised - it is demonstrated."</a:t>
            </a:r>
            <a:endParaRPr lang="en-US" sz="1300" dirty="0"/>
          </a:p>
        </p:txBody>
      </p:sp>
      <p:sp>
        <p:nvSpPr>
          <p:cNvPr id="25" name="Text 18"/>
          <p:cNvSpPr txBox="1"/>
          <p:nvPr/>
        </p:nvSpPr>
        <p:spPr>
          <a:xfrm>
            <a:off x="761695" y="2520086"/>
            <a:ext cx="5029200" cy="657454"/>
          </a:xfrm>
          <a:prstGeom prst="rect">
            <a:avLst/>
          </a:prstGeom>
          <a:noFill/>
          <a:ln/>
        </p:spPr>
        <p:txBody>
          <a:bodyPr wrap="square" lIns="0" tIns="0" rIns="0" bIns="0" rtlCol="0" anchor="ctr"/>
          <a:lstStyle/>
          <a:p>
            <a:pPr marL="0" indent="0" algn="l">
              <a:buNone/>
            </a:pPr>
            <a:r>
              <a:rPr lang="en-US" sz="1100" dirty="0">
                <a:solidFill>
                  <a:srgbClr val="4B5563"/>
                </a:solidFill>
                <a:latin typeface="Raleway" pitchFamily="34" charset="0"/>
                <a:ea typeface="Raleway" pitchFamily="34" charset="-122"/>
                <a:cs typeface="Raleway" pitchFamily="34" charset="-120"/>
              </a:rPr>
              <a:t>J2W’s transformational engagements across global enterprises validate our ability to deliver {{client}}’s  talent goals with operational excellence, speed, and precision.</a:t>
            </a:r>
            <a:endParaRPr lang="en-US" sz="1100" dirty="0"/>
          </a:p>
        </p:txBody>
      </p:sp>
      <p:pic>
        <p:nvPicPr>
          <p:cNvPr id="26" name="Image 5" descr="gen-dedup-b496c99a569898132f3e1260cdf9f417.png"/>
          <p:cNvPicPr>
            <a:picLocks noChangeAspect="1"/>
          </p:cNvPicPr>
          <p:nvPr/>
        </p:nvPicPr>
        <p:blipFill>
          <a:blip r:embed="rId8"/>
          <a:srcRect t="-14384" b="-14384"/>
          <a:stretch/>
        </p:blipFill>
        <p:spPr>
          <a:xfrm>
            <a:off x="6324905" y="1309421"/>
            <a:ext cx="133502" cy="171907"/>
          </a:xfrm>
          <a:prstGeom prst="rect">
            <a:avLst/>
          </a:prstGeom>
        </p:spPr>
      </p:pic>
      <p:sp>
        <p:nvSpPr>
          <p:cNvPr id="27" name="Text 19"/>
          <p:cNvSpPr txBox="1"/>
          <p:nvPr/>
        </p:nvSpPr>
        <p:spPr>
          <a:xfrm>
            <a:off x="6534302" y="1257300"/>
            <a:ext cx="2845613"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KEY PERFORMANCE INDICATORS</a:t>
            </a:r>
            <a:endParaRPr lang="en-US" sz="1400"/>
          </a:p>
        </p:txBody>
      </p:sp>
      <p:pic>
        <p:nvPicPr>
          <p:cNvPr id="28" name="Image 6" descr="gen-dedup-a43e574f5ad413a8939cab01d30b4d0c.png"/>
          <p:cNvPicPr>
            <a:picLocks noChangeAspect="1"/>
          </p:cNvPicPr>
          <p:nvPr/>
        </p:nvPicPr>
        <p:blipFill>
          <a:blip r:embed="rId9"/>
          <a:srcRect l="-77" r="-77"/>
          <a:stretch/>
        </p:blipFill>
        <p:spPr>
          <a:xfrm>
            <a:off x="6324905" y="1647749"/>
            <a:ext cx="5105095" cy="237744"/>
          </a:xfrm>
          <a:prstGeom prst="rect">
            <a:avLst/>
          </a:prstGeom>
        </p:spPr>
      </p:pic>
      <p:sp>
        <p:nvSpPr>
          <p:cNvPr id="29" name="Text 20"/>
          <p:cNvSpPr txBox="1"/>
          <p:nvPr/>
        </p:nvSpPr>
        <p:spPr>
          <a:xfrm>
            <a:off x="6400800" y="1695298"/>
            <a:ext cx="1733702" cy="133502"/>
          </a:xfrm>
          <a:prstGeom prst="rect">
            <a:avLst/>
          </a:prstGeom>
          <a:noFill/>
          <a:ln/>
        </p:spPr>
        <p:txBody>
          <a:bodyPr wrap="none" lIns="0" tIns="0" rIns="0" bIns="0" rtlCol="0" anchor="ctr"/>
          <a:lstStyle/>
          <a:p>
            <a:pPr marL="0" indent="0" algn="l">
              <a:buNone/>
            </a:pPr>
            <a:r>
              <a:rPr lang="en-US" sz="900" b="1">
                <a:solidFill>
                  <a:srgbClr val="374151"/>
                </a:solidFill>
                <a:latin typeface="Roboto Condensed" pitchFamily="34" charset="0"/>
                <a:ea typeface="Roboto Condensed" pitchFamily="34" charset="-122"/>
                <a:cs typeface="Roboto Condensed" pitchFamily="34" charset="-120"/>
              </a:rPr>
              <a:t>METRIC</a:t>
            </a:r>
            <a:endParaRPr lang="en-US" sz="900"/>
          </a:p>
        </p:txBody>
      </p:sp>
      <p:sp>
        <p:nvSpPr>
          <p:cNvPr id="30" name="Text 21"/>
          <p:cNvSpPr txBox="1"/>
          <p:nvPr/>
        </p:nvSpPr>
        <p:spPr>
          <a:xfrm>
            <a:off x="8134502" y="1695298"/>
            <a:ext cx="1733702" cy="133502"/>
          </a:xfrm>
          <a:prstGeom prst="rect">
            <a:avLst/>
          </a:prstGeom>
          <a:noFill/>
          <a:ln/>
        </p:spPr>
        <p:txBody>
          <a:bodyPr wrap="none" lIns="0" tIns="0" rIns="0" bIns="0" rtlCol="0" anchor="ctr"/>
          <a:lstStyle/>
          <a:p>
            <a:pPr marL="0" indent="0" algn="l">
              <a:buNone/>
            </a:pPr>
            <a:r>
              <a:rPr lang="en-US" sz="900" b="1">
                <a:solidFill>
                  <a:srgbClr val="374151"/>
                </a:solidFill>
                <a:latin typeface="Roboto Condensed" pitchFamily="34" charset="0"/>
                <a:ea typeface="Roboto Condensed" pitchFamily="34" charset="-122"/>
                <a:cs typeface="Roboto Condensed" pitchFamily="34" charset="-120"/>
              </a:rPr>
              <a:t>J2W ACHIEVEMENT</a:t>
            </a:r>
            <a:endParaRPr lang="en-US" sz="900"/>
          </a:p>
        </p:txBody>
      </p:sp>
      <p:sp>
        <p:nvSpPr>
          <p:cNvPr id="31" name="Text 22"/>
          <p:cNvSpPr txBox="1"/>
          <p:nvPr/>
        </p:nvSpPr>
        <p:spPr>
          <a:xfrm>
            <a:off x="9868205" y="1695298"/>
            <a:ext cx="1485900" cy="133502"/>
          </a:xfrm>
          <a:prstGeom prst="rect">
            <a:avLst/>
          </a:prstGeom>
          <a:noFill/>
          <a:ln/>
        </p:spPr>
        <p:txBody>
          <a:bodyPr wrap="none" lIns="0" tIns="0" rIns="0" bIns="0" rtlCol="0" anchor="ctr"/>
          <a:lstStyle/>
          <a:p>
            <a:r>
              <a:rPr lang="en-US" sz="900" b="1" dirty="0">
                <a:solidFill>
                  <a:srgbClr val="374151"/>
                </a:solidFill>
                <a:latin typeface="Roboto Condensed" pitchFamily="34" charset="0"/>
                <a:ea typeface="Roboto Condensed" pitchFamily="34" charset="-122"/>
                <a:cs typeface="Roboto Condensed" pitchFamily="34" charset="-120"/>
              </a:rPr>
              <a:t>RELEVANCE TO {{CLIENT}}</a:t>
            </a:r>
            <a:endParaRPr lang="en-US" sz="900" dirty="0"/>
          </a:p>
        </p:txBody>
      </p:sp>
      <p:sp>
        <p:nvSpPr>
          <p:cNvPr id="32" name="Shape 23"/>
          <p:cNvSpPr/>
          <p:nvPr/>
        </p:nvSpPr>
        <p:spPr>
          <a:xfrm>
            <a:off x="6324905" y="2077517"/>
            <a:ext cx="510509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33" name="Text 24"/>
          <p:cNvSpPr txBox="1"/>
          <p:nvPr/>
        </p:nvSpPr>
        <p:spPr>
          <a:xfrm>
            <a:off x="6400800" y="1914754"/>
            <a:ext cx="1733702" cy="133502"/>
          </a:xfrm>
          <a:prstGeom prst="rect">
            <a:avLst/>
          </a:prstGeom>
          <a:noFill/>
          <a:ln/>
        </p:spPr>
        <p:txBody>
          <a:bodyPr wrap="none" lIns="0" tIns="0" rIns="0" bIns="0" rtlCol="0" anchor="ctr"/>
          <a:lstStyle/>
          <a:p>
            <a:pPr marL="0" indent="0" algn="l">
              <a:buNone/>
            </a:pPr>
            <a:r>
              <a:rPr lang="en-US" sz="800" b="1">
                <a:solidFill>
                  <a:srgbClr val="4B5563"/>
                </a:solidFill>
                <a:latin typeface="Raleway" pitchFamily="34" charset="0"/>
                <a:ea typeface="Raleway" pitchFamily="34" charset="-122"/>
                <a:cs typeface="Raleway" pitchFamily="34" charset="-120"/>
              </a:rPr>
              <a:t>GCC Solutions Delivered</a:t>
            </a:r>
            <a:endParaRPr lang="en-US" sz="800"/>
          </a:p>
        </p:txBody>
      </p:sp>
      <p:sp>
        <p:nvSpPr>
          <p:cNvPr id="34" name="Text 25"/>
          <p:cNvSpPr txBox="1"/>
          <p:nvPr/>
        </p:nvSpPr>
        <p:spPr>
          <a:xfrm>
            <a:off x="8134502" y="1914754"/>
            <a:ext cx="1733702" cy="133502"/>
          </a:xfrm>
          <a:prstGeom prst="rect">
            <a:avLst/>
          </a:prstGeom>
          <a:noFill/>
          <a:ln/>
        </p:spPr>
        <p:txBody>
          <a:bodyPr wrap="none" lIns="0" tIns="0" rIns="0" bIns="0" rtlCol="0" anchor="ctr"/>
          <a:lstStyle/>
          <a:p>
            <a:pPr marL="0" indent="0" algn="l">
              <a:buNone/>
            </a:pPr>
            <a:r>
              <a:rPr lang="en-US" sz="800" b="1">
                <a:solidFill>
                  <a:srgbClr val="2A9D8F"/>
                </a:solidFill>
                <a:latin typeface="Raleway" pitchFamily="34" charset="0"/>
                <a:ea typeface="Raleway" pitchFamily="34" charset="-122"/>
                <a:cs typeface="Raleway" pitchFamily="34" charset="-120"/>
              </a:rPr>
              <a:t>India’s Largest Provider</a:t>
            </a:r>
            <a:endParaRPr lang="en-US" sz="800"/>
          </a:p>
        </p:txBody>
      </p:sp>
      <p:sp>
        <p:nvSpPr>
          <p:cNvPr id="35" name="Text 26"/>
          <p:cNvSpPr txBox="1"/>
          <p:nvPr/>
        </p:nvSpPr>
        <p:spPr>
          <a:xfrm>
            <a:off x="9868205" y="1914754"/>
            <a:ext cx="1485900" cy="133502"/>
          </a:xfrm>
          <a:prstGeom prst="rect">
            <a:avLst/>
          </a:prstGeom>
          <a:noFill/>
          <a:ln/>
        </p:spPr>
        <p:txBody>
          <a:bodyPr wrap="none" lIns="0" tIns="0" rIns="0" bIns="0" rtlCol="0" anchor="ctr"/>
          <a:lstStyle/>
          <a:p>
            <a:pPr marL="0" indent="0" algn="l">
              <a:buNone/>
            </a:pPr>
            <a:r>
              <a:rPr lang="en-US" sz="800">
                <a:solidFill>
                  <a:srgbClr val="4B5563"/>
                </a:solidFill>
                <a:latin typeface="Raleway" pitchFamily="34" charset="0"/>
                <a:ea typeface="Raleway" pitchFamily="34" charset="-122"/>
                <a:cs typeface="Raleway" pitchFamily="34" charset="-120"/>
              </a:rPr>
              <a:t>Proven at scale</a:t>
            </a:r>
            <a:endParaRPr lang="en-US" sz="800"/>
          </a:p>
        </p:txBody>
      </p:sp>
      <p:sp>
        <p:nvSpPr>
          <p:cNvPr id="36" name="Shape 27"/>
          <p:cNvSpPr/>
          <p:nvPr/>
        </p:nvSpPr>
        <p:spPr>
          <a:xfrm>
            <a:off x="6324905" y="2276856"/>
            <a:ext cx="510509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37" name="Text 28"/>
          <p:cNvSpPr txBox="1"/>
          <p:nvPr/>
        </p:nvSpPr>
        <p:spPr>
          <a:xfrm>
            <a:off x="6400800" y="2115007"/>
            <a:ext cx="1733702" cy="133502"/>
          </a:xfrm>
          <a:prstGeom prst="rect">
            <a:avLst/>
          </a:prstGeom>
          <a:noFill/>
          <a:ln/>
        </p:spPr>
        <p:txBody>
          <a:bodyPr wrap="none" lIns="0" tIns="0" rIns="0" bIns="0" rtlCol="0" anchor="ctr"/>
          <a:lstStyle/>
          <a:p>
            <a:pPr marL="0" indent="0" algn="l">
              <a:buNone/>
            </a:pPr>
            <a:r>
              <a:rPr lang="en-US" sz="800" b="1">
                <a:solidFill>
                  <a:srgbClr val="4B5563"/>
                </a:solidFill>
                <a:latin typeface="Raleway" pitchFamily="34" charset="0"/>
                <a:ea typeface="Raleway" pitchFamily="34" charset="-122"/>
                <a:cs typeface="Raleway" pitchFamily="34" charset="-120"/>
              </a:rPr>
              <a:t>AI Capabilities</a:t>
            </a:r>
            <a:endParaRPr lang="en-US" sz="800"/>
          </a:p>
        </p:txBody>
      </p:sp>
      <p:sp>
        <p:nvSpPr>
          <p:cNvPr id="38" name="Text 29"/>
          <p:cNvSpPr txBox="1"/>
          <p:nvPr/>
        </p:nvSpPr>
        <p:spPr>
          <a:xfrm>
            <a:off x="8134502" y="2115007"/>
            <a:ext cx="1733702" cy="133502"/>
          </a:xfrm>
          <a:prstGeom prst="rect">
            <a:avLst/>
          </a:prstGeom>
          <a:noFill/>
          <a:ln/>
        </p:spPr>
        <p:txBody>
          <a:bodyPr wrap="none" lIns="0" tIns="0" rIns="0" bIns="0" rtlCol="0" anchor="ctr"/>
          <a:lstStyle/>
          <a:p>
            <a:pPr marL="0" indent="0" algn="l">
              <a:buNone/>
            </a:pPr>
            <a:r>
              <a:rPr lang="en-US" sz="800" b="1">
                <a:solidFill>
                  <a:srgbClr val="2A9D8F"/>
                </a:solidFill>
                <a:latin typeface="Raleway" pitchFamily="34" charset="0"/>
                <a:ea typeface="Raleway" pitchFamily="34" charset="-122"/>
                <a:cs typeface="Raleway" pitchFamily="34" charset="-120"/>
              </a:rPr>
              <a:t>600 built in 12 months</a:t>
            </a:r>
            <a:endParaRPr lang="en-US" sz="800"/>
          </a:p>
        </p:txBody>
      </p:sp>
      <p:sp>
        <p:nvSpPr>
          <p:cNvPr id="39" name="Text 30"/>
          <p:cNvSpPr txBox="1"/>
          <p:nvPr/>
        </p:nvSpPr>
        <p:spPr>
          <a:xfrm>
            <a:off x="9868205" y="2115007"/>
            <a:ext cx="1485900" cy="133502"/>
          </a:xfrm>
          <a:prstGeom prst="rect">
            <a:avLst/>
          </a:prstGeom>
          <a:noFill/>
          <a:ln/>
        </p:spPr>
        <p:txBody>
          <a:bodyPr wrap="none" lIns="0" tIns="0" rIns="0" bIns="0" rtlCol="0" anchor="ctr"/>
          <a:lstStyle/>
          <a:p>
            <a:pPr marL="0" indent="0" algn="l">
              <a:buNone/>
            </a:pPr>
            <a:r>
              <a:rPr lang="en-US" sz="800">
                <a:solidFill>
                  <a:srgbClr val="4B5563"/>
                </a:solidFill>
                <a:latin typeface="Raleway" pitchFamily="34" charset="0"/>
                <a:ea typeface="Raleway" pitchFamily="34" charset="-122"/>
                <a:cs typeface="Raleway" pitchFamily="34" charset="-120"/>
              </a:rPr>
              <a:t>Accelerated innovation</a:t>
            </a:r>
            <a:endParaRPr lang="en-US" sz="800"/>
          </a:p>
        </p:txBody>
      </p:sp>
      <p:sp>
        <p:nvSpPr>
          <p:cNvPr id="40" name="Shape 31"/>
          <p:cNvSpPr/>
          <p:nvPr/>
        </p:nvSpPr>
        <p:spPr>
          <a:xfrm>
            <a:off x="6324905" y="2477110"/>
            <a:ext cx="510509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41" name="Text 32"/>
          <p:cNvSpPr txBox="1"/>
          <p:nvPr/>
        </p:nvSpPr>
        <p:spPr>
          <a:xfrm>
            <a:off x="6400800" y="2314346"/>
            <a:ext cx="1733702" cy="133502"/>
          </a:xfrm>
          <a:prstGeom prst="rect">
            <a:avLst/>
          </a:prstGeom>
          <a:noFill/>
          <a:ln/>
        </p:spPr>
        <p:txBody>
          <a:bodyPr wrap="none" lIns="0" tIns="0" rIns="0" bIns="0" rtlCol="0" anchor="ctr"/>
          <a:lstStyle/>
          <a:p>
            <a:pPr marL="0" indent="0" algn="l">
              <a:buNone/>
            </a:pPr>
            <a:r>
              <a:rPr lang="en-US" sz="800" b="1">
                <a:solidFill>
                  <a:srgbClr val="4B5563"/>
                </a:solidFill>
                <a:latin typeface="Raleway" pitchFamily="34" charset="0"/>
                <a:ea typeface="Raleway" pitchFamily="34" charset="-122"/>
                <a:cs typeface="Raleway" pitchFamily="34" charset="-120"/>
              </a:rPr>
              <a:t>Cloud Journeys</a:t>
            </a:r>
            <a:endParaRPr lang="en-US" sz="800"/>
          </a:p>
        </p:txBody>
      </p:sp>
      <p:sp>
        <p:nvSpPr>
          <p:cNvPr id="42" name="Text 33"/>
          <p:cNvSpPr txBox="1"/>
          <p:nvPr/>
        </p:nvSpPr>
        <p:spPr>
          <a:xfrm>
            <a:off x="8134502" y="2314346"/>
            <a:ext cx="1733702" cy="133502"/>
          </a:xfrm>
          <a:prstGeom prst="rect">
            <a:avLst/>
          </a:prstGeom>
          <a:noFill/>
          <a:ln/>
        </p:spPr>
        <p:txBody>
          <a:bodyPr wrap="none" lIns="0" tIns="0" rIns="0" bIns="0" rtlCol="0" anchor="ctr"/>
          <a:lstStyle/>
          <a:p>
            <a:pPr marL="0" indent="0" algn="l">
              <a:buNone/>
            </a:pPr>
            <a:r>
              <a:rPr lang="en-US" sz="800" b="1">
                <a:solidFill>
                  <a:srgbClr val="2A9D8F"/>
                </a:solidFill>
                <a:latin typeface="Raleway" pitchFamily="34" charset="0"/>
                <a:ea typeface="Raleway" pitchFamily="34" charset="-122"/>
                <a:cs typeface="Raleway" pitchFamily="34" charset="-120"/>
              </a:rPr>
              <a:t>4,000+ transformations</a:t>
            </a:r>
            <a:endParaRPr lang="en-US" sz="800"/>
          </a:p>
        </p:txBody>
      </p:sp>
      <p:sp>
        <p:nvSpPr>
          <p:cNvPr id="43" name="Text 34"/>
          <p:cNvSpPr txBox="1"/>
          <p:nvPr/>
        </p:nvSpPr>
        <p:spPr>
          <a:xfrm>
            <a:off x="9868205" y="2314346"/>
            <a:ext cx="1485900" cy="133502"/>
          </a:xfrm>
          <a:prstGeom prst="rect">
            <a:avLst/>
          </a:prstGeom>
          <a:noFill/>
          <a:ln/>
        </p:spPr>
        <p:txBody>
          <a:bodyPr wrap="none" lIns="0" tIns="0" rIns="0" bIns="0" rtlCol="0" anchor="ctr"/>
          <a:lstStyle/>
          <a:p>
            <a:pPr marL="0" indent="0" algn="l">
              <a:buNone/>
            </a:pPr>
            <a:r>
              <a:rPr lang="en-US" sz="800">
                <a:solidFill>
                  <a:srgbClr val="4B5563"/>
                </a:solidFill>
                <a:latin typeface="Raleway" pitchFamily="34" charset="0"/>
                <a:ea typeface="Raleway" pitchFamily="34" charset="-122"/>
                <a:cs typeface="Raleway" pitchFamily="34" charset="-120"/>
              </a:rPr>
              <a:t>Platform readiness</a:t>
            </a:r>
            <a:endParaRPr lang="en-US" sz="800"/>
          </a:p>
        </p:txBody>
      </p:sp>
      <p:sp>
        <p:nvSpPr>
          <p:cNvPr id="44" name="Shape 35"/>
          <p:cNvSpPr/>
          <p:nvPr/>
        </p:nvSpPr>
        <p:spPr>
          <a:xfrm>
            <a:off x="6324905" y="2677363"/>
            <a:ext cx="510509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45" name="Text 36"/>
          <p:cNvSpPr txBox="1"/>
          <p:nvPr/>
        </p:nvSpPr>
        <p:spPr>
          <a:xfrm>
            <a:off x="6400800" y="2514600"/>
            <a:ext cx="1733702" cy="133502"/>
          </a:xfrm>
          <a:prstGeom prst="rect">
            <a:avLst/>
          </a:prstGeom>
          <a:noFill/>
          <a:ln/>
        </p:spPr>
        <p:txBody>
          <a:bodyPr wrap="none" lIns="0" tIns="0" rIns="0" bIns="0" rtlCol="0" anchor="ctr"/>
          <a:lstStyle/>
          <a:p>
            <a:pPr marL="0" indent="0" algn="l">
              <a:buNone/>
            </a:pPr>
            <a:r>
              <a:rPr lang="en-US" sz="800" b="1">
                <a:solidFill>
                  <a:srgbClr val="4B5563"/>
                </a:solidFill>
                <a:latin typeface="Raleway" pitchFamily="34" charset="0"/>
                <a:ea typeface="Raleway" pitchFamily="34" charset="-122"/>
                <a:cs typeface="Raleway" pitchFamily="34" charset="-120"/>
              </a:rPr>
              <a:t>Captive Centers</a:t>
            </a:r>
            <a:endParaRPr lang="en-US" sz="800"/>
          </a:p>
        </p:txBody>
      </p:sp>
      <p:sp>
        <p:nvSpPr>
          <p:cNvPr id="46" name="Text 37"/>
          <p:cNvSpPr txBox="1"/>
          <p:nvPr/>
        </p:nvSpPr>
        <p:spPr>
          <a:xfrm>
            <a:off x="8134502" y="2514600"/>
            <a:ext cx="1733702" cy="133502"/>
          </a:xfrm>
          <a:prstGeom prst="rect">
            <a:avLst/>
          </a:prstGeom>
          <a:noFill/>
          <a:ln/>
        </p:spPr>
        <p:txBody>
          <a:bodyPr wrap="none" lIns="0" tIns="0" rIns="0" bIns="0" rtlCol="0" anchor="ctr"/>
          <a:lstStyle/>
          <a:p>
            <a:pPr marL="0" indent="0" algn="l">
              <a:buNone/>
            </a:pPr>
            <a:r>
              <a:rPr lang="en-US" sz="800" b="1">
                <a:solidFill>
                  <a:srgbClr val="2A9D8F"/>
                </a:solidFill>
                <a:latin typeface="Raleway" pitchFamily="34" charset="0"/>
                <a:ea typeface="Raleway" pitchFamily="34" charset="-122"/>
                <a:cs typeface="Raleway" pitchFamily="34" charset="-120"/>
              </a:rPr>
              <a:t>250+ established</a:t>
            </a:r>
            <a:endParaRPr lang="en-US" sz="800"/>
          </a:p>
        </p:txBody>
      </p:sp>
      <p:sp>
        <p:nvSpPr>
          <p:cNvPr id="47" name="Text 38"/>
          <p:cNvSpPr txBox="1"/>
          <p:nvPr/>
        </p:nvSpPr>
        <p:spPr>
          <a:xfrm>
            <a:off x="9868205" y="2514600"/>
            <a:ext cx="1485900" cy="133502"/>
          </a:xfrm>
          <a:prstGeom prst="rect">
            <a:avLst/>
          </a:prstGeom>
          <a:noFill/>
          <a:ln/>
        </p:spPr>
        <p:txBody>
          <a:bodyPr wrap="none" lIns="0" tIns="0" rIns="0" bIns="0" rtlCol="0" anchor="ctr"/>
          <a:lstStyle/>
          <a:p>
            <a:pPr marL="0" indent="0" algn="l">
              <a:buNone/>
            </a:pPr>
            <a:r>
              <a:rPr lang="en-US" sz="800">
                <a:solidFill>
                  <a:srgbClr val="4B5563"/>
                </a:solidFill>
                <a:latin typeface="Raleway" pitchFamily="34" charset="0"/>
                <a:ea typeface="Raleway" pitchFamily="34" charset="-122"/>
                <a:cs typeface="Raleway" pitchFamily="34" charset="-120"/>
              </a:rPr>
              <a:t>Execution maturity</a:t>
            </a:r>
            <a:endParaRPr lang="en-US" sz="800"/>
          </a:p>
        </p:txBody>
      </p:sp>
      <p:sp>
        <p:nvSpPr>
          <p:cNvPr id="48" name="Shape 39"/>
          <p:cNvSpPr/>
          <p:nvPr/>
        </p:nvSpPr>
        <p:spPr>
          <a:xfrm>
            <a:off x="6324905" y="2877617"/>
            <a:ext cx="510509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49" name="Text 40"/>
          <p:cNvSpPr txBox="1"/>
          <p:nvPr/>
        </p:nvSpPr>
        <p:spPr>
          <a:xfrm>
            <a:off x="6400800" y="2714854"/>
            <a:ext cx="1733702" cy="133502"/>
          </a:xfrm>
          <a:prstGeom prst="rect">
            <a:avLst/>
          </a:prstGeom>
          <a:noFill/>
          <a:ln/>
        </p:spPr>
        <p:txBody>
          <a:bodyPr wrap="none" lIns="0" tIns="0" rIns="0" bIns="0" rtlCol="0" anchor="ctr"/>
          <a:lstStyle/>
          <a:p>
            <a:pPr marL="0" indent="0" algn="l">
              <a:buNone/>
            </a:pPr>
            <a:r>
              <a:rPr lang="en-US" sz="800" b="1">
                <a:solidFill>
                  <a:srgbClr val="4B5563"/>
                </a:solidFill>
                <a:latin typeface="Raleway" pitchFamily="34" charset="0"/>
                <a:ea typeface="Raleway" pitchFamily="34" charset="-122"/>
                <a:cs typeface="Raleway" pitchFamily="34" charset="-120"/>
              </a:rPr>
              <a:t>Professionals</a:t>
            </a:r>
            <a:endParaRPr lang="en-US" sz="800"/>
          </a:p>
        </p:txBody>
      </p:sp>
      <p:sp>
        <p:nvSpPr>
          <p:cNvPr id="50" name="Text 41"/>
          <p:cNvSpPr txBox="1"/>
          <p:nvPr/>
        </p:nvSpPr>
        <p:spPr>
          <a:xfrm>
            <a:off x="8134502" y="2714854"/>
            <a:ext cx="1733702" cy="133502"/>
          </a:xfrm>
          <a:prstGeom prst="rect">
            <a:avLst/>
          </a:prstGeom>
          <a:noFill/>
          <a:ln/>
        </p:spPr>
        <p:txBody>
          <a:bodyPr wrap="none" lIns="0" tIns="0" rIns="0" bIns="0" rtlCol="0" anchor="ctr"/>
          <a:lstStyle/>
          <a:p>
            <a:pPr marL="0" indent="0" algn="l">
              <a:buNone/>
            </a:pPr>
            <a:r>
              <a:rPr lang="en-US" sz="800" b="1">
                <a:solidFill>
                  <a:srgbClr val="2A9D8F"/>
                </a:solidFill>
                <a:latin typeface="Raleway" pitchFamily="34" charset="0"/>
                <a:ea typeface="Raleway" pitchFamily="34" charset="-122"/>
                <a:cs typeface="Raleway" pitchFamily="34" charset="-120"/>
              </a:rPr>
              <a:t>7,200+ specialists</a:t>
            </a:r>
            <a:endParaRPr lang="en-US" sz="800"/>
          </a:p>
        </p:txBody>
      </p:sp>
      <p:sp>
        <p:nvSpPr>
          <p:cNvPr id="51" name="Text 42"/>
          <p:cNvSpPr txBox="1"/>
          <p:nvPr/>
        </p:nvSpPr>
        <p:spPr>
          <a:xfrm>
            <a:off x="9868205" y="2714854"/>
            <a:ext cx="1485900" cy="133502"/>
          </a:xfrm>
          <a:prstGeom prst="rect">
            <a:avLst/>
          </a:prstGeom>
          <a:noFill/>
          <a:ln/>
        </p:spPr>
        <p:txBody>
          <a:bodyPr wrap="none" lIns="0" tIns="0" rIns="0" bIns="0" rtlCol="0" anchor="ctr"/>
          <a:lstStyle/>
          <a:p>
            <a:pPr marL="0" indent="0" algn="l">
              <a:buNone/>
            </a:pPr>
            <a:r>
              <a:rPr lang="en-US" sz="800">
                <a:solidFill>
                  <a:srgbClr val="4B5563"/>
                </a:solidFill>
                <a:latin typeface="Raleway" pitchFamily="34" charset="0"/>
                <a:ea typeface="Raleway" pitchFamily="34" charset="-122"/>
                <a:cs typeface="Raleway" pitchFamily="34" charset="-120"/>
              </a:rPr>
              <a:t>Depth and speed</a:t>
            </a:r>
            <a:endParaRPr lang="en-US" sz="800"/>
          </a:p>
        </p:txBody>
      </p:sp>
      <p:sp>
        <p:nvSpPr>
          <p:cNvPr id="52" name="Shape 43"/>
          <p:cNvSpPr/>
          <p:nvPr/>
        </p:nvSpPr>
        <p:spPr>
          <a:xfrm>
            <a:off x="6324905" y="3076956"/>
            <a:ext cx="510509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53" name="Text 44"/>
          <p:cNvSpPr txBox="1"/>
          <p:nvPr/>
        </p:nvSpPr>
        <p:spPr>
          <a:xfrm>
            <a:off x="6400800" y="2915107"/>
            <a:ext cx="1733702" cy="133502"/>
          </a:xfrm>
          <a:prstGeom prst="rect">
            <a:avLst/>
          </a:prstGeom>
          <a:noFill/>
          <a:ln/>
        </p:spPr>
        <p:txBody>
          <a:bodyPr wrap="none" lIns="0" tIns="0" rIns="0" bIns="0" rtlCol="0" anchor="ctr"/>
          <a:lstStyle/>
          <a:p>
            <a:pPr marL="0" indent="0" algn="l">
              <a:buNone/>
            </a:pPr>
            <a:r>
              <a:rPr lang="en-US" sz="800" b="1">
                <a:solidFill>
                  <a:srgbClr val="4B5563"/>
                </a:solidFill>
                <a:latin typeface="Raleway" pitchFamily="34" charset="0"/>
                <a:ea typeface="Raleway" pitchFamily="34" charset="-122"/>
                <a:cs typeface="Raleway" pitchFamily="34" charset="-120"/>
              </a:rPr>
              <a:t>Engagement Models</a:t>
            </a:r>
            <a:endParaRPr lang="en-US" sz="800"/>
          </a:p>
        </p:txBody>
      </p:sp>
      <p:sp>
        <p:nvSpPr>
          <p:cNvPr id="54" name="Text 45"/>
          <p:cNvSpPr txBox="1"/>
          <p:nvPr/>
        </p:nvSpPr>
        <p:spPr>
          <a:xfrm>
            <a:off x="8134502" y="2915107"/>
            <a:ext cx="1733702" cy="133502"/>
          </a:xfrm>
          <a:prstGeom prst="rect">
            <a:avLst/>
          </a:prstGeom>
          <a:noFill/>
          <a:ln/>
        </p:spPr>
        <p:txBody>
          <a:bodyPr wrap="none" lIns="0" tIns="0" rIns="0" bIns="0" rtlCol="0" anchor="ctr"/>
          <a:lstStyle/>
          <a:p>
            <a:pPr marL="0" indent="0" algn="l">
              <a:buNone/>
            </a:pPr>
            <a:r>
              <a:rPr lang="en-US" sz="800" b="1">
                <a:solidFill>
                  <a:srgbClr val="2A9D8F"/>
                </a:solidFill>
                <a:latin typeface="Raleway" pitchFamily="34" charset="0"/>
                <a:ea typeface="Raleway" pitchFamily="34" charset="-122"/>
                <a:cs typeface="Raleway" pitchFamily="34" charset="-120"/>
              </a:rPr>
              <a:t>30+ proven formats</a:t>
            </a:r>
            <a:endParaRPr lang="en-US" sz="800"/>
          </a:p>
        </p:txBody>
      </p:sp>
      <p:sp>
        <p:nvSpPr>
          <p:cNvPr id="55" name="Text 46"/>
          <p:cNvSpPr txBox="1"/>
          <p:nvPr/>
        </p:nvSpPr>
        <p:spPr>
          <a:xfrm>
            <a:off x="9868205" y="2915107"/>
            <a:ext cx="1723644" cy="133502"/>
          </a:xfrm>
          <a:prstGeom prst="rect">
            <a:avLst/>
          </a:prstGeom>
          <a:noFill/>
          <a:ln/>
        </p:spPr>
        <p:txBody>
          <a:bodyPr wrap="none" lIns="0" tIns="0" rIns="0" bIns="0" rtlCol="0" anchor="ctr"/>
          <a:lstStyle/>
          <a:p>
            <a:pPr marL="0" indent="0" algn="l">
              <a:buNone/>
            </a:pPr>
            <a:r>
              <a:rPr lang="en-US" sz="800">
                <a:solidFill>
                  <a:srgbClr val="4B5563"/>
                </a:solidFill>
                <a:latin typeface="Raleway" pitchFamily="34" charset="0"/>
                <a:ea typeface="Raleway" pitchFamily="34" charset="-122"/>
                <a:cs typeface="Raleway" pitchFamily="34" charset="-120"/>
              </a:rPr>
              <a:t>Risk-mitigated flexibility</a:t>
            </a:r>
            <a:endParaRPr lang="en-US" sz="800"/>
          </a:p>
        </p:txBody>
      </p:sp>
      <p:sp>
        <p:nvSpPr>
          <p:cNvPr id="56" name="Shape 47"/>
          <p:cNvSpPr/>
          <p:nvPr/>
        </p:nvSpPr>
        <p:spPr>
          <a:xfrm>
            <a:off x="6324905" y="3277210"/>
            <a:ext cx="510509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57" name="Text 48"/>
          <p:cNvSpPr txBox="1"/>
          <p:nvPr/>
        </p:nvSpPr>
        <p:spPr>
          <a:xfrm>
            <a:off x="6400800" y="3114446"/>
            <a:ext cx="1733702" cy="133502"/>
          </a:xfrm>
          <a:prstGeom prst="rect">
            <a:avLst/>
          </a:prstGeom>
          <a:noFill/>
          <a:ln/>
        </p:spPr>
        <p:txBody>
          <a:bodyPr wrap="none" lIns="0" tIns="0" rIns="0" bIns="0" rtlCol="0" anchor="ctr"/>
          <a:lstStyle/>
          <a:p>
            <a:pPr marL="0" indent="0" algn="l">
              <a:buNone/>
            </a:pPr>
            <a:r>
              <a:rPr lang="en-US" sz="800" b="1">
                <a:solidFill>
                  <a:srgbClr val="4B5563"/>
                </a:solidFill>
                <a:latin typeface="Raleway" pitchFamily="34" charset="0"/>
                <a:ea typeface="Raleway" pitchFamily="34" charset="-122"/>
                <a:cs typeface="Raleway" pitchFamily="34" charset="-120"/>
              </a:rPr>
              <a:t>Global Presence</a:t>
            </a:r>
            <a:endParaRPr lang="en-US" sz="800"/>
          </a:p>
        </p:txBody>
      </p:sp>
      <p:sp>
        <p:nvSpPr>
          <p:cNvPr id="58" name="Text 49"/>
          <p:cNvSpPr txBox="1"/>
          <p:nvPr/>
        </p:nvSpPr>
        <p:spPr>
          <a:xfrm>
            <a:off x="8134502" y="3114446"/>
            <a:ext cx="1733702" cy="133502"/>
          </a:xfrm>
          <a:prstGeom prst="rect">
            <a:avLst/>
          </a:prstGeom>
          <a:noFill/>
          <a:ln/>
        </p:spPr>
        <p:txBody>
          <a:bodyPr wrap="none" lIns="0" tIns="0" rIns="0" bIns="0" rtlCol="0" anchor="ctr"/>
          <a:lstStyle/>
          <a:p>
            <a:pPr marL="0" indent="0" algn="l">
              <a:buNone/>
            </a:pPr>
            <a:r>
              <a:rPr lang="en-US" sz="800" b="1">
                <a:solidFill>
                  <a:srgbClr val="2A9D8F"/>
                </a:solidFill>
                <a:latin typeface="Raleway" pitchFamily="34" charset="0"/>
                <a:ea typeface="Raleway" pitchFamily="34" charset="-122"/>
                <a:cs typeface="Raleway" pitchFamily="34" charset="-120"/>
              </a:rPr>
              <a:t>12 countries</a:t>
            </a:r>
            <a:endParaRPr lang="en-US" sz="800"/>
          </a:p>
        </p:txBody>
      </p:sp>
      <p:sp>
        <p:nvSpPr>
          <p:cNvPr id="59" name="Text 50"/>
          <p:cNvSpPr txBox="1"/>
          <p:nvPr/>
        </p:nvSpPr>
        <p:spPr>
          <a:xfrm>
            <a:off x="9868205" y="3114446"/>
            <a:ext cx="1485900" cy="133502"/>
          </a:xfrm>
          <a:prstGeom prst="rect">
            <a:avLst/>
          </a:prstGeom>
          <a:noFill/>
          <a:ln/>
        </p:spPr>
        <p:txBody>
          <a:bodyPr wrap="none" lIns="0" tIns="0" rIns="0" bIns="0" rtlCol="0" anchor="ctr"/>
          <a:lstStyle/>
          <a:p>
            <a:pPr marL="0" indent="0" algn="l">
              <a:buNone/>
            </a:pPr>
            <a:r>
              <a:rPr lang="en-US" sz="800">
                <a:solidFill>
                  <a:srgbClr val="4B5563"/>
                </a:solidFill>
                <a:latin typeface="Raleway" pitchFamily="34" charset="0"/>
                <a:ea typeface="Raleway" pitchFamily="34" charset="-122"/>
                <a:cs typeface="Raleway" pitchFamily="34" charset="-120"/>
              </a:rPr>
              <a:t>Scalable governance</a:t>
            </a:r>
            <a:endParaRPr lang="en-US" sz="800"/>
          </a:p>
        </p:txBody>
      </p:sp>
      <p:sp>
        <p:nvSpPr>
          <p:cNvPr id="60" name="Text 51"/>
          <p:cNvSpPr txBox="1"/>
          <p:nvPr/>
        </p:nvSpPr>
        <p:spPr>
          <a:xfrm>
            <a:off x="6400800" y="3314700"/>
            <a:ext cx="1733702" cy="133502"/>
          </a:xfrm>
          <a:prstGeom prst="rect">
            <a:avLst/>
          </a:prstGeom>
          <a:noFill/>
          <a:ln/>
        </p:spPr>
        <p:txBody>
          <a:bodyPr wrap="none" lIns="0" tIns="0" rIns="0" bIns="0" rtlCol="0" anchor="ctr"/>
          <a:lstStyle/>
          <a:p>
            <a:pPr marL="0" indent="0" algn="l">
              <a:buNone/>
            </a:pPr>
            <a:r>
              <a:rPr lang="en-US" sz="800" b="1">
                <a:solidFill>
                  <a:srgbClr val="4B5563"/>
                </a:solidFill>
                <a:latin typeface="Raleway" pitchFamily="34" charset="0"/>
                <a:ea typeface="Raleway" pitchFamily="34" charset="-122"/>
                <a:cs typeface="Raleway" pitchFamily="34" charset="-120"/>
              </a:rPr>
              <a:t>NPS Rating</a:t>
            </a:r>
            <a:endParaRPr lang="en-US" sz="800"/>
          </a:p>
        </p:txBody>
      </p:sp>
      <p:sp>
        <p:nvSpPr>
          <p:cNvPr id="61" name="Text 52"/>
          <p:cNvSpPr txBox="1"/>
          <p:nvPr/>
        </p:nvSpPr>
        <p:spPr>
          <a:xfrm>
            <a:off x="8134502" y="3314700"/>
            <a:ext cx="1733702" cy="133502"/>
          </a:xfrm>
          <a:prstGeom prst="rect">
            <a:avLst/>
          </a:prstGeom>
          <a:noFill/>
          <a:ln/>
        </p:spPr>
        <p:txBody>
          <a:bodyPr wrap="none" lIns="0" tIns="0" rIns="0" bIns="0" rtlCol="0" anchor="ctr"/>
          <a:lstStyle/>
          <a:p>
            <a:pPr marL="0" indent="0" algn="l">
              <a:buNone/>
            </a:pPr>
            <a:r>
              <a:rPr lang="en-US" sz="800" b="1">
                <a:solidFill>
                  <a:srgbClr val="2A9D8F"/>
                </a:solidFill>
                <a:latin typeface="Raleway" pitchFamily="34" charset="0"/>
                <a:ea typeface="Raleway" pitchFamily="34" charset="-122"/>
                <a:cs typeface="Raleway" pitchFamily="34" charset="-120"/>
              </a:rPr>
              <a:t>Industry-leading</a:t>
            </a:r>
            <a:endParaRPr lang="en-US" sz="800"/>
          </a:p>
        </p:txBody>
      </p:sp>
      <p:sp>
        <p:nvSpPr>
          <p:cNvPr id="62" name="Text 53"/>
          <p:cNvSpPr txBox="1"/>
          <p:nvPr/>
        </p:nvSpPr>
        <p:spPr>
          <a:xfrm>
            <a:off x="9868205" y="3314700"/>
            <a:ext cx="1595628" cy="133502"/>
          </a:xfrm>
          <a:prstGeom prst="rect">
            <a:avLst/>
          </a:prstGeom>
          <a:noFill/>
          <a:ln/>
        </p:spPr>
        <p:txBody>
          <a:bodyPr wrap="none" lIns="0" tIns="0" rIns="0" bIns="0" rtlCol="0" anchor="ctr"/>
          <a:lstStyle/>
          <a:p>
            <a:pPr marL="0" indent="0" algn="l">
              <a:buNone/>
            </a:pPr>
            <a:r>
              <a:rPr lang="en-US" sz="800">
                <a:solidFill>
                  <a:srgbClr val="4B5563"/>
                </a:solidFill>
                <a:latin typeface="Raleway" pitchFamily="34" charset="0"/>
                <a:ea typeface="Raleway" pitchFamily="34" charset="-122"/>
                <a:cs typeface="Raleway" pitchFamily="34" charset="-120"/>
              </a:rPr>
              <a:t>Stakeholder satisfaction</a:t>
            </a:r>
            <a:endParaRPr lang="en-US" sz="800"/>
          </a:p>
        </p:txBody>
      </p:sp>
      <p:pic>
        <p:nvPicPr>
          <p:cNvPr id="63" name="Image 7" descr="gen-dedup-4370ae18ac36aa3a0f4496de6c5c7d66.png"/>
          <p:cNvPicPr>
            <a:picLocks noChangeAspect="1"/>
          </p:cNvPicPr>
          <p:nvPr/>
        </p:nvPicPr>
        <p:blipFill>
          <a:blip r:embed="rId10"/>
          <a:srcRect t="-30480" b="-30480"/>
          <a:stretch/>
        </p:blipFill>
        <p:spPr>
          <a:xfrm>
            <a:off x="761695" y="4024274"/>
            <a:ext cx="133502" cy="171907"/>
          </a:xfrm>
          <a:prstGeom prst="rect">
            <a:avLst/>
          </a:prstGeom>
        </p:spPr>
      </p:pic>
      <p:sp>
        <p:nvSpPr>
          <p:cNvPr id="64" name="Text 54"/>
          <p:cNvSpPr txBox="1"/>
          <p:nvPr/>
        </p:nvSpPr>
        <p:spPr>
          <a:xfrm>
            <a:off x="972007" y="3972154"/>
            <a:ext cx="2414930"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COMPETITIVE COMPARISON</a:t>
            </a:r>
            <a:endParaRPr lang="en-US" sz="1400"/>
          </a:p>
        </p:txBody>
      </p:sp>
      <p:pic>
        <p:nvPicPr>
          <p:cNvPr id="65" name="Image 8" descr="gen-dedup-b7bc75dca3c706f3773680681adcedb5.png"/>
          <p:cNvPicPr>
            <a:picLocks noChangeAspect="1"/>
          </p:cNvPicPr>
          <p:nvPr/>
        </p:nvPicPr>
        <p:blipFill>
          <a:blip r:embed="rId11"/>
          <a:srcRect l="-45" r="-45"/>
          <a:stretch/>
        </p:blipFill>
        <p:spPr>
          <a:xfrm>
            <a:off x="761695" y="4362602"/>
            <a:ext cx="5029200" cy="256946"/>
          </a:xfrm>
          <a:prstGeom prst="rect">
            <a:avLst/>
          </a:prstGeom>
        </p:spPr>
      </p:pic>
      <p:sp>
        <p:nvSpPr>
          <p:cNvPr id="66" name="Text 55"/>
          <p:cNvSpPr txBox="1"/>
          <p:nvPr/>
        </p:nvSpPr>
        <p:spPr>
          <a:xfrm>
            <a:off x="838505" y="4419295"/>
            <a:ext cx="1467612" cy="133502"/>
          </a:xfrm>
          <a:prstGeom prst="rect">
            <a:avLst/>
          </a:prstGeom>
          <a:noFill/>
          <a:ln/>
        </p:spPr>
        <p:txBody>
          <a:bodyPr wrap="none" lIns="0" tIns="0" rIns="0" bIns="0" rtlCol="0" anchor="ctr"/>
          <a:lstStyle/>
          <a:p>
            <a:pPr marL="0" indent="0" algn="l">
              <a:buNone/>
            </a:pPr>
            <a:r>
              <a:rPr lang="en-US" sz="900" b="1">
                <a:solidFill>
                  <a:srgbClr val="374151"/>
                </a:solidFill>
                <a:latin typeface="Roboto Condensed" pitchFamily="34" charset="0"/>
                <a:ea typeface="Roboto Condensed" pitchFamily="34" charset="-122"/>
                <a:cs typeface="Roboto Condensed" pitchFamily="34" charset="-120"/>
              </a:rPr>
              <a:t>PARAMETER</a:t>
            </a:r>
            <a:endParaRPr lang="en-US" sz="900"/>
          </a:p>
        </p:txBody>
      </p:sp>
      <p:sp>
        <p:nvSpPr>
          <p:cNvPr id="67" name="Text 56"/>
          <p:cNvSpPr txBox="1"/>
          <p:nvPr/>
        </p:nvSpPr>
        <p:spPr>
          <a:xfrm>
            <a:off x="2301545" y="4419295"/>
            <a:ext cx="1714500" cy="133502"/>
          </a:xfrm>
          <a:prstGeom prst="rect">
            <a:avLst/>
          </a:prstGeom>
          <a:noFill/>
          <a:ln/>
        </p:spPr>
        <p:txBody>
          <a:bodyPr wrap="none" lIns="0" tIns="0" rIns="0" bIns="0" rtlCol="0" anchor="ctr"/>
          <a:lstStyle/>
          <a:p>
            <a:pPr marL="0" indent="0" algn="l">
              <a:buNone/>
            </a:pPr>
            <a:r>
              <a:rPr lang="en-US" sz="900" b="1">
                <a:solidFill>
                  <a:srgbClr val="374151"/>
                </a:solidFill>
                <a:latin typeface="Roboto Condensed" pitchFamily="34" charset="0"/>
                <a:ea typeface="Roboto Condensed" pitchFamily="34" charset="-122"/>
                <a:cs typeface="Roboto Condensed" pitchFamily="34" charset="-120"/>
              </a:rPr>
              <a:t>TRADITIONAL STAFFING</a:t>
            </a:r>
            <a:endParaRPr lang="en-US" sz="900"/>
          </a:p>
        </p:txBody>
      </p:sp>
      <p:sp>
        <p:nvSpPr>
          <p:cNvPr id="68" name="Text 57"/>
          <p:cNvSpPr txBox="1"/>
          <p:nvPr/>
        </p:nvSpPr>
        <p:spPr>
          <a:xfrm>
            <a:off x="4007815" y="4419295"/>
            <a:ext cx="1714500" cy="133502"/>
          </a:xfrm>
          <a:prstGeom prst="rect">
            <a:avLst/>
          </a:prstGeom>
          <a:noFill/>
          <a:ln/>
        </p:spPr>
        <p:txBody>
          <a:bodyPr wrap="none" lIns="0" tIns="0" rIns="0" bIns="0" rtlCol="0" anchor="ctr"/>
          <a:lstStyle/>
          <a:p>
            <a:pPr marL="0" indent="0" algn="l">
              <a:buNone/>
            </a:pPr>
            <a:r>
              <a:rPr lang="en-US" sz="900" b="1">
                <a:solidFill>
                  <a:srgbClr val="2A9D8F"/>
                </a:solidFill>
                <a:latin typeface="Roboto Condensed" pitchFamily="34" charset="0"/>
                <a:ea typeface="Roboto Condensed" pitchFamily="34" charset="-122"/>
                <a:cs typeface="Roboto Condensed" pitchFamily="34" charset="-120"/>
              </a:rPr>
              <a:t>J2W BOT MODEL</a:t>
            </a:r>
            <a:endParaRPr lang="en-US" sz="900"/>
          </a:p>
        </p:txBody>
      </p:sp>
      <p:sp>
        <p:nvSpPr>
          <p:cNvPr id="69" name="Shape 58"/>
          <p:cNvSpPr/>
          <p:nvPr/>
        </p:nvSpPr>
        <p:spPr>
          <a:xfrm>
            <a:off x="761695" y="4848149"/>
            <a:ext cx="5029200" cy="9144"/>
          </a:xfrm>
          <a:prstGeom prst="rect">
            <a:avLst/>
          </a:prstGeom>
          <a:solidFill>
            <a:srgbClr val="F3F4F6"/>
          </a:solidFill>
          <a:ln w="12700">
            <a:solidFill>
              <a:srgbClr val="F3F4F6">
                <a:alpha val="0"/>
              </a:srgbClr>
            </a:solidFill>
            <a:prstDash val="solid"/>
          </a:ln>
        </p:spPr>
        <p:txBody>
          <a:bodyPr/>
          <a:lstStyle/>
          <a:p>
            <a:endParaRPr lang="en-US"/>
          </a:p>
        </p:txBody>
      </p:sp>
      <p:sp>
        <p:nvSpPr>
          <p:cNvPr id="70" name="Text 59"/>
          <p:cNvSpPr txBox="1"/>
          <p:nvPr/>
        </p:nvSpPr>
        <p:spPr>
          <a:xfrm>
            <a:off x="838505" y="4667098"/>
            <a:ext cx="1467612" cy="133502"/>
          </a:xfrm>
          <a:prstGeom prst="rect">
            <a:avLst/>
          </a:prstGeom>
          <a:noFill/>
          <a:ln/>
        </p:spPr>
        <p:txBody>
          <a:bodyPr wrap="none" lIns="0" tIns="0" rIns="0" bIns="0" rtlCol="0" anchor="ctr"/>
          <a:lstStyle/>
          <a:p>
            <a:pPr marL="0" indent="0" algn="l">
              <a:buNone/>
            </a:pPr>
            <a:r>
              <a:rPr lang="en-US" sz="800" b="1">
                <a:solidFill>
                  <a:srgbClr val="4B5563"/>
                </a:solidFill>
                <a:latin typeface="Raleway" pitchFamily="34" charset="0"/>
                <a:ea typeface="Raleway" pitchFamily="34" charset="-122"/>
                <a:cs typeface="Raleway" pitchFamily="34" charset="-120"/>
              </a:rPr>
              <a:t>Ownership</a:t>
            </a:r>
            <a:endParaRPr lang="en-US" sz="800"/>
          </a:p>
        </p:txBody>
      </p:sp>
      <p:sp>
        <p:nvSpPr>
          <p:cNvPr id="71" name="Text 60"/>
          <p:cNvSpPr txBox="1"/>
          <p:nvPr/>
        </p:nvSpPr>
        <p:spPr>
          <a:xfrm>
            <a:off x="2301545" y="4667098"/>
            <a:ext cx="1714500" cy="133502"/>
          </a:xfrm>
          <a:prstGeom prst="rect">
            <a:avLst/>
          </a:prstGeom>
          <a:noFill/>
          <a:ln/>
        </p:spPr>
        <p:txBody>
          <a:bodyPr wrap="none" lIns="0" tIns="0" rIns="0" bIns="0" rtlCol="0" anchor="ctr"/>
          <a:lstStyle/>
          <a:p>
            <a:pPr marL="0" indent="0" algn="l">
              <a:buNone/>
            </a:pPr>
            <a:r>
              <a:rPr lang="en-US" sz="800">
                <a:solidFill>
                  <a:srgbClr val="6B7280"/>
                </a:solidFill>
                <a:latin typeface="Raleway" pitchFamily="34" charset="0"/>
                <a:ea typeface="Raleway" pitchFamily="34" charset="-122"/>
                <a:cs typeface="Raleway" pitchFamily="34" charset="-120"/>
              </a:rPr>
              <a:t>Resource supply</a:t>
            </a:r>
            <a:endParaRPr lang="en-US" sz="800"/>
          </a:p>
        </p:txBody>
      </p:sp>
      <p:sp>
        <p:nvSpPr>
          <p:cNvPr id="72" name="Text 61"/>
          <p:cNvSpPr txBox="1"/>
          <p:nvPr/>
        </p:nvSpPr>
        <p:spPr>
          <a:xfrm>
            <a:off x="4007815" y="4667098"/>
            <a:ext cx="1788566" cy="133502"/>
          </a:xfrm>
          <a:prstGeom prst="rect">
            <a:avLst/>
          </a:prstGeom>
          <a:noFill/>
          <a:ln/>
        </p:spPr>
        <p:txBody>
          <a:bodyPr wrap="none" lIns="0" tIns="0" rIns="0" bIns="0" rtlCol="0" anchor="ctr"/>
          <a:lstStyle/>
          <a:p>
            <a:pPr marL="0" indent="0" algn="l">
              <a:buNone/>
            </a:pPr>
            <a:r>
              <a:rPr lang="en-US" sz="800" b="1">
                <a:solidFill>
                  <a:srgbClr val="0F766E"/>
                </a:solidFill>
                <a:latin typeface="Raleway" pitchFamily="34" charset="0"/>
                <a:ea typeface="Raleway" pitchFamily="34" charset="-122"/>
                <a:cs typeface="Raleway" pitchFamily="34" charset="-120"/>
              </a:rPr>
              <a:t>Outcome-driven partnership</a:t>
            </a:r>
            <a:endParaRPr lang="en-US" sz="800"/>
          </a:p>
        </p:txBody>
      </p:sp>
      <p:sp>
        <p:nvSpPr>
          <p:cNvPr id="73" name="Shape 62"/>
          <p:cNvSpPr/>
          <p:nvPr/>
        </p:nvSpPr>
        <p:spPr>
          <a:xfrm>
            <a:off x="761695" y="5086807"/>
            <a:ext cx="5029200" cy="9144"/>
          </a:xfrm>
          <a:prstGeom prst="rect">
            <a:avLst/>
          </a:prstGeom>
          <a:solidFill>
            <a:srgbClr val="F3F4F6"/>
          </a:solidFill>
          <a:ln w="12700">
            <a:solidFill>
              <a:srgbClr val="F3F4F6">
                <a:alpha val="0"/>
              </a:srgbClr>
            </a:solidFill>
            <a:prstDash val="solid"/>
          </a:ln>
        </p:spPr>
        <p:txBody>
          <a:bodyPr/>
          <a:lstStyle/>
          <a:p>
            <a:endParaRPr lang="en-US"/>
          </a:p>
        </p:txBody>
      </p:sp>
      <p:sp>
        <p:nvSpPr>
          <p:cNvPr id="74" name="Text 63"/>
          <p:cNvSpPr txBox="1"/>
          <p:nvPr/>
        </p:nvSpPr>
        <p:spPr>
          <a:xfrm>
            <a:off x="838505" y="4905756"/>
            <a:ext cx="1467612" cy="133502"/>
          </a:xfrm>
          <a:prstGeom prst="rect">
            <a:avLst/>
          </a:prstGeom>
          <a:noFill/>
          <a:ln/>
        </p:spPr>
        <p:txBody>
          <a:bodyPr wrap="none" lIns="0" tIns="0" rIns="0" bIns="0" rtlCol="0" anchor="ctr"/>
          <a:lstStyle/>
          <a:p>
            <a:pPr marL="0" indent="0" algn="l">
              <a:buNone/>
            </a:pPr>
            <a:r>
              <a:rPr lang="en-US" sz="800" b="1">
                <a:solidFill>
                  <a:srgbClr val="4B5563"/>
                </a:solidFill>
                <a:latin typeface="Raleway" pitchFamily="34" charset="0"/>
                <a:ea typeface="Raleway" pitchFamily="34" charset="-122"/>
                <a:cs typeface="Raleway" pitchFamily="34" charset="-120"/>
              </a:rPr>
              <a:t>Risk</a:t>
            </a:r>
            <a:endParaRPr lang="en-US" sz="800"/>
          </a:p>
        </p:txBody>
      </p:sp>
      <p:sp>
        <p:nvSpPr>
          <p:cNvPr id="75" name="Text 64"/>
          <p:cNvSpPr txBox="1"/>
          <p:nvPr/>
        </p:nvSpPr>
        <p:spPr>
          <a:xfrm>
            <a:off x="2301545" y="4905756"/>
            <a:ext cx="1714500" cy="133502"/>
          </a:xfrm>
          <a:prstGeom prst="rect">
            <a:avLst/>
          </a:prstGeom>
          <a:noFill/>
          <a:ln/>
        </p:spPr>
        <p:txBody>
          <a:bodyPr wrap="none" lIns="0" tIns="0" rIns="0" bIns="0" rtlCol="0" anchor="ctr"/>
          <a:lstStyle/>
          <a:p>
            <a:pPr marL="0" indent="0" algn="l">
              <a:buNone/>
            </a:pPr>
            <a:r>
              <a:rPr lang="en-US" sz="800">
                <a:solidFill>
                  <a:srgbClr val="6B7280"/>
                </a:solidFill>
                <a:latin typeface="Raleway" pitchFamily="34" charset="0"/>
                <a:ea typeface="Raleway" pitchFamily="34" charset="-122"/>
                <a:cs typeface="Raleway" pitchFamily="34" charset="-120"/>
              </a:rPr>
              <a:t>Client-owned</a:t>
            </a:r>
            <a:endParaRPr lang="en-US" sz="800"/>
          </a:p>
        </p:txBody>
      </p:sp>
      <p:sp>
        <p:nvSpPr>
          <p:cNvPr id="76" name="Text 65"/>
          <p:cNvSpPr txBox="1"/>
          <p:nvPr/>
        </p:nvSpPr>
        <p:spPr>
          <a:xfrm>
            <a:off x="4007815" y="4905756"/>
            <a:ext cx="1714500" cy="133502"/>
          </a:xfrm>
          <a:prstGeom prst="rect">
            <a:avLst/>
          </a:prstGeom>
          <a:noFill/>
          <a:ln/>
        </p:spPr>
        <p:txBody>
          <a:bodyPr wrap="none" lIns="0" tIns="0" rIns="0" bIns="0" rtlCol="0" anchor="ctr"/>
          <a:lstStyle/>
          <a:p>
            <a:pPr marL="0" indent="0" algn="l">
              <a:buNone/>
            </a:pPr>
            <a:r>
              <a:rPr lang="en-US" sz="800" b="1">
                <a:solidFill>
                  <a:srgbClr val="0F766E"/>
                </a:solidFill>
                <a:latin typeface="Raleway" pitchFamily="34" charset="0"/>
                <a:ea typeface="Raleway" pitchFamily="34" charset="-122"/>
                <a:cs typeface="Raleway" pitchFamily="34" charset="-120"/>
              </a:rPr>
              <a:t>J2W-absorbed</a:t>
            </a:r>
            <a:endParaRPr lang="en-US" sz="800"/>
          </a:p>
        </p:txBody>
      </p:sp>
      <p:sp>
        <p:nvSpPr>
          <p:cNvPr id="77" name="Shape 66"/>
          <p:cNvSpPr/>
          <p:nvPr/>
        </p:nvSpPr>
        <p:spPr>
          <a:xfrm>
            <a:off x="761695" y="5324551"/>
            <a:ext cx="5029200" cy="9144"/>
          </a:xfrm>
          <a:prstGeom prst="rect">
            <a:avLst/>
          </a:prstGeom>
          <a:solidFill>
            <a:srgbClr val="F3F4F6"/>
          </a:solidFill>
          <a:ln w="12700">
            <a:solidFill>
              <a:srgbClr val="F3F4F6">
                <a:alpha val="0"/>
              </a:srgbClr>
            </a:solidFill>
            <a:prstDash val="solid"/>
          </a:ln>
        </p:spPr>
        <p:txBody>
          <a:bodyPr/>
          <a:lstStyle/>
          <a:p>
            <a:endParaRPr lang="en-US"/>
          </a:p>
        </p:txBody>
      </p:sp>
      <p:sp>
        <p:nvSpPr>
          <p:cNvPr id="78" name="Text 67"/>
          <p:cNvSpPr txBox="1"/>
          <p:nvPr/>
        </p:nvSpPr>
        <p:spPr>
          <a:xfrm>
            <a:off x="838505" y="5143500"/>
            <a:ext cx="1467612" cy="133502"/>
          </a:xfrm>
          <a:prstGeom prst="rect">
            <a:avLst/>
          </a:prstGeom>
          <a:noFill/>
          <a:ln/>
        </p:spPr>
        <p:txBody>
          <a:bodyPr wrap="none" lIns="0" tIns="0" rIns="0" bIns="0" rtlCol="0" anchor="ctr"/>
          <a:lstStyle/>
          <a:p>
            <a:pPr marL="0" indent="0" algn="l">
              <a:buNone/>
            </a:pPr>
            <a:r>
              <a:rPr lang="en-US" sz="800" b="1">
                <a:solidFill>
                  <a:srgbClr val="4B5563"/>
                </a:solidFill>
                <a:latin typeface="Raleway" pitchFamily="34" charset="0"/>
                <a:ea typeface="Raleway" pitchFamily="34" charset="-122"/>
                <a:cs typeface="Raleway" pitchFamily="34" charset="-120"/>
              </a:rPr>
              <a:t>Technology</a:t>
            </a:r>
            <a:endParaRPr lang="en-US" sz="800"/>
          </a:p>
        </p:txBody>
      </p:sp>
      <p:sp>
        <p:nvSpPr>
          <p:cNvPr id="79" name="Text 68"/>
          <p:cNvSpPr txBox="1"/>
          <p:nvPr/>
        </p:nvSpPr>
        <p:spPr>
          <a:xfrm>
            <a:off x="2301545" y="5143500"/>
            <a:ext cx="1714500" cy="133502"/>
          </a:xfrm>
          <a:prstGeom prst="rect">
            <a:avLst/>
          </a:prstGeom>
          <a:noFill/>
          <a:ln/>
        </p:spPr>
        <p:txBody>
          <a:bodyPr wrap="none" lIns="0" tIns="0" rIns="0" bIns="0" rtlCol="0" anchor="ctr"/>
          <a:lstStyle/>
          <a:p>
            <a:pPr marL="0" indent="0" algn="l">
              <a:buNone/>
            </a:pPr>
            <a:r>
              <a:rPr lang="en-US" sz="800">
                <a:solidFill>
                  <a:srgbClr val="6B7280"/>
                </a:solidFill>
                <a:latin typeface="Raleway" pitchFamily="34" charset="0"/>
                <a:ea typeface="Raleway" pitchFamily="34" charset="-122"/>
                <a:cs typeface="Raleway" pitchFamily="34" charset="-120"/>
              </a:rPr>
              <a:t>Absent</a:t>
            </a:r>
            <a:endParaRPr lang="en-US" sz="800"/>
          </a:p>
        </p:txBody>
      </p:sp>
      <p:sp>
        <p:nvSpPr>
          <p:cNvPr id="80" name="Text 69"/>
          <p:cNvSpPr txBox="1"/>
          <p:nvPr/>
        </p:nvSpPr>
        <p:spPr>
          <a:xfrm>
            <a:off x="4007815" y="5143500"/>
            <a:ext cx="1714500" cy="133502"/>
          </a:xfrm>
          <a:prstGeom prst="rect">
            <a:avLst/>
          </a:prstGeom>
          <a:noFill/>
          <a:ln/>
        </p:spPr>
        <p:txBody>
          <a:bodyPr wrap="none" lIns="0" tIns="0" rIns="0" bIns="0" rtlCol="0" anchor="ctr"/>
          <a:lstStyle/>
          <a:p>
            <a:pPr marL="0" indent="0" algn="l">
              <a:buNone/>
            </a:pPr>
            <a:r>
              <a:rPr lang="en-US" sz="800" b="1">
                <a:solidFill>
                  <a:srgbClr val="0F766E"/>
                </a:solidFill>
                <a:latin typeface="Raleway" pitchFamily="34" charset="0"/>
                <a:ea typeface="Raleway" pitchFamily="34" charset="-122"/>
                <a:cs typeface="Raleway" pitchFamily="34" charset="-120"/>
              </a:rPr>
              <a:t>AI-integrated</a:t>
            </a:r>
            <a:endParaRPr lang="en-US" sz="800"/>
          </a:p>
        </p:txBody>
      </p:sp>
      <p:sp>
        <p:nvSpPr>
          <p:cNvPr id="81" name="Shape 70"/>
          <p:cNvSpPr/>
          <p:nvPr/>
        </p:nvSpPr>
        <p:spPr>
          <a:xfrm>
            <a:off x="761695" y="5562295"/>
            <a:ext cx="5029200" cy="9144"/>
          </a:xfrm>
          <a:prstGeom prst="rect">
            <a:avLst/>
          </a:prstGeom>
          <a:solidFill>
            <a:srgbClr val="F3F4F6"/>
          </a:solidFill>
          <a:ln w="12700">
            <a:solidFill>
              <a:srgbClr val="F3F4F6">
                <a:alpha val="0"/>
              </a:srgbClr>
            </a:solidFill>
            <a:prstDash val="solid"/>
          </a:ln>
        </p:spPr>
        <p:txBody>
          <a:bodyPr/>
          <a:lstStyle/>
          <a:p>
            <a:endParaRPr lang="en-US"/>
          </a:p>
        </p:txBody>
      </p:sp>
      <p:sp>
        <p:nvSpPr>
          <p:cNvPr id="82" name="Text 71"/>
          <p:cNvSpPr txBox="1"/>
          <p:nvPr/>
        </p:nvSpPr>
        <p:spPr>
          <a:xfrm>
            <a:off x="838505" y="5381244"/>
            <a:ext cx="1467612" cy="133502"/>
          </a:xfrm>
          <a:prstGeom prst="rect">
            <a:avLst/>
          </a:prstGeom>
          <a:noFill/>
          <a:ln/>
        </p:spPr>
        <p:txBody>
          <a:bodyPr wrap="none" lIns="0" tIns="0" rIns="0" bIns="0" rtlCol="0" anchor="ctr"/>
          <a:lstStyle/>
          <a:p>
            <a:pPr marL="0" indent="0" algn="l">
              <a:buNone/>
            </a:pPr>
            <a:r>
              <a:rPr lang="en-US" sz="800" b="1">
                <a:solidFill>
                  <a:srgbClr val="4B5563"/>
                </a:solidFill>
                <a:latin typeface="Raleway" pitchFamily="34" charset="0"/>
                <a:ea typeface="Raleway" pitchFamily="34" charset="-122"/>
                <a:cs typeface="Raleway" pitchFamily="34" charset="-120"/>
              </a:rPr>
              <a:t>Accountability</a:t>
            </a:r>
            <a:endParaRPr lang="en-US" sz="800"/>
          </a:p>
        </p:txBody>
      </p:sp>
      <p:sp>
        <p:nvSpPr>
          <p:cNvPr id="83" name="Text 72"/>
          <p:cNvSpPr txBox="1"/>
          <p:nvPr/>
        </p:nvSpPr>
        <p:spPr>
          <a:xfrm>
            <a:off x="2301545" y="5381244"/>
            <a:ext cx="1714500" cy="133502"/>
          </a:xfrm>
          <a:prstGeom prst="rect">
            <a:avLst/>
          </a:prstGeom>
          <a:noFill/>
          <a:ln/>
        </p:spPr>
        <p:txBody>
          <a:bodyPr wrap="none" lIns="0" tIns="0" rIns="0" bIns="0" rtlCol="0" anchor="ctr"/>
          <a:lstStyle/>
          <a:p>
            <a:pPr marL="0" indent="0" algn="l">
              <a:buNone/>
            </a:pPr>
            <a:r>
              <a:rPr lang="en-US" sz="800">
                <a:solidFill>
                  <a:srgbClr val="6B7280"/>
                </a:solidFill>
                <a:latin typeface="Raleway" pitchFamily="34" charset="0"/>
                <a:ea typeface="Raleway" pitchFamily="34" charset="-122"/>
                <a:cs typeface="Raleway" pitchFamily="34" charset="-120"/>
              </a:rPr>
              <a:t>Limited</a:t>
            </a:r>
            <a:endParaRPr lang="en-US" sz="800"/>
          </a:p>
        </p:txBody>
      </p:sp>
      <p:sp>
        <p:nvSpPr>
          <p:cNvPr id="84" name="Text 73"/>
          <p:cNvSpPr txBox="1"/>
          <p:nvPr/>
        </p:nvSpPr>
        <p:spPr>
          <a:xfrm>
            <a:off x="4007815" y="5381244"/>
            <a:ext cx="1714500" cy="133502"/>
          </a:xfrm>
          <a:prstGeom prst="rect">
            <a:avLst/>
          </a:prstGeom>
          <a:noFill/>
          <a:ln/>
        </p:spPr>
        <p:txBody>
          <a:bodyPr wrap="none" lIns="0" tIns="0" rIns="0" bIns="0" rtlCol="0" anchor="ctr"/>
          <a:lstStyle/>
          <a:p>
            <a:pPr marL="0" indent="0" algn="l">
              <a:buNone/>
            </a:pPr>
            <a:r>
              <a:rPr lang="en-US" sz="800" b="1">
                <a:solidFill>
                  <a:srgbClr val="0F766E"/>
                </a:solidFill>
                <a:latin typeface="Raleway" pitchFamily="34" charset="0"/>
                <a:ea typeface="Raleway" pitchFamily="34" charset="-122"/>
                <a:cs typeface="Raleway" pitchFamily="34" charset="-120"/>
              </a:rPr>
              <a:t>SLA-backed</a:t>
            </a:r>
            <a:endParaRPr lang="en-US" sz="800"/>
          </a:p>
        </p:txBody>
      </p:sp>
      <p:sp>
        <p:nvSpPr>
          <p:cNvPr id="85" name="Shape 74"/>
          <p:cNvSpPr/>
          <p:nvPr/>
        </p:nvSpPr>
        <p:spPr>
          <a:xfrm>
            <a:off x="761695" y="5800954"/>
            <a:ext cx="5029200" cy="9144"/>
          </a:xfrm>
          <a:prstGeom prst="rect">
            <a:avLst/>
          </a:prstGeom>
          <a:solidFill>
            <a:srgbClr val="F3F4F6"/>
          </a:solidFill>
          <a:ln w="12700">
            <a:solidFill>
              <a:srgbClr val="F3F4F6">
                <a:alpha val="0"/>
              </a:srgbClr>
            </a:solidFill>
            <a:prstDash val="solid"/>
          </a:ln>
        </p:spPr>
        <p:txBody>
          <a:bodyPr/>
          <a:lstStyle/>
          <a:p>
            <a:endParaRPr lang="en-US"/>
          </a:p>
        </p:txBody>
      </p:sp>
      <p:sp>
        <p:nvSpPr>
          <p:cNvPr id="86" name="Text 75"/>
          <p:cNvSpPr txBox="1"/>
          <p:nvPr/>
        </p:nvSpPr>
        <p:spPr>
          <a:xfrm>
            <a:off x="838505" y="5619902"/>
            <a:ext cx="1467612" cy="133502"/>
          </a:xfrm>
          <a:prstGeom prst="rect">
            <a:avLst/>
          </a:prstGeom>
          <a:noFill/>
          <a:ln/>
        </p:spPr>
        <p:txBody>
          <a:bodyPr wrap="none" lIns="0" tIns="0" rIns="0" bIns="0" rtlCol="0" anchor="ctr"/>
          <a:lstStyle/>
          <a:p>
            <a:pPr marL="0" indent="0" algn="l">
              <a:buNone/>
            </a:pPr>
            <a:r>
              <a:rPr lang="en-US" sz="800" b="1">
                <a:solidFill>
                  <a:srgbClr val="4B5563"/>
                </a:solidFill>
                <a:latin typeface="Raleway" pitchFamily="34" charset="0"/>
                <a:ea typeface="Raleway" pitchFamily="34" charset="-122"/>
                <a:cs typeface="Raleway" pitchFamily="34" charset="-120"/>
              </a:rPr>
              <a:t>Scalability</a:t>
            </a:r>
            <a:endParaRPr lang="en-US" sz="800"/>
          </a:p>
        </p:txBody>
      </p:sp>
      <p:sp>
        <p:nvSpPr>
          <p:cNvPr id="87" name="Text 76"/>
          <p:cNvSpPr txBox="1"/>
          <p:nvPr/>
        </p:nvSpPr>
        <p:spPr>
          <a:xfrm>
            <a:off x="2301545" y="5619902"/>
            <a:ext cx="1714500" cy="133502"/>
          </a:xfrm>
          <a:prstGeom prst="rect">
            <a:avLst/>
          </a:prstGeom>
          <a:noFill/>
          <a:ln/>
        </p:spPr>
        <p:txBody>
          <a:bodyPr wrap="none" lIns="0" tIns="0" rIns="0" bIns="0" rtlCol="0" anchor="ctr"/>
          <a:lstStyle/>
          <a:p>
            <a:pPr marL="0" indent="0" algn="l">
              <a:buNone/>
            </a:pPr>
            <a:r>
              <a:rPr lang="en-US" sz="800">
                <a:solidFill>
                  <a:srgbClr val="6B7280"/>
                </a:solidFill>
                <a:latin typeface="Raleway" pitchFamily="34" charset="0"/>
                <a:ea typeface="Raleway" pitchFamily="34" charset="-122"/>
                <a:cs typeface="Raleway" pitchFamily="34" charset="-120"/>
              </a:rPr>
              <a:t>Ad-hoc</a:t>
            </a:r>
            <a:endParaRPr lang="en-US" sz="800"/>
          </a:p>
        </p:txBody>
      </p:sp>
      <p:sp>
        <p:nvSpPr>
          <p:cNvPr id="88" name="Text 77"/>
          <p:cNvSpPr txBox="1"/>
          <p:nvPr/>
        </p:nvSpPr>
        <p:spPr>
          <a:xfrm>
            <a:off x="4007815" y="5619902"/>
            <a:ext cx="1714500" cy="133502"/>
          </a:xfrm>
          <a:prstGeom prst="rect">
            <a:avLst/>
          </a:prstGeom>
          <a:noFill/>
          <a:ln/>
        </p:spPr>
        <p:txBody>
          <a:bodyPr wrap="none" lIns="0" tIns="0" rIns="0" bIns="0" rtlCol="0" anchor="ctr"/>
          <a:lstStyle/>
          <a:p>
            <a:pPr marL="0" indent="0" algn="l">
              <a:buNone/>
            </a:pPr>
            <a:r>
              <a:rPr lang="en-US" sz="800" b="1">
                <a:solidFill>
                  <a:srgbClr val="0F766E"/>
                </a:solidFill>
                <a:latin typeface="Raleway" pitchFamily="34" charset="0"/>
                <a:ea typeface="Raleway" pitchFamily="34" charset="-122"/>
                <a:cs typeface="Raleway" pitchFamily="34" charset="-120"/>
              </a:rPr>
              <a:t>Built-in</a:t>
            </a:r>
            <a:endParaRPr lang="en-US" sz="800"/>
          </a:p>
        </p:txBody>
      </p:sp>
      <p:sp>
        <p:nvSpPr>
          <p:cNvPr id="89" name="Text 78"/>
          <p:cNvSpPr txBox="1"/>
          <p:nvPr/>
        </p:nvSpPr>
        <p:spPr>
          <a:xfrm>
            <a:off x="838505" y="5857646"/>
            <a:ext cx="1467612" cy="133502"/>
          </a:xfrm>
          <a:prstGeom prst="rect">
            <a:avLst/>
          </a:prstGeom>
          <a:noFill/>
          <a:ln/>
        </p:spPr>
        <p:txBody>
          <a:bodyPr wrap="none" lIns="0" tIns="0" rIns="0" bIns="0" rtlCol="0" anchor="ctr"/>
          <a:lstStyle/>
          <a:p>
            <a:pPr marL="0" indent="0" algn="l">
              <a:buNone/>
            </a:pPr>
            <a:r>
              <a:rPr lang="en-US" sz="800" b="1">
                <a:solidFill>
                  <a:srgbClr val="4B5563"/>
                </a:solidFill>
                <a:latin typeface="Raleway" pitchFamily="34" charset="0"/>
                <a:ea typeface="Raleway" pitchFamily="34" charset="-122"/>
                <a:cs typeface="Raleway" pitchFamily="34" charset="-120"/>
              </a:rPr>
              <a:t>Cost Flexibility</a:t>
            </a:r>
            <a:endParaRPr lang="en-US" sz="800"/>
          </a:p>
        </p:txBody>
      </p:sp>
      <p:sp>
        <p:nvSpPr>
          <p:cNvPr id="90" name="Text 79"/>
          <p:cNvSpPr txBox="1"/>
          <p:nvPr/>
        </p:nvSpPr>
        <p:spPr>
          <a:xfrm>
            <a:off x="2301545" y="5857646"/>
            <a:ext cx="1714500" cy="133502"/>
          </a:xfrm>
          <a:prstGeom prst="rect">
            <a:avLst/>
          </a:prstGeom>
          <a:noFill/>
          <a:ln/>
        </p:spPr>
        <p:txBody>
          <a:bodyPr wrap="none" lIns="0" tIns="0" rIns="0" bIns="0" rtlCol="0" anchor="ctr"/>
          <a:lstStyle/>
          <a:p>
            <a:pPr marL="0" indent="0" algn="l">
              <a:buNone/>
            </a:pPr>
            <a:r>
              <a:rPr lang="en-US" sz="800">
                <a:solidFill>
                  <a:srgbClr val="6B7280"/>
                </a:solidFill>
                <a:latin typeface="Raleway" pitchFamily="34" charset="0"/>
                <a:ea typeface="Raleway" pitchFamily="34" charset="-122"/>
                <a:cs typeface="Raleway" pitchFamily="34" charset="-120"/>
              </a:rPr>
              <a:t>Fixed</a:t>
            </a:r>
            <a:endParaRPr lang="en-US" sz="800"/>
          </a:p>
        </p:txBody>
      </p:sp>
      <p:sp>
        <p:nvSpPr>
          <p:cNvPr id="91" name="Text 80"/>
          <p:cNvSpPr txBox="1"/>
          <p:nvPr/>
        </p:nvSpPr>
        <p:spPr>
          <a:xfrm>
            <a:off x="4007815" y="5857646"/>
            <a:ext cx="1921154" cy="133502"/>
          </a:xfrm>
          <a:prstGeom prst="rect">
            <a:avLst/>
          </a:prstGeom>
          <a:noFill/>
          <a:ln/>
        </p:spPr>
        <p:txBody>
          <a:bodyPr wrap="none" lIns="0" tIns="0" rIns="0" bIns="0" rtlCol="0" anchor="ctr"/>
          <a:lstStyle/>
          <a:p>
            <a:pPr marL="0" indent="0" algn="l">
              <a:buNone/>
            </a:pPr>
            <a:r>
              <a:rPr lang="en-US" sz="800" b="1">
                <a:solidFill>
                  <a:srgbClr val="0F766E"/>
                </a:solidFill>
                <a:latin typeface="Raleway" pitchFamily="34" charset="0"/>
                <a:ea typeface="Raleway" pitchFamily="34" charset="-122"/>
                <a:cs typeface="Raleway" pitchFamily="34" charset="-120"/>
              </a:rPr>
              <a:t>Variable &amp; performance-based</a:t>
            </a:r>
            <a:endParaRPr lang="en-US" sz="800"/>
          </a:p>
        </p:txBody>
      </p:sp>
      <p:pic>
        <p:nvPicPr>
          <p:cNvPr id="92" name="Image 9" descr="gen-dedup-9ab84477f1b24298cf62c9612563352f.png"/>
          <p:cNvPicPr>
            <a:picLocks noChangeAspect="1"/>
          </p:cNvPicPr>
          <p:nvPr/>
        </p:nvPicPr>
        <p:blipFill>
          <a:blip r:embed="rId12"/>
          <a:srcRect t="-30480" b="-30480"/>
          <a:stretch/>
        </p:blipFill>
        <p:spPr>
          <a:xfrm>
            <a:off x="6324905" y="4024274"/>
            <a:ext cx="133502" cy="171907"/>
          </a:xfrm>
          <a:prstGeom prst="rect">
            <a:avLst/>
          </a:prstGeom>
        </p:spPr>
      </p:pic>
      <p:sp>
        <p:nvSpPr>
          <p:cNvPr id="93" name="Text 81"/>
          <p:cNvSpPr txBox="1"/>
          <p:nvPr/>
        </p:nvSpPr>
        <p:spPr>
          <a:xfrm>
            <a:off x="6534302" y="3972154"/>
            <a:ext cx="1825142" cy="277063"/>
          </a:xfrm>
          <a:prstGeom prst="rect">
            <a:avLst/>
          </a:prstGeom>
          <a:noFill/>
          <a:ln/>
        </p:spPr>
        <p:txBody>
          <a:bodyPr wrap="none" lIns="0" tIns="0" rIns="0" bIns="0" rtlCol="0" anchor="ctr"/>
          <a:lstStyle/>
          <a:p>
            <a:pPr marL="0" indent="0" algn="l">
              <a:buNone/>
            </a:pPr>
            <a:r>
              <a:rPr lang="en-US" sz="1400" b="1" dirty="0">
                <a:solidFill>
                  <a:srgbClr val="1F2937"/>
                </a:solidFill>
                <a:latin typeface="Oswald" pitchFamily="34" charset="0"/>
                <a:ea typeface="Oswald" pitchFamily="34" charset="-122"/>
                <a:cs typeface="Oswald" pitchFamily="34" charset="-120"/>
              </a:rPr>
              <a:t>RELEVANCE TO CLIENT</a:t>
            </a:r>
            <a:endParaRPr lang="en-US" sz="1400" dirty="0"/>
          </a:p>
        </p:txBody>
      </p:sp>
      <p:sp>
        <p:nvSpPr>
          <p:cNvPr id="94" name="Shape 82"/>
          <p:cNvSpPr/>
          <p:nvPr/>
        </p:nvSpPr>
        <p:spPr>
          <a:xfrm>
            <a:off x="6324905" y="4362602"/>
            <a:ext cx="5105095" cy="1200607"/>
          </a:xfrm>
          <a:prstGeom prst="roundRect">
            <a:avLst>
              <a:gd name="adj" fmla="val 7253"/>
            </a:avLst>
          </a:prstGeom>
          <a:solidFill>
            <a:srgbClr val="FEF2F2"/>
          </a:solidFill>
          <a:ln w="12700">
            <a:solidFill>
              <a:srgbClr val="FCA5A5"/>
            </a:solidFill>
            <a:prstDash val="solid"/>
          </a:ln>
        </p:spPr>
        <p:txBody>
          <a:bodyPr/>
          <a:lstStyle/>
          <a:p>
            <a:endParaRPr lang="en-US"/>
          </a:p>
        </p:txBody>
      </p:sp>
      <p:sp>
        <p:nvSpPr>
          <p:cNvPr id="95" name="Text 83"/>
          <p:cNvSpPr txBox="1"/>
          <p:nvPr/>
        </p:nvSpPr>
        <p:spPr>
          <a:xfrm>
            <a:off x="7018020" y="4562856"/>
            <a:ext cx="1134770" cy="428854"/>
          </a:xfrm>
          <a:prstGeom prst="rect">
            <a:avLst/>
          </a:prstGeom>
          <a:noFill/>
          <a:ln/>
        </p:spPr>
        <p:txBody>
          <a:bodyPr wrap="none" lIns="0" tIns="0" rIns="0" bIns="0" rtlCol="0" anchor="ctr"/>
          <a:lstStyle/>
          <a:p>
            <a:pPr marL="0" indent="0" algn="ctr">
              <a:buNone/>
            </a:pPr>
            <a:r>
              <a:rPr lang="en-US" sz="3300" b="1">
                <a:solidFill>
                  <a:srgbClr val="D62839"/>
                </a:solidFill>
                <a:latin typeface="Oswald" pitchFamily="34" charset="0"/>
                <a:ea typeface="Oswald" pitchFamily="34" charset="-122"/>
                <a:cs typeface="Oswald" pitchFamily="34" charset="-120"/>
              </a:rPr>
              <a:t>250+</a:t>
            </a:r>
            <a:endParaRPr lang="en-US" sz="3300"/>
          </a:p>
        </p:txBody>
      </p:sp>
      <p:sp>
        <p:nvSpPr>
          <p:cNvPr id="96" name="Text 84"/>
          <p:cNvSpPr txBox="1"/>
          <p:nvPr/>
        </p:nvSpPr>
        <p:spPr>
          <a:xfrm>
            <a:off x="6951269" y="5027371"/>
            <a:ext cx="1267358" cy="152705"/>
          </a:xfrm>
          <a:prstGeom prst="rect">
            <a:avLst/>
          </a:prstGeom>
          <a:noFill/>
          <a:ln/>
        </p:spPr>
        <p:txBody>
          <a:bodyPr wrap="none" lIns="0" tIns="0" rIns="0" bIns="0" rtlCol="0" anchor="ctr"/>
          <a:lstStyle/>
          <a:p>
            <a:pPr marL="0" indent="0" algn="ctr">
              <a:buNone/>
            </a:pPr>
            <a:r>
              <a:rPr lang="en-US" sz="1000" b="1">
                <a:solidFill>
                  <a:srgbClr val="991B1B"/>
                </a:solidFill>
                <a:latin typeface="Roboto Condensed" pitchFamily="34" charset="0"/>
                <a:ea typeface="Roboto Condensed" pitchFamily="34" charset="-122"/>
                <a:cs typeface="Roboto Condensed" pitchFamily="34" charset="-120"/>
              </a:rPr>
              <a:t>Global Centers</a:t>
            </a:r>
            <a:endParaRPr lang="en-US" sz="1000"/>
          </a:p>
        </p:txBody>
      </p:sp>
      <p:pic>
        <p:nvPicPr>
          <p:cNvPr id="97" name="Image 10" descr="gen-dedup-5e9872b339ca97363a052a98d72d331e.png"/>
          <p:cNvPicPr>
            <a:picLocks noChangeAspect="1"/>
          </p:cNvPicPr>
          <p:nvPr/>
        </p:nvPicPr>
        <p:blipFill>
          <a:blip r:embed="rId13"/>
          <a:srcRect t="-2100" b="-2100"/>
          <a:stretch/>
        </p:blipFill>
        <p:spPr>
          <a:xfrm>
            <a:off x="8357616" y="4486046"/>
            <a:ext cx="9144" cy="476402"/>
          </a:xfrm>
          <a:prstGeom prst="rect">
            <a:avLst/>
          </a:prstGeom>
        </p:spPr>
      </p:pic>
      <p:sp>
        <p:nvSpPr>
          <p:cNvPr id="98" name="Text 85"/>
          <p:cNvSpPr txBox="1"/>
          <p:nvPr/>
        </p:nvSpPr>
        <p:spPr>
          <a:xfrm>
            <a:off x="8672170" y="4562856"/>
            <a:ext cx="1981505" cy="428854"/>
          </a:xfrm>
          <a:prstGeom prst="rect">
            <a:avLst/>
          </a:prstGeom>
          <a:noFill/>
          <a:ln/>
        </p:spPr>
        <p:txBody>
          <a:bodyPr wrap="none" lIns="0" tIns="0" rIns="0" bIns="0" rtlCol="0" anchor="ctr"/>
          <a:lstStyle/>
          <a:p>
            <a:pPr marL="0" indent="0" algn="ctr">
              <a:buNone/>
            </a:pPr>
            <a:r>
              <a:rPr lang="en-US" sz="3300" b="1">
                <a:solidFill>
                  <a:srgbClr val="D62839"/>
                </a:solidFill>
                <a:latin typeface="Oswald" pitchFamily="34" charset="0"/>
                <a:ea typeface="Oswald" pitchFamily="34" charset="-122"/>
                <a:cs typeface="Oswald" pitchFamily="34" charset="-120"/>
              </a:rPr>
              <a:t>30–40%</a:t>
            </a:r>
            <a:endParaRPr lang="en-US" sz="3300"/>
          </a:p>
        </p:txBody>
      </p:sp>
      <p:sp>
        <p:nvSpPr>
          <p:cNvPr id="99" name="Text 86"/>
          <p:cNvSpPr txBox="1"/>
          <p:nvPr/>
        </p:nvSpPr>
        <p:spPr>
          <a:xfrm>
            <a:off x="8483803" y="5027371"/>
            <a:ext cx="2358238" cy="152705"/>
          </a:xfrm>
          <a:prstGeom prst="rect">
            <a:avLst/>
          </a:prstGeom>
          <a:noFill/>
          <a:ln/>
        </p:spPr>
        <p:txBody>
          <a:bodyPr wrap="none" lIns="0" tIns="0" rIns="0" bIns="0" rtlCol="0" anchor="ctr"/>
          <a:lstStyle/>
          <a:p>
            <a:pPr marL="0" indent="0" algn="ctr">
              <a:buNone/>
            </a:pPr>
            <a:r>
              <a:rPr lang="en-US" sz="1000" b="1">
                <a:solidFill>
                  <a:srgbClr val="991B1B"/>
                </a:solidFill>
                <a:latin typeface="Roboto Condensed" pitchFamily="34" charset="0"/>
                <a:ea typeface="Roboto Condensed" pitchFamily="34" charset="-122"/>
                <a:cs typeface="Roboto Condensed" pitchFamily="34" charset="-120"/>
              </a:rPr>
              <a:t>Time-to-Excellence Accelerated</a:t>
            </a:r>
            <a:endParaRPr lang="en-US" sz="1000"/>
          </a:p>
        </p:txBody>
      </p:sp>
      <p:sp>
        <p:nvSpPr>
          <p:cNvPr id="100" name="Text 87"/>
          <p:cNvSpPr txBox="1"/>
          <p:nvPr/>
        </p:nvSpPr>
        <p:spPr>
          <a:xfrm>
            <a:off x="6452921" y="5255971"/>
            <a:ext cx="4858207" cy="191110"/>
          </a:xfrm>
          <a:prstGeom prst="rect">
            <a:avLst/>
          </a:prstGeom>
          <a:noFill/>
          <a:ln/>
        </p:spPr>
        <p:txBody>
          <a:bodyPr wrap="none" lIns="0" tIns="0" rIns="0" bIns="0" rtlCol="0" anchor="ctr"/>
          <a:lstStyle/>
          <a:p>
            <a:pPr marL="0" indent="0" algn="ctr">
              <a:buNone/>
            </a:pPr>
            <a:r>
              <a:rPr lang="en-US" sz="1000" dirty="0">
                <a:solidFill>
                  <a:srgbClr val="7F1D1D"/>
                </a:solidFill>
                <a:latin typeface="Raleway" pitchFamily="34" charset="0"/>
                <a:ea typeface="Raleway" pitchFamily="34" charset="-122"/>
                <a:cs typeface="Raleway" pitchFamily="34" charset="-120"/>
              </a:rPr>
              <a:t>{client}  gains institutional knowledge from transformed global centers.</a:t>
            </a:r>
            <a:endParaRPr lang="en-US" sz="1000" dirty="0"/>
          </a:p>
        </p:txBody>
      </p:sp>
      <p:sp>
        <p:nvSpPr>
          <p:cNvPr id="101" name="Text 88"/>
          <p:cNvSpPr txBox="1"/>
          <p:nvPr/>
        </p:nvSpPr>
        <p:spPr>
          <a:xfrm>
            <a:off x="2079346" y="6367882"/>
            <a:ext cx="9238183" cy="162763"/>
          </a:xfrm>
          <a:prstGeom prst="rect">
            <a:avLst/>
          </a:prstGeom>
          <a:noFill/>
          <a:ln/>
        </p:spPr>
        <p:txBody>
          <a:bodyPr wrap="none" lIns="0" tIns="0" rIns="0" bIns="0" rtlCol="0" anchor="ctr"/>
          <a:lstStyle/>
          <a:p>
            <a:pPr marL="0" indent="0" algn="l">
              <a:buNone/>
            </a:pPr>
            <a:r>
              <a:rPr lang="en-US" sz="800" b="1" dirty="0">
                <a:solidFill>
                  <a:srgbClr val="1F2937"/>
                </a:solidFill>
                <a:latin typeface="Raleway" pitchFamily="34" charset="0"/>
                <a:ea typeface="Raleway" pitchFamily="34" charset="-122"/>
                <a:cs typeface="Raleway" pitchFamily="34" charset="-120"/>
              </a:rPr>
              <a:t> J2W has transformed 250+ global centers.  {{client}} gains from this institutional knowledge, accelerating time-to-excellence by 30–40%. </a:t>
            </a:r>
            <a:endParaRPr lang="en-US" sz="1000" dirty="0"/>
          </a:p>
        </p:txBody>
      </p:sp>
      <p:pic>
        <p:nvPicPr>
          <p:cNvPr id="102" name="Image 11" descr="gen-dedup-315c4f0fede1ff4637c888960421344a.png"/>
          <p:cNvPicPr>
            <a:picLocks noChangeAspect="1"/>
          </p:cNvPicPr>
          <p:nvPr/>
        </p:nvPicPr>
        <p:blipFill>
          <a:blip r:embed="rId14"/>
          <a:srcRect t="-5544" b="-5544"/>
          <a:stretch/>
        </p:blipFill>
        <p:spPr>
          <a:xfrm>
            <a:off x="1868119" y="6384341"/>
            <a:ext cx="105156" cy="133502"/>
          </a:xfrm>
          <a:prstGeom prst="rect">
            <a:avLst/>
          </a:prstGeom>
        </p:spPr>
      </p:pic>
      <p:sp>
        <p:nvSpPr>
          <p:cNvPr id="104" name="Text 15">
            <a:extLst>
              <a:ext uri="{FF2B5EF4-FFF2-40B4-BE49-F238E27FC236}">
                <a16:creationId xmlns:a16="http://schemas.microsoft.com/office/drawing/2014/main" id="{588138F4-61E6-C818-E657-35AA3245D5C3}"/>
              </a:ext>
            </a:extLst>
          </p:cNvPr>
          <p:cNvSpPr txBox="1"/>
          <p:nvPr/>
        </p:nvSpPr>
        <p:spPr>
          <a:xfrm flipH="1">
            <a:off x="11778343" y="6515100"/>
            <a:ext cx="283028" cy="255814"/>
          </a:xfrm>
          <a:prstGeom prst="rect">
            <a:avLst/>
          </a:prstGeom>
          <a:noFill/>
          <a:ln/>
        </p:spPr>
        <p:txBody>
          <a:bodyPr wrap="none" lIns="0" tIns="0" rIns="0" bIns="0" rtlCol="0" anchor="ctr"/>
          <a:lstStyle/>
          <a:p>
            <a:pPr marL="0" indent="0" algn="ctr">
              <a:buNone/>
            </a:pPr>
            <a:r>
              <a:rPr lang="en-US" sz="1600" b="1" dirty="0">
                <a:solidFill>
                  <a:schemeClr val="bg1">
                    <a:lumMod val="50000"/>
                  </a:schemeClr>
                </a:solidFill>
                <a:latin typeface="Oswald" pitchFamily="34" charset="0"/>
              </a:rPr>
              <a:t>18</a:t>
            </a:r>
            <a:endParaRPr lang="en-US" sz="1600" dirty="0">
              <a:solidFill>
                <a:schemeClr val="bg1">
                  <a:lumMod val="50000"/>
                </a:schemeClr>
              </a:solidFill>
            </a:endParaRPr>
          </a:p>
        </p:txBody>
      </p:sp>
    </p:spTree>
    <p:extLst>
      <p:ext uri="{BB962C8B-B14F-4D97-AF65-F5344CB8AC3E}">
        <p14:creationId xmlns:p14="http://schemas.microsoft.com/office/powerpoint/2010/main" val="20243988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9334195" y="-952805"/>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4ab2116e971fbb9400d0e99205bd0390.png"/>
          <p:cNvPicPr>
            <a:picLocks noChangeAspect="1"/>
          </p:cNvPicPr>
          <p:nvPr/>
        </p:nvPicPr>
        <p:blipFill>
          <a:blip r:embed="rId3">
            <a:alphaModFix amt="5000"/>
          </a:blip>
          <a:srcRect/>
          <a:stretch/>
        </p:blipFill>
        <p:spPr>
          <a:xfrm>
            <a:off x="10001707" y="5238598"/>
            <a:ext cx="1904695" cy="1904695"/>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sp>
        <p:nvSpPr>
          <p:cNvPr id="8" name="Text 3"/>
          <p:cNvSpPr txBox="1"/>
          <p:nvPr/>
        </p:nvSpPr>
        <p:spPr>
          <a:xfrm>
            <a:off x="381305" y="1143000"/>
            <a:ext cx="2382012" cy="1524305"/>
          </a:xfrm>
          <a:prstGeom prst="rect">
            <a:avLst/>
          </a:prstGeom>
          <a:noFill/>
          <a:ln/>
        </p:spPr>
        <p:txBody>
          <a:bodyPr wrap="none" lIns="0" tIns="0" rIns="0" bIns="0" rtlCol="0" anchor="ctr"/>
          <a:lstStyle/>
          <a:p>
            <a:pPr marL="0" indent="0" algn="l">
              <a:buNone/>
            </a:pPr>
            <a:r>
              <a:rPr lang="en-US" sz="12000" b="1">
                <a:solidFill>
                  <a:srgbClr val="F3F4F6"/>
                </a:solidFill>
                <a:latin typeface="Oswald" pitchFamily="34" charset="0"/>
                <a:ea typeface="Oswald" pitchFamily="34" charset="-122"/>
                <a:cs typeface="Oswald" pitchFamily="34" charset="-120"/>
              </a:rPr>
              <a:t>02</a:t>
            </a:r>
            <a:endParaRPr lang="en-US" sz="12000"/>
          </a:p>
        </p:txBody>
      </p:sp>
      <p:pic>
        <p:nvPicPr>
          <p:cNvPr id="11" name="Image 3" descr="gen-dedup-90395934058aa4b7c1bff00d7e70c0a4.png"/>
          <p:cNvPicPr>
            <a:picLocks noChangeAspect="1"/>
          </p:cNvPicPr>
          <p:nvPr/>
        </p:nvPicPr>
        <p:blipFill>
          <a:blip r:embed="rId6"/>
          <a:srcRect l="-416" r="-416"/>
          <a:stretch/>
        </p:blipFill>
        <p:spPr>
          <a:xfrm>
            <a:off x="1143000" y="2428646"/>
            <a:ext cx="57607" cy="714146"/>
          </a:xfrm>
          <a:prstGeom prst="rect">
            <a:avLst/>
          </a:prstGeom>
        </p:spPr>
      </p:pic>
      <p:sp>
        <p:nvSpPr>
          <p:cNvPr id="12" name="Text 6"/>
          <p:cNvSpPr txBox="1"/>
          <p:nvPr/>
        </p:nvSpPr>
        <p:spPr>
          <a:xfrm>
            <a:off x="1429207" y="2333549"/>
            <a:ext cx="9525305" cy="762610"/>
          </a:xfrm>
          <a:prstGeom prst="rect">
            <a:avLst/>
          </a:prstGeom>
          <a:noFill/>
          <a:ln/>
        </p:spPr>
        <p:txBody>
          <a:bodyPr wrap="none" lIns="0" tIns="0" rIns="0" bIns="0" rtlCol="0" anchor="ctr"/>
          <a:lstStyle/>
          <a:p>
            <a:pPr marL="0" indent="0" algn="l">
              <a:buNone/>
            </a:pPr>
            <a:r>
              <a:rPr lang="en-US" sz="5400" b="1" kern="0" spc="108">
                <a:solidFill>
                  <a:srgbClr val="111827"/>
                </a:solidFill>
                <a:latin typeface="Oswald" pitchFamily="34" charset="0"/>
                <a:ea typeface="Oswald" pitchFamily="34" charset="-122"/>
                <a:cs typeface="Oswald" pitchFamily="34" charset="-120"/>
              </a:rPr>
              <a:t>AI PODS</a:t>
            </a:r>
            <a:endParaRPr lang="en-US" sz="5400"/>
          </a:p>
        </p:txBody>
      </p:sp>
      <p:sp>
        <p:nvSpPr>
          <p:cNvPr id="13" name="Text 7"/>
          <p:cNvSpPr txBox="1"/>
          <p:nvPr/>
        </p:nvSpPr>
        <p:spPr>
          <a:xfrm>
            <a:off x="1429207" y="3333902"/>
            <a:ext cx="10687507" cy="352958"/>
          </a:xfrm>
          <a:prstGeom prst="rect">
            <a:avLst/>
          </a:prstGeom>
          <a:noFill/>
          <a:ln/>
        </p:spPr>
        <p:txBody>
          <a:bodyPr wrap="none" lIns="0" tIns="0" rIns="0" bIns="0" rtlCol="0" anchor="ctr"/>
          <a:lstStyle/>
          <a:p>
            <a:pPr marL="0" indent="0" algn="l">
              <a:buNone/>
            </a:pPr>
            <a:r>
              <a:rPr lang="en-US" sz="2100">
                <a:solidFill>
                  <a:srgbClr val="2A9D8F"/>
                </a:solidFill>
                <a:latin typeface="Raleway" pitchFamily="34" charset="0"/>
                <a:ea typeface="Raleway" pitchFamily="34" charset="-122"/>
                <a:cs typeface="Raleway" pitchFamily="34" charset="-120"/>
              </a:rPr>
              <a:t>AI-first engineering pods - governed, certified, and compounding from Day 1</a:t>
            </a:r>
            <a:endParaRPr lang="en-US" sz="2100"/>
          </a:p>
        </p:txBody>
      </p:sp>
      <p:sp>
        <p:nvSpPr>
          <p:cNvPr id="14" name="Text 8"/>
          <p:cNvSpPr txBox="1"/>
          <p:nvPr/>
        </p:nvSpPr>
        <p:spPr>
          <a:xfrm>
            <a:off x="1429207" y="4143146"/>
            <a:ext cx="9335110" cy="5532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This is a fully governed, outcome-bound delivery model-not traditional staff augmentation. We embed complete engineering units that integrate directly into your sprint cycles, governed by strict SLAs and continuous AI upskilling.</a:t>
            </a:r>
            <a:endParaRPr lang="en-US" sz="1300"/>
          </a:p>
        </p:txBody>
      </p:sp>
      <p:pic>
        <p:nvPicPr>
          <p:cNvPr id="15" name="Image 4" descr="gen-dedup-818c62191cf4a66fb5704c7f87e3fedf.png"/>
          <p:cNvPicPr>
            <a:picLocks noChangeAspect="1"/>
          </p:cNvPicPr>
          <p:nvPr/>
        </p:nvPicPr>
        <p:blipFill>
          <a:blip r:embed="rId7"/>
          <a:srcRect l="-166" r="-166"/>
          <a:stretch/>
        </p:blipFill>
        <p:spPr>
          <a:xfrm>
            <a:off x="1429207" y="5143500"/>
            <a:ext cx="1933956" cy="418795"/>
          </a:xfrm>
          <a:prstGeom prst="rect">
            <a:avLst/>
          </a:prstGeom>
        </p:spPr>
      </p:pic>
      <p:sp>
        <p:nvSpPr>
          <p:cNvPr id="16" name="Shape 9"/>
          <p:cNvSpPr/>
          <p:nvPr/>
        </p:nvSpPr>
        <p:spPr>
          <a:xfrm>
            <a:off x="1429207" y="5143500"/>
            <a:ext cx="1933956" cy="418795"/>
          </a:xfrm>
          <a:prstGeom prst="roundRect">
            <a:avLst>
              <a:gd name="adj" fmla="val 13755"/>
            </a:avLst>
          </a:prstGeom>
          <a:noFill/>
          <a:ln w="12700">
            <a:solidFill>
              <a:srgbClr val="E5E7EB"/>
            </a:solidFill>
            <a:prstDash val="solid"/>
          </a:ln>
        </p:spPr>
        <p:txBody>
          <a:bodyPr/>
          <a:lstStyle/>
          <a:p>
            <a:endParaRPr lang="en-US"/>
          </a:p>
        </p:txBody>
      </p:sp>
      <p:sp>
        <p:nvSpPr>
          <p:cNvPr id="17" name="Text 10"/>
          <p:cNvSpPr txBox="1"/>
          <p:nvPr/>
        </p:nvSpPr>
        <p:spPr>
          <a:xfrm>
            <a:off x="1653845" y="5143500"/>
            <a:ext cx="1495958"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 10-day onboarding </a:t>
            </a:r>
            <a:endParaRPr lang="en-US" sz="1100"/>
          </a:p>
        </p:txBody>
      </p:sp>
      <p:pic>
        <p:nvPicPr>
          <p:cNvPr id="18" name="Image 5" descr="gen-dedup-a287ae7abd092c83dc5f899415c51d00.png"/>
          <p:cNvPicPr>
            <a:picLocks noChangeAspect="1"/>
          </p:cNvPicPr>
          <p:nvPr/>
        </p:nvPicPr>
        <p:blipFill>
          <a:blip r:embed="rId8"/>
          <a:srcRect t="-16800" b="-16800"/>
          <a:stretch/>
        </p:blipFill>
        <p:spPr>
          <a:xfrm>
            <a:off x="1657807" y="5277002"/>
            <a:ext cx="114300" cy="152705"/>
          </a:xfrm>
          <a:prstGeom prst="rect">
            <a:avLst/>
          </a:prstGeom>
        </p:spPr>
      </p:pic>
      <p:pic>
        <p:nvPicPr>
          <p:cNvPr id="19" name="Image 6" descr="gen-dedup-0363cb9fbb55bfd8aa96459f99cffd70.png"/>
          <p:cNvPicPr>
            <a:picLocks noChangeAspect="1"/>
          </p:cNvPicPr>
          <p:nvPr/>
        </p:nvPicPr>
        <p:blipFill>
          <a:blip r:embed="rId9"/>
          <a:srcRect l="-260" r="-260"/>
          <a:stretch/>
        </p:blipFill>
        <p:spPr>
          <a:xfrm>
            <a:off x="3510382" y="5143500"/>
            <a:ext cx="1543507" cy="418795"/>
          </a:xfrm>
          <a:prstGeom prst="rect">
            <a:avLst/>
          </a:prstGeom>
        </p:spPr>
      </p:pic>
      <p:sp>
        <p:nvSpPr>
          <p:cNvPr id="20" name="Shape 11"/>
          <p:cNvSpPr/>
          <p:nvPr/>
        </p:nvSpPr>
        <p:spPr>
          <a:xfrm>
            <a:off x="3510382" y="5143500"/>
            <a:ext cx="1543507" cy="418795"/>
          </a:xfrm>
          <a:prstGeom prst="roundRect">
            <a:avLst>
              <a:gd name="adj" fmla="val 13755"/>
            </a:avLst>
          </a:prstGeom>
          <a:noFill/>
          <a:ln w="12700">
            <a:solidFill>
              <a:srgbClr val="E5E7EB"/>
            </a:solidFill>
            <a:prstDash val="solid"/>
          </a:ln>
        </p:spPr>
        <p:txBody>
          <a:bodyPr/>
          <a:lstStyle/>
          <a:p>
            <a:endParaRPr lang="en-US"/>
          </a:p>
        </p:txBody>
      </p:sp>
      <p:sp>
        <p:nvSpPr>
          <p:cNvPr id="21" name="Text 12"/>
          <p:cNvSpPr txBox="1"/>
          <p:nvPr/>
        </p:nvSpPr>
        <p:spPr>
          <a:xfrm>
            <a:off x="3735019" y="5143500"/>
            <a:ext cx="1105510"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 90-day POFU </a:t>
            </a:r>
            <a:endParaRPr lang="en-US" sz="1100"/>
          </a:p>
        </p:txBody>
      </p:sp>
      <p:pic>
        <p:nvPicPr>
          <p:cNvPr id="22" name="Image 7" descr="gen-dedup-c395ac9c840728d6470a4a8b33662e6e.png"/>
          <p:cNvPicPr>
            <a:picLocks noChangeAspect="1"/>
          </p:cNvPicPr>
          <p:nvPr/>
        </p:nvPicPr>
        <p:blipFill>
          <a:blip r:embed="rId10"/>
          <a:srcRect t="-16800" b="-16800"/>
          <a:stretch/>
        </p:blipFill>
        <p:spPr>
          <a:xfrm>
            <a:off x="3738982" y="5277002"/>
            <a:ext cx="114300" cy="152705"/>
          </a:xfrm>
          <a:prstGeom prst="rect">
            <a:avLst/>
          </a:prstGeom>
        </p:spPr>
      </p:pic>
      <p:pic>
        <p:nvPicPr>
          <p:cNvPr id="23" name="Image 8" descr="gen-dedup-fe10f786880821f62e6e2a70ff719369.png"/>
          <p:cNvPicPr>
            <a:picLocks noChangeAspect="1"/>
          </p:cNvPicPr>
          <p:nvPr/>
        </p:nvPicPr>
        <p:blipFill>
          <a:blip r:embed="rId11"/>
          <a:srcRect l="-58" r="-58"/>
          <a:stretch/>
        </p:blipFill>
        <p:spPr>
          <a:xfrm>
            <a:off x="5199278" y="5143500"/>
            <a:ext cx="2619756" cy="418795"/>
          </a:xfrm>
          <a:prstGeom prst="rect">
            <a:avLst/>
          </a:prstGeom>
        </p:spPr>
      </p:pic>
      <p:sp>
        <p:nvSpPr>
          <p:cNvPr id="24" name="Shape 13"/>
          <p:cNvSpPr/>
          <p:nvPr/>
        </p:nvSpPr>
        <p:spPr>
          <a:xfrm>
            <a:off x="5199278" y="5143500"/>
            <a:ext cx="2619756" cy="418795"/>
          </a:xfrm>
          <a:prstGeom prst="roundRect">
            <a:avLst>
              <a:gd name="adj" fmla="val 13755"/>
            </a:avLst>
          </a:prstGeom>
          <a:noFill/>
          <a:ln w="12700">
            <a:solidFill>
              <a:srgbClr val="E5E7EB"/>
            </a:solidFill>
            <a:prstDash val="solid"/>
          </a:ln>
        </p:spPr>
        <p:txBody>
          <a:bodyPr/>
          <a:lstStyle/>
          <a:p>
            <a:endParaRPr lang="en-US"/>
          </a:p>
        </p:txBody>
      </p:sp>
      <p:sp>
        <p:nvSpPr>
          <p:cNvPr id="25" name="Text 14"/>
          <p:cNvSpPr txBox="1"/>
          <p:nvPr/>
        </p:nvSpPr>
        <p:spPr>
          <a:xfrm>
            <a:off x="5423916" y="5143500"/>
            <a:ext cx="2181758"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 85% sprint completion target </a:t>
            </a:r>
            <a:endParaRPr lang="en-US" sz="1100"/>
          </a:p>
        </p:txBody>
      </p:sp>
      <p:pic>
        <p:nvPicPr>
          <p:cNvPr id="26" name="Image 9" descr="gen-dedup-7637b076e607f7218cdb4973c81f38e6.png"/>
          <p:cNvPicPr>
            <a:picLocks noChangeAspect="1"/>
          </p:cNvPicPr>
          <p:nvPr/>
        </p:nvPicPr>
        <p:blipFill>
          <a:blip r:embed="rId12"/>
          <a:srcRect t="-8450" b="-8450"/>
          <a:stretch/>
        </p:blipFill>
        <p:spPr>
          <a:xfrm>
            <a:off x="5427878" y="5277002"/>
            <a:ext cx="114300" cy="152705"/>
          </a:xfrm>
          <a:prstGeom prst="rect">
            <a:avLst/>
          </a:prstGeom>
        </p:spPr>
      </p:pic>
      <p:pic>
        <p:nvPicPr>
          <p:cNvPr id="27" name="Image 10" descr="gen-dedup-4b04481605890cd5e2948f325621428b.png"/>
          <p:cNvPicPr>
            <a:picLocks noChangeAspect="1"/>
          </p:cNvPicPr>
          <p:nvPr/>
        </p:nvPicPr>
        <p:blipFill>
          <a:blip r:embed="rId13"/>
          <a:srcRect l="-216" r="-216"/>
          <a:stretch/>
        </p:blipFill>
        <p:spPr>
          <a:xfrm>
            <a:off x="7969910" y="5143500"/>
            <a:ext cx="2562149" cy="418795"/>
          </a:xfrm>
          <a:prstGeom prst="rect">
            <a:avLst/>
          </a:prstGeom>
        </p:spPr>
      </p:pic>
      <p:sp>
        <p:nvSpPr>
          <p:cNvPr id="28" name="Shape 15"/>
          <p:cNvSpPr/>
          <p:nvPr/>
        </p:nvSpPr>
        <p:spPr>
          <a:xfrm>
            <a:off x="7969910" y="5143500"/>
            <a:ext cx="2562149" cy="418795"/>
          </a:xfrm>
          <a:prstGeom prst="roundRect">
            <a:avLst>
              <a:gd name="adj" fmla="val 13755"/>
            </a:avLst>
          </a:prstGeom>
          <a:noFill/>
          <a:ln w="12700">
            <a:solidFill>
              <a:srgbClr val="E5E7EB"/>
            </a:solidFill>
            <a:prstDash val="solid"/>
          </a:ln>
        </p:spPr>
        <p:txBody>
          <a:bodyPr/>
          <a:lstStyle/>
          <a:p>
            <a:endParaRPr lang="en-US"/>
          </a:p>
        </p:txBody>
      </p:sp>
      <p:sp>
        <p:nvSpPr>
          <p:cNvPr id="29" name="Text 16"/>
          <p:cNvSpPr txBox="1"/>
          <p:nvPr/>
        </p:nvSpPr>
        <p:spPr>
          <a:xfrm>
            <a:off x="8194548" y="5143500"/>
            <a:ext cx="2125066"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 0.5 defect density threshold </a:t>
            </a:r>
            <a:endParaRPr lang="en-US" sz="1100"/>
          </a:p>
        </p:txBody>
      </p:sp>
      <p:pic>
        <p:nvPicPr>
          <p:cNvPr id="30" name="Image 11" descr="gen-dedup-de4cb59b8211160ed90cebf7a454cebf.png"/>
          <p:cNvPicPr>
            <a:picLocks noChangeAspect="1"/>
          </p:cNvPicPr>
          <p:nvPr/>
        </p:nvPicPr>
        <p:blipFill>
          <a:blip r:embed="rId14"/>
          <a:srcRect t="-16800" b="-16800"/>
          <a:stretch/>
        </p:blipFill>
        <p:spPr>
          <a:xfrm>
            <a:off x="8198510" y="5277002"/>
            <a:ext cx="114300" cy="152705"/>
          </a:xfrm>
          <a:prstGeom prst="rect">
            <a:avLst/>
          </a:prstGeom>
        </p:spPr>
      </p:pic>
      <p:sp>
        <p:nvSpPr>
          <p:cNvPr id="31" name="Shape 17"/>
          <p:cNvSpPr/>
          <p:nvPr/>
        </p:nvSpPr>
        <p:spPr>
          <a:xfrm>
            <a:off x="1143000" y="6096305"/>
            <a:ext cx="9905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32" name="Text 18"/>
          <p:cNvSpPr txBox="1"/>
          <p:nvPr/>
        </p:nvSpPr>
        <p:spPr>
          <a:xfrm>
            <a:off x="1143000" y="6258154"/>
            <a:ext cx="9906610" cy="181051"/>
          </a:xfrm>
          <a:prstGeom prst="rect">
            <a:avLst/>
          </a:prstGeom>
          <a:noFill/>
          <a:ln/>
        </p:spPr>
        <p:txBody>
          <a:bodyPr wrap="none" lIns="0" tIns="0" rIns="0" bIns="0" rtlCol="0" anchor="ctr"/>
          <a:lstStyle/>
          <a:p>
            <a:pPr marL="0" indent="0" algn="l">
              <a:buNone/>
            </a:pPr>
            <a:r>
              <a:rPr lang="en-US" sz="1200" b="1" kern="0" spc="24">
                <a:solidFill>
                  <a:srgbClr val="6B7280"/>
                </a:solidFill>
                <a:latin typeface="Raleway" pitchFamily="34" charset="0"/>
                <a:ea typeface="Raleway" pitchFamily="34" charset="-122"/>
                <a:cs typeface="Raleway" pitchFamily="34" charset="-120"/>
              </a:rPr>
              <a:t>Scale your engineering footprint with absolute control and measurable outcomes.</a:t>
            </a:r>
            <a:endParaRPr lang="en-US" sz="1200"/>
          </a:p>
        </p:txBody>
      </p:sp>
    </p:spTree>
    <p:extLst>
      <p:ext uri="{BB962C8B-B14F-4D97-AF65-F5344CB8AC3E}">
        <p14:creationId xmlns:p14="http://schemas.microsoft.com/office/powerpoint/2010/main" val="24447062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preencoded.png"/>
          <p:cNvPicPr>
            <a:picLocks noChangeAspect="1"/>
          </p:cNvPicPr>
          <p:nvPr/>
        </p:nvPicPr>
        <p:blipFill>
          <a:blip r:embed="rId3"/>
          <a:srcRect l="-207" r="-207"/>
          <a:stretch/>
        </p:blipFill>
        <p:spPr>
          <a:xfrm>
            <a:off x="0" y="0"/>
            <a:ext cx="4058107" cy="75895"/>
          </a:xfrm>
          <a:prstGeom prst="rect">
            <a:avLst/>
          </a:prstGeom>
        </p:spPr>
      </p:pic>
      <p:pic>
        <p:nvPicPr>
          <p:cNvPr id="5" name="Image 1" descr="preencoded.png"/>
          <p:cNvPicPr>
            <a:picLocks noChangeAspect="1"/>
          </p:cNvPicPr>
          <p:nvPr/>
        </p:nvPicPr>
        <p:blipFill>
          <a:blip r:embed="rId4"/>
          <a:srcRect l="-202" r="-202"/>
          <a:stretch/>
        </p:blipFill>
        <p:spPr>
          <a:xfrm>
            <a:off x="4058107" y="0"/>
            <a:ext cx="8134502" cy="75895"/>
          </a:xfrm>
          <a:prstGeom prst="rect">
            <a:avLst/>
          </a:prstGeom>
        </p:spPr>
      </p:pic>
      <p:sp>
        <p:nvSpPr>
          <p:cNvPr id="6" name="Shape 2"/>
          <p:cNvSpPr/>
          <p:nvPr/>
        </p:nvSpPr>
        <p:spPr>
          <a:xfrm>
            <a:off x="-952805" y="-952805"/>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sp>
        <p:nvSpPr>
          <p:cNvPr id="7" name="Shape 3"/>
          <p:cNvSpPr/>
          <p:nvPr/>
        </p:nvSpPr>
        <p:spPr>
          <a:xfrm>
            <a:off x="9525305" y="4762195"/>
            <a:ext cx="2857500" cy="2857500"/>
          </a:xfrm>
          <a:prstGeom prst="ellipse">
            <a:avLst/>
          </a:prstGeom>
          <a:solidFill>
            <a:srgbClr val="D62839">
              <a:alpha val="3000"/>
            </a:srgbClr>
          </a:solidFill>
          <a:ln w="12700">
            <a:solidFill>
              <a:srgbClr val="FFFFFF">
                <a:alpha val="0"/>
              </a:srgbClr>
            </a:solidFill>
            <a:prstDash val="solid"/>
          </a:ln>
        </p:spPr>
        <p:txBody>
          <a:bodyPr/>
          <a:lstStyle/>
          <a:p>
            <a:endParaRPr lang="en-US"/>
          </a:p>
        </p:txBody>
      </p:sp>
      <p:pic>
        <p:nvPicPr>
          <p:cNvPr id="8" name="Image 2" descr="preencoded.png"/>
          <p:cNvPicPr>
            <a:picLocks noChangeAspect="1"/>
          </p:cNvPicPr>
          <p:nvPr/>
        </p:nvPicPr>
        <p:blipFill>
          <a:blip r:embed="rId5"/>
          <a:srcRect l="-400" r="-400"/>
          <a:stretch/>
        </p:blipFill>
        <p:spPr>
          <a:xfrm>
            <a:off x="609905" y="571500"/>
            <a:ext cx="57607" cy="571500"/>
          </a:xfrm>
          <a:prstGeom prst="rect">
            <a:avLst/>
          </a:prstGeom>
        </p:spPr>
      </p:pic>
      <p:sp>
        <p:nvSpPr>
          <p:cNvPr id="9" name="Shape 4"/>
          <p:cNvSpPr/>
          <p:nvPr/>
        </p:nvSpPr>
        <p:spPr>
          <a:xfrm>
            <a:off x="609905"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5"/>
          <p:cNvSpPr/>
          <p:nvPr/>
        </p:nvSpPr>
        <p:spPr>
          <a:xfrm>
            <a:off x="609905" y="1524305"/>
            <a:ext cx="2628900" cy="47549"/>
          </a:xfrm>
          <a:prstGeom prst="roundRect">
            <a:avLst>
              <a:gd name="adj" fmla="val 149365"/>
            </a:avLst>
          </a:prstGeom>
          <a:solidFill>
            <a:srgbClr val="2A9D8F"/>
          </a:solidFill>
          <a:ln w="12700">
            <a:solidFill>
              <a:srgbClr val="2A9D8F">
                <a:alpha val="0"/>
              </a:srgbClr>
            </a:solidFill>
            <a:prstDash val="solid"/>
          </a:ln>
        </p:spPr>
        <p:txBody>
          <a:bodyPr/>
          <a:lstStyle/>
          <a:p>
            <a:endParaRPr lang="en-US"/>
          </a:p>
        </p:txBody>
      </p:sp>
      <p:sp>
        <p:nvSpPr>
          <p:cNvPr id="11" name="Shape 6"/>
          <p:cNvSpPr/>
          <p:nvPr/>
        </p:nvSpPr>
        <p:spPr>
          <a:xfrm>
            <a:off x="3372307"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7"/>
          <p:cNvSpPr/>
          <p:nvPr/>
        </p:nvSpPr>
        <p:spPr>
          <a:xfrm>
            <a:off x="3372307" y="1524305"/>
            <a:ext cx="2628900" cy="47549"/>
          </a:xfrm>
          <a:prstGeom prst="roundRect">
            <a:avLst>
              <a:gd name="adj" fmla="val 149365"/>
            </a:avLst>
          </a:prstGeom>
          <a:solidFill>
            <a:srgbClr val="D62839"/>
          </a:solidFill>
          <a:ln w="12700">
            <a:solidFill>
              <a:srgbClr val="D62839">
                <a:alpha val="0"/>
              </a:srgbClr>
            </a:solidFill>
            <a:prstDash val="solid"/>
          </a:ln>
        </p:spPr>
        <p:txBody>
          <a:bodyPr/>
          <a:lstStyle/>
          <a:p>
            <a:endParaRPr lang="en-US"/>
          </a:p>
        </p:txBody>
      </p:sp>
      <p:sp>
        <p:nvSpPr>
          <p:cNvPr id="13" name="Shape 8"/>
          <p:cNvSpPr/>
          <p:nvPr/>
        </p:nvSpPr>
        <p:spPr>
          <a:xfrm>
            <a:off x="6133795"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4" name="Shape 9"/>
          <p:cNvSpPr/>
          <p:nvPr/>
        </p:nvSpPr>
        <p:spPr>
          <a:xfrm>
            <a:off x="6133795" y="1524305"/>
            <a:ext cx="2628900" cy="47549"/>
          </a:xfrm>
          <a:prstGeom prst="roundRect">
            <a:avLst>
              <a:gd name="adj" fmla="val 149365"/>
            </a:avLst>
          </a:prstGeom>
          <a:solidFill>
            <a:srgbClr val="2A9D8F"/>
          </a:solidFill>
          <a:ln w="12700">
            <a:solidFill>
              <a:srgbClr val="2A9D8F">
                <a:alpha val="0"/>
              </a:srgbClr>
            </a:solidFill>
            <a:prstDash val="solid"/>
          </a:ln>
        </p:spPr>
        <p:txBody>
          <a:bodyPr/>
          <a:lstStyle/>
          <a:p>
            <a:endParaRPr lang="en-US"/>
          </a:p>
        </p:txBody>
      </p:sp>
      <p:sp>
        <p:nvSpPr>
          <p:cNvPr id="15" name="Shape 10"/>
          <p:cNvSpPr/>
          <p:nvPr/>
        </p:nvSpPr>
        <p:spPr>
          <a:xfrm>
            <a:off x="8896198"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6" name="Shape 11"/>
          <p:cNvSpPr/>
          <p:nvPr/>
        </p:nvSpPr>
        <p:spPr>
          <a:xfrm>
            <a:off x="8896198" y="1524305"/>
            <a:ext cx="2628900" cy="47549"/>
          </a:xfrm>
          <a:prstGeom prst="roundRect">
            <a:avLst>
              <a:gd name="adj" fmla="val 149365"/>
            </a:avLst>
          </a:prstGeom>
          <a:solidFill>
            <a:srgbClr val="D62839"/>
          </a:solidFill>
          <a:ln w="12700">
            <a:solidFill>
              <a:srgbClr val="D62839">
                <a:alpha val="0"/>
              </a:srgbClr>
            </a:solidFill>
            <a:prstDash val="solid"/>
          </a:ln>
        </p:spPr>
        <p:txBody>
          <a:bodyPr/>
          <a:lstStyle/>
          <a:p>
            <a:endParaRPr lang="en-US"/>
          </a:p>
        </p:txBody>
      </p:sp>
      <p:sp>
        <p:nvSpPr>
          <p:cNvPr id="17" name="Shape 12"/>
          <p:cNvSpPr/>
          <p:nvPr/>
        </p:nvSpPr>
        <p:spPr>
          <a:xfrm>
            <a:off x="609905" y="3619195"/>
            <a:ext cx="10916107" cy="2876702"/>
          </a:xfrm>
          <a:prstGeom prst="roundRect">
            <a:avLst>
              <a:gd name="adj" fmla="val 168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pic>
        <p:nvPicPr>
          <p:cNvPr id="18" name="Image 3" descr="preencoded.png"/>
          <p:cNvPicPr>
            <a:picLocks noChangeAspect="1"/>
          </p:cNvPicPr>
          <p:nvPr/>
        </p:nvPicPr>
        <p:blipFill>
          <a:blip r:embed="rId6"/>
          <a:srcRect t="-29" b="-29"/>
          <a:stretch/>
        </p:blipFill>
        <p:spPr>
          <a:xfrm>
            <a:off x="609905" y="3619195"/>
            <a:ext cx="10896905" cy="495605"/>
          </a:xfrm>
          <a:prstGeom prst="rect">
            <a:avLst/>
          </a:prstGeom>
        </p:spPr>
      </p:pic>
      <p:sp>
        <p:nvSpPr>
          <p:cNvPr id="19" name="Shape 13"/>
          <p:cNvSpPr/>
          <p:nvPr/>
        </p:nvSpPr>
        <p:spPr>
          <a:xfrm>
            <a:off x="609905" y="4572000"/>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0" name="Shape 14"/>
          <p:cNvSpPr/>
          <p:nvPr/>
        </p:nvSpPr>
        <p:spPr>
          <a:xfrm>
            <a:off x="609905" y="4572000"/>
            <a:ext cx="10896905" cy="485546"/>
          </a:xfrm>
          <a:prstGeom prst="rect">
            <a:avLst/>
          </a:prstGeom>
          <a:solidFill>
            <a:srgbClr val="2A9D8F">
              <a:alpha val="2000"/>
            </a:srgbClr>
          </a:solidFill>
          <a:ln/>
        </p:spPr>
        <p:txBody>
          <a:bodyPr/>
          <a:lstStyle/>
          <a:p>
            <a:endParaRPr lang="en-US"/>
          </a:p>
        </p:txBody>
      </p:sp>
      <p:sp>
        <p:nvSpPr>
          <p:cNvPr id="21" name="Shape 15"/>
          <p:cNvSpPr/>
          <p:nvPr/>
        </p:nvSpPr>
        <p:spPr>
          <a:xfrm>
            <a:off x="609905" y="5048402"/>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2" name="Shape 16"/>
          <p:cNvSpPr/>
          <p:nvPr/>
        </p:nvSpPr>
        <p:spPr>
          <a:xfrm>
            <a:off x="609905" y="5524805"/>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3" name="Shape 17"/>
          <p:cNvSpPr/>
          <p:nvPr/>
        </p:nvSpPr>
        <p:spPr>
          <a:xfrm>
            <a:off x="609905" y="5524805"/>
            <a:ext cx="10896905" cy="485546"/>
          </a:xfrm>
          <a:prstGeom prst="rect">
            <a:avLst/>
          </a:prstGeom>
          <a:solidFill>
            <a:srgbClr val="2A9D8F">
              <a:alpha val="2000"/>
            </a:srgbClr>
          </a:solidFill>
          <a:ln/>
        </p:spPr>
        <p:txBody>
          <a:bodyPr/>
          <a:lstStyle/>
          <a:p>
            <a:endParaRPr lang="en-US"/>
          </a:p>
        </p:txBody>
      </p:sp>
      <p:sp>
        <p:nvSpPr>
          <p:cNvPr id="24" name="Shape 18"/>
          <p:cNvSpPr/>
          <p:nvPr/>
        </p:nvSpPr>
        <p:spPr>
          <a:xfrm>
            <a:off x="609905" y="6001207"/>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5" name="Text 19"/>
          <p:cNvSpPr txBox="1"/>
          <p:nvPr/>
        </p:nvSpPr>
        <p:spPr>
          <a:xfrm>
            <a:off x="857707" y="466344"/>
            <a:ext cx="10668305" cy="362102"/>
          </a:xfrm>
          <a:prstGeom prst="rect">
            <a:avLst/>
          </a:prstGeom>
          <a:noFill/>
          <a:ln/>
        </p:spPr>
        <p:txBody>
          <a:bodyPr wrap="square" lIns="0" tIns="0" rIns="0" bIns="0" rtlCol="0" anchor="ctr"/>
          <a:lstStyle/>
          <a:p>
            <a:pPr marL="0" indent="0" algn="l">
              <a:buNone/>
            </a:pPr>
            <a:r>
              <a:rPr lang="en-US" sz="2700" b="1" kern="0" spc="38" dirty="0">
                <a:solidFill>
                  <a:srgbClr val="111827"/>
                </a:solidFill>
                <a:latin typeface="Oswald" pitchFamily="34" charset="0"/>
                <a:ea typeface="Oswald" pitchFamily="34" charset="-122"/>
                <a:cs typeface="Oswald" pitchFamily="34" charset="-120"/>
              </a:rPr>
              <a:t>INTRODUCING THE AI-FIRST POD MODEL</a:t>
            </a:r>
            <a:endParaRPr lang="en-US" sz="2700" dirty="0"/>
          </a:p>
        </p:txBody>
      </p:sp>
      <p:sp>
        <p:nvSpPr>
          <p:cNvPr id="26" name="Text 20"/>
          <p:cNvSpPr txBox="1"/>
          <p:nvPr/>
        </p:nvSpPr>
        <p:spPr>
          <a:xfrm>
            <a:off x="857707" y="1009498"/>
            <a:ext cx="10592410" cy="210312"/>
          </a:xfrm>
          <a:prstGeom prst="rect">
            <a:avLst/>
          </a:prstGeom>
          <a:noFill/>
          <a:ln/>
        </p:spPr>
        <p:txBody>
          <a:bodyPr wrap="square" lIns="0" tIns="0" rIns="0" bIns="0" rtlCol="0" anchor="ctr"/>
          <a:lstStyle/>
          <a:p>
            <a:pPr marL="0" indent="0" algn="l">
              <a:buNone/>
            </a:pPr>
            <a:r>
              <a:rPr lang="en-US" sz="1300" b="1" kern="0" spc="75" dirty="0">
                <a:solidFill>
                  <a:srgbClr val="2A9D8F"/>
                </a:solidFill>
                <a:latin typeface="Roboto Condensed" pitchFamily="34" charset="0"/>
                <a:ea typeface="Roboto Condensed" pitchFamily="34" charset="-122"/>
                <a:cs typeface="Roboto Condensed" pitchFamily="34" charset="-120"/>
              </a:rPr>
              <a:t>A Managed, Governed Engineering Unit - Not Just Staffing With A Wrapper.</a:t>
            </a:r>
            <a:endParaRPr lang="en-US" sz="1300" dirty="0">
              <a:solidFill>
                <a:srgbClr val="2A9D8F"/>
              </a:solidFill>
            </a:endParaRPr>
          </a:p>
        </p:txBody>
      </p:sp>
      <p:pic>
        <p:nvPicPr>
          <p:cNvPr id="27" name="Image 4" descr="preencoded.png"/>
          <p:cNvPicPr>
            <a:picLocks noChangeAspect="1"/>
          </p:cNvPicPr>
          <p:nvPr/>
        </p:nvPicPr>
        <p:blipFill>
          <a:blip r:embed="rId7"/>
          <a:srcRect/>
          <a:stretch/>
        </p:blipFill>
        <p:spPr>
          <a:xfrm>
            <a:off x="823874" y="1772107"/>
            <a:ext cx="333756" cy="267005"/>
          </a:xfrm>
          <a:prstGeom prst="rect">
            <a:avLst/>
          </a:prstGeom>
        </p:spPr>
      </p:pic>
      <p:sp>
        <p:nvSpPr>
          <p:cNvPr id="28" name="Text 21"/>
          <p:cNvSpPr txBox="1"/>
          <p:nvPr/>
        </p:nvSpPr>
        <p:spPr>
          <a:xfrm>
            <a:off x="800100" y="2190902"/>
            <a:ext cx="2318004"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Engineering Team</a:t>
            </a:r>
            <a:endParaRPr lang="en-US" sz="1500"/>
          </a:p>
        </p:txBody>
      </p:sp>
      <p:sp>
        <p:nvSpPr>
          <p:cNvPr id="29" name="Text 22"/>
          <p:cNvSpPr txBox="1"/>
          <p:nvPr/>
        </p:nvSpPr>
        <p:spPr>
          <a:xfrm>
            <a:off x="800100" y="2514600"/>
            <a:ext cx="2305202" cy="562356"/>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Dedicated engineers (Java, Python, DevOps) - hired, vetted, and onboarded by J2W.</a:t>
            </a:r>
            <a:endParaRPr lang="en-US" sz="1000"/>
          </a:p>
        </p:txBody>
      </p:sp>
      <p:pic>
        <p:nvPicPr>
          <p:cNvPr id="30" name="Image 5" descr="preencoded.png"/>
          <p:cNvPicPr>
            <a:picLocks noChangeAspect="1"/>
          </p:cNvPicPr>
          <p:nvPr/>
        </p:nvPicPr>
        <p:blipFill>
          <a:blip r:embed="rId8"/>
          <a:srcRect l="-881" r="-881"/>
          <a:stretch/>
        </p:blipFill>
        <p:spPr>
          <a:xfrm>
            <a:off x="3633826" y="1772107"/>
            <a:ext cx="237744" cy="267005"/>
          </a:xfrm>
          <a:prstGeom prst="rect">
            <a:avLst/>
          </a:prstGeom>
        </p:spPr>
      </p:pic>
      <p:sp>
        <p:nvSpPr>
          <p:cNvPr id="31" name="Text 23"/>
          <p:cNvSpPr txBox="1"/>
          <p:nvPr/>
        </p:nvSpPr>
        <p:spPr>
          <a:xfrm>
            <a:off x="3562502" y="2190902"/>
            <a:ext cx="2318004"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Pod Lead</a:t>
            </a:r>
            <a:endParaRPr lang="en-US" sz="1500"/>
          </a:p>
        </p:txBody>
      </p:sp>
      <p:sp>
        <p:nvSpPr>
          <p:cNvPr id="32" name="Text 24"/>
          <p:cNvSpPr txBox="1"/>
          <p:nvPr/>
        </p:nvSpPr>
        <p:spPr>
          <a:xfrm>
            <a:off x="3562502" y="2514600"/>
            <a:ext cx="2305202" cy="562356"/>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A J2W program manager who owns delivery, sprint governance, and client alignment.</a:t>
            </a:r>
            <a:endParaRPr lang="en-US" sz="1000"/>
          </a:p>
        </p:txBody>
      </p:sp>
      <p:pic>
        <p:nvPicPr>
          <p:cNvPr id="33" name="Image 6" descr="preencoded.png"/>
          <p:cNvPicPr>
            <a:picLocks noChangeAspect="1"/>
          </p:cNvPicPr>
          <p:nvPr/>
        </p:nvPicPr>
        <p:blipFill>
          <a:blip r:embed="rId9"/>
          <a:srcRect/>
          <a:stretch/>
        </p:blipFill>
        <p:spPr>
          <a:xfrm>
            <a:off x="6381598" y="1772107"/>
            <a:ext cx="267005" cy="267005"/>
          </a:xfrm>
          <a:prstGeom prst="rect">
            <a:avLst/>
          </a:prstGeom>
        </p:spPr>
      </p:pic>
      <p:sp>
        <p:nvSpPr>
          <p:cNvPr id="34" name="Text 25"/>
          <p:cNvSpPr txBox="1"/>
          <p:nvPr/>
        </p:nvSpPr>
        <p:spPr>
          <a:xfrm>
            <a:off x="6324905" y="2190902"/>
            <a:ext cx="2652674"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Performance Governance</a:t>
            </a:r>
            <a:endParaRPr lang="en-US" sz="1500"/>
          </a:p>
        </p:txBody>
      </p:sp>
      <p:sp>
        <p:nvSpPr>
          <p:cNvPr id="35" name="Text 26"/>
          <p:cNvSpPr txBox="1"/>
          <p:nvPr/>
        </p:nvSpPr>
        <p:spPr>
          <a:xfrm>
            <a:off x="6324905" y="2514600"/>
            <a:ext cx="2305202" cy="543154"/>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Weekly performance tracking, SLA metrics, velocity monitoring, proactive resolution.</a:t>
            </a:r>
            <a:endParaRPr lang="en-US" sz="1000"/>
          </a:p>
        </p:txBody>
      </p:sp>
      <p:pic>
        <p:nvPicPr>
          <p:cNvPr id="36" name="Image 7" descr="preencoded.png"/>
          <p:cNvPicPr>
            <a:picLocks noChangeAspect="1"/>
          </p:cNvPicPr>
          <p:nvPr/>
        </p:nvPicPr>
        <p:blipFill>
          <a:blip r:embed="rId10"/>
          <a:srcRect/>
          <a:stretch/>
        </p:blipFill>
        <p:spPr>
          <a:xfrm>
            <a:off x="9144000" y="1772107"/>
            <a:ext cx="267005" cy="267005"/>
          </a:xfrm>
          <a:prstGeom prst="rect">
            <a:avLst/>
          </a:prstGeom>
        </p:spPr>
      </p:pic>
      <p:sp>
        <p:nvSpPr>
          <p:cNvPr id="37" name="Text 27"/>
          <p:cNvSpPr txBox="1"/>
          <p:nvPr/>
        </p:nvSpPr>
        <p:spPr>
          <a:xfrm>
            <a:off x="9087307" y="2190902"/>
            <a:ext cx="2451506"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AI-First L&amp;D Program</a:t>
            </a:r>
            <a:endParaRPr lang="en-US" sz="1500"/>
          </a:p>
        </p:txBody>
      </p:sp>
      <p:sp>
        <p:nvSpPr>
          <p:cNvPr id="38" name="Text 28"/>
          <p:cNvSpPr txBox="1"/>
          <p:nvPr/>
        </p:nvSpPr>
        <p:spPr>
          <a:xfrm>
            <a:off x="9087307" y="2514600"/>
            <a:ext cx="2305202" cy="562356"/>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Continuous AI training - hands-on, contextual upskilling powered by Research Wing.</a:t>
            </a:r>
            <a:endParaRPr lang="en-US" sz="1000"/>
          </a:p>
        </p:txBody>
      </p:sp>
      <p:sp>
        <p:nvSpPr>
          <p:cNvPr id="39" name="Text 29"/>
          <p:cNvSpPr txBox="1"/>
          <p:nvPr/>
        </p:nvSpPr>
        <p:spPr>
          <a:xfrm>
            <a:off x="800100" y="3762756"/>
            <a:ext cx="2774290" cy="228600"/>
          </a:xfrm>
          <a:prstGeom prst="rect">
            <a:avLst/>
          </a:prstGeom>
          <a:noFill/>
          <a:ln/>
        </p:spPr>
        <p:txBody>
          <a:bodyPr wrap="square" lIns="0" tIns="0" rIns="0" bIns="0" rtlCol="0" anchor="ctr"/>
          <a:lstStyle/>
          <a:p>
            <a:pPr marL="0" indent="0" algn="l">
              <a:buNone/>
            </a:pPr>
            <a:r>
              <a:rPr lang="en-US" sz="1200" b="1" kern="0" spc="75">
                <a:solidFill>
                  <a:srgbClr val="4B5563"/>
                </a:solidFill>
                <a:latin typeface="Oswald" pitchFamily="34" charset="0"/>
                <a:ea typeface="Oswald" pitchFamily="34" charset="-122"/>
                <a:cs typeface="Oswald" pitchFamily="34" charset="-120"/>
              </a:rPr>
              <a:t>Dimension</a:t>
            </a:r>
            <a:endParaRPr lang="en-US" sz="1200"/>
          </a:p>
        </p:txBody>
      </p:sp>
      <p:sp>
        <p:nvSpPr>
          <p:cNvPr id="40" name="Text 30"/>
          <p:cNvSpPr txBox="1"/>
          <p:nvPr/>
        </p:nvSpPr>
        <p:spPr>
          <a:xfrm>
            <a:off x="3657600" y="3762756"/>
            <a:ext cx="3543300" cy="228600"/>
          </a:xfrm>
          <a:prstGeom prst="rect">
            <a:avLst/>
          </a:prstGeom>
          <a:noFill/>
          <a:ln/>
        </p:spPr>
        <p:txBody>
          <a:bodyPr wrap="square" lIns="0" tIns="0" rIns="0" bIns="0" rtlCol="0" anchor="ctr"/>
          <a:lstStyle/>
          <a:p>
            <a:pPr marL="0" indent="0" algn="l">
              <a:buNone/>
            </a:pPr>
            <a:r>
              <a:rPr lang="en-US" sz="1200" b="1" kern="0" spc="75">
                <a:solidFill>
                  <a:srgbClr val="4B5563"/>
                </a:solidFill>
                <a:latin typeface="Oswald" pitchFamily="34" charset="0"/>
                <a:ea typeface="Oswald" pitchFamily="34" charset="-122"/>
                <a:cs typeface="Oswald" pitchFamily="34" charset="-120"/>
              </a:rPr>
              <a:t>Traditional Staffing</a:t>
            </a:r>
            <a:endParaRPr lang="en-US" sz="1200"/>
          </a:p>
        </p:txBody>
      </p:sp>
      <p:sp>
        <p:nvSpPr>
          <p:cNvPr id="41" name="Text 31"/>
          <p:cNvSpPr txBox="1"/>
          <p:nvPr/>
        </p:nvSpPr>
        <p:spPr>
          <a:xfrm>
            <a:off x="7276795" y="3762756"/>
            <a:ext cx="4114800" cy="228600"/>
          </a:xfrm>
          <a:prstGeom prst="rect">
            <a:avLst/>
          </a:prstGeom>
          <a:noFill/>
          <a:ln/>
        </p:spPr>
        <p:txBody>
          <a:bodyPr wrap="square" lIns="0" tIns="0" rIns="0" bIns="0" rtlCol="0" anchor="ctr"/>
          <a:lstStyle/>
          <a:p>
            <a:pPr marL="0" indent="0" algn="l">
              <a:buNone/>
            </a:pPr>
            <a:r>
              <a:rPr lang="en-US" sz="1200" b="1" kern="0" spc="75">
                <a:solidFill>
                  <a:srgbClr val="2A9D8F"/>
                </a:solidFill>
                <a:latin typeface="Oswald" pitchFamily="34" charset="0"/>
                <a:ea typeface="Oswald" pitchFamily="34" charset="-122"/>
                <a:cs typeface="Oswald" pitchFamily="34" charset="-120"/>
              </a:rPr>
              <a:t>AI-First Pod</a:t>
            </a:r>
            <a:endParaRPr lang="en-US" sz="1200"/>
          </a:p>
        </p:txBody>
      </p:sp>
      <p:sp>
        <p:nvSpPr>
          <p:cNvPr id="42" name="Text 32"/>
          <p:cNvSpPr txBox="1"/>
          <p:nvPr/>
        </p:nvSpPr>
        <p:spPr>
          <a:xfrm>
            <a:off x="800100" y="4238244"/>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Governance</a:t>
            </a:r>
            <a:endParaRPr lang="en-US" sz="1200"/>
          </a:p>
        </p:txBody>
      </p:sp>
      <p:sp>
        <p:nvSpPr>
          <p:cNvPr id="43" name="Text 33"/>
          <p:cNvSpPr txBox="1"/>
          <p:nvPr/>
        </p:nvSpPr>
        <p:spPr>
          <a:xfrm>
            <a:off x="3657600" y="4238244"/>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Client's burden</a:t>
            </a:r>
            <a:endParaRPr lang="en-US" sz="1100"/>
          </a:p>
        </p:txBody>
      </p:sp>
      <p:pic>
        <p:nvPicPr>
          <p:cNvPr id="44" name="Image 8" descr="preencoded.png"/>
          <p:cNvPicPr>
            <a:picLocks noChangeAspect="1"/>
          </p:cNvPicPr>
          <p:nvPr/>
        </p:nvPicPr>
        <p:blipFill>
          <a:blip r:embed="rId11"/>
          <a:srcRect t="-1100" b="-1100"/>
          <a:stretch/>
        </p:blipFill>
        <p:spPr>
          <a:xfrm>
            <a:off x="7276795" y="4257446"/>
            <a:ext cx="114300" cy="133502"/>
          </a:xfrm>
          <a:prstGeom prst="rect">
            <a:avLst/>
          </a:prstGeom>
        </p:spPr>
      </p:pic>
      <p:sp>
        <p:nvSpPr>
          <p:cNvPr id="45" name="Text 34"/>
          <p:cNvSpPr txBox="1"/>
          <p:nvPr/>
        </p:nvSpPr>
        <p:spPr>
          <a:xfrm>
            <a:off x="7524598" y="4238244"/>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J2W-owned</a:t>
            </a:r>
            <a:endParaRPr lang="en-US" sz="1100"/>
          </a:p>
        </p:txBody>
      </p:sp>
      <p:sp>
        <p:nvSpPr>
          <p:cNvPr id="46" name="Text 35"/>
          <p:cNvSpPr txBox="1"/>
          <p:nvPr/>
        </p:nvSpPr>
        <p:spPr>
          <a:xfrm>
            <a:off x="800100" y="4714646"/>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Upskilling</a:t>
            </a:r>
            <a:endParaRPr lang="en-US" sz="1200"/>
          </a:p>
        </p:txBody>
      </p:sp>
      <p:sp>
        <p:nvSpPr>
          <p:cNvPr id="47" name="Text 36"/>
          <p:cNvSpPr txBox="1"/>
          <p:nvPr/>
        </p:nvSpPr>
        <p:spPr>
          <a:xfrm>
            <a:off x="3657600" y="4714646"/>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Engineer's personal initiative</a:t>
            </a:r>
            <a:endParaRPr lang="en-US" sz="1100"/>
          </a:p>
        </p:txBody>
      </p:sp>
      <p:pic>
        <p:nvPicPr>
          <p:cNvPr id="48" name="Image 9" descr="preencoded.png"/>
          <p:cNvPicPr>
            <a:picLocks noChangeAspect="1"/>
          </p:cNvPicPr>
          <p:nvPr/>
        </p:nvPicPr>
        <p:blipFill>
          <a:blip r:embed="rId11"/>
          <a:srcRect t="-1100" b="-1100"/>
          <a:stretch/>
        </p:blipFill>
        <p:spPr>
          <a:xfrm>
            <a:off x="7276795" y="4733849"/>
            <a:ext cx="114300" cy="133502"/>
          </a:xfrm>
          <a:prstGeom prst="rect">
            <a:avLst/>
          </a:prstGeom>
        </p:spPr>
      </p:pic>
      <p:sp>
        <p:nvSpPr>
          <p:cNvPr id="49" name="Text 37"/>
          <p:cNvSpPr txBox="1"/>
          <p:nvPr/>
        </p:nvSpPr>
        <p:spPr>
          <a:xfrm>
            <a:off x="7524598" y="4714646"/>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Structured, continuous, AI-focused</a:t>
            </a:r>
            <a:endParaRPr lang="en-US" sz="1100"/>
          </a:p>
        </p:txBody>
      </p:sp>
      <p:sp>
        <p:nvSpPr>
          <p:cNvPr id="50" name="Text 38"/>
          <p:cNvSpPr txBox="1"/>
          <p:nvPr/>
        </p:nvSpPr>
        <p:spPr>
          <a:xfrm>
            <a:off x="800100" y="5191049"/>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Performance Issues</a:t>
            </a:r>
            <a:endParaRPr lang="en-US" sz="1200"/>
          </a:p>
        </p:txBody>
      </p:sp>
      <p:sp>
        <p:nvSpPr>
          <p:cNvPr id="51" name="Text 39"/>
          <p:cNvSpPr txBox="1"/>
          <p:nvPr/>
        </p:nvSpPr>
        <p:spPr>
          <a:xfrm>
            <a:off x="3657600" y="5191049"/>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Escalation after the fact</a:t>
            </a:r>
            <a:endParaRPr lang="en-US" sz="1100"/>
          </a:p>
        </p:txBody>
      </p:sp>
      <p:pic>
        <p:nvPicPr>
          <p:cNvPr id="52" name="Image 10" descr="preencoded.png"/>
          <p:cNvPicPr>
            <a:picLocks noChangeAspect="1"/>
          </p:cNvPicPr>
          <p:nvPr/>
        </p:nvPicPr>
        <p:blipFill>
          <a:blip r:embed="rId11"/>
          <a:srcRect t="-1100" b="-1100"/>
          <a:stretch/>
        </p:blipFill>
        <p:spPr>
          <a:xfrm>
            <a:off x="7276795" y="5210251"/>
            <a:ext cx="114300" cy="133502"/>
          </a:xfrm>
          <a:prstGeom prst="rect">
            <a:avLst/>
          </a:prstGeom>
        </p:spPr>
      </p:pic>
      <p:sp>
        <p:nvSpPr>
          <p:cNvPr id="53" name="Text 40"/>
          <p:cNvSpPr txBox="1"/>
          <p:nvPr/>
        </p:nvSpPr>
        <p:spPr>
          <a:xfrm>
            <a:off x="7524598" y="5191049"/>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Proactive monitoring &amp; intervention</a:t>
            </a:r>
            <a:endParaRPr lang="en-US" sz="1100"/>
          </a:p>
        </p:txBody>
      </p:sp>
      <p:sp>
        <p:nvSpPr>
          <p:cNvPr id="54" name="Text 41"/>
          <p:cNvSpPr txBox="1"/>
          <p:nvPr/>
        </p:nvSpPr>
        <p:spPr>
          <a:xfrm>
            <a:off x="800100" y="5667451"/>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Knowledge Retention</a:t>
            </a:r>
            <a:endParaRPr lang="en-US" sz="1200"/>
          </a:p>
        </p:txBody>
      </p:sp>
      <p:sp>
        <p:nvSpPr>
          <p:cNvPr id="55" name="Text 42"/>
          <p:cNvSpPr txBox="1"/>
          <p:nvPr/>
        </p:nvSpPr>
        <p:spPr>
          <a:xfrm>
            <a:off x="3657600" y="5667451"/>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Lost with attrition</a:t>
            </a:r>
            <a:endParaRPr lang="en-US" sz="1100"/>
          </a:p>
        </p:txBody>
      </p:sp>
      <p:pic>
        <p:nvPicPr>
          <p:cNvPr id="56" name="Image 11" descr="preencoded.png"/>
          <p:cNvPicPr>
            <a:picLocks noChangeAspect="1"/>
          </p:cNvPicPr>
          <p:nvPr/>
        </p:nvPicPr>
        <p:blipFill>
          <a:blip r:embed="rId11"/>
          <a:srcRect t="-1100" b="-1100"/>
          <a:stretch/>
        </p:blipFill>
        <p:spPr>
          <a:xfrm>
            <a:off x="7276795" y="5686654"/>
            <a:ext cx="114300" cy="133502"/>
          </a:xfrm>
          <a:prstGeom prst="rect">
            <a:avLst/>
          </a:prstGeom>
        </p:spPr>
      </p:pic>
      <p:sp>
        <p:nvSpPr>
          <p:cNvPr id="57" name="Text 43"/>
          <p:cNvSpPr txBox="1"/>
          <p:nvPr/>
        </p:nvSpPr>
        <p:spPr>
          <a:xfrm>
            <a:off x="7524598" y="5667451"/>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Captured in Knowledge Repository</a:t>
            </a:r>
            <a:endParaRPr lang="en-US" sz="1100"/>
          </a:p>
        </p:txBody>
      </p:sp>
      <p:sp>
        <p:nvSpPr>
          <p:cNvPr id="58" name="Text 44"/>
          <p:cNvSpPr txBox="1"/>
          <p:nvPr/>
        </p:nvSpPr>
        <p:spPr>
          <a:xfrm>
            <a:off x="800100" y="6143854"/>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AI Readiness</a:t>
            </a:r>
            <a:endParaRPr lang="en-US" sz="1200"/>
          </a:p>
        </p:txBody>
      </p:sp>
      <p:sp>
        <p:nvSpPr>
          <p:cNvPr id="59" name="Text 45"/>
          <p:cNvSpPr txBox="1"/>
          <p:nvPr/>
        </p:nvSpPr>
        <p:spPr>
          <a:xfrm>
            <a:off x="3657600" y="6143854"/>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Ad hoc</a:t>
            </a:r>
            <a:endParaRPr lang="en-US" sz="1100"/>
          </a:p>
        </p:txBody>
      </p:sp>
      <p:pic>
        <p:nvPicPr>
          <p:cNvPr id="60" name="Image 12" descr="preencoded.png"/>
          <p:cNvPicPr>
            <a:picLocks noChangeAspect="1"/>
          </p:cNvPicPr>
          <p:nvPr/>
        </p:nvPicPr>
        <p:blipFill>
          <a:blip r:embed="rId12"/>
          <a:srcRect t="-1100" b="-1100"/>
          <a:stretch/>
        </p:blipFill>
        <p:spPr>
          <a:xfrm>
            <a:off x="7276795" y="6163056"/>
            <a:ext cx="114300" cy="133502"/>
          </a:xfrm>
          <a:prstGeom prst="rect">
            <a:avLst/>
          </a:prstGeom>
        </p:spPr>
      </p:pic>
      <p:sp>
        <p:nvSpPr>
          <p:cNvPr id="61" name="Text 46"/>
          <p:cNvSpPr txBox="1"/>
          <p:nvPr/>
        </p:nvSpPr>
        <p:spPr>
          <a:xfrm>
            <a:off x="7524598" y="6143854"/>
            <a:ext cx="3829507" cy="171907"/>
          </a:xfrm>
          <a:prstGeom prst="rect">
            <a:avLst/>
          </a:prstGeom>
          <a:noFill/>
          <a:ln/>
        </p:spPr>
        <p:txBody>
          <a:bodyPr wrap="square" lIns="0" tIns="0" rIns="0" bIns="0" rtlCol="0" anchor="ctr"/>
          <a:lstStyle/>
          <a:p>
            <a:pPr marL="0" indent="0" algn="l">
              <a:buNone/>
            </a:pPr>
            <a:r>
              <a:rPr lang="en-US" sz="1100" b="1">
                <a:solidFill>
                  <a:srgbClr val="D62839"/>
                </a:solidFill>
                <a:latin typeface="Raleway" pitchFamily="34" charset="0"/>
                <a:ea typeface="Raleway" pitchFamily="34" charset="-122"/>
                <a:cs typeface="Raleway" pitchFamily="34" charset="-120"/>
              </a:rPr>
              <a:t>Embedded from Day 1</a:t>
            </a:r>
            <a:endParaRPr lang="en-US"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preencoded.png"/>
          <p:cNvPicPr>
            <a:picLocks noChangeAspect="1"/>
          </p:cNvPicPr>
          <p:nvPr/>
        </p:nvPicPr>
        <p:blipFill>
          <a:blip r:embed="rId3"/>
          <a:srcRect l="-207" r="-207"/>
          <a:stretch/>
        </p:blipFill>
        <p:spPr>
          <a:xfrm>
            <a:off x="0" y="0"/>
            <a:ext cx="4058107" cy="75895"/>
          </a:xfrm>
          <a:prstGeom prst="rect">
            <a:avLst/>
          </a:prstGeom>
        </p:spPr>
      </p:pic>
      <p:pic>
        <p:nvPicPr>
          <p:cNvPr id="5" name="Image 1" descr="preencoded.png"/>
          <p:cNvPicPr>
            <a:picLocks noChangeAspect="1"/>
          </p:cNvPicPr>
          <p:nvPr/>
        </p:nvPicPr>
        <p:blipFill>
          <a:blip r:embed="rId4"/>
          <a:srcRect l="-202" r="-202"/>
          <a:stretch/>
        </p:blipFill>
        <p:spPr>
          <a:xfrm>
            <a:off x="4058107" y="0"/>
            <a:ext cx="8134502" cy="75895"/>
          </a:xfrm>
          <a:prstGeom prst="rect">
            <a:avLst/>
          </a:prstGeom>
        </p:spPr>
      </p:pic>
      <p:sp>
        <p:nvSpPr>
          <p:cNvPr id="6" name="Shape 2"/>
          <p:cNvSpPr/>
          <p:nvPr/>
        </p:nvSpPr>
        <p:spPr>
          <a:xfrm>
            <a:off x="9334195" y="-1429207"/>
            <a:ext cx="4762195" cy="476219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preencoded.png"/>
          <p:cNvPicPr>
            <a:picLocks noChangeAspect="1"/>
          </p:cNvPicPr>
          <p:nvPr/>
        </p:nvPicPr>
        <p:blipFill>
          <a:blip r:embed="rId5">
            <a:alphaModFix amt="15000"/>
          </a:blip>
          <a:srcRect/>
          <a:stretch/>
        </p:blipFill>
        <p:spPr>
          <a:xfrm>
            <a:off x="571500" y="1143000"/>
            <a:ext cx="1429207" cy="1429207"/>
          </a:xfrm>
          <a:prstGeom prst="rect">
            <a:avLst/>
          </a:prstGeom>
        </p:spPr>
      </p:pic>
      <p:pic>
        <p:nvPicPr>
          <p:cNvPr id="8" name="Image 3" descr="preencoded.png"/>
          <p:cNvPicPr>
            <a:picLocks noChangeAspect="1"/>
          </p:cNvPicPr>
          <p:nvPr/>
        </p:nvPicPr>
        <p:blipFill>
          <a:blip r:embed="rId6"/>
          <a:srcRect l="-400" r="-400"/>
          <a:stretch/>
        </p:blipFill>
        <p:spPr>
          <a:xfrm>
            <a:off x="609905" y="571500"/>
            <a:ext cx="57607" cy="571500"/>
          </a:xfrm>
          <a:prstGeom prst="rect">
            <a:avLst/>
          </a:prstGeom>
        </p:spPr>
      </p:pic>
      <p:sp>
        <p:nvSpPr>
          <p:cNvPr id="9" name="Shape 3"/>
          <p:cNvSpPr/>
          <p:nvPr/>
        </p:nvSpPr>
        <p:spPr>
          <a:xfrm>
            <a:off x="609905" y="1524305"/>
            <a:ext cx="11039551" cy="1752905"/>
          </a:xfrm>
          <a:prstGeom prst="roundRect">
            <a:avLst>
              <a:gd name="adj" fmla="val 4536"/>
            </a:avLst>
          </a:prstGeom>
          <a:solidFill>
            <a:srgbClr val="F8FAFC"/>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4"/>
          <p:cNvSpPr/>
          <p:nvPr/>
        </p:nvSpPr>
        <p:spPr>
          <a:xfrm>
            <a:off x="609905" y="1524305"/>
            <a:ext cx="57607" cy="1752905"/>
          </a:xfrm>
          <a:prstGeom prst="roundRect">
            <a:avLst>
              <a:gd name="adj" fmla="val 138027"/>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609905" y="3429000"/>
            <a:ext cx="11039551" cy="2305202"/>
          </a:xfrm>
          <a:prstGeom prst="roundRect">
            <a:avLst>
              <a:gd name="adj" fmla="val 2623"/>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6"/>
          <p:cNvSpPr/>
          <p:nvPr/>
        </p:nvSpPr>
        <p:spPr>
          <a:xfrm>
            <a:off x="609905" y="3429000"/>
            <a:ext cx="57607" cy="2305202"/>
          </a:xfrm>
          <a:prstGeom prst="roundRect">
            <a:avLst>
              <a:gd name="adj" fmla="val 104946"/>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609905" y="5905195"/>
            <a:ext cx="10972800" cy="609905"/>
          </a:xfrm>
          <a:prstGeom prst="roundRect">
            <a:avLst>
              <a:gd name="adj" fmla="val 37481"/>
            </a:avLst>
          </a:prstGeom>
          <a:solidFill>
            <a:srgbClr val="2A9D8F"/>
          </a:solidFill>
          <a:ln w="12700">
            <a:solidFill>
              <a:srgbClr val="FFFFFF">
                <a:alpha val="0"/>
              </a:srgbClr>
            </a:solidFill>
            <a:prstDash val="solid"/>
          </a:ln>
          <a:effectLst>
            <a:outerShdw blurRad="101600" dist="38100" dir="16200000" algn="bl" rotWithShape="0">
              <a:srgbClr val="2A9D8F">
                <a:alpha val="20000"/>
              </a:srgbClr>
            </a:outerShdw>
          </a:effectLst>
        </p:spPr>
        <p:txBody>
          <a:bodyPr/>
          <a:lstStyle/>
          <a:p>
            <a:endParaRPr lang="en-US"/>
          </a:p>
        </p:txBody>
      </p:sp>
      <p:sp>
        <p:nvSpPr>
          <p:cNvPr id="14" name="Text 8"/>
          <p:cNvSpPr txBox="1"/>
          <p:nvPr/>
        </p:nvSpPr>
        <p:spPr>
          <a:xfrm>
            <a:off x="857707" y="428854"/>
            <a:ext cx="10668305" cy="362102"/>
          </a:xfrm>
          <a:prstGeom prst="rect">
            <a:avLst/>
          </a:prstGeom>
          <a:noFill/>
          <a:ln/>
        </p:spPr>
        <p:txBody>
          <a:bodyPr wrap="square" lIns="0" tIns="0" rIns="0" bIns="0" rtlCol="0" anchor="ctr"/>
          <a:lstStyle/>
          <a:p>
            <a:pPr marL="0" indent="0" algn="l">
              <a:buNone/>
            </a:pPr>
            <a:r>
              <a:rPr lang="en-US" sz="2700" b="1" kern="0" spc="38" dirty="0">
                <a:solidFill>
                  <a:srgbClr val="111827"/>
                </a:solidFill>
                <a:latin typeface="Oswald" pitchFamily="34" charset="0"/>
                <a:ea typeface="Oswald" pitchFamily="34" charset="-122"/>
                <a:cs typeface="Oswald" pitchFamily="34" charset="-120"/>
              </a:rPr>
              <a:t>THE J2W AI RESEARCH WING</a:t>
            </a:r>
            <a:endParaRPr lang="en-US" sz="2700" dirty="0"/>
          </a:p>
        </p:txBody>
      </p:sp>
      <p:sp>
        <p:nvSpPr>
          <p:cNvPr id="15" name="Text 9"/>
          <p:cNvSpPr txBox="1"/>
          <p:nvPr/>
        </p:nvSpPr>
        <p:spPr>
          <a:xfrm>
            <a:off x="857707" y="1009498"/>
            <a:ext cx="10592410" cy="210312"/>
          </a:xfrm>
          <a:prstGeom prst="rect">
            <a:avLst/>
          </a:prstGeom>
          <a:noFill/>
          <a:ln/>
        </p:spPr>
        <p:txBody>
          <a:bodyPr wrap="square" lIns="0" tIns="0" rIns="0" bIns="0" rtlCol="0" anchor="ctr"/>
          <a:lstStyle/>
          <a:p>
            <a:pPr marL="0" indent="0" algn="l">
              <a:buNone/>
            </a:pPr>
            <a:r>
              <a:rPr lang="en-US" sz="1300" b="1" kern="0" spc="75" dirty="0">
                <a:solidFill>
                  <a:srgbClr val="2A9D8F"/>
                </a:solidFill>
                <a:latin typeface="Roboto Condensed" pitchFamily="34" charset="0"/>
                <a:ea typeface="Roboto Condensed" pitchFamily="34" charset="-122"/>
                <a:cs typeface="Roboto Condensed" pitchFamily="34" charset="-120"/>
              </a:rPr>
              <a:t>Your Pod's Secret Weapon</a:t>
            </a:r>
            <a:endParaRPr lang="en-US" sz="1300" dirty="0"/>
          </a:p>
        </p:txBody>
      </p:sp>
      <p:sp>
        <p:nvSpPr>
          <p:cNvPr id="16" name="Shape 10"/>
          <p:cNvSpPr/>
          <p:nvPr/>
        </p:nvSpPr>
        <p:spPr>
          <a:xfrm>
            <a:off x="990295" y="2085746"/>
            <a:ext cx="4476902" cy="19202"/>
          </a:xfrm>
          <a:prstGeom prst="rect">
            <a:avLst/>
          </a:prstGeom>
          <a:solidFill>
            <a:srgbClr val="2A9D8F">
              <a:alpha val="20000"/>
            </a:srgbClr>
          </a:solidFill>
          <a:ln w="12700">
            <a:solidFill>
              <a:srgbClr val="2A9D8F">
                <a:alpha val="0"/>
              </a:srgbClr>
            </a:solidFill>
            <a:prstDash val="solid"/>
          </a:ln>
        </p:spPr>
        <p:txBody>
          <a:bodyPr/>
          <a:lstStyle/>
          <a:p>
            <a:endParaRPr lang="en-US"/>
          </a:p>
        </p:txBody>
      </p:sp>
      <p:sp>
        <p:nvSpPr>
          <p:cNvPr id="17" name="Text 11"/>
          <p:cNvSpPr txBox="1"/>
          <p:nvPr/>
        </p:nvSpPr>
        <p:spPr>
          <a:xfrm>
            <a:off x="990295" y="1666951"/>
            <a:ext cx="4562856" cy="343814"/>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What Is the AI Research Wing?</a:t>
            </a:r>
            <a:endParaRPr lang="en-US" sz="1800"/>
          </a:p>
        </p:txBody>
      </p:sp>
      <p:pic>
        <p:nvPicPr>
          <p:cNvPr id="18" name="Image 4" descr="preencoded.png"/>
          <p:cNvPicPr>
            <a:picLocks noChangeAspect="1"/>
          </p:cNvPicPr>
          <p:nvPr/>
        </p:nvPicPr>
        <p:blipFill>
          <a:blip r:embed="rId7"/>
          <a:srcRect/>
          <a:stretch/>
        </p:blipFill>
        <p:spPr>
          <a:xfrm>
            <a:off x="1019556" y="2221992"/>
            <a:ext cx="171907" cy="171907"/>
          </a:xfrm>
          <a:prstGeom prst="rect">
            <a:avLst/>
          </a:prstGeom>
        </p:spPr>
      </p:pic>
      <p:sp>
        <p:nvSpPr>
          <p:cNvPr id="19" name="Text 12"/>
          <p:cNvSpPr txBox="1"/>
          <p:nvPr/>
        </p:nvSpPr>
        <p:spPr>
          <a:xfrm>
            <a:off x="1314907" y="2190902"/>
            <a:ext cx="9982505"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A dedicated team of AI researchers and engineers working on cutting-edge enterprise AI - agentic AI systems, LLM orchestration, model governance, and applied ML</a:t>
            </a:r>
            <a:endParaRPr lang="en-US" sz="1100"/>
          </a:p>
        </p:txBody>
      </p:sp>
      <p:pic>
        <p:nvPicPr>
          <p:cNvPr id="20" name="Image 5" descr="preencoded.png"/>
          <p:cNvPicPr>
            <a:picLocks noChangeAspect="1"/>
          </p:cNvPicPr>
          <p:nvPr/>
        </p:nvPicPr>
        <p:blipFill>
          <a:blip r:embed="rId8"/>
          <a:srcRect/>
          <a:stretch/>
        </p:blipFill>
        <p:spPr>
          <a:xfrm>
            <a:off x="1019556" y="2602382"/>
            <a:ext cx="171907" cy="171907"/>
          </a:xfrm>
          <a:prstGeom prst="rect">
            <a:avLst/>
          </a:prstGeom>
        </p:spPr>
      </p:pic>
      <p:sp>
        <p:nvSpPr>
          <p:cNvPr id="21" name="Text 13"/>
          <p:cNvSpPr txBox="1"/>
          <p:nvPr/>
        </p:nvSpPr>
        <p:spPr>
          <a:xfrm>
            <a:off x="1314907" y="2572207"/>
            <a:ext cx="10592410" cy="2002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Currently building and publishing research on agentic AI architectures, prompt engineering frameworks, and enterprise AI adoption strategies</a:t>
            </a:r>
            <a:endParaRPr lang="en-US" sz="1100"/>
          </a:p>
        </p:txBody>
      </p:sp>
      <p:pic>
        <p:nvPicPr>
          <p:cNvPr id="22" name="Image 6" descr="preencoded.png"/>
          <p:cNvPicPr>
            <a:picLocks noChangeAspect="1"/>
          </p:cNvPicPr>
          <p:nvPr/>
        </p:nvPicPr>
        <p:blipFill>
          <a:blip r:embed="rId9"/>
          <a:srcRect/>
          <a:stretch/>
        </p:blipFill>
        <p:spPr>
          <a:xfrm>
            <a:off x="1019556" y="2983687"/>
            <a:ext cx="171907" cy="171907"/>
          </a:xfrm>
          <a:prstGeom prst="rect">
            <a:avLst/>
          </a:prstGeom>
        </p:spPr>
      </p:pic>
      <p:sp>
        <p:nvSpPr>
          <p:cNvPr id="23" name="Text 14"/>
          <p:cNvSpPr txBox="1"/>
          <p:nvPr/>
        </p:nvSpPr>
        <p:spPr>
          <a:xfrm>
            <a:off x="1314907" y="2952598"/>
            <a:ext cx="10592410" cy="2002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Powers J2W's proprietary platforms: the J2W Agentic Platform, Qualizen (GenAI-assisted quality engineering), and Talk2Data (conversational BI)</a:t>
            </a:r>
            <a:endParaRPr lang="en-US" sz="1100"/>
          </a:p>
        </p:txBody>
      </p:sp>
      <p:sp>
        <p:nvSpPr>
          <p:cNvPr id="24" name="Shape 15"/>
          <p:cNvSpPr/>
          <p:nvPr/>
        </p:nvSpPr>
        <p:spPr>
          <a:xfrm>
            <a:off x="990295" y="3990442"/>
            <a:ext cx="4476902" cy="19202"/>
          </a:xfrm>
          <a:prstGeom prst="rect">
            <a:avLst/>
          </a:prstGeom>
          <a:solidFill>
            <a:srgbClr val="D62839">
              <a:alpha val="20000"/>
            </a:srgbClr>
          </a:solidFill>
          <a:ln w="12700">
            <a:solidFill>
              <a:srgbClr val="D62839">
                <a:alpha val="0"/>
              </a:srgbClr>
            </a:solidFill>
            <a:prstDash val="solid"/>
          </a:ln>
        </p:spPr>
        <p:txBody>
          <a:bodyPr/>
          <a:lstStyle/>
          <a:p>
            <a:endParaRPr lang="en-US"/>
          </a:p>
        </p:txBody>
      </p:sp>
      <p:sp>
        <p:nvSpPr>
          <p:cNvPr id="25" name="Text 16"/>
          <p:cNvSpPr txBox="1"/>
          <p:nvPr/>
        </p:nvSpPr>
        <p:spPr>
          <a:xfrm>
            <a:off x="990295" y="3571646"/>
            <a:ext cx="4562856" cy="343814"/>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How Pod Members Benefit</a:t>
            </a:r>
            <a:endParaRPr lang="en-US" sz="1800"/>
          </a:p>
        </p:txBody>
      </p:sp>
      <p:pic>
        <p:nvPicPr>
          <p:cNvPr id="26" name="Image 7" descr="preencoded.png"/>
          <p:cNvPicPr>
            <a:picLocks noChangeAspect="1"/>
          </p:cNvPicPr>
          <p:nvPr/>
        </p:nvPicPr>
        <p:blipFill>
          <a:blip r:embed="rId10"/>
          <a:srcRect l="-1064" r="-1064"/>
          <a:stretch/>
        </p:blipFill>
        <p:spPr>
          <a:xfrm>
            <a:off x="995782" y="4126687"/>
            <a:ext cx="219456" cy="171907"/>
          </a:xfrm>
          <a:prstGeom prst="rect">
            <a:avLst/>
          </a:prstGeom>
        </p:spPr>
      </p:pic>
      <p:sp>
        <p:nvSpPr>
          <p:cNvPr id="27" name="Text 17"/>
          <p:cNvSpPr txBox="1"/>
          <p:nvPr/>
        </p:nvSpPr>
        <p:spPr>
          <a:xfrm>
            <a:off x="1314907" y="4095598"/>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Weekly AI workshops</a:t>
            </a:r>
            <a:r>
              <a:rPr lang="en-US" sz="1100">
                <a:solidFill>
                  <a:srgbClr val="4B5563"/>
                </a:solidFill>
                <a:latin typeface="Raleway" pitchFamily="34" charset="0"/>
                <a:ea typeface="Raleway" pitchFamily="34" charset="-122"/>
                <a:cs typeface="Raleway" pitchFamily="34" charset="-120"/>
              </a:rPr>
              <a:t> led by our research team - covering practical, project-applicable AI skills </a:t>
            </a:r>
            <a:endParaRPr lang="en-US" sz="1100"/>
          </a:p>
        </p:txBody>
      </p:sp>
      <p:pic>
        <p:nvPicPr>
          <p:cNvPr id="28" name="Image 8" descr="preencoded.png"/>
          <p:cNvPicPr>
            <a:picLocks noChangeAspect="1"/>
          </p:cNvPicPr>
          <p:nvPr/>
        </p:nvPicPr>
        <p:blipFill>
          <a:blip r:embed="rId11"/>
          <a:srcRect l="-1773" r="-1773"/>
          <a:stretch/>
        </p:blipFill>
        <p:spPr>
          <a:xfrm>
            <a:off x="1037844" y="4507992"/>
            <a:ext cx="133502" cy="171907"/>
          </a:xfrm>
          <a:prstGeom prst="rect">
            <a:avLst/>
          </a:prstGeom>
        </p:spPr>
      </p:pic>
      <p:sp>
        <p:nvSpPr>
          <p:cNvPr id="29" name="Text 18"/>
          <p:cNvSpPr txBox="1"/>
          <p:nvPr/>
        </p:nvSpPr>
        <p:spPr>
          <a:xfrm>
            <a:off x="1314907" y="4476902"/>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Access to the J2W </a:t>
            </a:r>
            <a:r>
              <a:rPr lang="en-US" sz="1100" b="1" err="1">
                <a:solidFill>
                  <a:srgbClr val="111827"/>
                </a:solidFill>
                <a:latin typeface="Raleway" pitchFamily="34" charset="0"/>
                <a:ea typeface="Raleway" pitchFamily="34" charset="-122"/>
                <a:cs typeface="Raleway" pitchFamily="34" charset="-120"/>
              </a:rPr>
              <a:t>iLAB</a:t>
            </a:r>
            <a:r>
              <a:rPr lang="en-US" sz="1100">
                <a:solidFill>
                  <a:srgbClr val="4B5563"/>
                </a:solidFill>
                <a:latin typeface="Raleway" pitchFamily="34" charset="0"/>
                <a:ea typeface="Raleway" pitchFamily="34" charset="-122"/>
                <a:cs typeface="Raleway" pitchFamily="34" charset="-120"/>
              </a:rPr>
              <a:t> - Innovation Points program for building PoCs, hackathons, and rapid prototyping </a:t>
            </a:r>
            <a:endParaRPr lang="en-US" sz="1100"/>
          </a:p>
        </p:txBody>
      </p:sp>
      <p:pic>
        <p:nvPicPr>
          <p:cNvPr id="30" name="Image 9" descr="preencoded.png"/>
          <p:cNvPicPr>
            <a:picLocks noChangeAspect="1"/>
          </p:cNvPicPr>
          <p:nvPr/>
        </p:nvPicPr>
        <p:blipFill>
          <a:blip r:embed="rId12"/>
          <a:srcRect l="-1064" r="-1064"/>
          <a:stretch/>
        </p:blipFill>
        <p:spPr>
          <a:xfrm>
            <a:off x="995782" y="4888382"/>
            <a:ext cx="219456" cy="171907"/>
          </a:xfrm>
          <a:prstGeom prst="rect">
            <a:avLst/>
          </a:prstGeom>
        </p:spPr>
      </p:pic>
      <p:sp>
        <p:nvSpPr>
          <p:cNvPr id="31" name="Text 19"/>
          <p:cNvSpPr txBox="1"/>
          <p:nvPr/>
        </p:nvSpPr>
        <p:spPr>
          <a:xfrm>
            <a:off x="1314907" y="4858207"/>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Contextual AI training</a:t>
            </a:r>
            <a:r>
              <a:rPr lang="en-US" sz="1100">
                <a:solidFill>
                  <a:srgbClr val="4B5563"/>
                </a:solidFill>
                <a:latin typeface="Raleway" pitchFamily="34" charset="0"/>
                <a:ea typeface="Raleway" pitchFamily="34" charset="-122"/>
                <a:cs typeface="Raleway" pitchFamily="34" charset="-120"/>
              </a:rPr>
              <a:t> - hands-on training tailored to the specific technology stack and domain </a:t>
            </a:r>
            <a:endParaRPr lang="en-US" sz="1100"/>
          </a:p>
        </p:txBody>
      </p:sp>
      <p:pic>
        <p:nvPicPr>
          <p:cNvPr id="32" name="Image 10" descr="preencoded.png"/>
          <p:cNvPicPr>
            <a:picLocks noChangeAspect="1"/>
          </p:cNvPicPr>
          <p:nvPr/>
        </p:nvPicPr>
        <p:blipFill>
          <a:blip r:embed="rId13"/>
          <a:srcRect/>
          <a:stretch/>
        </p:blipFill>
        <p:spPr>
          <a:xfrm>
            <a:off x="1019556" y="5269687"/>
            <a:ext cx="171907" cy="171907"/>
          </a:xfrm>
          <a:prstGeom prst="rect">
            <a:avLst/>
          </a:prstGeom>
        </p:spPr>
      </p:pic>
      <p:sp>
        <p:nvSpPr>
          <p:cNvPr id="33" name="Text 20"/>
          <p:cNvSpPr txBox="1"/>
          <p:nvPr/>
        </p:nvSpPr>
        <p:spPr>
          <a:xfrm>
            <a:off x="1314907" y="5238598"/>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Benchmarking against global best practices</a:t>
            </a:r>
            <a:r>
              <a:rPr lang="en-US" sz="1100">
                <a:solidFill>
                  <a:srgbClr val="4B5563"/>
                </a:solidFill>
                <a:latin typeface="Raleway" pitchFamily="34" charset="0"/>
                <a:ea typeface="Raleway" pitchFamily="34" charset="-122"/>
                <a:cs typeface="Raleway" pitchFamily="34" charset="-120"/>
              </a:rPr>
              <a:t> - continuous measurement against industry-leading standards </a:t>
            </a:r>
            <a:endParaRPr lang="en-US" sz="1100"/>
          </a:p>
        </p:txBody>
      </p:sp>
      <p:sp>
        <p:nvSpPr>
          <p:cNvPr id="34" name="Text 21"/>
          <p:cNvSpPr txBox="1"/>
          <p:nvPr/>
        </p:nvSpPr>
        <p:spPr>
          <a:xfrm>
            <a:off x="952805" y="6010351"/>
            <a:ext cx="10287000" cy="400507"/>
          </a:xfrm>
          <a:prstGeom prst="rect">
            <a:avLst/>
          </a:prstGeom>
          <a:noFill/>
          <a:ln/>
        </p:spPr>
        <p:txBody>
          <a:bodyPr wrap="square" lIns="0" tIns="0" rIns="0" bIns="0" rtlCol="0" anchor="ctr"/>
          <a:lstStyle/>
          <a:p>
            <a:pPr marL="0" indent="0" algn="ctr">
              <a:buNone/>
            </a:pPr>
            <a:r>
              <a:rPr lang="en-US" sz="1400" b="1">
                <a:solidFill>
                  <a:srgbClr val="FFFFFF"/>
                </a:solidFill>
                <a:latin typeface="Raleway" pitchFamily="34" charset="0"/>
                <a:ea typeface="Raleway" pitchFamily="34" charset="-122"/>
                <a:cs typeface="Raleway" pitchFamily="34" charset="-120"/>
              </a:rPr>
              <a:t>The result: Your engineers don't just work - they get better every week. And that compounding improvement is something no staffing model can deliver.</a:t>
            </a:r>
            <a:endParaRPr lang="en-US" sz="14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hape 4">
            <a:extLst>
              <a:ext uri="{FF2B5EF4-FFF2-40B4-BE49-F238E27FC236}">
                <a16:creationId xmlns:a16="http://schemas.microsoft.com/office/drawing/2014/main" id="{F52B61E2-5F3C-E58A-B761-FA83C301E75F}"/>
              </a:ext>
            </a:extLst>
          </p:cNvPr>
          <p:cNvSpPr/>
          <p:nvPr/>
        </p:nvSpPr>
        <p:spPr>
          <a:xfrm>
            <a:off x="6263640" y="1423648"/>
            <a:ext cx="5230368" cy="620036"/>
          </a:xfrm>
          <a:prstGeom prst="roundRect">
            <a:avLst>
              <a:gd name="adj" fmla="val 16800"/>
            </a:avLst>
          </a:prstGeom>
          <a:solidFill>
            <a:schemeClr val="bg1">
              <a:lumMod val="50000"/>
            </a:schemeClr>
          </a:solidFill>
          <a:ln w="12700">
            <a:solidFill>
              <a:srgbClr val="FFFFFF">
                <a:alpha val="0"/>
              </a:srgbClr>
            </a:solidFill>
            <a:prstDash val="solid"/>
          </a:ln>
        </p:spPr>
        <p:txBody>
          <a:bodyPr/>
          <a:lstStyle/>
          <a:p>
            <a:endParaRPr lang="en-US">
              <a:latin typeface="Raleway" pitchFamily="2" charset="0"/>
            </a:endParaRPr>
          </a:p>
        </p:txBody>
      </p:sp>
      <p:sp>
        <p:nvSpPr>
          <p:cNvPr id="42" name="Shape 4">
            <a:extLst>
              <a:ext uri="{FF2B5EF4-FFF2-40B4-BE49-F238E27FC236}">
                <a16:creationId xmlns:a16="http://schemas.microsoft.com/office/drawing/2014/main" id="{2C1D4328-ABF1-7607-3876-D88BB1D0AC07}"/>
              </a:ext>
            </a:extLst>
          </p:cNvPr>
          <p:cNvSpPr/>
          <p:nvPr/>
        </p:nvSpPr>
        <p:spPr>
          <a:xfrm>
            <a:off x="648262" y="1454810"/>
            <a:ext cx="5230368" cy="620036"/>
          </a:xfrm>
          <a:prstGeom prst="roundRect">
            <a:avLst>
              <a:gd name="adj" fmla="val 16800"/>
            </a:avLst>
          </a:prstGeom>
          <a:solidFill>
            <a:srgbClr val="2A9D8F"/>
          </a:solidFill>
          <a:ln w="12700">
            <a:solidFill>
              <a:srgbClr val="FFFFFF">
                <a:alpha val="0"/>
              </a:srgbClr>
            </a:solidFill>
            <a:prstDash val="solid"/>
          </a:ln>
        </p:spPr>
        <p:txBody>
          <a:bodyPr/>
          <a:lstStyle/>
          <a:p>
            <a:endParaRPr lang="en-US">
              <a:latin typeface="Raleway" pitchFamily="2" charset="0"/>
            </a:endParaRPr>
          </a:p>
        </p:txBody>
      </p:sp>
      <p:sp>
        <p:nvSpPr>
          <p:cNvPr id="2" name="Text 0"/>
          <p:cNvSpPr/>
          <p:nvPr/>
        </p:nvSpPr>
        <p:spPr>
          <a:xfrm>
            <a:off x="822960" y="165506"/>
            <a:ext cx="10881360" cy="868680"/>
          </a:xfrm>
          <a:prstGeom prst="rect">
            <a:avLst/>
          </a:prstGeom>
          <a:noFill/>
          <a:ln/>
        </p:spPr>
        <p:txBody>
          <a:bodyPr wrap="square" lIns="0" tIns="0" rIns="0" bIns="0" rtlCol="0" anchor="ctr"/>
          <a:lstStyle/>
          <a:p>
            <a:pPr>
              <a:lnSpc>
                <a:spcPts val="2940"/>
              </a:lnSpc>
            </a:pPr>
            <a:r>
              <a:rPr lang="en-US" sz="2800" b="1" dirty="0">
                <a:solidFill>
                  <a:srgbClr val="1B2A4A"/>
                </a:solidFill>
                <a:latin typeface="Oswald" panose="00000500000000000000" pitchFamily="2" charset="0"/>
                <a:ea typeface="Georgia" pitchFamily="34" charset="-122"/>
                <a:cs typeface="Georgia" pitchFamily="34" charset="-120"/>
              </a:rPr>
              <a:t>AI PODS + INTERVIEW-AS-A-SERVICE</a:t>
            </a:r>
            <a:endParaRPr lang="en-US" sz="2800" dirty="0">
              <a:latin typeface="Oswald" panose="00000500000000000000" pitchFamily="2" charset="0"/>
            </a:endParaRPr>
          </a:p>
        </p:txBody>
      </p:sp>
      <p:pic>
        <p:nvPicPr>
          <p:cNvPr id="4" name="Image 0" descr="preencoded.png"/>
          <p:cNvPicPr>
            <a:picLocks noChangeAspect="1"/>
          </p:cNvPicPr>
          <p:nvPr/>
        </p:nvPicPr>
        <p:blipFill>
          <a:blip r:embed="rId3"/>
          <a:stretch>
            <a:fillRect/>
          </a:stretch>
        </p:blipFill>
        <p:spPr>
          <a:xfrm>
            <a:off x="896112" y="1545336"/>
            <a:ext cx="310896" cy="310896"/>
          </a:xfrm>
          <a:prstGeom prst="rect">
            <a:avLst/>
          </a:prstGeom>
        </p:spPr>
      </p:pic>
      <p:sp>
        <p:nvSpPr>
          <p:cNvPr id="5" name="Text 2"/>
          <p:cNvSpPr/>
          <p:nvPr/>
        </p:nvSpPr>
        <p:spPr>
          <a:xfrm>
            <a:off x="1353312" y="1426464"/>
            <a:ext cx="4343400" cy="548640"/>
          </a:xfrm>
          <a:prstGeom prst="rect">
            <a:avLst/>
          </a:prstGeom>
          <a:noFill/>
          <a:ln/>
        </p:spPr>
        <p:txBody>
          <a:bodyPr wrap="square" lIns="0" tIns="0" rIns="0" bIns="0" rtlCol="0" anchor="ctr"/>
          <a:lstStyle/>
          <a:p>
            <a:r>
              <a:rPr lang="en-US" sz="1500" b="1" kern="0" spc="200" dirty="0">
                <a:solidFill>
                  <a:srgbClr val="FFFFFF"/>
                </a:solidFill>
                <a:latin typeface="Raleway" pitchFamily="2" charset="0"/>
                <a:ea typeface="Calibri" pitchFamily="34" charset="-122"/>
                <a:cs typeface="Calibri" pitchFamily="34" charset="-120"/>
              </a:rPr>
              <a:t>AI PODS</a:t>
            </a:r>
            <a:endParaRPr lang="en-US" sz="1500" dirty="0">
              <a:latin typeface="Raleway" pitchFamily="2" charset="0"/>
            </a:endParaRPr>
          </a:p>
        </p:txBody>
      </p:sp>
      <p:sp>
        <p:nvSpPr>
          <p:cNvPr id="6" name="Shape 3"/>
          <p:cNvSpPr/>
          <p:nvPr/>
        </p:nvSpPr>
        <p:spPr>
          <a:xfrm>
            <a:off x="640080" y="1975104"/>
            <a:ext cx="5257800" cy="2834640"/>
          </a:xfrm>
          <a:prstGeom prst="rect">
            <a:avLst/>
          </a:prstGeom>
          <a:solidFill>
            <a:srgbClr val="F4F6FA"/>
          </a:solidFill>
          <a:ln/>
          <a:effectLst>
            <a:outerShdw blurRad="88900" dist="25400" dir="8100000" algn="bl" rotWithShape="0">
              <a:srgbClr val="000000">
                <a:alpha val="10000"/>
              </a:srgbClr>
            </a:outerShdw>
          </a:effectLst>
        </p:spPr>
        <p:txBody>
          <a:bodyPr/>
          <a:lstStyle/>
          <a:p>
            <a:endParaRPr lang="en-IN">
              <a:latin typeface="Raleway" pitchFamily="2" charset="0"/>
            </a:endParaRPr>
          </a:p>
        </p:txBody>
      </p:sp>
      <p:sp>
        <p:nvSpPr>
          <p:cNvPr id="7" name="Shape 4"/>
          <p:cNvSpPr/>
          <p:nvPr/>
        </p:nvSpPr>
        <p:spPr>
          <a:xfrm>
            <a:off x="914400" y="2176272"/>
            <a:ext cx="237744" cy="237744"/>
          </a:xfrm>
          <a:prstGeom prst="ellipse">
            <a:avLst/>
          </a:prstGeom>
          <a:solidFill>
            <a:srgbClr val="1A9E8F"/>
          </a:solidFill>
          <a:ln/>
        </p:spPr>
        <p:txBody>
          <a:bodyPr/>
          <a:lstStyle/>
          <a:p>
            <a:endParaRPr lang="en-IN">
              <a:latin typeface="Raleway" pitchFamily="2" charset="0"/>
            </a:endParaRPr>
          </a:p>
        </p:txBody>
      </p:sp>
      <p:pic>
        <p:nvPicPr>
          <p:cNvPr id="8" name="Image 1" descr="preencoded.png"/>
          <p:cNvPicPr>
            <a:picLocks noChangeAspect="1"/>
          </p:cNvPicPr>
          <p:nvPr/>
        </p:nvPicPr>
        <p:blipFill>
          <a:blip r:embed="rId4"/>
          <a:stretch>
            <a:fillRect/>
          </a:stretch>
        </p:blipFill>
        <p:spPr>
          <a:xfrm>
            <a:off x="946404" y="2208276"/>
            <a:ext cx="173736" cy="173736"/>
          </a:xfrm>
          <a:prstGeom prst="rect">
            <a:avLst/>
          </a:prstGeom>
        </p:spPr>
      </p:pic>
      <p:sp>
        <p:nvSpPr>
          <p:cNvPr id="9" name="Text 5"/>
          <p:cNvSpPr/>
          <p:nvPr/>
        </p:nvSpPr>
        <p:spPr>
          <a:xfrm>
            <a:off x="1280160" y="2112264"/>
            <a:ext cx="4389120" cy="548640"/>
          </a:xfrm>
          <a:prstGeom prst="rect">
            <a:avLst/>
          </a:prstGeom>
          <a:noFill/>
          <a:ln/>
        </p:spPr>
        <p:txBody>
          <a:bodyPr wrap="square" lIns="0" tIns="0" rIns="0" bIns="0" rtlCol="0" anchor="ctr"/>
          <a:lstStyle/>
          <a:p>
            <a:pPr>
              <a:lnSpc>
                <a:spcPts val="1351"/>
              </a:lnSpc>
            </a:pPr>
            <a:r>
              <a:rPr lang="en-US" sz="1131" b="1" dirty="0">
                <a:solidFill>
                  <a:srgbClr val="1B2A4A"/>
                </a:solidFill>
                <a:latin typeface="Raleway" pitchFamily="2" charset="0"/>
                <a:ea typeface="Calibri" pitchFamily="34" charset="-122"/>
                <a:cs typeface="Calibri" pitchFamily="34" charset="-120"/>
              </a:rPr>
              <a:t>Human + AI blended pods  </a:t>
            </a:r>
            <a:r>
              <a:rPr lang="en-US" sz="1131" dirty="0">
                <a:solidFill>
                  <a:srgbClr val="5B6B86"/>
                </a:solidFill>
                <a:latin typeface="Raleway" pitchFamily="2" charset="0"/>
                <a:ea typeface="Calibri" pitchFamily="34" charset="-122"/>
                <a:cs typeface="Calibri" pitchFamily="34" charset="-120"/>
              </a:rPr>
              <a:t>Sized to mandate - small teams, larger mandates.</a:t>
            </a:r>
            <a:endParaRPr lang="en-US" sz="1131" dirty="0">
              <a:latin typeface="Raleway" pitchFamily="2" charset="0"/>
            </a:endParaRPr>
          </a:p>
        </p:txBody>
      </p:sp>
      <p:sp>
        <p:nvSpPr>
          <p:cNvPr id="10" name="Shape 6"/>
          <p:cNvSpPr/>
          <p:nvPr/>
        </p:nvSpPr>
        <p:spPr>
          <a:xfrm>
            <a:off x="914400" y="2834640"/>
            <a:ext cx="237744" cy="237744"/>
          </a:xfrm>
          <a:prstGeom prst="ellipse">
            <a:avLst/>
          </a:prstGeom>
          <a:solidFill>
            <a:srgbClr val="1A9E8F"/>
          </a:solidFill>
          <a:ln/>
        </p:spPr>
        <p:txBody>
          <a:bodyPr/>
          <a:lstStyle/>
          <a:p>
            <a:endParaRPr lang="en-IN">
              <a:latin typeface="Raleway" pitchFamily="2" charset="0"/>
            </a:endParaRPr>
          </a:p>
        </p:txBody>
      </p:sp>
      <p:pic>
        <p:nvPicPr>
          <p:cNvPr id="11" name="Image 2" descr="preencoded.png"/>
          <p:cNvPicPr>
            <a:picLocks noChangeAspect="1"/>
          </p:cNvPicPr>
          <p:nvPr/>
        </p:nvPicPr>
        <p:blipFill>
          <a:blip r:embed="rId4"/>
          <a:stretch>
            <a:fillRect/>
          </a:stretch>
        </p:blipFill>
        <p:spPr>
          <a:xfrm>
            <a:off x="946404" y="2866644"/>
            <a:ext cx="173736" cy="173736"/>
          </a:xfrm>
          <a:prstGeom prst="rect">
            <a:avLst/>
          </a:prstGeom>
        </p:spPr>
      </p:pic>
      <p:sp>
        <p:nvSpPr>
          <p:cNvPr id="12" name="Text 7"/>
          <p:cNvSpPr/>
          <p:nvPr/>
        </p:nvSpPr>
        <p:spPr>
          <a:xfrm>
            <a:off x="1280160" y="2770632"/>
            <a:ext cx="4389120" cy="548640"/>
          </a:xfrm>
          <a:prstGeom prst="rect">
            <a:avLst/>
          </a:prstGeom>
          <a:noFill/>
          <a:ln/>
        </p:spPr>
        <p:txBody>
          <a:bodyPr wrap="square" lIns="0" tIns="0" rIns="0" bIns="0" rtlCol="0" anchor="ctr"/>
          <a:lstStyle/>
          <a:p>
            <a:pPr>
              <a:lnSpc>
                <a:spcPts val="1351"/>
              </a:lnSpc>
            </a:pPr>
            <a:r>
              <a:rPr lang="en-US" sz="1131" b="1">
                <a:solidFill>
                  <a:srgbClr val="1B2A4A"/>
                </a:solidFill>
                <a:latin typeface="Raleway" pitchFamily="2" charset="0"/>
                <a:ea typeface="Calibri" pitchFamily="34" charset="-122"/>
                <a:cs typeface="Calibri" pitchFamily="34" charset="-120"/>
              </a:rPr>
              <a:t>Embedded tech lead  </a:t>
            </a:r>
            <a:r>
              <a:rPr lang="en-US" sz="1131">
                <a:solidFill>
                  <a:srgbClr val="5B6B86"/>
                </a:solidFill>
                <a:latin typeface="Raleway" pitchFamily="2" charset="0"/>
                <a:ea typeface="Calibri" pitchFamily="34" charset="-122"/>
                <a:cs typeface="Calibri" pitchFamily="34" charset="-120"/>
              </a:rPr>
              <a:t>At J2W's cost; sets velocity, quality bar and KPIs.</a:t>
            </a:r>
            <a:endParaRPr lang="en-US" sz="1131">
              <a:latin typeface="Raleway" pitchFamily="2" charset="0"/>
            </a:endParaRPr>
          </a:p>
        </p:txBody>
      </p:sp>
      <p:sp>
        <p:nvSpPr>
          <p:cNvPr id="13" name="Shape 8"/>
          <p:cNvSpPr/>
          <p:nvPr/>
        </p:nvSpPr>
        <p:spPr>
          <a:xfrm>
            <a:off x="914400" y="3493008"/>
            <a:ext cx="237744" cy="237744"/>
          </a:xfrm>
          <a:prstGeom prst="ellipse">
            <a:avLst/>
          </a:prstGeom>
          <a:solidFill>
            <a:srgbClr val="1A9E8F"/>
          </a:solidFill>
          <a:ln/>
        </p:spPr>
        <p:txBody>
          <a:bodyPr/>
          <a:lstStyle/>
          <a:p>
            <a:endParaRPr lang="en-IN">
              <a:latin typeface="Raleway" pitchFamily="2" charset="0"/>
            </a:endParaRPr>
          </a:p>
        </p:txBody>
      </p:sp>
      <p:pic>
        <p:nvPicPr>
          <p:cNvPr id="14" name="Image 3" descr="preencoded.png"/>
          <p:cNvPicPr>
            <a:picLocks noChangeAspect="1"/>
          </p:cNvPicPr>
          <p:nvPr/>
        </p:nvPicPr>
        <p:blipFill>
          <a:blip r:embed="rId4"/>
          <a:stretch>
            <a:fillRect/>
          </a:stretch>
        </p:blipFill>
        <p:spPr>
          <a:xfrm>
            <a:off x="946404" y="3525012"/>
            <a:ext cx="173736" cy="173736"/>
          </a:xfrm>
          <a:prstGeom prst="rect">
            <a:avLst/>
          </a:prstGeom>
        </p:spPr>
      </p:pic>
      <p:sp>
        <p:nvSpPr>
          <p:cNvPr id="15" name="Text 9"/>
          <p:cNvSpPr/>
          <p:nvPr/>
        </p:nvSpPr>
        <p:spPr>
          <a:xfrm>
            <a:off x="1280160" y="3429000"/>
            <a:ext cx="4389120" cy="548640"/>
          </a:xfrm>
          <a:prstGeom prst="rect">
            <a:avLst/>
          </a:prstGeom>
          <a:noFill/>
          <a:ln/>
        </p:spPr>
        <p:txBody>
          <a:bodyPr wrap="square" lIns="0" tIns="0" rIns="0" bIns="0" rtlCol="0" anchor="ctr"/>
          <a:lstStyle/>
          <a:p>
            <a:pPr>
              <a:lnSpc>
                <a:spcPts val="1351"/>
              </a:lnSpc>
            </a:pPr>
            <a:r>
              <a:rPr lang="en-US" sz="1131" b="1">
                <a:solidFill>
                  <a:srgbClr val="1B2A4A"/>
                </a:solidFill>
                <a:latin typeface="Raleway" pitchFamily="2" charset="0"/>
                <a:ea typeface="Calibri" pitchFamily="34" charset="-122"/>
                <a:cs typeface="Calibri" pitchFamily="34" charset="-120"/>
              </a:rPr>
              <a:t>AI tooling from Day 1  </a:t>
            </a:r>
            <a:r>
              <a:rPr lang="en-US" sz="1131">
                <a:solidFill>
                  <a:srgbClr val="5B6B86"/>
                </a:solidFill>
                <a:latin typeface="Raleway" pitchFamily="2" charset="0"/>
                <a:ea typeface="Calibri" pitchFamily="34" charset="-122"/>
                <a:cs typeface="Calibri" pitchFamily="34" charset="-120"/>
              </a:rPr>
              <a:t>Code review, test generation, agentic workflows in CI/CD.</a:t>
            </a:r>
            <a:endParaRPr lang="en-US" sz="1131">
              <a:latin typeface="Raleway" pitchFamily="2" charset="0"/>
            </a:endParaRPr>
          </a:p>
        </p:txBody>
      </p:sp>
      <p:sp>
        <p:nvSpPr>
          <p:cNvPr id="16" name="Shape 10"/>
          <p:cNvSpPr/>
          <p:nvPr/>
        </p:nvSpPr>
        <p:spPr>
          <a:xfrm>
            <a:off x="914400" y="4151376"/>
            <a:ext cx="237744" cy="237744"/>
          </a:xfrm>
          <a:prstGeom prst="ellipse">
            <a:avLst/>
          </a:prstGeom>
          <a:solidFill>
            <a:srgbClr val="1A9E8F"/>
          </a:solidFill>
          <a:ln/>
        </p:spPr>
        <p:txBody>
          <a:bodyPr/>
          <a:lstStyle/>
          <a:p>
            <a:endParaRPr lang="en-IN">
              <a:latin typeface="Raleway" pitchFamily="2" charset="0"/>
            </a:endParaRPr>
          </a:p>
        </p:txBody>
      </p:sp>
      <p:pic>
        <p:nvPicPr>
          <p:cNvPr id="17" name="Image 4" descr="preencoded.png"/>
          <p:cNvPicPr>
            <a:picLocks noChangeAspect="1"/>
          </p:cNvPicPr>
          <p:nvPr/>
        </p:nvPicPr>
        <p:blipFill>
          <a:blip r:embed="rId4"/>
          <a:stretch>
            <a:fillRect/>
          </a:stretch>
        </p:blipFill>
        <p:spPr>
          <a:xfrm>
            <a:off x="946404" y="4183380"/>
            <a:ext cx="173736" cy="173736"/>
          </a:xfrm>
          <a:prstGeom prst="rect">
            <a:avLst/>
          </a:prstGeom>
        </p:spPr>
      </p:pic>
      <p:sp>
        <p:nvSpPr>
          <p:cNvPr id="18" name="Text 11"/>
          <p:cNvSpPr/>
          <p:nvPr/>
        </p:nvSpPr>
        <p:spPr>
          <a:xfrm>
            <a:off x="1280160" y="4087368"/>
            <a:ext cx="4389120" cy="548640"/>
          </a:xfrm>
          <a:prstGeom prst="rect">
            <a:avLst/>
          </a:prstGeom>
          <a:noFill/>
          <a:ln/>
        </p:spPr>
        <p:txBody>
          <a:bodyPr wrap="square" lIns="0" tIns="0" rIns="0" bIns="0" rtlCol="0" anchor="ctr"/>
          <a:lstStyle/>
          <a:p>
            <a:pPr>
              <a:lnSpc>
                <a:spcPts val="1351"/>
              </a:lnSpc>
            </a:pPr>
            <a:r>
              <a:rPr lang="en-US" sz="1131" b="1">
                <a:solidFill>
                  <a:srgbClr val="1B2A4A"/>
                </a:solidFill>
                <a:latin typeface="Raleway" pitchFamily="2" charset="0"/>
                <a:ea typeface="Calibri" pitchFamily="34" charset="-122"/>
                <a:cs typeface="Calibri" pitchFamily="34" charset="-120"/>
              </a:rPr>
              <a:t>Pod governance  </a:t>
            </a:r>
            <a:r>
              <a:rPr lang="en-US" sz="1131">
                <a:solidFill>
                  <a:srgbClr val="5B6B86"/>
                </a:solidFill>
                <a:latin typeface="Raleway" pitchFamily="2" charset="0"/>
                <a:ea typeface="Calibri" pitchFamily="34" charset="-122"/>
                <a:cs typeface="Calibri" pitchFamily="34" charset="-120"/>
              </a:rPr>
              <a:t>Weekly scorecards, sprint accountability, 24-hr escalation SLA.</a:t>
            </a:r>
            <a:endParaRPr lang="en-US" sz="1131">
              <a:latin typeface="Raleway" pitchFamily="2" charset="0"/>
            </a:endParaRPr>
          </a:p>
        </p:txBody>
      </p:sp>
      <p:pic>
        <p:nvPicPr>
          <p:cNvPr id="20" name="Image 5" descr="preencoded.png"/>
          <p:cNvPicPr>
            <a:picLocks noChangeAspect="1"/>
          </p:cNvPicPr>
          <p:nvPr/>
        </p:nvPicPr>
        <p:blipFill>
          <a:blip r:embed="rId5"/>
          <a:stretch>
            <a:fillRect/>
          </a:stretch>
        </p:blipFill>
        <p:spPr>
          <a:xfrm>
            <a:off x="6519672" y="1545336"/>
            <a:ext cx="310896" cy="310896"/>
          </a:xfrm>
          <a:prstGeom prst="rect">
            <a:avLst/>
          </a:prstGeom>
        </p:spPr>
      </p:pic>
      <p:sp>
        <p:nvSpPr>
          <p:cNvPr id="21" name="Text 13"/>
          <p:cNvSpPr/>
          <p:nvPr/>
        </p:nvSpPr>
        <p:spPr>
          <a:xfrm>
            <a:off x="6976872" y="1426464"/>
            <a:ext cx="4343400" cy="548640"/>
          </a:xfrm>
          <a:prstGeom prst="rect">
            <a:avLst/>
          </a:prstGeom>
          <a:noFill/>
          <a:ln/>
        </p:spPr>
        <p:txBody>
          <a:bodyPr wrap="square" lIns="0" tIns="0" rIns="0" bIns="0" rtlCol="0" anchor="ctr"/>
          <a:lstStyle/>
          <a:p>
            <a:r>
              <a:rPr lang="en-US" sz="1500" b="1" kern="0" spc="200">
                <a:solidFill>
                  <a:srgbClr val="FFFFFF"/>
                </a:solidFill>
                <a:latin typeface="Raleway" pitchFamily="2" charset="0"/>
                <a:ea typeface="Calibri" pitchFamily="34" charset="-122"/>
                <a:cs typeface="Calibri" pitchFamily="34" charset="-120"/>
              </a:rPr>
              <a:t>INTERVIEW-AS-A-SERVICE</a:t>
            </a:r>
            <a:endParaRPr lang="en-US" sz="1500">
              <a:latin typeface="Raleway" pitchFamily="2" charset="0"/>
            </a:endParaRPr>
          </a:p>
        </p:txBody>
      </p:sp>
      <p:sp>
        <p:nvSpPr>
          <p:cNvPr id="22" name="Shape 14"/>
          <p:cNvSpPr/>
          <p:nvPr/>
        </p:nvSpPr>
        <p:spPr>
          <a:xfrm>
            <a:off x="6263640" y="1975104"/>
            <a:ext cx="5257800" cy="2834640"/>
          </a:xfrm>
          <a:prstGeom prst="rect">
            <a:avLst/>
          </a:prstGeom>
          <a:solidFill>
            <a:srgbClr val="F4F6FA"/>
          </a:solidFill>
          <a:ln/>
          <a:effectLst>
            <a:outerShdw blurRad="88900" dist="25400" dir="8100000" algn="bl" rotWithShape="0">
              <a:srgbClr val="000000">
                <a:alpha val="10000"/>
              </a:srgbClr>
            </a:outerShdw>
          </a:effectLst>
        </p:spPr>
        <p:txBody>
          <a:bodyPr/>
          <a:lstStyle/>
          <a:p>
            <a:endParaRPr lang="en-IN">
              <a:latin typeface="Raleway" pitchFamily="2" charset="0"/>
            </a:endParaRPr>
          </a:p>
        </p:txBody>
      </p:sp>
      <p:sp>
        <p:nvSpPr>
          <p:cNvPr id="23" name="Shape 15"/>
          <p:cNvSpPr/>
          <p:nvPr/>
        </p:nvSpPr>
        <p:spPr>
          <a:xfrm>
            <a:off x="6537960" y="2176272"/>
            <a:ext cx="237744" cy="237744"/>
          </a:xfrm>
          <a:prstGeom prst="ellipse">
            <a:avLst/>
          </a:prstGeom>
          <a:solidFill>
            <a:srgbClr val="E8A33D"/>
          </a:solidFill>
          <a:ln/>
        </p:spPr>
        <p:txBody>
          <a:bodyPr/>
          <a:lstStyle/>
          <a:p>
            <a:endParaRPr lang="en-IN">
              <a:latin typeface="Raleway" pitchFamily="2" charset="0"/>
            </a:endParaRPr>
          </a:p>
        </p:txBody>
      </p:sp>
      <p:pic>
        <p:nvPicPr>
          <p:cNvPr id="24" name="Image 6" descr="preencoded.png"/>
          <p:cNvPicPr>
            <a:picLocks noChangeAspect="1"/>
          </p:cNvPicPr>
          <p:nvPr/>
        </p:nvPicPr>
        <p:blipFill>
          <a:blip r:embed="rId4"/>
          <a:stretch>
            <a:fillRect/>
          </a:stretch>
        </p:blipFill>
        <p:spPr>
          <a:xfrm>
            <a:off x="6569964" y="2208276"/>
            <a:ext cx="173736" cy="173736"/>
          </a:xfrm>
          <a:prstGeom prst="rect">
            <a:avLst/>
          </a:prstGeom>
        </p:spPr>
      </p:pic>
      <p:sp>
        <p:nvSpPr>
          <p:cNvPr id="25" name="Text 16"/>
          <p:cNvSpPr/>
          <p:nvPr/>
        </p:nvSpPr>
        <p:spPr>
          <a:xfrm>
            <a:off x="6903720" y="2112264"/>
            <a:ext cx="4389120" cy="548640"/>
          </a:xfrm>
          <a:prstGeom prst="rect">
            <a:avLst/>
          </a:prstGeom>
          <a:noFill/>
          <a:ln/>
        </p:spPr>
        <p:txBody>
          <a:bodyPr wrap="square" lIns="0" tIns="0" rIns="0" bIns="0" rtlCol="0" anchor="ctr"/>
          <a:lstStyle/>
          <a:p>
            <a:pPr>
              <a:lnSpc>
                <a:spcPts val="1351"/>
              </a:lnSpc>
            </a:pPr>
            <a:r>
              <a:rPr lang="en-US" sz="1131" b="1">
                <a:solidFill>
                  <a:srgbClr val="1B2A4A"/>
                </a:solidFill>
                <a:latin typeface="Raleway" pitchFamily="2" charset="0"/>
                <a:ea typeface="Calibri" pitchFamily="34" charset="-122"/>
                <a:cs typeface="Calibri" pitchFamily="34" charset="-120"/>
              </a:rPr>
              <a:t>Standing domain-vetted capacity  </a:t>
            </a:r>
            <a:r>
              <a:rPr lang="en-US" sz="1131">
                <a:solidFill>
                  <a:srgbClr val="5B6B86"/>
                </a:solidFill>
                <a:latin typeface="Raleway" pitchFamily="2" charset="0"/>
                <a:ea typeface="Calibri" pitchFamily="34" charset="-122"/>
                <a:cs typeface="Calibri" pitchFamily="34" charset="-120"/>
              </a:rPr>
              <a:t>Interview slots pre-blocked, not scheduled on demand.</a:t>
            </a:r>
            <a:endParaRPr lang="en-US" sz="1131">
              <a:latin typeface="Raleway" pitchFamily="2" charset="0"/>
            </a:endParaRPr>
          </a:p>
        </p:txBody>
      </p:sp>
      <p:sp>
        <p:nvSpPr>
          <p:cNvPr id="26" name="Shape 17"/>
          <p:cNvSpPr/>
          <p:nvPr/>
        </p:nvSpPr>
        <p:spPr>
          <a:xfrm>
            <a:off x="6537960" y="2834640"/>
            <a:ext cx="237744" cy="237744"/>
          </a:xfrm>
          <a:prstGeom prst="ellipse">
            <a:avLst/>
          </a:prstGeom>
          <a:solidFill>
            <a:srgbClr val="E8A33D"/>
          </a:solidFill>
          <a:ln/>
        </p:spPr>
        <p:txBody>
          <a:bodyPr/>
          <a:lstStyle/>
          <a:p>
            <a:endParaRPr lang="en-IN">
              <a:latin typeface="Raleway" pitchFamily="2" charset="0"/>
            </a:endParaRPr>
          </a:p>
        </p:txBody>
      </p:sp>
      <p:pic>
        <p:nvPicPr>
          <p:cNvPr id="27" name="Image 7" descr="preencoded.png"/>
          <p:cNvPicPr>
            <a:picLocks noChangeAspect="1"/>
          </p:cNvPicPr>
          <p:nvPr/>
        </p:nvPicPr>
        <p:blipFill>
          <a:blip r:embed="rId4"/>
          <a:stretch>
            <a:fillRect/>
          </a:stretch>
        </p:blipFill>
        <p:spPr>
          <a:xfrm>
            <a:off x="6569964" y="2866644"/>
            <a:ext cx="173736" cy="173736"/>
          </a:xfrm>
          <a:prstGeom prst="rect">
            <a:avLst/>
          </a:prstGeom>
        </p:spPr>
      </p:pic>
      <p:sp>
        <p:nvSpPr>
          <p:cNvPr id="28" name="Text 18"/>
          <p:cNvSpPr/>
          <p:nvPr/>
        </p:nvSpPr>
        <p:spPr>
          <a:xfrm>
            <a:off x="6903720" y="2770632"/>
            <a:ext cx="4389120" cy="548640"/>
          </a:xfrm>
          <a:prstGeom prst="rect">
            <a:avLst/>
          </a:prstGeom>
          <a:noFill/>
          <a:ln/>
        </p:spPr>
        <p:txBody>
          <a:bodyPr wrap="square" lIns="0" tIns="0" rIns="0" bIns="0" rtlCol="0" anchor="ctr"/>
          <a:lstStyle/>
          <a:p>
            <a:pPr>
              <a:lnSpc>
                <a:spcPts val="1351"/>
              </a:lnSpc>
            </a:pPr>
            <a:r>
              <a:rPr lang="en-US" sz="1131" b="1">
                <a:solidFill>
                  <a:srgbClr val="1B2A4A"/>
                </a:solidFill>
                <a:latin typeface="Raleway" pitchFamily="2" charset="0"/>
                <a:ea typeface="Calibri" pitchFamily="34" charset="-122"/>
                <a:cs typeface="Calibri" pitchFamily="34" charset="-120"/>
              </a:rPr>
              <a:t>Decision cycles 2–3 wks → 3–5 days  </a:t>
            </a:r>
            <a:r>
              <a:rPr lang="en-US" sz="1131">
                <a:solidFill>
                  <a:srgbClr val="5B6B86"/>
                </a:solidFill>
                <a:latin typeface="Raleway" pitchFamily="2" charset="0"/>
                <a:ea typeface="Calibri" pitchFamily="34" charset="-122"/>
                <a:cs typeface="Calibri" pitchFamily="34" charset="-120"/>
              </a:rPr>
              <a:t>Candidates clear the domain bar before reaching you.</a:t>
            </a:r>
            <a:endParaRPr lang="en-US" sz="1131">
              <a:latin typeface="Raleway" pitchFamily="2" charset="0"/>
            </a:endParaRPr>
          </a:p>
        </p:txBody>
      </p:sp>
      <p:sp>
        <p:nvSpPr>
          <p:cNvPr id="29" name="Shape 19"/>
          <p:cNvSpPr/>
          <p:nvPr/>
        </p:nvSpPr>
        <p:spPr>
          <a:xfrm>
            <a:off x="6537960" y="3493008"/>
            <a:ext cx="237744" cy="237744"/>
          </a:xfrm>
          <a:prstGeom prst="ellipse">
            <a:avLst/>
          </a:prstGeom>
          <a:solidFill>
            <a:srgbClr val="E8A33D"/>
          </a:solidFill>
          <a:ln/>
        </p:spPr>
        <p:txBody>
          <a:bodyPr/>
          <a:lstStyle/>
          <a:p>
            <a:endParaRPr lang="en-IN">
              <a:latin typeface="Raleway" pitchFamily="2" charset="0"/>
            </a:endParaRPr>
          </a:p>
        </p:txBody>
      </p:sp>
      <p:pic>
        <p:nvPicPr>
          <p:cNvPr id="30" name="Image 8" descr="preencoded.png"/>
          <p:cNvPicPr>
            <a:picLocks noChangeAspect="1"/>
          </p:cNvPicPr>
          <p:nvPr/>
        </p:nvPicPr>
        <p:blipFill>
          <a:blip r:embed="rId4"/>
          <a:stretch>
            <a:fillRect/>
          </a:stretch>
        </p:blipFill>
        <p:spPr>
          <a:xfrm>
            <a:off x="6569964" y="3525012"/>
            <a:ext cx="173736" cy="173736"/>
          </a:xfrm>
          <a:prstGeom prst="rect">
            <a:avLst/>
          </a:prstGeom>
        </p:spPr>
      </p:pic>
      <p:sp>
        <p:nvSpPr>
          <p:cNvPr id="31" name="Text 20"/>
          <p:cNvSpPr/>
          <p:nvPr/>
        </p:nvSpPr>
        <p:spPr>
          <a:xfrm>
            <a:off x="6903720" y="3429000"/>
            <a:ext cx="4389120" cy="548640"/>
          </a:xfrm>
          <a:prstGeom prst="rect">
            <a:avLst/>
          </a:prstGeom>
          <a:noFill/>
          <a:ln/>
        </p:spPr>
        <p:txBody>
          <a:bodyPr wrap="square" lIns="0" tIns="0" rIns="0" bIns="0" rtlCol="0" anchor="ctr"/>
          <a:lstStyle/>
          <a:p>
            <a:pPr>
              <a:lnSpc>
                <a:spcPts val="1351"/>
              </a:lnSpc>
            </a:pPr>
            <a:r>
              <a:rPr lang="en-US" sz="1131" b="1" dirty="0">
                <a:solidFill>
                  <a:srgbClr val="1B2A4A"/>
                </a:solidFill>
                <a:latin typeface="Raleway" pitchFamily="2" charset="0"/>
                <a:ea typeface="Calibri" pitchFamily="34" charset="-122"/>
                <a:cs typeface="Calibri" pitchFamily="34" charset="-120"/>
              </a:rPr>
              <a:t>Manager time for judgment  </a:t>
            </a:r>
            <a:r>
              <a:rPr lang="en-US" sz="1131" dirty="0">
                <a:solidFill>
                  <a:srgbClr val="5B6B86"/>
                </a:solidFill>
                <a:latin typeface="Raleway" pitchFamily="2" charset="0"/>
                <a:ea typeface="Calibri" pitchFamily="34" charset="-122"/>
                <a:cs typeface="Calibri" pitchFamily="34" charset="-120"/>
              </a:rPr>
              <a:t>Not first-pass filtering - experts catch mismatches early.</a:t>
            </a:r>
            <a:endParaRPr lang="en-US" sz="1131" dirty="0">
              <a:latin typeface="Raleway" pitchFamily="2" charset="0"/>
            </a:endParaRPr>
          </a:p>
        </p:txBody>
      </p:sp>
      <p:sp>
        <p:nvSpPr>
          <p:cNvPr id="32" name="Shape 21"/>
          <p:cNvSpPr/>
          <p:nvPr/>
        </p:nvSpPr>
        <p:spPr>
          <a:xfrm>
            <a:off x="6537960" y="4151376"/>
            <a:ext cx="237744" cy="237744"/>
          </a:xfrm>
          <a:prstGeom prst="ellipse">
            <a:avLst/>
          </a:prstGeom>
          <a:solidFill>
            <a:srgbClr val="E8A33D"/>
          </a:solidFill>
          <a:ln/>
        </p:spPr>
        <p:txBody>
          <a:bodyPr/>
          <a:lstStyle/>
          <a:p>
            <a:endParaRPr lang="en-IN">
              <a:latin typeface="Raleway" pitchFamily="2" charset="0"/>
            </a:endParaRPr>
          </a:p>
        </p:txBody>
      </p:sp>
      <p:pic>
        <p:nvPicPr>
          <p:cNvPr id="33" name="Image 9" descr="preencoded.png"/>
          <p:cNvPicPr>
            <a:picLocks noChangeAspect="1"/>
          </p:cNvPicPr>
          <p:nvPr/>
        </p:nvPicPr>
        <p:blipFill>
          <a:blip r:embed="rId4"/>
          <a:stretch>
            <a:fillRect/>
          </a:stretch>
        </p:blipFill>
        <p:spPr>
          <a:xfrm>
            <a:off x="6569964" y="4183380"/>
            <a:ext cx="173736" cy="173736"/>
          </a:xfrm>
          <a:prstGeom prst="rect">
            <a:avLst/>
          </a:prstGeom>
        </p:spPr>
      </p:pic>
      <p:sp>
        <p:nvSpPr>
          <p:cNvPr id="34" name="Text 22"/>
          <p:cNvSpPr/>
          <p:nvPr/>
        </p:nvSpPr>
        <p:spPr>
          <a:xfrm>
            <a:off x="6903720" y="4087368"/>
            <a:ext cx="4389120" cy="548640"/>
          </a:xfrm>
          <a:prstGeom prst="rect">
            <a:avLst/>
          </a:prstGeom>
          <a:noFill/>
          <a:ln/>
        </p:spPr>
        <p:txBody>
          <a:bodyPr wrap="square" lIns="0" tIns="0" rIns="0" bIns="0" rtlCol="0" anchor="ctr"/>
          <a:lstStyle/>
          <a:p>
            <a:pPr>
              <a:lnSpc>
                <a:spcPts val="1351"/>
              </a:lnSpc>
            </a:pPr>
            <a:r>
              <a:rPr lang="en-US" sz="1131" b="1">
                <a:solidFill>
                  <a:srgbClr val="1B2A4A"/>
                </a:solidFill>
                <a:latin typeface="Raleway" pitchFamily="2" charset="0"/>
                <a:ea typeface="Calibri" pitchFamily="34" charset="-122"/>
                <a:cs typeface="Calibri" pitchFamily="34" charset="-120"/>
              </a:rPr>
              <a:t>Structured, recorded, scored  </a:t>
            </a:r>
            <a:r>
              <a:rPr lang="en-US" sz="1131">
                <a:solidFill>
                  <a:srgbClr val="5B6B86"/>
                </a:solidFill>
                <a:latin typeface="Raleway" pitchFamily="2" charset="0"/>
                <a:ea typeface="Calibri" pitchFamily="34" charset="-122"/>
                <a:cs typeface="Calibri" pitchFamily="34" charset="-120"/>
              </a:rPr>
              <a:t>Rubrics by role &amp; seniority; async review reports.</a:t>
            </a:r>
            <a:endParaRPr lang="en-US" sz="1131">
              <a:latin typeface="Raleway" pitchFamily="2" charset="0"/>
            </a:endParaRPr>
          </a:p>
        </p:txBody>
      </p:sp>
      <p:sp>
        <p:nvSpPr>
          <p:cNvPr id="35" name="Text 23"/>
          <p:cNvSpPr/>
          <p:nvPr/>
        </p:nvSpPr>
        <p:spPr>
          <a:xfrm>
            <a:off x="640080" y="4974336"/>
            <a:ext cx="10881360" cy="320040"/>
          </a:xfrm>
          <a:prstGeom prst="rect">
            <a:avLst/>
          </a:prstGeom>
          <a:noFill/>
          <a:ln/>
        </p:spPr>
        <p:txBody>
          <a:bodyPr wrap="square" lIns="0" tIns="0" rIns="0" bIns="0" rtlCol="0" anchor="ctr"/>
          <a:lstStyle/>
          <a:p>
            <a:r>
              <a:rPr lang="en-US" sz="1200" b="1" dirty="0">
                <a:solidFill>
                  <a:srgbClr val="1A9E8F"/>
                </a:solidFill>
                <a:latin typeface="Raleway" pitchFamily="2" charset="0"/>
                <a:ea typeface="Calibri" pitchFamily="34" charset="-122"/>
                <a:cs typeface="Calibri" pitchFamily="34" charset="-120"/>
              </a:rPr>
              <a:t>Why it matters for Southwest:  </a:t>
            </a:r>
            <a:r>
              <a:rPr lang="en-US" sz="1200" i="1" dirty="0">
                <a:solidFill>
                  <a:srgbClr val="5B6B86"/>
                </a:solidFill>
                <a:latin typeface="Raleway" pitchFamily="2" charset="0"/>
                <a:ea typeface="Calibri" pitchFamily="34" charset="-122"/>
                <a:cs typeface="Calibri" pitchFamily="34" charset="-120"/>
              </a:rPr>
              <a:t>every early hire defines trajectory - only domain-credible candidates reach your leadership.</a:t>
            </a:r>
            <a:endParaRPr lang="en-US" sz="1200" dirty="0">
              <a:latin typeface="Raleway" pitchFamily="2" charset="0"/>
            </a:endParaRPr>
          </a:p>
        </p:txBody>
      </p:sp>
      <p:pic>
        <p:nvPicPr>
          <p:cNvPr id="40" name="Image 2" descr="gen-dedup-06e3d16aa0e9246458a784af17ea21a8.png">
            <a:extLst>
              <a:ext uri="{FF2B5EF4-FFF2-40B4-BE49-F238E27FC236}">
                <a16:creationId xmlns:a16="http://schemas.microsoft.com/office/drawing/2014/main" id="{5DB2953C-7553-710B-6986-48134ED3F54F}"/>
              </a:ext>
            </a:extLst>
          </p:cNvPr>
          <p:cNvPicPr>
            <a:picLocks noChangeAspect="1"/>
          </p:cNvPicPr>
          <p:nvPr/>
        </p:nvPicPr>
        <p:blipFill>
          <a:blip r:embed="rId6"/>
          <a:srcRect l="-437" r="-437"/>
          <a:stretch/>
        </p:blipFill>
        <p:spPr>
          <a:xfrm>
            <a:off x="609905" y="390449"/>
            <a:ext cx="57607" cy="418795"/>
          </a:xfrm>
          <a:prstGeom prst="rect">
            <a:avLst/>
          </a:prstGeom>
        </p:spPr>
      </p:pic>
      <p:pic>
        <p:nvPicPr>
          <p:cNvPr id="45" name="Image 1" descr="gen-dedup-323228122ff92d2332e711a84ca3b40c.png">
            <a:extLst>
              <a:ext uri="{FF2B5EF4-FFF2-40B4-BE49-F238E27FC236}">
                <a16:creationId xmlns:a16="http://schemas.microsoft.com/office/drawing/2014/main" id="{B93A69ED-69E0-3FB6-1D82-83C984D0EC90}"/>
              </a:ext>
            </a:extLst>
          </p:cNvPr>
          <p:cNvPicPr>
            <a:picLocks noChangeAspect="1"/>
          </p:cNvPicPr>
          <p:nvPr/>
        </p:nvPicPr>
        <p:blipFill>
          <a:blip r:embed="rId7"/>
          <a:srcRect l="-198" r="-198"/>
          <a:stretch/>
        </p:blipFill>
        <p:spPr>
          <a:xfrm>
            <a:off x="0" y="0"/>
            <a:ext cx="8124444" cy="75895"/>
          </a:xfrm>
          <a:prstGeom prst="rect">
            <a:avLst/>
          </a:prstGeom>
        </p:spPr>
      </p:pic>
      <p:pic>
        <p:nvPicPr>
          <p:cNvPr id="47" name="Image 2" descr="gen-dedup-9663ecf744b06e35d4c2cebaab92a2ea.png">
            <a:extLst>
              <a:ext uri="{FF2B5EF4-FFF2-40B4-BE49-F238E27FC236}">
                <a16:creationId xmlns:a16="http://schemas.microsoft.com/office/drawing/2014/main" id="{277D5448-BEF8-7099-D1CD-B740E6A6C850}"/>
              </a:ext>
            </a:extLst>
          </p:cNvPr>
          <p:cNvPicPr>
            <a:picLocks noChangeAspect="1"/>
          </p:cNvPicPr>
          <p:nvPr/>
        </p:nvPicPr>
        <p:blipFill>
          <a:blip r:embed="rId8"/>
          <a:srcRect l="-202" r="-202"/>
          <a:stretch/>
        </p:blipFill>
        <p:spPr>
          <a:xfrm>
            <a:off x="8124444" y="0"/>
            <a:ext cx="4067251" cy="75895"/>
          </a:xfrm>
          <a:prstGeom prst="rect">
            <a:avLst/>
          </a:prstGeom>
        </p:spPr>
      </p:pic>
    </p:spTree>
    <p:extLst>
      <p:ext uri="{BB962C8B-B14F-4D97-AF65-F5344CB8AC3E}">
        <p14:creationId xmlns:p14="http://schemas.microsoft.com/office/powerpoint/2010/main" val="36641115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4ab2116e971fbb9400d0e99205bd0390.png"/>
          <p:cNvPicPr>
            <a:picLocks noChangeAspect="1"/>
          </p:cNvPicPr>
          <p:nvPr/>
        </p:nvPicPr>
        <p:blipFill>
          <a:blip r:embed="rId3">
            <a:alphaModFix amt="5000"/>
          </a:blip>
          <a:srcRect/>
          <a:stretch/>
        </p:blipFill>
        <p:spPr>
          <a:xfrm>
            <a:off x="-381305" y="4190695"/>
            <a:ext cx="1904695" cy="1904695"/>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806ddcf4485dfb282961f80f6430c89d.png"/>
          <p:cNvPicPr>
            <a:picLocks noChangeAspect="1"/>
          </p:cNvPicPr>
          <p:nvPr/>
        </p:nvPicPr>
        <p:blipFill>
          <a:blip r:embed="rId6"/>
          <a:srcRect l="-424" r="-424"/>
          <a:stretch/>
        </p:blipFill>
        <p:spPr>
          <a:xfrm>
            <a:off x="609905" y="533095"/>
            <a:ext cx="57607" cy="809244"/>
          </a:xfrm>
          <a:prstGeom prst="rect">
            <a:avLst/>
          </a:prstGeom>
        </p:spPr>
      </p:pic>
      <p:sp>
        <p:nvSpPr>
          <p:cNvPr id="9" name="Shape 3"/>
          <p:cNvSpPr/>
          <p:nvPr/>
        </p:nvSpPr>
        <p:spPr>
          <a:xfrm>
            <a:off x="609905" y="1657807"/>
            <a:ext cx="3543300" cy="1809598"/>
          </a:xfrm>
          <a:prstGeom prst="roundRect">
            <a:avLst>
              <a:gd name="adj" fmla="val 2122"/>
            </a:avLst>
          </a:prstGeom>
          <a:solidFill>
            <a:srgbClr val="F8FAFC"/>
          </a:solidFill>
          <a:ln w="12700">
            <a:solidFill>
              <a:srgbClr val="E2E8F0"/>
            </a:solidFill>
            <a:prstDash val="solid"/>
          </a:ln>
        </p:spPr>
        <p:txBody>
          <a:bodyPr/>
          <a:lstStyle/>
          <a:p>
            <a:endParaRPr lang="en-US"/>
          </a:p>
        </p:txBody>
      </p:sp>
      <p:sp>
        <p:nvSpPr>
          <p:cNvPr id="10" name="Shape 4"/>
          <p:cNvSpPr/>
          <p:nvPr/>
        </p:nvSpPr>
        <p:spPr>
          <a:xfrm>
            <a:off x="609905" y="1657807"/>
            <a:ext cx="3543300" cy="38405"/>
          </a:xfrm>
          <a:prstGeom prst="roundRect">
            <a:avLst>
              <a:gd name="adj" fmla="val 99999"/>
            </a:avLst>
          </a:prstGeom>
          <a:solidFill>
            <a:srgbClr val="111827"/>
          </a:solidFill>
          <a:ln w="12700">
            <a:solidFill>
              <a:srgbClr val="111827">
                <a:alpha val="0"/>
              </a:srgbClr>
            </a:solidFill>
            <a:prstDash val="solid"/>
          </a:ln>
        </p:spPr>
        <p:txBody>
          <a:bodyPr/>
          <a:lstStyle/>
          <a:p>
            <a:endParaRPr lang="en-US"/>
          </a:p>
        </p:txBody>
      </p:sp>
      <p:sp>
        <p:nvSpPr>
          <p:cNvPr id="11" name="Shape 5"/>
          <p:cNvSpPr/>
          <p:nvPr/>
        </p:nvSpPr>
        <p:spPr>
          <a:xfrm>
            <a:off x="4343400" y="1657807"/>
            <a:ext cx="3543300" cy="1809598"/>
          </a:xfrm>
          <a:prstGeom prst="roundRect">
            <a:avLst>
              <a:gd name="adj" fmla="val 2122"/>
            </a:avLst>
          </a:prstGeom>
          <a:solidFill>
            <a:srgbClr val="F8FAFC"/>
          </a:solidFill>
          <a:ln w="12700">
            <a:solidFill>
              <a:srgbClr val="E2E8F0"/>
            </a:solidFill>
            <a:prstDash val="solid"/>
          </a:ln>
        </p:spPr>
        <p:txBody>
          <a:bodyPr/>
          <a:lstStyle/>
          <a:p>
            <a:endParaRPr lang="en-US"/>
          </a:p>
        </p:txBody>
      </p:sp>
      <p:sp>
        <p:nvSpPr>
          <p:cNvPr id="12" name="Shape 6"/>
          <p:cNvSpPr/>
          <p:nvPr/>
        </p:nvSpPr>
        <p:spPr>
          <a:xfrm>
            <a:off x="4343400" y="1657807"/>
            <a:ext cx="3543300" cy="38405"/>
          </a:xfrm>
          <a:prstGeom prst="roundRect">
            <a:avLst>
              <a:gd name="adj" fmla="val 99999"/>
            </a:avLst>
          </a:prstGeom>
          <a:solidFill>
            <a:srgbClr val="2A9D8F"/>
          </a:solidFill>
          <a:ln w="12700">
            <a:solidFill>
              <a:srgbClr val="2A9D8F">
                <a:alpha val="0"/>
              </a:srgbClr>
            </a:solidFill>
            <a:prstDash val="solid"/>
          </a:ln>
        </p:spPr>
        <p:txBody>
          <a:bodyPr/>
          <a:lstStyle/>
          <a:p>
            <a:endParaRPr lang="en-US"/>
          </a:p>
        </p:txBody>
      </p:sp>
      <p:sp>
        <p:nvSpPr>
          <p:cNvPr id="13" name="Shape 7"/>
          <p:cNvSpPr/>
          <p:nvPr/>
        </p:nvSpPr>
        <p:spPr>
          <a:xfrm>
            <a:off x="8076895" y="1657807"/>
            <a:ext cx="3543300" cy="1809598"/>
          </a:xfrm>
          <a:prstGeom prst="roundRect">
            <a:avLst>
              <a:gd name="adj" fmla="val 2122"/>
            </a:avLst>
          </a:prstGeom>
          <a:solidFill>
            <a:srgbClr val="F8FAFC"/>
          </a:solidFill>
          <a:ln w="12700">
            <a:solidFill>
              <a:srgbClr val="E2E8F0"/>
            </a:solidFill>
            <a:prstDash val="solid"/>
          </a:ln>
        </p:spPr>
        <p:txBody>
          <a:bodyPr/>
          <a:lstStyle/>
          <a:p>
            <a:endParaRPr lang="en-US"/>
          </a:p>
        </p:txBody>
      </p:sp>
      <p:sp>
        <p:nvSpPr>
          <p:cNvPr id="14" name="Shape 8"/>
          <p:cNvSpPr/>
          <p:nvPr/>
        </p:nvSpPr>
        <p:spPr>
          <a:xfrm>
            <a:off x="8076895" y="1657807"/>
            <a:ext cx="3543300" cy="38405"/>
          </a:xfrm>
          <a:prstGeom prst="roundRect">
            <a:avLst>
              <a:gd name="adj" fmla="val 99999"/>
            </a:avLst>
          </a:prstGeom>
          <a:solidFill>
            <a:srgbClr val="D62839"/>
          </a:solidFill>
          <a:ln w="12700">
            <a:solidFill>
              <a:srgbClr val="D62839">
                <a:alpha val="0"/>
              </a:srgbClr>
            </a:solidFill>
            <a:prstDash val="solid"/>
          </a:ln>
        </p:spPr>
        <p:txBody>
          <a:bodyPr/>
          <a:lstStyle/>
          <a:p>
            <a:endParaRPr lang="en-US"/>
          </a:p>
        </p:txBody>
      </p:sp>
      <p:sp>
        <p:nvSpPr>
          <p:cNvPr id="15" name="Shape 9"/>
          <p:cNvSpPr/>
          <p:nvPr/>
        </p:nvSpPr>
        <p:spPr>
          <a:xfrm>
            <a:off x="609905" y="3571646"/>
            <a:ext cx="3543300" cy="1809598"/>
          </a:xfrm>
          <a:prstGeom prst="roundRect">
            <a:avLst>
              <a:gd name="adj" fmla="val 2122"/>
            </a:avLst>
          </a:prstGeom>
          <a:solidFill>
            <a:srgbClr val="F8FAFC"/>
          </a:solidFill>
          <a:ln w="12700">
            <a:solidFill>
              <a:srgbClr val="E2E8F0"/>
            </a:solidFill>
            <a:prstDash val="solid"/>
          </a:ln>
        </p:spPr>
        <p:txBody>
          <a:bodyPr/>
          <a:lstStyle/>
          <a:p>
            <a:endParaRPr lang="en-US"/>
          </a:p>
        </p:txBody>
      </p:sp>
      <p:sp>
        <p:nvSpPr>
          <p:cNvPr id="16" name="Shape 10"/>
          <p:cNvSpPr/>
          <p:nvPr/>
        </p:nvSpPr>
        <p:spPr>
          <a:xfrm>
            <a:off x="609905" y="3571646"/>
            <a:ext cx="3543300" cy="38405"/>
          </a:xfrm>
          <a:prstGeom prst="roundRect">
            <a:avLst>
              <a:gd name="adj" fmla="val 99999"/>
            </a:avLst>
          </a:prstGeom>
          <a:solidFill>
            <a:srgbClr val="111827"/>
          </a:solidFill>
          <a:ln w="12700">
            <a:solidFill>
              <a:srgbClr val="111827">
                <a:alpha val="0"/>
              </a:srgbClr>
            </a:solidFill>
            <a:prstDash val="solid"/>
          </a:ln>
        </p:spPr>
        <p:txBody>
          <a:bodyPr/>
          <a:lstStyle/>
          <a:p>
            <a:endParaRPr lang="en-US"/>
          </a:p>
        </p:txBody>
      </p:sp>
      <p:sp>
        <p:nvSpPr>
          <p:cNvPr id="17" name="Shape 11"/>
          <p:cNvSpPr/>
          <p:nvPr/>
        </p:nvSpPr>
        <p:spPr>
          <a:xfrm>
            <a:off x="4343400" y="3571646"/>
            <a:ext cx="3543300" cy="1809598"/>
          </a:xfrm>
          <a:prstGeom prst="roundRect">
            <a:avLst>
              <a:gd name="adj" fmla="val 2122"/>
            </a:avLst>
          </a:prstGeom>
          <a:solidFill>
            <a:srgbClr val="F8FAFC"/>
          </a:solidFill>
          <a:ln w="12700">
            <a:solidFill>
              <a:srgbClr val="E2E8F0"/>
            </a:solidFill>
            <a:prstDash val="solid"/>
          </a:ln>
        </p:spPr>
        <p:txBody>
          <a:bodyPr/>
          <a:lstStyle/>
          <a:p>
            <a:endParaRPr lang="en-US"/>
          </a:p>
        </p:txBody>
      </p:sp>
      <p:sp>
        <p:nvSpPr>
          <p:cNvPr id="18" name="Shape 12"/>
          <p:cNvSpPr/>
          <p:nvPr/>
        </p:nvSpPr>
        <p:spPr>
          <a:xfrm>
            <a:off x="4343400" y="3571646"/>
            <a:ext cx="3543300" cy="38405"/>
          </a:xfrm>
          <a:prstGeom prst="roundRect">
            <a:avLst>
              <a:gd name="adj" fmla="val 99999"/>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8076895" y="3571646"/>
            <a:ext cx="3543300" cy="1809598"/>
          </a:xfrm>
          <a:prstGeom prst="roundRect">
            <a:avLst>
              <a:gd name="adj" fmla="val 2122"/>
            </a:avLst>
          </a:prstGeom>
          <a:solidFill>
            <a:srgbClr val="F8FAFC"/>
          </a:solidFill>
          <a:ln w="12700">
            <a:solidFill>
              <a:srgbClr val="E2E8F0"/>
            </a:solidFill>
            <a:prstDash val="solid"/>
          </a:ln>
        </p:spPr>
        <p:txBody>
          <a:bodyPr/>
          <a:lstStyle/>
          <a:p>
            <a:endParaRPr lang="en-US"/>
          </a:p>
        </p:txBody>
      </p:sp>
      <p:sp>
        <p:nvSpPr>
          <p:cNvPr id="20" name="Shape 14"/>
          <p:cNvSpPr/>
          <p:nvPr/>
        </p:nvSpPr>
        <p:spPr>
          <a:xfrm>
            <a:off x="8076895" y="3571646"/>
            <a:ext cx="3543300" cy="38405"/>
          </a:xfrm>
          <a:prstGeom prst="roundRect">
            <a:avLst>
              <a:gd name="adj" fmla="val 99999"/>
            </a:avLst>
          </a:prstGeom>
          <a:solidFill>
            <a:srgbClr val="D62839"/>
          </a:solidFill>
          <a:ln w="12700">
            <a:solidFill>
              <a:srgbClr val="D62839">
                <a:alpha val="0"/>
              </a:srgbClr>
            </a:solidFill>
            <a:prstDash val="solid"/>
          </a:ln>
        </p:spPr>
        <p:txBody>
          <a:bodyPr/>
          <a:lstStyle/>
          <a:p>
            <a:endParaRPr lang="en-US"/>
          </a:p>
        </p:txBody>
      </p:sp>
      <p:sp>
        <p:nvSpPr>
          <p:cNvPr id="21" name="Shape 15"/>
          <p:cNvSpPr/>
          <p:nvPr/>
        </p:nvSpPr>
        <p:spPr>
          <a:xfrm>
            <a:off x="609905" y="5619902"/>
            <a:ext cx="10972800" cy="761695"/>
          </a:xfrm>
          <a:prstGeom prst="roundRect">
            <a:avLst>
              <a:gd name="adj" fmla="val 5042"/>
            </a:avLst>
          </a:prstGeom>
          <a:solidFill>
            <a:srgbClr val="111827"/>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23" name="Text 17"/>
          <p:cNvSpPr txBox="1"/>
          <p:nvPr/>
        </p:nvSpPr>
        <p:spPr>
          <a:xfrm>
            <a:off x="819302" y="514807"/>
            <a:ext cx="8572500" cy="152705"/>
          </a:xfrm>
          <a:prstGeom prst="rect">
            <a:avLst/>
          </a:prstGeom>
          <a:noFill/>
          <a:ln/>
        </p:spPr>
        <p:txBody>
          <a:bodyPr wrap="none" lIns="0" tIns="0" rIns="0" bIns="0" rtlCol="0" anchor="ctr"/>
          <a:lstStyle/>
          <a:p>
            <a:pPr marL="0" indent="0" algn="l">
              <a:buNone/>
            </a:pPr>
            <a:r>
              <a:rPr lang="en-US" sz="1000" b="1" kern="0" spc="52">
                <a:solidFill>
                  <a:srgbClr val="2A9D8F"/>
                </a:solidFill>
                <a:latin typeface="Roboto Condensed" pitchFamily="34" charset="0"/>
                <a:ea typeface="Roboto Condensed" pitchFamily="34" charset="-122"/>
                <a:cs typeface="Roboto Condensed" pitchFamily="34" charset="-120"/>
              </a:rPr>
              <a:t>AI POD</a:t>
            </a:r>
            <a:endParaRPr lang="en-US" sz="1000"/>
          </a:p>
        </p:txBody>
      </p:sp>
      <p:sp>
        <p:nvSpPr>
          <p:cNvPr id="24" name="Text 18"/>
          <p:cNvSpPr txBox="1"/>
          <p:nvPr/>
        </p:nvSpPr>
        <p:spPr>
          <a:xfrm>
            <a:off x="819302" y="705002"/>
            <a:ext cx="8572500" cy="372161"/>
          </a:xfrm>
          <a:prstGeom prst="rect">
            <a:avLst/>
          </a:prstGeom>
          <a:noFill/>
          <a:ln/>
        </p:spPr>
        <p:txBody>
          <a:bodyPr wrap="none" lIns="0" tIns="0" rIns="0" bIns="0" rtlCol="0" anchor="ctr"/>
          <a:lstStyle/>
          <a:p>
            <a:pPr marL="0" indent="0" algn="l">
              <a:buNone/>
            </a:pPr>
            <a:r>
              <a:rPr lang="en-US" sz="2400" b="1" dirty="0">
                <a:solidFill>
                  <a:srgbClr val="111827"/>
                </a:solidFill>
                <a:latin typeface="Oswald" pitchFamily="34" charset="0"/>
                <a:ea typeface="Oswald" pitchFamily="34" charset="-122"/>
                <a:cs typeface="Oswald" pitchFamily="34" charset="-120"/>
              </a:rPr>
              <a:t>WHAT WE HOLD OURSELVES ACCOUNTABLE TO</a:t>
            </a:r>
            <a:endParaRPr lang="en-US" sz="2400" dirty="0"/>
          </a:p>
        </p:txBody>
      </p:sp>
      <p:sp>
        <p:nvSpPr>
          <p:cNvPr id="25" name="Text 19"/>
          <p:cNvSpPr txBox="1"/>
          <p:nvPr/>
        </p:nvSpPr>
        <p:spPr>
          <a:xfrm>
            <a:off x="819302" y="1146658"/>
            <a:ext cx="8572500" cy="219456"/>
          </a:xfrm>
          <a:prstGeom prst="rect">
            <a:avLst/>
          </a:prstGeom>
          <a:noFill/>
          <a:ln/>
        </p:spPr>
        <p:txBody>
          <a:bodyPr wrap="none" lIns="0" tIns="0" rIns="0" bIns="0" rtlCol="0" anchor="ctr"/>
          <a:lstStyle/>
          <a:p>
            <a:pPr marL="0" indent="0" algn="l">
              <a:buNone/>
            </a:pPr>
            <a:r>
              <a:rPr lang="en-US" sz="1200" b="1" dirty="0">
                <a:solidFill>
                  <a:srgbClr val="4B5563"/>
                </a:solidFill>
                <a:latin typeface="Raleway" pitchFamily="34" charset="0"/>
                <a:ea typeface="Raleway" pitchFamily="34" charset="-122"/>
                <a:cs typeface="Raleway" pitchFamily="34" charset="-120"/>
              </a:rPr>
              <a:t>Measured monthly, governed weekly, escalated immediately.</a:t>
            </a:r>
            <a:endParaRPr lang="en-US" sz="1200" b="1" dirty="0"/>
          </a:p>
        </p:txBody>
      </p:sp>
      <p:sp>
        <p:nvSpPr>
          <p:cNvPr id="26" name="Text 20"/>
          <p:cNvSpPr txBox="1"/>
          <p:nvPr/>
        </p:nvSpPr>
        <p:spPr>
          <a:xfrm>
            <a:off x="761695" y="1772107"/>
            <a:ext cx="3200400" cy="381305"/>
          </a:xfrm>
          <a:prstGeom prst="rect">
            <a:avLst/>
          </a:prstGeom>
          <a:noFill/>
          <a:ln/>
        </p:spPr>
        <p:txBody>
          <a:bodyPr wrap="none" lIns="0" tIns="0" rIns="0" bIns="0" rtlCol="0" anchor="ctr"/>
          <a:lstStyle/>
          <a:p>
            <a:pPr marL="0" indent="0" algn="l">
              <a:buNone/>
            </a:pPr>
            <a:r>
              <a:rPr lang="en-US" sz="2700" b="1">
                <a:solidFill>
                  <a:srgbClr val="111827"/>
                </a:solidFill>
                <a:latin typeface="Oswald" pitchFamily="34" charset="0"/>
                <a:ea typeface="Oswald" pitchFamily="34" charset="-122"/>
                <a:cs typeface="Oswald" pitchFamily="34" charset="-120"/>
              </a:rPr>
              <a:t>85%+</a:t>
            </a:r>
            <a:endParaRPr lang="en-US" sz="2700"/>
          </a:p>
        </p:txBody>
      </p:sp>
      <p:sp>
        <p:nvSpPr>
          <p:cNvPr id="27" name="Text 21"/>
          <p:cNvSpPr txBox="1"/>
          <p:nvPr/>
        </p:nvSpPr>
        <p:spPr>
          <a:xfrm>
            <a:off x="761695" y="2187245"/>
            <a:ext cx="3200400" cy="152705"/>
          </a:xfrm>
          <a:prstGeom prst="rect">
            <a:avLst/>
          </a:prstGeom>
          <a:noFill/>
          <a:ln/>
        </p:spPr>
        <p:txBody>
          <a:bodyPr wrap="none" lIns="0" tIns="0" rIns="0" bIns="0" rtlCol="0" anchor="ctr"/>
          <a:lstStyle/>
          <a:p>
            <a:pPr marL="0" indent="0" algn="l">
              <a:buNone/>
            </a:pPr>
            <a:r>
              <a:rPr lang="en-US" sz="1000" b="1">
                <a:solidFill>
                  <a:srgbClr val="2A9D8F"/>
                </a:solidFill>
                <a:latin typeface="Roboto Condensed" pitchFamily="34" charset="0"/>
                <a:ea typeface="Roboto Condensed" pitchFamily="34" charset="-122"/>
                <a:cs typeface="Roboto Condensed" pitchFamily="34" charset="-120"/>
              </a:rPr>
              <a:t>Sprint Completion</a:t>
            </a:r>
            <a:endParaRPr lang="en-US" sz="1000"/>
          </a:p>
        </p:txBody>
      </p:sp>
      <p:sp>
        <p:nvSpPr>
          <p:cNvPr id="28" name="Text 22"/>
          <p:cNvSpPr txBox="1"/>
          <p:nvPr/>
        </p:nvSpPr>
        <p:spPr>
          <a:xfrm>
            <a:off x="761695" y="2415845"/>
            <a:ext cx="3200400" cy="352958"/>
          </a:xfrm>
          <a:prstGeom prst="rect">
            <a:avLst/>
          </a:prstGeom>
          <a:noFill/>
          <a:ln/>
        </p:spPr>
        <p:txBody>
          <a:bodyPr wrap="square" lIns="0" tIns="0" rIns="0" bIns="0" rtlCol="0" anchor="ctr"/>
          <a:lstStyle/>
          <a:p>
            <a:pPr marL="0" indent="0" algn="l">
              <a:buNone/>
            </a:pPr>
            <a:r>
              <a:rPr lang="en-US" sz="900">
                <a:solidFill>
                  <a:srgbClr val="4B5563"/>
                </a:solidFill>
                <a:latin typeface="Raleway" pitchFamily="34" charset="0"/>
                <a:ea typeface="Raleway" pitchFamily="34" charset="-122"/>
                <a:cs typeface="Raleway" pitchFamily="34" charset="-120"/>
              </a:rPr>
              <a:t>Tracked weekly. Below 80% triggers immediate escalation to Practice Head.</a:t>
            </a:r>
            <a:endParaRPr lang="en-US" sz="900"/>
          </a:p>
        </p:txBody>
      </p:sp>
      <p:sp>
        <p:nvSpPr>
          <p:cNvPr id="29" name="Text 23"/>
          <p:cNvSpPr txBox="1"/>
          <p:nvPr/>
        </p:nvSpPr>
        <p:spPr>
          <a:xfrm>
            <a:off x="4496105" y="1772107"/>
            <a:ext cx="3200400" cy="381305"/>
          </a:xfrm>
          <a:prstGeom prst="rect">
            <a:avLst/>
          </a:prstGeom>
          <a:noFill/>
          <a:ln/>
        </p:spPr>
        <p:txBody>
          <a:bodyPr wrap="none" lIns="0" tIns="0" rIns="0" bIns="0" rtlCol="0" anchor="ctr"/>
          <a:lstStyle/>
          <a:p>
            <a:pPr marL="0" indent="0" algn="l">
              <a:buNone/>
            </a:pPr>
            <a:r>
              <a:rPr lang="en-US" sz="2700" b="1">
                <a:solidFill>
                  <a:srgbClr val="2A9D8F"/>
                </a:solidFill>
                <a:latin typeface="Oswald" pitchFamily="34" charset="0"/>
                <a:ea typeface="Oswald" pitchFamily="34" charset="-122"/>
                <a:cs typeface="Oswald" pitchFamily="34" charset="-120"/>
              </a:rPr>
              <a:t>&lt;=0.5</a:t>
            </a:r>
            <a:endParaRPr lang="en-US" sz="2700"/>
          </a:p>
        </p:txBody>
      </p:sp>
      <p:sp>
        <p:nvSpPr>
          <p:cNvPr id="30" name="Text 24"/>
          <p:cNvSpPr txBox="1"/>
          <p:nvPr/>
        </p:nvSpPr>
        <p:spPr>
          <a:xfrm>
            <a:off x="4496105" y="2187245"/>
            <a:ext cx="3200400" cy="152705"/>
          </a:xfrm>
          <a:prstGeom prst="rect">
            <a:avLst/>
          </a:prstGeom>
          <a:noFill/>
          <a:ln/>
        </p:spPr>
        <p:txBody>
          <a:bodyPr wrap="none" lIns="0" tIns="0" rIns="0" bIns="0" rtlCol="0" anchor="ctr"/>
          <a:lstStyle/>
          <a:p>
            <a:pPr marL="0" indent="0" algn="l">
              <a:buNone/>
            </a:pPr>
            <a:r>
              <a:rPr lang="en-US" sz="1000" b="1">
                <a:solidFill>
                  <a:srgbClr val="111827"/>
                </a:solidFill>
                <a:latin typeface="Roboto Condensed" pitchFamily="34" charset="0"/>
                <a:ea typeface="Roboto Condensed" pitchFamily="34" charset="-122"/>
                <a:cs typeface="Roboto Condensed" pitchFamily="34" charset="-120"/>
              </a:rPr>
              <a:t>Defect Density</a:t>
            </a:r>
            <a:endParaRPr lang="en-US" sz="1000"/>
          </a:p>
        </p:txBody>
      </p:sp>
      <p:sp>
        <p:nvSpPr>
          <p:cNvPr id="31" name="Text 25"/>
          <p:cNvSpPr txBox="1"/>
          <p:nvPr/>
        </p:nvSpPr>
        <p:spPr>
          <a:xfrm>
            <a:off x="4496105" y="2415845"/>
            <a:ext cx="3200400" cy="352958"/>
          </a:xfrm>
          <a:prstGeom prst="rect">
            <a:avLst/>
          </a:prstGeom>
          <a:noFill/>
          <a:ln/>
        </p:spPr>
        <p:txBody>
          <a:bodyPr wrap="square" lIns="0" tIns="0" rIns="0" bIns="0" rtlCol="0" anchor="ctr"/>
          <a:lstStyle/>
          <a:p>
            <a:pPr marL="0" indent="0" algn="l">
              <a:buNone/>
            </a:pPr>
            <a:r>
              <a:rPr lang="en-US" sz="900">
                <a:solidFill>
                  <a:srgbClr val="4B5563"/>
                </a:solidFill>
                <a:latin typeface="Raleway" pitchFamily="34" charset="0"/>
                <a:ea typeface="Raleway" pitchFamily="34" charset="-122"/>
                <a:cs typeface="Raleway" pitchFamily="34" charset="-120"/>
              </a:rPr>
              <a:t>Code quality benchmark (per KLOC). Reviewed at monthly performance scorecard.</a:t>
            </a:r>
            <a:endParaRPr lang="en-US" sz="900"/>
          </a:p>
        </p:txBody>
      </p:sp>
      <p:sp>
        <p:nvSpPr>
          <p:cNvPr id="32" name="Text 26"/>
          <p:cNvSpPr txBox="1"/>
          <p:nvPr/>
        </p:nvSpPr>
        <p:spPr>
          <a:xfrm>
            <a:off x="8229600" y="1772107"/>
            <a:ext cx="3200400" cy="381305"/>
          </a:xfrm>
          <a:prstGeom prst="rect">
            <a:avLst/>
          </a:prstGeom>
          <a:noFill/>
          <a:ln/>
        </p:spPr>
        <p:txBody>
          <a:bodyPr wrap="none" lIns="0" tIns="0" rIns="0" bIns="0" rtlCol="0" anchor="ctr"/>
          <a:lstStyle/>
          <a:p>
            <a:pPr marL="0" indent="0" algn="l">
              <a:buNone/>
            </a:pPr>
            <a:r>
              <a:rPr lang="en-US" sz="2700" b="1">
                <a:solidFill>
                  <a:srgbClr val="D62839"/>
                </a:solidFill>
                <a:latin typeface="Oswald" pitchFamily="34" charset="0"/>
                <a:ea typeface="Oswald" pitchFamily="34" charset="-122"/>
                <a:cs typeface="Oswald" pitchFamily="34" charset="-120"/>
              </a:rPr>
              <a:t>10-Day</a:t>
            </a:r>
            <a:endParaRPr lang="en-US" sz="2700"/>
          </a:p>
        </p:txBody>
      </p:sp>
      <p:sp>
        <p:nvSpPr>
          <p:cNvPr id="33" name="Text 27"/>
          <p:cNvSpPr txBox="1"/>
          <p:nvPr/>
        </p:nvSpPr>
        <p:spPr>
          <a:xfrm>
            <a:off x="8229600" y="2187245"/>
            <a:ext cx="3200400" cy="152705"/>
          </a:xfrm>
          <a:prstGeom prst="rect">
            <a:avLst/>
          </a:prstGeom>
          <a:noFill/>
          <a:ln/>
        </p:spPr>
        <p:txBody>
          <a:bodyPr wrap="none" lIns="0" tIns="0" rIns="0" bIns="0" rtlCol="0" anchor="ctr"/>
          <a:lstStyle/>
          <a:p>
            <a:pPr marL="0" indent="0" algn="l">
              <a:buNone/>
            </a:pPr>
            <a:r>
              <a:rPr lang="en-US" sz="1000" b="1">
                <a:solidFill>
                  <a:srgbClr val="111827"/>
                </a:solidFill>
                <a:latin typeface="Roboto Condensed" pitchFamily="34" charset="0"/>
                <a:ea typeface="Roboto Condensed" pitchFamily="34" charset="-122"/>
                <a:cs typeface="Roboto Condensed" pitchFamily="34" charset="-120"/>
              </a:rPr>
              <a:t>Onboarding</a:t>
            </a:r>
            <a:endParaRPr lang="en-US" sz="1000"/>
          </a:p>
        </p:txBody>
      </p:sp>
      <p:sp>
        <p:nvSpPr>
          <p:cNvPr id="34" name="Text 28"/>
          <p:cNvSpPr txBox="1"/>
          <p:nvPr/>
        </p:nvSpPr>
        <p:spPr>
          <a:xfrm>
            <a:off x="8229600" y="2415845"/>
            <a:ext cx="3200400" cy="352958"/>
          </a:xfrm>
          <a:prstGeom prst="rect">
            <a:avLst/>
          </a:prstGeom>
          <a:noFill/>
          <a:ln/>
        </p:spPr>
        <p:txBody>
          <a:bodyPr wrap="square" lIns="0" tIns="0" rIns="0" bIns="0" rtlCol="0" anchor="ctr"/>
          <a:lstStyle/>
          <a:p>
            <a:pPr marL="0" indent="0" algn="l">
              <a:buNone/>
            </a:pPr>
            <a:r>
              <a:rPr lang="en-US" sz="900">
                <a:solidFill>
                  <a:srgbClr val="4B5563"/>
                </a:solidFill>
                <a:latin typeface="Raleway" pitchFamily="34" charset="0"/>
                <a:ea typeface="Raleway" pitchFamily="34" charset="-122"/>
                <a:cs typeface="Raleway" pitchFamily="34" charset="-120"/>
              </a:rPr>
              <a:t>New engineers contributing to sprint by Day 10 via GenAI knowledge repo.</a:t>
            </a:r>
            <a:endParaRPr lang="en-US" sz="900"/>
          </a:p>
        </p:txBody>
      </p:sp>
      <p:sp>
        <p:nvSpPr>
          <p:cNvPr id="35" name="Text 29"/>
          <p:cNvSpPr txBox="1"/>
          <p:nvPr/>
        </p:nvSpPr>
        <p:spPr>
          <a:xfrm>
            <a:off x="761695" y="3685946"/>
            <a:ext cx="3200400" cy="381305"/>
          </a:xfrm>
          <a:prstGeom prst="rect">
            <a:avLst/>
          </a:prstGeom>
          <a:noFill/>
          <a:ln/>
        </p:spPr>
        <p:txBody>
          <a:bodyPr wrap="none" lIns="0" tIns="0" rIns="0" bIns="0" rtlCol="0" anchor="ctr"/>
          <a:lstStyle/>
          <a:p>
            <a:pPr marL="0" indent="0" algn="l">
              <a:buNone/>
            </a:pPr>
            <a:r>
              <a:rPr lang="en-US" sz="2700" b="1">
                <a:solidFill>
                  <a:srgbClr val="111827"/>
                </a:solidFill>
                <a:latin typeface="Oswald" pitchFamily="34" charset="0"/>
                <a:ea typeface="Oswald" pitchFamily="34" charset="-122"/>
                <a:cs typeface="Oswald" pitchFamily="34" charset="-120"/>
              </a:rPr>
              <a:t>90-Day</a:t>
            </a:r>
            <a:endParaRPr lang="en-US" sz="2700"/>
          </a:p>
        </p:txBody>
      </p:sp>
      <p:sp>
        <p:nvSpPr>
          <p:cNvPr id="36" name="Text 30"/>
          <p:cNvSpPr txBox="1"/>
          <p:nvPr/>
        </p:nvSpPr>
        <p:spPr>
          <a:xfrm>
            <a:off x="761695" y="4101084"/>
            <a:ext cx="3200400" cy="152705"/>
          </a:xfrm>
          <a:prstGeom prst="rect">
            <a:avLst/>
          </a:prstGeom>
          <a:noFill/>
          <a:ln/>
        </p:spPr>
        <p:txBody>
          <a:bodyPr wrap="none" lIns="0" tIns="0" rIns="0" bIns="0" rtlCol="0" anchor="ctr"/>
          <a:lstStyle/>
          <a:p>
            <a:pPr marL="0" indent="0" algn="l">
              <a:buNone/>
            </a:pPr>
            <a:r>
              <a:rPr lang="en-US" sz="1000" b="1">
                <a:solidFill>
                  <a:srgbClr val="2A9D8F"/>
                </a:solidFill>
                <a:latin typeface="Roboto Condensed" pitchFamily="34" charset="0"/>
                <a:ea typeface="Roboto Condensed" pitchFamily="34" charset="-122"/>
                <a:cs typeface="Roboto Condensed" pitchFamily="34" charset="-120"/>
              </a:rPr>
              <a:t>POFU</a:t>
            </a:r>
            <a:endParaRPr lang="en-US" sz="1000"/>
          </a:p>
        </p:txBody>
      </p:sp>
      <p:sp>
        <p:nvSpPr>
          <p:cNvPr id="37" name="Text 31"/>
          <p:cNvSpPr txBox="1"/>
          <p:nvPr/>
        </p:nvSpPr>
        <p:spPr>
          <a:xfrm>
            <a:off x="761695" y="4329684"/>
            <a:ext cx="3200400" cy="352958"/>
          </a:xfrm>
          <a:prstGeom prst="rect">
            <a:avLst/>
          </a:prstGeom>
          <a:noFill/>
          <a:ln/>
        </p:spPr>
        <p:txBody>
          <a:bodyPr wrap="square" lIns="0" tIns="0" rIns="0" bIns="0" rtlCol="0" anchor="ctr"/>
          <a:lstStyle/>
          <a:p>
            <a:pPr marL="0" indent="0" algn="l">
              <a:buNone/>
            </a:pPr>
            <a:r>
              <a:rPr lang="en-US" sz="900">
                <a:solidFill>
                  <a:srgbClr val="4B5563"/>
                </a:solidFill>
                <a:latin typeface="Raleway" pitchFamily="34" charset="0"/>
                <a:ea typeface="Raleway" pitchFamily="34" charset="-122"/>
                <a:cs typeface="Raleway" pitchFamily="34" charset="-120"/>
              </a:rPr>
              <a:t>Post-Offer Follow-Up management. Milestone touchpoints ensure offer dropout stays in single digits.</a:t>
            </a:r>
            <a:endParaRPr lang="en-US" sz="900"/>
          </a:p>
        </p:txBody>
      </p:sp>
      <p:sp>
        <p:nvSpPr>
          <p:cNvPr id="38" name="Text 32"/>
          <p:cNvSpPr txBox="1"/>
          <p:nvPr/>
        </p:nvSpPr>
        <p:spPr>
          <a:xfrm>
            <a:off x="4496105" y="3685946"/>
            <a:ext cx="3200400" cy="381305"/>
          </a:xfrm>
          <a:prstGeom prst="rect">
            <a:avLst/>
          </a:prstGeom>
          <a:noFill/>
          <a:ln/>
        </p:spPr>
        <p:txBody>
          <a:bodyPr wrap="none" lIns="0" tIns="0" rIns="0" bIns="0" rtlCol="0" anchor="ctr"/>
          <a:lstStyle/>
          <a:p>
            <a:pPr marL="0" indent="0" algn="l">
              <a:buNone/>
            </a:pPr>
            <a:r>
              <a:rPr lang="en-US" sz="2700" b="1">
                <a:solidFill>
                  <a:srgbClr val="2A9D8F"/>
                </a:solidFill>
                <a:latin typeface="Oswald" pitchFamily="34" charset="0"/>
                <a:ea typeface="Oswald" pitchFamily="34" charset="-122"/>
                <a:cs typeface="Oswald" pitchFamily="34" charset="-120"/>
              </a:rPr>
              <a:t>&lt;5%</a:t>
            </a:r>
            <a:endParaRPr lang="en-US" sz="2700"/>
          </a:p>
        </p:txBody>
      </p:sp>
      <p:sp>
        <p:nvSpPr>
          <p:cNvPr id="39" name="Text 33"/>
          <p:cNvSpPr txBox="1"/>
          <p:nvPr/>
        </p:nvSpPr>
        <p:spPr>
          <a:xfrm>
            <a:off x="4496105" y="4101084"/>
            <a:ext cx="3200400" cy="152705"/>
          </a:xfrm>
          <a:prstGeom prst="rect">
            <a:avLst/>
          </a:prstGeom>
          <a:noFill/>
          <a:ln/>
        </p:spPr>
        <p:txBody>
          <a:bodyPr wrap="none" lIns="0" tIns="0" rIns="0" bIns="0" rtlCol="0" anchor="ctr"/>
          <a:lstStyle/>
          <a:p>
            <a:pPr marL="0" indent="0" algn="l">
              <a:buNone/>
            </a:pPr>
            <a:r>
              <a:rPr lang="en-US" sz="1000" b="1">
                <a:solidFill>
                  <a:srgbClr val="111827"/>
                </a:solidFill>
                <a:latin typeface="Roboto Condensed" pitchFamily="34" charset="0"/>
                <a:ea typeface="Roboto Condensed" pitchFamily="34" charset="-122"/>
                <a:cs typeface="Roboto Condensed" pitchFamily="34" charset="-120"/>
              </a:rPr>
              <a:t>Unplanned Carryover</a:t>
            </a:r>
            <a:endParaRPr lang="en-US" sz="1000"/>
          </a:p>
        </p:txBody>
      </p:sp>
      <p:sp>
        <p:nvSpPr>
          <p:cNvPr id="40" name="Text 34"/>
          <p:cNvSpPr txBox="1"/>
          <p:nvPr/>
        </p:nvSpPr>
        <p:spPr>
          <a:xfrm>
            <a:off x="4496105" y="4329684"/>
            <a:ext cx="3200400" cy="352958"/>
          </a:xfrm>
          <a:prstGeom prst="rect">
            <a:avLst/>
          </a:prstGeom>
          <a:noFill/>
          <a:ln/>
        </p:spPr>
        <p:txBody>
          <a:bodyPr wrap="square" lIns="0" tIns="0" rIns="0" bIns="0" rtlCol="0" anchor="ctr"/>
          <a:lstStyle/>
          <a:p>
            <a:pPr marL="0" indent="0" algn="l">
              <a:buNone/>
            </a:pPr>
            <a:r>
              <a:rPr lang="en-US" sz="900">
                <a:solidFill>
                  <a:srgbClr val="4B5563"/>
                </a:solidFill>
                <a:latin typeface="Raleway" pitchFamily="34" charset="0"/>
                <a:ea typeface="Raleway" pitchFamily="34" charset="-122"/>
                <a:cs typeface="Raleway" pitchFamily="34" charset="-120"/>
              </a:rPr>
              <a:t>Strict backlog management to ensure sprint commitments are reliably met.</a:t>
            </a:r>
            <a:endParaRPr lang="en-US" sz="900"/>
          </a:p>
        </p:txBody>
      </p:sp>
      <p:sp>
        <p:nvSpPr>
          <p:cNvPr id="41" name="Text 35"/>
          <p:cNvSpPr txBox="1"/>
          <p:nvPr/>
        </p:nvSpPr>
        <p:spPr>
          <a:xfrm>
            <a:off x="8229600" y="3685946"/>
            <a:ext cx="3200400" cy="381305"/>
          </a:xfrm>
          <a:prstGeom prst="rect">
            <a:avLst/>
          </a:prstGeom>
          <a:noFill/>
          <a:ln/>
        </p:spPr>
        <p:txBody>
          <a:bodyPr wrap="none" lIns="0" tIns="0" rIns="0" bIns="0" rtlCol="0" anchor="ctr"/>
          <a:lstStyle/>
          <a:p>
            <a:pPr marL="0" indent="0" algn="l">
              <a:buNone/>
            </a:pPr>
            <a:r>
              <a:rPr lang="en-US" sz="2700" b="1">
                <a:solidFill>
                  <a:srgbClr val="D62839"/>
                </a:solidFill>
                <a:latin typeface="Oswald" pitchFamily="34" charset="0"/>
                <a:ea typeface="Oswald" pitchFamily="34" charset="-122"/>
                <a:cs typeface="Oswald" pitchFamily="34" charset="-120"/>
              </a:rPr>
              <a:t>100%</a:t>
            </a:r>
            <a:endParaRPr lang="en-US" sz="2700"/>
          </a:p>
        </p:txBody>
      </p:sp>
      <p:sp>
        <p:nvSpPr>
          <p:cNvPr id="42" name="Text 36"/>
          <p:cNvSpPr txBox="1"/>
          <p:nvPr/>
        </p:nvSpPr>
        <p:spPr>
          <a:xfrm>
            <a:off x="8229600" y="4101084"/>
            <a:ext cx="3200400" cy="152705"/>
          </a:xfrm>
          <a:prstGeom prst="rect">
            <a:avLst/>
          </a:prstGeom>
          <a:noFill/>
          <a:ln/>
        </p:spPr>
        <p:txBody>
          <a:bodyPr wrap="none" lIns="0" tIns="0" rIns="0" bIns="0" rtlCol="0" anchor="ctr"/>
          <a:lstStyle/>
          <a:p>
            <a:pPr marL="0" indent="0" algn="l">
              <a:buNone/>
            </a:pPr>
            <a:r>
              <a:rPr lang="en-US" sz="1000" b="1">
                <a:solidFill>
                  <a:srgbClr val="111827"/>
                </a:solidFill>
                <a:latin typeface="Roboto Condensed" pitchFamily="34" charset="0"/>
                <a:ea typeface="Roboto Condensed" pitchFamily="34" charset="-122"/>
                <a:cs typeface="Roboto Condensed" pitchFamily="34" charset="-120"/>
              </a:rPr>
              <a:t>Governance Cadence Adherence</a:t>
            </a:r>
            <a:endParaRPr lang="en-US" sz="1000"/>
          </a:p>
        </p:txBody>
      </p:sp>
      <p:sp>
        <p:nvSpPr>
          <p:cNvPr id="43" name="Text 37"/>
          <p:cNvSpPr txBox="1"/>
          <p:nvPr/>
        </p:nvSpPr>
        <p:spPr>
          <a:xfrm>
            <a:off x="8229600" y="4329684"/>
            <a:ext cx="3200400" cy="352958"/>
          </a:xfrm>
          <a:prstGeom prst="rect">
            <a:avLst/>
          </a:prstGeom>
          <a:noFill/>
          <a:ln/>
        </p:spPr>
        <p:txBody>
          <a:bodyPr wrap="square" lIns="0" tIns="0" rIns="0" bIns="0" rtlCol="0" anchor="ctr"/>
          <a:lstStyle/>
          <a:p>
            <a:pPr marL="0" indent="0" algn="l">
              <a:buNone/>
            </a:pPr>
            <a:r>
              <a:rPr lang="en-US" sz="900">
                <a:solidFill>
                  <a:srgbClr val="4B5563"/>
                </a:solidFill>
                <a:latin typeface="Raleway" pitchFamily="34" charset="0"/>
                <a:ea typeface="Raleway" pitchFamily="34" charset="-122"/>
                <a:cs typeface="Raleway" pitchFamily="34" charset="-120"/>
              </a:rPr>
              <a:t>Mandatory participation in standups, sprint reviews, and quarterly ROI QBRs.</a:t>
            </a:r>
            <a:endParaRPr lang="en-US" sz="900"/>
          </a:p>
        </p:txBody>
      </p:sp>
      <p:sp>
        <p:nvSpPr>
          <p:cNvPr id="44" name="Text 38"/>
          <p:cNvSpPr txBox="1"/>
          <p:nvPr/>
        </p:nvSpPr>
        <p:spPr>
          <a:xfrm>
            <a:off x="2202790" y="5880506"/>
            <a:ext cx="7791602" cy="247802"/>
          </a:xfrm>
          <a:prstGeom prst="rect">
            <a:avLst/>
          </a:prstGeom>
          <a:noFill/>
          <a:ln/>
        </p:spPr>
        <p:txBody>
          <a:bodyPr wrap="none" lIns="0" tIns="0" rIns="0" bIns="0" rtlCol="0" anchor="ctr"/>
          <a:lstStyle/>
          <a:p>
            <a:pPr marL="0" indent="0" algn="ctr">
              <a:buNone/>
            </a:pPr>
            <a:r>
              <a:rPr lang="en-US" sz="1300" b="1">
                <a:solidFill>
                  <a:srgbClr val="FFFFFF"/>
                </a:solidFill>
                <a:latin typeface="Raleway" pitchFamily="34" charset="0"/>
                <a:ea typeface="Raleway" pitchFamily="34" charset="-122"/>
                <a:cs typeface="Raleway" pitchFamily="34" charset="-120"/>
              </a:rPr>
              <a:t>These metrics convert pods from staffing cost centers into predictable delivery engines.</a:t>
            </a:r>
            <a:endParaRPr lang="en-US" sz="1300"/>
          </a:p>
        </p:txBody>
      </p:sp>
    </p:spTree>
    <p:extLst>
      <p:ext uri="{BB962C8B-B14F-4D97-AF65-F5344CB8AC3E}">
        <p14:creationId xmlns:p14="http://schemas.microsoft.com/office/powerpoint/2010/main" val="181587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36FEC-3F04-EFFB-9494-939530E6ACE6}"/>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7C26CA67-5AC5-033E-F7C6-8741632D395F}"/>
              </a:ext>
            </a:extLst>
          </p:cNvPr>
          <p:cNvSpPr/>
          <p:nvPr/>
        </p:nvSpPr>
        <p:spPr>
          <a:xfrm>
            <a:off x="9334195" y="-952805"/>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4ab2116e971fbb9400d0e99205bd0390.png">
            <a:extLst>
              <a:ext uri="{FF2B5EF4-FFF2-40B4-BE49-F238E27FC236}">
                <a16:creationId xmlns:a16="http://schemas.microsoft.com/office/drawing/2014/main" id="{08E93300-66C1-83DC-0D75-3663638B5410}"/>
              </a:ext>
            </a:extLst>
          </p:cNvPr>
          <p:cNvPicPr>
            <a:picLocks noChangeAspect="1"/>
          </p:cNvPicPr>
          <p:nvPr/>
        </p:nvPicPr>
        <p:blipFill>
          <a:blip r:embed="rId3">
            <a:alphaModFix amt="5000"/>
          </a:blip>
          <a:srcRect/>
          <a:stretch/>
        </p:blipFill>
        <p:spPr>
          <a:xfrm>
            <a:off x="10001707" y="5238598"/>
            <a:ext cx="1904695" cy="1904695"/>
          </a:xfrm>
          <a:prstGeom prst="rect">
            <a:avLst/>
          </a:prstGeom>
        </p:spPr>
      </p:pic>
      <p:pic>
        <p:nvPicPr>
          <p:cNvPr id="6" name="Image 1" descr="gen-dedup-323228122ff92d2332e711a84ca3b40c.png">
            <a:extLst>
              <a:ext uri="{FF2B5EF4-FFF2-40B4-BE49-F238E27FC236}">
                <a16:creationId xmlns:a16="http://schemas.microsoft.com/office/drawing/2014/main" id="{F1659A7B-21C5-E18B-E3B3-532B1CAA7859}"/>
              </a:ext>
            </a:extLst>
          </p:cNvPr>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a:extLst>
              <a:ext uri="{FF2B5EF4-FFF2-40B4-BE49-F238E27FC236}">
                <a16:creationId xmlns:a16="http://schemas.microsoft.com/office/drawing/2014/main" id="{787AB771-F031-FC72-9428-7C4E26C42059}"/>
              </a:ext>
            </a:extLst>
          </p:cNvPr>
          <p:cNvPicPr>
            <a:picLocks noChangeAspect="1"/>
          </p:cNvPicPr>
          <p:nvPr/>
        </p:nvPicPr>
        <p:blipFill>
          <a:blip r:embed="rId5"/>
          <a:srcRect l="-202" r="-202"/>
          <a:stretch/>
        </p:blipFill>
        <p:spPr>
          <a:xfrm>
            <a:off x="8124444" y="0"/>
            <a:ext cx="4067251" cy="75895"/>
          </a:xfrm>
          <a:prstGeom prst="rect">
            <a:avLst/>
          </a:prstGeom>
        </p:spPr>
      </p:pic>
      <p:sp>
        <p:nvSpPr>
          <p:cNvPr id="8" name="Text 3">
            <a:extLst>
              <a:ext uri="{FF2B5EF4-FFF2-40B4-BE49-F238E27FC236}">
                <a16:creationId xmlns:a16="http://schemas.microsoft.com/office/drawing/2014/main" id="{8B088AAD-A287-6BD5-6078-F68C935297D8}"/>
              </a:ext>
            </a:extLst>
          </p:cNvPr>
          <p:cNvSpPr txBox="1"/>
          <p:nvPr/>
        </p:nvSpPr>
        <p:spPr>
          <a:xfrm>
            <a:off x="381305" y="1143000"/>
            <a:ext cx="2382012" cy="1524305"/>
          </a:xfrm>
          <a:prstGeom prst="rect">
            <a:avLst/>
          </a:prstGeom>
          <a:noFill/>
          <a:ln/>
        </p:spPr>
        <p:txBody>
          <a:bodyPr wrap="none" lIns="0" tIns="0" rIns="0" bIns="0" rtlCol="0" anchor="ctr"/>
          <a:lstStyle/>
          <a:p>
            <a:pPr marL="0" indent="0" algn="l">
              <a:buNone/>
            </a:pPr>
            <a:r>
              <a:rPr lang="en-US" sz="12000" b="1">
                <a:solidFill>
                  <a:srgbClr val="F3F4F6"/>
                </a:solidFill>
                <a:latin typeface="Oswald" pitchFamily="34" charset="0"/>
                <a:ea typeface="Oswald" pitchFamily="34" charset="-122"/>
                <a:cs typeface="Oswald" pitchFamily="34" charset="-120"/>
              </a:rPr>
              <a:t>03</a:t>
            </a:r>
            <a:endParaRPr lang="en-US" sz="12000"/>
          </a:p>
        </p:txBody>
      </p:sp>
      <p:pic>
        <p:nvPicPr>
          <p:cNvPr id="11" name="Image 3" descr="gen-dedup-90395934058aa4b7c1bff00d7e70c0a4.png">
            <a:extLst>
              <a:ext uri="{FF2B5EF4-FFF2-40B4-BE49-F238E27FC236}">
                <a16:creationId xmlns:a16="http://schemas.microsoft.com/office/drawing/2014/main" id="{796B9E8C-F151-F8F0-BEDC-37F1FA0B5F06}"/>
              </a:ext>
            </a:extLst>
          </p:cNvPr>
          <p:cNvPicPr>
            <a:picLocks noChangeAspect="1"/>
          </p:cNvPicPr>
          <p:nvPr/>
        </p:nvPicPr>
        <p:blipFill>
          <a:blip r:embed="rId6"/>
          <a:srcRect l="-416" r="-416"/>
          <a:stretch/>
        </p:blipFill>
        <p:spPr>
          <a:xfrm>
            <a:off x="1143000" y="2428646"/>
            <a:ext cx="57607" cy="714146"/>
          </a:xfrm>
          <a:prstGeom prst="rect">
            <a:avLst/>
          </a:prstGeom>
        </p:spPr>
      </p:pic>
      <p:sp>
        <p:nvSpPr>
          <p:cNvPr id="12" name="Text 6">
            <a:extLst>
              <a:ext uri="{FF2B5EF4-FFF2-40B4-BE49-F238E27FC236}">
                <a16:creationId xmlns:a16="http://schemas.microsoft.com/office/drawing/2014/main" id="{493B0B9E-4EAF-B775-BD2D-124ECC0CC2B7}"/>
              </a:ext>
            </a:extLst>
          </p:cNvPr>
          <p:cNvSpPr txBox="1"/>
          <p:nvPr/>
        </p:nvSpPr>
        <p:spPr>
          <a:xfrm>
            <a:off x="1429207" y="2333549"/>
            <a:ext cx="9525305" cy="762610"/>
          </a:xfrm>
          <a:prstGeom prst="rect">
            <a:avLst/>
          </a:prstGeom>
          <a:noFill/>
          <a:ln/>
        </p:spPr>
        <p:txBody>
          <a:bodyPr wrap="none" lIns="0" tIns="0" rIns="0" bIns="0" rtlCol="0" anchor="ctr"/>
          <a:lstStyle/>
          <a:p>
            <a:pPr marL="0" indent="0" algn="l">
              <a:buNone/>
            </a:pPr>
            <a:r>
              <a:rPr lang="en-US" sz="5400" b="1" kern="0" spc="108">
                <a:solidFill>
                  <a:srgbClr val="111827"/>
                </a:solidFill>
                <a:latin typeface="Oswald" pitchFamily="34" charset="0"/>
                <a:ea typeface="Oswald" pitchFamily="34" charset="-122"/>
                <a:cs typeface="Oswald" pitchFamily="34" charset="-120"/>
              </a:rPr>
              <a:t>MANAGED SERVICE SOLUTIONS</a:t>
            </a:r>
          </a:p>
        </p:txBody>
      </p:sp>
      <p:sp>
        <p:nvSpPr>
          <p:cNvPr id="13" name="Text 7">
            <a:extLst>
              <a:ext uri="{FF2B5EF4-FFF2-40B4-BE49-F238E27FC236}">
                <a16:creationId xmlns:a16="http://schemas.microsoft.com/office/drawing/2014/main" id="{D1E95E23-50BF-2585-6188-7EA29589DA1C}"/>
              </a:ext>
            </a:extLst>
          </p:cNvPr>
          <p:cNvSpPr txBox="1"/>
          <p:nvPr/>
        </p:nvSpPr>
        <p:spPr>
          <a:xfrm>
            <a:off x="1429207" y="3333902"/>
            <a:ext cx="9127033" cy="170993"/>
          </a:xfrm>
          <a:prstGeom prst="rect">
            <a:avLst/>
          </a:prstGeom>
          <a:noFill/>
          <a:ln/>
        </p:spPr>
        <p:txBody>
          <a:bodyPr wrap="none" lIns="0" tIns="0" rIns="0" bIns="0" rtlCol="0" anchor="ctr"/>
          <a:lstStyle/>
          <a:p>
            <a:pPr marL="0" indent="0" algn="l">
              <a:buNone/>
            </a:pPr>
            <a:r>
              <a:rPr lang="en-US" sz="2100">
                <a:solidFill>
                  <a:srgbClr val="2A9D8F"/>
                </a:solidFill>
                <a:latin typeface="Raleway" pitchFamily="34" charset="0"/>
                <a:ea typeface="Raleway" pitchFamily="34" charset="-122"/>
                <a:cs typeface="Raleway" pitchFamily="34" charset="-120"/>
              </a:rPr>
              <a:t>Outcome-owned delivery across your most critical enterprise stacks - </a:t>
            </a:r>
          </a:p>
          <a:p>
            <a:pPr marL="0" indent="0" algn="l">
              <a:buNone/>
            </a:pPr>
            <a:r>
              <a:rPr lang="en-US" sz="2100">
                <a:solidFill>
                  <a:srgbClr val="2A9D8F"/>
                </a:solidFill>
                <a:latin typeface="Raleway" pitchFamily="34" charset="0"/>
                <a:ea typeface="Raleway" pitchFamily="34" charset="-122"/>
                <a:cs typeface="Raleway" pitchFamily="34" charset="-120"/>
              </a:rPr>
              <a:t>we own the SLOs, not just the seats.</a:t>
            </a:r>
          </a:p>
        </p:txBody>
      </p:sp>
      <p:sp>
        <p:nvSpPr>
          <p:cNvPr id="14" name="Text 8">
            <a:extLst>
              <a:ext uri="{FF2B5EF4-FFF2-40B4-BE49-F238E27FC236}">
                <a16:creationId xmlns:a16="http://schemas.microsoft.com/office/drawing/2014/main" id="{1852004E-001E-9611-F364-77841D88018F}"/>
              </a:ext>
            </a:extLst>
          </p:cNvPr>
          <p:cNvSpPr txBox="1"/>
          <p:nvPr/>
        </p:nvSpPr>
        <p:spPr>
          <a:xfrm>
            <a:off x="1429207" y="4143146"/>
            <a:ext cx="9335110" cy="5532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This is not a staffing engagement with a governance wrapper. We bring pre-built accelerators, embedded domain expertise, and a hard 40% improvement threshold - so every engagement moves a metric, not just a milestone.</a:t>
            </a:r>
            <a:endParaRPr lang="en-US" sz="1300"/>
          </a:p>
        </p:txBody>
      </p:sp>
      <p:pic>
        <p:nvPicPr>
          <p:cNvPr id="15" name="Image 4" descr="gen-dedup-818c62191cf4a66fb5704c7f87e3fedf.png">
            <a:extLst>
              <a:ext uri="{FF2B5EF4-FFF2-40B4-BE49-F238E27FC236}">
                <a16:creationId xmlns:a16="http://schemas.microsoft.com/office/drawing/2014/main" id="{E8F83646-DE63-E358-1F6F-53BDCE9C510A}"/>
              </a:ext>
            </a:extLst>
          </p:cNvPr>
          <p:cNvPicPr>
            <a:picLocks noChangeAspect="1"/>
          </p:cNvPicPr>
          <p:nvPr/>
        </p:nvPicPr>
        <p:blipFill>
          <a:blip r:embed="rId7"/>
          <a:srcRect l="-166" r="-166"/>
          <a:stretch/>
        </p:blipFill>
        <p:spPr>
          <a:xfrm>
            <a:off x="1429207" y="5143500"/>
            <a:ext cx="1933956" cy="418795"/>
          </a:xfrm>
          <a:prstGeom prst="rect">
            <a:avLst/>
          </a:prstGeom>
        </p:spPr>
      </p:pic>
      <p:sp>
        <p:nvSpPr>
          <p:cNvPr id="16" name="Shape 9">
            <a:extLst>
              <a:ext uri="{FF2B5EF4-FFF2-40B4-BE49-F238E27FC236}">
                <a16:creationId xmlns:a16="http://schemas.microsoft.com/office/drawing/2014/main" id="{F371CEAE-1742-792F-2C3C-3EE3A14928CC}"/>
              </a:ext>
            </a:extLst>
          </p:cNvPr>
          <p:cNvSpPr/>
          <p:nvPr/>
        </p:nvSpPr>
        <p:spPr>
          <a:xfrm>
            <a:off x="1429207" y="5143500"/>
            <a:ext cx="1933956" cy="418795"/>
          </a:xfrm>
          <a:prstGeom prst="roundRect">
            <a:avLst>
              <a:gd name="adj" fmla="val 13755"/>
            </a:avLst>
          </a:prstGeom>
          <a:noFill/>
          <a:ln w="12700">
            <a:solidFill>
              <a:srgbClr val="E5E7EB"/>
            </a:solidFill>
            <a:prstDash val="solid"/>
          </a:ln>
        </p:spPr>
        <p:txBody>
          <a:bodyPr/>
          <a:lstStyle/>
          <a:p>
            <a:endParaRPr lang="en-US"/>
          </a:p>
        </p:txBody>
      </p:sp>
      <p:sp>
        <p:nvSpPr>
          <p:cNvPr id="17" name="Text 10">
            <a:extLst>
              <a:ext uri="{FF2B5EF4-FFF2-40B4-BE49-F238E27FC236}">
                <a16:creationId xmlns:a16="http://schemas.microsoft.com/office/drawing/2014/main" id="{A4DB6210-1039-8E9B-BA17-6D3D6EDB4D79}"/>
              </a:ext>
            </a:extLst>
          </p:cNvPr>
          <p:cNvSpPr txBox="1"/>
          <p:nvPr/>
        </p:nvSpPr>
        <p:spPr>
          <a:xfrm>
            <a:off x="1653845" y="5143500"/>
            <a:ext cx="1495958"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60+ pre-built solution </a:t>
            </a:r>
          </a:p>
          <a:p>
            <a:pPr marL="0" indent="0" algn="l">
              <a:buNone/>
            </a:pPr>
            <a:r>
              <a:rPr lang="en-US" sz="1100" b="1">
                <a:solidFill>
                  <a:srgbClr val="374151"/>
                </a:solidFill>
                <a:latin typeface="Raleway" pitchFamily="34" charset="0"/>
                <a:ea typeface="Raleway" pitchFamily="34" charset="-122"/>
                <a:cs typeface="Raleway" pitchFamily="34" charset="-120"/>
              </a:rPr>
              <a:t>accelerators</a:t>
            </a:r>
            <a:endParaRPr lang="en-US" sz="1100"/>
          </a:p>
        </p:txBody>
      </p:sp>
      <p:pic>
        <p:nvPicPr>
          <p:cNvPr id="18" name="Image 5" descr="gen-dedup-a287ae7abd092c83dc5f899415c51d00.png">
            <a:extLst>
              <a:ext uri="{FF2B5EF4-FFF2-40B4-BE49-F238E27FC236}">
                <a16:creationId xmlns:a16="http://schemas.microsoft.com/office/drawing/2014/main" id="{B8EBDEE0-CA2B-2977-B786-BF2F31C196AE}"/>
              </a:ext>
            </a:extLst>
          </p:cNvPr>
          <p:cNvPicPr>
            <a:picLocks noChangeAspect="1"/>
          </p:cNvPicPr>
          <p:nvPr/>
        </p:nvPicPr>
        <p:blipFill>
          <a:blip r:embed="rId8"/>
          <a:srcRect t="-16800" b="-16800"/>
          <a:stretch/>
        </p:blipFill>
        <p:spPr>
          <a:xfrm>
            <a:off x="1657807" y="5277002"/>
            <a:ext cx="114300" cy="152705"/>
          </a:xfrm>
          <a:prstGeom prst="rect">
            <a:avLst/>
          </a:prstGeom>
        </p:spPr>
      </p:pic>
      <p:pic>
        <p:nvPicPr>
          <p:cNvPr id="19" name="Image 6" descr="gen-dedup-0363cb9fbb55bfd8aa96459f99cffd70.png">
            <a:extLst>
              <a:ext uri="{FF2B5EF4-FFF2-40B4-BE49-F238E27FC236}">
                <a16:creationId xmlns:a16="http://schemas.microsoft.com/office/drawing/2014/main" id="{70961C1D-5594-5681-CAB0-8FC218329E9A}"/>
              </a:ext>
            </a:extLst>
          </p:cNvPr>
          <p:cNvPicPr>
            <a:picLocks noChangeAspect="1"/>
          </p:cNvPicPr>
          <p:nvPr/>
        </p:nvPicPr>
        <p:blipFill>
          <a:blip r:embed="rId9"/>
          <a:srcRect l="-260" r="-260"/>
          <a:stretch/>
        </p:blipFill>
        <p:spPr>
          <a:xfrm>
            <a:off x="3510382" y="5143500"/>
            <a:ext cx="2430170" cy="418795"/>
          </a:xfrm>
          <a:prstGeom prst="rect">
            <a:avLst/>
          </a:prstGeom>
        </p:spPr>
      </p:pic>
      <p:sp>
        <p:nvSpPr>
          <p:cNvPr id="20" name="Shape 11">
            <a:extLst>
              <a:ext uri="{FF2B5EF4-FFF2-40B4-BE49-F238E27FC236}">
                <a16:creationId xmlns:a16="http://schemas.microsoft.com/office/drawing/2014/main" id="{457818EF-B619-D54A-AD34-A2E5256A6011}"/>
              </a:ext>
            </a:extLst>
          </p:cNvPr>
          <p:cNvSpPr/>
          <p:nvPr/>
        </p:nvSpPr>
        <p:spPr>
          <a:xfrm>
            <a:off x="3510382" y="5143500"/>
            <a:ext cx="2430170" cy="418795"/>
          </a:xfrm>
          <a:prstGeom prst="roundRect">
            <a:avLst>
              <a:gd name="adj" fmla="val 13755"/>
            </a:avLst>
          </a:prstGeom>
          <a:noFill/>
          <a:ln w="12700">
            <a:solidFill>
              <a:srgbClr val="E5E7EB"/>
            </a:solidFill>
            <a:prstDash val="solid"/>
          </a:ln>
        </p:spPr>
        <p:txBody>
          <a:bodyPr/>
          <a:lstStyle/>
          <a:p>
            <a:endParaRPr lang="en-US"/>
          </a:p>
        </p:txBody>
      </p:sp>
      <p:sp>
        <p:nvSpPr>
          <p:cNvPr id="21" name="Text 12">
            <a:extLst>
              <a:ext uri="{FF2B5EF4-FFF2-40B4-BE49-F238E27FC236}">
                <a16:creationId xmlns:a16="http://schemas.microsoft.com/office/drawing/2014/main" id="{F4429C0E-1902-5910-9BDD-8ABBCB86B1EB}"/>
              </a:ext>
            </a:extLst>
          </p:cNvPr>
          <p:cNvSpPr txBox="1"/>
          <p:nvPr/>
        </p:nvSpPr>
        <p:spPr>
          <a:xfrm>
            <a:off x="3735018" y="5143500"/>
            <a:ext cx="1740567"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AI &amp; Data, QE, SAP, </a:t>
            </a:r>
          </a:p>
          <a:p>
            <a:pPr marL="0" indent="0" algn="l">
              <a:buNone/>
            </a:pPr>
            <a:r>
              <a:rPr lang="en-US" sz="1100" b="1">
                <a:solidFill>
                  <a:srgbClr val="374151"/>
                </a:solidFill>
                <a:latin typeface="Raleway" pitchFamily="34" charset="0"/>
                <a:ea typeface="Raleway" pitchFamily="34" charset="-122"/>
                <a:cs typeface="Raleway" pitchFamily="34" charset="-120"/>
              </a:rPr>
              <a:t>ServiceNow &amp; industry stacks</a:t>
            </a:r>
            <a:endParaRPr lang="en-US" sz="1100"/>
          </a:p>
        </p:txBody>
      </p:sp>
      <p:pic>
        <p:nvPicPr>
          <p:cNvPr id="22" name="Image 7" descr="gen-dedup-c395ac9c840728d6470a4a8b33662e6e.png">
            <a:extLst>
              <a:ext uri="{FF2B5EF4-FFF2-40B4-BE49-F238E27FC236}">
                <a16:creationId xmlns:a16="http://schemas.microsoft.com/office/drawing/2014/main" id="{04CB1D1A-103F-1623-0D66-FF28427C6C4F}"/>
              </a:ext>
            </a:extLst>
          </p:cNvPr>
          <p:cNvPicPr>
            <a:picLocks noChangeAspect="1"/>
          </p:cNvPicPr>
          <p:nvPr/>
        </p:nvPicPr>
        <p:blipFill>
          <a:blip r:embed="rId10"/>
          <a:srcRect t="-16800" b="-16800"/>
          <a:stretch/>
        </p:blipFill>
        <p:spPr>
          <a:xfrm>
            <a:off x="3738981" y="5277002"/>
            <a:ext cx="179959" cy="152705"/>
          </a:xfrm>
          <a:prstGeom prst="rect">
            <a:avLst/>
          </a:prstGeom>
        </p:spPr>
      </p:pic>
      <p:pic>
        <p:nvPicPr>
          <p:cNvPr id="23" name="Image 8" descr="gen-dedup-fe10f786880821f62e6e2a70ff719369.png">
            <a:extLst>
              <a:ext uri="{FF2B5EF4-FFF2-40B4-BE49-F238E27FC236}">
                <a16:creationId xmlns:a16="http://schemas.microsoft.com/office/drawing/2014/main" id="{5B947CD5-F90B-9E4C-3474-D5534455F9E9}"/>
              </a:ext>
            </a:extLst>
          </p:cNvPr>
          <p:cNvPicPr>
            <a:picLocks noChangeAspect="1"/>
          </p:cNvPicPr>
          <p:nvPr/>
        </p:nvPicPr>
        <p:blipFill>
          <a:blip r:embed="rId11"/>
          <a:srcRect l="-58" r="-58"/>
          <a:stretch/>
        </p:blipFill>
        <p:spPr>
          <a:xfrm>
            <a:off x="6080150" y="5143500"/>
            <a:ext cx="2619756" cy="418795"/>
          </a:xfrm>
          <a:prstGeom prst="rect">
            <a:avLst/>
          </a:prstGeom>
        </p:spPr>
      </p:pic>
      <p:sp>
        <p:nvSpPr>
          <p:cNvPr id="24" name="Shape 13">
            <a:extLst>
              <a:ext uri="{FF2B5EF4-FFF2-40B4-BE49-F238E27FC236}">
                <a16:creationId xmlns:a16="http://schemas.microsoft.com/office/drawing/2014/main" id="{1F6B1423-0E90-CE64-5BD3-9705DDC9D739}"/>
              </a:ext>
            </a:extLst>
          </p:cNvPr>
          <p:cNvSpPr/>
          <p:nvPr/>
        </p:nvSpPr>
        <p:spPr>
          <a:xfrm>
            <a:off x="6080150" y="5143500"/>
            <a:ext cx="2619756" cy="418795"/>
          </a:xfrm>
          <a:prstGeom prst="roundRect">
            <a:avLst>
              <a:gd name="adj" fmla="val 13755"/>
            </a:avLst>
          </a:prstGeom>
          <a:noFill/>
          <a:ln w="12700">
            <a:solidFill>
              <a:srgbClr val="E5E7EB"/>
            </a:solidFill>
            <a:prstDash val="solid"/>
          </a:ln>
        </p:spPr>
        <p:txBody>
          <a:bodyPr/>
          <a:lstStyle/>
          <a:p>
            <a:endParaRPr lang="en-US"/>
          </a:p>
        </p:txBody>
      </p:sp>
      <p:sp>
        <p:nvSpPr>
          <p:cNvPr id="25" name="Text 14">
            <a:extLst>
              <a:ext uri="{FF2B5EF4-FFF2-40B4-BE49-F238E27FC236}">
                <a16:creationId xmlns:a16="http://schemas.microsoft.com/office/drawing/2014/main" id="{DF7B60D6-7803-AB8C-3D29-B56F3A615CAE}"/>
              </a:ext>
            </a:extLst>
          </p:cNvPr>
          <p:cNvSpPr txBox="1"/>
          <p:nvPr/>
        </p:nvSpPr>
        <p:spPr>
          <a:xfrm>
            <a:off x="6304788" y="5143500"/>
            <a:ext cx="2181758"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Outcome-bound SLOs - </a:t>
            </a:r>
          </a:p>
          <a:p>
            <a:pPr marL="0" indent="0" algn="l">
              <a:buNone/>
            </a:pPr>
            <a:r>
              <a:rPr lang="en-US" sz="1100" b="1">
                <a:solidFill>
                  <a:srgbClr val="374151"/>
                </a:solidFill>
                <a:latin typeface="Raleway" pitchFamily="34" charset="0"/>
                <a:ea typeface="Raleway" pitchFamily="34" charset="-122"/>
                <a:cs typeface="Raleway" pitchFamily="34" charset="-120"/>
              </a:rPr>
              <a:t>not rigid headcount</a:t>
            </a:r>
            <a:endParaRPr lang="en-US" sz="1100"/>
          </a:p>
        </p:txBody>
      </p:sp>
      <p:pic>
        <p:nvPicPr>
          <p:cNvPr id="26" name="Image 9" descr="gen-dedup-7637b076e607f7218cdb4973c81f38e6.png">
            <a:extLst>
              <a:ext uri="{FF2B5EF4-FFF2-40B4-BE49-F238E27FC236}">
                <a16:creationId xmlns:a16="http://schemas.microsoft.com/office/drawing/2014/main" id="{9A3BB248-7EFA-E322-7669-BBCFE8258323}"/>
              </a:ext>
            </a:extLst>
          </p:cNvPr>
          <p:cNvPicPr>
            <a:picLocks noChangeAspect="1"/>
          </p:cNvPicPr>
          <p:nvPr/>
        </p:nvPicPr>
        <p:blipFill>
          <a:blip r:embed="rId12"/>
          <a:srcRect t="-8450" b="-8450"/>
          <a:stretch/>
        </p:blipFill>
        <p:spPr>
          <a:xfrm>
            <a:off x="6308750" y="5277002"/>
            <a:ext cx="114300" cy="152705"/>
          </a:xfrm>
          <a:prstGeom prst="rect">
            <a:avLst/>
          </a:prstGeom>
        </p:spPr>
      </p:pic>
      <p:pic>
        <p:nvPicPr>
          <p:cNvPr id="27" name="Image 10" descr="gen-dedup-4b04481605890cd5e2948f325621428b.png">
            <a:extLst>
              <a:ext uri="{FF2B5EF4-FFF2-40B4-BE49-F238E27FC236}">
                <a16:creationId xmlns:a16="http://schemas.microsoft.com/office/drawing/2014/main" id="{53B8E985-0D54-46C0-B850-F55F0F43B24D}"/>
              </a:ext>
            </a:extLst>
          </p:cNvPr>
          <p:cNvPicPr>
            <a:picLocks noChangeAspect="1"/>
          </p:cNvPicPr>
          <p:nvPr/>
        </p:nvPicPr>
        <p:blipFill>
          <a:blip r:embed="rId13"/>
          <a:srcRect l="-216" r="-216"/>
          <a:stretch/>
        </p:blipFill>
        <p:spPr>
          <a:xfrm>
            <a:off x="8850782" y="5143500"/>
            <a:ext cx="2562149" cy="418795"/>
          </a:xfrm>
          <a:prstGeom prst="rect">
            <a:avLst/>
          </a:prstGeom>
        </p:spPr>
      </p:pic>
      <p:sp>
        <p:nvSpPr>
          <p:cNvPr id="28" name="Shape 15">
            <a:extLst>
              <a:ext uri="{FF2B5EF4-FFF2-40B4-BE49-F238E27FC236}">
                <a16:creationId xmlns:a16="http://schemas.microsoft.com/office/drawing/2014/main" id="{E9A59155-F9A1-AD80-A65B-F9ECD10439EE}"/>
              </a:ext>
            </a:extLst>
          </p:cNvPr>
          <p:cNvSpPr/>
          <p:nvPr/>
        </p:nvSpPr>
        <p:spPr>
          <a:xfrm>
            <a:off x="8850782" y="5143500"/>
            <a:ext cx="2562149" cy="418795"/>
          </a:xfrm>
          <a:prstGeom prst="roundRect">
            <a:avLst>
              <a:gd name="adj" fmla="val 13755"/>
            </a:avLst>
          </a:prstGeom>
          <a:noFill/>
          <a:ln w="12700">
            <a:solidFill>
              <a:srgbClr val="E5E7EB"/>
            </a:solidFill>
            <a:prstDash val="solid"/>
          </a:ln>
        </p:spPr>
        <p:txBody>
          <a:bodyPr/>
          <a:lstStyle/>
          <a:p>
            <a:endParaRPr lang="en-US"/>
          </a:p>
        </p:txBody>
      </p:sp>
      <p:sp>
        <p:nvSpPr>
          <p:cNvPr id="29" name="Text 16">
            <a:extLst>
              <a:ext uri="{FF2B5EF4-FFF2-40B4-BE49-F238E27FC236}">
                <a16:creationId xmlns:a16="http://schemas.microsoft.com/office/drawing/2014/main" id="{BE549BED-29A0-2ADD-A972-CA7D06BA8631}"/>
              </a:ext>
            </a:extLst>
          </p:cNvPr>
          <p:cNvSpPr txBox="1"/>
          <p:nvPr/>
        </p:nvSpPr>
        <p:spPr>
          <a:xfrm>
            <a:off x="9075420" y="5143500"/>
            <a:ext cx="2125066"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40% improvement threshold - </a:t>
            </a:r>
          </a:p>
          <a:p>
            <a:pPr marL="0" indent="0" algn="l">
              <a:buNone/>
            </a:pPr>
            <a:r>
              <a:rPr lang="en-US" sz="1100" b="1">
                <a:solidFill>
                  <a:srgbClr val="374151"/>
                </a:solidFill>
                <a:latin typeface="Raleway" pitchFamily="34" charset="0"/>
                <a:ea typeface="Raleway" pitchFamily="34" charset="-122"/>
                <a:cs typeface="Raleway" pitchFamily="34" charset="-120"/>
              </a:rPr>
              <a:t>our standard</a:t>
            </a:r>
            <a:endParaRPr lang="en-US" sz="1100"/>
          </a:p>
        </p:txBody>
      </p:sp>
      <p:pic>
        <p:nvPicPr>
          <p:cNvPr id="30" name="Image 11" descr="gen-dedup-de4cb59b8211160ed90cebf7a454cebf.png">
            <a:extLst>
              <a:ext uri="{FF2B5EF4-FFF2-40B4-BE49-F238E27FC236}">
                <a16:creationId xmlns:a16="http://schemas.microsoft.com/office/drawing/2014/main" id="{3B400595-3ACA-18C0-3A49-7171B2960ECC}"/>
              </a:ext>
            </a:extLst>
          </p:cNvPr>
          <p:cNvPicPr>
            <a:picLocks noChangeAspect="1"/>
          </p:cNvPicPr>
          <p:nvPr/>
        </p:nvPicPr>
        <p:blipFill>
          <a:blip r:embed="rId14"/>
          <a:srcRect t="-16800" b="-16800"/>
          <a:stretch/>
        </p:blipFill>
        <p:spPr>
          <a:xfrm>
            <a:off x="9079382" y="5277002"/>
            <a:ext cx="114300" cy="152705"/>
          </a:xfrm>
          <a:prstGeom prst="rect">
            <a:avLst/>
          </a:prstGeom>
        </p:spPr>
      </p:pic>
      <p:sp>
        <p:nvSpPr>
          <p:cNvPr id="31" name="Shape 17">
            <a:extLst>
              <a:ext uri="{FF2B5EF4-FFF2-40B4-BE49-F238E27FC236}">
                <a16:creationId xmlns:a16="http://schemas.microsoft.com/office/drawing/2014/main" id="{3EAF0254-0893-8027-5616-80FDE995E4DA}"/>
              </a:ext>
            </a:extLst>
          </p:cNvPr>
          <p:cNvSpPr/>
          <p:nvPr/>
        </p:nvSpPr>
        <p:spPr>
          <a:xfrm>
            <a:off x="1143000" y="6096305"/>
            <a:ext cx="9905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32" name="Text 18">
            <a:extLst>
              <a:ext uri="{FF2B5EF4-FFF2-40B4-BE49-F238E27FC236}">
                <a16:creationId xmlns:a16="http://schemas.microsoft.com/office/drawing/2014/main" id="{3166FB85-E816-D8A3-12F5-2636818EBBCD}"/>
              </a:ext>
            </a:extLst>
          </p:cNvPr>
          <p:cNvSpPr txBox="1"/>
          <p:nvPr/>
        </p:nvSpPr>
        <p:spPr>
          <a:xfrm>
            <a:off x="1143000" y="6258154"/>
            <a:ext cx="9906610" cy="181051"/>
          </a:xfrm>
          <a:prstGeom prst="rect">
            <a:avLst/>
          </a:prstGeom>
          <a:noFill/>
          <a:ln/>
        </p:spPr>
        <p:txBody>
          <a:bodyPr wrap="none" lIns="0" tIns="0" rIns="0" bIns="0" rtlCol="0" anchor="ctr"/>
          <a:lstStyle/>
          <a:p>
            <a:pPr marL="0" indent="0" algn="l">
              <a:buNone/>
            </a:pPr>
            <a:r>
              <a:rPr lang="en-US" sz="1200" b="1" kern="0" spc="24">
                <a:solidFill>
                  <a:srgbClr val="6B7280"/>
                </a:solidFill>
                <a:latin typeface="Raleway" pitchFamily="34" charset="0"/>
                <a:ea typeface="Raleway" pitchFamily="34" charset="-122"/>
                <a:cs typeface="Raleway" pitchFamily="34" charset="-120"/>
              </a:rPr>
              <a:t>Turn your most complex enterprise operations into a competitive advantage - with outcomes we sign off on.</a:t>
            </a:r>
            <a:endParaRPr lang="en-US" sz="1200"/>
          </a:p>
        </p:txBody>
      </p:sp>
    </p:spTree>
    <p:extLst>
      <p:ext uri="{BB962C8B-B14F-4D97-AF65-F5344CB8AC3E}">
        <p14:creationId xmlns:p14="http://schemas.microsoft.com/office/powerpoint/2010/main" val="26258959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323228122ff92d2332e711a84ca3b40c.png"/>
          <p:cNvPicPr>
            <a:picLocks noChangeAspect="1"/>
          </p:cNvPicPr>
          <p:nvPr/>
        </p:nvPicPr>
        <p:blipFill>
          <a:blip r:embed="rId3"/>
          <a:srcRect l="-202" r="-202"/>
          <a:stretch/>
        </p:blipFill>
        <p:spPr>
          <a:xfrm>
            <a:off x="0" y="0"/>
            <a:ext cx="8127187" cy="75895"/>
          </a:xfrm>
          <a:prstGeom prst="rect">
            <a:avLst/>
          </a:prstGeom>
        </p:spPr>
      </p:pic>
      <p:pic>
        <p:nvPicPr>
          <p:cNvPr id="5" name="Image 1" descr="gen-dedup-64882feb7a832238af77b962fc7a8538.png"/>
          <p:cNvPicPr>
            <a:picLocks noChangeAspect="1"/>
          </p:cNvPicPr>
          <p:nvPr/>
        </p:nvPicPr>
        <p:blipFill>
          <a:blip r:embed="rId4"/>
          <a:srcRect l="-203" r="-203"/>
          <a:stretch/>
        </p:blipFill>
        <p:spPr>
          <a:xfrm>
            <a:off x="8127187"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6da70c599291e253314366a10c094ffa.png"/>
          <p:cNvPicPr>
            <a:picLocks noChangeAspect="1"/>
          </p:cNvPicPr>
          <p:nvPr/>
        </p:nvPicPr>
        <p:blipFill>
          <a:blip r:embed="rId5">
            <a:alphaModFix amt="15000"/>
          </a:blip>
          <a:srcRect/>
          <a:stretch/>
        </p:blipFill>
        <p:spPr>
          <a:xfrm>
            <a:off x="381305" y="1143000"/>
            <a:ext cx="1429207" cy="1429207"/>
          </a:xfrm>
          <a:prstGeom prst="rect">
            <a:avLst/>
          </a:prstGeom>
        </p:spPr>
      </p:pic>
      <p:pic>
        <p:nvPicPr>
          <p:cNvPr id="8" name="Image 3" descr="gen-dedup-c72c85b07e3f177762516dd89615ea68.png"/>
          <p:cNvPicPr>
            <a:picLocks noChangeAspect="1"/>
          </p:cNvPicPr>
          <p:nvPr/>
        </p:nvPicPr>
        <p:blipFill>
          <a:blip r:embed="rId6"/>
          <a:srcRect t="-217" b="-217"/>
          <a:stretch/>
        </p:blipFill>
        <p:spPr>
          <a:xfrm>
            <a:off x="609905" y="544982"/>
            <a:ext cx="75895" cy="476402"/>
          </a:xfrm>
          <a:prstGeom prst="rect">
            <a:avLst/>
          </a:prstGeom>
        </p:spPr>
      </p:pic>
      <p:sp>
        <p:nvSpPr>
          <p:cNvPr id="9" name="Text 3"/>
          <p:cNvSpPr txBox="1"/>
          <p:nvPr/>
        </p:nvSpPr>
        <p:spPr>
          <a:xfrm>
            <a:off x="875995" y="381305"/>
            <a:ext cx="7105802" cy="467258"/>
          </a:xfrm>
          <a:prstGeom prst="rect">
            <a:avLst/>
          </a:prstGeom>
          <a:noFill/>
          <a:ln/>
        </p:spPr>
        <p:txBody>
          <a:bodyPr wrap="none" lIns="0" tIns="0" rIns="0" bIns="0" rtlCol="0" anchor="ctr"/>
          <a:lstStyle/>
          <a:p>
            <a:pPr marL="0" indent="0" algn="l">
              <a:buNone/>
            </a:pPr>
            <a:r>
              <a:rPr lang="en-US" sz="2400" b="1" kern="0" spc="-82" dirty="0">
                <a:solidFill>
                  <a:srgbClr val="111827"/>
                </a:solidFill>
                <a:latin typeface="Oswald" pitchFamily="34" charset="0"/>
                <a:ea typeface="Oswald" pitchFamily="34" charset="-122"/>
                <a:cs typeface="Oswald" pitchFamily="34" charset="-120"/>
              </a:rPr>
              <a:t>Managed Service Solutions</a:t>
            </a:r>
            <a:endParaRPr lang="en-US" sz="2400" dirty="0"/>
          </a:p>
        </p:txBody>
      </p:sp>
      <p:sp>
        <p:nvSpPr>
          <p:cNvPr id="10" name="Text 4"/>
          <p:cNvSpPr txBox="1"/>
          <p:nvPr/>
        </p:nvSpPr>
        <p:spPr>
          <a:xfrm>
            <a:off x="875995" y="898855"/>
            <a:ext cx="7791602" cy="286207"/>
          </a:xfrm>
          <a:prstGeom prst="rect">
            <a:avLst/>
          </a:prstGeom>
          <a:noFill/>
          <a:ln/>
        </p:spPr>
        <p:txBody>
          <a:bodyPr wrap="none" lIns="0" tIns="0" rIns="0" bIns="0" rtlCol="0" anchor="ctr"/>
          <a:lstStyle/>
          <a:p>
            <a:pPr marL="0" indent="0" algn="l">
              <a:buNone/>
            </a:pPr>
            <a:r>
              <a:rPr lang="en-US" sz="1500" b="1" kern="0" spc="75" dirty="0">
                <a:solidFill>
                  <a:srgbClr val="2A9D8F"/>
                </a:solidFill>
                <a:latin typeface="Roboto Condensed" pitchFamily="34" charset="0"/>
                <a:ea typeface="Roboto Condensed" pitchFamily="34" charset="-122"/>
                <a:cs typeface="Roboto Condensed" pitchFamily="34" charset="-120"/>
              </a:rPr>
              <a:t>Outcome-bound Delivery - Not Just A Vendor With A Statement Of Work.</a:t>
            </a:r>
            <a:endParaRPr lang="en-US" sz="1500" dirty="0"/>
          </a:p>
        </p:txBody>
      </p:sp>
      <p:sp>
        <p:nvSpPr>
          <p:cNvPr id="11" name="Shape 5"/>
          <p:cNvSpPr/>
          <p:nvPr/>
        </p:nvSpPr>
        <p:spPr>
          <a:xfrm>
            <a:off x="609905" y="1524305"/>
            <a:ext cx="5524805" cy="1028700"/>
          </a:xfrm>
          <a:prstGeom prst="roundRect">
            <a:avLst>
              <a:gd name="adj" fmla="val 13169"/>
            </a:avLst>
          </a:prstGeom>
          <a:solidFill>
            <a:srgbClr val="FFFFFF"/>
          </a:solidFill>
          <a:ln w="12700">
            <a:solidFill>
              <a:srgbClr val="E5E7EB"/>
            </a:solidFill>
            <a:prstDash val="solid"/>
          </a:ln>
        </p:spPr>
        <p:txBody>
          <a:bodyPr/>
          <a:lstStyle/>
          <a:p>
            <a:endParaRPr lang="en-US"/>
          </a:p>
        </p:txBody>
      </p:sp>
      <p:sp>
        <p:nvSpPr>
          <p:cNvPr id="12" name="Shape 6"/>
          <p:cNvSpPr/>
          <p:nvPr/>
        </p:nvSpPr>
        <p:spPr>
          <a:xfrm>
            <a:off x="609905" y="1524305"/>
            <a:ext cx="38405" cy="1028700"/>
          </a:xfrm>
          <a:prstGeom prst="roundRect">
            <a:avLst>
              <a:gd name="adj" fmla="val 352732"/>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609905" y="2699308"/>
            <a:ext cx="5524805" cy="1028700"/>
          </a:xfrm>
          <a:prstGeom prst="roundRect">
            <a:avLst>
              <a:gd name="adj" fmla="val 13169"/>
            </a:avLst>
          </a:prstGeom>
          <a:solidFill>
            <a:srgbClr val="FFFFFF"/>
          </a:solidFill>
          <a:ln w="12700">
            <a:solidFill>
              <a:srgbClr val="E5E7EB"/>
            </a:solidFill>
            <a:prstDash val="solid"/>
          </a:ln>
        </p:spPr>
        <p:txBody>
          <a:bodyPr/>
          <a:lstStyle/>
          <a:p>
            <a:endParaRPr lang="en-US"/>
          </a:p>
        </p:txBody>
      </p:sp>
      <p:sp>
        <p:nvSpPr>
          <p:cNvPr id="16" name="Shape 10"/>
          <p:cNvSpPr/>
          <p:nvPr/>
        </p:nvSpPr>
        <p:spPr>
          <a:xfrm>
            <a:off x="609905" y="2699308"/>
            <a:ext cx="38405" cy="1028700"/>
          </a:xfrm>
          <a:prstGeom prst="roundRect">
            <a:avLst>
              <a:gd name="adj" fmla="val 352732"/>
            </a:avLst>
          </a:prstGeom>
          <a:solidFill>
            <a:srgbClr val="2A9D8F"/>
          </a:solidFill>
          <a:ln w="12700">
            <a:solidFill>
              <a:srgbClr val="2A9D8F">
                <a:alpha val="0"/>
              </a:srgbClr>
            </a:solidFill>
            <a:prstDash val="solid"/>
          </a:ln>
        </p:spPr>
        <p:txBody>
          <a:bodyPr/>
          <a:lstStyle/>
          <a:p>
            <a:endParaRPr lang="en-US"/>
          </a:p>
        </p:txBody>
      </p:sp>
      <p:sp>
        <p:nvSpPr>
          <p:cNvPr id="17" name="Shape 11"/>
          <p:cNvSpPr/>
          <p:nvPr/>
        </p:nvSpPr>
        <p:spPr>
          <a:xfrm>
            <a:off x="609905" y="3823105"/>
            <a:ext cx="5524805" cy="1162202"/>
          </a:xfrm>
          <a:prstGeom prst="roundRect">
            <a:avLst>
              <a:gd name="adj" fmla="val 10318"/>
            </a:avLst>
          </a:prstGeom>
          <a:solidFill>
            <a:srgbClr val="FFFFFF"/>
          </a:solidFill>
          <a:ln w="12700">
            <a:solidFill>
              <a:srgbClr val="E5E7EB"/>
            </a:solidFill>
            <a:prstDash val="solid"/>
          </a:ln>
        </p:spPr>
        <p:txBody>
          <a:bodyPr/>
          <a:lstStyle/>
          <a:p>
            <a:endParaRPr lang="en-US"/>
          </a:p>
        </p:txBody>
      </p:sp>
      <p:sp>
        <p:nvSpPr>
          <p:cNvPr id="18" name="Shape 12"/>
          <p:cNvSpPr/>
          <p:nvPr/>
        </p:nvSpPr>
        <p:spPr>
          <a:xfrm>
            <a:off x="609905" y="3823105"/>
            <a:ext cx="38405" cy="1162202"/>
          </a:xfrm>
          <a:prstGeom prst="roundRect">
            <a:avLst>
              <a:gd name="adj" fmla="val 312254"/>
            </a:avLst>
          </a:prstGeom>
          <a:solidFill>
            <a:srgbClr val="D62839"/>
          </a:solidFill>
          <a:ln w="12700">
            <a:solidFill>
              <a:srgbClr val="D62839">
                <a:alpha val="0"/>
              </a:srgbClr>
            </a:solidFill>
            <a:prstDash val="solid"/>
          </a:ln>
        </p:spPr>
        <p:txBody>
          <a:bodyPr/>
          <a:lstStyle/>
          <a:p>
            <a:endParaRPr lang="en-US"/>
          </a:p>
        </p:txBody>
      </p:sp>
      <p:sp>
        <p:nvSpPr>
          <p:cNvPr id="19" name="Shape 13"/>
          <p:cNvSpPr/>
          <p:nvPr/>
        </p:nvSpPr>
        <p:spPr>
          <a:xfrm>
            <a:off x="6381598" y="1524305"/>
            <a:ext cx="5201107" cy="4572000"/>
          </a:xfrm>
          <a:prstGeom prst="roundRect">
            <a:avLst>
              <a:gd name="adj" fmla="val 667"/>
            </a:avLst>
          </a:prstGeom>
          <a:solidFill>
            <a:srgbClr val="F8FAFC"/>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20" name="Shape 14"/>
          <p:cNvSpPr/>
          <p:nvPr/>
        </p:nvSpPr>
        <p:spPr>
          <a:xfrm>
            <a:off x="6391656" y="1533449"/>
            <a:ext cx="5181905" cy="552298"/>
          </a:xfrm>
          <a:prstGeom prst="roundRect">
            <a:avLst>
              <a:gd name="adj" fmla="val 45672"/>
            </a:avLst>
          </a:prstGeom>
          <a:solidFill>
            <a:srgbClr val="1F2937"/>
          </a:solidFill>
          <a:ln w="12700">
            <a:solidFill>
              <a:srgbClr val="FFFFFF">
                <a:alpha val="0"/>
              </a:srgbClr>
            </a:solidFill>
            <a:prstDash val="solid"/>
          </a:ln>
        </p:spPr>
        <p:txBody>
          <a:bodyPr/>
          <a:lstStyle/>
          <a:p>
            <a:endParaRPr lang="en-US"/>
          </a:p>
        </p:txBody>
      </p:sp>
      <p:sp>
        <p:nvSpPr>
          <p:cNvPr id="21" name="Text 15"/>
          <p:cNvSpPr txBox="1"/>
          <p:nvPr/>
        </p:nvSpPr>
        <p:spPr>
          <a:xfrm>
            <a:off x="6543446" y="1593692"/>
            <a:ext cx="4877410" cy="324612"/>
          </a:xfrm>
          <a:prstGeom prst="rect">
            <a:avLst/>
          </a:prstGeom>
          <a:noFill/>
          <a:ln/>
        </p:spPr>
        <p:txBody>
          <a:bodyPr wrap="none" lIns="0" tIns="0" rIns="0" bIns="0" rtlCol="0" anchor="ctr"/>
          <a:lstStyle/>
          <a:p>
            <a:pPr marL="0" indent="0" algn="ctr">
              <a:buNone/>
            </a:pPr>
            <a:r>
              <a:rPr lang="en-US" sz="1100">
                <a:solidFill>
                  <a:srgbClr val="FFFFFF"/>
                </a:solidFill>
                <a:latin typeface="Oswald" pitchFamily="34" charset="0"/>
                <a:ea typeface="Oswald" pitchFamily="34" charset="-122"/>
                <a:cs typeface="Oswald" pitchFamily="34" charset="-120"/>
              </a:rPr>
              <a:t>Service Model Comparison</a:t>
            </a:r>
            <a:endParaRPr lang="en-US" sz="1100"/>
          </a:p>
        </p:txBody>
      </p:sp>
      <p:sp>
        <p:nvSpPr>
          <p:cNvPr id="22" name="Shape 16"/>
          <p:cNvSpPr/>
          <p:nvPr/>
        </p:nvSpPr>
        <p:spPr>
          <a:xfrm>
            <a:off x="609905" y="6229807"/>
            <a:ext cx="10972800" cy="437998"/>
          </a:xfrm>
          <a:prstGeom prst="roundRect">
            <a:avLst>
              <a:gd name="adj" fmla="val 36307"/>
            </a:avLst>
          </a:prstGeom>
          <a:solidFill>
            <a:srgbClr val="F8FAFC"/>
          </a:solidFill>
          <a:ln/>
        </p:spPr>
        <p:txBody>
          <a:bodyPr/>
          <a:lstStyle/>
          <a:p>
            <a:endParaRPr lang="en-US"/>
          </a:p>
        </p:txBody>
      </p:sp>
      <p:sp>
        <p:nvSpPr>
          <p:cNvPr id="23" name="Shape 17"/>
          <p:cNvSpPr/>
          <p:nvPr/>
        </p:nvSpPr>
        <p:spPr>
          <a:xfrm>
            <a:off x="609905" y="6229807"/>
            <a:ext cx="38405" cy="437998"/>
          </a:xfrm>
          <a:prstGeom prst="roundRect">
            <a:avLst>
              <a:gd name="adj" fmla="val 414077"/>
            </a:avLst>
          </a:prstGeom>
          <a:solidFill>
            <a:srgbClr val="111827"/>
          </a:solidFill>
          <a:ln w="12700">
            <a:solidFill>
              <a:srgbClr val="111827">
                <a:alpha val="0"/>
              </a:srgbClr>
            </a:solidFill>
            <a:prstDash val="solid"/>
          </a:ln>
        </p:spPr>
        <p:txBody>
          <a:bodyPr/>
          <a:lstStyle/>
          <a:p>
            <a:endParaRPr lang="en-US"/>
          </a:p>
        </p:txBody>
      </p:sp>
      <p:sp>
        <p:nvSpPr>
          <p:cNvPr id="24" name="Text 18"/>
          <p:cNvSpPr txBox="1"/>
          <p:nvPr/>
        </p:nvSpPr>
        <p:spPr>
          <a:xfrm>
            <a:off x="981151" y="1638605"/>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Solution Accelerators</a:t>
            </a:r>
            <a:endParaRPr lang="en-US" sz="1400"/>
          </a:p>
        </p:txBody>
      </p:sp>
      <p:sp>
        <p:nvSpPr>
          <p:cNvPr id="25" name="Text 19"/>
          <p:cNvSpPr txBox="1"/>
          <p:nvPr/>
        </p:nvSpPr>
        <p:spPr>
          <a:xfrm>
            <a:off x="761695" y="1950415"/>
            <a:ext cx="5220310"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60+ pre-built accelerators across SAP, ServiceNow, Salesforce, and industry stacks - deployed fast, customized to fit, never forced.</a:t>
            </a:r>
            <a:endParaRPr lang="en-US" sz="1100"/>
          </a:p>
        </p:txBody>
      </p:sp>
      <p:pic>
        <p:nvPicPr>
          <p:cNvPr id="26" name="Image 4" descr="gen-dedup-aaaf743a9627457c5a8ecc39eba03c50.png"/>
          <p:cNvPicPr>
            <a:picLocks noChangeAspect="1"/>
          </p:cNvPicPr>
          <p:nvPr/>
        </p:nvPicPr>
        <p:blipFill>
          <a:blip r:embed="rId7"/>
          <a:srcRect t="-13462" b="-13462"/>
          <a:stretch/>
        </p:blipFill>
        <p:spPr>
          <a:xfrm>
            <a:off x="761695" y="1689811"/>
            <a:ext cx="142646" cy="181051"/>
          </a:xfrm>
          <a:prstGeom prst="rect">
            <a:avLst/>
          </a:prstGeom>
        </p:spPr>
      </p:pic>
      <p:sp>
        <p:nvSpPr>
          <p:cNvPr id="30" name="Text 22"/>
          <p:cNvSpPr txBox="1"/>
          <p:nvPr/>
        </p:nvSpPr>
        <p:spPr>
          <a:xfrm>
            <a:off x="981151" y="2813608"/>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Cross-Function Coverage</a:t>
            </a:r>
            <a:endParaRPr lang="en-US" sz="1400"/>
          </a:p>
        </p:txBody>
      </p:sp>
      <p:sp>
        <p:nvSpPr>
          <p:cNvPr id="31" name="Text 23"/>
          <p:cNvSpPr txBox="1"/>
          <p:nvPr/>
        </p:nvSpPr>
        <p:spPr>
          <a:xfrm>
            <a:off x="761695" y="3125418"/>
            <a:ext cx="5220310"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From AI CoE and Data CoE to Digital Engineering, Quality, and Cybersecurity - we operate across the full enterprise function map, not just the easy wins.</a:t>
            </a:r>
            <a:endParaRPr lang="en-US" sz="1100"/>
          </a:p>
        </p:txBody>
      </p:sp>
      <p:pic>
        <p:nvPicPr>
          <p:cNvPr id="32" name="Image 6" descr="gen-dedup-f27d894a2aa16499d7ef79199ddd11dd.png"/>
          <p:cNvPicPr>
            <a:picLocks noChangeAspect="1"/>
          </p:cNvPicPr>
          <p:nvPr/>
        </p:nvPicPr>
        <p:blipFill>
          <a:blip r:embed="rId8"/>
          <a:srcRect t="-21395" b="-21395"/>
          <a:stretch/>
        </p:blipFill>
        <p:spPr>
          <a:xfrm>
            <a:off x="761695" y="2864814"/>
            <a:ext cx="142646" cy="181051"/>
          </a:xfrm>
          <a:prstGeom prst="rect">
            <a:avLst/>
          </a:prstGeom>
        </p:spPr>
      </p:pic>
      <p:sp>
        <p:nvSpPr>
          <p:cNvPr id="33" name="Text 24"/>
          <p:cNvSpPr txBox="1"/>
          <p:nvPr/>
        </p:nvSpPr>
        <p:spPr>
          <a:xfrm>
            <a:off x="981151" y="3937405"/>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Proven ROI, Not Projections</a:t>
            </a:r>
            <a:endParaRPr lang="en-US" sz="1400"/>
          </a:p>
        </p:txBody>
      </p:sp>
      <p:sp>
        <p:nvSpPr>
          <p:cNvPr id="34" name="Text 25"/>
          <p:cNvSpPr txBox="1"/>
          <p:nvPr/>
        </p:nvSpPr>
        <p:spPr>
          <a:xfrm>
            <a:off x="761695" y="4249216"/>
            <a:ext cx="5220310" cy="581558"/>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Every accelerator comes with a benchmark from prior deployments. 80% reduction in reporting effort. 55% faster month-end close. 65% faster testing cycles. Numbers you inherit, not numbers we promise.</a:t>
            </a:r>
            <a:endParaRPr lang="en-US" sz="1100"/>
          </a:p>
        </p:txBody>
      </p:sp>
      <p:pic>
        <p:nvPicPr>
          <p:cNvPr id="35" name="Image 7" descr="gen-dedup-0d12da8ebc0b959d48949b1e6044d332.png"/>
          <p:cNvPicPr>
            <a:picLocks noChangeAspect="1"/>
          </p:cNvPicPr>
          <p:nvPr/>
        </p:nvPicPr>
        <p:blipFill>
          <a:blip r:embed="rId9"/>
          <a:srcRect t="-13462" b="-13462"/>
          <a:stretch/>
        </p:blipFill>
        <p:spPr>
          <a:xfrm>
            <a:off x="761695" y="3988612"/>
            <a:ext cx="142646" cy="181051"/>
          </a:xfrm>
          <a:prstGeom prst="rect">
            <a:avLst/>
          </a:prstGeom>
        </p:spPr>
      </p:pic>
      <p:sp>
        <p:nvSpPr>
          <p:cNvPr id="36" name="Shape 26"/>
          <p:cNvSpPr/>
          <p:nvPr/>
        </p:nvSpPr>
        <p:spPr>
          <a:xfrm>
            <a:off x="6381598" y="1952244"/>
            <a:ext cx="5201107" cy="599846"/>
          </a:xfrm>
          <a:prstGeom prst="rect">
            <a:avLst/>
          </a:prstGeom>
          <a:solidFill>
            <a:srgbClr val="F1F5F9"/>
          </a:solidFill>
          <a:ln/>
        </p:spPr>
        <p:txBody>
          <a:bodyPr/>
          <a:lstStyle/>
          <a:p>
            <a:endParaRPr lang="en-US"/>
          </a:p>
        </p:txBody>
      </p:sp>
      <p:sp>
        <p:nvSpPr>
          <p:cNvPr id="37" name="Shape 27"/>
          <p:cNvSpPr/>
          <p:nvPr/>
        </p:nvSpPr>
        <p:spPr>
          <a:xfrm>
            <a:off x="6381598" y="2532888"/>
            <a:ext cx="5201107" cy="19202"/>
          </a:xfrm>
          <a:prstGeom prst="rect">
            <a:avLst/>
          </a:prstGeom>
          <a:solidFill>
            <a:srgbClr val="E5E7EB"/>
          </a:solidFill>
          <a:ln w="12700">
            <a:solidFill>
              <a:srgbClr val="E5E7EB">
                <a:alpha val="0"/>
              </a:srgbClr>
            </a:solidFill>
            <a:prstDash val="solid"/>
          </a:ln>
        </p:spPr>
        <p:txBody>
          <a:bodyPr/>
          <a:lstStyle/>
          <a:p>
            <a:endParaRPr lang="en-US"/>
          </a:p>
        </p:txBody>
      </p:sp>
      <p:sp>
        <p:nvSpPr>
          <p:cNvPr id="38" name="Text 28"/>
          <p:cNvSpPr txBox="1"/>
          <p:nvPr/>
        </p:nvSpPr>
        <p:spPr>
          <a:xfrm>
            <a:off x="6534302" y="2048256"/>
            <a:ext cx="1228954" cy="391363"/>
          </a:xfrm>
          <a:prstGeom prst="rect">
            <a:avLst/>
          </a:prstGeom>
          <a:noFill/>
          <a:ln/>
        </p:spPr>
        <p:txBody>
          <a:bodyPr wrap="square" lIns="0" tIns="0" rIns="0" bIns="0" rtlCol="0" anchor="ctr"/>
          <a:lstStyle/>
          <a:p>
            <a:pPr marL="0" indent="0" algn="l">
              <a:buNone/>
            </a:pPr>
            <a:r>
              <a:rPr lang="en-US" sz="1000" b="1">
                <a:solidFill>
                  <a:srgbClr val="4B5563"/>
                </a:solidFill>
                <a:latin typeface="Roboto Condensed" pitchFamily="34" charset="0"/>
                <a:ea typeface="Roboto Condensed" pitchFamily="34" charset="-122"/>
                <a:cs typeface="Roboto Condensed" pitchFamily="34" charset="-120"/>
              </a:rPr>
              <a:t>Dimension</a:t>
            </a:r>
            <a:endParaRPr lang="en-US" sz="1000"/>
          </a:p>
        </p:txBody>
      </p:sp>
      <p:sp>
        <p:nvSpPr>
          <p:cNvPr id="39" name="Text 29"/>
          <p:cNvSpPr txBox="1"/>
          <p:nvPr/>
        </p:nvSpPr>
        <p:spPr>
          <a:xfrm>
            <a:off x="7757770" y="2048256"/>
            <a:ext cx="1714500" cy="391363"/>
          </a:xfrm>
          <a:prstGeom prst="rect">
            <a:avLst/>
          </a:prstGeom>
          <a:noFill/>
          <a:ln/>
        </p:spPr>
        <p:txBody>
          <a:bodyPr wrap="square" lIns="0" tIns="0" rIns="0" bIns="0" rtlCol="0" anchor="ctr"/>
          <a:lstStyle/>
          <a:p>
            <a:pPr marL="0" indent="0" algn="l">
              <a:buNone/>
            </a:pPr>
            <a:r>
              <a:rPr lang="en-US" sz="1000" b="1">
                <a:solidFill>
                  <a:srgbClr val="D62839"/>
                </a:solidFill>
                <a:latin typeface="Roboto Condensed" pitchFamily="34" charset="0"/>
                <a:ea typeface="Roboto Condensed" pitchFamily="34" charset="-122"/>
                <a:cs typeface="Roboto Condensed" pitchFamily="34" charset="-120"/>
              </a:rPr>
              <a:t>Traditional Managed Services</a:t>
            </a:r>
            <a:endParaRPr lang="en-US" sz="1000"/>
          </a:p>
        </p:txBody>
      </p:sp>
      <p:sp>
        <p:nvSpPr>
          <p:cNvPr id="40" name="Text 30"/>
          <p:cNvSpPr txBox="1"/>
          <p:nvPr/>
        </p:nvSpPr>
        <p:spPr>
          <a:xfrm>
            <a:off x="9471355" y="2048256"/>
            <a:ext cx="1962302" cy="391363"/>
          </a:xfrm>
          <a:prstGeom prst="rect">
            <a:avLst/>
          </a:prstGeom>
          <a:noFill/>
          <a:ln/>
        </p:spPr>
        <p:txBody>
          <a:bodyPr wrap="square" lIns="0" tIns="0" rIns="0" bIns="0" rtlCol="0" anchor="ctr"/>
          <a:lstStyle/>
          <a:p>
            <a:pPr marL="0" indent="0" algn="l">
              <a:buNone/>
            </a:pPr>
            <a:r>
              <a:rPr lang="en-US" sz="1000" b="1">
                <a:solidFill>
                  <a:srgbClr val="2A9D8F"/>
                </a:solidFill>
                <a:latin typeface="Roboto Condensed" pitchFamily="34" charset="0"/>
                <a:ea typeface="Roboto Condensed" pitchFamily="34" charset="-122"/>
                <a:cs typeface="Roboto Condensed" pitchFamily="34" charset="-120"/>
              </a:rPr>
              <a:t>J2W Managed Solutions</a:t>
            </a:r>
            <a:endParaRPr lang="en-US" sz="1000"/>
          </a:p>
        </p:txBody>
      </p:sp>
      <p:sp>
        <p:nvSpPr>
          <p:cNvPr id="41" name="Shape 31"/>
          <p:cNvSpPr/>
          <p:nvPr/>
        </p:nvSpPr>
        <p:spPr>
          <a:xfrm>
            <a:off x="6381598" y="3134563"/>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42" name="Text 32"/>
          <p:cNvSpPr txBox="1"/>
          <p:nvPr/>
        </p:nvSpPr>
        <p:spPr>
          <a:xfrm>
            <a:off x="6534302" y="2667305"/>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Engagement </a:t>
            </a:r>
          </a:p>
          <a:p>
            <a:pPr marL="0" indent="0" algn="l">
              <a:buNone/>
            </a:pPr>
            <a:r>
              <a:rPr lang="en-US" sz="1000" b="1">
                <a:solidFill>
                  <a:srgbClr val="374151"/>
                </a:solidFill>
                <a:latin typeface="Raleway" pitchFamily="34" charset="0"/>
                <a:ea typeface="Raleway" pitchFamily="34" charset="-122"/>
                <a:cs typeface="Raleway" pitchFamily="34" charset="-120"/>
              </a:rPr>
              <a:t>Model</a:t>
            </a:r>
            <a:endParaRPr lang="en-US" sz="1000"/>
          </a:p>
        </p:txBody>
      </p:sp>
      <p:sp>
        <p:nvSpPr>
          <p:cNvPr id="43" name="Text 33"/>
          <p:cNvSpPr txBox="1"/>
          <p:nvPr/>
        </p:nvSpPr>
        <p:spPr>
          <a:xfrm>
            <a:off x="7757770" y="2667305"/>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SOW-based, scope-</a:t>
            </a:r>
          </a:p>
          <a:p>
            <a:pPr marL="0" indent="0" algn="l">
              <a:buNone/>
            </a:pPr>
            <a:r>
              <a:rPr lang="en-US" sz="1000">
                <a:solidFill>
                  <a:srgbClr val="6B7280"/>
                </a:solidFill>
                <a:latin typeface="Raleway" pitchFamily="34" charset="0"/>
                <a:ea typeface="Raleway" pitchFamily="34" charset="-122"/>
                <a:cs typeface="Raleway" pitchFamily="34" charset="-120"/>
              </a:rPr>
              <a:t>locked</a:t>
            </a:r>
            <a:endParaRPr lang="en-US" sz="1000"/>
          </a:p>
        </p:txBody>
      </p:sp>
      <p:sp>
        <p:nvSpPr>
          <p:cNvPr id="44" name="Text 34"/>
          <p:cNvSpPr txBox="1"/>
          <p:nvPr/>
        </p:nvSpPr>
        <p:spPr>
          <a:xfrm>
            <a:off x="9471355" y="2667305"/>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Outcome-bound, SLO-governed</a:t>
            </a:r>
            <a:endParaRPr lang="en-US" sz="1000"/>
          </a:p>
        </p:txBody>
      </p:sp>
      <p:sp>
        <p:nvSpPr>
          <p:cNvPr id="45" name="Shape 35"/>
          <p:cNvSpPr/>
          <p:nvPr/>
        </p:nvSpPr>
        <p:spPr>
          <a:xfrm>
            <a:off x="6381598" y="3143707"/>
            <a:ext cx="5201107" cy="590702"/>
          </a:xfrm>
          <a:prstGeom prst="rect">
            <a:avLst/>
          </a:prstGeom>
          <a:solidFill>
            <a:srgbClr val="2A9D8F">
              <a:alpha val="3000"/>
            </a:srgbClr>
          </a:solidFill>
          <a:ln/>
        </p:spPr>
        <p:txBody>
          <a:bodyPr/>
          <a:lstStyle/>
          <a:p>
            <a:endParaRPr lang="en-US"/>
          </a:p>
        </p:txBody>
      </p:sp>
      <p:sp>
        <p:nvSpPr>
          <p:cNvPr id="46" name="Shape 36"/>
          <p:cNvSpPr/>
          <p:nvPr/>
        </p:nvSpPr>
        <p:spPr>
          <a:xfrm>
            <a:off x="6381598" y="3725266"/>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47" name="Text 37"/>
          <p:cNvSpPr txBox="1"/>
          <p:nvPr/>
        </p:nvSpPr>
        <p:spPr>
          <a:xfrm>
            <a:off x="6534302" y="3258007"/>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Starting Point</a:t>
            </a:r>
            <a:endParaRPr lang="en-US" sz="1000"/>
          </a:p>
        </p:txBody>
      </p:sp>
      <p:sp>
        <p:nvSpPr>
          <p:cNvPr id="48" name="Text 38"/>
          <p:cNvSpPr txBox="1"/>
          <p:nvPr/>
        </p:nvSpPr>
        <p:spPr>
          <a:xfrm>
            <a:off x="7757770" y="3258007"/>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Build from scratch</a:t>
            </a:r>
            <a:endParaRPr lang="en-US" sz="1000"/>
          </a:p>
        </p:txBody>
      </p:sp>
      <p:sp>
        <p:nvSpPr>
          <p:cNvPr id="49" name="Text 39"/>
          <p:cNvSpPr txBox="1"/>
          <p:nvPr/>
        </p:nvSpPr>
        <p:spPr>
          <a:xfrm>
            <a:off x="9471355" y="3258007"/>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60+ accelerators, deploy in weeks</a:t>
            </a:r>
            <a:endParaRPr lang="en-US" sz="1000"/>
          </a:p>
        </p:txBody>
      </p:sp>
      <p:sp>
        <p:nvSpPr>
          <p:cNvPr id="50" name="Shape 40"/>
          <p:cNvSpPr/>
          <p:nvPr/>
        </p:nvSpPr>
        <p:spPr>
          <a:xfrm>
            <a:off x="6381598" y="4315054"/>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51" name="Text 41"/>
          <p:cNvSpPr txBox="1"/>
          <p:nvPr/>
        </p:nvSpPr>
        <p:spPr>
          <a:xfrm>
            <a:off x="6534302" y="3847795"/>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Performance Standard</a:t>
            </a:r>
            <a:endParaRPr lang="en-US" sz="1000"/>
          </a:p>
        </p:txBody>
      </p:sp>
      <p:sp>
        <p:nvSpPr>
          <p:cNvPr id="52" name="Text 42"/>
          <p:cNvSpPr txBox="1"/>
          <p:nvPr/>
        </p:nvSpPr>
        <p:spPr>
          <a:xfrm>
            <a:off x="7757770" y="3847795"/>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Contractual minimums</a:t>
            </a:r>
            <a:endParaRPr lang="en-US" sz="1000"/>
          </a:p>
        </p:txBody>
      </p:sp>
      <p:sp>
        <p:nvSpPr>
          <p:cNvPr id="53" name="Text 43"/>
          <p:cNvSpPr txBox="1"/>
          <p:nvPr/>
        </p:nvSpPr>
        <p:spPr>
          <a:xfrm>
            <a:off x="9471355" y="3847795"/>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40% improvement threshold</a:t>
            </a:r>
            <a:endParaRPr lang="en-US" sz="1000"/>
          </a:p>
        </p:txBody>
      </p:sp>
      <p:sp>
        <p:nvSpPr>
          <p:cNvPr id="54" name="Shape 44"/>
          <p:cNvSpPr/>
          <p:nvPr/>
        </p:nvSpPr>
        <p:spPr>
          <a:xfrm>
            <a:off x="6381598" y="4324198"/>
            <a:ext cx="5201107" cy="590702"/>
          </a:xfrm>
          <a:prstGeom prst="rect">
            <a:avLst/>
          </a:prstGeom>
          <a:solidFill>
            <a:srgbClr val="2A9D8F">
              <a:alpha val="3000"/>
            </a:srgbClr>
          </a:solidFill>
          <a:ln/>
        </p:spPr>
        <p:txBody>
          <a:bodyPr/>
          <a:lstStyle/>
          <a:p>
            <a:endParaRPr lang="en-US"/>
          </a:p>
        </p:txBody>
      </p:sp>
      <p:sp>
        <p:nvSpPr>
          <p:cNvPr id="55" name="Shape 45"/>
          <p:cNvSpPr/>
          <p:nvPr/>
        </p:nvSpPr>
        <p:spPr>
          <a:xfrm>
            <a:off x="6381598" y="4905756"/>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56" name="Text 46"/>
          <p:cNvSpPr txBox="1"/>
          <p:nvPr/>
        </p:nvSpPr>
        <p:spPr>
          <a:xfrm>
            <a:off x="6534302" y="4438498"/>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Coverage</a:t>
            </a:r>
            <a:endParaRPr lang="en-US" sz="1000"/>
          </a:p>
        </p:txBody>
      </p:sp>
      <p:sp>
        <p:nvSpPr>
          <p:cNvPr id="57" name="Text 47"/>
          <p:cNvSpPr txBox="1"/>
          <p:nvPr/>
        </p:nvSpPr>
        <p:spPr>
          <a:xfrm>
            <a:off x="7757770" y="4438498"/>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Single-function specialization</a:t>
            </a:r>
            <a:endParaRPr lang="en-US" sz="1000"/>
          </a:p>
        </p:txBody>
      </p:sp>
      <p:sp>
        <p:nvSpPr>
          <p:cNvPr id="58" name="Text 48"/>
          <p:cNvSpPr txBox="1"/>
          <p:nvPr/>
        </p:nvSpPr>
        <p:spPr>
          <a:xfrm>
            <a:off x="9471355" y="4438498"/>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Cross-stack: SAP, ServiceNow, Salesforce + more</a:t>
            </a:r>
            <a:endParaRPr lang="en-US" sz="1000"/>
          </a:p>
        </p:txBody>
      </p:sp>
      <p:sp>
        <p:nvSpPr>
          <p:cNvPr id="59" name="Shape 49"/>
          <p:cNvSpPr/>
          <p:nvPr/>
        </p:nvSpPr>
        <p:spPr>
          <a:xfrm>
            <a:off x="6381598" y="5496458"/>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60" name="Text 50"/>
          <p:cNvSpPr txBox="1"/>
          <p:nvPr/>
        </p:nvSpPr>
        <p:spPr>
          <a:xfrm>
            <a:off x="6534302" y="5029200"/>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Knowledge Retention</a:t>
            </a:r>
            <a:endParaRPr lang="en-US" sz="1000"/>
          </a:p>
        </p:txBody>
      </p:sp>
      <p:sp>
        <p:nvSpPr>
          <p:cNvPr id="61" name="Text 51"/>
          <p:cNvSpPr txBox="1"/>
          <p:nvPr/>
        </p:nvSpPr>
        <p:spPr>
          <a:xfrm>
            <a:off x="7757770" y="5029200"/>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Exits with the team</a:t>
            </a:r>
            <a:endParaRPr lang="en-US" sz="1000"/>
          </a:p>
        </p:txBody>
      </p:sp>
      <p:sp>
        <p:nvSpPr>
          <p:cNvPr id="62" name="Text 52"/>
          <p:cNvSpPr txBox="1"/>
          <p:nvPr/>
        </p:nvSpPr>
        <p:spPr>
          <a:xfrm>
            <a:off x="9471355" y="5029200"/>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Captured, compounding, stays with you</a:t>
            </a:r>
            <a:endParaRPr lang="en-US" sz="1000"/>
          </a:p>
        </p:txBody>
      </p:sp>
      <p:sp>
        <p:nvSpPr>
          <p:cNvPr id="63" name="Shape 53"/>
          <p:cNvSpPr/>
          <p:nvPr/>
        </p:nvSpPr>
        <p:spPr>
          <a:xfrm>
            <a:off x="6381598" y="5505602"/>
            <a:ext cx="5201107" cy="590702"/>
          </a:xfrm>
          <a:prstGeom prst="rect">
            <a:avLst/>
          </a:prstGeom>
          <a:solidFill>
            <a:srgbClr val="2A9D8F">
              <a:alpha val="3000"/>
            </a:srgbClr>
          </a:solidFill>
          <a:ln w="12700">
            <a:solidFill>
              <a:srgbClr val="FFFFFF">
                <a:alpha val="0"/>
              </a:srgbClr>
            </a:solidFill>
            <a:prstDash val="solid"/>
          </a:ln>
        </p:spPr>
        <p:txBody>
          <a:bodyPr/>
          <a:lstStyle/>
          <a:p>
            <a:endParaRPr lang="en-US"/>
          </a:p>
        </p:txBody>
      </p:sp>
      <p:sp>
        <p:nvSpPr>
          <p:cNvPr id="64" name="Text 54"/>
          <p:cNvSpPr txBox="1"/>
          <p:nvPr/>
        </p:nvSpPr>
        <p:spPr>
          <a:xfrm>
            <a:off x="6534302" y="5619902"/>
            <a:ext cx="1228954" cy="362102"/>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AI Readiness</a:t>
            </a:r>
            <a:endParaRPr lang="en-US" sz="1000"/>
          </a:p>
        </p:txBody>
      </p:sp>
      <p:sp>
        <p:nvSpPr>
          <p:cNvPr id="65" name="Text 55"/>
          <p:cNvSpPr txBox="1"/>
          <p:nvPr/>
        </p:nvSpPr>
        <p:spPr>
          <a:xfrm>
            <a:off x="7757770" y="5619902"/>
            <a:ext cx="1714500" cy="362102"/>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Optional add-on</a:t>
            </a:r>
            <a:endParaRPr lang="en-US" sz="1000"/>
          </a:p>
        </p:txBody>
      </p:sp>
      <p:sp>
        <p:nvSpPr>
          <p:cNvPr id="66" name="Text 56"/>
          <p:cNvSpPr txBox="1"/>
          <p:nvPr/>
        </p:nvSpPr>
        <p:spPr>
          <a:xfrm>
            <a:off x="9471355" y="5619902"/>
            <a:ext cx="1962302" cy="362102"/>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Embedded from Day 1</a:t>
            </a:r>
            <a:endParaRPr lang="en-US" sz="1000"/>
          </a:p>
        </p:txBody>
      </p:sp>
      <p:sp>
        <p:nvSpPr>
          <p:cNvPr id="67" name="Text 57"/>
          <p:cNvSpPr txBox="1"/>
          <p:nvPr/>
        </p:nvSpPr>
        <p:spPr>
          <a:xfrm>
            <a:off x="800100" y="6245352"/>
            <a:ext cx="10592410" cy="409651"/>
          </a:xfrm>
          <a:prstGeom prst="rect">
            <a:avLst/>
          </a:prstGeom>
          <a:noFill/>
          <a:ln/>
        </p:spPr>
        <p:txBody>
          <a:bodyPr wrap="square" lIns="0" tIns="0" rIns="0" bIns="0" rtlCol="0" anchor="ctr"/>
          <a:lstStyle/>
          <a:p>
            <a:pPr marL="0" indent="0" algn="ctr">
              <a:buNone/>
            </a:pPr>
            <a:r>
              <a:rPr lang="en-US" sz="800" b="1">
                <a:solidFill>
                  <a:srgbClr val="111827"/>
                </a:solidFill>
                <a:latin typeface="Raleway" pitchFamily="34" charset="0"/>
                <a:ea typeface="Raleway" pitchFamily="34" charset="-122"/>
                <a:cs typeface="Raleway" pitchFamily="34" charset="-120"/>
              </a:rPr>
              <a:t>From scattered pilots to governed programs. From manual reporting to real-time intelligence. From legacy stacks to modernized platforms. </a:t>
            </a:r>
            <a:r>
              <a:rPr lang="en-US" sz="1100" b="1">
                <a:solidFill>
                  <a:srgbClr val="2A9D8F"/>
                </a:solidFill>
                <a:latin typeface="Raleway" pitchFamily="34" charset="0"/>
                <a:ea typeface="Raleway" pitchFamily="34" charset="-122"/>
                <a:cs typeface="Raleway" pitchFamily="34" charset="-120"/>
              </a:rPr>
              <a:t>J2W Managed Solutions operate until the outcome is real - then keep compounding.</a:t>
            </a:r>
            <a:endParaRPr lang="en-US" sz="1100"/>
          </a:p>
        </p:txBody>
      </p:sp>
    </p:spTree>
    <p:extLst>
      <p:ext uri="{BB962C8B-B14F-4D97-AF65-F5344CB8AC3E}">
        <p14:creationId xmlns:p14="http://schemas.microsoft.com/office/powerpoint/2010/main" val="37436834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382305" y="-1429207"/>
            <a:ext cx="4762195" cy="4762195"/>
          </a:xfrm>
          <a:prstGeom prst="ellipse">
            <a:avLst/>
          </a:prstGeom>
          <a:noFill/>
          <a:ln w="508000">
            <a:solidFill>
              <a:srgbClr val="D62839">
                <a:alpha val="3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 name="Image 0" descr="preencoded.png"/>
          <p:cNvPicPr>
            <a:picLocks noChangeAspect="1"/>
          </p:cNvPicPr>
          <p:nvPr/>
        </p:nvPicPr>
        <p:blipFill>
          <a:blip r:embed="rId3"/>
          <a:srcRect l="-360" r="-360"/>
          <a:stretch/>
        </p:blipFill>
        <p:spPr>
          <a:xfrm>
            <a:off x="609905" y="514807"/>
            <a:ext cx="57607" cy="381305"/>
          </a:xfrm>
          <a:prstGeom prst="rect">
            <a:avLst/>
          </a:prstGeom>
        </p:spPr>
      </p:pic>
      <p:sp>
        <p:nvSpPr>
          <p:cNvPr id="6" name="Text 3"/>
          <p:cNvSpPr txBox="1"/>
          <p:nvPr/>
        </p:nvSpPr>
        <p:spPr>
          <a:xfrm>
            <a:off x="819302" y="381305"/>
            <a:ext cx="6010351" cy="3429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56" normalizeH="0" baseline="0" noProof="0" dirty="0">
                <a:ln>
                  <a:noFill/>
                </a:ln>
                <a:solidFill>
                  <a:srgbClr val="111827"/>
                </a:solidFill>
                <a:effectLst/>
                <a:uLnTx/>
                <a:uFillTx/>
                <a:latin typeface="Oswald" pitchFamily="34" charset="0"/>
                <a:ea typeface="Oswald" pitchFamily="34" charset="-122"/>
                <a:cs typeface="Oswald" pitchFamily="34" charset="-120"/>
              </a:rPr>
              <a:t>STRATEGIC MANAGED SERVICES OFFERINGS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txBox="1"/>
          <p:nvPr/>
        </p:nvSpPr>
        <p:spPr>
          <a:xfrm>
            <a:off x="819302" y="761695"/>
            <a:ext cx="6010351" cy="267005"/>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68" normalizeH="0" baseline="0" noProof="0" dirty="0">
                <a:ln>
                  <a:noFill/>
                </a:ln>
                <a:solidFill>
                  <a:srgbClr val="2A9D8F"/>
                </a:solidFill>
                <a:effectLst/>
                <a:uLnTx/>
                <a:uFillTx/>
                <a:latin typeface="Roboto Condensed" pitchFamily="34" charset="0"/>
                <a:ea typeface="Roboto Condensed" pitchFamily="34" charset="-122"/>
                <a:cs typeface="Roboto Condensed" pitchFamily="34" charset="-120"/>
              </a:rPr>
              <a:t>Comprehensive Capabilities Driving Digital Transformation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5"/>
          <p:cNvSpPr/>
          <p:nvPr/>
        </p:nvSpPr>
        <p:spPr>
          <a:xfrm>
            <a:off x="609905" y="12573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6"/>
          <p:cNvSpPr/>
          <p:nvPr/>
        </p:nvSpPr>
        <p:spPr>
          <a:xfrm>
            <a:off x="609905" y="1257300"/>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7"/>
          <p:cNvSpPr/>
          <p:nvPr/>
        </p:nvSpPr>
        <p:spPr>
          <a:xfrm>
            <a:off x="790956" y="138074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1" descr="preencoded.png"/>
          <p:cNvPicPr>
            <a:picLocks noChangeAspect="1"/>
          </p:cNvPicPr>
          <p:nvPr/>
        </p:nvPicPr>
        <p:blipFill>
          <a:blip r:embed="rId4"/>
          <a:srcRect/>
          <a:stretch/>
        </p:blipFill>
        <p:spPr>
          <a:xfrm>
            <a:off x="905256" y="1495044"/>
            <a:ext cx="171907" cy="171907"/>
          </a:xfrm>
          <a:prstGeom prst="rect">
            <a:avLst/>
          </a:prstGeom>
        </p:spPr>
      </p:pic>
      <p:sp>
        <p:nvSpPr>
          <p:cNvPr id="12" name="Text 8"/>
          <p:cNvSpPr txBox="1"/>
          <p:nvPr/>
        </p:nvSpPr>
        <p:spPr>
          <a:xfrm>
            <a:off x="926287" y="1819656"/>
            <a:ext cx="210312"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01</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9"/>
          <p:cNvSpPr txBox="1"/>
          <p:nvPr/>
        </p:nvSpPr>
        <p:spPr>
          <a:xfrm>
            <a:off x="1371600" y="13807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AI Solutions (AI CoE)</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0"/>
          <p:cNvSpPr txBox="1"/>
          <p:nvPr/>
        </p:nvSpPr>
        <p:spPr>
          <a:xfrm>
            <a:off x="1371600" y="16020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GenAI strategies, agents, LLM workflows, predictive models, knowledge bots, and enterprise-grade AI governance &amp; value realization frameworks.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1"/>
          <p:cNvSpPr/>
          <p:nvPr/>
        </p:nvSpPr>
        <p:spPr>
          <a:xfrm>
            <a:off x="6210605" y="12573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2"/>
          <p:cNvSpPr/>
          <p:nvPr/>
        </p:nvSpPr>
        <p:spPr>
          <a:xfrm>
            <a:off x="6210605" y="1257300"/>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3"/>
          <p:cNvSpPr/>
          <p:nvPr/>
        </p:nvSpPr>
        <p:spPr>
          <a:xfrm>
            <a:off x="6391656" y="138074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Image 2" descr="preencoded.png"/>
          <p:cNvPicPr>
            <a:picLocks noChangeAspect="1"/>
          </p:cNvPicPr>
          <p:nvPr/>
        </p:nvPicPr>
        <p:blipFill>
          <a:blip r:embed="rId5"/>
          <a:srcRect/>
          <a:stretch/>
        </p:blipFill>
        <p:spPr>
          <a:xfrm>
            <a:off x="6505956" y="1495044"/>
            <a:ext cx="171907" cy="171907"/>
          </a:xfrm>
          <a:prstGeom prst="rect">
            <a:avLst/>
          </a:prstGeom>
        </p:spPr>
      </p:pic>
      <p:sp>
        <p:nvSpPr>
          <p:cNvPr id="19" name="Text 14"/>
          <p:cNvSpPr txBox="1"/>
          <p:nvPr/>
        </p:nvSpPr>
        <p:spPr>
          <a:xfrm>
            <a:off x="6516929" y="18196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06</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5"/>
          <p:cNvSpPr txBox="1"/>
          <p:nvPr/>
        </p:nvSpPr>
        <p:spPr>
          <a:xfrm>
            <a:off x="6972300" y="13807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Quality Engineering</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6"/>
          <p:cNvSpPr txBox="1"/>
          <p:nvPr/>
        </p:nvSpPr>
        <p:spPr>
          <a:xfrm>
            <a:off x="6972300" y="16020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Intelligent QA and Test Automation at scale - covering functional, performance, security, CI/CD pipelines, and TaaS delivery pods.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17"/>
          <p:cNvSpPr/>
          <p:nvPr/>
        </p:nvSpPr>
        <p:spPr>
          <a:xfrm>
            <a:off x="609905" y="23244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18"/>
          <p:cNvSpPr/>
          <p:nvPr/>
        </p:nvSpPr>
        <p:spPr>
          <a:xfrm>
            <a:off x="609905" y="232440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19"/>
          <p:cNvSpPr/>
          <p:nvPr/>
        </p:nvSpPr>
        <p:spPr>
          <a:xfrm>
            <a:off x="790956" y="2447849"/>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 name="Image 3" descr="preencoded.png"/>
          <p:cNvPicPr>
            <a:picLocks noChangeAspect="1"/>
          </p:cNvPicPr>
          <p:nvPr/>
        </p:nvPicPr>
        <p:blipFill>
          <a:blip r:embed="rId6"/>
          <a:srcRect t="-2725" b="-2725"/>
          <a:stretch/>
        </p:blipFill>
        <p:spPr>
          <a:xfrm>
            <a:off x="918972" y="2562149"/>
            <a:ext cx="142646" cy="171907"/>
          </a:xfrm>
          <a:prstGeom prst="rect">
            <a:avLst/>
          </a:prstGeom>
        </p:spPr>
      </p:pic>
      <p:sp>
        <p:nvSpPr>
          <p:cNvPr id="26" name="Text 20"/>
          <p:cNvSpPr txBox="1"/>
          <p:nvPr/>
        </p:nvSpPr>
        <p:spPr>
          <a:xfrm>
            <a:off x="918058" y="288584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02</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1"/>
          <p:cNvSpPr txBox="1"/>
          <p:nvPr/>
        </p:nvSpPr>
        <p:spPr>
          <a:xfrm>
            <a:off x="1371600" y="24478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Data Migration &amp; Infra Support</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2"/>
          <p:cNvSpPr txBox="1"/>
          <p:nvPr/>
        </p:nvSpPr>
        <p:spPr>
          <a:xfrm>
            <a:off x="1371600" y="26691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Seamless migration across on-prem &amp; cloud, with data quality, cleansing, secure pipelines, infra ops, and cloud governance across AWS/Azure/GCP.</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3"/>
          <p:cNvSpPr/>
          <p:nvPr/>
        </p:nvSpPr>
        <p:spPr>
          <a:xfrm>
            <a:off x="6210605" y="23244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4"/>
          <p:cNvSpPr/>
          <p:nvPr/>
        </p:nvSpPr>
        <p:spPr>
          <a:xfrm>
            <a:off x="6210605" y="232440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5"/>
          <p:cNvSpPr/>
          <p:nvPr/>
        </p:nvSpPr>
        <p:spPr>
          <a:xfrm>
            <a:off x="6391656" y="2447849"/>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2" name="Image 4" descr="preencoded.png"/>
          <p:cNvPicPr>
            <a:picLocks noChangeAspect="1"/>
          </p:cNvPicPr>
          <p:nvPr/>
        </p:nvPicPr>
        <p:blipFill>
          <a:blip r:embed="rId7"/>
          <a:srcRect/>
          <a:stretch/>
        </p:blipFill>
        <p:spPr>
          <a:xfrm>
            <a:off x="6505956" y="2562149"/>
            <a:ext cx="171907" cy="171907"/>
          </a:xfrm>
          <a:prstGeom prst="rect">
            <a:avLst/>
          </a:prstGeom>
        </p:spPr>
      </p:pic>
      <p:sp>
        <p:nvSpPr>
          <p:cNvPr id="33" name="Text 26"/>
          <p:cNvSpPr txBox="1"/>
          <p:nvPr/>
        </p:nvSpPr>
        <p:spPr>
          <a:xfrm>
            <a:off x="6523330" y="2885846"/>
            <a:ext cx="219456"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07</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27"/>
          <p:cNvSpPr txBox="1"/>
          <p:nvPr/>
        </p:nvSpPr>
        <p:spPr>
          <a:xfrm>
            <a:off x="6972300" y="24478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Call Centre Optimization</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28"/>
          <p:cNvSpPr txBox="1"/>
          <p:nvPr/>
        </p:nvSpPr>
        <p:spPr>
          <a:xfrm>
            <a:off x="6972300" y="26691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Transforming contact centers through operational assessment, workforce analytics, real-time dashboards, agent assist AI, and IVA-based automation.</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29"/>
          <p:cNvSpPr/>
          <p:nvPr/>
        </p:nvSpPr>
        <p:spPr>
          <a:xfrm>
            <a:off x="609905" y="339059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0"/>
          <p:cNvSpPr/>
          <p:nvPr/>
        </p:nvSpPr>
        <p:spPr>
          <a:xfrm>
            <a:off x="609905" y="339059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1"/>
          <p:cNvSpPr/>
          <p:nvPr/>
        </p:nvSpPr>
        <p:spPr>
          <a:xfrm>
            <a:off x="790956" y="351495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9" name="Image 5" descr="preencoded.png"/>
          <p:cNvPicPr>
            <a:picLocks noChangeAspect="1"/>
          </p:cNvPicPr>
          <p:nvPr/>
        </p:nvPicPr>
        <p:blipFill>
          <a:blip r:embed="rId8"/>
          <a:srcRect/>
          <a:stretch/>
        </p:blipFill>
        <p:spPr>
          <a:xfrm>
            <a:off x="905256" y="3629254"/>
            <a:ext cx="171907" cy="171907"/>
          </a:xfrm>
          <a:prstGeom prst="rect">
            <a:avLst/>
          </a:prstGeom>
        </p:spPr>
      </p:pic>
      <p:sp>
        <p:nvSpPr>
          <p:cNvPr id="40" name="Text 32"/>
          <p:cNvSpPr txBox="1"/>
          <p:nvPr/>
        </p:nvSpPr>
        <p:spPr>
          <a:xfrm>
            <a:off x="918058" y="3952951"/>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03</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3"/>
          <p:cNvSpPr txBox="1"/>
          <p:nvPr/>
        </p:nvSpPr>
        <p:spPr>
          <a:xfrm>
            <a:off x="1371600" y="351495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Cybersecurity</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34"/>
          <p:cNvSpPr txBox="1"/>
          <p:nvPr/>
        </p:nvSpPr>
        <p:spPr>
          <a:xfrm>
            <a:off x="1371600" y="373532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Full-spectrum security including assessment, red-team, cloud security, managed SOC/MDR, compliance (ISO, PCI, RBI), incident response &amp; digital forensics.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35"/>
          <p:cNvSpPr/>
          <p:nvPr/>
        </p:nvSpPr>
        <p:spPr>
          <a:xfrm>
            <a:off x="6210605" y="339059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36"/>
          <p:cNvSpPr/>
          <p:nvPr/>
        </p:nvSpPr>
        <p:spPr>
          <a:xfrm>
            <a:off x="6210605" y="339059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37"/>
          <p:cNvSpPr/>
          <p:nvPr/>
        </p:nvSpPr>
        <p:spPr>
          <a:xfrm>
            <a:off x="6391656" y="351495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6" name="Image 6" descr="preencoded.png"/>
          <p:cNvPicPr>
            <a:picLocks noChangeAspect="1"/>
          </p:cNvPicPr>
          <p:nvPr/>
        </p:nvPicPr>
        <p:blipFill>
          <a:blip r:embed="rId9"/>
          <a:srcRect t="-2725" b="-2725"/>
          <a:stretch/>
        </p:blipFill>
        <p:spPr>
          <a:xfrm>
            <a:off x="6519672" y="3629254"/>
            <a:ext cx="142646" cy="171907"/>
          </a:xfrm>
          <a:prstGeom prst="rect">
            <a:avLst/>
          </a:prstGeom>
        </p:spPr>
      </p:pic>
      <p:sp>
        <p:nvSpPr>
          <p:cNvPr id="47" name="Text 38"/>
          <p:cNvSpPr txBox="1"/>
          <p:nvPr/>
        </p:nvSpPr>
        <p:spPr>
          <a:xfrm>
            <a:off x="6517843" y="3952951"/>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08</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 39"/>
          <p:cNvSpPr txBox="1"/>
          <p:nvPr/>
        </p:nvSpPr>
        <p:spPr>
          <a:xfrm>
            <a:off x="6972300" y="351495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SAP Services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Text 40"/>
          <p:cNvSpPr txBox="1"/>
          <p:nvPr/>
        </p:nvSpPr>
        <p:spPr>
          <a:xfrm>
            <a:off x="6972300" y="373532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End-to-end SAP modernization - from S/4HANA migrations to BTP, Fiori, SuccessFactors, and enterprise-wide rollout with managed SAP support.</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1"/>
          <p:cNvSpPr/>
          <p:nvPr/>
        </p:nvSpPr>
        <p:spPr>
          <a:xfrm>
            <a:off x="609905" y="44577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2"/>
          <p:cNvSpPr/>
          <p:nvPr/>
        </p:nvSpPr>
        <p:spPr>
          <a:xfrm>
            <a:off x="609905" y="4457700"/>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43"/>
          <p:cNvSpPr/>
          <p:nvPr/>
        </p:nvSpPr>
        <p:spPr>
          <a:xfrm>
            <a:off x="790956" y="458114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3" name="Image 7" descr="preencoded.png"/>
          <p:cNvPicPr>
            <a:picLocks noChangeAspect="1"/>
          </p:cNvPicPr>
          <p:nvPr/>
        </p:nvPicPr>
        <p:blipFill>
          <a:blip r:embed="rId10"/>
          <a:srcRect t="-1310" b="-1310"/>
          <a:stretch/>
        </p:blipFill>
        <p:spPr>
          <a:xfrm>
            <a:off x="886054" y="4695444"/>
            <a:ext cx="209398" cy="171907"/>
          </a:xfrm>
          <a:prstGeom prst="rect">
            <a:avLst/>
          </a:prstGeom>
        </p:spPr>
      </p:pic>
      <p:sp>
        <p:nvSpPr>
          <p:cNvPr id="54" name="Text 44"/>
          <p:cNvSpPr txBox="1"/>
          <p:nvPr/>
        </p:nvSpPr>
        <p:spPr>
          <a:xfrm>
            <a:off x="917143" y="50200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04</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Text 45"/>
          <p:cNvSpPr txBox="1"/>
          <p:nvPr/>
        </p:nvSpPr>
        <p:spPr>
          <a:xfrm>
            <a:off x="1371600" y="45811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Digital Engineering &amp; Automation</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Text 46"/>
          <p:cNvSpPr txBox="1"/>
          <p:nvPr/>
        </p:nvSpPr>
        <p:spPr>
          <a:xfrm>
            <a:off x="1371600" y="48024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Spanning full-stack &amp; UI/UX development, intelligent automation, AI-augmented RPA, and end-to-end process orchestration.</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Shape 47"/>
          <p:cNvSpPr/>
          <p:nvPr/>
        </p:nvSpPr>
        <p:spPr>
          <a:xfrm>
            <a:off x="6210605" y="44577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Shape 48"/>
          <p:cNvSpPr/>
          <p:nvPr/>
        </p:nvSpPr>
        <p:spPr>
          <a:xfrm>
            <a:off x="6210605" y="4457700"/>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Shape 49"/>
          <p:cNvSpPr/>
          <p:nvPr/>
        </p:nvSpPr>
        <p:spPr>
          <a:xfrm>
            <a:off x="6391656" y="458114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0" name="Image 8" descr="preencoded.png"/>
          <p:cNvPicPr>
            <a:picLocks noChangeAspect="1"/>
          </p:cNvPicPr>
          <p:nvPr/>
        </p:nvPicPr>
        <p:blipFill>
          <a:blip r:embed="rId11"/>
          <a:srcRect t="-1310" b="-1310"/>
          <a:stretch/>
        </p:blipFill>
        <p:spPr>
          <a:xfrm>
            <a:off x="6486754" y="4695444"/>
            <a:ext cx="209398" cy="171907"/>
          </a:xfrm>
          <a:prstGeom prst="rect">
            <a:avLst/>
          </a:prstGeom>
        </p:spPr>
      </p:pic>
      <p:sp>
        <p:nvSpPr>
          <p:cNvPr id="61" name="Text 50"/>
          <p:cNvSpPr txBox="1"/>
          <p:nvPr/>
        </p:nvSpPr>
        <p:spPr>
          <a:xfrm>
            <a:off x="6516929" y="50200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09</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Text 51"/>
          <p:cNvSpPr txBox="1"/>
          <p:nvPr/>
        </p:nvSpPr>
        <p:spPr>
          <a:xfrm>
            <a:off x="6972300" y="45811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Salesforce Services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Text 52"/>
          <p:cNvSpPr txBox="1"/>
          <p:nvPr/>
        </p:nvSpPr>
        <p:spPr>
          <a:xfrm>
            <a:off x="6972300" y="48024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Complete Salesforce transformation across Sales, Service, Marketing, Financial Services Cloud, and MuleSoft - backed by org audits and managed support.</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53"/>
          <p:cNvSpPr/>
          <p:nvPr/>
        </p:nvSpPr>
        <p:spPr>
          <a:xfrm>
            <a:off x="609905" y="55248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Shape 54"/>
          <p:cNvSpPr/>
          <p:nvPr/>
        </p:nvSpPr>
        <p:spPr>
          <a:xfrm>
            <a:off x="609905" y="552480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Shape 55"/>
          <p:cNvSpPr/>
          <p:nvPr/>
        </p:nvSpPr>
        <p:spPr>
          <a:xfrm>
            <a:off x="790956" y="5648249"/>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7" name="Image 9" descr="preencoded.png"/>
          <p:cNvPicPr>
            <a:picLocks noChangeAspect="1"/>
          </p:cNvPicPr>
          <p:nvPr/>
        </p:nvPicPr>
        <p:blipFill>
          <a:blip r:embed="rId12"/>
          <a:srcRect/>
          <a:stretch/>
        </p:blipFill>
        <p:spPr>
          <a:xfrm>
            <a:off x="905256" y="5762549"/>
            <a:ext cx="171907" cy="171907"/>
          </a:xfrm>
          <a:prstGeom prst="rect">
            <a:avLst/>
          </a:prstGeom>
        </p:spPr>
      </p:pic>
      <p:sp>
        <p:nvSpPr>
          <p:cNvPr id="68" name="Text 56"/>
          <p:cNvSpPr txBox="1"/>
          <p:nvPr/>
        </p:nvSpPr>
        <p:spPr>
          <a:xfrm>
            <a:off x="918058" y="608624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05</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Text 57"/>
          <p:cNvSpPr txBox="1"/>
          <p:nvPr/>
        </p:nvSpPr>
        <p:spPr>
          <a:xfrm>
            <a:off x="1371600" y="56482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Data Analytics &amp; Dashboarding</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Text 58"/>
          <p:cNvSpPr txBox="1"/>
          <p:nvPr/>
        </p:nvSpPr>
        <p:spPr>
          <a:xfrm>
            <a:off x="1371600" y="58695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Interactive dashboards across Power BI, Tableau, and Qlik - enabling real-time operational, financial, and leadership insights.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Shape 59"/>
          <p:cNvSpPr/>
          <p:nvPr/>
        </p:nvSpPr>
        <p:spPr>
          <a:xfrm>
            <a:off x="6210605" y="55248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60"/>
          <p:cNvSpPr/>
          <p:nvPr/>
        </p:nvSpPr>
        <p:spPr>
          <a:xfrm>
            <a:off x="6210605" y="552480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Shape 61"/>
          <p:cNvSpPr/>
          <p:nvPr/>
        </p:nvSpPr>
        <p:spPr>
          <a:xfrm>
            <a:off x="6391656" y="5648249"/>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4" name="Image 10" descr="preencoded.png"/>
          <p:cNvPicPr>
            <a:picLocks noChangeAspect="1"/>
          </p:cNvPicPr>
          <p:nvPr/>
        </p:nvPicPr>
        <p:blipFill>
          <a:blip r:embed="rId13"/>
          <a:srcRect/>
          <a:stretch/>
        </p:blipFill>
        <p:spPr>
          <a:xfrm>
            <a:off x="6505956" y="5762549"/>
            <a:ext cx="171907" cy="171907"/>
          </a:xfrm>
          <a:prstGeom prst="rect">
            <a:avLst/>
          </a:prstGeom>
        </p:spPr>
      </p:pic>
      <p:sp>
        <p:nvSpPr>
          <p:cNvPr id="75" name="Text 62"/>
          <p:cNvSpPr txBox="1"/>
          <p:nvPr/>
        </p:nvSpPr>
        <p:spPr>
          <a:xfrm>
            <a:off x="6526987" y="6086246"/>
            <a:ext cx="210312"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10</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Text 63"/>
          <p:cNvSpPr txBox="1"/>
          <p:nvPr/>
        </p:nvSpPr>
        <p:spPr>
          <a:xfrm>
            <a:off x="6972300" y="56482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ServiceNow</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Text 64"/>
          <p:cNvSpPr txBox="1"/>
          <p:nvPr/>
        </p:nvSpPr>
        <p:spPr>
          <a:xfrm>
            <a:off x="6972300" y="58695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End-to-end ServiceNow enablement across ITSM, ITOM, CSM, CMDB, automation workflows, and CoE setup for scalable, multi-instance operations.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8" name="Image 11" descr="preencoded.png"/>
          <p:cNvPicPr>
            <a:picLocks noChangeAspect="1"/>
          </p:cNvPicPr>
          <p:nvPr/>
        </p:nvPicPr>
        <p:blipFill>
          <a:blip r:embed="rId14"/>
          <a:srcRect l="-202" r="-202"/>
          <a:stretch/>
        </p:blipFill>
        <p:spPr>
          <a:xfrm>
            <a:off x="0" y="0"/>
            <a:ext cx="8128102" cy="75895"/>
          </a:xfrm>
          <a:prstGeom prst="rect">
            <a:avLst/>
          </a:prstGeom>
        </p:spPr>
      </p:pic>
      <p:pic>
        <p:nvPicPr>
          <p:cNvPr id="79" name="Image 12" descr="preencoded.png"/>
          <p:cNvPicPr>
            <a:picLocks noChangeAspect="1"/>
          </p:cNvPicPr>
          <p:nvPr/>
        </p:nvPicPr>
        <p:blipFill>
          <a:blip r:embed="rId15"/>
          <a:srcRect l="-197" r="-197"/>
          <a:stretch/>
        </p:blipFill>
        <p:spPr>
          <a:xfrm>
            <a:off x="8128102" y="0"/>
            <a:ext cx="4063594" cy="75895"/>
          </a:xfrm>
          <a:prstGeom prst="rect">
            <a:avLst/>
          </a:prstGeom>
        </p:spPr>
      </p:pic>
    </p:spTree>
    <p:extLst>
      <p:ext uri="{BB962C8B-B14F-4D97-AF65-F5344CB8AC3E}">
        <p14:creationId xmlns:p14="http://schemas.microsoft.com/office/powerpoint/2010/main" val="5047675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gen-dedup-9d9df24ea47cddb7d0fdf53525bde3b5.png"/>
          <p:cNvPicPr>
            <a:picLocks noChangeAspect="1"/>
          </p:cNvPicPr>
          <p:nvPr/>
        </p:nvPicPr>
        <p:blipFill>
          <a:blip r:embed="rId3"/>
          <a:srcRect t="-2" b="-2"/>
          <a:stretch/>
        </p:blipFill>
        <p:spPr>
          <a:xfrm>
            <a:off x="0" y="0"/>
            <a:ext cx="8124444" cy="114300"/>
          </a:xfrm>
          <a:prstGeom prst="rect">
            <a:avLst/>
          </a:prstGeom>
        </p:spPr>
      </p:pic>
      <p:pic>
        <p:nvPicPr>
          <p:cNvPr id="3" name="Image 1" descr="gen-dedup-aca74248d2fbe032a73ba742e976ed37.png"/>
          <p:cNvPicPr>
            <a:picLocks noChangeAspect="1"/>
          </p:cNvPicPr>
          <p:nvPr/>
        </p:nvPicPr>
        <p:blipFill>
          <a:blip r:embed="rId4"/>
          <a:srcRect l="-1" r="-1"/>
          <a:stretch/>
        </p:blipFill>
        <p:spPr>
          <a:xfrm>
            <a:off x="8124444" y="0"/>
            <a:ext cx="4067251" cy="114300"/>
          </a:xfrm>
          <a:prstGeom prst="rect">
            <a:avLst/>
          </a:prstGeom>
        </p:spPr>
      </p:pic>
      <p:sp>
        <p:nvSpPr>
          <p:cNvPr id="4" name="Shape 0"/>
          <p:cNvSpPr/>
          <p:nvPr/>
        </p:nvSpPr>
        <p:spPr>
          <a:xfrm>
            <a:off x="8858707" y="-1429207"/>
            <a:ext cx="4762195" cy="476219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sp>
        <p:nvSpPr>
          <p:cNvPr id="5" name="Shape 1"/>
          <p:cNvSpPr/>
          <p:nvPr/>
        </p:nvSpPr>
        <p:spPr>
          <a:xfrm>
            <a:off x="-952805" y="3047695"/>
            <a:ext cx="5715000" cy="5715000"/>
          </a:xfrm>
          <a:prstGeom prst="ellipse">
            <a:avLst/>
          </a:prstGeom>
          <a:solidFill>
            <a:srgbClr val="D62839">
              <a:alpha val="3000"/>
            </a:srgbClr>
          </a:solidFill>
          <a:ln w="12700">
            <a:solidFill>
              <a:srgbClr val="FFFFFF">
                <a:alpha val="0"/>
              </a:srgbClr>
            </a:solidFill>
            <a:prstDash val="solid"/>
          </a:ln>
        </p:spPr>
        <p:txBody>
          <a:bodyPr/>
          <a:lstStyle/>
          <a:p>
            <a:endParaRPr lang="en-US"/>
          </a:p>
        </p:txBody>
      </p:sp>
      <p:pic>
        <p:nvPicPr>
          <p:cNvPr id="6" name="Image 2" descr="gen-dedup-dbb8812bbf9685dd99bfa1af8113e7f1.png"/>
          <p:cNvPicPr>
            <a:picLocks noChangeAspect="1"/>
          </p:cNvPicPr>
          <p:nvPr/>
        </p:nvPicPr>
        <p:blipFill>
          <a:blip r:embed="rId5"/>
          <a:srcRect l="-400" r="-400"/>
          <a:stretch/>
        </p:blipFill>
        <p:spPr>
          <a:xfrm>
            <a:off x="3262782" y="2049323"/>
            <a:ext cx="38405" cy="571500"/>
          </a:xfrm>
          <a:prstGeom prst="rect">
            <a:avLst/>
          </a:prstGeom>
        </p:spPr>
      </p:pic>
      <p:sp>
        <p:nvSpPr>
          <p:cNvPr id="7" name="Text 2"/>
          <p:cNvSpPr txBox="1"/>
          <p:nvPr/>
        </p:nvSpPr>
        <p:spPr>
          <a:xfrm>
            <a:off x="1333195" y="2011375"/>
            <a:ext cx="9525305" cy="800100"/>
          </a:xfrm>
          <a:prstGeom prst="rect">
            <a:avLst/>
          </a:prstGeom>
          <a:noFill/>
          <a:ln/>
        </p:spPr>
        <p:txBody>
          <a:bodyPr wrap="none" lIns="0" tIns="0" rIns="0" bIns="0" rtlCol="0" anchor="ctr"/>
          <a:lstStyle/>
          <a:p>
            <a:pPr marL="0" indent="0" algn="ctr">
              <a:buNone/>
            </a:pPr>
            <a:r>
              <a:rPr lang="en-US" sz="6300" b="1" kern="0" spc="315" dirty="0">
                <a:solidFill>
                  <a:srgbClr val="111827"/>
                </a:solidFill>
                <a:latin typeface="Oswald" pitchFamily="34" charset="0"/>
                <a:ea typeface="Oswald" pitchFamily="34" charset="-122"/>
                <a:cs typeface="Oswald" pitchFamily="34" charset="-120"/>
              </a:rPr>
              <a:t>CASE STUDIES</a:t>
            </a:r>
            <a:endParaRPr lang="en-US" sz="6300" dirty="0"/>
          </a:p>
        </p:txBody>
      </p:sp>
      <p:sp>
        <p:nvSpPr>
          <p:cNvPr id="8" name="Text 3"/>
          <p:cNvSpPr txBox="1"/>
          <p:nvPr/>
        </p:nvSpPr>
        <p:spPr>
          <a:xfrm>
            <a:off x="1333195" y="3002585"/>
            <a:ext cx="9525305" cy="286207"/>
          </a:xfrm>
          <a:prstGeom prst="rect">
            <a:avLst/>
          </a:prstGeom>
          <a:noFill/>
          <a:ln/>
        </p:spPr>
        <p:txBody>
          <a:bodyPr wrap="none" lIns="0" tIns="0" rIns="0" bIns="0" rtlCol="0" anchor="ctr"/>
          <a:lstStyle/>
          <a:p>
            <a:pPr marL="0" indent="0" algn="ctr">
              <a:buNone/>
            </a:pPr>
            <a:r>
              <a:rPr lang="en-US" sz="1900" b="1" kern="0" spc="156" dirty="0">
                <a:solidFill>
                  <a:srgbClr val="2A9D8F"/>
                </a:solidFill>
                <a:latin typeface="Roboto Condensed" pitchFamily="34" charset="0"/>
                <a:ea typeface="Roboto Condensed" pitchFamily="34" charset="-122"/>
                <a:cs typeface="Roboto Condensed" pitchFamily="34" charset="-120"/>
              </a:rPr>
              <a:t>Real problems. Real clients. Measurable outcomes.</a:t>
            </a:r>
            <a:endParaRPr lang="en-US" sz="1900" dirty="0"/>
          </a:p>
        </p:txBody>
      </p:sp>
      <p:pic>
        <p:nvPicPr>
          <p:cNvPr id="9" name="Image 3" descr="gen-dedup-de680169e7c3927b717e44a8a690f2a5.png"/>
          <p:cNvPicPr>
            <a:picLocks noChangeAspect="1"/>
          </p:cNvPicPr>
          <p:nvPr/>
        </p:nvPicPr>
        <p:blipFill>
          <a:blip r:embed="rId6"/>
          <a:srcRect t="-400" b="-400"/>
          <a:stretch/>
        </p:blipFill>
        <p:spPr>
          <a:xfrm>
            <a:off x="5810098" y="3574085"/>
            <a:ext cx="571500" cy="19202"/>
          </a:xfrm>
          <a:prstGeom prst="rect">
            <a:avLst/>
          </a:prstGeom>
        </p:spPr>
      </p:pic>
      <p:sp>
        <p:nvSpPr>
          <p:cNvPr id="10" name="Text 4"/>
          <p:cNvSpPr txBox="1"/>
          <p:nvPr/>
        </p:nvSpPr>
        <p:spPr>
          <a:xfrm>
            <a:off x="1333195" y="3878580"/>
            <a:ext cx="9525305" cy="228600"/>
          </a:xfrm>
          <a:prstGeom prst="rect">
            <a:avLst/>
          </a:prstGeom>
          <a:noFill/>
          <a:ln/>
        </p:spPr>
        <p:txBody>
          <a:bodyPr wrap="none" lIns="0" tIns="0" rIns="0" bIns="0" rtlCol="0" anchor="ctr"/>
          <a:lstStyle/>
          <a:p>
            <a:pPr marL="0" indent="0" algn="ctr">
              <a:buNone/>
            </a:pPr>
            <a:r>
              <a:rPr lang="en-US" sz="1500" i="1" dirty="0">
                <a:solidFill>
                  <a:srgbClr val="475569"/>
                </a:solidFill>
                <a:latin typeface="Raleway" pitchFamily="34" charset="0"/>
                <a:ea typeface="Raleway" pitchFamily="34" charset="-122"/>
                <a:cs typeface="Raleway" pitchFamily="34" charset="-120"/>
              </a:rPr>
              <a:t>"Every engagement below moved a metric that mattered — not just a milestone."</a:t>
            </a:r>
            <a:endParaRPr lang="en-US" sz="1500" dirty="0"/>
          </a:p>
        </p:txBody>
      </p:sp>
      <p:sp>
        <p:nvSpPr>
          <p:cNvPr id="11" name="Shape 5"/>
          <p:cNvSpPr/>
          <p:nvPr/>
        </p:nvSpPr>
        <p:spPr>
          <a:xfrm>
            <a:off x="609905" y="6096305"/>
            <a:ext cx="10972800" cy="9144"/>
          </a:xfrm>
          <a:prstGeom prst="rect">
            <a:avLst/>
          </a:prstGeom>
          <a:solidFill>
            <a:srgbClr val="E2E8F0"/>
          </a:solidFill>
          <a:ln w="12700">
            <a:solidFill>
              <a:srgbClr val="E2E8F0">
                <a:alpha val="0"/>
              </a:srgbClr>
            </a:solidFill>
            <a:prstDash val="solid"/>
          </a:ln>
        </p:spPr>
        <p:txBody>
          <a:bodyPr/>
          <a:lstStyle/>
          <a:p>
            <a:endParaRPr lang="en-US"/>
          </a:p>
        </p:txBody>
      </p:sp>
      <p:sp>
        <p:nvSpPr>
          <p:cNvPr id="12" name="Text 6"/>
          <p:cNvSpPr txBox="1"/>
          <p:nvPr/>
        </p:nvSpPr>
        <p:spPr>
          <a:xfrm>
            <a:off x="609905" y="6295644"/>
            <a:ext cx="1292962" cy="228600"/>
          </a:xfrm>
          <a:prstGeom prst="rect">
            <a:avLst/>
          </a:prstGeom>
          <a:noFill/>
          <a:ln/>
        </p:spPr>
        <p:txBody>
          <a:bodyPr wrap="none" lIns="0" tIns="0" rIns="0" bIns="0" rtlCol="0" anchor="ctr"/>
          <a:lstStyle/>
          <a:p>
            <a:pPr marL="0" indent="0" algn="l">
              <a:buNone/>
            </a:pPr>
            <a:r>
              <a:rPr lang="en-US" sz="1200" b="1" kern="0" spc="60" dirty="0">
                <a:solidFill>
                  <a:srgbClr val="111827"/>
                </a:solidFill>
                <a:latin typeface="Oswald" pitchFamily="34" charset="0"/>
                <a:ea typeface="Oswald" pitchFamily="34" charset="-122"/>
                <a:cs typeface="Oswald" pitchFamily="34" charset="-120"/>
              </a:rPr>
              <a:t>JOULESTOWATTS</a:t>
            </a:r>
            <a:endParaRPr lang="en-US" sz="1200" dirty="0"/>
          </a:p>
        </p:txBody>
      </p:sp>
      <p:sp>
        <p:nvSpPr>
          <p:cNvPr id="13" name="Text 7"/>
          <p:cNvSpPr txBox="1"/>
          <p:nvPr/>
        </p:nvSpPr>
        <p:spPr>
          <a:xfrm>
            <a:off x="9755734" y="6334049"/>
            <a:ext cx="1975104" cy="152705"/>
          </a:xfrm>
          <a:prstGeom prst="rect">
            <a:avLst/>
          </a:prstGeom>
          <a:noFill/>
          <a:ln/>
        </p:spPr>
        <p:txBody>
          <a:bodyPr wrap="none" lIns="0" tIns="0" rIns="0" bIns="0" rtlCol="0" anchor="ctr"/>
          <a:lstStyle/>
          <a:p>
            <a:pPr marL="0" indent="0" algn="l">
              <a:buNone/>
            </a:pPr>
            <a:r>
              <a:rPr lang="en-US" sz="1000" b="1" dirty="0">
                <a:solidFill>
                  <a:srgbClr val="64748B"/>
                </a:solidFill>
                <a:latin typeface="Raleway" pitchFamily="34" charset="0"/>
                <a:ea typeface="Raleway" pitchFamily="34" charset="-122"/>
                <a:cs typeface="Raleway" pitchFamily="34" charset="-120"/>
              </a:rPr>
              <a:t>PORTFOLIO OF EXCELLENCE</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9663ecf744b06e35d4c2cebaab92a2ea.png"/>
          <p:cNvPicPr>
            <a:picLocks noChangeAspect="1"/>
          </p:cNvPicPr>
          <p:nvPr/>
        </p:nvPicPr>
        <p:blipFill>
          <a:blip r:embed="rId3"/>
          <a:srcRect l="-202" r="-202"/>
          <a:stretch/>
        </p:blipFill>
        <p:spPr>
          <a:xfrm>
            <a:off x="0" y="0"/>
            <a:ext cx="4067251" cy="75895"/>
          </a:xfrm>
          <a:prstGeom prst="rect">
            <a:avLst/>
          </a:prstGeom>
        </p:spPr>
      </p:pic>
      <p:pic>
        <p:nvPicPr>
          <p:cNvPr id="5" name="Image 1" descr="gen-dedup-323228122ff92d2332e711a84ca3b40c.png"/>
          <p:cNvPicPr>
            <a:picLocks noChangeAspect="1"/>
          </p:cNvPicPr>
          <p:nvPr/>
        </p:nvPicPr>
        <p:blipFill>
          <a:blip r:embed="rId4"/>
          <a:srcRect l="-198" r="-198"/>
          <a:stretch/>
        </p:blipFill>
        <p:spPr>
          <a:xfrm>
            <a:off x="4067251" y="0"/>
            <a:ext cx="8124444" cy="75895"/>
          </a:xfrm>
          <a:prstGeom prst="rect">
            <a:avLst/>
          </a:prstGeom>
        </p:spPr>
      </p:pic>
      <p:sp>
        <p:nvSpPr>
          <p:cNvPr id="6" name="Shape 2"/>
          <p:cNvSpPr/>
          <p:nvPr/>
        </p:nvSpPr>
        <p:spPr>
          <a:xfrm>
            <a:off x="9334195" y="-476402"/>
            <a:ext cx="3810305" cy="3810305"/>
          </a:xfrm>
          <a:prstGeom prst="ellipse">
            <a:avLst/>
          </a:prstGeom>
          <a:solidFill>
            <a:srgbClr val="2A9D8F">
              <a:alpha val="2000"/>
            </a:srgbClr>
          </a:solidFill>
          <a:ln w="12700">
            <a:solidFill>
              <a:srgbClr val="FFFFFF">
                <a:alpha val="0"/>
              </a:srgbClr>
            </a:solidFill>
            <a:prstDash val="solid"/>
          </a:ln>
        </p:spPr>
        <p:txBody>
          <a:bodyPr/>
          <a:lstStyle/>
          <a:p>
            <a:endParaRPr lang="en-US"/>
          </a:p>
        </p:txBody>
      </p:sp>
      <p:sp>
        <p:nvSpPr>
          <p:cNvPr id="7" name="Shape 3"/>
          <p:cNvSpPr/>
          <p:nvPr/>
        </p:nvSpPr>
        <p:spPr>
          <a:xfrm>
            <a:off x="-1429207" y="3047695"/>
            <a:ext cx="3333902" cy="3333902"/>
          </a:xfrm>
          <a:prstGeom prst="ellipse">
            <a:avLst/>
          </a:prstGeom>
          <a:solidFill>
            <a:srgbClr val="D62839">
              <a:alpha val="2000"/>
            </a:srgbClr>
          </a:solidFill>
          <a:ln w="12700">
            <a:solidFill>
              <a:srgbClr val="FFFFFF">
                <a:alpha val="0"/>
              </a:srgbClr>
            </a:solidFill>
            <a:prstDash val="solid"/>
          </a:ln>
        </p:spPr>
        <p:txBody>
          <a:bodyPr/>
          <a:lstStyle/>
          <a:p>
            <a:endParaRPr lang="en-US"/>
          </a:p>
        </p:txBody>
      </p:sp>
      <p:sp>
        <p:nvSpPr>
          <p:cNvPr id="8" name="Shape 4"/>
          <p:cNvSpPr/>
          <p:nvPr/>
        </p:nvSpPr>
        <p:spPr>
          <a:xfrm>
            <a:off x="647395" y="4619549"/>
            <a:ext cx="10916107" cy="1781251"/>
          </a:xfrm>
          <a:prstGeom prst="roundRect">
            <a:avLst>
              <a:gd name="adj" fmla="val 4392"/>
            </a:avLst>
          </a:prstGeom>
          <a:solidFill>
            <a:srgbClr val="F8FAFC"/>
          </a:solidFill>
          <a:ln w="12700">
            <a:solidFill>
              <a:srgbClr val="E2E8F0"/>
            </a:solidFill>
            <a:prstDash val="solid"/>
          </a:ln>
        </p:spPr>
        <p:txBody>
          <a:bodyPr/>
          <a:lstStyle/>
          <a:p>
            <a:endParaRPr lang="en-US"/>
          </a:p>
        </p:txBody>
      </p:sp>
      <p:sp>
        <p:nvSpPr>
          <p:cNvPr id="9" name="Shape 5"/>
          <p:cNvSpPr/>
          <p:nvPr/>
        </p:nvSpPr>
        <p:spPr>
          <a:xfrm>
            <a:off x="64739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0" name="Shape 6"/>
          <p:cNvSpPr/>
          <p:nvPr/>
        </p:nvSpPr>
        <p:spPr>
          <a:xfrm>
            <a:off x="647395" y="1571854"/>
            <a:ext cx="3524098" cy="38405"/>
          </a:xfrm>
          <a:prstGeom prst="roundRect">
            <a:avLst>
              <a:gd name="adj" fmla="val 96852"/>
            </a:avLst>
          </a:prstGeom>
          <a:solidFill>
            <a:srgbClr val="2A9D8F"/>
          </a:solidFill>
          <a:ln w="12700">
            <a:solidFill>
              <a:srgbClr val="2A9D8F">
                <a:alpha val="0"/>
              </a:srgbClr>
            </a:solidFill>
            <a:prstDash val="solid"/>
          </a:ln>
        </p:spPr>
        <p:txBody>
          <a:bodyPr/>
          <a:lstStyle/>
          <a:p>
            <a:endParaRPr lang="en-US"/>
          </a:p>
        </p:txBody>
      </p:sp>
      <p:sp>
        <p:nvSpPr>
          <p:cNvPr id="11" name="Shape 7"/>
          <p:cNvSpPr/>
          <p:nvPr/>
        </p:nvSpPr>
        <p:spPr>
          <a:xfrm>
            <a:off x="4343400"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2" name="Shape 8"/>
          <p:cNvSpPr/>
          <p:nvPr/>
        </p:nvSpPr>
        <p:spPr>
          <a:xfrm>
            <a:off x="4343400" y="1571854"/>
            <a:ext cx="3524098" cy="38405"/>
          </a:xfrm>
          <a:prstGeom prst="roundRect">
            <a:avLst>
              <a:gd name="adj" fmla="val 96852"/>
            </a:avLst>
          </a:prstGeom>
          <a:solidFill>
            <a:srgbClr val="D62839"/>
          </a:solidFill>
          <a:ln w="12700">
            <a:solidFill>
              <a:srgbClr val="D62839">
                <a:alpha val="0"/>
              </a:srgbClr>
            </a:solidFill>
            <a:prstDash val="solid"/>
          </a:ln>
        </p:spPr>
        <p:txBody>
          <a:bodyPr/>
          <a:lstStyle/>
          <a:p>
            <a:endParaRPr lang="en-US"/>
          </a:p>
        </p:txBody>
      </p:sp>
      <p:sp>
        <p:nvSpPr>
          <p:cNvPr id="13" name="Shape 9"/>
          <p:cNvSpPr/>
          <p:nvPr/>
        </p:nvSpPr>
        <p:spPr>
          <a:xfrm>
            <a:off x="803940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4" name="Shape 10"/>
          <p:cNvSpPr/>
          <p:nvPr/>
        </p:nvSpPr>
        <p:spPr>
          <a:xfrm>
            <a:off x="8039405" y="1571854"/>
            <a:ext cx="3524098" cy="38405"/>
          </a:xfrm>
          <a:prstGeom prst="roundRect">
            <a:avLst>
              <a:gd name="adj" fmla="val 96852"/>
            </a:avLst>
          </a:prstGeom>
          <a:solidFill>
            <a:srgbClr val="111827"/>
          </a:solidFill>
          <a:ln w="12700">
            <a:solidFill>
              <a:srgbClr val="111827">
                <a:alpha val="0"/>
              </a:srgbClr>
            </a:solidFill>
            <a:prstDash val="solid"/>
          </a:ln>
        </p:spPr>
        <p:txBody>
          <a:bodyPr/>
          <a:lstStyle/>
          <a:p>
            <a:endParaRPr lang="en-US"/>
          </a:p>
        </p:txBody>
      </p:sp>
      <p:sp>
        <p:nvSpPr>
          <p:cNvPr id="15" name="Shape 11"/>
          <p:cNvSpPr/>
          <p:nvPr/>
        </p:nvSpPr>
        <p:spPr>
          <a:xfrm>
            <a:off x="90525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6" name="Shape 12"/>
          <p:cNvSpPr/>
          <p:nvPr/>
        </p:nvSpPr>
        <p:spPr>
          <a:xfrm>
            <a:off x="3666744"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7" name="Shape 13"/>
          <p:cNvSpPr/>
          <p:nvPr/>
        </p:nvSpPr>
        <p:spPr>
          <a:xfrm>
            <a:off x="642914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8" name="Shape 14"/>
          <p:cNvSpPr/>
          <p:nvPr/>
        </p:nvSpPr>
        <p:spPr>
          <a:xfrm>
            <a:off x="9191549" y="5143500"/>
            <a:ext cx="2180844"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pic>
        <p:nvPicPr>
          <p:cNvPr id="19" name="Image 2" descr="gen-dedup-06e3d16aa0e9246458a784af17ea21a8.png"/>
          <p:cNvPicPr>
            <a:picLocks noChangeAspect="1"/>
          </p:cNvPicPr>
          <p:nvPr/>
        </p:nvPicPr>
        <p:blipFill>
          <a:blip r:embed="rId5"/>
          <a:srcRect l="-437" r="-437"/>
          <a:stretch/>
        </p:blipFill>
        <p:spPr>
          <a:xfrm>
            <a:off x="647395" y="743407"/>
            <a:ext cx="57607" cy="418795"/>
          </a:xfrm>
          <a:prstGeom prst="rect">
            <a:avLst/>
          </a:prstGeom>
        </p:spPr>
      </p:pic>
      <p:sp>
        <p:nvSpPr>
          <p:cNvPr id="20" name="Text 15"/>
          <p:cNvSpPr txBox="1"/>
          <p:nvPr/>
        </p:nvSpPr>
        <p:spPr>
          <a:xfrm>
            <a:off x="857707" y="685800"/>
            <a:ext cx="10478110" cy="419710"/>
          </a:xfrm>
          <a:prstGeom prst="rect">
            <a:avLst/>
          </a:prstGeom>
          <a:noFill/>
          <a:ln/>
        </p:spPr>
        <p:txBody>
          <a:bodyPr wrap="square" lIns="0" tIns="0" rIns="0" bIns="0" rtlCol="0" anchor="ctr"/>
          <a:lstStyle/>
          <a:p>
            <a:pPr marL="0" indent="0" algn="l">
              <a:buNone/>
            </a:pPr>
            <a:r>
              <a:rPr lang="en-US" sz="3000" b="1" dirty="0">
                <a:solidFill>
                  <a:srgbClr val="111827"/>
                </a:solidFill>
                <a:latin typeface="Oswald" pitchFamily="34" charset="0"/>
                <a:ea typeface="Oswald" pitchFamily="34" charset="-122"/>
                <a:cs typeface="Oswald" pitchFamily="34" charset="-120"/>
              </a:rPr>
              <a:t>NEXT STEPS</a:t>
            </a:r>
            <a:endParaRPr lang="en-US" sz="3000" dirty="0"/>
          </a:p>
        </p:txBody>
      </p:sp>
      <p:sp>
        <p:nvSpPr>
          <p:cNvPr id="21" name="Text 16"/>
          <p:cNvSpPr txBox="1"/>
          <p:nvPr/>
        </p:nvSpPr>
        <p:spPr>
          <a:xfrm>
            <a:off x="857707" y="1143000"/>
            <a:ext cx="10478110" cy="181051"/>
          </a:xfrm>
          <a:prstGeom prst="rect">
            <a:avLst/>
          </a:prstGeom>
          <a:noFill/>
          <a:ln/>
        </p:spPr>
        <p:txBody>
          <a:bodyPr wrap="square" lIns="0" tIns="0" rIns="0" bIns="0" rtlCol="0" anchor="ctr"/>
          <a:lstStyle/>
          <a:p>
            <a:pPr marL="0" indent="0" algn="l">
              <a:buNone/>
            </a:pPr>
            <a:r>
              <a:rPr lang="en-US" sz="1500" b="1" kern="0" spc="60" dirty="0">
                <a:solidFill>
                  <a:srgbClr val="2A9D8F"/>
                </a:solidFill>
                <a:latin typeface="Roboto Condensed" pitchFamily="34" charset="0"/>
                <a:ea typeface="Roboto Condensed" pitchFamily="34" charset="-122"/>
                <a:cs typeface="Roboto Condensed" pitchFamily="34" charset="-120"/>
              </a:rPr>
              <a:t>Flexible Engagement Models Tailored To Your Three-year Roadmap</a:t>
            </a:r>
            <a:endParaRPr lang="en-US" sz="1500" dirty="0"/>
          </a:p>
        </p:txBody>
      </p:sp>
      <p:sp>
        <p:nvSpPr>
          <p:cNvPr id="22" name="Shape 17"/>
          <p:cNvSpPr/>
          <p:nvPr/>
        </p:nvSpPr>
        <p:spPr>
          <a:xfrm>
            <a:off x="838505" y="1762049"/>
            <a:ext cx="457200" cy="457200"/>
          </a:xfrm>
          <a:prstGeom prst="roundRect">
            <a:avLst>
              <a:gd name="adj" fmla="val 66667"/>
            </a:avLst>
          </a:prstGeom>
          <a:solidFill>
            <a:srgbClr val="E6F3F1"/>
          </a:solidFill>
          <a:ln w="12700">
            <a:solidFill>
              <a:srgbClr val="FFFFFF">
                <a:alpha val="0"/>
              </a:srgbClr>
            </a:solidFill>
            <a:prstDash val="solid"/>
          </a:ln>
        </p:spPr>
        <p:txBody>
          <a:bodyPr/>
          <a:lstStyle/>
          <a:p>
            <a:endParaRPr lang="en-US"/>
          </a:p>
        </p:txBody>
      </p:sp>
      <p:pic>
        <p:nvPicPr>
          <p:cNvPr id="23" name="Image 3" descr="gen-dedup-fa5d0b435e79f3035aaec6593bf7cfb3.png"/>
          <p:cNvPicPr>
            <a:picLocks noChangeAspect="1"/>
          </p:cNvPicPr>
          <p:nvPr/>
        </p:nvPicPr>
        <p:blipFill>
          <a:blip r:embed="rId6"/>
          <a:srcRect l="-3526" r="-3526"/>
          <a:stretch/>
        </p:blipFill>
        <p:spPr>
          <a:xfrm>
            <a:off x="990295" y="1895551"/>
            <a:ext cx="152705" cy="190195"/>
          </a:xfrm>
          <a:prstGeom prst="rect">
            <a:avLst/>
          </a:prstGeom>
        </p:spPr>
      </p:pic>
      <p:sp>
        <p:nvSpPr>
          <p:cNvPr id="24" name="Text 18"/>
          <p:cNvSpPr txBox="1"/>
          <p:nvPr/>
        </p:nvSpPr>
        <p:spPr>
          <a:xfrm>
            <a:off x="1447495" y="1794967"/>
            <a:ext cx="1995221"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Discovery Workshop</a:t>
            </a:r>
            <a:endParaRPr lang="en-US" sz="1600"/>
          </a:p>
        </p:txBody>
      </p:sp>
      <p:sp>
        <p:nvSpPr>
          <p:cNvPr id="25" name="Text 19"/>
          <p:cNvSpPr txBox="1"/>
          <p:nvPr/>
        </p:nvSpPr>
        <p:spPr>
          <a:xfrm>
            <a:off x="1447495" y="2043684"/>
            <a:ext cx="1677010"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~90 Minutes</a:t>
            </a:r>
            <a:endParaRPr lang="en-US" sz="900"/>
          </a:p>
        </p:txBody>
      </p:sp>
      <p:sp>
        <p:nvSpPr>
          <p:cNvPr id="26" name="Shape 20"/>
          <p:cNvSpPr/>
          <p:nvPr/>
        </p:nvSpPr>
        <p:spPr>
          <a:xfrm>
            <a:off x="3259836" y="1762049"/>
            <a:ext cx="705002" cy="256946"/>
          </a:xfrm>
          <a:prstGeom prst="roundRect">
            <a:avLst>
              <a:gd name="adj" fmla="val 316331"/>
            </a:avLst>
          </a:prstGeom>
          <a:solidFill>
            <a:srgbClr val="E6F3F1"/>
          </a:solidFill>
          <a:ln w="12700">
            <a:solidFill>
              <a:srgbClr val="FFFFFF">
                <a:alpha val="0"/>
              </a:srgbClr>
            </a:solidFill>
            <a:prstDash val="solid"/>
          </a:ln>
        </p:spPr>
        <p:txBody>
          <a:bodyPr/>
          <a:lstStyle/>
          <a:p>
            <a:endParaRPr lang="en-US"/>
          </a:p>
        </p:txBody>
      </p:sp>
      <p:sp>
        <p:nvSpPr>
          <p:cNvPr id="27" name="Text 21"/>
          <p:cNvSpPr txBox="1"/>
          <p:nvPr/>
        </p:nvSpPr>
        <p:spPr>
          <a:xfrm>
            <a:off x="83850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28" name="Image 4" descr="gen-dedup-2910efa1624004b251a6644ba5a6ae47.png"/>
          <p:cNvPicPr>
            <a:picLocks noChangeAspect="1"/>
          </p:cNvPicPr>
          <p:nvPr/>
        </p:nvPicPr>
        <p:blipFill>
          <a:blip r:embed="rId7"/>
          <a:srcRect t="-27726" b="-27726"/>
          <a:stretch/>
        </p:blipFill>
        <p:spPr>
          <a:xfrm>
            <a:off x="838505" y="2734056"/>
            <a:ext cx="85954" cy="152705"/>
          </a:xfrm>
          <a:prstGeom prst="rect">
            <a:avLst/>
          </a:prstGeom>
        </p:spPr>
      </p:pic>
      <p:sp>
        <p:nvSpPr>
          <p:cNvPr id="29" name="Text 22"/>
          <p:cNvSpPr txBox="1"/>
          <p:nvPr/>
        </p:nvSpPr>
        <p:spPr>
          <a:xfrm>
            <a:off x="1019556" y="2695651"/>
            <a:ext cx="2732227"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Use case identification &amp; prioritization</a:t>
            </a:r>
            <a:endParaRPr lang="en-US" sz="1000"/>
          </a:p>
        </p:txBody>
      </p:sp>
      <p:pic>
        <p:nvPicPr>
          <p:cNvPr id="30" name="Image 5" descr="gen-dedup-2910efa1624004b251a6644ba5a6ae47.png"/>
          <p:cNvPicPr>
            <a:picLocks noChangeAspect="1"/>
          </p:cNvPicPr>
          <p:nvPr/>
        </p:nvPicPr>
        <p:blipFill>
          <a:blip r:embed="rId7"/>
          <a:srcRect t="-27726" b="-27726"/>
          <a:stretch/>
        </p:blipFill>
        <p:spPr>
          <a:xfrm>
            <a:off x="838505" y="3019349"/>
            <a:ext cx="85954" cy="152705"/>
          </a:xfrm>
          <a:prstGeom prst="rect">
            <a:avLst/>
          </a:prstGeom>
        </p:spPr>
      </p:pic>
      <p:sp>
        <p:nvSpPr>
          <p:cNvPr id="31" name="Text 23"/>
          <p:cNvSpPr txBox="1"/>
          <p:nvPr/>
        </p:nvSpPr>
        <p:spPr>
          <a:xfrm>
            <a:off x="1019556" y="2980944"/>
            <a:ext cx="1972361"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Value hypothesis definition</a:t>
            </a:r>
            <a:endParaRPr lang="en-US" sz="1000"/>
          </a:p>
        </p:txBody>
      </p:sp>
      <p:pic>
        <p:nvPicPr>
          <p:cNvPr id="32" name="Image 6" descr="gen-dedup-2910efa1624004b251a6644ba5a6ae47.png"/>
          <p:cNvPicPr>
            <a:picLocks noChangeAspect="1"/>
          </p:cNvPicPr>
          <p:nvPr/>
        </p:nvPicPr>
        <p:blipFill>
          <a:blip r:embed="rId7"/>
          <a:srcRect t="-27726" b="-27726"/>
          <a:stretch/>
        </p:blipFill>
        <p:spPr>
          <a:xfrm>
            <a:off x="838505" y="3305556"/>
            <a:ext cx="85954" cy="152705"/>
          </a:xfrm>
          <a:prstGeom prst="rect">
            <a:avLst/>
          </a:prstGeom>
        </p:spPr>
      </p:pic>
      <p:sp>
        <p:nvSpPr>
          <p:cNvPr id="33" name="Text 24"/>
          <p:cNvSpPr txBox="1"/>
          <p:nvPr/>
        </p:nvSpPr>
        <p:spPr>
          <a:xfrm>
            <a:off x="1019556" y="3267151"/>
            <a:ext cx="3377794"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High-level roadmap aligned to 70/30 strategy</a:t>
            </a:r>
            <a:endParaRPr lang="en-US" sz="1000"/>
          </a:p>
        </p:txBody>
      </p:sp>
      <p:sp>
        <p:nvSpPr>
          <p:cNvPr id="34" name="Text 25"/>
          <p:cNvSpPr txBox="1"/>
          <p:nvPr/>
        </p:nvSpPr>
        <p:spPr>
          <a:xfrm>
            <a:off x="3354934" y="1848002"/>
            <a:ext cx="662026" cy="124358"/>
          </a:xfrm>
          <a:prstGeom prst="rect">
            <a:avLst/>
          </a:prstGeom>
          <a:noFill/>
          <a:ln/>
        </p:spPr>
        <p:txBody>
          <a:bodyPr wrap="square" lIns="0" tIns="0" rIns="0" bIns="0" rtlCol="0" anchor="ctr"/>
          <a:lstStyle/>
          <a:p>
            <a:pPr marL="0" indent="0" algn="l">
              <a:buNone/>
            </a:pPr>
            <a:r>
              <a:rPr lang="en-US" sz="800" b="1">
                <a:solidFill>
                  <a:srgbClr val="2A9D8F"/>
                </a:solidFill>
                <a:latin typeface="Roboto Condensed" pitchFamily="34" charset="0"/>
                <a:ea typeface="Roboto Condensed" pitchFamily="34" charset="-122"/>
                <a:cs typeface="Roboto Condensed" pitchFamily="34" charset="-120"/>
              </a:rPr>
              <a:t>LOW TOUCH</a:t>
            </a:r>
            <a:endParaRPr lang="en-US" sz="800"/>
          </a:p>
        </p:txBody>
      </p:sp>
      <p:sp>
        <p:nvSpPr>
          <p:cNvPr id="35" name="Shape 26"/>
          <p:cNvSpPr/>
          <p:nvPr/>
        </p:nvSpPr>
        <p:spPr>
          <a:xfrm>
            <a:off x="4533595" y="1762049"/>
            <a:ext cx="457200" cy="457200"/>
          </a:xfrm>
          <a:prstGeom prst="roundRect">
            <a:avLst>
              <a:gd name="adj" fmla="val 66667"/>
            </a:avLst>
          </a:prstGeom>
          <a:solidFill>
            <a:srgbClr val="FBE6E8"/>
          </a:solidFill>
          <a:ln w="12700">
            <a:solidFill>
              <a:srgbClr val="FFFFFF">
                <a:alpha val="0"/>
              </a:srgbClr>
            </a:solidFill>
            <a:prstDash val="solid"/>
          </a:ln>
        </p:spPr>
        <p:txBody>
          <a:bodyPr/>
          <a:lstStyle/>
          <a:p>
            <a:endParaRPr lang="en-US"/>
          </a:p>
        </p:txBody>
      </p:sp>
      <p:pic>
        <p:nvPicPr>
          <p:cNvPr id="36" name="Image 7" descr="gen-dedup-302cf04975ca72dffec5134ed5b99fbe.png"/>
          <p:cNvPicPr>
            <a:picLocks noChangeAspect="1"/>
          </p:cNvPicPr>
          <p:nvPr/>
        </p:nvPicPr>
        <p:blipFill>
          <a:blip r:embed="rId8"/>
          <a:srcRect t="-4491" b="-4491"/>
          <a:stretch/>
        </p:blipFill>
        <p:spPr>
          <a:xfrm>
            <a:off x="4686300" y="1895551"/>
            <a:ext cx="152705" cy="190195"/>
          </a:xfrm>
          <a:prstGeom prst="rect">
            <a:avLst/>
          </a:prstGeom>
        </p:spPr>
      </p:pic>
      <p:sp>
        <p:nvSpPr>
          <p:cNvPr id="37" name="Text 27"/>
          <p:cNvSpPr txBox="1"/>
          <p:nvPr/>
        </p:nvSpPr>
        <p:spPr>
          <a:xfrm>
            <a:off x="5143500" y="1794967"/>
            <a:ext cx="1825142"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Assessment &amp; PoC</a:t>
            </a:r>
            <a:endParaRPr lang="en-US" sz="1600"/>
          </a:p>
        </p:txBody>
      </p:sp>
      <p:sp>
        <p:nvSpPr>
          <p:cNvPr id="38" name="Text 28"/>
          <p:cNvSpPr txBox="1"/>
          <p:nvPr/>
        </p:nvSpPr>
        <p:spPr>
          <a:xfrm>
            <a:off x="5143500" y="2043684"/>
            <a:ext cx="1534363"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4 Weeks</a:t>
            </a:r>
            <a:endParaRPr lang="en-US" sz="900"/>
          </a:p>
        </p:txBody>
      </p:sp>
      <p:sp>
        <p:nvSpPr>
          <p:cNvPr id="39" name="Shape 29"/>
          <p:cNvSpPr/>
          <p:nvPr/>
        </p:nvSpPr>
        <p:spPr>
          <a:xfrm>
            <a:off x="6982358" y="1762049"/>
            <a:ext cx="676656" cy="256946"/>
          </a:xfrm>
          <a:prstGeom prst="roundRect">
            <a:avLst>
              <a:gd name="adj" fmla="val 316331"/>
            </a:avLst>
          </a:prstGeom>
          <a:solidFill>
            <a:srgbClr val="FBE6E8"/>
          </a:solidFill>
          <a:ln w="12700">
            <a:solidFill>
              <a:srgbClr val="FFFFFF">
                <a:alpha val="0"/>
              </a:srgbClr>
            </a:solidFill>
            <a:prstDash val="solid"/>
          </a:ln>
        </p:spPr>
        <p:txBody>
          <a:bodyPr/>
          <a:lstStyle/>
          <a:p>
            <a:endParaRPr lang="en-US"/>
          </a:p>
        </p:txBody>
      </p:sp>
      <p:sp>
        <p:nvSpPr>
          <p:cNvPr id="40" name="Text 30"/>
          <p:cNvSpPr txBox="1"/>
          <p:nvPr/>
        </p:nvSpPr>
        <p:spPr>
          <a:xfrm>
            <a:off x="453359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41" name="Image 8" descr="gen-dedup-3f480c66afa147b2245dea2610bb3896.png"/>
          <p:cNvPicPr>
            <a:picLocks noChangeAspect="1"/>
          </p:cNvPicPr>
          <p:nvPr/>
        </p:nvPicPr>
        <p:blipFill>
          <a:blip r:embed="rId9"/>
          <a:srcRect t="-12832" b="-12832"/>
          <a:stretch/>
        </p:blipFill>
        <p:spPr>
          <a:xfrm>
            <a:off x="4533595" y="2734056"/>
            <a:ext cx="85954" cy="123444"/>
          </a:xfrm>
          <a:prstGeom prst="rect">
            <a:avLst/>
          </a:prstGeom>
        </p:spPr>
      </p:pic>
      <p:sp>
        <p:nvSpPr>
          <p:cNvPr id="42" name="Text 31"/>
          <p:cNvSpPr txBox="1"/>
          <p:nvPr/>
        </p:nvSpPr>
        <p:spPr>
          <a:xfrm>
            <a:off x="4714646" y="2695651"/>
            <a:ext cx="215432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Target state architecture design</a:t>
            </a:r>
            <a:endParaRPr lang="en-US" sz="900"/>
          </a:p>
        </p:txBody>
      </p:sp>
      <p:pic>
        <p:nvPicPr>
          <p:cNvPr id="43" name="Image 9" descr="gen-dedup-3f480c66afa147b2245dea2610bb3896.png"/>
          <p:cNvPicPr>
            <a:picLocks noChangeAspect="1"/>
          </p:cNvPicPr>
          <p:nvPr/>
        </p:nvPicPr>
        <p:blipFill>
          <a:blip r:embed="rId9"/>
          <a:srcRect t="-12832" b="-12832"/>
          <a:stretch/>
        </p:blipFill>
        <p:spPr>
          <a:xfrm>
            <a:off x="4533595" y="2971800"/>
            <a:ext cx="85954" cy="123444"/>
          </a:xfrm>
          <a:prstGeom prst="rect">
            <a:avLst/>
          </a:prstGeom>
        </p:spPr>
      </p:pic>
      <p:sp>
        <p:nvSpPr>
          <p:cNvPr id="44" name="Text 32"/>
          <p:cNvSpPr txBox="1"/>
          <p:nvPr/>
        </p:nvSpPr>
        <p:spPr>
          <a:xfrm>
            <a:off x="4714646" y="2933395"/>
            <a:ext cx="250545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Working pilot / MVP implementation</a:t>
            </a:r>
            <a:endParaRPr lang="en-US" sz="900"/>
          </a:p>
        </p:txBody>
      </p:sp>
      <p:pic>
        <p:nvPicPr>
          <p:cNvPr id="45" name="Image 10" descr="gen-dedup-3f480c66afa147b2245dea2610bb3896.png"/>
          <p:cNvPicPr>
            <a:picLocks noChangeAspect="1"/>
          </p:cNvPicPr>
          <p:nvPr/>
        </p:nvPicPr>
        <p:blipFill>
          <a:blip r:embed="rId9"/>
          <a:srcRect t="-12832" b="-12832"/>
          <a:stretch/>
        </p:blipFill>
        <p:spPr>
          <a:xfrm>
            <a:off x="4533595" y="3209544"/>
            <a:ext cx="85954" cy="123444"/>
          </a:xfrm>
          <a:prstGeom prst="rect">
            <a:avLst/>
          </a:prstGeom>
        </p:spPr>
      </p:pic>
      <p:sp>
        <p:nvSpPr>
          <p:cNvPr id="46" name="Text 33"/>
          <p:cNvSpPr txBox="1"/>
          <p:nvPr/>
        </p:nvSpPr>
        <p:spPr>
          <a:xfrm>
            <a:off x="4714646" y="3172054"/>
            <a:ext cx="2278685"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Detailed ROI model &amp; rollout plan</a:t>
            </a:r>
            <a:endParaRPr lang="en-US" sz="900"/>
          </a:p>
        </p:txBody>
      </p:sp>
      <p:pic>
        <p:nvPicPr>
          <p:cNvPr id="47" name="Image 11" descr="gen-dedup-3f480c66afa147b2245dea2610bb3896.png"/>
          <p:cNvPicPr>
            <a:picLocks noChangeAspect="1"/>
          </p:cNvPicPr>
          <p:nvPr/>
        </p:nvPicPr>
        <p:blipFill>
          <a:blip r:embed="rId9"/>
          <a:srcRect t="-12832" b="-12832"/>
          <a:stretch/>
        </p:blipFill>
        <p:spPr>
          <a:xfrm>
            <a:off x="4533595" y="3448202"/>
            <a:ext cx="85954" cy="123444"/>
          </a:xfrm>
          <a:prstGeom prst="rect">
            <a:avLst/>
          </a:prstGeom>
        </p:spPr>
      </p:pic>
      <p:sp>
        <p:nvSpPr>
          <p:cNvPr id="48" name="Text 34"/>
          <p:cNvSpPr txBox="1"/>
          <p:nvPr/>
        </p:nvSpPr>
        <p:spPr>
          <a:xfrm>
            <a:off x="4714646" y="3409798"/>
            <a:ext cx="210860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Vendor integration assessment</a:t>
            </a:r>
            <a:endParaRPr lang="en-US" sz="900"/>
          </a:p>
        </p:txBody>
      </p:sp>
      <p:sp>
        <p:nvSpPr>
          <p:cNvPr id="49" name="Text 35"/>
          <p:cNvSpPr txBox="1"/>
          <p:nvPr/>
        </p:nvSpPr>
        <p:spPr>
          <a:xfrm>
            <a:off x="7077456" y="1848002"/>
            <a:ext cx="658368" cy="124358"/>
          </a:xfrm>
          <a:prstGeom prst="rect">
            <a:avLst/>
          </a:prstGeom>
          <a:noFill/>
          <a:ln/>
        </p:spPr>
        <p:txBody>
          <a:bodyPr wrap="square" lIns="0" tIns="0" rIns="0" bIns="0" rtlCol="0" anchor="ctr"/>
          <a:lstStyle/>
          <a:p>
            <a:pPr marL="0" indent="0" algn="l">
              <a:buNone/>
            </a:pPr>
            <a:r>
              <a:rPr lang="en-US" sz="800" b="1">
                <a:solidFill>
                  <a:srgbClr val="D62839"/>
                </a:solidFill>
                <a:latin typeface="Roboto Condensed" pitchFamily="34" charset="0"/>
                <a:ea typeface="Roboto Condensed" pitchFamily="34" charset="-122"/>
                <a:cs typeface="Roboto Condensed" pitchFamily="34" charset="-120"/>
              </a:rPr>
              <a:t>STRATEGIC</a:t>
            </a:r>
            <a:endParaRPr lang="en-US" sz="800"/>
          </a:p>
        </p:txBody>
      </p:sp>
      <p:sp>
        <p:nvSpPr>
          <p:cNvPr id="50" name="Shape 36"/>
          <p:cNvSpPr/>
          <p:nvPr/>
        </p:nvSpPr>
        <p:spPr>
          <a:xfrm>
            <a:off x="8229600" y="1762049"/>
            <a:ext cx="457200" cy="457200"/>
          </a:xfrm>
          <a:prstGeom prst="roundRect">
            <a:avLst>
              <a:gd name="adj" fmla="val 66667"/>
            </a:avLst>
          </a:prstGeom>
          <a:solidFill>
            <a:srgbClr val="F1F5F9"/>
          </a:solidFill>
          <a:ln w="12700">
            <a:solidFill>
              <a:srgbClr val="FFFFFF">
                <a:alpha val="0"/>
              </a:srgbClr>
            </a:solidFill>
            <a:prstDash val="solid"/>
          </a:ln>
        </p:spPr>
        <p:txBody>
          <a:bodyPr/>
          <a:lstStyle/>
          <a:p>
            <a:endParaRPr lang="en-US"/>
          </a:p>
        </p:txBody>
      </p:sp>
      <p:pic>
        <p:nvPicPr>
          <p:cNvPr id="51" name="Image 12" descr="gen-dedup-e104b6e838315a11dc2d3bf260faf00b.png"/>
          <p:cNvPicPr>
            <a:picLocks noChangeAspect="1"/>
          </p:cNvPicPr>
          <p:nvPr/>
        </p:nvPicPr>
        <p:blipFill>
          <a:blip r:embed="rId10"/>
          <a:srcRect t="-27844" b="-27844"/>
          <a:stretch/>
        </p:blipFill>
        <p:spPr>
          <a:xfrm>
            <a:off x="8382305" y="1895551"/>
            <a:ext cx="152705" cy="190195"/>
          </a:xfrm>
          <a:prstGeom prst="rect">
            <a:avLst/>
          </a:prstGeom>
        </p:spPr>
      </p:pic>
      <p:sp>
        <p:nvSpPr>
          <p:cNvPr id="52" name="Text 37"/>
          <p:cNvSpPr txBox="1"/>
          <p:nvPr/>
        </p:nvSpPr>
        <p:spPr>
          <a:xfrm>
            <a:off x="8839505" y="1794967"/>
            <a:ext cx="1938528"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Build &amp; Run Models</a:t>
            </a:r>
            <a:endParaRPr lang="en-US" sz="1600"/>
          </a:p>
        </p:txBody>
      </p:sp>
      <p:sp>
        <p:nvSpPr>
          <p:cNvPr id="53" name="Text 38"/>
          <p:cNvSpPr txBox="1"/>
          <p:nvPr/>
        </p:nvSpPr>
        <p:spPr>
          <a:xfrm>
            <a:off x="8839505" y="2043684"/>
            <a:ext cx="1629461"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Multi-Year</a:t>
            </a:r>
            <a:endParaRPr lang="en-US" sz="900"/>
          </a:p>
        </p:txBody>
      </p:sp>
      <p:sp>
        <p:nvSpPr>
          <p:cNvPr id="54" name="Shape 39"/>
          <p:cNvSpPr/>
          <p:nvPr/>
        </p:nvSpPr>
        <p:spPr>
          <a:xfrm>
            <a:off x="10555834" y="1762049"/>
            <a:ext cx="800100" cy="256946"/>
          </a:xfrm>
          <a:prstGeom prst="roundRect">
            <a:avLst>
              <a:gd name="adj" fmla="val 316331"/>
            </a:avLst>
          </a:prstGeom>
          <a:solidFill>
            <a:srgbClr val="F1F5F9"/>
          </a:solidFill>
          <a:ln w="12700">
            <a:solidFill>
              <a:srgbClr val="FFFFFF">
                <a:alpha val="0"/>
              </a:srgbClr>
            </a:solidFill>
            <a:prstDash val="solid"/>
          </a:ln>
        </p:spPr>
        <p:txBody>
          <a:bodyPr/>
          <a:lstStyle/>
          <a:p>
            <a:endParaRPr lang="en-US"/>
          </a:p>
        </p:txBody>
      </p:sp>
      <p:sp>
        <p:nvSpPr>
          <p:cNvPr id="55" name="Text 40"/>
          <p:cNvSpPr txBox="1"/>
          <p:nvPr/>
        </p:nvSpPr>
        <p:spPr>
          <a:xfrm>
            <a:off x="8229600"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COMMERCIAL MODELS</a:t>
            </a:r>
            <a:endParaRPr lang="en-US" sz="900"/>
          </a:p>
        </p:txBody>
      </p:sp>
      <p:pic>
        <p:nvPicPr>
          <p:cNvPr id="56" name="Image 13" descr="gen-dedup-06c19e2f143b52e69c4653630769d291.png"/>
          <p:cNvPicPr>
            <a:picLocks noChangeAspect="1"/>
          </p:cNvPicPr>
          <p:nvPr/>
        </p:nvPicPr>
        <p:blipFill>
          <a:blip r:embed="rId11"/>
          <a:srcRect t="-27726" b="-27726"/>
          <a:stretch/>
        </p:blipFill>
        <p:spPr>
          <a:xfrm>
            <a:off x="8229600" y="2734056"/>
            <a:ext cx="85954" cy="152705"/>
          </a:xfrm>
          <a:prstGeom prst="rect">
            <a:avLst/>
          </a:prstGeom>
        </p:spPr>
      </p:pic>
      <p:sp>
        <p:nvSpPr>
          <p:cNvPr id="57" name="Text 41"/>
          <p:cNvSpPr txBox="1"/>
          <p:nvPr/>
        </p:nvSpPr>
        <p:spPr>
          <a:xfrm>
            <a:off x="8410651" y="2695651"/>
            <a:ext cx="2879446"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Fixed Scope:</a:t>
            </a:r>
            <a:r>
              <a:rPr lang="en-US" sz="1000">
                <a:solidFill>
                  <a:srgbClr val="475569"/>
                </a:solidFill>
                <a:latin typeface="Raleway" pitchFamily="34" charset="0"/>
                <a:ea typeface="Raleway" pitchFamily="34" charset="-122"/>
                <a:cs typeface="Raleway" pitchFamily="34" charset="-120"/>
              </a:rPr>
              <a:t> For defined project builds</a:t>
            </a:r>
            <a:endParaRPr lang="en-US" sz="1000"/>
          </a:p>
        </p:txBody>
      </p:sp>
      <p:pic>
        <p:nvPicPr>
          <p:cNvPr id="58" name="Image 14" descr="gen-dedup-06c19e2f143b52e69c4653630769d291.png"/>
          <p:cNvPicPr>
            <a:picLocks noChangeAspect="1"/>
          </p:cNvPicPr>
          <p:nvPr/>
        </p:nvPicPr>
        <p:blipFill>
          <a:blip r:embed="rId11"/>
          <a:srcRect t="-27726" b="-27726"/>
          <a:stretch/>
        </p:blipFill>
        <p:spPr>
          <a:xfrm>
            <a:off x="8229600" y="3038551"/>
            <a:ext cx="85954" cy="152705"/>
          </a:xfrm>
          <a:prstGeom prst="rect">
            <a:avLst/>
          </a:prstGeom>
        </p:spPr>
      </p:pic>
      <p:sp>
        <p:nvSpPr>
          <p:cNvPr id="59" name="Text 42"/>
          <p:cNvSpPr txBox="1"/>
          <p:nvPr/>
        </p:nvSpPr>
        <p:spPr>
          <a:xfrm>
            <a:off x="8410651" y="3000146"/>
            <a:ext cx="3038551"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Managed Service:</a:t>
            </a:r>
            <a:r>
              <a:rPr lang="en-US" sz="1000">
                <a:solidFill>
                  <a:srgbClr val="475569"/>
                </a:solidFill>
                <a:latin typeface="Raleway" pitchFamily="34" charset="0"/>
                <a:ea typeface="Raleway" pitchFamily="34" charset="-122"/>
                <a:cs typeface="Raleway" pitchFamily="34" charset="-120"/>
              </a:rPr>
              <a:t> SLA-driven operations</a:t>
            </a:r>
            <a:endParaRPr lang="en-US" sz="1000"/>
          </a:p>
        </p:txBody>
      </p:sp>
      <p:pic>
        <p:nvPicPr>
          <p:cNvPr id="60" name="Image 15" descr="gen-dedup-3678629b4a5ad6139a7cc5dcf1ee97ee.png"/>
          <p:cNvPicPr>
            <a:picLocks noChangeAspect="1"/>
          </p:cNvPicPr>
          <p:nvPr/>
        </p:nvPicPr>
        <p:blipFill>
          <a:blip r:embed="rId12"/>
          <a:srcRect t="-119879" b="-119879"/>
          <a:stretch/>
        </p:blipFill>
        <p:spPr>
          <a:xfrm>
            <a:off x="8229600" y="3343046"/>
            <a:ext cx="85954" cy="333756"/>
          </a:xfrm>
          <a:prstGeom prst="rect">
            <a:avLst/>
          </a:prstGeom>
        </p:spPr>
      </p:pic>
      <p:sp>
        <p:nvSpPr>
          <p:cNvPr id="61" name="Text 43"/>
          <p:cNvSpPr txBox="1"/>
          <p:nvPr/>
        </p:nvSpPr>
        <p:spPr>
          <a:xfrm>
            <a:off x="8410651" y="3305556"/>
            <a:ext cx="2943454" cy="381305"/>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Outcome-Based:</a:t>
            </a:r>
            <a:r>
              <a:rPr lang="en-US" sz="1000">
                <a:solidFill>
                  <a:srgbClr val="475569"/>
                </a:solidFill>
                <a:latin typeface="Raleway" pitchFamily="34" charset="0"/>
                <a:ea typeface="Raleway" pitchFamily="34" charset="-122"/>
                <a:cs typeface="Raleway" pitchFamily="34" charset="-120"/>
              </a:rPr>
              <a:t> Gain-share pricing tied to value</a:t>
            </a:r>
            <a:endParaRPr lang="en-US" sz="1000"/>
          </a:p>
        </p:txBody>
      </p:sp>
      <p:sp>
        <p:nvSpPr>
          <p:cNvPr id="62" name="Text 44"/>
          <p:cNvSpPr txBox="1"/>
          <p:nvPr/>
        </p:nvSpPr>
        <p:spPr>
          <a:xfrm>
            <a:off x="10650931" y="1848002"/>
            <a:ext cx="806501" cy="124358"/>
          </a:xfrm>
          <a:prstGeom prst="rect">
            <a:avLst/>
          </a:prstGeom>
          <a:noFill/>
          <a:ln/>
        </p:spPr>
        <p:txBody>
          <a:bodyPr wrap="square" lIns="0" tIns="0" rIns="0" bIns="0" rtlCol="0" anchor="ctr"/>
          <a:lstStyle/>
          <a:p>
            <a:pPr marL="0" indent="0" algn="l">
              <a:buNone/>
            </a:pPr>
            <a:r>
              <a:rPr lang="en-US" sz="800" b="1">
                <a:solidFill>
                  <a:srgbClr val="334155"/>
                </a:solidFill>
                <a:latin typeface="Roboto Condensed" pitchFamily="34" charset="0"/>
                <a:ea typeface="Roboto Condensed" pitchFamily="34" charset="-122"/>
                <a:cs typeface="Roboto Condensed" pitchFamily="34" charset="-120"/>
              </a:rPr>
              <a:t>PARTNERSHIP</a:t>
            </a:r>
            <a:endParaRPr lang="en-US" sz="800"/>
          </a:p>
        </p:txBody>
      </p:sp>
      <p:pic>
        <p:nvPicPr>
          <p:cNvPr id="63" name="Image 16" descr="gen-dedup-a2699a036d9634824b4953ceddf6835e.png"/>
          <p:cNvPicPr>
            <a:picLocks noChangeAspect="1"/>
          </p:cNvPicPr>
          <p:nvPr/>
        </p:nvPicPr>
        <p:blipFill>
          <a:blip r:embed="rId13"/>
          <a:srcRect t="-16800" b="-16800"/>
          <a:stretch/>
        </p:blipFill>
        <p:spPr>
          <a:xfrm>
            <a:off x="905256" y="4809744"/>
            <a:ext cx="114300" cy="152705"/>
          </a:xfrm>
          <a:prstGeom prst="rect">
            <a:avLst/>
          </a:prstGeom>
        </p:spPr>
      </p:pic>
      <p:sp>
        <p:nvSpPr>
          <p:cNvPr id="64" name="Text 45"/>
          <p:cNvSpPr txBox="1"/>
          <p:nvPr/>
        </p:nvSpPr>
        <p:spPr>
          <a:xfrm>
            <a:off x="1114654" y="4762195"/>
            <a:ext cx="3151937" cy="247802"/>
          </a:xfrm>
          <a:prstGeom prst="rect">
            <a:avLst/>
          </a:prstGeom>
          <a:noFill/>
          <a:ln/>
        </p:spPr>
        <p:txBody>
          <a:bodyPr wrap="square" lIns="0" tIns="0" rIns="0" bIns="0" rtlCol="0" anchor="ctr"/>
          <a:lstStyle/>
          <a:p>
            <a:pPr marL="0" indent="0" algn="l">
              <a:buNone/>
            </a:pPr>
            <a:r>
              <a:rPr lang="en-US" sz="1300" b="1" kern="0" spc="27">
                <a:solidFill>
                  <a:srgbClr val="1E293B"/>
                </a:solidFill>
                <a:latin typeface="Oswald" pitchFamily="34" charset="0"/>
                <a:ea typeface="Oswald" pitchFamily="34" charset="-122"/>
                <a:cs typeface="Oswald" pitchFamily="34" charset="-120"/>
              </a:rPr>
              <a:t>SAMPLE IMPLEMENTATION ROADMAP</a:t>
            </a:r>
            <a:endParaRPr lang="en-US" sz="1300"/>
          </a:p>
        </p:txBody>
      </p:sp>
      <p:sp>
        <p:nvSpPr>
          <p:cNvPr id="65" name="Text 46"/>
          <p:cNvSpPr txBox="1"/>
          <p:nvPr/>
        </p:nvSpPr>
        <p:spPr>
          <a:xfrm>
            <a:off x="1047902" y="5315407"/>
            <a:ext cx="719633" cy="133502"/>
          </a:xfrm>
          <a:prstGeom prst="rect">
            <a:avLst/>
          </a:prstGeom>
          <a:noFill/>
          <a:ln/>
        </p:spPr>
        <p:txBody>
          <a:bodyPr wrap="square" lIns="0" tIns="0" rIns="0" bIns="0" rtlCol="0" anchor="ctr"/>
          <a:lstStyle/>
          <a:p>
            <a:pPr marL="0" indent="0" algn="l">
              <a:buNone/>
            </a:pPr>
            <a:r>
              <a:rPr lang="en-US" sz="900" b="1">
                <a:solidFill>
                  <a:srgbClr val="2A9D8F"/>
                </a:solidFill>
                <a:latin typeface="Roboto Condensed" pitchFamily="34" charset="0"/>
                <a:ea typeface="Roboto Condensed" pitchFamily="34" charset="-122"/>
                <a:cs typeface="Roboto Condensed" pitchFamily="34" charset="-120"/>
              </a:rPr>
              <a:t>DISCOVERY</a:t>
            </a:r>
            <a:endParaRPr lang="en-US" sz="900"/>
          </a:p>
        </p:txBody>
      </p:sp>
      <p:sp>
        <p:nvSpPr>
          <p:cNvPr id="66" name="Text 47"/>
          <p:cNvSpPr txBox="1"/>
          <p:nvPr/>
        </p:nvSpPr>
        <p:spPr>
          <a:xfrm>
            <a:off x="3063240" y="5238598"/>
            <a:ext cx="18196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Q1</a:t>
            </a:r>
            <a:endParaRPr lang="en-US" sz="1200"/>
          </a:p>
        </p:txBody>
      </p:sp>
      <p:sp>
        <p:nvSpPr>
          <p:cNvPr id="67" name="Text 48"/>
          <p:cNvSpPr txBox="1"/>
          <p:nvPr/>
        </p:nvSpPr>
        <p:spPr>
          <a:xfrm>
            <a:off x="1047902"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Assess readiness, define scope, select initial use cases</a:t>
            </a:r>
            <a:endParaRPr lang="en-US" sz="900"/>
          </a:p>
        </p:txBody>
      </p:sp>
      <p:sp>
        <p:nvSpPr>
          <p:cNvPr id="68" name="Shape 49"/>
          <p:cNvSpPr/>
          <p:nvPr/>
        </p:nvSpPr>
        <p:spPr>
          <a:xfrm>
            <a:off x="1047902" y="6117336"/>
            <a:ext cx="562356" cy="9144"/>
          </a:xfrm>
          <a:prstGeom prst="rect">
            <a:avLst/>
          </a:prstGeom>
          <a:solidFill>
            <a:srgbClr val="E6F3F1"/>
          </a:solidFill>
          <a:ln w="12700">
            <a:solidFill>
              <a:srgbClr val="E6F3F1">
                <a:alpha val="0"/>
              </a:srgbClr>
            </a:solidFill>
            <a:prstDash val="solid"/>
          </a:ln>
        </p:spPr>
        <p:txBody>
          <a:bodyPr/>
          <a:lstStyle/>
          <a:p>
            <a:endParaRPr lang="en-US"/>
          </a:p>
        </p:txBody>
      </p:sp>
      <p:sp>
        <p:nvSpPr>
          <p:cNvPr id="69" name="Text 50"/>
          <p:cNvSpPr txBox="1"/>
          <p:nvPr/>
        </p:nvSpPr>
        <p:spPr>
          <a:xfrm>
            <a:off x="1104595" y="5964631"/>
            <a:ext cx="716890" cy="124358"/>
          </a:xfrm>
          <a:prstGeom prst="rect">
            <a:avLst/>
          </a:prstGeom>
          <a:noFill/>
          <a:ln/>
        </p:spPr>
        <p:txBody>
          <a:bodyPr wrap="square" lIns="0" tIns="0" rIns="0" bIns="0" rtlCol="0" anchor="ctr"/>
          <a:lstStyle/>
          <a:p>
            <a:pPr marL="0" indent="0" algn="l">
              <a:buNone/>
            </a:pPr>
            <a:r>
              <a:rPr lang="en-US" sz="800" b="1">
                <a:solidFill>
                  <a:srgbClr val="2A9D8F"/>
                </a:solidFill>
                <a:latin typeface="Raleway" pitchFamily="34" charset="0"/>
                <a:ea typeface="Raleway" pitchFamily="34" charset="-122"/>
                <a:cs typeface="Raleway" pitchFamily="34" charset="-120"/>
              </a:rPr>
              <a:t>Initiation</a:t>
            </a:r>
            <a:endParaRPr lang="en-US" sz="800"/>
          </a:p>
        </p:txBody>
      </p:sp>
      <p:pic>
        <p:nvPicPr>
          <p:cNvPr id="70" name="Image 17" descr="gen-dedup-6bab9f986820d248c4d42c53288c0e5d.png"/>
          <p:cNvPicPr>
            <a:picLocks noChangeAspect="1"/>
          </p:cNvPicPr>
          <p:nvPr/>
        </p:nvPicPr>
        <p:blipFill>
          <a:blip r:embed="rId14"/>
          <a:srcRect t="-5544" b="-5544"/>
          <a:stretch/>
        </p:blipFill>
        <p:spPr>
          <a:xfrm>
            <a:off x="3452774" y="5627218"/>
            <a:ext cx="105156" cy="133502"/>
          </a:xfrm>
          <a:prstGeom prst="rect">
            <a:avLst/>
          </a:prstGeom>
        </p:spPr>
      </p:pic>
      <p:sp>
        <p:nvSpPr>
          <p:cNvPr id="71" name="Text 51"/>
          <p:cNvSpPr txBox="1"/>
          <p:nvPr/>
        </p:nvSpPr>
        <p:spPr>
          <a:xfrm>
            <a:off x="3810305" y="5315407"/>
            <a:ext cx="864108" cy="133502"/>
          </a:xfrm>
          <a:prstGeom prst="rect">
            <a:avLst/>
          </a:prstGeom>
          <a:noFill/>
          <a:ln/>
        </p:spPr>
        <p:txBody>
          <a:bodyPr wrap="square" lIns="0" tIns="0" rIns="0" bIns="0" rtlCol="0" anchor="ctr"/>
          <a:lstStyle/>
          <a:p>
            <a:pPr marL="0" indent="0" algn="l">
              <a:buNone/>
            </a:pPr>
            <a:r>
              <a:rPr lang="en-US" sz="900" b="1">
                <a:solidFill>
                  <a:srgbClr val="D62839"/>
                </a:solidFill>
                <a:latin typeface="Roboto Condensed" pitchFamily="34" charset="0"/>
                <a:ea typeface="Roboto Condensed" pitchFamily="34" charset="-122"/>
                <a:cs typeface="Roboto Condensed" pitchFamily="34" charset="-120"/>
              </a:rPr>
              <a:t>PILOT / POC</a:t>
            </a:r>
            <a:endParaRPr lang="en-US" sz="900"/>
          </a:p>
        </p:txBody>
      </p:sp>
      <p:sp>
        <p:nvSpPr>
          <p:cNvPr id="72" name="Text 52"/>
          <p:cNvSpPr txBox="1"/>
          <p:nvPr/>
        </p:nvSpPr>
        <p:spPr>
          <a:xfrm>
            <a:off x="5807354"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Q2</a:t>
            </a:r>
            <a:endParaRPr lang="en-US" sz="1200"/>
          </a:p>
        </p:txBody>
      </p:sp>
      <p:sp>
        <p:nvSpPr>
          <p:cNvPr id="73" name="Text 53"/>
          <p:cNvSpPr txBox="1"/>
          <p:nvPr/>
        </p:nvSpPr>
        <p:spPr>
          <a:xfrm>
            <a:off x="3810305"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MVP build, user testing, architecture validation</a:t>
            </a:r>
            <a:endParaRPr lang="en-US" sz="900"/>
          </a:p>
        </p:txBody>
      </p:sp>
      <p:sp>
        <p:nvSpPr>
          <p:cNvPr id="74" name="Shape 54"/>
          <p:cNvSpPr/>
          <p:nvPr/>
        </p:nvSpPr>
        <p:spPr>
          <a:xfrm>
            <a:off x="3810305" y="5897880"/>
            <a:ext cx="629107" cy="219456"/>
          </a:xfrm>
          <a:prstGeom prst="roundRect">
            <a:avLst>
              <a:gd name="adj" fmla="val 144928"/>
            </a:avLst>
          </a:prstGeom>
          <a:solidFill>
            <a:srgbClr val="FEF2F2"/>
          </a:solidFill>
          <a:ln w="12700">
            <a:solidFill>
              <a:srgbClr val="FFFFFF">
                <a:alpha val="0"/>
              </a:srgbClr>
            </a:solidFill>
            <a:prstDash val="solid"/>
          </a:ln>
        </p:spPr>
        <p:txBody>
          <a:bodyPr/>
          <a:lstStyle/>
          <a:p>
            <a:endParaRPr lang="en-US"/>
          </a:p>
        </p:txBody>
      </p:sp>
      <p:sp>
        <p:nvSpPr>
          <p:cNvPr id="75" name="Text 55"/>
          <p:cNvSpPr txBox="1"/>
          <p:nvPr/>
        </p:nvSpPr>
        <p:spPr>
          <a:xfrm>
            <a:off x="3866998" y="5964631"/>
            <a:ext cx="726948" cy="124358"/>
          </a:xfrm>
          <a:prstGeom prst="rect">
            <a:avLst/>
          </a:prstGeom>
          <a:noFill/>
          <a:ln/>
        </p:spPr>
        <p:txBody>
          <a:bodyPr wrap="square" lIns="0" tIns="0" rIns="0" bIns="0" rtlCol="0" anchor="ctr"/>
          <a:lstStyle/>
          <a:p>
            <a:pPr marL="0" indent="0" algn="l">
              <a:buNone/>
            </a:pPr>
            <a:r>
              <a:rPr lang="en-US" sz="800" b="1">
                <a:solidFill>
                  <a:srgbClr val="D62839"/>
                </a:solidFill>
                <a:latin typeface="Raleway" pitchFamily="34" charset="0"/>
                <a:ea typeface="Raleway" pitchFamily="34" charset="-122"/>
                <a:cs typeface="Raleway" pitchFamily="34" charset="-120"/>
              </a:rPr>
              <a:t>Validation</a:t>
            </a:r>
            <a:endParaRPr lang="en-US" sz="800"/>
          </a:p>
        </p:txBody>
      </p:sp>
      <p:pic>
        <p:nvPicPr>
          <p:cNvPr id="76" name="Image 18" descr="gen-dedup-6bab9f986820d248c4d42c53288c0e5d.png"/>
          <p:cNvPicPr>
            <a:picLocks noChangeAspect="1"/>
          </p:cNvPicPr>
          <p:nvPr/>
        </p:nvPicPr>
        <p:blipFill>
          <a:blip r:embed="rId14"/>
          <a:srcRect t="-5544" b="-5544"/>
          <a:stretch/>
        </p:blipFill>
        <p:spPr>
          <a:xfrm>
            <a:off x="6215177" y="5627218"/>
            <a:ext cx="105156" cy="133502"/>
          </a:xfrm>
          <a:prstGeom prst="rect">
            <a:avLst/>
          </a:prstGeom>
        </p:spPr>
      </p:pic>
      <p:sp>
        <p:nvSpPr>
          <p:cNvPr id="77" name="Text 56"/>
          <p:cNvSpPr txBox="1"/>
          <p:nvPr/>
        </p:nvSpPr>
        <p:spPr>
          <a:xfrm>
            <a:off x="6572707" y="5315407"/>
            <a:ext cx="402336"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SCALE</a:t>
            </a:r>
            <a:endParaRPr lang="en-US" sz="900"/>
          </a:p>
        </p:txBody>
      </p:sp>
      <p:sp>
        <p:nvSpPr>
          <p:cNvPr id="78" name="Text 57"/>
          <p:cNvSpPr txBox="1"/>
          <p:nvPr/>
        </p:nvSpPr>
        <p:spPr>
          <a:xfrm>
            <a:off x="8569757"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Q3</a:t>
            </a:r>
            <a:endParaRPr lang="en-US" sz="1200"/>
          </a:p>
        </p:txBody>
      </p:sp>
      <p:sp>
        <p:nvSpPr>
          <p:cNvPr id="79" name="Text 58"/>
          <p:cNvSpPr txBox="1"/>
          <p:nvPr/>
        </p:nvSpPr>
        <p:spPr>
          <a:xfrm>
            <a:off x="6572707"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Production deployment, integration, vendor onboarding</a:t>
            </a:r>
            <a:endParaRPr lang="en-US" sz="900"/>
          </a:p>
        </p:txBody>
      </p:sp>
      <p:sp>
        <p:nvSpPr>
          <p:cNvPr id="80" name="Shape 59"/>
          <p:cNvSpPr/>
          <p:nvPr/>
        </p:nvSpPr>
        <p:spPr>
          <a:xfrm>
            <a:off x="6572707" y="5897880"/>
            <a:ext cx="619049" cy="219456"/>
          </a:xfrm>
          <a:prstGeom prst="roundRect">
            <a:avLst>
              <a:gd name="adj" fmla="val 144928"/>
            </a:avLst>
          </a:prstGeom>
          <a:solidFill>
            <a:srgbClr val="F1F5F9"/>
          </a:solidFill>
          <a:ln w="12700">
            <a:solidFill>
              <a:srgbClr val="FFFFFF">
                <a:alpha val="0"/>
              </a:srgbClr>
            </a:solidFill>
            <a:prstDash val="solid"/>
          </a:ln>
        </p:spPr>
        <p:txBody>
          <a:bodyPr/>
          <a:lstStyle/>
          <a:p>
            <a:endParaRPr lang="en-US"/>
          </a:p>
        </p:txBody>
      </p:sp>
      <p:sp>
        <p:nvSpPr>
          <p:cNvPr id="81" name="Text 60"/>
          <p:cNvSpPr txBox="1"/>
          <p:nvPr/>
        </p:nvSpPr>
        <p:spPr>
          <a:xfrm>
            <a:off x="6629400" y="5964631"/>
            <a:ext cx="661111" cy="124358"/>
          </a:xfrm>
          <a:prstGeom prst="rect">
            <a:avLst/>
          </a:prstGeom>
          <a:noFill/>
          <a:ln/>
        </p:spPr>
        <p:txBody>
          <a:bodyPr wrap="square" lIns="0" tIns="0" rIns="0" bIns="0" rtlCol="0" anchor="ctr"/>
          <a:lstStyle/>
          <a:p>
            <a:pPr marL="0" indent="0" algn="l">
              <a:buNone/>
            </a:pPr>
            <a:r>
              <a:rPr lang="en-US" sz="800" b="1">
                <a:solidFill>
                  <a:srgbClr val="475569"/>
                </a:solidFill>
                <a:latin typeface="Raleway" pitchFamily="34" charset="0"/>
                <a:ea typeface="Raleway" pitchFamily="34" charset="-122"/>
                <a:cs typeface="Raleway" pitchFamily="34" charset="-120"/>
              </a:rPr>
              <a:t>Execution</a:t>
            </a:r>
            <a:endParaRPr lang="en-US" sz="800"/>
          </a:p>
        </p:txBody>
      </p:sp>
      <p:pic>
        <p:nvPicPr>
          <p:cNvPr id="82" name="Image 19" descr="gen-dedup-6bab9f986820d248c4d42c53288c0e5d.png"/>
          <p:cNvPicPr>
            <a:picLocks noChangeAspect="1"/>
          </p:cNvPicPr>
          <p:nvPr/>
        </p:nvPicPr>
        <p:blipFill>
          <a:blip r:embed="rId14"/>
          <a:srcRect t="-5544" b="-5544"/>
          <a:stretch/>
        </p:blipFill>
        <p:spPr>
          <a:xfrm>
            <a:off x="8977579" y="5627218"/>
            <a:ext cx="105156" cy="133502"/>
          </a:xfrm>
          <a:prstGeom prst="rect">
            <a:avLst/>
          </a:prstGeom>
        </p:spPr>
      </p:pic>
      <p:sp>
        <p:nvSpPr>
          <p:cNvPr id="83" name="Text 61"/>
          <p:cNvSpPr txBox="1"/>
          <p:nvPr/>
        </p:nvSpPr>
        <p:spPr>
          <a:xfrm>
            <a:off x="9334195" y="5315407"/>
            <a:ext cx="637337"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OPTIMIZE</a:t>
            </a:r>
            <a:endParaRPr lang="en-US" sz="900"/>
          </a:p>
        </p:txBody>
      </p:sp>
      <p:sp>
        <p:nvSpPr>
          <p:cNvPr id="84" name="Text 62"/>
          <p:cNvSpPr txBox="1"/>
          <p:nvPr/>
        </p:nvSpPr>
        <p:spPr>
          <a:xfrm>
            <a:off x="11044123"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Q4</a:t>
            </a:r>
            <a:endParaRPr lang="en-US" sz="1200"/>
          </a:p>
        </p:txBody>
      </p:sp>
      <p:sp>
        <p:nvSpPr>
          <p:cNvPr id="85" name="Text 63"/>
          <p:cNvSpPr txBox="1"/>
          <p:nvPr/>
        </p:nvSpPr>
        <p:spPr>
          <a:xfrm>
            <a:off x="9334195" y="5505602"/>
            <a:ext cx="1877263"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Run ops, process tuning, continuous improvement</a:t>
            </a:r>
            <a:endParaRPr lang="en-US" sz="900"/>
          </a:p>
        </p:txBody>
      </p:sp>
      <p:sp>
        <p:nvSpPr>
          <p:cNvPr id="86" name="Text 64"/>
          <p:cNvSpPr txBox="1"/>
          <p:nvPr/>
        </p:nvSpPr>
        <p:spPr>
          <a:xfrm>
            <a:off x="9391802" y="5964631"/>
            <a:ext cx="737006" cy="124358"/>
          </a:xfrm>
          <a:prstGeom prst="rect">
            <a:avLst/>
          </a:prstGeom>
          <a:noFill/>
          <a:ln/>
        </p:spPr>
        <p:txBody>
          <a:bodyPr wrap="square" lIns="0" tIns="0" rIns="0" bIns="0" rtlCol="0" anchor="ctr"/>
          <a:lstStyle/>
          <a:p>
            <a:pPr marL="0" indent="0" algn="l">
              <a:buNone/>
            </a:pPr>
            <a:r>
              <a:rPr lang="en-US" sz="800" b="1">
                <a:solidFill>
                  <a:srgbClr val="64748B"/>
                </a:solidFill>
                <a:latin typeface="Raleway" pitchFamily="34" charset="0"/>
                <a:ea typeface="Raleway" pitchFamily="34" charset="-122"/>
                <a:cs typeface="Raleway" pitchFamily="34" charset="-120"/>
              </a:rPr>
              <a:t>Refinement</a:t>
            </a:r>
            <a:endParaRPr lang="en-US" sz="800"/>
          </a:p>
        </p:txBody>
      </p:sp>
    </p:spTree>
    <p:extLst>
      <p:ext uri="{BB962C8B-B14F-4D97-AF65-F5344CB8AC3E}">
        <p14:creationId xmlns:p14="http://schemas.microsoft.com/office/powerpoint/2010/main" val="1153050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858707" y="4000500"/>
            <a:ext cx="3810305" cy="3810305"/>
          </a:xfrm>
          <a:prstGeom prst="ellipse">
            <a:avLst/>
          </a:prstGeom>
          <a:noFill/>
          <a:ln w="508000">
            <a:solidFill>
              <a:srgbClr val="D62839">
                <a:alpha val="3000"/>
              </a:srgbClr>
            </a:solidFill>
            <a:prstDash val="solid"/>
          </a:ln>
        </p:spPr>
        <p:txBody>
          <a:bodyPr/>
          <a:lstStyle/>
          <a:p>
            <a:endParaRPr lang="en-US"/>
          </a:p>
        </p:txBody>
      </p:sp>
      <p:pic>
        <p:nvPicPr>
          <p:cNvPr id="5" name="Image 0" descr="preencoded.png"/>
          <p:cNvPicPr>
            <a:picLocks noChangeAspect="1"/>
          </p:cNvPicPr>
          <p:nvPr/>
        </p:nvPicPr>
        <p:blipFill>
          <a:blip r:embed="rId3"/>
          <a:srcRect l="-360" r="-360"/>
          <a:stretch/>
        </p:blipFill>
        <p:spPr>
          <a:xfrm>
            <a:off x="609905" y="523951"/>
            <a:ext cx="57607" cy="381305"/>
          </a:xfrm>
          <a:prstGeom prst="rect">
            <a:avLst/>
          </a:prstGeom>
        </p:spPr>
      </p:pic>
      <p:sp>
        <p:nvSpPr>
          <p:cNvPr id="6" name="Text 3"/>
          <p:cNvSpPr txBox="1"/>
          <p:nvPr/>
        </p:nvSpPr>
        <p:spPr>
          <a:xfrm>
            <a:off x="819302" y="381305"/>
            <a:ext cx="4362602" cy="381305"/>
          </a:xfrm>
          <a:prstGeom prst="rect">
            <a:avLst/>
          </a:prstGeom>
          <a:noFill/>
          <a:ln/>
        </p:spPr>
        <p:txBody>
          <a:bodyPr wrap="square" lIns="0" tIns="0" rIns="0" bIns="0" rtlCol="0" anchor="ctr"/>
          <a:lstStyle/>
          <a:p>
            <a:pPr marL="0" indent="0" algn="l">
              <a:buNone/>
            </a:pPr>
            <a:r>
              <a:rPr lang="en-US" sz="2700" b="1" kern="0" spc="-67">
                <a:solidFill>
                  <a:srgbClr val="111827"/>
                </a:solidFill>
                <a:latin typeface="Oswald" pitchFamily="34" charset="0"/>
                <a:ea typeface="Oswald" pitchFamily="34" charset="-122"/>
                <a:cs typeface="Oswald" pitchFamily="34" charset="-120"/>
              </a:rPr>
              <a:t>How We Move Forward</a:t>
            </a:r>
            <a:endParaRPr lang="en-US" sz="2700"/>
          </a:p>
        </p:txBody>
      </p:sp>
      <p:sp>
        <p:nvSpPr>
          <p:cNvPr id="7" name="Text 4"/>
          <p:cNvSpPr txBox="1"/>
          <p:nvPr/>
        </p:nvSpPr>
        <p:spPr>
          <a:xfrm>
            <a:off x="819302" y="780898"/>
            <a:ext cx="4858207" cy="267005"/>
          </a:xfrm>
          <a:prstGeom prst="rect">
            <a:avLst/>
          </a:prstGeom>
          <a:noFill/>
          <a:ln/>
        </p:spPr>
        <p:txBody>
          <a:bodyPr wrap="square" lIns="0" tIns="0" rIns="0" bIns="0" rtlCol="0" anchor="ctr"/>
          <a:lstStyle/>
          <a:p>
            <a:pPr marL="0" indent="0" algn="l">
              <a:buNone/>
            </a:pPr>
            <a:r>
              <a:rPr lang="en-US" sz="1500" b="1" kern="0" spc="68" dirty="0">
                <a:solidFill>
                  <a:srgbClr val="2A9D8F"/>
                </a:solidFill>
                <a:latin typeface="Roboto Condensed" pitchFamily="34" charset="0"/>
                <a:ea typeface="Roboto Condensed" pitchFamily="34" charset="-122"/>
                <a:cs typeface="Roboto Condensed" pitchFamily="34" charset="-120"/>
              </a:rPr>
              <a:t>From Conversation To Capability In Four Steps</a:t>
            </a:r>
            <a:endParaRPr lang="en-US" sz="1500" dirty="0"/>
          </a:p>
        </p:txBody>
      </p:sp>
      <p:pic>
        <p:nvPicPr>
          <p:cNvPr id="8" name="Image 1" descr="preencoded.png"/>
          <p:cNvPicPr>
            <a:picLocks noChangeAspect="1"/>
          </p:cNvPicPr>
          <p:nvPr/>
        </p:nvPicPr>
        <p:blipFill>
          <a:blip r:embed="rId4"/>
          <a:srcRect l="-2111" r="-2111"/>
          <a:stretch/>
        </p:blipFill>
        <p:spPr>
          <a:xfrm>
            <a:off x="2175358" y="4538167"/>
            <a:ext cx="609905" cy="9144"/>
          </a:xfrm>
          <a:prstGeom prst="rect">
            <a:avLst/>
          </a:prstGeom>
        </p:spPr>
      </p:pic>
      <p:sp>
        <p:nvSpPr>
          <p:cNvPr id="9" name="Text 5"/>
          <p:cNvSpPr txBox="1"/>
          <p:nvPr/>
        </p:nvSpPr>
        <p:spPr>
          <a:xfrm>
            <a:off x="2556662" y="4390949"/>
            <a:ext cx="7086600" cy="305410"/>
          </a:xfrm>
          <a:prstGeom prst="rect">
            <a:avLst/>
          </a:prstGeom>
          <a:noFill/>
          <a:ln/>
        </p:spPr>
        <p:txBody>
          <a:bodyPr wrap="square" lIns="0" tIns="0" rIns="0" bIns="0" rtlCol="0" anchor="ctr"/>
          <a:lstStyle/>
          <a:p>
            <a:pPr marL="0" indent="0" algn="ctr">
              <a:buNone/>
            </a:pPr>
            <a:r>
              <a:rPr lang="en-US" sz="1800" b="1" kern="0" spc="45">
                <a:solidFill>
                  <a:srgbClr val="2A9D8F"/>
                </a:solidFill>
                <a:latin typeface="Oswald" pitchFamily="34" charset="0"/>
                <a:ea typeface="Oswald" pitchFamily="34" charset="-122"/>
                <a:cs typeface="Oswald" pitchFamily="34" charset="-120"/>
              </a:rPr>
              <a:t>This Partnership Allows Your GCC to Compound Over Time</a:t>
            </a:r>
            <a:endParaRPr lang="en-US" sz="1800"/>
          </a:p>
        </p:txBody>
      </p:sp>
      <p:pic>
        <p:nvPicPr>
          <p:cNvPr id="10" name="Image 2" descr="preencoded.png"/>
          <p:cNvPicPr>
            <a:picLocks noChangeAspect="1"/>
          </p:cNvPicPr>
          <p:nvPr/>
        </p:nvPicPr>
        <p:blipFill>
          <a:blip r:embed="rId4"/>
          <a:srcRect l="-2111" r="-2111"/>
          <a:stretch/>
        </p:blipFill>
        <p:spPr>
          <a:xfrm>
            <a:off x="9407347" y="4538167"/>
            <a:ext cx="609905" cy="9144"/>
          </a:xfrm>
          <a:prstGeom prst="rect">
            <a:avLst/>
          </a:prstGeom>
        </p:spPr>
      </p:pic>
      <p:sp>
        <p:nvSpPr>
          <p:cNvPr id="11" name="Shape 6"/>
          <p:cNvSpPr/>
          <p:nvPr/>
        </p:nvSpPr>
        <p:spPr>
          <a:xfrm>
            <a:off x="457200" y="1238098"/>
            <a:ext cx="2648102" cy="2743200"/>
          </a:xfrm>
          <a:prstGeom prst="roundRect">
            <a:avLst>
              <a:gd name="adj" fmla="val 2981"/>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7"/>
          <p:cNvSpPr/>
          <p:nvPr/>
        </p:nvSpPr>
        <p:spPr>
          <a:xfrm>
            <a:off x="457200" y="1238098"/>
            <a:ext cx="2648102" cy="57607"/>
          </a:xfrm>
          <a:prstGeom prst="roundRect">
            <a:avLst>
              <a:gd name="adj" fmla="val 137034"/>
            </a:avLst>
          </a:prstGeom>
          <a:solidFill>
            <a:srgbClr val="2A9D8F"/>
          </a:solidFill>
          <a:ln w="12700">
            <a:solidFill>
              <a:srgbClr val="2A9D8F">
                <a:alpha val="0"/>
              </a:srgbClr>
            </a:solidFill>
            <a:prstDash val="solid"/>
          </a:ln>
        </p:spPr>
        <p:txBody>
          <a:bodyPr/>
          <a:lstStyle/>
          <a:p>
            <a:endParaRPr lang="en-US"/>
          </a:p>
        </p:txBody>
      </p:sp>
      <p:sp>
        <p:nvSpPr>
          <p:cNvPr id="13" name="Text 8"/>
          <p:cNvSpPr txBox="1"/>
          <p:nvPr/>
        </p:nvSpPr>
        <p:spPr>
          <a:xfrm>
            <a:off x="2591410" y="1333195"/>
            <a:ext cx="601675" cy="457200"/>
          </a:xfrm>
          <a:prstGeom prst="rect">
            <a:avLst/>
          </a:prstGeom>
          <a:noFill/>
          <a:ln/>
        </p:spPr>
        <p:txBody>
          <a:bodyPr wrap="square" lIns="0" tIns="0" rIns="0" bIns="0" rtlCol="0" anchor="ctr"/>
          <a:lstStyle/>
          <a:p>
            <a:pPr marL="0" indent="0" algn="l">
              <a:buNone/>
            </a:pPr>
            <a:r>
              <a:rPr lang="en-US" sz="3600" b="1">
                <a:solidFill>
                  <a:srgbClr val="2A9D8F">
                    <a:alpha val="8000"/>
                  </a:srgbClr>
                </a:solidFill>
                <a:latin typeface="Oswald" pitchFamily="34" charset="0"/>
                <a:ea typeface="Oswald" pitchFamily="34" charset="-122"/>
                <a:cs typeface="Oswald" pitchFamily="34" charset="-120"/>
              </a:rPr>
              <a:t>01</a:t>
            </a:r>
            <a:endParaRPr lang="en-US" sz="3600"/>
          </a:p>
        </p:txBody>
      </p:sp>
      <p:sp>
        <p:nvSpPr>
          <p:cNvPr id="14" name="Shape 9"/>
          <p:cNvSpPr/>
          <p:nvPr/>
        </p:nvSpPr>
        <p:spPr>
          <a:xfrm>
            <a:off x="3333902" y="1238098"/>
            <a:ext cx="2648102" cy="2743200"/>
          </a:xfrm>
          <a:prstGeom prst="roundRect">
            <a:avLst>
              <a:gd name="adj" fmla="val 2981"/>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5" name="Shape 10"/>
          <p:cNvSpPr/>
          <p:nvPr/>
        </p:nvSpPr>
        <p:spPr>
          <a:xfrm>
            <a:off x="3333902" y="1238098"/>
            <a:ext cx="2648102" cy="57607"/>
          </a:xfrm>
          <a:prstGeom prst="roundRect">
            <a:avLst>
              <a:gd name="adj" fmla="val 137034"/>
            </a:avLst>
          </a:prstGeom>
          <a:solidFill>
            <a:srgbClr val="D62839"/>
          </a:solidFill>
          <a:ln w="12700">
            <a:solidFill>
              <a:srgbClr val="D62839">
                <a:alpha val="0"/>
              </a:srgbClr>
            </a:solidFill>
            <a:prstDash val="solid"/>
          </a:ln>
        </p:spPr>
        <p:txBody>
          <a:bodyPr/>
          <a:lstStyle/>
          <a:p>
            <a:endParaRPr lang="en-US"/>
          </a:p>
        </p:txBody>
      </p:sp>
      <p:sp>
        <p:nvSpPr>
          <p:cNvPr id="16" name="Text 11"/>
          <p:cNvSpPr txBox="1"/>
          <p:nvPr/>
        </p:nvSpPr>
        <p:spPr>
          <a:xfrm>
            <a:off x="5409590" y="1333195"/>
            <a:ext cx="607162" cy="457200"/>
          </a:xfrm>
          <a:prstGeom prst="rect">
            <a:avLst/>
          </a:prstGeom>
          <a:noFill/>
          <a:ln/>
        </p:spPr>
        <p:txBody>
          <a:bodyPr wrap="square" lIns="0" tIns="0" rIns="0" bIns="0" rtlCol="0" anchor="ctr"/>
          <a:lstStyle/>
          <a:p>
            <a:pPr marL="0" indent="0" algn="l">
              <a:buNone/>
            </a:pPr>
            <a:r>
              <a:rPr lang="en-US" sz="3600" b="1">
                <a:solidFill>
                  <a:srgbClr val="D62839">
                    <a:alpha val="8000"/>
                  </a:srgbClr>
                </a:solidFill>
                <a:latin typeface="Oswald" pitchFamily="34" charset="0"/>
                <a:ea typeface="Oswald" pitchFamily="34" charset="-122"/>
                <a:cs typeface="Oswald" pitchFamily="34" charset="-120"/>
              </a:rPr>
              <a:t>02</a:t>
            </a:r>
            <a:endParaRPr lang="en-US" sz="3600"/>
          </a:p>
        </p:txBody>
      </p:sp>
      <p:sp>
        <p:nvSpPr>
          <p:cNvPr id="17" name="Shape 12"/>
          <p:cNvSpPr/>
          <p:nvPr/>
        </p:nvSpPr>
        <p:spPr>
          <a:xfrm>
            <a:off x="6210605" y="1238098"/>
            <a:ext cx="2648102" cy="2743200"/>
          </a:xfrm>
          <a:prstGeom prst="roundRect">
            <a:avLst>
              <a:gd name="adj" fmla="val 2981"/>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8" name="Shape 13"/>
          <p:cNvSpPr/>
          <p:nvPr/>
        </p:nvSpPr>
        <p:spPr>
          <a:xfrm>
            <a:off x="6210605" y="1238098"/>
            <a:ext cx="2648102" cy="57607"/>
          </a:xfrm>
          <a:prstGeom prst="roundRect">
            <a:avLst>
              <a:gd name="adj" fmla="val 137034"/>
            </a:avLst>
          </a:prstGeom>
          <a:solidFill>
            <a:srgbClr val="2A9D8F"/>
          </a:solidFill>
          <a:ln w="12700">
            <a:solidFill>
              <a:srgbClr val="2A9D8F">
                <a:alpha val="0"/>
              </a:srgbClr>
            </a:solidFill>
            <a:prstDash val="solid"/>
          </a:ln>
        </p:spPr>
        <p:txBody>
          <a:bodyPr/>
          <a:lstStyle/>
          <a:p>
            <a:endParaRPr lang="en-US"/>
          </a:p>
        </p:txBody>
      </p:sp>
      <p:sp>
        <p:nvSpPr>
          <p:cNvPr id="19" name="Text 14"/>
          <p:cNvSpPr txBox="1"/>
          <p:nvPr/>
        </p:nvSpPr>
        <p:spPr>
          <a:xfrm>
            <a:off x="8286293" y="1333195"/>
            <a:ext cx="607162" cy="457200"/>
          </a:xfrm>
          <a:prstGeom prst="rect">
            <a:avLst/>
          </a:prstGeom>
          <a:noFill/>
          <a:ln/>
        </p:spPr>
        <p:txBody>
          <a:bodyPr wrap="square" lIns="0" tIns="0" rIns="0" bIns="0" rtlCol="0" anchor="ctr"/>
          <a:lstStyle/>
          <a:p>
            <a:pPr marL="0" indent="0" algn="l">
              <a:buNone/>
            </a:pPr>
            <a:r>
              <a:rPr lang="en-US" sz="3600" b="1">
                <a:solidFill>
                  <a:srgbClr val="2A9D8F">
                    <a:alpha val="8000"/>
                  </a:srgbClr>
                </a:solidFill>
                <a:latin typeface="Oswald" pitchFamily="34" charset="0"/>
                <a:ea typeface="Oswald" pitchFamily="34" charset="-122"/>
                <a:cs typeface="Oswald" pitchFamily="34" charset="-120"/>
              </a:rPr>
              <a:t>03</a:t>
            </a:r>
            <a:endParaRPr lang="en-US" sz="3600"/>
          </a:p>
        </p:txBody>
      </p:sp>
      <p:sp>
        <p:nvSpPr>
          <p:cNvPr id="20" name="Shape 15"/>
          <p:cNvSpPr/>
          <p:nvPr/>
        </p:nvSpPr>
        <p:spPr>
          <a:xfrm>
            <a:off x="9087307" y="1238098"/>
            <a:ext cx="2648102" cy="2743200"/>
          </a:xfrm>
          <a:prstGeom prst="roundRect">
            <a:avLst>
              <a:gd name="adj" fmla="val 2981"/>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21" name="Shape 16"/>
          <p:cNvSpPr/>
          <p:nvPr/>
        </p:nvSpPr>
        <p:spPr>
          <a:xfrm>
            <a:off x="9087307" y="1238098"/>
            <a:ext cx="2648102" cy="57607"/>
          </a:xfrm>
          <a:prstGeom prst="roundRect">
            <a:avLst>
              <a:gd name="adj" fmla="val 137034"/>
            </a:avLst>
          </a:prstGeom>
          <a:solidFill>
            <a:srgbClr val="D62839"/>
          </a:solidFill>
          <a:ln w="12700">
            <a:solidFill>
              <a:srgbClr val="D62839">
                <a:alpha val="0"/>
              </a:srgbClr>
            </a:solidFill>
            <a:prstDash val="solid"/>
          </a:ln>
        </p:spPr>
        <p:txBody>
          <a:bodyPr/>
          <a:lstStyle/>
          <a:p>
            <a:endParaRPr lang="en-US"/>
          </a:p>
        </p:txBody>
      </p:sp>
      <p:sp>
        <p:nvSpPr>
          <p:cNvPr id="22" name="Text 17"/>
          <p:cNvSpPr txBox="1"/>
          <p:nvPr/>
        </p:nvSpPr>
        <p:spPr>
          <a:xfrm>
            <a:off x="11157509" y="1333195"/>
            <a:ext cx="607162" cy="457200"/>
          </a:xfrm>
          <a:prstGeom prst="rect">
            <a:avLst/>
          </a:prstGeom>
          <a:noFill/>
          <a:ln/>
        </p:spPr>
        <p:txBody>
          <a:bodyPr wrap="square" lIns="0" tIns="0" rIns="0" bIns="0" rtlCol="0" anchor="ctr"/>
          <a:lstStyle/>
          <a:p>
            <a:pPr marL="0" indent="0" algn="l">
              <a:buNone/>
            </a:pPr>
            <a:r>
              <a:rPr lang="en-US" sz="3600" b="1">
                <a:solidFill>
                  <a:srgbClr val="D62839">
                    <a:alpha val="8000"/>
                  </a:srgbClr>
                </a:solidFill>
                <a:latin typeface="Oswald" pitchFamily="34" charset="0"/>
                <a:ea typeface="Oswald" pitchFamily="34" charset="-122"/>
                <a:cs typeface="Oswald" pitchFamily="34" charset="-120"/>
              </a:rPr>
              <a:t>04</a:t>
            </a:r>
            <a:endParaRPr lang="en-US" sz="3600"/>
          </a:p>
        </p:txBody>
      </p:sp>
      <p:sp>
        <p:nvSpPr>
          <p:cNvPr id="23" name="Shape 18"/>
          <p:cNvSpPr/>
          <p:nvPr/>
        </p:nvSpPr>
        <p:spPr>
          <a:xfrm>
            <a:off x="457200" y="4809744"/>
            <a:ext cx="2704795" cy="1524305"/>
          </a:xfrm>
          <a:prstGeom prst="roundRect">
            <a:avLst>
              <a:gd name="adj" fmla="val 5999"/>
            </a:avLst>
          </a:prstGeom>
          <a:solidFill>
            <a:srgbClr val="FFFFFF"/>
          </a:solidFill>
          <a:ln w="12700">
            <a:solidFill>
              <a:srgbClr val="F3F4F6"/>
            </a:solidFill>
            <a:prstDash val="solid"/>
          </a:ln>
        </p:spPr>
        <p:txBody>
          <a:bodyPr/>
          <a:lstStyle/>
          <a:p>
            <a:endParaRPr lang="en-US"/>
          </a:p>
        </p:txBody>
      </p:sp>
      <p:sp>
        <p:nvSpPr>
          <p:cNvPr id="24" name="Shape 19"/>
          <p:cNvSpPr/>
          <p:nvPr/>
        </p:nvSpPr>
        <p:spPr>
          <a:xfrm>
            <a:off x="457200" y="4809744"/>
            <a:ext cx="38405" cy="1505102"/>
          </a:xfrm>
          <a:prstGeom prst="rect">
            <a:avLst/>
          </a:prstGeom>
          <a:solidFill>
            <a:srgbClr val="2A9D8F"/>
          </a:solidFill>
          <a:ln w="12700">
            <a:solidFill>
              <a:srgbClr val="FFFFFF">
                <a:alpha val="0"/>
              </a:srgbClr>
            </a:solidFill>
            <a:prstDash val="solid"/>
          </a:ln>
        </p:spPr>
        <p:txBody>
          <a:bodyPr/>
          <a:lstStyle/>
          <a:p>
            <a:endParaRPr lang="en-US"/>
          </a:p>
        </p:txBody>
      </p:sp>
      <p:pic>
        <p:nvPicPr>
          <p:cNvPr id="25" name="Image 3" descr="preencoded.png"/>
          <p:cNvPicPr>
            <a:picLocks noChangeAspect="1"/>
          </p:cNvPicPr>
          <p:nvPr/>
        </p:nvPicPr>
        <p:blipFill>
          <a:blip r:embed="rId5"/>
          <a:srcRect l="-133" r="-133"/>
          <a:stretch/>
        </p:blipFill>
        <p:spPr>
          <a:xfrm>
            <a:off x="1723644" y="5140757"/>
            <a:ext cx="171907" cy="228600"/>
          </a:xfrm>
          <a:prstGeom prst="rect">
            <a:avLst/>
          </a:prstGeom>
        </p:spPr>
      </p:pic>
      <p:sp>
        <p:nvSpPr>
          <p:cNvPr id="26" name="Text 20"/>
          <p:cNvSpPr txBox="1"/>
          <p:nvPr/>
        </p:nvSpPr>
        <p:spPr>
          <a:xfrm>
            <a:off x="580644" y="5550408"/>
            <a:ext cx="2457907" cy="505663"/>
          </a:xfrm>
          <a:prstGeom prst="rect">
            <a:avLst/>
          </a:prstGeom>
          <a:noFill/>
          <a:ln/>
        </p:spPr>
        <p:txBody>
          <a:bodyPr wrap="square" lIns="0" tIns="0" rIns="0" bIns="0" rtlCol="0" anchor="ctr"/>
          <a:lstStyle/>
          <a:p>
            <a:pPr marL="0" indent="0" algn="ctr">
              <a:buNone/>
            </a:pPr>
            <a:r>
              <a:rPr lang="en-US" sz="1000">
                <a:solidFill>
                  <a:srgbClr val="374151"/>
                </a:solidFill>
                <a:latin typeface="Raleway" pitchFamily="34" charset="0"/>
                <a:ea typeface="Raleway" pitchFamily="34" charset="-122"/>
                <a:cs typeface="Raleway" pitchFamily="34" charset="-120"/>
              </a:rPr>
              <a:t>Institutional memory outperforms headcount growth by preserving critical knowledge and expertise</a:t>
            </a:r>
            <a:endParaRPr lang="en-US" sz="1000"/>
          </a:p>
        </p:txBody>
      </p:sp>
      <p:sp>
        <p:nvSpPr>
          <p:cNvPr id="27" name="Shape 21"/>
          <p:cNvSpPr/>
          <p:nvPr/>
        </p:nvSpPr>
        <p:spPr>
          <a:xfrm>
            <a:off x="3314700" y="4809744"/>
            <a:ext cx="2704795" cy="1524305"/>
          </a:xfrm>
          <a:prstGeom prst="roundRect">
            <a:avLst>
              <a:gd name="adj" fmla="val 5999"/>
            </a:avLst>
          </a:prstGeom>
          <a:solidFill>
            <a:srgbClr val="FFFFFF"/>
          </a:solidFill>
          <a:ln w="12700">
            <a:solidFill>
              <a:srgbClr val="F3F4F6"/>
            </a:solidFill>
            <a:prstDash val="solid"/>
          </a:ln>
        </p:spPr>
        <p:txBody>
          <a:bodyPr/>
          <a:lstStyle/>
          <a:p>
            <a:endParaRPr lang="en-US"/>
          </a:p>
        </p:txBody>
      </p:sp>
      <p:sp>
        <p:nvSpPr>
          <p:cNvPr id="28" name="Shape 22"/>
          <p:cNvSpPr/>
          <p:nvPr/>
        </p:nvSpPr>
        <p:spPr>
          <a:xfrm>
            <a:off x="3314700" y="4809744"/>
            <a:ext cx="38405" cy="1505102"/>
          </a:xfrm>
          <a:prstGeom prst="rect">
            <a:avLst/>
          </a:prstGeom>
          <a:solidFill>
            <a:srgbClr val="D62839"/>
          </a:solidFill>
          <a:ln w="12700">
            <a:solidFill>
              <a:srgbClr val="FFFFFF">
                <a:alpha val="0"/>
              </a:srgbClr>
            </a:solidFill>
            <a:prstDash val="solid"/>
          </a:ln>
        </p:spPr>
        <p:txBody>
          <a:bodyPr/>
          <a:lstStyle/>
          <a:p>
            <a:endParaRPr lang="en-US"/>
          </a:p>
        </p:txBody>
      </p:sp>
      <p:pic>
        <p:nvPicPr>
          <p:cNvPr id="29" name="Image 4" descr="preencoded.png"/>
          <p:cNvPicPr>
            <a:picLocks noChangeAspect="1"/>
          </p:cNvPicPr>
          <p:nvPr/>
        </p:nvPicPr>
        <p:blipFill>
          <a:blip r:embed="rId6"/>
          <a:srcRect/>
          <a:stretch/>
        </p:blipFill>
        <p:spPr>
          <a:xfrm>
            <a:off x="4552798" y="5140757"/>
            <a:ext cx="228600" cy="228600"/>
          </a:xfrm>
          <a:prstGeom prst="rect">
            <a:avLst/>
          </a:prstGeom>
        </p:spPr>
      </p:pic>
      <p:sp>
        <p:nvSpPr>
          <p:cNvPr id="30" name="Text 23"/>
          <p:cNvSpPr txBox="1"/>
          <p:nvPr/>
        </p:nvSpPr>
        <p:spPr>
          <a:xfrm>
            <a:off x="3438144" y="5550408"/>
            <a:ext cx="2457907" cy="505663"/>
          </a:xfrm>
          <a:prstGeom prst="rect">
            <a:avLst/>
          </a:prstGeom>
          <a:noFill/>
          <a:ln/>
        </p:spPr>
        <p:txBody>
          <a:bodyPr wrap="square" lIns="0" tIns="0" rIns="0" bIns="0" rtlCol="0" anchor="ctr"/>
          <a:lstStyle/>
          <a:p>
            <a:pPr marL="0" indent="0" algn="ctr">
              <a:buNone/>
            </a:pPr>
            <a:r>
              <a:rPr lang="en-US" sz="1000">
                <a:solidFill>
                  <a:srgbClr val="374151"/>
                </a:solidFill>
                <a:latin typeface="Raleway" pitchFamily="34" charset="0"/>
                <a:ea typeface="Raleway" pitchFamily="34" charset="-122"/>
                <a:cs typeface="Raleway" pitchFamily="34" charset="-120"/>
              </a:rPr>
              <a:t>Signals beat noise in decision-making through data governance and platform leverage</a:t>
            </a:r>
            <a:endParaRPr lang="en-US" sz="1000"/>
          </a:p>
        </p:txBody>
      </p:sp>
      <p:sp>
        <p:nvSpPr>
          <p:cNvPr id="31" name="Shape 24"/>
          <p:cNvSpPr/>
          <p:nvPr/>
        </p:nvSpPr>
        <p:spPr>
          <a:xfrm>
            <a:off x="6172200" y="4809744"/>
            <a:ext cx="2704795" cy="1524305"/>
          </a:xfrm>
          <a:prstGeom prst="roundRect">
            <a:avLst>
              <a:gd name="adj" fmla="val 5999"/>
            </a:avLst>
          </a:prstGeom>
          <a:solidFill>
            <a:srgbClr val="FFFFFF"/>
          </a:solidFill>
          <a:ln w="12700">
            <a:solidFill>
              <a:srgbClr val="F3F4F6"/>
            </a:solidFill>
            <a:prstDash val="solid"/>
          </a:ln>
        </p:spPr>
        <p:txBody>
          <a:bodyPr/>
          <a:lstStyle/>
          <a:p>
            <a:endParaRPr lang="en-US"/>
          </a:p>
        </p:txBody>
      </p:sp>
      <p:sp>
        <p:nvSpPr>
          <p:cNvPr id="32" name="Shape 25"/>
          <p:cNvSpPr/>
          <p:nvPr/>
        </p:nvSpPr>
        <p:spPr>
          <a:xfrm>
            <a:off x="6172200" y="4809744"/>
            <a:ext cx="38405" cy="1505102"/>
          </a:xfrm>
          <a:prstGeom prst="rect">
            <a:avLst/>
          </a:prstGeom>
          <a:solidFill>
            <a:srgbClr val="2A9D8F"/>
          </a:solidFill>
          <a:ln w="12700">
            <a:solidFill>
              <a:srgbClr val="FFFFFF">
                <a:alpha val="0"/>
              </a:srgbClr>
            </a:solidFill>
            <a:prstDash val="solid"/>
          </a:ln>
        </p:spPr>
        <p:txBody>
          <a:bodyPr/>
          <a:lstStyle/>
          <a:p>
            <a:endParaRPr lang="en-US"/>
          </a:p>
        </p:txBody>
      </p:sp>
      <p:pic>
        <p:nvPicPr>
          <p:cNvPr id="33" name="Image 5" descr="preencoded.png"/>
          <p:cNvPicPr>
            <a:picLocks noChangeAspect="1"/>
          </p:cNvPicPr>
          <p:nvPr/>
        </p:nvPicPr>
        <p:blipFill>
          <a:blip r:embed="rId7"/>
          <a:srcRect/>
          <a:stretch/>
        </p:blipFill>
        <p:spPr>
          <a:xfrm>
            <a:off x="7410298" y="5140757"/>
            <a:ext cx="228600" cy="228600"/>
          </a:xfrm>
          <a:prstGeom prst="rect">
            <a:avLst/>
          </a:prstGeom>
        </p:spPr>
      </p:pic>
      <p:sp>
        <p:nvSpPr>
          <p:cNvPr id="34" name="Text 26"/>
          <p:cNvSpPr txBox="1"/>
          <p:nvPr/>
        </p:nvSpPr>
        <p:spPr>
          <a:xfrm>
            <a:off x="6295644" y="5550408"/>
            <a:ext cx="2457907" cy="505663"/>
          </a:xfrm>
          <a:prstGeom prst="rect">
            <a:avLst/>
          </a:prstGeom>
          <a:noFill/>
          <a:ln/>
        </p:spPr>
        <p:txBody>
          <a:bodyPr wrap="square" lIns="0" tIns="0" rIns="0" bIns="0" rtlCol="0" anchor="ctr"/>
          <a:lstStyle/>
          <a:p>
            <a:pPr marL="0" indent="0" algn="ctr">
              <a:buNone/>
            </a:pPr>
            <a:r>
              <a:rPr lang="en-US" sz="1000">
                <a:solidFill>
                  <a:srgbClr val="374151"/>
                </a:solidFill>
                <a:latin typeface="Raleway" pitchFamily="34" charset="0"/>
                <a:ea typeface="Raleway" pitchFamily="34" charset="-122"/>
                <a:cs typeface="Raleway" pitchFamily="34" charset="-120"/>
              </a:rPr>
              <a:t>Platforms enable non-linear productivity gains beyond traditional pod-based scaling</a:t>
            </a:r>
            <a:endParaRPr lang="en-US" sz="1000"/>
          </a:p>
        </p:txBody>
      </p:sp>
      <p:sp>
        <p:nvSpPr>
          <p:cNvPr id="35" name="Shape 27"/>
          <p:cNvSpPr/>
          <p:nvPr/>
        </p:nvSpPr>
        <p:spPr>
          <a:xfrm>
            <a:off x="9029700" y="4809744"/>
            <a:ext cx="2704795" cy="1524305"/>
          </a:xfrm>
          <a:prstGeom prst="roundRect">
            <a:avLst>
              <a:gd name="adj" fmla="val 5999"/>
            </a:avLst>
          </a:prstGeom>
          <a:solidFill>
            <a:srgbClr val="FFFFFF"/>
          </a:solidFill>
          <a:ln w="12700">
            <a:solidFill>
              <a:srgbClr val="F3F4F6"/>
            </a:solidFill>
            <a:prstDash val="solid"/>
          </a:ln>
        </p:spPr>
        <p:txBody>
          <a:bodyPr/>
          <a:lstStyle/>
          <a:p>
            <a:endParaRPr lang="en-US"/>
          </a:p>
        </p:txBody>
      </p:sp>
      <p:sp>
        <p:nvSpPr>
          <p:cNvPr id="36" name="Shape 28"/>
          <p:cNvSpPr/>
          <p:nvPr/>
        </p:nvSpPr>
        <p:spPr>
          <a:xfrm>
            <a:off x="9029700" y="4809744"/>
            <a:ext cx="38405" cy="1505102"/>
          </a:xfrm>
          <a:prstGeom prst="rect">
            <a:avLst/>
          </a:prstGeom>
          <a:solidFill>
            <a:srgbClr val="D62839"/>
          </a:solidFill>
          <a:ln w="12700">
            <a:solidFill>
              <a:srgbClr val="FFFFFF">
                <a:alpha val="0"/>
              </a:srgbClr>
            </a:solidFill>
            <a:prstDash val="solid"/>
          </a:ln>
        </p:spPr>
        <p:txBody>
          <a:bodyPr/>
          <a:lstStyle/>
          <a:p>
            <a:endParaRPr lang="en-US"/>
          </a:p>
        </p:txBody>
      </p:sp>
      <p:pic>
        <p:nvPicPr>
          <p:cNvPr id="37" name="Image 6" descr="preencoded.png"/>
          <p:cNvPicPr>
            <a:picLocks noChangeAspect="1"/>
          </p:cNvPicPr>
          <p:nvPr/>
        </p:nvPicPr>
        <p:blipFill>
          <a:blip r:embed="rId8"/>
          <a:srcRect t="-45" b="-45"/>
          <a:stretch/>
        </p:blipFill>
        <p:spPr>
          <a:xfrm>
            <a:off x="10254082" y="5140757"/>
            <a:ext cx="256946" cy="228600"/>
          </a:xfrm>
          <a:prstGeom prst="rect">
            <a:avLst/>
          </a:prstGeom>
        </p:spPr>
      </p:pic>
      <p:sp>
        <p:nvSpPr>
          <p:cNvPr id="38" name="Text 29"/>
          <p:cNvSpPr txBox="1"/>
          <p:nvPr/>
        </p:nvSpPr>
        <p:spPr>
          <a:xfrm>
            <a:off x="9153144" y="5550408"/>
            <a:ext cx="2457907" cy="505663"/>
          </a:xfrm>
          <a:prstGeom prst="rect">
            <a:avLst/>
          </a:prstGeom>
          <a:noFill/>
          <a:ln/>
        </p:spPr>
        <p:txBody>
          <a:bodyPr wrap="square" lIns="0" tIns="0" rIns="0" bIns="0" rtlCol="0" anchor="ctr"/>
          <a:lstStyle/>
          <a:p>
            <a:pPr marL="0" indent="0" algn="ctr">
              <a:buNone/>
            </a:pPr>
            <a:r>
              <a:rPr lang="en-US" sz="1000">
                <a:solidFill>
                  <a:srgbClr val="374151"/>
                </a:solidFill>
                <a:latin typeface="Raleway" pitchFamily="34" charset="0"/>
                <a:ea typeface="Raleway" pitchFamily="34" charset="-122"/>
                <a:cs typeface="Raleway" pitchFamily="34" charset="-120"/>
              </a:rPr>
              <a:t>The GCC operates as a strategic asset, driving sustained value rather than being a cost centre</a:t>
            </a:r>
            <a:endParaRPr lang="en-US" sz="1000"/>
          </a:p>
        </p:txBody>
      </p:sp>
      <p:sp>
        <p:nvSpPr>
          <p:cNvPr id="39" name="Shape 30"/>
          <p:cNvSpPr/>
          <p:nvPr/>
        </p:nvSpPr>
        <p:spPr>
          <a:xfrm>
            <a:off x="1514246" y="1561795"/>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40" name="Image 7" descr="preencoded.png"/>
          <p:cNvPicPr>
            <a:picLocks noChangeAspect="1"/>
          </p:cNvPicPr>
          <p:nvPr/>
        </p:nvPicPr>
        <p:blipFill>
          <a:blip r:embed="rId9"/>
          <a:srcRect l="-133" r="-133"/>
          <a:stretch/>
        </p:blipFill>
        <p:spPr>
          <a:xfrm>
            <a:off x="1695298" y="1714500"/>
            <a:ext cx="171907" cy="228600"/>
          </a:xfrm>
          <a:prstGeom prst="rect">
            <a:avLst/>
          </a:prstGeom>
        </p:spPr>
      </p:pic>
      <p:sp>
        <p:nvSpPr>
          <p:cNvPr id="41" name="Text 31"/>
          <p:cNvSpPr txBox="1"/>
          <p:nvPr/>
        </p:nvSpPr>
        <p:spPr>
          <a:xfrm>
            <a:off x="612648" y="2247595"/>
            <a:ext cx="2338121" cy="305410"/>
          </a:xfrm>
          <a:prstGeom prst="rect">
            <a:avLst/>
          </a:prstGeom>
          <a:noFill/>
          <a:ln/>
        </p:spPr>
        <p:txBody>
          <a:bodyPr wrap="square" lIns="0" tIns="0" rIns="0" bIns="0" rtlCol="0" anchor="ctr"/>
          <a:lstStyle/>
          <a:p>
            <a:pPr marL="0" indent="0" algn="ctr">
              <a:buNone/>
            </a:pPr>
            <a:r>
              <a:rPr lang="en-US" sz="1800" b="1">
                <a:solidFill>
                  <a:srgbClr val="1F2937"/>
                </a:solidFill>
                <a:latin typeface="Oswald" pitchFamily="34" charset="0"/>
                <a:ea typeface="Oswald" pitchFamily="34" charset="-122"/>
                <a:cs typeface="Oswald" pitchFamily="34" charset="-120"/>
              </a:rPr>
              <a:t>Assess</a:t>
            </a:r>
            <a:endParaRPr lang="en-US" sz="1800"/>
          </a:p>
        </p:txBody>
      </p:sp>
      <p:sp>
        <p:nvSpPr>
          <p:cNvPr id="42" name="Text 32"/>
          <p:cNvSpPr txBox="1"/>
          <p:nvPr/>
        </p:nvSpPr>
        <p:spPr>
          <a:xfrm>
            <a:off x="619049" y="2667305"/>
            <a:ext cx="2324405" cy="1047902"/>
          </a:xfrm>
          <a:prstGeom prst="rect">
            <a:avLst/>
          </a:prstGeom>
          <a:noFill/>
          <a:ln/>
        </p:spPr>
        <p:txBody>
          <a:bodyPr wrap="square" lIns="0" tIns="0" rIns="0" bIns="0" rtlCol="0" anchor="ctr"/>
          <a:lstStyle/>
          <a:p>
            <a:pPr marL="0" indent="0" algn="ctr">
              <a:buNone/>
            </a:pPr>
            <a:r>
              <a:rPr lang="en-US" sz="1200">
                <a:solidFill>
                  <a:srgbClr val="4B5563"/>
                </a:solidFill>
                <a:latin typeface="Raleway" pitchFamily="34" charset="0"/>
                <a:ea typeface="Raleway" pitchFamily="34" charset="-122"/>
                <a:cs typeface="Raleway" pitchFamily="34" charset="-120"/>
              </a:rPr>
              <a:t>Map your current GCC capability maturity. Identify what's working, what's plateauing, and where AI-readiness gaps exist.</a:t>
            </a:r>
            <a:endParaRPr lang="en-US" sz="1200"/>
          </a:p>
        </p:txBody>
      </p:sp>
      <p:sp>
        <p:nvSpPr>
          <p:cNvPr id="43" name="Shape 33"/>
          <p:cNvSpPr/>
          <p:nvPr/>
        </p:nvSpPr>
        <p:spPr>
          <a:xfrm>
            <a:off x="4390949" y="1561795"/>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44" name="Image 8" descr="preencoded.png"/>
          <p:cNvPicPr>
            <a:picLocks noChangeAspect="1"/>
          </p:cNvPicPr>
          <p:nvPr/>
        </p:nvPicPr>
        <p:blipFill>
          <a:blip r:embed="rId10"/>
          <a:srcRect/>
          <a:stretch/>
        </p:blipFill>
        <p:spPr>
          <a:xfrm>
            <a:off x="4543654" y="1714500"/>
            <a:ext cx="228600" cy="228600"/>
          </a:xfrm>
          <a:prstGeom prst="rect">
            <a:avLst/>
          </a:prstGeom>
        </p:spPr>
      </p:pic>
      <p:sp>
        <p:nvSpPr>
          <p:cNvPr id="45" name="Text 34"/>
          <p:cNvSpPr txBox="1"/>
          <p:nvPr/>
        </p:nvSpPr>
        <p:spPr>
          <a:xfrm>
            <a:off x="3488436" y="2247595"/>
            <a:ext cx="2338121" cy="305410"/>
          </a:xfrm>
          <a:prstGeom prst="rect">
            <a:avLst/>
          </a:prstGeom>
          <a:noFill/>
          <a:ln/>
        </p:spPr>
        <p:txBody>
          <a:bodyPr wrap="square" lIns="0" tIns="0" rIns="0" bIns="0" rtlCol="0" anchor="ctr"/>
          <a:lstStyle/>
          <a:p>
            <a:pPr marL="0" indent="0" algn="ctr">
              <a:buNone/>
            </a:pPr>
            <a:r>
              <a:rPr lang="en-US" sz="1800" b="1">
                <a:solidFill>
                  <a:srgbClr val="1F2937"/>
                </a:solidFill>
                <a:latin typeface="Oswald" pitchFamily="34" charset="0"/>
                <a:ea typeface="Oswald" pitchFamily="34" charset="-122"/>
                <a:cs typeface="Oswald" pitchFamily="34" charset="-120"/>
              </a:rPr>
              <a:t>Identify</a:t>
            </a:r>
            <a:endParaRPr lang="en-US" sz="1800"/>
          </a:p>
        </p:txBody>
      </p:sp>
      <p:sp>
        <p:nvSpPr>
          <p:cNvPr id="46" name="Text 35"/>
          <p:cNvSpPr txBox="1"/>
          <p:nvPr/>
        </p:nvSpPr>
        <p:spPr>
          <a:xfrm>
            <a:off x="3495751" y="2667305"/>
            <a:ext cx="2324405" cy="1047902"/>
          </a:xfrm>
          <a:prstGeom prst="rect">
            <a:avLst/>
          </a:prstGeom>
          <a:noFill/>
          <a:ln/>
        </p:spPr>
        <p:txBody>
          <a:bodyPr wrap="square" lIns="0" tIns="0" rIns="0" bIns="0" rtlCol="0" anchor="ctr"/>
          <a:lstStyle/>
          <a:p>
            <a:pPr marL="0" indent="0" algn="ctr">
              <a:buNone/>
            </a:pPr>
            <a:r>
              <a:rPr lang="en-US" sz="1200">
                <a:solidFill>
                  <a:srgbClr val="4B5563"/>
                </a:solidFill>
                <a:latin typeface="Raleway" pitchFamily="34" charset="0"/>
                <a:ea typeface="Raleway" pitchFamily="34" charset="-122"/>
                <a:cs typeface="Raleway" pitchFamily="34" charset="-120"/>
              </a:rPr>
              <a:t>Pinpoint high-judgment domains where Human+AI pods deliver highest leverage — not everything at once, right things first.</a:t>
            </a:r>
            <a:endParaRPr lang="en-US" sz="1200"/>
          </a:p>
        </p:txBody>
      </p:sp>
      <p:sp>
        <p:nvSpPr>
          <p:cNvPr id="47" name="Shape 36"/>
          <p:cNvSpPr/>
          <p:nvPr/>
        </p:nvSpPr>
        <p:spPr>
          <a:xfrm>
            <a:off x="7267651" y="1561795"/>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48" name="Image 9" descr="preencoded.png"/>
          <p:cNvPicPr>
            <a:picLocks noChangeAspect="1"/>
          </p:cNvPicPr>
          <p:nvPr/>
        </p:nvPicPr>
        <p:blipFill>
          <a:blip r:embed="rId7"/>
          <a:srcRect/>
          <a:stretch/>
        </p:blipFill>
        <p:spPr>
          <a:xfrm>
            <a:off x="7420356" y="1714500"/>
            <a:ext cx="228600" cy="228600"/>
          </a:xfrm>
          <a:prstGeom prst="rect">
            <a:avLst/>
          </a:prstGeom>
        </p:spPr>
      </p:pic>
      <p:sp>
        <p:nvSpPr>
          <p:cNvPr id="49" name="Text 37"/>
          <p:cNvSpPr txBox="1"/>
          <p:nvPr/>
        </p:nvSpPr>
        <p:spPr>
          <a:xfrm>
            <a:off x="6365138" y="2247595"/>
            <a:ext cx="2338121" cy="305410"/>
          </a:xfrm>
          <a:prstGeom prst="rect">
            <a:avLst/>
          </a:prstGeom>
          <a:noFill/>
          <a:ln/>
        </p:spPr>
        <p:txBody>
          <a:bodyPr wrap="square" lIns="0" tIns="0" rIns="0" bIns="0" rtlCol="0" anchor="ctr"/>
          <a:lstStyle/>
          <a:p>
            <a:pPr marL="0" indent="0" algn="ctr">
              <a:buNone/>
            </a:pPr>
            <a:r>
              <a:rPr lang="en-US" sz="1800" b="1">
                <a:solidFill>
                  <a:srgbClr val="1F2937"/>
                </a:solidFill>
                <a:latin typeface="Oswald" pitchFamily="34" charset="0"/>
                <a:ea typeface="Oswald" pitchFamily="34" charset="-122"/>
                <a:cs typeface="Oswald" pitchFamily="34" charset="-120"/>
              </a:rPr>
              <a:t>Pilot</a:t>
            </a:r>
            <a:endParaRPr lang="en-US" sz="1800"/>
          </a:p>
        </p:txBody>
      </p:sp>
      <p:sp>
        <p:nvSpPr>
          <p:cNvPr id="50" name="Text 38"/>
          <p:cNvSpPr txBox="1"/>
          <p:nvPr/>
        </p:nvSpPr>
        <p:spPr>
          <a:xfrm>
            <a:off x="6372454" y="2667305"/>
            <a:ext cx="2324405" cy="1047902"/>
          </a:xfrm>
          <a:prstGeom prst="rect">
            <a:avLst/>
          </a:prstGeom>
          <a:noFill/>
          <a:ln/>
        </p:spPr>
        <p:txBody>
          <a:bodyPr wrap="square" lIns="0" tIns="0" rIns="0" bIns="0" rtlCol="0" anchor="ctr"/>
          <a:lstStyle/>
          <a:p>
            <a:pPr marL="0" indent="0" algn="ctr">
              <a:buNone/>
            </a:pPr>
            <a:r>
              <a:rPr lang="en-US" sz="1200">
                <a:solidFill>
                  <a:srgbClr val="4B5563"/>
                </a:solidFill>
                <a:latin typeface="Raleway" pitchFamily="34" charset="0"/>
                <a:ea typeface="Raleway" pitchFamily="34" charset="-122"/>
                <a:cs typeface="Raleway" pitchFamily="34" charset="-120"/>
              </a:rPr>
              <a:t>Launch a blended Human+AI pod in one business unit. Measure decision cycle time, productivity uplift, and innovation output.</a:t>
            </a:r>
            <a:endParaRPr lang="en-US" sz="1200"/>
          </a:p>
        </p:txBody>
      </p:sp>
      <p:sp>
        <p:nvSpPr>
          <p:cNvPr id="51" name="Shape 39"/>
          <p:cNvSpPr/>
          <p:nvPr/>
        </p:nvSpPr>
        <p:spPr>
          <a:xfrm>
            <a:off x="10144354" y="1561795"/>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52" name="Image 10" descr="preencoded.png"/>
          <p:cNvPicPr>
            <a:picLocks noChangeAspect="1"/>
          </p:cNvPicPr>
          <p:nvPr/>
        </p:nvPicPr>
        <p:blipFill>
          <a:blip r:embed="rId11"/>
          <a:srcRect l="-80" r="-80"/>
          <a:stretch/>
        </p:blipFill>
        <p:spPr>
          <a:xfrm>
            <a:off x="10267798" y="1714500"/>
            <a:ext cx="286207" cy="228600"/>
          </a:xfrm>
          <a:prstGeom prst="rect">
            <a:avLst/>
          </a:prstGeom>
        </p:spPr>
      </p:pic>
      <p:sp>
        <p:nvSpPr>
          <p:cNvPr id="53" name="Text 40"/>
          <p:cNvSpPr txBox="1"/>
          <p:nvPr/>
        </p:nvSpPr>
        <p:spPr>
          <a:xfrm>
            <a:off x="9241841" y="2247595"/>
            <a:ext cx="2338121" cy="305410"/>
          </a:xfrm>
          <a:prstGeom prst="rect">
            <a:avLst/>
          </a:prstGeom>
          <a:noFill/>
          <a:ln/>
        </p:spPr>
        <p:txBody>
          <a:bodyPr wrap="square" lIns="0" tIns="0" rIns="0" bIns="0" rtlCol="0" anchor="ctr"/>
          <a:lstStyle/>
          <a:p>
            <a:pPr marL="0" indent="0" algn="ctr">
              <a:buNone/>
            </a:pPr>
            <a:r>
              <a:rPr lang="en-US" sz="1800" b="1">
                <a:solidFill>
                  <a:srgbClr val="1F2937"/>
                </a:solidFill>
                <a:latin typeface="Oswald" pitchFamily="34" charset="0"/>
                <a:ea typeface="Oswald" pitchFamily="34" charset="-122"/>
                <a:cs typeface="Oswald" pitchFamily="34" charset="-120"/>
              </a:rPr>
              <a:t>Align</a:t>
            </a:r>
            <a:endParaRPr lang="en-US" sz="1800"/>
          </a:p>
        </p:txBody>
      </p:sp>
      <p:sp>
        <p:nvSpPr>
          <p:cNvPr id="54" name="Text 41"/>
          <p:cNvSpPr txBox="1"/>
          <p:nvPr/>
        </p:nvSpPr>
        <p:spPr>
          <a:xfrm>
            <a:off x="9249156" y="2667305"/>
            <a:ext cx="2324405" cy="838505"/>
          </a:xfrm>
          <a:prstGeom prst="rect">
            <a:avLst/>
          </a:prstGeom>
          <a:noFill/>
          <a:ln/>
        </p:spPr>
        <p:txBody>
          <a:bodyPr wrap="square" lIns="0" tIns="0" rIns="0" bIns="0" rtlCol="0" anchor="ctr"/>
          <a:lstStyle/>
          <a:p>
            <a:pPr marL="0" indent="0" algn="ctr">
              <a:buNone/>
            </a:pPr>
            <a:r>
              <a:rPr lang="en-US" sz="1200">
                <a:solidFill>
                  <a:srgbClr val="4B5563"/>
                </a:solidFill>
                <a:latin typeface="Raleway" pitchFamily="34" charset="0"/>
                <a:ea typeface="Raleway" pitchFamily="34" charset="-122"/>
                <a:cs typeface="Raleway" pitchFamily="34" charset="-120"/>
              </a:rPr>
              <a:t>Restructure contracts from FTE-based pricing to outcome-aligned models. Tie value to results, not headcount.</a:t>
            </a:r>
            <a:endParaRPr lang="en-US" sz="1200"/>
          </a:p>
        </p:txBody>
      </p:sp>
      <p:pic>
        <p:nvPicPr>
          <p:cNvPr id="55" name="Image 11" descr="preencoded.png"/>
          <p:cNvPicPr>
            <a:picLocks noChangeAspect="1"/>
          </p:cNvPicPr>
          <p:nvPr/>
        </p:nvPicPr>
        <p:blipFill>
          <a:blip r:embed="rId12"/>
          <a:srcRect/>
          <a:stretch/>
        </p:blipFill>
        <p:spPr>
          <a:xfrm>
            <a:off x="3180283" y="2457907"/>
            <a:ext cx="304495" cy="304495"/>
          </a:xfrm>
          <a:prstGeom prst="rect">
            <a:avLst/>
          </a:prstGeom>
        </p:spPr>
      </p:pic>
      <p:pic>
        <p:nvPicPr>
          <p:cNvPr id="56" name="Image 12" descr="preencoded.png"/>
          <p:cNvPicPr>
            <a:picLocks noChangeAspect="1"/>
          </p:cNvPicPr>
          <p:nvPr/>
        </p:nvPicPr>
        <p:blipFill>
          <a:blip r:embed="rId13"/>
          <a:srcRect l="-2838" r="-2838"/>
          <a:stretch/>
        </p:blipFill>
        <p:spPr>
          <a:xfrm>
            <a:off x="3270809" y="2542946"/>
            <a:ext cx="123444" cy="133502"/>
          </a:xfrm>
          <a:prstGeom prst="rect">
            <a:avLst/>
          </a:prstGeom>
        </p:spPr>
      </p:pic>
      <p:pic>
        <p:nvPicPr>
          <p:cNvPr id="57" name="Image 13" descr="preencoded.png"/>
          <p:cNvPicPr>
            <a:picLocks noChangeAspect="1"/>
          </p:cNvPicPr>
          <p:nvPr/>
        </p:nvPicPr>
        <p:blipFill>
          <a:blip r:embed="rId12"/>
          <a:srcRect/>
          <a:stretch/>
        </p:blipFill>
        <p:spPr>
          <a:xfrm>
            <a:off x="6000293" y="2457907"/>
            <a:ext cx="304495" cy="304495"/>
          </a:xfrm>
          <a:prstGeom prst="rect">
            <a:avLst/>
          </a:prstGeom>
        </p:spPr>
      </p:pic>
      <p:pic>
        <p:nvPicPr>
          <p:cNvPr id="58" name="Image 14" descr="preencoded.png"/>
          <p:cNvPicPr>
            <a:picLocks noChangeAspect="1"/>
          </p:cNvPicPr>
          <p:nvPr/>
        </p:nvPicPr>
        <p:blipFill>
          <a:blip r:embed="rId13"/>
          <a:srcRect l="-2838" r="-2838"/>
          <a:stretch/>
        </p:blipFill>
        <p:spPr>
          <a:xfrm>
            <a:off x="6089904" y="2542946"/>
            <a:ext cx="123444" cy="133502"/>
          </a:xfrm>
          <a:prstGeom prst="rect">
            <a:avLst/>
          </a:prstGeom>
        </p:spPr>
      </p:pic>
      <p:pic>
        <p:nvPicPr>
          <p:cNvPr id="59" name="Image 15" descr="preencoded.png"/>
          <p:cNvPicPr>
            <a:picLocks noChangeAspect="1"/>
          </p:cNvPicPr>
          <p:nvPr/>
        </p:nvPicPr>
        <p:blipFill>
          <a:blip r:embed="rId12"/>
          <a:srcRect/>
          <a:stretch/>
        </p:blipFill>
        <p:spPr>
          <a:xfrm>
            <a:off x="8819388" y="2457907"/>
            <a:ext cx="304495" cy="304495"/>
          </a:xfrm>
          <a:prstGeom prst="rect">
            <a:avLst/>
          </a:prstGeom>
        </p:spPr>
      </p:pic>
      <p:pic>
        <p:nvPicPr>
          <p:cNvPr id="60" name="Image 16" descr="preencoded.png"/>
          <p:cNvPicPr>
            <a:picLocks noChangeAspect="1"/>
          </p:cNvPicPr>
          <p:nvPr/>
        </p:nvPicPr>
        <p:blipFill>
          <a:blip r:embed="rId13"/>
          <a:srcRect l="-2838" r="-2838"/>
          <a:stretch/>
        </p:blipFill>
        <p:spPr>
          <a:xfrm>
            <a:off x="8909914" y="2542946"/>
            <a:ext cx="123444" cy="133502"/>
          </a:xfrm>
          <a:prstGeom prst="rect">
            <a:avLst/>
          </a:prstGeom>
        </p:spPr>
      </p:pic>
      <p:pic>
        <p:nvPicPr>
          <p:cNvPr id="61" name="Image 17" descr="preencoded.png"/>
          <p:cNvPicPr>
            <a:picLocks noChangeAspect="1"/>
          </p:cNvPicPr>
          <p:nvPr/>
        </p:nvPicPr>
        <p:blipFill>
          <a:blip r:embed="rId14"/>
          <a:srcRect l="-202" r="-202"/>
          <a:stretch/>
        </p:blipFill>
        <p:spPr>
          <a:xfrm>
            <a:off x="0" y="0"/>
            <a:ext cx="8128102" cy="75895"/>
          </a:xfrm>
          <a:prstGeom prst="rect">
            <a:avLst/>
          </a:prstGeom>
        </p:spPr>
      </p:pic>
      <p:pic>
        <p:nvPicPr>
          <p:cNvPr id="62" name="Image 18" descr="preencoded.png"/>
          <p:cNvPicPr>
            <a:picLocks noChangeAspect="1"/>
          </p:cNvPicPr>
          <p:nvPr/>
        </p:nvPicPr>
        <p:blipFill>
          <a:blip r:embed="rId15"/>
          <a:srcRect l="-197" r="-197"/>
          <a:stretch/>
        </p:blipFill>
        <p:spPr>
          <a:xfrm>
            <a:off x="8128102" y="0"/>
            <a:ext cx="4063594" cy="75895"/>
          </a:xfrm>
          <a:prstGeom prst="rect">
            <a:avLst/>
          </a:prstGeom>
        </p:spPr>
      </p:pic>
    </p:spTree>
    <p:extLst>
      <p:ext uri="{BB962C8B-B14F-4D97-AF65-F5344CB8AC3E}">
        <p14:creationId xmlns:p14="http://schemas.microsoft.com/office/powerpoint/2010/main" val="16894426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382305" y="-1429207"/>
            <a:ext cx="4762195" cy="4762195"/>
          </a:xfrm>
          <a:prstGeom prst="ellipse">
            <a:avLst/>
          </a:prstGeom>
          <a:solidFill>
            <a:srgbClr val="2A9D8F">
              <a:alpha val="3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52805" y="4476902"/>
            <a:ext cx="3810305" cy="3810305"/>
          </a:xfrm>
          <a:prstGeom prst="ellipse">
            <a:avLst/>
          </a:prstGeom>
          <a:solidFill>
            <a:srgbClr val="D62839">
              <a:alpha val="2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r:embed="rId3"/>
          <a:srcRect l="-202" r="-202"/>
          <a:stretch/>
        </p:blipFill>
        <p:spPr>
          <a:xfrm>
            <a:off x="0" y="6782105"/>
            <a:ext cx="8128102" cy="75895"/>
          </a:xfrm>
          <a:prstGeom prst="rect">
            <a:avLst/>
          </a:prstGeom>
        </p:spPr>
      </p:pic>
      <p:pic>
        <p:nvPicPr>
          <p:cNvPr id="7" name="Image 1" descr="preencoded.png"/>
          <p:cNvPicPr>
            <a:picLocks noChangeAspect="1"/>
          </p:cNvPicPr>
          <p:nvPr/>
        </p:nvPicPr>
        <p:blipFill>
          <a:blip r:embed="rId4"/>
          <a:srcRect l="-197" r="-197"/>
          <a:stretch/>
        </p:blipFill>
        <p:spPr>
          <a:xfrm>
            <a:off x="8128102" y="6782105"/>
            <a:ext cx="4063594" cy="75895"/>
          </a:xfrm>
          <a:prstGeom prst="rect">
            <a:avLst/>
          </a:prstGeom>
        </p:spPr>
      </p:pic>
      <p:pic>
        <p:nvPicPr>
          <p:cNvPr id="8" name="Image 2" descr="preencoded.png"/>
          <p:cNvPicPr>
            <a:picLocks noChangeAspect="1"/>
          </p:cNvPicPr>
          <p:nvPr/>
        </p:nvPicPr>
        <p:blipFill>
          <a:blip r:embed="rId5"/>
          <a:srcRect t="60" b="60"/>
          <a:stretch/>
        </p:blipFill>
        <p:spPr>
          <a:xfrm>
            <a:off x="4121201" y="914400"/>
            <a:ext cx="3952951" cy="1904695"/>
          </a:xfrm>
          <a:prstGeom prst="rect">
            <a:avLst/>
          </a:prstGeom>
        </p:spPr>
      </p:pic>
      <p:pic>
        <p:nvPicPr>
          <p:cNvPr id="9" name="Image 3" descr="preencoded.png"/>
          <p:cNvPicPr>
            <a:picLocks noChangeAspect="1"/>
          </p:cNvPicPr>
          <p:nvPr/>
        </p:nvPicPr>
        <p:blipFill>
          <a:blip r:embed="rId6"/>
          <a:srcRect t="-420" b="-420"/>
          <a:stretch/>
        </p:blipFill>
        <p:spPr>
          <a:xfrm>
            <a:off x="5715000" y="3276295"/>
            <a:ext cx="761695" cy="38405"/>
          </a:xfrm>
          <a:prstGeom prst="rect">
            <a:avLst/>
          </a:prstGeom>
        </p:spPr>
      </p:pic>
      <p:sp>
        <p:nvSpPr>
          <p:cNvPr id="10" name="Text 4"/>
          <p:cNvSpPr txBox="1"/>
          <p:nvPr/>
        </p:nvSpPr>
        <p:spPr>
          <a:xfrm>
            <a:off x="3536899" y="3619195"/>
            <a:ext cx="5125212" cy="5715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0" i="1" u="none" strike="noStrike" kern="0" cap="none" spc="150" normalizeH="0" baseline="0" noProof="0">
                <a:ln>
                  <a:noFill/>
                </a:ln>
                <a:solidFill>
                  <a:srgbClr val="4B5563"/>
                </a:solidFill>
                <a:effectLst/>
                <a:uLnTx/>
                <a:uFillTx/>
                <a:latin typeface="Raleway" pitchFamily="34" charset="0"/>
                <a:ea typeface="Raleway" pitchFamily="34" charset="-122"/>
                <a:cs typeface="Raleway" pitchFamily="34" charset="-120"/>
              </a:rPr>
              <a:t>"Let's win together"</a:t>
            </a:r>
            <a:endParaRPr kumimoji="0" lang="en-US" sz="30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4" descr="preencoded.png"/>
          <p:cNvPicPr>
            <a:picLocks noChangeAspect="1"/>
          </p:cNvPicPr>
          <p:nvPr/>
        </p:nvPicPr>
        <p:blipFill>
          <a:blip r:embed="rId7"/>
          <a:srcRect/>
          <a:stretch/>
        </p:blipFill>
        <p:spPr>
          <a:xfrm>
            <a:off x="761695" y="5410505"/>
            <a:ext cx="761695" cy="761695"/>
          </a:xfrm>
          <a:prstGeom prst="rect">
            <a:avLst/>
          </a:prstGeom>
        </p:spPr>
      </p:pic>
      <p:pic>
        <p:nvPicPr>
          <p:cNvPr id="12" name="Image 5" descr="preencoded.png"/>
          <p:cNvPicPr>
            <a:picLocks noChangeAspect="1"/>
          </p:cNvPicPr>
          <p:nvPr/>
        </p:nvPicPr>
        <p:blipFill>
          <a:blip r:embed="rId8"/>
          <a:srcRect l="81" r="81"/>
          <a:stretch/>
        </p:blipFill>
        <p:spPr>
          <a:xfrm>
            <a:off x="3189427" y="5658307"/>
            <a:ext cx="809244" cy="267005"/>
          </a:xfrm>
          <a:prstGeom prst="rect">
            <a:avLst/>
          </a:prstGeom>
        </p:spPr>
      </p:pic>
      <p:pic>
        <p:nvPicPr>
          <p:cNvPr id="13" name="Image 6" descr="preencoded.png"/>
          <p:cNvPicPr>
            <a:picLocks noChangeAspect="1"/>
          </p:cNvPicPr>
          <p:nvPr/>
        </p:nvPicPr>
        <p:blipFill>
          <a:blip r:embed="rId9"/>
          <a:srcRect l="7" r="7"/>
          <a:stretch/>
        </p:blipFill>
        <p:spPr>
          <a:xfrm>
            <a:off x="5665622" y="5453482"/>
            <a:ext cx="724205" cy="676656"/>
          </a:xfrm>
          <a:prstGeom prst="rect">
            <a:avLst/>
          </a:prstGeom>
        </p:spPr>
      </p:pic>
      <p:pic>
        <p:nvPicPr>
          <p:cNvPr id="14" name="Image 7" descr="preencoded.png"/>
          <p:cNvPicPr>
            <a:picLocks noChangeAspect="1"/>
          </p:cNvPicPr>
          <p:nvPr/>
        </p:nvPicPr>
        <p:blipFill>
          <a:blip r:embed="rId10"/>
          <a:srcRect t="236" b="236"/>
          <a:stretch/>
        </p:blipFill>
        <p:spPr>
          <a:xfrm>
            <a:off x="8054950" y="5410505"/>
            <a:ext cx="1257300" cy="761695"/>
          </a:xfrm>
          <a:prstGeom prst="rect">
            <a:avLst/>
          </a:prstGeom>
        </p:spPr>
      </p:pic>
      <p:pic>
        <p:nvPicPr>
          <p:cNvPr id="15" name="Image 8" descr="preencoded.png"/>
          <p:cNvPicPr>
            <a:picLocks noChangeAspect="1"/>
          </p:cNvPicPr>
          <p:nvPr/>
        </p:nvPicPr>
        <p:blipFill>
          <a:blip r:embed="rId11"/>
          <a:srcRect t="23" b="24"/>
          <a:stretch/>
        </p:blipFill>
        <p:spPr>
          <a:xfrm>
            <a:off x="10972800" y="5548579"/>
            <a:ext cx="457200" cy="485546"/>
          </a:xfrm>
          <a:prstGeom prst="rect">
            <a:avLst/>
          </a:prstGeom>
        </p:spPr>
      </p:pic>
      <p:pic>
        <p:nvPicPr>
          <p:cNvPr id="16" name="Image 9" descr="preencoded.png"/>
          <p:cNvPicPr>
            <a:picLocks noChangeAspect="1"/>
          </p:cNvPicPr>
          <p:nvPr/>
        </p:nvPicPr>
        <p:blipFill>
          <a:blip r:embed="rId4"/>
          <a:srcRect l="-197" r="-197"/>
          <a:stretch/>
        </p:blipFill>
        <p:spPr>
          <a:xfrm>
            <a:off x="0" y="0"/>
            <a:ext cx="4063594" cy="75895"/>
          </a:xfrm>
          <a:prstGeom prst="rect">
            <a:avLst/>
          </a:prstGeom>
        </p:spPr>
      </p:pic>
      <p:pic>
        <p:nvPicPr>
          <p:cNvPr id="17" name="Image 10" descr="preencoded.png"/>
          <p:cNvPicPr>
            <a:picLocks noChangeAspect="1"/>
          </p:cNvPicPr>
          <p:nvPr/>
        </p:nvPicPr>
        <p:blipFill>
          <a:blip r:embed="rId3"/>
          <a:srcRect l="-202" r="-202"/>
          <a:stretch/>
        </p:blipFill>
        <p:spPr>
          <a:xfrm>
            <a:off x="4063594" y="0"/>
            <a:ext cx="8128102" cy="75895"/>
          </a:xfrm>
          <a:prstGeom prst="rect">
            <a:avLst/>
          </a:prstGeom>
        </p:spPr>
      </p:pic>
    </p:spTree>
    <p:extLst>
      <p:ext uri="{BB962C8B-B14F-4D97-AF65-F5344CB8AC3E}">
        <p14:creationId xmlns:p14="http://schemas.microsoft.com/office/powerpoint/2010/main" val="24674747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gen-dedup-37abb9d8cc081a24feb608c288538026.png"/>
          <p:cNvPicPr>
            <a:picLocks noChangeAspect="1"/>
          </p:cNvPicPr>
          <p:nvPr/>
        </p:nvPicPr>
        <p:blipFill>
          <a:blip r:embed="rId3"/>
          <a:srcRect l="-198" r="-198"/>
          <a:stretch/>
        </p:blipFill>
        <p:spPr>
          <a:xfrm>
            <a:off x="0" y="0"/>
            <a:ext cx="8124444" cy="75895"/>
          </a:xfrm>
          <a:prstGeom prst="rect">
            <a:avLst/>
          </a:prstGeom>
        </p:spPr>
      </p:pic>
      <p:pic>
        <p:nvPicPr>
          <p:cNvPr id="3" name="Image 1" descr="gen-dedup-c2c9136402f20c216bf7cbcc052ad1a0.png"/>
          <p:cNvPicPr>
            <a:picLocks noChangeAspect="1"/>
          </p:cNvPicPr>
          <p:nvPr/>
        </p:nvPicPr>
        <p:blipFill>
          <a:blip r:embed="rId4"/>
          <a:srcRect l="-202" r="-202"/>
          <a:stretch/>
        </p:blipFill>
        <p:spPr>
          <a:xfrm>
            <a:off x="8124444" y="0"/>
            <a:ext cx="4067251" cy="75895"/>
          </a:xfrm>
          <a:prstGeom prst="rect">
            <a:avLst/>
          </a:prstGeom>
        </p:spPr>
      </p:pic>
      <p:pic>
        <p:nvPicPr>
          <p:cNvPr id="4" name="Image 2" descr="gen-dedup-e46db74a4f97e080e2ee84f868b11606.png"/>
          <p:cNvPicPr>
            <a:picLocks noChangeAspect="1"/>
          </p:cNvPicPr>
          <p:nvPr/>
        </p:nvPicPr>
        <p:blipFill>
          <a:blip r:embed="rId5"/>
          <a:srcRect t="-384" b="-384"/>
          <a:stretch/>
        </p:blipFill>
        <p:spPr>
          <a:xfrm>
            <a:off x="5619902" y="2678278"/>
            <a:ext cx="952805" cy="38405"/>
          </a:xfrm>
          <a:prstGeom prst="rect">
            <a:avLst/>
          </a:prstGeom>
        </p:spPr>
      </p:pic>
      <p:sp>
        <p:nvSpPr>
          <p:cNvPr id="5" name="Text 0"/>
          <p:cNvSpPr txBox="1"/>
          <p:nvPr/>
        </p:nvSpPr>
        <p:spPr>
          <a:xfrm>
            <a:off x="190195" y="3238805"/>
            <a:ext cx="11811305" cy="419710"/>
          </a:xfrm>
          <a:prstGeom prst="rect">
            <a:avLst/>
          </a:prstGeom>
          <a:noFill/>
          <a:ln/>
        </p:spPr>
        <p:txBody>
          <a:bodyPr wrap="none" lIns="0" tIns="0" rIns="0" bIns="0" rtlCol="0" anchor="ctr"/>
          <a:lstStyle/>
          <a:p>
            <a:pPr marL="0" indent="0" algn="ctr">
              <a:buNone/>
            </a:pPr>
            <a:r>
              <a:rPr lang="en-US" sz="6300" b="1" kern="0" spc="405" dirty="0">
                <a:solidFill>
                  <a:srgbClr val="111827"/>
                </a:solidFill>
                <a:latin typeface="Oswald" pitchFamily="34" charset="0"/>
                <a:ea typeface="Oswald" pitchFamily="34" charset="-122"/>
                <a:cs typeface="Oswald" pitchFamily="34" charset="-120"/>
              </a:rPr>
              <a:t>APPENDIX</a:t>
            </a:r>
            <a:endParaRPr lang="en-US" sz="6300" dirty="0"/>
          </a:p>
        </p:txBody>
      </p:sp>
      <p:sp>
        <p:nvSpPr>
          <p:cNvPr id="7" name="Shape 0">
            <a:extLst>
              <a:ext uri="{FF2B5EF4-FFF2-40B4-BE49-F238E27FC236}">
                <a16:creationId xmlns:a16="http://schemas.microsoft.com/office/drawing/2014/main" id="{D269D29B-7F06-0A31-386E-55DE177850FF}"/>
              </a:ext>
            </a:extLst>
          </p:cNvPr>
          <p:cNvSpPr/>
          <p:nvPr/>
        </p:nvSpPr>
        <p:spPr>
          <a:xfrm>
            <a:off x="8858707" y="-1429207"/>
            <a:ext cx="4762195" cy="476219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sp>
        <p:nvSpPr>
          <p:cNvPr id="9" name="Shape 1">
            <a:extLst>
              <a:ext uri="{FF2B5EF4-FFF2-40B4-BE49-F238E27FC236}">
                <a16:creationId xmlns:a16="http://schemas.microsoft.com/office/drawing/2014/main" id="{22F98600-C71A-D446-B3E2-556E703264C2}"/>
              </a:ext>
            </a:extLst>
          </p:cNvPr>
          <p:cNvSpPr/>
          <p:nvPr/>
        </p:nvSpPr>
        <p:spPr>
          <a:xfrm>
            <a:off x="-952805" y="3047695"/>
            <a:ext cx="5715000" cy="5715000"/>
          </a:xfrm>
          <a:prstGeom prst="ellipse">
            <a:avLst/>
          </a:prstGeom>
          <a:solidFill>
            <a:srgbClr val="D62839">
              <a:alpha val="3000"/>
            </a:srgbClr>
          </a:solidFill>
          <a:ln w="12700">
            <a:solidFill>
              <a:srgbClr val="FFFFFF">
                <a:alpha val="0"/>
              </a:srgbClr>
            </a:solidFill>
            <a:prstDash val="solid"/>
          </a:ln>
        </p:spPr>
        <p:txBody>
          <a:bodyPr/>
          <a:lstStyle/>
          <a:p>
            <a:endParaRPr lang="en-US"/>
          </a:p>
        </p:txBody>
      </p:sp>
      <p:sp>
        <p:nvSpPr>
          <p:cNvPr id="11" name="Shape 5">
            <a:extLst>
              <a:ext uri="{FF2B5EF4-FFF2-40B4-BE49-F238E27FC236}">
                <a16:creationId xmlns:a16="http://schemas.microsoft.com/office/drawing/2014/main" id="{E747F538-7189-52CD-A0B8-237E8B53D1A9}"/>
              </a:ext>
            </a:extLst>
          </p:cNvPr>
          <p:cNvSpPr/>
          <p:nvPr/>
        </p:nvSpPr>
        <p:spPr>
          <a:xfrm>
            <a:off x="609905" y="6096305"/>
            <a:ext cx="10972800" cy="9144"/>
          </a:xfrm>
          <a:prstGeom prst="rect">
            <a:avLst/>
          </a:prstGeom>
          <a:solidFill>
            <a:srgbClr val="E2E8F0"/>
          </a:solidFill>
          <a:ln w="12700">
            <a:solidFill>
              <a:srgbClr val="E2E8F0">
                <a:alpha val="0"/>
              </a:srgbClr>
            </a:solidFill>
            <a:prstDash val="solid"/>
          </a:ln>
        </p:spPr>
        <p:txBody>
          <a:bodyPr/>
          <a:lstStyle/>
          <a:p>
            <a:endParaRPr lang="en-US"/>
          </a:p>
        </p:txBody>
      </p:sp>
      <p:sp>
        <p:nvSpPr>
          <p:cNvPr id="13" name="Text 6">
            <a:extLst>
              <a:ext uri="{FF2B5EF4-FFF2-40B4-BE49-F238E27FC236}">
                <a16:creationId xmlns:a16="http://schemas.microsoft.com/office/drawing/2014/main" id="{31311054-91AE-5A3A-AACE-A0F31187E99D}"/>
              </a:ext>
            </a:extLst>
          </p:cNvPr>
          <p:cNvSpPr txBox="1"/>
          <p:nvPr/>
        </p:nvSpPr>
        <p:spPr>
          <a:xfrm>
            <a:off x="609905" y="6295644"/>
            <a:ext cx="1292962" cy="228600"/>
          </a:xfrm>
          <a:prstGeom prst="rect">
            <a:avLst/>
          </a:prstGeom>
          <a:noFill/>
          <a:ln/>
        </p:spPr>
        <p:txBody>
          <a:bodyPr wrap="none" lIns="0" tIns="0" rIns="0" bIns="0" rtlCol="0" anchor="ctr"/>
          <a:lstStyle/>
          <a:p>
            <a:pPr marL="0" indent="0" algn="l">
              <a:buNone/>
            </a:pPr>
            <a:r>
              <a:rPr lang="en-US" sz="1200" b="1" kern="0" spc="60" dirty="0">
                <a:solidFill>
                  <a:srgbClr val="111827"/>
                </a:solidFill>
                <a:latin typeface="Oswald" pitchFamily="34" charset="0"/>
                <a:ea typeface="Oswald" pitchFamily="34" charset="-122"/>
                <a:cs typeface="Oswald" pitchFamily="34" charset="-120"/>
              </a:rPr>
              <a:t>JOULESTOWATTS</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6" descr="preencoded.png">
            <a:extLst>
              <a:ext uri="{FF2B5EF4-FFF2-40B4-BE49-F238E27FC236}">
                <a16:creationId xmlns:a16="http://schemas.microsoft.com/office/drawing/2014/main" id="{5B753806-8344-75DA-750F-D7D4897A8BA5}"/>
              </a:ext>
            </a:extLst>
          </p:cNvPr>
          <p:cNvPicPr>
            <a:picLocks noChangeAspect="1"/>
          </p:cNvPicPr>
          <p:nvPr/>
        </p:nvPicPr>
        <p:blipFill>
          <a:blip r:embed="rId2"/>
          <a:srcRect l="-400" r="-400"/>
          <a:stretch/>
        </p:blipFill>
        <p:spPr>
          <a:xfrm>
            <a:off x="457200" y="277281"/>
            <a:ext cx="57607" cy="457200"/>
          </a:xfrm>
          <a:prstGeom prst="rect">
            <a:avLst/>
          </a:prstGeom>
        </p:spPr>
      </p:pic>
      <p:sp>
        <p:nvSpPr>
          <p:cNvPr id="5" name="Text 33">
            <a:extLst>
              <a:ext uri="{FF2B5EF4-FFF2-40B4-BE49-F238E27FC236}">
                <a16:creationId xmlns:a16="http://schemas.microsoft.com/office/drawing/2014/main" id="{B6D878A4-6FA7-FEA7-B863-6FB6A47BEE61}"/>
              </a:ext>
            </a:extLst>
          </p:cNvPr>
          <p:cNvSpPr txBox="1"/>
          <p:nvPr/>
        </p:nvSpPr>
        <p:spPr>
          <a:xfrm>
            <a:off x="666598" y="227991"/>
            <a:ext cx="8360359" cy="342900"/>
          </a:xfrm>
          <a:prstGeom prst="rect">
            <a:avLst/>
          </a:prstGeom>
          <a:noFill/>
          <a:ln/>
        </p:spPr>
        <p:txBody>
          <a:bodyPr wrap="square" lIns="0" tIns="0" rIns="0" bIns="0" rtlCol="0" anchor="ctr"/>
          <a:lstStyle/>
          <a:p>
            <a:pPr marL="0" indent="0" algn="l">
              <a:buNone/>
            </a:pPr>
            <a:r>
              <a:rPr lang="en-US" sz="2700" b="1" kern="0" spc="-67">
                <a:solidFill>
                  <a:srgbClr val="111827"/>
                </a:solidFill>
                <a:latin typeface="Oswald" pitchFamily="34" charset="0"/>
              </a:rPr>
              <a:t>Data </a:t>
            </a:r>
            <a:r>
              <a:rPr lang="en-US" sz="2700" b="1" kern="0" spc="-67" err="1">
                <a:solidFill>
                  <a:srgbClr val="111827"/>
                </a:solidFill>
                <a:latin typeface="Oswald" pitchFamily="34" charset="0"/>
              </a:rPr>
              <a:t>CoE</a:t>
            </a:r>
            <a:r>
              <a:rPr lang="en-US" sz="2700" b="1" kern="0" spc="-67">
                <a:solidFill>
                  <a:srgbClr val="111827"/>
                </a:solidFill>
                <a:latin typeface="Oswald" pitchFamily="34" charset="0"/>
              </a:rPr>
              <a:t> Framework</a:t>
            </a:r>
            <a:endParaRPr lang="en-US" sz="2700"/>
          </a:p>
        </p:txBody>
      </p:sp>
      <p:sp>
        <p:nvSpPr>
          <p:cNvPr id="6" name="Text 34">
            <a:extLst>
              <a:ext uri="{FF2B5EF4-FFF2-40B4-BE49-F238E27FC236}">
                <a16:creationId xmlns:a16="http://schemas.microsoft.com/office/drawing/2014/main" id="{B8A4FE25-4256-56C6-B36D-63EAA246C01E}"/>
              </a:ext>
            </a:extLst>
          </p:cNvPr>
          <p:cNvSpPr txBox="1"/>
          <p:nvPr/>
        </p:nvSpPr>
        <p:spPr>
          <a:xfrm>
            <a:off x="666598" y="658586"/>
            <a:ext cx="6869887" cy="267005"/>
          </a:xfrm>
          <a:prstGeom prst="rect">
            <a:avLst/>
          </a:prstGeom>
          <a:noFill/>
          <a:ln/>
        </p:spPr>
        <p:txBody>
          <a:bodyPr wrap="square" lIns="0" tIns="0" rIns="0" bIns="0" rtlCol="0" anchor="ctr"/>
          <a:lstStyle/>
          <a:p>
            <a:r>
              <a:rPr lang="en-US" sz="1500" b="1" kern="0" spc="75">
                <a:solidFill>
                  <a:srgbClr val="2A9D8F"/>
                </a:solidFill>
                <a:latin typeface="Roboto Condensed"/>
                <a:ea typeface="Roboto Condensed"/>
                <a:cs typeface="Roboto Condensed"/>
                <a:hlinkClick r:id="rId3"/>
              </a:rPr>
              <a:t>Explore the Capability</a:t>
            </a:r>
            <a:endParaRPr lang="en-US" sz="1500">
              <a:latin typeface="Roboto Condensed"/>
              <a:ea typeface="Roboto Condensed"/>
              <a:cs typeface="Roboto Condensed"/>
            </a:endParaRPr>
          </a:p>
        </p:txBody>
      </p:sp>
      <p:pic>
        <p:nvPicPr>
          <p:cNvPr id="7" name="Image 7" descr="preencoded.png">
            <a:extLst>
              <a:ext uri="{FF2B5EF4-FFF2-40B4-BE49-F238E27FC236}">
                <a16:creationId xmlns:a16="http://schemas.microsoft.com/office/drawing/2014/main" id="{F786F71B-2A7F-FF73-A96B-76931B442E13}"/>
              </a:ext>
            </a:extLst>
          </p:cNvPr>
          <p:cNvPicPr>
            <a:picLocks noChangeAspect="1"/>
          </p:cNvPicPr>
          <p:nvPr/>
        </p:nvPicPr>
        <p:blipFill>
          <a:blip r:embed="rId4"/>
          <a:srcRect l="-197" r="-197"/>
          <a:stretch/>
        </p:blipFill>
        <p:spPr>
          <a:xfrm>
            <a:off x="0" y="0"/>
            <a:ext cx="4063594" cy="75895"/>
          </a:xfrm>
          <a:prstGeom prst="rect">
            <a:avLst/>
          </a:prstGeom>
        </p:spPr>
      </p:pic>
      <p:pic>
        <p:nvPicPr>
          <p:cNvPr id="8" name="Image 8" descr="preencoded.png">
            <a:extLst>
              <a:ext uri="{FF2B5EF4-FFF2-40B4-BE49-F238E27FC236}">
                <a16:creationId xmlns:a16="http://schemas.microsoft.com/office/drawing/2014/main" id="{EAC53FD3-9115-514C-5187-6CF2F10A5AA5}"/>
              </a:ext>
            </a:extLst>
          </p:cNvPr>
          <p:cNvPicPr>
            <a:picLocks noChangeAspect="1"/>
          </p:cNvPicPr>
          <p:nvPr/>
        </p:nvPicPr>
        <p:blipFill>
          <a:blip r:embed="rId5"/>
          <a:srcRect l="-202" r="-202"/>
          <a:stretch/>
        </p:blipFill>
        <p:spPr>
          <a:xfrm>
            <a:off x="4063594" y="0"/>
            <a:ext cx="8128102" cy="75895"/>
          </a:xfrm>
          <a:prstGeom prst="rect">
            <a:avLst/>
          </a:prstGeom>
        </p:spPr>
      </p:pic>
      <p:pic>
        <p:nvPicPr>
          <p:cNvPr id="14" name="Picture 13">
            <a:hlinkClick r:id="rId6"/>
            <a:extLst>
              <a:ext uri="{FF2B5EF4-FFF2-40B4-BE49-F238E27FC236}">
                <a16:creationId xmlns:a16="http://schemas.microsoft.com/office/drawing/2014/main" id="{4D3E195F-DE22-F9F6-E5FC-8445191F5ED3}"/>
              </a:ext>
            </a:extLst>
          </p:cNvPr>
          <p:cNvPicPr>
            <a:picLocks noChangeAspect="1"/>
          </p:cNvPicPr>
          <p:nvPr/>
        </p:nvPicPr>
        <p:blipFill>
          <a:blip r:embed="rId7"/>
          <a:stretch>
            <a:fillRect/>
          </a:stretch>
        </p:blipFill>
        <p:spPr>
          <a:xfrm>
            <a:off x="1265540" y="1231900"/>
            <a:ext cx="9660919" cy="5490028"/>
          </a:xfrm>
          <a:prstGeom prst="rect">
            <a:avLst/>
          </a:prstGeom>
        </p:spPr>
      </p:pic>
    </p:spTree>
    <p:extLst>
      <p:ext uri="{BB962C8B-B14F-4D97-AF65-F5344CB8AC3E}">
        <p14:creationId xmlns:p14="http://schemas.microsoft.com/office/powerpoint/2010/main" val="29967194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gen-dedup-8d528aa4624073346a7168f37017be9b.png"/>
          <p:cNvPicPr>
            <a:picLocks noChangeAspect="1"/>
          </p:cNvPicPr>
          <p:nvPr/>
        </p:nvPicPr>
        <p:blipFill>
          <a:blip r:embed="rId3">
            <a:alphaModFix amt="15000"/>
          </a:blip>
          <a:srcRect t="-6251" b="-6251"/>
          <a:stretch/>
        </p:blipFill>
        <p:spPr>
          <a:xfrm>
            <a:off x="0" y="0"/>
            <a:ext cx="12191695" cy="6858000"/>
          </a:xfrm>
          <a:prstGeom prst="rect">
            <a:avLst/>
          </a:prstGeom>
        </p:spPr>
      </p:pic>
      <p:pic>
        <p:nvPicPr>
          <p:cNvPr id="3" name="Image 1" descr="gen-dedup-be1cb091bc9e8f0495955e933e645e9d.png"/>
          <p:cNvPicPr>
            <a:picLocks noChangeAspect="1"/>
          </p:cNvPicPr>
          <p:nvPr/>
        </p:nvPicPr>
        <p:blipFill>
          <a:blip r:embed="rId4"/>
          <a:srcRect l="-207" r="-207"/>
          <a:stretch/>
        </p:blipFill>
        <p:spPr>
          <a:xfrm>
            <a:off x="0" y="0"/>
            <a:ext cx="4058107" cy="75895"/>
          </a:xfrm>
          <a:prstGeom prst="rect">
            <a:avLst/>
          </a:prstGeom>
        </p:spPr>
      </p:pic>
      <p:pic>
        <p:nvPicPr>
          <p:cNvPr id="4" name="Image 2" descr="gen-dedup-f2129b90ae8f1ca3912ea926e519aa31.png"/>
          <p:cNvPicPr>
            <a:picLocks noChangeAspect="1"/>
          </p:cNvPicPr>
          <p:nvPr/>
        </p:nvPicPr>
        <p:blipFill>
          <a:blip r:embed="rId5"/>
          <a:srcRect l="-202" r="-202"/>
          <a:stretch/>
        </p:blipFill>
        <p:spPr>
          <a:xfrm>
            <a:off x="4058107" y="0"/>
            <a:ext cx="8134502" cy="75895"/>
          </a:xfrm>
          <a:prstGeom prst="rect">
            <a:avLst/>
          </a:prstGeom>
        </p:spPr>
      </p:pic>
      <p:sp>
        <p:nvSpPr>
          <p:cNvPr id="5" name="Shape 0"/>
          <p:cNvSpPr/>
          <p:nvPr/>
        </p:nvSpPr>
        <p:spPr>
          <a:xfrm>
            <a:off x="571500" y="1619402"/>
            <a:ext cx="3258007" cy="3371393"/>
          </a:xfrm>
          <a:prstGeom prst="roundRect">
            <a:avLst>
              <a:gd name="adj" fmla="val 1768"/>
            </a:avLst>
          </a:prstGeom>
          <a:solidFill>
            <a:srgbClr val="FFFFFF">
              <a:alpha val="85000"/>
            </a:srgbClr>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IN"/>
          </a:p>
        </p:txBody>
      </p:sp>
      <p:sp>
        <p:nvSpPr>
          <p:cNvPr id="6" name="Shape 1"/>
          <p:cNvSpPr/>
          <p:nvPr/>
        </p:nvSpPr>
        <p:spPr>
          <a:xfrm>
            <a:off x="571500" y="1619402"/>
            <a:ext cx="3258007" cy="28346"/>
          </a:xfrm>
          <a:prstGeom prst="roundRect">
            <a:avLst>
              <a:gd name="adj" fmla="val 203229"/>
            </a:avLst>
          </a:prstGeom>
          <a:solidFill>
            <a:srgbClr val="2A9D8F"/>
          </a:solidFill>
          <a:ln w="12700">
            <a:solidFill>
              <a:srgbClr val="2A9D8F">
                <a:alpha val="0"/>
              </a:srgbClr>
            </a:solidFill>
            <a:prstDash val="solid"/>
          </a:ln>
        </p:spPr>
        <p:txBody>
          <a:bodyPr/>
          <a:lstStyle/>
          <a:p>
            <a:endParaRPr lang="en-IN"/>
          </a:p>
        </p:txBody>
      </p:sp>
      <p:sp>
        <p:nvSpPr>
          <p:cNvPr id="7" name="Shape 2"/>
          <p:cNvSpPr/>
          <p:nvPr/>
        </p:nvSpPr>
        <p:spPr>
          <a:xfrm>
            <a:off x="571500" y="5084978"/>
            <a:ext cx="3238805" cy="1276502"/>
          </a:xfrm>
          <a:prstGeom prst="rect">
            <a:avLst/>
          </a:prstGeom>
          <a:solidFill>
            <a:srgbClr val="F8FAFC"/>
          </a:solidFill>
          <a:ln/>
        </p:spPr>
        <p:txBody>
          <a:bodyPr/>
          <a:lstStyle/>
          <a:p>
            <a:endParaRPr lang="en-IN"/>
          </a:p>
        </p:txBody>
      </p:sp>
      <p:sp>
        <p:nvSpPr>
          <p:cNvPr id="8" name="Shape 3"/>
          <p:cNvSpPr/>
          <p:nvPr/>
        </p:nvSpPr>
        <p:spPr>
          <a:xfrm>
            <a:off x="571500" y="5084978"/>
            <a:ext cx="28346" cy="1276502"/>
          </a:xfrm>
          <a:prstGeom prst="rect">
            <a:avLst/>
          </a:prstGeom>
          <a:solidFill>
            <a:srgbClr val="D62839"/>
          </a:solidFill>
          <a:ln w="12700">
            <a:solidFill>
              <a:srgbClr val="D62839">
                <a:alpha val="0"/>
              </a:srgbClr>
            </a:solidFill>
            <a:prstDash val="solid"/>
          </a:ln>
        </p:spPr>
        <p:txBody>
          <a:bodyPr/>
          <a:lstStyle/>
          <a:p>
            <a:endParaRPr lang="en-IN"/>
          </a:p>
        </p:txBody>
      </p:sp>
      <p:sp>
        <p:nvSpPr>
          <p:cNvPr id="9" name="Shape 4"/>
          <p:cNvSpPr/>
          <p:nvPr/>
        </p:nvSpPr>
        <p:spPr>
          <a:xfrm>
            <a:off x="0" y="6429146"/>
            <a:ext cx="12191695" cy="428854"/>
          </a:xfrm>
          <a:prstGeom prst="rect">
            <a:avLst/>
          </a:prstGeom>
          <a:solidFill>
            <a:srgbClr val="111827"/>
          </a:solidFill>
          <a:ln w="12700">
            <a:solidFill>
              <a:srgbClr val="FFFFFF">
                <a:alpha val="0"/>
              </a:srgbClr>
            </a:solidFill>
            <a:prstDash val="solid"/>
          </a:ln>
        </p:spPr>
        <p:txBody>
          <a:bodyPr/>
          <a:lstStyle/>
          <a:p>
            <a:endParaRPr lang="en-IN"/>
          </a:p>
        </p:txBody>
      </p:sp>
      <p:pic>
        <p:nvPicPr>
          <p:cNvPr id="10" name="Image 3" descr="gen-dedup-777bf757d895431cabe402fcd34ebd5a.png"/>
          <p:cNvPicPr>
            <a:picLocks noChangeAspect="1"/>
          </p:cNvPicPr>
          <p:nvPr/>
        </p:nvPicPr>
        <p:blipFill>
          <a:blip r:embed="rId6"/>
          <a:srcRect l="-384" r="-384"/>
          <a:stretch/>
        </p:blipFill>
        <p:spPr>
          <a:xfrm>
            <a:off x="571500" y="381305"/>
            <a:ext cx="57607" cy="476402"/>
          </a:xfrm>
          <a:prstGeom prst="rect">
            <a:avLst/>
          </a:prstGeom>
        </p:spPr>
      </p:pic>
      <p:sp>
        <p:nvSpPr>
          <p:cNvPr id="11" name="Text 5"/>
          <p:cNvSpPr txBox="1"/>
          <p:nvPr/>
        </p:nvSpPr>
        <p:spPr>
          <a:xfrm>
            <a:off x="780898" y="333756"/>
            <a:ext cx="10478110" cy="372161"/>
          </a:xfrm>
          <a:prstGeom prst="rect">
            <a:avLst/>
          </a:prstGeom>
          <a:noFill/>
          <a:ln/>
        </p:spPr>
        <p:txBody>
          <a:bodyPr wrap="none" lIns="0" tIns="0" rIns="0" bIns="0" rtlCol="0" anchor="ctr"/>
          <a:lstStyle/>
          <a:p>
            <a:pPr marL="0" indent="0" algn="l">
              <a:buNone/>
            </a:pPr>
            <a:r>
              <a:rPr lang="en-US" sz="2600" b="1" dirty="0">
                <a:solidFill>
                  <a:srgbClr val="111827"/>
                </a:solidFill>
                <a:latin typeface="Oswald" pitchFamily="34" charset="0"/>
                <a:ea typeface="Oswald" pitchFamily="34" charset="-122"/>
                <a:cs typeface="Oswald" pitchFamily="34" charset="-120"/>
              </a:rPr>
              <a:t>GLOBAL FOOTPRINT &amp; INDUSTRIES WE SERVE</a:t>
            </a:r>
            <a:endParaRPr lang="en-US" sz="2600" dirty="0"/>
          </a:p>
        </p:txBody>
      </p:sp>
      <p:sp>
        <p:nvSpPr>
          <p:cNvPr id="12" name="Text 6"/>
          <p:cNvSpPr txBox="1"/>
          <p:nvPr/>
        </p:nvSpPr>
        <p:spPr>
          <a:xfrm>
            <a:off x="780898" y="740664"/>
            <a:ext cx="10478110" cy="191110"/>
          </a:xfrm>
          <a:prstGeom prst="rect">
            <a:avLst/>
          </a:prstGeom>
          <a:noFill/>
          <a:ln/>
        </p:spPr>
        <p:txBody>
          <a:bodyPr wrap="none" lIns="0" tIns="0" rIns="0" bIns="0" rtlCol="0" anchor="ctr"/>
          <a:lstStyle/>
          <a:p>
            <a:pPr marL="0" indent="0" algn="l">
              <a:buNone/>
            </a:pPr>
            <a:r>
              <a:rPr lang="en-US" sz="1300" b="1" kern="0" spc="66" dirty="0">
                <a:solidFill>
                  <a:srgbClr val="2A9D8F"/>
                </a:solidFill>
                <a:latin typeface="Roboto Condensed" pitchFamily="34" charset="0"/>
                <a:ea typeface="Roboto Condensed" pitchFamily="34" charset="-122"/>
                <a:cs typeface="Roboto Condensed" pitchFamily="34" charset="-120"/>
              </a:rPr>
              <a:t>8 Global Locations | 8 Core Industries</a:t>
            </a:r>
            <a:endParaRPr lang="en-US" sz="1300" dirty="0"/>
          </a:p>
        </p:txBody>
      </p:sp>
      <p:sp>
        <p:nvSpPr>
          <p:cNvPr id="13" name="Shape 7"/>
          <p:cNvSpPr/>
          <p:nvPr/>
        </p:nvSpPr>
        <p:spPr>
          <a:xfrm>
            <a:off x="571500" y="1505102"/>
            <a:ext cx="3238805" cy="19202"/>
          </a:xfrm>
          <a:prstGeom prst="rect">
            <a:avLst/>
          </a:prstGeom>
          <a:solidFill>
            <a:srgbClr val="E5E7EB"/>
          </a:solidFill>
          <a:ln w="12700">
            <a:solidFill>
              <a:srgbClr val="E5E7EB">
                <a:alpha val="0"/>
              </a:srgbClr>
            </a:solidFill>
            <a:prstDash val="solid"/>
          </a:ln>
        </p:spPr>
        <p:txBody>
          <a:bodyPr/>
          <a:lstStyle/>
          <a:p>
            <a:endParaRPr lang="en-IN"/>
          </a:p>
        </p:txBody>
      </p:sp>
      <p:sp>
        <p:nvSpPr>
          <p:cNvPr id="14" name="Text 8"/>
          <p:cNvSpPr txBox="1"/>
          <p:nvPr/>
        </p:nvSpPr>
        <p:spPr>
          <a:xfrm>
            <a:off x="571500" y="1143000"/>
            <a:ext cx="3238805" cy="314554"/>
          </a:xfrm>
          <a:prstGeom prst="rect">
            <a:avLst/>
          </a:prstGeom>
          <a:solidFill>
            <a:srgbClr val="FFFFFF">
              <a:alpha val="0"/>
            </a:srgbClr>
          </a:solidFill>
          <a:ln>
            <a:solidFill>
              <a:srgbClr val="FFFFFF">
                <a:alpha val="0"/>
              </a:srgbClr>
            </a:solidFill>
          </a:ln>
        </p:spPr>
        <p:txBody>
          <a:bodyPr wrap="none" lIns="0" tIns="0" rIns="0" bIns="0" rtlCol="0" anchor="ctr"/>
          <a:lstStyle/>
          <a:p>
            <a:pPr marL="0" indent="0" algn="l">
              <a:buNone/>
            </a:pPr>
            <a:r>
              <a:rPr lang="en-US" sz="1600" b="1" dirty="0">
                <a:solidFill>
                  <a:srgbClr val="111827"/>
                </a:solidFill>
                <a:latin typeface="Oswald" pitchFamily="34" charset="0"/>
                <a:ea typeface="Oswald" pitchFamily="34" charset="-122"/>
                <a:cs typeface="Oswald" pitchFamily="34" charset="-120"/>
              </a:rPr>
              <a:t>Global Presence</a:t>
            </a:r>
            <a:endParaRPr lang="en-US" sz="1600" dirty="0"/>
          </a:p>
        </p:txBody>
      </p:sp>
      <p:pic>
        <p:nvPicPr>
          <p:cNvPr id="15" name="Image 4" descr="gen-dedup-9bfaaf4462b1ee9079502eb762f47b5b.png"/>
          <p:cNvPicPr>
            <a:picLocks noChangeAspect="1"/>
          </p:cNvPicPr>
          <p:nvPr/>
        </p:nvPicPr>
        <p:blipFill>
          <a:blip r:embed="rId7"/>
          <a:srcRect l="-12275" r="-12275"/>
          <a:stretch/>
        </p:blipFill>
        <p:spPr>
          <a:xfrm>
            <a:off x="761695" y="1752905"/>
            <a:ext cx="142646" cy="152705"/>
          </a:xfrm>
          <a:prstGeom prst="rect">
            <a:avLst/>
          </a:prstGeom>
        </p:spPr>
      </p:pic>
      <p:sp>
        <p:nvSpPr>
          <p:cNvPr id="16" name="Text 9"/>
          <p:cNvSpPr txBox="1"/>
          <p:nvPr/>
        </p:nvSpPr>
        <p:spPr>
          <a:xfrm>
            <a:off x="1000354" y="1714500"/>
            <a:ext cx="1122883" cy="162763"/>
          </a:xfrm>
          <a:prstGeom prst="rect">
            <a:avLst/>
          </a:prstGeom>
          <a:noFill/>
          <a:ln/>
        </p:spPr>
        <p:txBody>
          <a:bodyPr wrap="none" lIns="0" tIns="0" rIns="0" bIns="0" rtlCol="0" anchor="ctr"/>
          <a:lstStyle/>
          <a:p>
            <a:pPr marL="0" indent="0" algn="l">
              <a:buNone/>
            </a:pPr>
            <a:r>
              <a:rPr lang="en-US" sz="1000" b="1" dirty="0">
                <a:solidFill>
                  <a:srgbClr val="111827"/>
                </a:solidFill>
                <a:latin typeface="Raleway" pitchFamily="34" charset="0"/>
                <a:ea typeface="Raleway" pitchFamily="34" charset="-122"/>
                <a:cs typeface="Raleway" pitchFamily="34" charset="-120"/>
              </a:rPr>
              <a:t>North America</a:t>
            </a:r>
            <a:endParaRPr lang="en-US" sz="1000" dirty="0"/>
          </a:p>
        </p:txBody>
      </p:sp>
      <p:sp>
        <p:nvSpPr>
          <p:cNvPr id="17" name="Text 10"/>
          <p:cNvSpPr txBox="1"/>
          <p:nvPr/>
        </p:nvSpPr>
        <p:spPr>
          <a:xfrm>
            <a:off x="1000354" y="1876349"/>
            <a:ext cx="943661" cy="143561"/>
          </a:xfrm>
          <a:prstGeom prst="rect">
            <a:avLst/>
          </a:prstGeom>
          <a:noFill/>
          <a:ln/>
        </p:spPr>
        <p:txBody>
          <a:bodyPr wrap="non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Dallas</a:t>
            </a:r>
            <a:endParaRPr lang="en-US" sz="900" dirty="0"/>
          </a:p>
        </p:txBody>
      </p:sp>
      <p:pic>
        <p:nvPicPr>
          <p:cNvPr id="18" name="Image 5" descr="gen-dedup-9bfaaf4462b1ee9079502eb762f47b5b.png"/>
          <p:cNvPicPr>
            <a:picLocks noChangeAspect="1"/>
          </p:cNvPicPr>
          <p:nvPr/>
        </p:nvPicPr>
        <p:blipFill>
          <a:blip r:embed="rId7"/>
          <a:srcRect l="-12275" r="-12275"/>
          <a:stretch/>
        </p:blipFill>
        <p:spPr>
          <a:xfrm>
            <a:off x="761695" y="2143354"/>
            <a:ext cx="142646" cy="152705"/>
          </a:xfrm>
          <a:prstGeom prst="rect">
            <a:avLst/>
          </a:prstGeom>
        </p:spPr>
      </p:pic>
      <p:sp>
        <p:nvSpPr>
          <p:cNvPr id="19" name="Text 11"/>
          <p:cNvSpPr txBox="1"/>
          <p:nvPr/>
        </p:nvSpPr>
        <p:spPr>
          <a:xfrm>
            <a:off x="1000354" y="2104949"/>
            <a:ext cx="1232611" cy="162763"/>
          </a:xfrm>
          <a:prstGeom prst="rect">
            <a:avLst/>
          </a:prstGeom>
          <a:noFill/>
          <a:ln/>
        </p:spPr>
        <p:txBody>
          <a:bodyPr wrap="none" lIns="0" tIns="0" rIns="0" bIns="0" rtlCol="0" anchor="ctr"/>
          <a:lstStyle/>
          <a:p>
            <a:pPr marL="0" indent="0" algn="l">
              <a:buNone/>
            </a:pPr>
            <a:r>
              <a:rPr lang="en-US" sz="1000" b="1" dirty="0">
                <a:solidFill>
                  <a:srgbClr val="111827"/>
                </a:solidFill>
                <a:latin typeface="Raleway" pitchFamily="34" charset="0"/>
                <a:ea typeface="Raleway" pitchFamily="34" charset="-122"/>
                <a:cs typeface="Raleway" pitchFamily="34" charset="-120"/>
              </a:rPr>
              <a:t>Western Europe</a:t>
            </a:r>
            <a:endParaRPr lang="en-US" sz="1000" dirty="0"/>
          </a:p>
        </p:txBody>
      </p:sp>
      <p:sp>
        <p:nvSpPr>
          <p:cNvPr id="20" name="Text 12"/>
          <p:cNvSpPr txBox="1"/>
          <p:nvPr/>
        </p:nvSpPr>
        <p:spPr>
          <a:xfrm>
            <a:off x="1000354" y="2266798"/>
            <a:ext cx="1047902" cy="143561"/>
          </a:xfrm>
          <a:prstGeom prst="rect">
            <a:avLst/>
          </a:prstGeom>
          <a:noFill/>
          <a:ln/>
        </p:spPr>
        <p:txBody>
          <a:bodyPr wrap="non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UK</a:t>
            </a:r>
            <a:endParaRPr lang="en-US" sz="900" dirty="0"/>
          </a:p>
        </p:txBody>
      </p:sp>
      <p:pic>
        <p:nvPicPr>
          <p:cNvPr id="21" name="Image 6" descr="gen-dedup-9bfaaf4462b1ee9079502eb762f47b5b.png"/>
          <p:cNvPicPr>
            <a:picLocks noChangeAspect="1"/>
          </p:cNvPicPr>
          <p:nvPr/>
        </p:nvPicPr>
        <p:blipFill>
          <a:blip r:embed="rId7"/>
          <a:srcRect l="-12275" r="-12275"/>
          <a:stretch/>
        </p:blipFill>
        <p:spPr>
          <a:xfrm>
            <a:off x="761695" y="2533802"/>
            <a:ext cx="142646" cy="152705"/>
          </a:xfrm>
          <a:prstGeom prst="rect">
            <a:avLst/>
          </a:prstGeom>
        </p:spPr>
      </p:pic>
      <p:sp>
        <p:nvSpPr>
          <p:cNvPr id="22" name="Text 13"/>
          <p:cNvSpPr txBox="1"/>
          <p:nvPr/>
        </p:nvSpPr>
        <p:spPr>
          <a:xfrm>
            <a:off x="1000354" y="2495398"/>
            <a:ext cx="1167689" cy="162763"/>
          </a:xfrm>
          <a:prstGeom prst="rect">
            <a:avLst/>
          </a:prstGeom>
          <a:noFill/>
          <a:ln/>
        </p:spPr>
        <p:txBody>
          <a:bodyPr wrap="none" lIns="0" tIns="0" rIns="0" bIns="0" rtlCol="0" anchor="ctr"/>
          <a:lstStyle/>
          <a:p>
            <a:pPr marL="0" indent="0" algn="l">
              <a:buNone/>
            </a:pPr>
            <a:r>
              <a:rPr lang="en-US" sz="1000" b="1" dirty="0">
                <a:solidFill>
                  <a:srgbClr val="111827"/>
                </a:solidFill>
                <a:latin typeface="Raleway" pitchFamily="34" charset="0"/>
                <a:ea typeface="Raleway" pitchFamily="34" charset="-122"/>
                <a:cs typeface="Raleway" pitchFamily="34" charset="-120"/>
              </a:rPr>
              <a:t>Central Europe</a:t>
            </a:r>
            <a:endParaRPr lang="en-US" sz="1000" dirty="0"/>
          </a:p>
        </p:txBody>
      </p:sp>
      <p:sp>
        <p:nvSpPr>
          <p:cNvPr id="23" name="Text 14"/>
          <p:cNvSpPr txBox="1"/>
          <p:nvPr/>
        </p:nvSpPr>
        <p:spPr>
          <a:xfrm>
            <a:off x="1000354" y="2657246"/>
            <a:ext cx="981151" cy="143561"/>
          </a:xfrm>
          <a:prstGeom prst="rect">
            <a:avLst/>
          </a:prstGeom>
          <a:noFill/>
          <a:ln/>
        </p:spPr>
        <p:txBody>
          <a:bodyPr wrap="non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Poland</a:t>
            </a:r>
            <a:endParaRPr lang="en-US" sz="900" dirty="0"/>
          </a:p>
        </p:txBody>
      </p:sp>
      <p:pic>
        <p:nvPicPr>
          <p:cNvPr id="24" name="Image 7" descr="gen-dedup-9bfaaf4462b1ee9079502eb762f47b5b.png"/>
          <p:cNvPicPr>
            <a:picLocks noChangeAspect="1"/>
          </p:cNvPicPr>
          <p:nvPr/>
        </p:nvPicPr>
        <p:blipFill>
          <a:blip r:embed="rId7"/>
          <a:srcRect l="-12275" r="-12275"/>
          <a:stretch/>
        </p:blipFill>
        <p:spPr>
          <a:xfrm>
            <a:off x="761695" y="2924251"/>
            <a:ext cx="142646" cy="152705"/>
          </a:xfrm>
          <a:prstGeom prst="rect">
            <a:avLst/>
          </a:prstGeom>
        </p:spPr>
      </p:pic>
      <p:sp>
        <p:nvSpPr>
          <p:cNvPr id="25" name="Text 15"/>
          <p:cNvSpPr txBox="1"/>
          <p:nvPr/>
        </p:nvSpPr>
        <p:spPr>
          <a:xfrm>
            <a:off x="1000354" y="2885846"/>
            <a:ext cx="907085" cy="162763"/>
          </a:xfrm>
          <a:prstGeom prst="rect">
            <a:avLst/>
          </a:prstGeom>
          <a:noFill/>
          <a:ln/>
        </p:spPr>
        <p:txBody>
          <a:bodyPr wrap="none" lIns="0" tIns="0" rIns="0" bIns="0" rtlCol="0" anchor="ctr"/>
          <a:lstStyle/>
          <a:p>
            <a:pPr marL="0" indent="0" algn="l">
              <a:buNone/>
            </a:pPr>
            <a:r>
              <a:rPr lang="en-US" sz="1000" b="1" dirty="0">
                <a:solidFill>
                  <a:srgbClr val="111827"/>
                </a:solidFill>
                <a:latin typeface="Raleway" pitchFamily="34" charset="0"/>
                <a:ea typeface="Raleway" pitchFamily="34" charset="-122"/>
                <a:cs typeface="Raleway" pitchFamily="34" charset="-120"/>
              </a:rPr>
              <a:t>Middle East</a:t>
            </a:r>
            <a:endParaRPr lang="en-US" sz="1000" dirty="0"/>
          </a:p>
        </p:txBody>
      </p:sp>
      <p:sp>
        <p:nvSpPr>
          <p:cNvPr id="26" name="Text 16"/>
          <p:cNvSpPr txBox="1"/>
          <p:nvPr/>
        </p:nvSpPr>
        <p:spPr>
          <a:xfrm>
            <a:off x="1000354" y="3047695"/>
            <a:ext cx="762610" cy="143561"/>
          </a:xfrm>
          <a:prstGeom prst="rect">
            <a:avLst/>
          </a:prstGeom>
          <a:noFill/>
          <a:ln/>
        </p:spPr>
        <p:txBody>
          <a:bodyPr wrap="non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UAE</a:t>
            </a:r>
            <a:endParaRPr lang="en-US" sz="900" dirty="0"/>
          </a:p>
        </p:txBody>
      </p:sp>
      <p:sp>
        <p:nvSpPr>
          <p:cNvPr id="27" name="Shape 17"/>
          <p:cNvSpPr/>
          <p:nvPr/>
        </p:nvSpPr>
        <p:spPr>
          <a:xfrm>
            <a:off x="705002" y="3276295"/>
            <a:ext cx="2915107" cy="381305"/>
          </a:xfrm>
          <a:prstGeom prst="roundRect">
            <a:avLst>
              <a:gd name="adj" fmla="val 10072"/>
            </a:avLst>
          </a:prstGeom>
          <a:solidFill>
            <a:srgbClr val="F0FDFA"/>
          </a:solidFill>
          <a:ln w="12700">
            <a:solidFill>
              <a:srgbClr val="FFFFFF">
                <a:alpha val="0"/>
              </a:srgbClr>
            </a:solidFill>
            <a:prstDash val="solid"/>
          </a:ln>
        </p:spPr>
        <p:txBody>
          <a:bodyPr/>
          <a:lstStyle/>
          <a:p>
            <a:endParaRPr lang="en-IN"/>
          </a:p>
        </p:txBody>
      </p:sp>
      <p:pic>
        <p:nvPicPr>
          <p:cNvPr id="28" name="Image 8" descr="gen-dedup-e92a841183e4a8efd3073a3a19d08132.png"/>
          <p:cNvPicPr>
            <a:picLocks noChangeAspect="1"/>
          </p:cNvPicPr>
          <p:nvPr/>
        </p:nvPicPr>
        <p:blipFill>
          <a:blip r:embed="rId8"/>
          <a:srcRect t="-10217" b="-10217"/>
          <a:stretch/>
        </p:blipFill>
        <p:spPr>
          <a:xfrm>
            <a:off x="761695" y="3353105"/>
            <a:ext cx="142646" cy="152705"/>
          </a:xfrm>
          <a:prstGeom prst="rect">
            <a:avLst/>
          </a:prstGeom>
        </p:spPr>
      </p:pic>
      <p:sp>
        <p:nvSpPr>
          <p:cNvPr id="29" name="Text 18"/>
          <p:cNvSpPr txBox="1"/>
          <p:nvPr/>
        </p:nvSpPr>
        <p:spPr>
          <a:xfrm>
            <a:off x="1000354" y="3314700"/>
            <a:ext cx="1390802" cy="162763"/>
          </a:xfrm>
          <a:prstGeom prst="rect">
            <a:avLst/>
          </a:prstGeom>
          <a:noFill/>
          <a:ln/>
        </p:spPr>
        <p:txBody>
          <a:bodyPr wrap="none" lIns="0" tIns="0" rIns="0" bIns="0" rtlCol="0" anchor="ctr"/>
          <a:lstStyle/>
          <a:p>
            <a:pPr marL="0" indent="0" algn="l">
              <a:buNone/>
            </a:pPr>
            <a:r>
              <a:rPr lang="en-US" sz="1000" b="1" dirty="0">
                <a:solidFill>
                  <a:srgbClr val="2A9D8F"/>
                </a:solidFill>
                <a:latin typeface="Raleway" pitchFamily="34" charset="0"/>
                <a:ea typeface="Raleway" pitchFamily="34" charset="-122"/>
                <a:cs typeface="Raleway" pitchFamily="34" charset="-120"/>
              </a:rPr>
              <a:t>South Asia</a:t>
            </a:r>
            <a:endParaRPr lang="en-US" sz="1000" dirty="0"/>
          </a:p>
        </p:txBody>
      </p:sp>
      <p:sp>
        <p:nvSpPr>
          <p:cNvPr id="30" name="Text 19"/>
          <p:cNvSpPr txBox="1"/>
          <p:nvPr/>
        </p:nvSpPr>
        <p:spPr>
          <a:xfrm>
            <a:off x="1000354" y="3476549"/>
            <a:ext cx="1655064" cy="143561"/>
          </a:xfrm>
          <a:prstGeom prst="rect">
            <a:avLst/>
          </a:prstGeom>
          <a:noFill/>
          <a:ln/>
        </p:spPr>
        <p:txBody>
          <a:bodyPr wrap="none" lIns="0" tIns="0" rIns="0" bIns="0" rtlCol="0" anchor="ctr"/>
          <a:lstStyle/>
          <a:p>
            <a:pPr marL="0" indent="0" algn="l">
              <a:buNone/>
            </a:pPr>
            <a:r>
              <a:rPr lang="en-US" sz="900" b="1" dirty="0">
                <a:solidFill>
                  <a:srgbClr val="111827"/>
                </a:solidFill>
                <a:latin typeface="Raleway" pitchFamily="34" charset="0"/>
                <a:ea typeface="Raleway" pitchFamily="34" charset="-122"/>
                <a:cs typeface="Raleway" pitchFamily="34" charset="-120"/>
              </a:rPr>
              <a:t>India, Core Delivery Hub</a:t>
            </a:r>
            <a:endParaRPr lang="en-US" sz="900" dirty="0"/>
          </a:p>
        </p:txBody>
      </p:sp>
      <p:pic>
        <p:nvPicPr>
          <p:cNvPr id="31" name="Image 9" descr="gen-dedup-9bfaaf4462b1ee9079502eb762f47b5b.png"/>
          <p:cNvPicPr>
            <a:picLocks noChangeAspect="1"/>
          </p:cNvPicPr>
          <p:nvPr/>
        </p:nvPicPr>
        <p:blipFill>
          <a:blip r:embed="rId7"/>
          <a:srcRect l="-12275" r="-12275"/>
          <a:stretch/>
        </p:blipFill>
        <p:spPr>
          <a:xfrm>
            <a:off x="761695" y="3781044"/>
            <a:ext cx="142646" cy="152705"/>
          </a:xfrm>
          <a:prstGeom prst="rect">
            <a:avLst/>
          </a:prstGeom>
        </p:spPr>
      </p:pic>
      <p:sp>
        <p:nvSpPr>
          <p:cNvPr id="32" name="Text 20"/>
          <p:cNvSpPr txBox="1"/>
          <p:nvPr/>
        </p:nvSpPr>
        <p:spPr>
          <a:xfrm>
            <a:off x="1000354" y="3743554"/>
            <a:ext cx="1144829" cy="162763"/>
          </a:xfrm>
          <a:prstGeom prst="rect">
            <a:avLst/>
          </a:prstGeom>
          <a:noFill/>
          <a:ln/>
        </p:spPr>
        <p:txBody>
          <a:bodyPr wrap="none" lIns="0" tIns="0" rIns="0" bIns="0" rtlCol="0" anchor="ctr"/>
          <a:lstStyle/>
          <a:p>
            <a:pPr marL="0" indent="0" algn="l">
              <a:buNone/>
            </a:pPr>
            <a:r>
              <a:rPr lang="en-US" sz="1000" b="1" dirty="0">
                <a:solidFill>
                  <a:srgbClr val="111827"/>
                </a:solidFill>
                <a:latin typeface="Raleway" pitchFamily="34" charset="0"/>
                <a:ea typeface="Raleway" pitchFamily="34" charset="-122"/>
                <a:cs typeface="Raleway" pitchFamily="34" charset="-120"/>
              </a:rPr>
              <a:t>Southeast Asia</a:t>
            </a:r>
            <a:endParaRPr lang="en-US" sz="1000" dirty="0"/>
          </a:p>
        </p:txBody>
      </p:sp>
      <p:sp>
        <p:nvSpPr>
          <p:cNvPr id="33" name="Text 21"/>
          <p:cNvSpPr txBox="1"/>
          <p:nvPr/>
        </p:nvSpPr>
        <p:spPr>
          <a:xfrm>
            <a:off x="1000354" y="3905402"/>
            <a:ext cx="962863" cy="143561"/>
          </a:xfrm>
          <a:prstGeom prst="rect">
            <a:avLst/>
          </a:prstGeom>
          <a:noFill/>
          <a:ln/>
        </p:spPr>
        <p:txBody>
          <a:bodyPr wrap="non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Philippines</a:t>
            </a:r>
            <a:endParaRPr lang="en-US" sz="900" dirty="0"/>
          </a:p>
        </p:txBody>
      </p:sp>
      <p:pic>
        <p:nvPicPr>
          <p:cNvPr id="34" name="Image 10" descr="gen-dedup-9bfaaf4462b1ee9079502eb762f47b5b.png"/>
          <p:cNvPicPr>
            <a:picLocks noChangeAspect="1"/>
          </p:cNvPicPr>
          <p:nvPr/>
        </p:nvPicPr>
        <p:blipFill>
          <a:blip r:embed="rId7"/>
          <a:srcRect l="-12275" r="-12275"/>
          <a:stretch/>
        </p:blipFill>
        <p:spPr>
          <a:xfrm>
            <a:off x="761695" y="4172407"/>
            <a:ext cx="142646" cy="152705"/>
          </a:xfrm>
          <a:prstGeom prst="rect">
            <a:avLst/>
          </a:prstGeom>
        </p:spPr>
      </p:pic>
      <p:sp>
        <p:nvSpPr>
          <p:cNvPr id="35" name="Text 22"/>
          <p:cNvSpPr txBox="1"/>
          <p:nvPr/>
        </p:nvSpPr>
        <p:spPr>
          <a:xfrm>
            <a:off x="1000354" y="4134002"/>
            <a:ext cx="1144829" cy="162763"/>
          </a:xfrm>
          <a:prstGeom prst="rect">
            <a:avLst/>
          </a:prstGeom>
          <a:noFill/>
          <a:ln/>
        </p:spPr>
        <p:txBody>
          <a:bodyPr wrap="none" lIns="0" tIns="0" rIns="0" bIns="0" rtlCol="0" anchor="ctr"/>
          <a:lstStyle/>
          <a:p>
            <a:pPr marL="0" indent="0" algn="l">
              <a:buNone/>
            </a:pPr>
            <a:r>
              <a:rPr lang="en-US" sz="1000" b="1" dirty="0">
                <a:solidFill>
                  <a:srgbClr val="111827"/>
                </a:solidFill>
                <a:latin typeface="Raleway" pitchFamily="34" charset="0"/>
                <a:ea typeface="Raleway" pitchFamily="34" charset="-122"/>
                <a:cs typeface="Raleway" pitchFamily="34" charset="-120"/>
              </a:rPr>
              <a:t>Southeast Asia</a:t>
            </a:r>
            <a:endParaRPr lang="en-US" sz="1000" dirty="0"/>
          </a:p>
        </p:txBody>
      </p:sp>
      <p:sp>
        <p:nvSpPr>
          <p:cNvPr id="36" name="Text 23"/>
          <p:cNvSpPr txBox="1"/>
          <p:nvPr/>
        </p:nvSpPr>
        <p:spPr>
          <a:xfrm>
            <a:off x="1000354" y="4295851"/>
            <a:ext cx="962863" cy="143561"/>
          </a:xfrm>
          <a:prstGeom prst="rect">
            <a:avLst/>
          </a:prstGeom>
          <a:noFill/>
          <a:ln/>
        </p:spPr>
        <p:txBody>
          <a:bodyPr wrap="non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Malaysia</a:t>
            </a:r>
            <a:endParaRPr lang="en-US" sz="900" dirty="0"/>
          </a:p>
        </p:txBody>
      </p:sp>
      <p:pic>
        <p:nvPicPr>
          <p:cNvPr id="37" name="Image 11" descr="gen-dedup-9bfaaf4462b1ee9079502eb762f47b5b.png"/>
          <p:cNvPicPr>
            <a:picLocks noChangeAspect="1"/>
          </p:cNvPicPr>
          <p:nvPr/>
        </p:nvPicPr>
        <p:blipFill>
          <a:blip r:embed="rId7"/>
          <a:srcRect l="-12275" r="-12275"/>
          <a:stretch/>
        </p:blipFill>
        <p:spPr>
          <a:xfrm>
            <a:off x="761695" y="4562856"/>
            <a:ext cx="142646" cy="152705"/>
          </a:xfrm>
          <a:prstGeom prst="rect">
            <a:avLst/>
          </a:prstGeom>
        </p:spPr>
      </p:pic>
      <p:sp>
        <p:nvSpPr>
          <p:cNvPr id="38" name="Text 24"/>
          <p:cNvSpPr txBox="1"/>
          <p:nvPr/>
        </p:nvSpPr>
        <p:spPr>
          <a:xfrm>
            <a:off x="1000354" y="4524451"/>
            <a:ext cx="1144829" cy="162763"/>
          </a:xfrm>
          <a:prstGeom prst="rect">
            <a:avLst/>
          </a:prstGeom>
          <a:noFill/>
          <a:ln/>
        </p:spPr>
        <p:txBody>
          <a:bodyPr wrap="none" lIns="0" tIns="0" rIns="0" bIns="0" rtlCol="0" anchor="ctr"/>
          <a:lstStyle/>
          <a:p>
            <a:pPr marL="0" indent="0" algn="l">
              <a:buNone/>
            </a:pPr>
            <a:r>
              <a:rPr lang="en-US" sz="1000" b="1" dirty="0">
                <a:solidFill>
                  <a:srgbClr val="111827"/>
                </a:solidFill>
                <a:latin typeface="Raleway" pitchFamily="34" charset="0"/>
                <a:ea typeface="Raleway" pitchFamily="34" charset="-122"/>
                <a:cs typeface="Raleway" pitchFamily="34" charset="-120"/>
              </a:rPr>
              <a:t>Southeast Asia</a:t>
            </a:r>
            <a:endParaRPr lang="en-US" sz="1000" dirty="0"/>
          </a:p>
        </p:txBody>
      </p:sp>
      <p:sp>
        <p:nvSpPr>
          <p:cNvPr id="39" name="Text 25"/>
          <p:cNvSpPr txBox="1"/>
          <p:nvPr/>
        </p:nvSpPr>
        <p:spPr>
          <a:xfrm>
            <a:off x="1000354" y="4686300"/>
            <a:ext cx="962863" cy="143561"/>
          </a:xfrm>
          <a:prstGeom prst="rect">
            <a:avLst/>
          </a:prstGeom>
          <a:noFill/>
          <a:ln/>
        </p:spPr>
        <p:txBody>
          <a:bodyPr wrap="none" lIns="0" tIns="0" rIns="0" bIns="0" rtlCol="0" anchor="ctr"/>
          <a:lstStyle/>
          <a:p>
            <a:pPr marL="0" indent="0" algn="l">
              <a:buNone/>
            </a:pPr>
            <a:r>
              <a:rPr lang="en-US" sz="900" dirty="0">
                <a:solidFill>
                  <a:srgbClr val="6B7280"/>
                </a:solidFill>
                <a:latin typeface="Raleway" pitchFamily="34" charset="0"/>
                <a:ea typeface="Raleway" pitchFamily="34" charset="-122"/>
                <a:cs typeface="Raleway" pitchFamily="34" charset="-120"/>
              </a:rPr>
              <a:t>Singapore</a:t>
            </a:r>
            <a:endParaRPr lang="en-US" sz="900" dirty="0"/>
          </a:p>
        </p:txBody>
      </p:sp>
      <p:sp>
        <p:nvSpPr>
          <p:cNvPr id="40" name="Text 26"/>
          <p:cNvSpPr txBox="1"/>
          <p:nvPr/>
        </p:nvSpPr>
        <p:spPr>
          <a:xfrm>
            <a:off x="685799" y="5296373"/>
            <a:ext cx="2953512" cy="857707"/>
          </a:xfrm>
          <a:prstGeom prst="rect">
            <a:avLst/>
          </a:prstGeom>
          <a:noFill/>
          <a:ln/>
        </p:spPr>
        <p:txBody>
          <a:bodyPr wrap="square" lIns="0" tIns="0" rIns="0" bIns="0" rtlCol="0" anchor="ctr"/>
          <a:lstStyle/>
          <a:p>
            <a:pPr marL="0" indent="0" algn="l">
              <a:buNone/>
            </a:pPr>
            <a:r>
              <a:rPr lang="en-GB" sz="1000" i="1" dirty="0">
                <a:solidFill>
                  <a:srgbClr val="4B5563"/>
                </a:solidFill>
                <a:latin typeface="Raleway" pitchFamily="34" charset="0"/>
                <a:ea typeface="Raleway" pitchFamily="34" charset="-122"/>
                <a:cs typeface="Raleway" pitchFamily="34" charset="-120"/>
              </a:rPr>
              <a:t>"Each of these locations already runs on a proven delivery model, an established talent pipeline, and compliance groundwork that includes tested backup coverage. That's why a setup here moves faster, draws on talent we already understand, and protects business continuity from day one, running on resilience we've already proven, not resilience we're building for the first time."</a:t>
            </a:r>
            <a:endParaRPr lang="en-US" sz="1000" dirty="0"/>
          </a:p>
        </p:txBody>
      </p:sp>
      <p:sp>
        <p:nvSpPr>
          <p:cNvPr id="41" name="Shape 27"/>
          <p:cNvSpPr/>
          <p:nvPr/>
        </p:nvSpPr>
        <p:spPr>
          <a:xfrm>
            <a:off x="4095598" y="1505102"/>
            <a:ext cx="7524598" cy="19202"/>
          </a:xfrm>
          <a:prstGeom prst="rect">
            <a:avLst/>
          </a:prstGeom>
          <a:solidFill>
            <a:srgbClr val="E5E7EB"/>
          </a:solidFill>
          <a:ln w="12700">
            <a:solidFill>
              <a:srgbClr val="E5E7EB">
                <a:alpha val="0"/>
              </a:srgbClr>
            </a:solidFill>
            <a:prstDash val="solid"/>
          </a:ln>
        </p:spPr>
        <p:txBody>
          <a:bodyPr/>
          <a:lstStyle/>
          <a:p>
            <a:endParaRPr lang="en-IN"/>
          </a:p>
        </p:txBody>
      </p:sp>
      <p:sp>
        <p:nvSpPr>
          <p:cNvPr id="42" name="Text 28"/>
          <p:cNvSpPr txBox="1"/>
          <p:nvPr/>
        </p:nvSpPr>
        <p:spPr>
          <a:xfrm>
            <a:off x="4095598" y="1143000"/>
            <a:ext cx="3959352" cy="314554"/>
          </a:xfrm>
          <a:prstGeom prst="rect">
            <a:avLst/>
          </a:prstGeom>
          <a:noFill/>
          <a:ln/>
        </p:spPr>
        <p:txBody>
          <a:bodyPr wrap="none" lIns="0" tIns="0" rIns="0" bIns="0" rtlCol="0" anchor="ctr"/>
          <a:lstStyle/>
          <a:p>
            <a:pPr marL="0" indent="0" algn="l">
              <a:buNone/>
            </a:pPr>
            <a:r>
              <a:rPr lang="en-US" sz="1600" b="1" dirty="0">
                <a:solidFill>
                  <a:srgbClr val="111827"/>
                </a:solidFill>
                <a:latin typeface="Oswald" pitchFamily="34" charset="0"/>
                <a:ea typeface="Oswald" pitchFamily="34" charset="-122"/>
                <a:cs typeface="Oswald" pitchFamily="34" charset="-120"/>
              </a:rPr>
              <a:t>Deep-Dive Domain Expertise</a:t>
            </a:r>
            <a:endParaRPr lang="en-US" sz="1600" dirty="0"/>
          </a:p>
        </p:txBody>
      </p:sp>
      <p:sp>
        <p:nvSpPr>
          <p:cNvPr id="43" name="Text 29"/>
          <p:cNvSpPr txBox="1"/>
          <p:nvPr/>
        </p:nvSpPr>
        <p:spPr>
          <a:xfrm>
            <a:off x="8122615" y="1285646"/>
            <a:ext cx="4145890" cy="143561"/>
          </a:xfrm>
          <a:prstGeom prst="rect">
            <a:avLst/>
          </a:prstGeom>
          <a:noFill/>
          <a:ln/>
        </p:spPr>
        <p:txBody>
          <a:bodyPr wrap="none" lIns="0" tIns="0" rIns="0" bIns="0" rtlCol="0" anchor="ctr"/>
          <a:lstStyle/>
          <a:p>
            <a:pPr marL="0" indent="0" algn="l">
              <a:buNone/>
            </a:pPr>
            <a:r>
              <a:rPr lang="en-US" sz="900" i="1" dirty="0">
                <a:solidFill>
                  <a:srgbClr val="6B7280"/>
                </a:solidFill>
                <a:latin typeface="Raleway" pitchFamily="34" charset="0"/>
                <a:ea typeface="Raleway" pitchFamily="34" charset="-122"/>
                <a:cs typeface="Raleway" pitchFamily="34" charset="-120"/>
              </a:rPr>
              <a:t>(Functions we cover within each industry)</a:t>
            </a:r>
            <a:endParaRPr lang="en-US" sz="900" dirty="0"/>
          </a:p>
        </p:txBody>
      </p:sp>
      <p:sp>
        <p:nvSpPr>
          <p:cNvPr id="44" name="Shape 30"/>
          <p:cNvSpPr/>
          <p:nvPr/>
        </p:nvSpPr>
        <p:spPr>
          <a:xfrm>
            <a:off x="4095598" y="1619402"/>
            <a:ext cx="1800454" cy="2286000"/>
          </a:xfrm>
          <a:prstGeom prst="roundRect">
            <a:avLst>
              <a:gd name="adj" fmla="val 3200"/>
            </a:avLst>
          </a:prstGeom>
          <a:solidFill>
            <a:srgbClr val="FFFFFF"/>
          </a:solidFill>
          <a:ln w="12700">
            <a:solidFill>
              <a:srgbClr val="E5E7EB"/>
            </a:solidFill>
            <a:prstDash val="solid"/>
          </a:ln>
        </p:spPr>
        <p:txBody>
          <a:bodyPr/>
          <a:lstStyle/>
          <a:p>
            <a:endParaRPr lang="en-IN"/>
          </a:p>
        </p:txBody>
      </p:sp>
      <p:sp>
        <p:nvSpPr>
          <p:cNvPr id="45" name="Shape 31"/>
          <p:cNvSpPr/>
          <p:nvPr/>
        </p:nvSpPr>
        <p:spPr>
          <a:xfrm>
            <a:off x="4095598" y="1619402"/>
            <a:ext cx="1800454" cy="28346"/>
          </a:xfrm>
          <a:prstGeom prst="roundRect">
            <a:avLst>
              <a:gd name="adj" fmla="val 203229"/>
            </a:avLst>
          </a:prstGeom>
          <a:solidFill>
            <a:srgbClr val="2A9D8F"/>
          </a:solidFill>
          <a:ln w="12700">
            <a:solidFill>
              <a:srgbClr val="2A9D8F">
                <a:alpha val="0"/>
              </a:srgbClr>
            </a:solidFill>
            <a:prstDash val="solid"/>
          </a:ln>
        </p:spPr>
        <p:txBody>
          <a:bodyPr/>
          <a:lstStyle/>
          <a:p>
            <a:endParaRPr lang="en-IN"/>
          </a:p>
        </p:txBody>
      </p:sp>
      <p:sp>
        <p:nvSpPr>
          <p:cNvPr id="46" name="Shape 32"/>
          <p:cNvSpPr/>
          <p:nvPr/>
        </p:nvSpPr>
        <p:spPr>
          <a:xfrm>
            <a:off x="4200754" y="2225751"/>
            <a:ext cx="1591056" cy="9144"/>
          </a:xfrm>
          <a:prstGeom prst="rect">
            <a:avLst/>
          </a:prstGeom>
          <a:solidFill>
            <a:srgbClr val="F3F4F6"/>
          </a:solidFill>
          <a:ln w="12700">
            <a:solidFill>
              <a:srgbClr val="F3F4F6">
                <a:alpha val="0"/>
              </a:srgbClr>
            </a:solidFill>
            <a:prstDash val="solid"/>
          </a:ln>
        </p:spPr>
        <p:txBody>
          <a:bodyPr/>
          <a:lstStyle/>
          <a:p>
            <a:endParaRPr lang="en-IN"/>
          </a:p>
        </p:txBody>
      </p:sp>
      <p:pic>
        <p:nvPicPr>
          <p:cNvPr id="47" name="Image 12" descr="gen-dedup-896c006101fe8ea54f2d663a0d8d71de.png"/>
          <p:cNvPicPr>
            <a:picLocks noChangeAspect="1"/>
          </p:cNvPicPr>
          <p:nvPr/>
        </p:nvPicPr>
        <p:blipFill>
          <a:blip r:embed="rId9"/>
          <a:srcRect t="-13478" b="-13478"/>
          <a:stretch/>
        </p:blipFill>
        <p:spPr>
          <a:xfrm>
            <a:off x="4200754" y="1790395"/>
            <a:ext cx="105156" cy="133502"/>
          </a:xfrm>
          <a:prstGeom prst="rect">
            <a:avLst/>
          </a:prstGeom>
        </p:spPr>
      </p:pic>
      <p:sp>
        <p:nvSpPr>
          <p:cNvPr id="48" name="Text 33"/>
          <p:cNvSpPr txBox="1"/>
          <p:nvPr/>
        </p:nvSpPr>
        <p:spPr>
          <a:xfrm>
            <a:off x="4381805" y="1742846"/>
            <a:ext cx="286207" cy="277063"/>
          </a:xfrm>
          <a:prstGeom prst="rect">
            <a:avLst/>
          </a:prstGeom>
          <a:noFill/>
          <a:ln/>
        </p:spPr>
        <p:txBody>
          <a:bodyPr wrap="square" lIns="0" tIns="0" rIns="0" bIns="0" rtlCol="0" anchor="ctr"/>
          <a:lstStyle/>
          <a:p>
            <a:pPr marL="0" indent="0" algn="l">
              <a:buNone/>
            </a:pPr>
            <a:r>
              <a:rPr lang="en-US" sz="1200" b="1" dirty="0">
                <a:solidFill>
                  <a:srgbClr val="111827"/>
                </a:solidFill>
                <a:latin typeface="Oswald" pitchFamily="34" charset="0"/>
                <a:ea typeface="Oswald" pitchFamily="34" charset="-122"/>
                <a:cs typeface="Oswald" pitchFamily="34" charset="-120"/>
              </a:rPr>
              <a:t>BFSI</a:t>
            </a:r>
            <a:endParaRPr lang="en-US" sz="1200" dirty="0"/>
          </a:p>
        </p:txBody>
      </p:sp>
      <p:sp>
        <p:nvSpPr>
          <p:cNvPr id="49" name="Text 34"/>
          <p:cNvSpPr txBox="1"/>
          <p:nvPr/>
        </p:nvSpPr>
        <p:spPr>
          <a:xfrm>
            <a:off x="4207256" y="2319325"/>
            <a:ext cx="1584554" cy="1112825"/>
          </a:xfrm>
          <a:prstGeom prst="rect">
            <a:avLst/>
          </a:prstGeom>
          <a:noFill/>
          <a:ln/>
        </p:spPr>
        <p:txBody>
          <a:bodyPr wrap="square" lIns="0" tIns="0" rIns="0" bIns="0" rtlCol="0" anchor="t"/>
          <a:lstStyle/>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​Cybersecurity &amp; regulatory compliance</a:t>
            </a:r>
            <a:endParaRPr lang="en-US" sz="1000" dirty="0"/>
          </a:p>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​Digital banking engineering</a:t>
            </a:r>
            <a:endParaRPr lang="en-US" sz="1000" dirty="0"/>
          </a:p>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​QA &amp; platform testing</a:t>
            </a:r>
            <a:endParaRPr lang="en-US" sz="1000" dirty="0"/>
          </a:p>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​Finance &amp; technology CoE build</a:t>
            </a:r>
            <a:endParaRPr lang="en-US" sz="1000" dirty="0"/>
          </a:p>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​Talent-on-demand scaling</a:t>
            </a:r>
            <a:endParaRPr lang="en-US" sz="1000" dirty="0"/>
          </a:p>
        </p:txBody>
      </p:sp>
      <p:sp>
        <p:nvSpPr>
          <p:cNvPr id="50" name="Shape 35"/>
          <p:cNvSpPr/>
          <p:nvPr/>
        </p:nvSpPr>
        <p:spPr>
          <a:xfrm>
            <a:off x="6005779" y="1619402"/>
            <a:ext cx="1800454" cy="2286000"/>
          </a:xfrm>
          <a:prstGeom prst="roundRect">
            <a:avLst>
              <a:gd name="adj" fmla="val 3200"/>
            </a:avLst>
          </a:prstGeom>
          <a:solidFill>
            <a:srgbClr val="FFFFFF"/>
          </a:solidFill>
          <a:ln w="12700">
            <a:solidFill>
              <a:srgbClr val="E5E7EB"/>
            </a:solidFill>
            <a:prstDash val="solid"/>
          </a:ln>
        </p:spPr>
        <p:txBody>
          <a:bodyPr/>
          <a:lstStyle/>
          <a:p>
            <a:endParaRPr lang="en-IN"/>
          </a:p>
        </p:txBody>
      </p:sp>
      <p:sp>
        <p:nvSpPr>
          <p:cNvPr id="51" name="Shape 36"/>
          <p:cNvSpPr/>
          <p:nvPr/>
        </p:nvSpPr>
        <p:spPr>
          <a:xfrm>
            <a:off x="6005779" y="1619402"/>
            <a:ext cx="1800454" cy="28346"/>
          </a:xfrm>
          <a:prstGeom prst="roundRect">
            <a:avLst>
              <a:gd name="adj" fmla="val 203229"/>
            </a:avLst>
          </a:prstGeom>
          <a:solidFill>
            <a:srgbClr val="2A9D8F"/>
          </a:solidFill>
          <a:ln w="12700">
            <a:solidFill>
              <a:srgbClr val="2A9D8F">
                <a:alpha val="0"/>
              </a:srgbClr>
            </a:solidFill>
            <a:prstDash val="solid"/>
          </a:ln>
        </p:spPr>
        <p:txBody>
          <a:bodyPr/>
          <a:lstStyle/>
          <a:p>
            <a:endParaRPr lang="en-IN"/>
          </a:p>
        </p:txBody>
      </p:sp>
      <p:sp>
        <p:nvSpPr>
          <p:cNvPr id="52" name="Shape 37"/>
          <p:cNvSpPr/>
          <p:nvPr/>
        </p:nvSpPr>
        <p:spPr>
          <a:xfrm>
            <a:off x="6110021" y="2238451"/>
            <a:ext cx="1591056" cy="9144"/>
          </a:xfrm>
          <a:prstGeom prst="rect">
            <a:avLst/>
          </a:prstGeom>
          <a:solidFill>
            <a:srgbClr val="F3F4F6"/>
          </a:solidFill>
          <a:ln w="12700">
            <a:solidFill>
              <a:srgbClr val="F3F4F6">
                <a:alpha val="0"/>
              </a:srgbClr>
            </a:solidFill>
            <a:prstDash val="solid"/>
          </a:ln>
        </p:spPr>
        <p:txBody>
          <a:bodyPr/>
          <a:lstStyle/>
          <a:p>
            <a:endParaRPr lang="en-IN"/>
          </a:p>
        </p:txBody>
      </p:sp>
      <p:pic>
        <p:nvPicPr>
          <p:cNvPr id="53" name="Image 13" descr="gen-dedup-d16576a25bc70d617e052cac53f3ec88.png"/>
          <p:cNvPicPr>
            <a:picLocks noChangeAspect="1"/>
          </p:cNvPicPr>
          <p:nvPr/>
        </p:nvPicPr>
        <p:blipFill>
          <a:blip r:embed="rId10"/>
          <a:srcRect t="-13478" b="-13478"/>
          <a:stretch/>
        </p:blipFill>
        <p:spPr>
          <a:xfrm>
            <a:off x="6110021" y="1904695"/>
            <a:ext cx="105156" cy="133502"/>
          </a:xfrm>
          <a:prstGeom prst="rect">
            <a:avLst/>
          </a:prstGeom>
        </p:spPr>
      </p:pic>
      <p:sp>
        <p:nvSpPr>
          <p:cNvPr id="54" name="Text 38"/>
          <p:cNvSpPr txBox="1"/>
          <p:nvPr/>
        </p:nvSpPr>
        <p:spPr>
          <a:xfrm>
            <a:off x="6291072" y="1742846"/>
            <a:ext cx="1410005" cy="505663"/>
          </a:xfrm>
          <a:prstGeom prst="rect">
            <a:avLst/>
          </a:prstGeom>
          <a:noFill/>
          <a:ln/>
        </p:spPr>
        <p:txBody>
          <a:bodyPr wrap="square" lIns="0" tIns="0" rIns="0" bIns="0" rtlCol="0" anchor="ctr"/>
          <a:lstStyle/>
          <a:p>
            <a:pPr marL="0" indent="0" algn="l">
              <a:buNone/>
            </a:pPr>
            <a:r>
              <a:rPr lang="en-US" sz="1200" b="1" dirty="0">
                <a:solidFill>
                  <a:srgbClr val="111827"/>
                </a:solidFill>
                <a:latin typeface="Oswald" pitchFamily="34" charset="0"/>
                <a:ea typeface="Oswald" pitchFamily="34" charset="-122"/>
                <a:cs typeface="Oswald" pitchFamily="34" charset="-120"/>
              </a:rPr>
              <a:t>Healthcare &amp; Life Sciences</a:t>
            </a:r>
            <a:endParaRPr lang="en-US" sz="1200" dirty="0"/>
          </a:p>
        </p:txBody>
      </p:sp>
      <p:sp>
        <p:nvSpPr>
          <p:cNvPr id="55" name="Text 39"/>
          <p:cNvSpPr txBox="1"/>
          <p:nvPr/>
        </p:nvSpPr>
        <p:spPr>
          <a:xfrm>
            <a:off x="6116523" y="2324405"/>
            <a:ext cx="1584554" cy="970178"/>
          </a:xfrm>
          <a:prstGeom prst="rect">
            <a:avLst/>
          </a:prstGeom>
          <a:noFill/>
          <a:ln/>
        </p:spPr>
        <p:txBody>
          <a:bodyPr wrap="square" lIns="0" tIns="0" rIns="0" bIns="0" rtlCol="0" anchor="t"/>
          <a:lstStyle/>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​Medical device engineering</a:t>
            </a:r>
            <a:endParaRPr lang="en-US" sz="1000" dirty="0"/>
          </a:p>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​Clinical trials &amp; regulatory compliance</a:t>
            </a:r>
            <a:endParaRPr lang="en-US" sz="1000" dirty="0"/>
          </a:p>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​Patient care applications</a:t>
            </a:r>
            <a:endParaRPr lang="en-US" sz="1000" dirty="0"/>
          </a:p>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​AI-enhanced diagnostics</a:t>
            </a:r>
            <a:endParaRPr lang="en-US" sz="1000" dirty="0"/>
          </a:p>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​Data &amp; analytics</a:t>
            </a:r>
            <a:endParaRPr lang="en-US" sz="1000" dirty="0"/>
          </a:p>
        </p:txBody>
      </p:sp>
      <p:sp>
        <p:nvSpPr>
          <p:cNvPr id="56" name="Shape 40"/>
          <p:cNvSpPr/>
          <p:nvPr/>
        </p:nvSpPr>
        <p:spPr>
          <a:xfrm>
            <a:off x="7915046" y="1619402"/>
            <a:ext cx="1800454" cy="2286000"/>
          </a:xfrm>
          <a:prstGeom prst="roundRect">
            <a:avLst>
              <a:gd name="adj" fmla="val 3200"/>
            </a:avLst>
          </a:prstGeom>
          <a:solidFill>
            <a:srgbClr val="FFFFFF"/>
          </a:solidFill>
          <a:ln w="12700">
            <a:solidFill>
              <a:srgbClr val="E5E7EB"/>
            </a:solidFill>
            <a:prstDash val="solid"/>
          </a:ln>
        </p:spPr>
        <p:txBody>
          <a:bodyPr/>
          <a:lstStyle/>
          <a:p>
            <a:endParaRPr lang="en-IN"/>
          </a:p>
        </p:txBody>
      </p:sp>
      <p:sp>
        <p:nvSpPr>
          <p:cNvPr id="57" name="Shape 41"/>
          <p:cNvSpPr/>
          <p:nvPr/>
        </p:nvSpPr>
        <p:spPr>
          <a:xfrm>
            <a:off x="7915046" y="1619402"/>
            <a:ext cx="1800454" cy="28346"/>
          </a:xfrm>
          <a:prstGeom prst="roundRect">
            <a:avLst>
              <a:gd name="adj" fmla="val 203229"/>
            </a:avLst>
          </a:prstGeom>
          <a:solidFill>
            <a:srgbClr val="D62839"/>
          </a:solidFill>
          <a:ln w="12700">
            <a:solidFill>
              <a:srgbClr val="D62839">
                <a:alpha val="0"/>
              </a:srgbClr>
            </a:solidFill>
            <a:prstDash val="solid"/>
          </a:ln>
        </p:spPr>
        <p:txBody>
          <a:bodyPr/>
          <a:lstStyle/>
          <a:p>
            <a:endParaRPr lang="en-IN"/>
          </a:p>
        </p:txBody>
      </p:sp>
      <p:sp>
        <p:nvSpPr>
          <p:cNvPr id="58" name="Shape 42"/>
          <p:cNvSpPr/>
          <p:nvPr/>
        </p:nvSpPr>
        <p:spPr>
          <a:xfrm>
            <a:off x="8020202" y="2225751"/>
            <a:ext cx="1591056" cy="9144"/>
          </a:xfrm>
          <a:prstGeom prst="rect">
            <a:avLst/>
          </a:prstGeom>
          <a:solidFill>
            <a:srgbClr val="F3F4F6"/>
          </a:solidFill>
          <a:ln w="12700">
            <a:solidFill>
              <a:srgbClr val="F3F4F6">
                <a:alpha val="0"/>
              </a:srgbClr>
            </a:solidFill>
            <a:prstDash val="solid"/>
          </a:ln>
        </p:spPr>
        <p:txBody>
          <a:bodyPr/>
          <a:lstStyle/>
          <a:p>
            <a:endParaRPr lang="en-IN"/>
          </a:p>
        </p:txBody>
      </p:sp>
      <p:pic>
        <p:nvPicPr>
          <p:cNvPr id="59" name="Image 14" descr="gen-dedup-76aa5c73c10f56512efcc2e7a6292230.png"/>
          <p:cNvPicPr>
            <a:picLocks noChangeAspect="1"/>
          </p:cNvPicPr>
          <p:nvPr/>
        </p:nvPicPr>
        <p:blipFill>
          <a:blip r:embed="rId11"/>
          <a:srcRect t="-21413" b="-21413"/>
          <a:stretch/>
        </p:blipFill>
        <p:spPr>
          <a:xfrm>
            <a:off x="8020202" y="1790395"/>
            <a:ext cx="105156" cy="133502"/>
          </a:xfrm>
          <a:prstGeom prst="rect">
            <a:avLst/>
          </a:prstGeom>
        </p:spPr>
      </p:pic>
      <p:sp>
        <p:nvSpPr>
          <p:cNvPr id="60" name="Text 43"/>
          <p:cNvSpPr txBox="1"/>
          <p:nvPr/>
        </p:nvSpPr>
        <p:spPr>
          <a:xfrm>
            <a:off x="8201254" y="1742846"/>
            <a:ext cx="1162202" cy="277063"/>
          </a:xfrm>
          <a:prstGeom prst="rect">
            <a:avLst/>
          </a:prstGeom>
          <a:noFill/>
          <a:ln/>
        </p:spPr>
        <p:txBody>
          <a:bodyPr wrap="square" lIns="0" tIns="0" rIns="0" bIns="0" rtlCol="0" anchor="ctr"/>
          <a:lstStyle/>
          <a:p>
            <a:pPr marL="0" indent="0" algn="l">
              <a:buNone/>
            </a:pPr>
            <a:r>
              <a:rPr lang="en-US" sz="1200" b="1" dirty="0">
                <a:solidFill>
                  <a:srgbClr val="111827"/>
                </a:solidFill>
                <a:latin typeface="Oswald" pitchFamily="34" charset="0"/>
                <a:ea typeface="Oswald" pitchFamily="34" charset="-122"/>
                <a:cs typeface="Oswald" pitchFamily="34" charset="-120"/>
              </a:rPr>
              <a:t>Retail &amp; Consumer</a:t>
            </a:r>
            <a:endParaRPr lang="en-US" sz="1200" dirty="0"/>
          </a:p>
        </p:txBody>
      </p:sp>
      <p:sp>
        <p:nvSpPr>
          <p:cNvPr id="61" name="Text 44"/>
          <p:cNvSpPr txBox="1"/>
          <p:nvPr/>
        </p:nvSpPr>
        <p:spPr>
          <a:xfrm>
            <a:off x="8026705" y="2319325"/>
            <a:ext cx="1584554" cy="1227125"/>
          </a:xfrm>
          <a:prstGeom prst="rect">
            <a:avLst/>
          </a:prstGeom>
          <a:noFill/>
          <a:ln/>
        </p:spPr>
        <p:txBody>
          <a:bodyPr wrap="square" lIns="0" tIns="0" rIns="0" bIns="0" rtlCol="0" anchor="t"/>
          <a:lstStyle/>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​Peak-season &amp; event-scale support</a:t>
            </a:r>
            <a:endParaRPr lang="en-US" sz="1000" dirty="0"/>
          </a:p>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​Supply chain &amp; SAP capability</a:t>
            </a:r>
            <a:endParaRPr lang="en-US" sz="1000" dirty="0"/>
          </a:p>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​Technical support operations</a:t>
            </a:r>
            <a:endParaRPr lang="en-US" sz="1000" dirty="0"/>
          </a:p>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​AI-enabled customer channels</a:t>
            </a:r>
            <a:endParaRPr lang="en-US" sz="1000" dirty="0"/>
          </a:p>
        </p:txBody>
      </p:sp>
      <p:sp>
        <p:nvSpPr>
          <p:cNvPr id="62" name="Shape 45"/>
          <p:cNvSpPr/>
          <p:nvPr/>
        </p:nvSpPr>
        <p:spPr>
          <a:xfrm>
            <a:off x="9825228" y="1619402"/>
            <a:ext cx="1800454" cy="2286000"/>
          </a:xfrm>
          <a:prstGeom prst="roundRect">
            <a:avLst>
              <a:gd name="adj" fmla="val 3200"/>
            </a:avLst>
          </a:prstGeom>
          <a:solidFill>
            <a:srgbClr val="FFFFFF"/>
          </a:solidFill>
          <a:ln w="12700">
            <a:solidFill>
              <a:srgbClr val="E5E7EB"/>
            </a:solidFill>
            <a:prstDash val="solid"/>
          </a:ln>
        </p:spPr>
        <p:txBody>
          <a:bodyPr/>
          <a:lstStyle/>
          <a:p>
            <a:endParaRPr lang="en-IN"/>
          </a:p>
        </p:txBody>
      </p:sp>
      <p:sp>
        <p:nvSpPr>
          <p:cNvPr id="63" name="Shape 46"/>
          <p:cNvSpPr/>
          <p:nvPr/>
        </p:nvSpPr>
        <p:spPr>
          <a:xfrm>
            <a:off x="9825228" y="1619402"/>
            <a:ext cx="1800454" cy="28346"/>
          </a:xfrm>
          <a:prstGeom prst="roundRect">
            <a:avLst>
              <a:gd name="adj" fmla="val 203229"/>
            </a:avLst>
          </a:prstGeom>
          <a:solidFill>
            <a:srgbClr val="D62839"/>
          </a:solidFill>
          <a:ln w="12700">
            <a:solidFill>
              <a:srgbClr val="D62839">
                <a:alpha val="0"/>
              </a:srgbClr>
            </a:solidFill>
            <a:prstDash val="solid"/>
          </a:ln>
        </p:spPr>
        <p:txBody>
          <a:bodyPr/>
          <a:lstStyle/>
          <a:p>
            <a:endParaRPr lang="en-IN"/>
          </a:p>
        </p:txBody>
      </p:sp>
      <p:sp>
        <p:nvSpPr>
          <p:cNvPr id="64" name="Shape 47"/>
          <p:cNvSpPr/>
          <p:nvPr/>
        </p:nvSpPr>
        <p:spPr>
          <a:xfrm>
            <a:off x="9929470" y="2238451"/>
            <a:ext cx="1591056" cy="9144"/>
          </a:xfrm>
          <a:prstGeom prst="rect">
            <a:avLst/>
          </a:prstGeom>
          <a:solidFill>
            <a:srgbClr val="F3F4F6"/>
          </a:solidFill>
          <a:ln w="12700">
            <a:solidFill>
              <a:srgbClr val="F3F4F6">
                <a:alpha val="0"/>
              </a:srgbClr>
            </a:solidFill>
            <a:prstDash val="solid"/>
          </a:ln>
        </p:spPr>
        <p:txBody>
          <a:bodyPr/>
          <a:lstStyle/>
          <a:p>
            <a:endParaRPr lang="en-IN"/>
          </a:p>
        </p:txBody>
      </p:sp>
      <p:pic>
        <p:nvPicPr>
          <p:cNvPr id="65" name="Image 15" descr="gen-dedup-e9108afc4403c9d7e94cd95a524ca43a.png"/>
          <p:cNvPicPr>
            <a:picLocks noChangeAspect="1"/>
          </p:cNvPicPr>
          <p:nvPr/>
        </p:nvPicPr>
        <p:blipFill>
          <a:blip r:embed="rId12"/>
          <a:srcRect t="-13478" b="-13478"/>
          <a:stretch/>
        </p:blipFill>
        <p:spPr>
          <a:xfrm>
            <a:off x="9929470" y="1904695"/>
            <a:ext cx="105156" cy="133502"/>
          </a:xfrm>
          <a:prstGeom prst="rect">
            <a:avLst/>
          </a:prstGeom>
        </p:spPr>
      </p:pic>
      <p:sp>
        <p:nvSpPr>
          <p:cNvPr id="66" name="Text 48"/>
          <p:cNvSpPr txBox="1"/>
          <p:nvPr/>
        </p:nvSpPr>
        <p:spPr>
          <a:xfrm>
            <a:off x="10110521" y="1742846"/>
            <a:ext cx="1410005" cy="505663"/>
          </a:xfrm>
          <a:prstGeom prst="rect">
            <a:avLst/>
          </a:prstGeom>
          <a:noFill/>
          <a:ln/>
        </p:spPr>
        <p:txBody>
          <a:bodyPr wrap="square" lIns="0" tIns="0" rIns="0" bIns="0" rtlCol="0" anchor="ctr"/>
          <a:lstStyle/>
          <a:p>
            <a:pPr marL="0" indent="0" algn="l">
              <a:buNone/>
            </a:pPr>
            <a:r>
              <a:rPr lang="en-US" sz="1200" b="1" dirty="0">
                <a:solidFill>
                  <a:srgbClr val="111827"/>
                </a:solidFill>
                <a:latin typeface="Oswald" pitchFamily="34" charset="0"/>
                <a:ea typeface="Oswald" pitchFamily="34" charset="-122"/>
                <a:cs typeface="Oswald" pitchFamily="34" charset="-120"/>
              </a:rPr>
              <a:t>Automotive &amp; Manufacturing</a:t>
            </a:r>
            <a:endParaRPr lang="en-US" sz="1200" dirty="0"/>
          </a:p>
        </p:txBody>
      </p:sp>
      <p:sp>
        <p:nvSpPr>
          <p:cNvPr id="67" name="Text 49"/>
          <p:cNvSpPr txBox="1"/>
          <p:nvPr/>
        </p:nvSpPr>
        <p:spPr>
          <a:xfrm>
            <a:off x="9935972" y="2324405"/>
            <a:ext cx="1584554" cy="941832"/>
          </a:xfrm>
          <a:prstGeom prst="rect">
            <a:avLst/>
          </a:prstGeom>
          <a:noFill/>
          <a:ln/>
        </p:spPr>
        <p:txBody>
          <a:bodyPr wrap="square" lIns="0" tIns="0" rIns="0" bIns="0" rtlCol="0" anchor="t"/>
          <a:lstStyle/>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​OEM engineering</a:t>
            </a:r>
            <a:endParaRPr lang="en-US" sz="1000" dirty="0"/>
          </a:p>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​Quality engineering &amp; platform testing</a:t>
            </a:r>
            <a:endParaRPr lang="en-US" sz="1000" dirty="0"/>
          </a:p>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​Operational digital twin</a:t>
            </a:r>
            <a:endParaRPr lang="en-US" sz="1000" dirty="0"/>
          </a:p>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​Predictive maintenance (O&amp;M)</a:t>
            </a:r>
            <a:endParaRPr lang="en-US" sz="1000" dirty="0"/>
          </a:p>
        </p:txBody>
      </p:sp>
      <p:sp>
        <p:nvSpPr>
          <p:cNvPr id="68" name="Shape 50"/>
          <p:cNvSpPr/>
          <p:nvPr/>
        </p:nvSpPr>
        <p:spPr>
          <a:xfrm>
            <a:off x="4095598" y="4019702"/>
            <a:ext cx="1800454" cy="2314346"/>
          </a:xfrm>
          <a:prstGeom prst="roundRect">
            <a:avLst>
              <a:gd name="adj" fmla="val 3200"/>
            </a:avLst>
          </a:prstGeom>
          <a:solidFill>
            <a:srgbClr val="FFFFFF"/>
          </a:solidFill>
          <a:ln w="12700">
            <a:solidFill>
              <a:srgbClr val="E5E7EB"/>
            </a:solidFill>
            <a:prstDash val="solid"/>
          </a:ln>
        </p:spPr>
        <p:txBody>
          <a:bodyPr/>
          <a:lstStyle/>
          <a:p>
            <a:endParaRPr lang="en-IN"/>
          </a:p>
        </p:txBody>
      </p:sp>
      <p:sp>
        <p:nvSpPr>
          <p:cNvPr id="69" name="Shape 51"/>
          <p:cNvSpPr/>
          <p:nvPr/>
        </p:nvSpPr>
        <p:spPr>
          <a:xfrm>
            <a:off x="4095598" y="4019702"/>
            <a:ext cx="1800454" cy="28346"/>
          </a:xfrm>
          <a:prstGeom prst="roundRect">
            <a:avLst>
              <a:gd name="adj" fmla="val 203229"/>
            </a:avLst>
          </a:prstGeom>
          <a:solidFill>
            <a:srgbClr val="D62839"/>
          </a:solidFill>
          <a:ln w="12700">
            <a:solidFill>
              <a:srgbClr val="D62839">
                <a:alpha val="0"/>
              </a:srgbClr>
            </a:solidFill>
            <a:prstDash val="solid"/>
          </a:ln>
        </p:spPr>
        <p:txBody>
          <a:bodyPr/>
          <a:lstStyle/>
          <a:p>
            <a:endParaRPr lang="en-IN"/>
          </a:p>
        </p:txBody>
      </p:sp>
      <p:sp>
        <p:nvSpPr>
          <p:cNvPr id="70" name="Shape 52"/>
          <p:cNvSpPr/>
          <p:nvPr/>
        </p:nvSpPr>
        <p:spPr>
          <a:xfrm>
            <a:off x="4200754" y="4410151"/>
            <a:ext cx="1591056" cy="9144"/>
          </a:xfrm>
          <a:prstGeom prst="rect">
            <a:avLst/>
          </a:prstGeom>
          <a:solidFill>
            <a:srgbClr val="F3F4F6"/>
          </a:solidFill>
          <a:ln w="12700">
            <a:solidFill>
              <a:srgbClr val="F3F4F6">
                <a:alpha val="0"/>
              </a:srgbClr>
            </a:solidFill>
            <a:prstDash val="solid"/>
          </a:ln>
        </p:spPr>
        <p:txBody>
          <a:bodyPr/>
          <a:lstStyle/>
          <a:p>
            <a:endParaRPr lang="en-IN"/>
          </a:p>
        </p:txBody>
      </p:sp>
      <p:pic>
        <p:nvPicPr>
          <p:cNvPr id="71" name="Image 16" descr="gen-dedup-60ce7854af1abdabb3647f647581af70.png"/>
          <p:cNvPicPr>
            <a:picLocks noChangeAspect="1"/>
          </p:cNvPicPr>
          <p:nvPr/>
        </p:nvPicPr>
        <p:blipFill>
          <a:blip r:embed="rId13"/>
          <a:srcRect t="-29348" b="-29348"/>
          <a:stretch/>
        </p:blipFill>
        <p:spPr>
          <a:xfrm>
            <a:off x="4200754" y="4190695"/>
            <a:ext cx="105156" cy="133502"/>
          </a:xfrm>
          <a:prstGeom prst="rect">
            <a:avLst/>
          </a:prstGeom>
        </p:spPr>
      </p:pic>
      <p:sp>
        <p:nvSpPr>
          <p:cNvPr id="72" name="Text 53"/>
          <p:cNvSpPr txBox="1"/>
          <p:nvPr/>
        </p:nvSpPr>
        <p:spPr>
          <a:xfrm>
            <a:off x="4381804" y="4143146"/>
            <a:ext cx="1410005" cy="276149"/>
          </a:xfrm>
          <a:prstGeom prst="rect">
            <a:avLst/>
          </a:prstGeom>
          <a:noFill/>
          <a:ln/>
        </p:spPr>
        <p:txBody>
          <a:bodyPr wrap="square" lIns="0" tIns="0" rIns="0" bIns="0" rtlCol="0" anchor="ctr"/>
          <a:lstStyle/>
          <a:p>
            <a:pPr marL="0" indent="0" algn="l">
              <a:buNone/>
            </a:pPr>
            <a:r>
              <a:rPr lang="en-US" sz="1200" b="1" dirty="0">
                <a:solidFill>
                  <a:srgbClr val="111827"/>
                </a:solidFill>
                <a:latin typeface="Oswald" pitchFamily="34" charset="0"/>
                <a:ea typeface="Oswald" pitchFamily="34" charset="-122"/>
                <a:cs typeface="Oswald" pitchFamily="34" charset="-120"/>
              </a:rPr>
              <a:t>Technology &amp; SaaS</a:t>
            </a:r>
            <a:endParaRPr lang="en-US" sz="1200" dirty="0"/>
          </a:p>
        </p:txBody>
      </p:sp>
      <p:sp>
        <p:nvSpPr>
          <p:cNvPr id="73" name="Text 54"/>
          <p:cNvSpPr txBox="1"/>
          <p:nvPr/>
        </p:nvSpPr>
        <p:spPr>
          <a:xfrm>
            <a:off x="4207256" y="4597707"/>
            <a:ext cx="1584554" cy="1256386"/>
          </a:xfrm>
          <a:prstGeom prst="rect">
            <a:avLst/>
          </a:prstGeom>
          <a:noFill/>
          <a:ln/>
        </p:spPr>
        <p:txBody>
          <a:bodyPr wrap="square" lIns="0" tIns="0" rIns="0" bIns="0" rtlCol="0" anchor="t"/>
          <a:lstStyle/>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​Product engineering</a:t>
            </a:r>
            <a:endParaRPr lang="en-US" sz="1000" dirty="0"/>
          </a:p>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​Rapid talent &amp; ODC deployment</a:t>
            </a:r>
            <a:endParaRPr lang="en-US" sz="1000" dirty="0"/>
          </a:p>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​Managed technical support</a:t>
            </a:r>
            <a:endParaRPr lang="en-US" sz="1000" dirty="0"/>
          </a:p>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​Customer engagement operations</a:t>
            </a:r>
            <a:endParaRPr lang="en-US" sz="1000" dirty="0"/>
          </a:p>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​Cybersecurity for infrastructure</a:t>
            </a:r>
            <a:endParaRPr lang="en-US" sz="1000" dirty="0"/>
          </a:p>
        </p:txBody>
      </p:sp>
      <p:sp>
        <p:nvSpPr>
          <p:cNvPr id="74" name="Shape 55"/>
          <p:cNvSpPr/>
          <p:nvPr/>
        </p:nvSpPr>
        <p:spPr>
          <a:xfrm>
            <a:off x="6005779" y="4019702"/>
            <a:ext cx="1800454" cy="2314346"/>
          </a:xfrm>
          <a:prstGeom prst="roundRect">
            <a:avLst>
              <a:gd name="adj" fmla="val 3200"/>
            </a:avLst>
          </a:prstGeom>
          <a:solidFill>
            <a:srgbClr val="FFFFFF"/>
          </a:solidFill>
          <a:ln w="12700">
            <a:solidFill>
              <a:srgbClr val="E5E7EB"/>
            </a:solidFill>
            <a:prstDash val="solid"/>
          </a:ln>
        </p:spPr>
        <p:txBody>
          <a:bodyPr/>
          <a:lstStyle/>
          <a:p>
            <a:endParaRPr lang="en-IN"/>
          </a:p>
        </p:txBody>
      </p:sp>
      <p:sp>
        <p:nvSpPr>
          <p:cNvPr id="75" name="Shape 56"/>
          <p:cNvSpPr/>
          <p:nvPr/>
        </p:nvSpPr>
        <p:spPr>
          <a:xfrm>
            <a:off x="6005779" y="4019702"/>
            <a:ext cx="1800454" cy="28346"/>
          </a:xfrm>
          <a:prstGeom prst="roundRect">
            <a:avLst>
              <a:gd name="adj" fmla="val 203229"/>
            </a:avLst>
          </a:prstGeom>
          <a:solidFill>
            <a:srgbClr val="2A9D8F"/>
          </a:solidFill>
          <a:ln w="12700">
            <a:solidFill>
              <a:srgbClr val="2A9D8F">
                <a:alpha val="0"/>
              </a:srgbClr>
            </a:solidFill>
            <a:prstDash val="solid"/>
          </a:ln>
        </p:spPr>
        <p:txBody>
          <a:bodyPr/>
          <a:lstStyle/>
          <a:p>
            <a:endParaRPr lang="en-IN"/>
          </a:p>
        </p:txBody>
      </p:sp>
      <p:sp>
        <p:nvSpPr>
          <p:cNvPr id="76" name="Shape 57"/>
          <p:cNvSpPr/>
          <p:nvPr/>
        </p:nvSpPr>
        <p:spPr>
          <a:xfrm>
            <a:off x="6110021" y="4410151"/>
            <a:ext cx="1591056" cy="9144"/>
          </a:xfrm>
          <a:prstGeom prst="rect">
            <a:avLst/>
          </a:prstGeom>
          <a:solidFill>
            <a:srgbClr val="F3F4F6"/>
          </a:solidFill>
          <a:ln w="12700">
            <a:solidFill>
              <a:srgbClr val="F3F4F6">
                <a:alpha val="0"/>
              </a:srgbClr>
            </a:solidFill>
            <a:prstDash val="solid"/>
          </a:ln>
        </p:spPr>
        <p:txBody>
          <a:bodyPr/>
          <a:lstStyle/>
          <a:p>
            <a:endParaRPr lang="en-IN"/>
          </a:p>
        </p:txBody>
      </p:sp>
      <p:pic>
        <p:nvPicPr>
          <p:cNvPr id="77" name="Image 17" descr="gen-dedup-db112cd11bc1dc8e2a10068263b6a7ba.png"/>
          <p:cNvPicPr>
            <a:picLocks noChangeAspect="1"/>
          </p:cNvPicPr>
          <p:nvPr/>
        </p:nvPicPr>
        <p:blipFill>
          <a:blip r:embed="rId14"/>
          <a:srcRect t="-21413" b="-21413"/>
          <a:stretch/>
        </p:blipFill>
        <p:spPr>
          <a:xfrm>
            <a:off x="6110021" y="4190695"/>
            <a:ext cx="105156" cy="133502"/>
          </a:xfrm>
          <a:prstGeom prst="rect">
            <a:avLst/>
          </a:prstGeom>
        </p:spPr>
      </p:pic>
      <p:sp>
        <p:nvSpPr>
          <p:cNvPr id="78" name="Text 58"/>
          <p:cNvSpPr txBox="1"/>
          <p:nvPr/>
        </p:nvSpPr>
        <p:spPr>
          <a:xfrm>
            <a:off x="6291071" y="4143146"/>
            <a:ext cx="1410005" cy="276149"/>
          </a:xfrm>
          <a:prstGeom prst="rect">
            <a:avLst/>
          </a:prstGeom>
          <a:noFill/>
          <a:ln/>
        </p:spPr>
        <p:txBody>
          <a:bodyPr wrap="square" lIns="0" tIns="0" rIns="0" bIns="0" rtlCol="0" anchor="ctr"/>
          <a:lstStyle/>
          <a:p>
            <a:pPr marL="0" indent="0" algn="l">
              <a:buNone/>
            </a:pPr>
            <a:r>
              <a:rPr lang="en-US" sz="1200" b="1" dirty="0">
                <a:solidFill>
                  <a:srgbClr val="111827"/>
                </a:solidFill>
                <a:latin typeface="Oswald" pitchFamily="34" charset="0"/>
                <a:ea typeface="Oswald" pitchFamily="34" charset="-122"/>
                <a:cs typeface="Oswald" pitchFamily="34" charset="-120"/>
              </a:rPr>
              <a:t>Telecommunications</a:t>
            </a:r>
            <a:endParaRPr lang="en-US" sz="1200" dirty="0"/>
          </a:p>
        </p:txBody>
      </p:sp>
      <p:sp>
        <p:nvSpPr>
          <p:cNvPr id="79" name="Text 59"/>
          <p:cNvSpPr txBox="1"/>
          <p:nvPr/>
        </p:nvSpPr>
        <p:spPr>
          <a:xfrm>
            <a:off x="6116523" y="4597707"/>
            <a:ext cx="1584554" cy="800100"/>
          </a:xfrm>
          <a:prstGeom prst="rect">
            <a:avLst/>
          </a:prstGeom>
          <a:noFill/>
          <a:ln/>
        </p:spPr>
        <p:txBody>
          <a:bodyPr wrap="square" lIns="0" tIns="0" rIns="0" bIns="0" rtlCol="0" anchor="t"/>
          <a:lstStyle/>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​OTT &amp; platform testing</a:t>
            </a:r>
            <a:endParaRPr lang="en-US" sz="1000" dirty="0"/>
          </a:p>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​Network provisioning</a:t>
            </a:r>
            <a:endParaRPr lang="en-US" sz="1000" dirty="0"/>
          </a:p>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​Partner &amp; MVNO integration</a:t>
            </a:r>
            <a:endParaRPr lang="en-US" sz="1000" dirty="0"/>
          </a:p>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​Customer support transformation</a:t>
            </a:r>
            <a:endParaRPr lang="en-US" sz="1000" dirty="0"/>
          </a:p>
        </p:txBody>
      </p:sp>
      <p:sp>
        <p:nvSpPr>
          <p:cNvPr id="80" name="Shape 60"/>
          <p:cNvSpPr/>
          <p:nvPr/>
        </p:nvSpPr>
        <p:spPr>
          <a:xfrm>
            <a:off x="7915046" y="4019702"/>
            <a:ext cx="1800454" cy="2314346"/>
          </a:xfrm>
          <a:prstGeom prst="roundRect">
            <a:avLst>
              <a:gd name="adj" fmla="val 3200"/>
            </a:avLst>
          </a:prstGeom>
          <a:solidFill>
            <a:srgbClr val="FFFFFF"/>
          </a:solidFill>
          <a:ln w="12700">
            <a:solidFill>
              <a:srgbClr val="E5E7EB"/>
            </a:solidFill>
            <a:prstDash val="solid"/>
          </a:ln>
        </p:spPr>
        <p:txBody>
          <a:bodyPr/>
          <a:lstStyle/>
          <a:p>
            <a:endParaRPr lang="en-IN"/>
          </a:p>
        </p:txBody>
      </p:sp>
      <p:sp>
        <p:nvSpPr>
          <p:cNvPr id="81" name="Shape 61"/>
          <p:cNvSpPr/>
          <p:nvPr/>
        </p:nvSpPr>
        <p:spPr>
          <a:xfrm>
            <a:off x="7915046" y="4019702"/>
            <a:ext cx="1800454" cy="28346"/>
          </a:xfrm>
          <a:prstGeom prst="roundRect">
            <a:avLst>
              <a:gd name="adj" fmla="val 203229"/>
            </a:avLst>
          </a:prstGeom>
          <a:solidFill>
            <a:srgbClr val="2A9D8F"/>
          </a:solidFill>
          <a:ln w="12700">
            <a:solidFill>
              <a:srgbClr val="2A9D8F">
                <a:alpha val="0"/>
              </a:srgbClr>
            </a:solidFill>
            <a:prstDash val="solid"/>
          </a:ln>
        </p:spPr>
        <p:txBody>
          <a:bodyPr/>
          <a:lstStyle/>
          <a:p>
            <a:endParaRPr lang="en-IN"/>
          </a:p>
        </p:txBody>
      </p:sp>
      <p:sp>
        <p:nvSpPr>
          <p:cNvPr id="82" name="Shape 62"/>
          <p:cNvSpPr/>
          <p:nvPr/>
        </p:nvSpPr>
        <p:spPr>
          <a:xfrm>
            <a:off x="8020202" y="4410151"/>
            <a:ext cx="1591056" cy="9144"/>
          </a:xfrm>
          <a:prstGeom prst="rect">
            <a:avLst/>
          </a:prstGeom>
          <a:solidFill>
            <a:srgbClr val="F3F4F6"/>
          </a:solidFill>
          <a:ln w="12700">
            <a:solidFill>
              <a:srgbClr val="F3F4F6">
                <a:alpha val="0"/>
              </a:srgbClr>
            </a:solidFill>
            <a:prstDash val="solid"/>
          </a:ln>
        </p:spPr>
        <p:txBody>
          <a:bodyPr/>
          <a:lstStyle/>
          <a:p>
            <a:endParaRPr lang="en-IN"/>
          </a:p>
        </p:txBody>
      </p:sp>
      <p:pic>
        <p:nvPicPr>
          <p:cNvPr id="83" name="Image 18" descr="gen-dedup-2a0eec6b7b296f5afa314be1c544e862.png"/>
          <p:cNvPicPr>
            <a:picLocks noChangeAspect="1"/>
          </p:cNvPicPr>
          <p:nvPr/>
        </p:nvPicPr>
        <p:blipFill>
          <a:blip r:embed="rId15"/>
          <a:srcRect t="-5544" b="-5544"/>
          <a:stretch/>
        </p:blipFill>
        <p:spPr>
          <a:xfrm>
            <a:off x="8020202" y="4190695"/>
            <a:ext cx="105156" cy="133502"/>
          </a:xfrm>
          <a:prstGeom prst="rect">
            <a:avLst/>
          </a:prstGeom>
        </p:spPr>
      </p:pic>
      <p:sp>
        <p:nvSpPr>
          <p:cNvPr id="84" name="Text 63"/>
          <p:cNvSpPr txBox="1"/>
          <p:nvPr/>
        </p:nvSpPr>
        <p:spPr>
          <a:xfrm>
            <a:off x="8201254" y="4143146"/>
            <a:ext cx="1086307" cy="277063"/>
          </a:xfrm>
          <a:prstGeom prst="rect">
            <a:avLst/>
          </a:prstGeom>
          <a:noFill/>
          <a:ln/>
        </p:spPr>
        <p:txBody>
          <a:bodyPr wrap="square" lIns="0" tIns="0" rIns="0" bIns="0" rtlCol="0" anchor="ctr"/>
          <a:lstStyle/>
          <a:p>
            <a:pPr marL="0" indent="0" algn="l">
              <a:buNone/>
            </a:pPr>
            <a:r>
              <a:rPr lang="en-US" sz="1200" b="1" dirty="0">
                <a:solidFill>
                  <a:srgbClr val="111827"/>
                </a:solidFill>
                <a:latin typeface="Oswald" pitchFamily="34" charset="0"/>
                <a:ea typeface="Oswald" pitchFamily="34" charset="-122"/>
                <a:cs typeface="Oswald" pitchFamily="34" charset="-120"/>
              </a:rPr>
              <a:t>Energy &amp; Utilities</a:t>
            </a:r>
            <a:endParaRPr lang="en-US" sz="1200" dirty="0"/>
          </a:p>
        </p:txBody>
      </p:sp>
      <p:sp>
        <p:nvSpPr>
          <p:cNvPr id="85" name="Text 64"/>
          <p:cNvSpPr txBox="1"/>
          <p:nvPr/>
        </p:nvSpPr>
        <p:spPr>
          <a:xfrm>
            <a:off x="8026705" y="4597707"/>
            <a:ext cx="1584554" cy="799186"/>
          </a:xfrm>
          <a:prstGeom prst="rect">
            <a:avLst/>
          </a:prstGeom>
          <a:noFill/>
          <a:ln/>
        </p:spPr>
        <p:txBody>
          <a:bodyPr wrap="square" lIns="0" tIns="0" rIns="0" bIns="0" rtlCol="0" anchor="t"/>
          <a:lstStyle/>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​Grid &amp; generation forecasting</a:t>
            </a:r>
            <a:endParaRPr lang="en-US" sz="1000" dirty="0"/>
          </a:p>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​ODC / BPO build</a:t>
            </a:r>
            <a:endParaRPr lang="en-US" sz="1000" dirty="0"/>
          </a:p>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​Operational digital twin</a:t>
            </a:r>
            <a:endParaRPr lang="en-US" sz="1000" dirty="0"/>
          </a:p>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​Talent sprints</a:t>
            </a:r>
            <a:endParaRPr lang="en-US" sz="1000" dirty="0"/>
          </a:p>
        </p:txBody>
      </p:sp>
      <p:sp>
        <p:nvSpPr>
          <p:cNvPr id="86" name="Shape 65"/>
          <p:cNvSpPr/>
          <p:nvPr/>
        </p:nvSpPr>
        <p:spPr>
          <a:xfrm>
            <a:off x="9825228" y="4019702"/>
            <a:ext cx="1800454" cy="2314346"/>
          </a:xfrm>
          <a:prstGeom prst="roundRect">
            <a:avLst>
              <a:gd name="adj" fmla="val 3200"/>
            </a:avLst>
          </a:prstGeom>
          <a:solidFill>
            <a:srgbClr val="FFFFFF"/>
          </a:solidFill>
          <a:ln w="12700">
            <a:solidFill>
              <a:srgbClr val="E5E7EB"/>
            </a:solidFill>
            <a:prstDash val="solid"/>
          </a:ln>
        </p:spPr>
        <p:txBody>
          <a:bodyPr/>
          <a:lstStyle/>
          <a:p>
            <a:endParaRPr lang="en-IN"/>
          </a:p>
        </p:txBody>
      </p:sp>
      <p:sp>
        <p:nvSpPr>
          <p:cNvPr id="87" name="Shape 66"/>
          <p:cNvSpPr/>
          <p:nvPr/>
        </p:nvSpPr>
        <p:spPr>
          <a:xfrm>
            <a:off x="9825228" y="4019702"/>
            <a:ext cx="1800454" cy="28346"/>
          </a:xfrm>
          <a:prstGeom prst="roundRect">
            <a:avLst>
              <a:gd name="adj" fmla="val 203229"/>
            </a:avLst>
          </a:prstGeom>
          <a:solidFill>
            <a:srgbClr val="D62839"/>
          </a:solidFill>
          <a:ln w="12700">
            <a:solidFill>
              <a:srgbClr val="D62839">
                <a:alpha val="0"/>
              </a:srgbClr>
            </a:solidFill>
            <a:prstDash val="solid"/>
          </a:ln>
        </p:spPr>
        <p:txBody>
          <a:bodyPr/>
          <a:lstStyle/>
          <a:p>
            <a:endParaRPr lang="en-IN"/>
          </a:p>
        </p:txBody>
      </p:sp>
      <p:sp>
        <p:nvSpPr>
          <p:cNvPr id="88" name="Shape 67"/>
          <p:cNvSpPr/>
          <p:nvPr/>
        </p:nvSpPr>
        <p:spPr>
          <a:xfrm>
            <a:off x="9929470" y="4410151"/>
            <a:ext cx="1591056" cy="9144"/>
          </a:xfrm>
          <a:prstGeom prst="rect">
            <a:avLst/>
          </a:prstGeom>
          <a:solidFill>
            <a:srgbClr val="F3F4F6"/>
          </a:solidFill>
          <a:ln w="12700">
            <a:solidFill>
              <a:srgbClr val="F3F4F6">
                <a:alpha val="0"/>
              </a:srgbClr>
            </a:solidFill>
            <a:prstDash val="solid"/>
          </a:ln>
        </p:spPr>
        <p:txBody>
          <a:bodyPr/>
          <a:lstStyle/>
          <a:p>
            <a:endParaRPr lang="en-IN"/>
          </a:p>
        </p:txBody>
      </p:sp>
      <p:pic>
        <p:nvPicPr>
          <p:cNvPr id="89" name="Image 19" descr="gen-dedup-f7dad2b3d09df91391c7d77dacc8fd4f.png"/>
          <p:cNvPicPr>
            <a:picLocks noChangeAspect="1"/>
          </p:cNvPicPr>
          <p:nvPr/>
        </p:nvPicPr>
        <p:blipFill>
          <a:blip r:embed="rId16"/>
          <a:srcRect t="-13478" b="-13478"/>
          <a:stretch/>
        </p:blipFill>
        <p:spPr>
          <a:xfrm>
            <a:off x="9929470" y="4190695"/>
            <a:ext cx="105156" cy="133502"/>
          </a:xfrm>
          <a:prstGeom prst="rect">
            <a:avLst/>
          </a:prstGeom>
        </p:spPr>
      </p:pic>
      <p:sp>
        <p:nvSpPr>
          <p:cNvPr id="90" name="Text 68"/>
          <p:cNvSpPr txBox="1"/>
          <p:nvPr/>
        </p:nvSpPr>
        <p:spPr>
          <a:xfrm>
            <a:off x="10110521" y="4143146"/>
            <a:ext cx="1334110" cy="277063"/>
          </a:xfrm>
          <a:prstGeom prst="rect">
            <a:avLst/>
          </a:prstGeom>
          <a:noFill/>
          <a:ln/>
        </p:spPr>
        <p:txBody>
          <a:bodyPr wrap="square" lIns="0" tIns="0" rIns="0" bIns="0" rtlCol="0" anchor="ctr"/>
          <a:lstStyle/>
          <a:p>
            <a:pPr marL="0" indent="0" algn="l">
              <a:buNone/>
            </a:pPr>
            <a:r>
              <a:rPr lang="en-US" sz="1200" b="1" dirty="0">
                <a:solidFill>
                  <a:srgbClr val="111827"/>
                </a:solidFill>
                <a:latin typeface="Oswald" pitchFamily="34" charset="0"/>
                <a:ea typeface="Oswald" pitchFamily="34" charset="-122"/>
                <a:cs typeface="Oswald" pitchFamily="34" charset="-120"/>
              </a:rPr>
              <a:t>Professional Services</a:t>
            </a:r>
            <a:endParaRPr lang="en-US" sz="1200" dirty="0"/>
          </a:p>
        </p:txBody>
      </p:sp>
      <p:sp>
        <p:nvSpPr>
          <p:cNvPr id="91" name="Text 69"/>
          <p:cNvSpPr txBox="1"/>
          <p:nvPr/>
        </p:nvSpPr>
        <p:spPr>
          <a:xfrm>
            <a:off x="9935972" y="4597707"/>
            <a:ext cx="1584554" cy="628193"/>
          </a:xfrm>
          <a:prstGeom prst="rect">
            <a:avLst/>
          </a:prstGeom>
          <a:noFill/>
          <a:ln/>
        </p:spPr>
        <p:txBody>
          <a:bodyPr wrap="square" lIns="0" tIns="0" rIns="0" bIns="0" rtlCol="0" anchor="t"/>
          <a:lstStyle/>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​GCC strategy &amp; discovery</a:t>
            </a:r>
            <a:endParaRPr lang="en-US" sz="1000" dirty="0"/>
          </a:p>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​Benchmarking &amp; excellence frameworks</a:t>
            </a:r>
            <a:endParaRPr lang="en-US" sz="1000" dirty="0"/>
          </a:p>
          <a:p>
            <a:pPr marL="127000" indent="-127000" algn="l">
              <a:spcAft>
                <a:spcPts val="225"/>
              </a:spcAft>
              <a:buSzPct val="100000"/>
              <a:buChar char="•"/>
            </a:pPr>
            <a:r>
              <a:rPr lang="en-US" sz="1000" dirty="0">
                <a:solidFill>
                  <a:srgbClr val="4B5563"/>
                </a:solidFill>
                <a:latin typeface="Raleway" pitchFamily="34" charset="0"/>
                <a:ea typeface="Raleway" pitchFamily="34" charset="-122"/>
                <a:cs typeface="Raleway" pitchFamily="34" charset="-120"/>
              </a:rPr>
              <a:t>​Transformation PMO</a:t>
            </a:r>
            <a:endParaRPr lang="en-US" sz="1000" dirty="0"/>
          </a:p>
        </p:txBody>
      </p:sp>
      <p:sp>
        <p:nvSpPr>
          <p:cNvPr id="92" name="Text 70"/>
          <p:cNvSpPr txBox="1"/>
          <p:nvPr/>
        </p:nvSpPr>
        <p:spPr>
          <a:xfrm>
            <a:off x="800100" y="6519672"/>
            <a:ext cx="10430561" cy="247802"/>
          </a:xfrm>
          <a:prstGeom prst="rect">
            <a:avLst/>
          </a:prstGeom>
          <a:noFill/>
          <a:ln/>
        </p:spPr>
        <p:txBody>
          <a:bodyPr wrap="none" lIns="0" tIns="0" rIns="0" bIns="0" rtlCol="0" anchor="ctr"/>
          <a:lstStyle/>
          <a:p>
            <a:pPr marL="0" indent="0" algn="l">
              <a:buNone/>
            </a:pPr>
            <a:r>
              <a:rPr lang="en-US" sz="1300" b="1" dirty="0">
                <a:solidFill>
                  <a:srgbClr val="2A9D8F"/>
                </a:solidFill>
                <a:latin typeface="Oswald" pitchFamily="34" charset="0"/>
                <a:ea typeface="Oswald" pitchFamily="34" charset="-122"/>
                <a:cs typeface="Oswald" pitchFamily="34" charset="-120"/>
              </a:rPr>
              <a:t>PROVEN EXECUTION:   </a:t>
            </a:r>
            <a:r>
              <a:rPr lang="en-US" sz="1000" dirty="0">
                <a:solidFill>
                  <a:srgbClr val="FFFFFF"/>
                </a:solidFill>
                <a:latin typeface="Raleway" pitchFamily="34" charset="0"/>
                <a:ea typeface="Raleway" pitchFamily="34" charset="-122"/>
                <a:cs typeface="Raleway" pitchFamily="34" charset="-120"/>
              </a:rPr>
              <a:t>"Every location mentioned, and every function beside it, is capability we've already exercised, not a category we're claiming."</a:t>
            </a:r>
            <a:endParaRPr lang="en-US" sz="1000" dirty="0"/>
          </a:p>
        </p:txBody>
      </p:sp>
      <p:pic>
        <p:nvPicPr>
          <p:cNvPr id="93" name="Image 20" descr="gen-dedup-4cafcdb2ad483cfc8fa277d668b8db26.png"/>
          <p:cNvPicPr>
            <a:picLocks noChangeAspect="1"/>
          </p:cNvPicPr>
          <p:nvPr/>
        </p:nvPicPr>
        <p:blipFill>
          <a:blip r:embed="rId17"/>
          <a:srcRect t="-14384" b="-14384"/>
          <a:stretch/>
        </p:blipFill>
        <p:spPr>
          <a:xfrm>
            <a:off x="571500" y="6558077"/>
            <a:ext cx="133502" cy="171907"/>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9810598" y="-952805"/>
            <a:ext cx="4286707" cy="4286707"/>
          </a:xfrm>
          <a:prstGeom prst="ellipse">
            <a:avLst/>
          </a:prstGeom>
          <a:solidFill>
            <a:srgbClr val="F0FDFA">
              <a:alpha val="30000"/>
            </a:srgbClr>
          </a:solidFill>
          <a:ln w="12700">
            <a:solidFill>
              <a:srgbClr val="FFFFFF">
                <a:alpha val="0"/>
              </a:srgbClr>
            </a:solidFill>
            <a:prstDash val="solid"/>
          </a:ln>
        </p:spPr>
        <p:txBody>
          <a:bodyPr/>
          <a:lstStyle/>
          <a:p>
            <a:endParaRPr lang="en-IN"/>
          </a:p>
        </p:txBody>
      </p:sp>
      <p:sp>
        <p:nvSpPr>
          <p:cNvPr id="3" name="Shape 1"/>
          <p:cNvSpPr/>
          <p:nvPr/>
        </p:nvSpPr>
        <p:spPr>
          <a:xfrm>
            <a:off x="-952805" y="4476902"/>
            <a:ext cx="3333902" cy="3333902"/>
          </a:xfrm>
          <a:prstGeom prst="ellipse">
            <a:avLst/>
          </a:prstGeom>
          <a:solidFill>
            <a:srgbClr val="FEF2F2">
              <a:alpha val="20000"/>
            </a:srgbClr>
          </a:solidFill>
          <a:ln w="12700">
            <a:solidFill>
              <a:srgbClr val="FFFFFF">
                <a:alpha val="0"/>
              </a:srgbClr>
            </a:solidFill>
            <a:prstDash val="solid"/>
          </a:ln>
        </p:spPr>
        <p:txBody>
          <a:bodyPr/>
          <a:lstStyle/>
          <a:p>
            <a:endParaRPr lang="en-IN"/>
          </a:p>
        </p:txBody>
      </p:sp>
      <p:pic>
        <p:nvPicPr>
          <p:cNvPr id="4" name="Image 0" descr="gen-dedup-be1cb091bc9e8f0495955e933e645e9d.png"/>
          <p:cNvPicPr>
            <a:picLocks noChangeAspect="1"/>
          </p:cNvPicPr>
          <p:nvPr/>
        </p:nvPicPr>
        <p:blipFill>
          <a:blip r:embed="rId3"/>
          <a:srcRect l="-207" r="-207"/>
          <a:stretch/>
        </p:blipFill>
        <p:spPr>
          <a:xfrm>
            <a:off x="0" y="0"/>
            <a:ext cx="4058107" cy="75895"/>
          </a:xfrm>
          <a:prstGeom prst="rect">
            <a:avLst/>
          </a:prstGeom>
        </p:spPr>
      </p:pic>
      <p:pic>
        <p:nvPicPr>
          <p:cNvPr id="5" name="Image 1" descr="gen-dedup-f2129b90ae8f1ca3912ea926e519aa31.png"/>
          <p:cNvPicPr>
            <a:picLocks noChangeAspect="1"/>
          </p:cNvPicPr>
          <p:nvPr/>
        </p:nvPicPr>
        <p:blipFill>
          <a:blip r:embed="rId4"/>
          <a:srcRect l="-202" r="-202"/>
          <a:stretch/>
        </p:blipFill>
        <p:spPr>
          <a:xfrm>
            <a:off x="4058107" y="0"/>
            <a:ext cx="8134502" cy="75895"/>
          </a:xfrm>
          <a:prstGeom prst="rect">
            <a:avLst/>
          </a:prstGeom>
        </p:spPr>
      </p:pic>
      <p:sp>
        <p:nvSpPr>
          <p:cNvPr id="6" name="Shape 2"/>
          <p:cNvSpPr/>
          <p:nvPr/>
        </p:nvSpPr>
        <p:spPr>
          <a:xfrm>
            <a:off x="571500" y="1857146"/>
            <a:ext cx="11048695" cy="724205"/>
          </a:xfrm>
          <a:prstGeom prst="rect">
            <a:avLst/>
          </a:prstGeom>
          <a:solidFill>
            <a:srgbClr val="FFFFFF"/>
          </a:solidFill>
          <a:ln/>
        </p:spPr>
        <p:txBody>
          <a:bodyPr/>
          <a:lstStyle/>
          <a:p>
            <a:endParaRPr lang="en-IN"/>
          </a:p>
        </p:txBody>
      </p:sp>
      <p:sp>
        <p:nvSpPr>
          <p:cNvPr id="7" name="Shape 3"/>
          <p:cNvSpPr/>
          <p:nvPr/>
        </p:nvSpPr>
        <p:spPr>
          <a:xfrm>
            <a:off x="571500" y="1857146"/>
            <a:ext cx="11048695" cy="9144"/>
          </a:xfrm>
          <a:prstGeom prst="rect">
            <a:avLst/>
          </a:prstGeom>
          <a:solidFill>
            <a:srgbClr val="F3F4F6"/>
          </a:solidFill>
          <a:ln w="12700">
            <a:solidFill>
              <a:srgbClr val="F3F4F6">
                <a:alpha val="0"/>
              </a:srgbClr>
            </a:solidFill>
            <a:prstDash val="solid"/>
          </a:ln>
        </p:spPr>
        <p:txBody>
          <a:bodyPr/>
          <a:lstStyle/>
          <a:p>
            <a:endParaRPr lang="en-IN"/>
          </a:p>
        </p:txBody>
      </p:sp>
      <p:sp>
        <p:nvSpPr>
          <p:cNvPr id="8" name="Shape 4"/>
          <p:cNvSpPr/>
          <p:nvPr/>
        </p:nvSpPr>
        <p:spPr>
          <a:xfrm>
            <a:off x="571500" y="2572207"/>
            <a:ext cx="11048695" cy="724205"/>
          </a:xfrm>
          <a:prstGeom prst="rect">
            <a:avLst/>
          </a:prstGeom>
          <a:solidFill>
            <a:srgbClr val="F9FAFB"/>
          </a:solidFill>
          <a:ln/>
        </p:spPr>
        <p:txBody>
          <a:bodyPr/>
          <a:lstStyle/>
          <a:p>
            <a:endParaRPr lang="en-IN"/>
          </a:p>
        </p:txBody>
      </p:sp>
      <p:sp>
        <p:nvSpPr>
          <p:cNvPr id="9" name="Shape 5"/>
          <p:cNvSpPr/>
          <p:nvPr/>
        </p:nvSpPr>
        <p:spPr>
          <a:xfrm>
            <a:off x="571500" y="2572207"/>
            <a:ext cx="11048695" cy="9144"/>
          </a:xfrm>
          <a:prstGeom prst="rect">
            <a:avLst/>
          </a:prstGeom>
          <a:solidFill>
            <a:srgbClr val="F3F4F6"/>
          </a:solidFill>
          <a:ln w="12700">
            <a:solidFill>
              <a:srgbClr val="F3F4F6">
                <a:alpha val="0"/>
              </a:srgbClr>
            </a:solidFill>
            <a:prstDash val="solid"/>
          </a:ln>
        </p:spPr>
        <p:txBody>
          <a:bodyPr/>
          <a:lstStyle/>
          <a:p>
            <a:endParaRPr lang="en-IN"/>
          </a:p>
        </p:txBody>
      </p:sp>
      <p:sp>
        <p:nvSpPr>
          <p:cNvPr id="10" name="Shape 6"/>
          <p:cNvSpPr/>
          <p:nvPr/>
        </p:nvSpPr>
        <p:spPr>
          <a:xfrm>
            <a:off x="571500" y="3286354"/>
            <a:ext cx="11048695" cy="724205"/>
          </a:xfrm>
          <a:prstGeom prst="rect">
            <a:avLst/>
          </a:prstGeom>
          <a:solidFill>
            <a:srgbClr val="FFFFFF"/>
          </a:solidFill>
          <a:ln/>
        </p:spPr>
        <p:txBody>
          <a:bodyPr/>
          <a:lstStyle/>
          <a:p>
            <a:endParaRPr lang="en-IN"/>
          </a:p>
        </p:txBody>
      </p:sp>
      <p:sp>
        <p:nvSpPr>
          <p:cNvPr id="11" name="Shape 7"/>
          <p:cNvSpPr/>
          <p:nvPr/>
        </p:nvSpPr>
        <p:spPr>
          <a:xfrm>
            <a:off x="571500" y="3286354"/>
            <a:ext cx="11048695" cy="9144"/>
          </a:xfrm>
          <a:prstGeom prst="rect">
            <a:avLst/>
          </a:prstGeom>
          <a:solidFill>
            <a:srgbClr val="F3F4F6"/>
          </a:solidFill>
          <a:ln w="12700">
            <a:solidFill>
              <a:srgbClr val="F3F4F6">
                <a:alpha val="0"/>
              </a:srgbClr>
            </a:solidFill>
            <a:prstDash val="solid"/>
          </a:ln>
        </p:spPr>
        <p:txBody>
          <a:bodyPr/>
          <a:lstStyle/>
          <a:p>
            <a:endParaRPr lang="en-IN"/>
          </a:p>
        </p:txBody>
      </p:sp>
      <p:sp>
        <p:nvSpPr>
          <p:cNvPr id="12" name="Shape 8"/>
          <p:cNvSpPr/>
          <p:nvPr/>
        </p:nvSpPr>
        <p:spPr>
          <a:xfrm>
            <a:off x="571500" y="4000500"/>
            <a:ext cx="11048695" cy="724205"/>
          </a:xfrm>
          <a:prstGeom prst="rect">
            <a:avLst/>
          </a:prstGeom>
          <a:solidFill>
            <a:srgbClr val="F9FAFB"/>
          </a:solidFill>
          <a:ln/>
        </p:spPr>
        <p:txBody>
          <a:bodyPr/>
          <a:lstStyle/>
          <a:p>
            <a:endParaRPr lang="en-IN"/>
          </a:p>
        </p:txBody>
      </p:sp>
      <p:sp>
        <p:nvSpPr>
          <p:cNvPr id="13" name="Shape 9"/>
          <p:cNvSpPr/>
          <p:nvPr/>
        </p:nvSpPr>
        <p:spPr>
          <a:xfrm>
            <a:off x="571500" y="4000500"/>
            <a:ext cx="11048695" cy="9144"/>
          </a:xfrm>
          <a:prstGeom prst="rect">
            <a:avLst/>
          </a:prstGeom>
          <a:solidFill>
            <a:srgbClr val="F3F4F6"/>
          </a:solidFill>
          <a:ln w="12700">
            <a:solidFill>
              <a:srgbClr val="F3F4F6">
                <a:alpha val="0"/>
              </a:srgbClr>
            </a:solidFill>
            <a:prstDash val="solid"/>
          </a:ln>
        </p:spPr>
        <p:txBody>
          <a:bodyPr/>
          <a:lstStyle/>
          <a:p>
            <a:endParaRPr lang="en-IN"/>
          </a:p>
        </p:txBody>
      </p:sp>
      <p:sp>
        <p:nvSpPr>
          <p:cNvPr id="14" name="Shape 10"/>
          <p:cNvSpPr/>
          <p:nvPr/>
        </p:nvSpPr>
        <p:spPr>
          <a:xfrm>
            <a:off x="571500" y="4714646"/>
            <a:ext cx="11048695" cy="724205"/>
          </a:xfrm>
          <a:prstGeom prst="rect">
            <a:avLst/>
          </a:prstGeom>
          <a:solidFill>
            <a:srgbClr val="FFFFFF"/>
          </a:solidFill>
          <a:ln/>
        </p:spPr>
        <p:txBody>
          <a:bodyPr/>
          <a:lstStyle/>
          <a:p>
            <a:endParaRPr lang="en-IN"/>
          </a:p>
        </p:txBody>
      </p:sp>
      <p:sp>
        <p:nvSpPr>
          <p:cNvPr id="15" name="Shape 11"/>
          <p:cNvSpPr/>
          <p:nvPr/>
        </p:nvSpPr>
        <p:spPr>
          <a:xfrm>
            <a:off x="571500" y="4714646"/>
            <a:ext cx="11048695" cy="9144"/>
          </a:xfrm>
          <a:prstGeom prst="rect">
            <a:avLst/>
          </a:prstGeom>
          <a:solidFill>
            <a:srgbClr val="F3F4F6"/>
          </a:solidFill>
          <a:ln w="12700">
            <a:solidFill>
              <a:srgbClr val="F3F4F6">
                <a:alpha val="0"/>
              </a:srgbClr>
            </a:solidFill>
            <a:prstDash val="solid"/>
          </a:ln>
        </p:spPr>
        <p:txBody>
          <a:bodyPr/>
          <a:lstStyle/>
          <a:p>
            <a:endParaRPr lang="en-IN"/>
          </a:p>
        </p:txBody>
      </p:sp>
      <p:sp>
        <p:nvSpPr>
          <p:cNvPr id="16" name="Shape 12"/>
          <p:cNvSpPr/>
          <p:nvPr/>
        </p:nvSpPr>
        <p:spPr>
          <a:xfrm>
            <a:off x="571500" y="5667451"/>
            <a:ext cx="11067898" cy="1019556"/>
          </a:xfrm>
          <a:prstGeom prst="roundRect">
            <a:avLst>
              <a:gd name="adj" fmla="val 7444"/>
            </a:avLst>
          </a:prstGeom>
          <a:solidFill>
            <a:srgbClr val="F8FAFC"/>
          </a:solidFill>
          <a:ln w="12700">
            <a:solidFill>
              <a:srgbClr val="E5E7EB"/>
            </a:solidFill>
            <a:prstDash val="solid"/>
          </a:ln>
        </p:spPr>
        <p:txBody>
          <a:bodyPr/>
          <a:lstStyle/>
          <a:p>
            <a:endParaRPr lang="en-IN"/>
          </a:p>
        </p:txBody>
      </p:sp>
      <p:pic>
        <p:nvPicPr>
          <p:cNvPr id="17" name="Image 2" descr="gen-dedup-0c877628185091ea6c3d13ee857a1577.png"/>
          <p:cNvPicPr>
            <a:picLocks noChangeAspect="1"/>
          </p:cNvPicPr>
          <p:nvPr/>
        </p:nvPicPr>
        <p:blipFill>
          <a:blip r:embed="rId5"/>
          <a:srcRect l="-393" r="-393"/>
          <a:stretch/>
        </p:blipFill>
        <p:spPr>
          <a:xfrm>
            <a:off x="571500" y="476402"/>
            <a:ext cx="57607" cy="523951"/>
          </a:xfrm>
          <a:prstGeom prst="rect">
            <a:avLst/>
          </a:prstGeom>
        </p:spPr>
      </p:pic>
      <p:pic>
        <p:nvPicPr>
          <p:cNvPr id="18" name="Image 3" descr="gen-dedup-61333e6c1fae0e78438b991dca337f09.png"/>
          <p:cNvPicPr>
            <a:picLocks noChangeAspect="1"/>
          </p:cNvPicPr>
          <p:nvPr/>
        </p:nvPicPr>
        <p:blipFill>
          <a:blip r:embed="rId6"/>
          <a:srcRect t="-7" b="-7"/>
          <a:stretch/>
        </p:blipFill>
        <p:spPr>
          <a:xfrm>
            <a:off x="2381098" y="1285646"/>
            <a:ext cx="4762195" cy="4267505"/>
          </a:xfrm>
          <a:prstGeom prst="rect">
            <a:avLst/>
          </a:prstGeom>
        </p:spPr>
      </p:pic>
      <p:pic>
        <p:nvPicPr>
          <p:cNvPr id="19" name="Image 4" descr="gen-dedup-59b406a1d2cd5cfb7416a885436b706c.png"/>
          <p:cNvPicPr>
            <a:picLocks noChangeAspect="1"/>
          </p:cNvPicPr>
          <p:nvPr/>
        </p:nvPicPr>
        <p:blipFill>
          <a:blip r:embed="rId7"/>
          <a:srcRect t="-2111" b="-2111"/>
          <a:stretch/>
        </p:blipFill>
        <p:spPr>
          <a:xfrm>
            <a:off x="4095598" y="5952744"/>
            <a:ext cx="9144" cy="428854"/>
          </a:xfrm>
          <a:prstGeom prst="rect">
            <a:avLst/>
          </a:prstGeom>
        </p:spPr>
      </p:pic>
      <p:pic>
        <p:nvPicPr>
          <p:cNvPr id="20" name="Image 5" descr="gen-dedup-59b406a1d2cd5cfb7416a885436b706c.png"/>
          <p:cNvPicPr>
            <a:picLocks noChangeAspect="1"/>
          </p:cNvPicPr>
          <p:nvPr/>
        </p:nvPicPr>
        <p:blipFill>
          <a:blip r:embed="rId7"/>
          <a:srcRect t="-2111" b="-2111"/>
          <a:stretch/>
        </p:blipFill>
        <p:spPr>
          <a:xfrm>
            <a:off x="6001207" y="5952744"/>
            <a:ext cx="9144" cy="428854"/>
          </a:xfrm>
          <a:prstGeom prst="rect">
            <a:avLst/>
          </a:prstGeom>
        </p:spPr>
      </p:pic>
      <p:pic>
        <p:nvPicPr>
          <p:cNvPr id="21" name="Image 6" descr="gen-dedup-59b406a1d2cd5cfb7416a885436b706c.png"/>
          <p:cNvPicPr>
            <a:picLocks noChangeAspect="1"/>
          </p:cNvPicPr>
          <p:nvPr/>
        </p:nvPicPr>
        <p:blipFill>
          <a:blip r:embed="rId7"/>
          <a:srcRect t="-2111" b="-2111"/>
          <a:stretch/>
        </p:blipFill>
        <p:spPr>
          <a:xfrm>
            <a:off x="7905902" y="5952744"/>
            <a:ext cx="9144" cy="428854"/>
          </a:xfrm>
          <a:prstGeom prst="rect">
            <a:avLst/>
          </a:prstGeom>
        </p:spPr>
      </p:pic>
      <p:pic>
        <p:nvPicPr>
          <p:cNvPr id="22" name="Image 7" descr="gen-dedup-59b406a1d2cd5cfb7416a885436b706c.png"/>
          <p:cNvPicPr>
            <a:picLocks noChangeAspect="1"/>
          </p:cNvPicPr>
          <p:nvPr/>
        </p:nvPicPr>
        <p:blipFill>
          <a:blip r:embed="rId7"/>
          <a:srcRect t="-2111" b="-2111"/>
          <a:stretch/>
        </p:blipFill>
        <p:spPr>
          <a:xfrm>
            <a:off x="9810598" y="5952744"/>
            <a:ext cx="9144" cy="428854"/>
          </a:xfrm>
          <a:prstGeom prst="rect">
            <a:avLst/>
          </a:prstGeom>
        </p:spPr>
      </p:pic>
      <p:sp>
        <p:nvSpPr>
          <p:cNvPr id="23" name="Text 13"/>
          <p:cNvSpPr txBox="1"/>
          <p:nvPr/>
        </p:nvSpPr>
        <p:spPr>
          <a:xfrm>
            <a:off x="780898" y="428854"/>
            <a:ext cx="10478110" cy="391363"/>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WHY J2W – NOT THE BIG 4 OR LARGE SIs</a:t>
            </a:r>
            <a:endParaRPr lang="en-US" sz="2700" dirty="0"/>
          </a:p>
        </p:txBody>
      </p:sp>
      <p:sp>
        <p:nvSpPr>
          <p:cNvPr id="24" name="Text 14"/>
          <p:cNvSpPr txBox="1"/>
          <p:nvPr/>
        </p:nvSpPr>
        <p:spPr>
          <a:xfrm>
            <a:off x="780898" y="852221"/>
            <a:ext cx="10478110" cy="200254"/>
          </a:xfrm>
          <a:prstGeom prst="rect">
            <a:avLst/>
          </a:prstGeom>
          <a:noFill/>
          <a:ln/>
        </p:spPr>
        <p:txBody>
          <a:bodyPr wrap="none" lIns="0" tIns="0" rIns="0" bIns="0" rtlCol="0" anchor="ctr"/>
          <a:lstStyle/>
          <a:p>
            <a:pPr marL="0" indent="0" algn="l">
              <a:buNone/>
            </a:pPr>
            <a:r>
              <a:rPr lang="en-US" sz="1300" b="1" kern="0" spc="69" dirty="0">
                <a:solidFill>
                  <a:srgbClr val="2A9D8F"/>
                </a:solidFill>
                <a:latin typeface="Roboto Condensed" pitchFamily="34" charset="0"/>
                <a:ea typeface="Roboto Condensed" pitchFamily="34" charset="-122"/>
                <a:cs typeface="Roboto Condensed" pitchFamily="34" charset="-120"/>
              </a:rPr>
              <a:t>THE SMARTER CHOICE FOR AI &amp; DIGITAL TRANSFORMATION AT SCALE</a:t>
            </a:r>
            <a:endParaRPr lang="en-US" sz="1300" dirty="0"/>
          </a:p>
        </p:txBody>
      </p:sp>
      <p:sp>
        <p:nvSpPr>
          <p:cNvPr id="25" name="Text 15"/>
          <p:cNvSpPr txBox="1"/>
          <p:nvPr/>
        </p:nvSpPr>
        <p:spPr>
          <a:xfrm>
            <a:off x="2476195" y="1380744"/>
            <a:ext cx="4572000" cy="314554"/>
          </a:xfrm>
          <a:prstGeom prst="rect">
            <a:avLst/>
          </a:prstGeom>
          <a:noFill/>
          <a:ln/>
        </p:spPr>
        <p:txBody>
          <a:bodyPr wrap="none" lIns="0" tIns="0" rIns="0" bIns="0" rtlCol="0" anchor="ctr"/>
          <a:lstStyle/>
          <a:p>
            <a:pPr marL="0" indent="0" algn="ctr">
              <a:buNone/>
            </a:pPr>
            <a:r>
              <a:rPr lang="en-US" sz="1600" b="1" dirty="0">
                <a:solidFill>
                  <a:srgbClr val="111827"/>
                </a:solidFill>
                <a:latin typeface="Oswald" pitchFamily="34" charset="0"/>
                <a:ea typeface="Oswald" pitchFamily="34" charset="-122"/>
                <a:cs typeface="Oswald" pitchFamily="34" charset="-120"/>
              </a:rPr>
              <a:t>JoulesToWatts + J2W</a:t>
            </a:r>
            <a:endParaRPr lang="en-US" sz="1600" dirty="0"/>
          </a:p>
        </p:txBody>
      </p:sp>
      <p:sp>
        <p:nvSpPr>
          <p:cNvPr id="26" name="Text 16"/>
          <p:cNvSpPr txBox="1"/>
          <p:nvPr/>
        </p:nvSpPr>
        <p:spPr>
          <a:xfrm>
            <a:off x="7239305" y="1380744"/>
            <a:ext cx="4381805" cy="314554"/>
          </a:xfrm>
          <a:prstGeom prst="rect">
            <a:avLst/>
          </a:prstGeom>
          <a:noFill/>
          <a:ln/>
        </p:spPr>
        <p:txBody>
          <a:bodyPr wrap="none" lIns="0" tIns="0" rIns="0" bIns="0" rtlCol="0" anchor="ctr"/>
          <a:lstStyle/>
          <a:p>
            <a:pPr marL="0" indent="0" algn="ctr">
              <a:buNone/>
            </a:pPr>
            <a:r>
              <a:rPr lang="en-US" sz="1600" b="1" dirty="0">
                <a:solidFill>
                  <a:srgbClr val="6B7280"/>
                </a:solidFill>
                <a:latin typeface="Oswald" pitchFamily="34" charset="0"/>
                <a:ea typeface="Oswald" pitchFamily="34" charset="-122"/>
                <a:cs typeface="Oswald" pitchFamily="34" charset="-120"/>
              </a:rPr>
              <a:t>Big 4 / Top IT SIs</a:t>
            </a:r>
            <a:endParaRPr lang="en-US" sz="1600" dirty="0"/>
          </a:p>
        </p:txBody>
      </p:sp>
      <p:sp>
        <p:nvSpPr>
          <p:cNvPr id="27" name="Text 17"/>
          <p:cNvSpPr txBox="1"/>
          <p:nvPr/>
        </p:nvSpPr>
        <p:spPr>
          <a:xfrm>
            <a:off x="666598" y="1952244"/>
            <a:ext cx="1957730" cy="238658"/>
          </a:xfrm>
          <a:prstGeom prst="rect">
            <a:avLst/>
          </a:prstGeom>
          <a:noFill/>
          <a:ln/>
        </p:spPr>
        <p:txBody>
          <a:bodyPr wrap="none" lIns="0" tIns="0" rIns="0" bIns="0" rtlCol="0" anchor="ctr"/>
          <a:lstStyle/>
          <a:p>
            <a:pPr marL="0" indent="0" algn="l">
              <a:buNone/>
            </a:pPr>
            <a:r>
              <a:rPr lang="en-US" sz="1200" b="1" dirty="0">
                <a:solidFill>
                  <a:srgbClr val="374151"/>
                </a:solidFill>
                <a:latin typeface="Oswald" pitchFamily="34" charset="0"/>
                <a:ea typeface="Oswald" pitchFamily="34" charset="-122"/>
                <a:cs typeface="Oswald" pitchFamily="34" charset="-120"/>
              </a:rPr>
              <a:t>ROI &amp; Outcome Model</a:t>
            </a:r>
            <a:endParaRPr lang="en-US" sz="1200" dirty="0"/>
          </a:p>
        </p:txBody>
      </p:sp>
      <p:sp>
        <p:nvSpPr>
          <p:cNvPr id="28" name="Text 18"/>
          <p:cNvSpPr txBox="1"/>
          <p:nvPr/>
        </p:nvSpPr>
        <p:spPr>
          <a:xfrm>
            <a:off x="2476195" y="1952244"/>
            <a:ext cx="4572000" cy="419710"/>
          </a:xfrm>
          <a:prstGeom prst="rect">
            <a:avLst/>
          </a:prstGeom>
          <a:noFill/>
          <a:ln/>
        </p:spPr>
        <p:txBody>
          <a:bodyPr wrap="square" lIns="0" tIns="0" rIns="0" bIns="0" rtlCol="0" anchor="ctr"/>
          <a:lstStyle/>
          <a:p>
            <a:pPr marL="0" indent="0" algn="l">
              <a:buNone/>
            </a:pPr>
            <a:r>
              <a:rPr lang="en-US" sz="1200" b="1" dirty="0">
                <a:solidFill>
                  <a:srgbClr val="111827"/>
                </a:solidFill>
                <a:latin typeface="Raleway" pitchFamily="34" charset="0"/>
                <a:ea typeface="Raleway" pitchFamily="34" charset="-122"/>
                <a:cs typeface="Raleway" pitchFamily="34" charset="-120"/>
              </a:rPr>
              <a:t>Outcome-driven from Day 1 – aligned to your milestones, CXO ROI expectations &amp; project KPIs</a:t>
            </a:r>
            <a:endParaRPr lang="en-US" sz="1200" dirty="0"/>
          </a:p>
        </p:txBody>
      </p:sp>
      <p:sp>
        <p:nvSpPr>
          <p:cNvPr id="29" name="Text 19"/>
          <p:cNvSpPr txBox="1"/>
          <p:nvPr/>
        </p:nvSpPr>
        <p:spPr>
          <a:xfrm>
            <a:off x="7239305" y="1952244"/>
            <a:ext cx="4381805" cy="419710"/>
          </a:xfrm>
          <a:prstGeom prst="rect">
            <a:avLst/>
          </a:prstGeom>
          <a:noFill/>
          <a:ln/>
        </p:spPr>
        <p:txBody>
          <a:bodyPr wrap="square" lIns="0" tIns="0" rIns="0" bIns="0" rtlCol="0" anchor="ctr"/>
          <a:lstStyle/>
          <a:p>
            <a:pPr marL="0" indent="0" algn="l">
              <a:buNone/>
            </a:pPr>
            <a:r>
              <a:rPr lang="en-US" sz="1200" dirty="0">
                <a:solidFill>
                  <a:srgbClr val="6B7280"/>
                </a:solidFill>
                <a:latin typeface="Raleway" pitchFamily="34" charset="0"/>
                <a:ea typeface="Raleway" pitchFamily="34" charset="-122"/>
                <a:cs typeface="Raleway" pitchFamily="34" charset="-120"/>
              </a:rPr>
              <a:t>Heavy retainers and longer payback cycles. High technical debt risk on failed transformations</a:t>
            </a:r>
            <a:endParaRPr lang="en-US" sz="1200" dirty="0"/>
          </a:p>
        </p:txBody>
      </p:sp>
      <p:sp>
        <p:nvSpPr>
          <p:cNvPr id="30" name="Text 20"/>
          <p:cNvSpPr txBox="1"/>
          <p:nvPr/>
        </p:nvSpPr>
        <p:spPr>
          <a:xfrm>
            <a:off x="666598" y="2667305"/>
            <a:ext cx="1810512" cy="238658"/>
          </a:xfrm>
          <a:prstGeom prst="rect">
            <a:avLst/>
          </a:prstGeom>
          <a:noFill/>
          <a:ln/>
        </p:spPr>
        <p:txBody>
          <a:bodyPr wrap="none" lIns="0" tIns="0" rIns="0" bIns="0" rtlCol="0" anchor="ctr"/>
          <a:lstStyle/>
          <a:p>
            <a:pPr marL="0" indent="0" algn="l">
              <a:buNone/>
            </a:pPr>
            <a:r>
              <a:rPr lang="en-US" sz="1200" b="1" dirty="0">
                <a:solidFill>
                  <a:srgbClr val="374151"/>
                </a:solidFill>
                <a:latin typeface="Oswald" pitchFamily="34" charset="0"/>
                <a:ea typeface="Oswald" pitchFamily="34" charset="-122"/>
                <a:cs typeface="Oswald" pitchFamily="34" charset="-120"/>
              </a:rPr>
              <a:t>Time-to-Value</a:t>
            </a:r>
            <a:endParaRPr lang="en-US" sz="1200" dirty="0"/>
          </a:p>
        </p:txBody>
      </p:sp>
      <p:sp>
        <p:nvSpPr>
          <p:cNvPr id="31" name="Text 21"/>
          <p:cNvSpPr txBox="1"/>
          <p:nvPr/>
        </p:nvSpPr>
        <p:spPr>
          <a:xfrm>
            <a:off x="2476195" y="2667305"/>
            <a:ext cx="4572000" cy="419710"/>
          </a:xfrm>
          <a:prstGeom prst="rect">
            <a:avLst/>
          </a:prstGeom>
          <a:noFill/>
          <a:ln/>
        </p:spPr>
        <p:txBody>
          <a:bodyPr wrap="square" lIns="0" tIns="0" rIns="0" bIns="0" rtlCol="0" anchor="ctr"/>
          <a:lstStyle/>
          <a:p>
            <a:pPr marL="0" indent="0" algn="l">
              <a:buNone/>
            </a:pPr>
            <a:r>
              <a:rPr lang="en-US" sz="1200" b="1" dirty="0">
                <a:solidFill>
                  <a:srgbClr val="111827"/>
                </a:solidFill>
                <a:latin typeface="Raleway" pitchFamily="34" charset="0"/>
                <a:ea typeface="Raleway" pitchFamily="34" charset="-122"/>
                <a:cs typeface="Raleway" pitchFamily="34" charset="-120"/>
              </a:rPr>
              <a:t>Production-ready Gen &amp; Agentic AI PoCs in weeks via 50+ accelerators across SAP, Oracle, ServiceNow &amp; more</a:t>
            </a:r>
            <a:endParaRPr lang="en-US" sz="1200" dirty="0"/>
          </a:p>
        </p:txBody>
      </p:sp>
      <p:sp>
        <p:nvSpPr>
          <p:cNvPr id="32" name="Text 22"/>
          <p:cNvSpPr txBox="1"/>
          <p:nvPr/>
        </p:nvSpPr>
        <p:spPr>
          <a:xfrm>
            <a:off x="7239305" y="2667305"/>
            <a:ext cx="4381805" cy="419710"/>
          </a:xfrm>
          <a:prstGeom prst="rect">
            <a:avLst/>
          </a:prstGeom>
          <a:noFill/>
          <a:ln/>
        </p:spPr>
        <p:txBody>
          <a:bodyPr wrap="square" lIns="0" tIns="0" rIns="0" bIns="0" rtlCol="0" anchor="ctr"/>
          <a:lstStyle/>
          <a:p>
            <a:pPr marL="0" indent="0" algn="l">
              <a:buNone/>
            </a:pPr>
            <a:r>
              <a:rPr lang="en-US" sz="1200" dirty="0">
                <a:solidFill>
                  <a:srgbClr val="6B7280"/>
                </a:solidFill>
                <a:latin typeface="Raleway" pitchFamily="34" charset="0"/>
                <a:ea typeface="Raleway" pitchFamily="34" charset="-122"/>
                <a:cs typeface="Raleway" pitchFamily="34" charset="-120"/>
              </a:rPr>
              <a:t>Lengthy consulting cycles with SI-driven models – higher costs and slower results</a:t>
            </a:r>
            <a:endParaRPr lang="en-US" sz="1200" dirty="0"/>
          </a:p>
        </p:txBody>
      </p:sp>
      <p:sp>
        <p:nvSpPr>
          <p:cNvPr id="33" name="Text 23"/>
          <p:cNvSpPr txBox="1"/>
          <p:nvPr/>
        </p:nvSpPr>
        <p:spPr>
          <a:xfrm>
            <a:off x="666598" y="3381451"/>
            <a:ext cx="2057400" cy="238658"/>
          </a:xfrm>
          <a:prstGeom prst="rect">
            <a:avLst/>
          </a:prstGeom>
          <a:noFill/>
          <a:ln/>
        </p:spPr>
        <p:txBody>
          <a:bodyPr wrap="none" lIns="0" tIns="0" rIns="0" bIns="0" rtlCol="0" anchor="ctr"/>
          <a:lstStyle/>
          <a:p>
            <a:pPr marL="0" indent="0" algn="l">
              <a:buNone/>
            </a:pPr>
            <a:r>
              <a:rPr lang="en-US" sz="1200" b="1" dirty="0">
                <a:solidFill>
                  <a:srgbClr val="374151"/>
                </a:solidFill>
                <a:latin typeface="Oswald" pitchFamily="34" charset="0"/>
                <a:ea typeface="Oswald" pitchFamily="34" charset="-122"/>
                <a:cs typeface="Oswald" pitchFamily="34" charset="-120"/>
              </a:rPr>
              <a:t>AI / Data Governance</a:t>
            </a:r>
            <a:endParaRPr lang="en-US" sz="1200" dirty="0"/>
          </a:p>
        </p:txBody>
      </p:sp>
      <p:sp>
        <p:nvSpPr>
          <p:cNvPr id="34" name="Text 24"/>
          <p:cNvSpPr txBox="1"/>
          <p:nvPr/>
        </p:nvSpPr>
        <p:spPr>
          <a:xfrm>
            <a:off x="2476195" y="3381451"/>
            <a:ext cx="4572000" cy="381305"/>
          </a:xfrm>
          <a:prstGeom prst="rect">
            <a:avLst/>
          </a:prstGeom>
          <a:noFill/>
          <a:ln/>
        </p:spPr>
        <p:txBody>
          <a:bodyPr wrap="square" lIns="0" tIns="0" rIns="0" bIns="0" rtlCol="0" anchor="ctr"/>
          <a:lstStyle/>
          <a:p>
            <a:pPr marL="0" indent="0" algn="l">
              <a:buNone/>
            </a:pPr>
            <a:r>
              <a:rPr lang="en-US" sz="1100" b="1" dirty="0">
                <a:solidFill>
                  <a:srgbClr val="111827"/>
                </a:solidFill>
                <a:latin typeface="Raleway" pitchFamily="34" charset="0"/>
                <a:ea typeface="Raleway" pitchFamily="34" charset="-122"/>
                <a:cs typeface="Raleway" pitchFamily="34" charset="-120"/>
              </a:rPr>
              <a:t>Pre-built guardrails. Mission-critical delivery in regulated industries (Fortune 500 MedTech). Data stays in your environment</a:t>
            </a:r>
            <a:endParaRPr lang="en-US" sz="1100" dirty="0"/>
          </a:p>
        </p:txBody>
      </p:sp>
      <p:sp>
        <p:nvSpPr>
          <p:cNvPr id="35" name="Text 25"/>
          <p:cNvSpPr txBox="1"/>
          <p:nvPr/>
        </p:nvSpPr>
        <p:spPr>
          <a:xfrm>
            <a:off x="7239305" y="3381451"/>
            <a:ext cx="4381805" cy="419710"/>
          </a:xfrm>
          <a:prstGeom prst="rect">
            <a:avLst/>
          </a:prstGeom>
          <a:noFill/>
          <a:ln/>
        </p:spPr>
        <p:txBody>
          <a:bodyPr wrap="square" lIns="0" tIns="0" rIns="0" bIns="0" rtlCol="0" anchor="ctr"/>
          <a:lstStyle/>
          <a:p>
            <a:pPr marL="0" indent="0" algn="l">
              <a:buNone/>
            </a:pPr>
            <a:r>
              <a:rPr lang="en-US" sz="1200" dirty="0">
                <a:solidFill>
                  <a:srgbClr val="6B7280"/>
                </a:solidFill>
                <a:latin typeface="Raleway" pitchFamily="34" charset="0"/>
                <a:ea typeface="Raleway" pitchFamily="34" charset="-122"/>
                <a:cs typeface="Raleway" pitchFamily="34" charset="-120"/>
              </a:rPr>
              <a:t>Claims excellence, but multiple public incidents undermining credibility</a:t>
            </a:r>
            <a:endParaRPr lang="en-US" sz="1200" dirty="0"/>
          </a:p>
        </p:txBody>
      </p:sp>
      <p:sp>
        <p:nvSpPr>
          <p:cNvPr id="36" name="Text 26"/>
          <p:cNvSpPr txBox="1"/>
          <p:nvPr/>
        </p:nvSpPr>
        <p:spPr>
          <a:xfrm>
            <a:off x="666598" y="4095598"/>
            <a:ext cx="2057400" cy="238658"/>
          </a:xfrm>
          <a:prstGeom prst="rect">
            <a:avLst/>
          </a:prstGeom>
          <a:noFill/>
          <a:ln/>
        </p:spPr>
        <p:txBody>
          <a:bodyPr wrap="none" lIns="0" tIns="0" rIns="0" bIns="0" rtlCol="0" anchor="ctr"/>
          <a:lstStyle/>
          <a:p>
            <a:pPr marL="0" indent="0" algn="l">
              <a:buNone/>
            </a:pPr>
            <a:r>
              <a:rPr lang="en-US" sz="1200" b="1" dirty="0">
                <a:solidFill>
                  <a:srgbClr val="374151"/>
                </a:solidFill>
                <a:latin typeface="Oswald" pitchFamily="34" charset="0"/>
                <a:ea typeface="Oswald" pitchFamily="34" charset="-122"/>
                <a:cs typeface="Oswald" pitchFamily="34" charset="-120"/>
              </a:rPr>
              <a:t>AI OPEX Optimisation</a:t>
            </a:r>
            <a:endParaRPr lang="en-US" sz="1200" dirty="0"/>
          </a:p>
        </p:txBody>
      </p:sp>
      <p:sp>
        <p:nvSpPr>
          <p:cNvPr id="37" name="Text 27"/>
          <p:cNvSpPr txBox="1"/>
          <p:nvPr/>
        </p:nvSpPr>
        <p:spPr>
          <a:xfrm>
            <a:off x="2476195" y="4095598"/>
            <a:ext cx="4572000" cy="419710"/>
          </a:xfrm>
          <a:prstGeom prst="rect">
            <a:avLst/>
          </a:prstGeom>
          <a:noFill/>
          <a:ln/>
        </p:spPr>
        <p:txBody>
          <a:bodyPr wrap="square" lIns="0" tIns="0" rIns="0" bIns="0" rtlCol="0" anchor="ctr"/>
          <a:lstStyle/>
          <a:p>
            <a:pPr marL="0" indent="0" algn="l">
              <a:buNone/>
            </a:pPr>
            <a:r>
              <a:rPr lang="en-US" sz="1200" b="1" dirty="0">
                <a:solidFill>
                  <a:srgbClr val="111827"/>
                </a:solidFill>
                <a:latin typeface="Raleway" pitchFamily="34" charset="0"/>
                <a:ea typeface="Raleway" pitchFamily="34" charset="-122"/>
                <a:cs typeface="Raleway" pitchFamily="34" charset="-120"/>
              </a:rPr>
              <a:t>30–40% reduction in AI OPEX via Query Routing, Semantic Caching, Precision RAG &amp; in-house SLMs</a:t>
            </a:r>
            <a:endParaRPr lang="en-US" sz="1200" dirty="0"/>
          </a:p>
        </p:txBody>
      </p:sp>
      <p:sp>
        <p:nvSpPr>
          <p:cNvPr id="38" name="Text 28"/>
          <p:cNvSpPr txBox="1"/>
          <p:nvPr/>
        </p:nvSpPr>
        <p:spPr>
          <a:xfrm>
            <a:off x="7239305" y="4095598"/>
            <a:ext cx="4381805" cy="419710"/>
          </a:xfrm>
          <a:prstGeom prst="rect">
            <a:avLst/>
          </a:prstGeom>
          <a:noFill/>
          <a:ln/>
        </p:spPr>
        <p:txBody>
          <a:bodyPr wrap="square" lIns="0" tIns="0" rIns="0" bIns="0" rtlCol="0" anchor="ctr"/>
          <a:lstStyle/>
          <a:p>
            <a:pPr marL="0" indent="0" algn="l">
              <a:buNone/>
            </a:pPr>
            <a:r>
              <a:rPr lang="en-US" sz="1200" dirty="0">
                <a:solidFill>
                  <a:srgbClr val="6B7280"/>
                </a:solidFill>
                <a:latin typeface="Raleway" pitchFamily="34" charset="0"/>
                <a:ea typeface="Raleway" pitchFamily="34" charset="-122"/>
                <a:cs typeface="Raleway" pitchFamily="34" charset="-120"/>
              </a:rPr>
              <a:t>SI incentivised to maximise licences and tokens—not to optimise your cost</a:t>
            </a:r>
            <a:endParaRPr lang="en-US" sz="1200" dirty="0"/>
          </a:p>
        </p:txBody>
      </p:sp>
      <p:sp>
        <p:nvSpPr>
          <p:cNvPr id="39" name="Text 29"/>
          <p:cNvSpPr txBox="1"/>
          <p:nvPr/>
        </p:nvSpPr>
        <p:spPr>
          <a:xfrm>
            <a:off x="666598" y="4809744"/>
            <a:ext cx="2154326" cy="238658"/>
          </a:xfrm>
          <a:prstGeom prst="rect">
            <a:avLst/>
          </a:prstGeom>
          <a:noFill/>
          <a:ln/>
        </p:spPr>
        <p:txBody>
          <a:bodyPr wrap="none" lIns="0" tIns="0" rIns="0" bIns="0" rtlCol="0" anchor="ctr"/>
          <a:lstStyle/>
          <a:p>
            <a:pPr marL="0" indent="0" algn="l">
              <a:buNone/>
            </a:pPr>
            <a:r>
              <a:rPr lang="en-US" sz="1200" b="1" dirty="0">
                <a:solidFill>
                  <a:srgbClr val="374151"/>
                </a:solidFill>
                <a:latin typeface="Oswald" pitchFamily="34" charset="0"/>
                <a:ea typeface="Oswald" pitchFamily="34" charset="-122"/>
                <a:cs typeface="Oswald" pitchFamily="34" charset="-120"/>
              </a:rPr>
              <a:t>Talent &amp; Managed Services</a:t>
            </a:r>
            <a:endParaRPr lang="en-US" sz="1200" dirty="0"/>
          </a:p>
        </p:txBody>
      </p:sp>
      <p:sp>
        <p:nvSpPr>
          <p:cNvPr id="40" name="Text 30"/>
          <p:cNvSpPr txBox="1"/>
          <p:nvPr/>
        </p:nvSpPr>
        <p:spPr>
          <a:xfrm>
            <a:off x="2476195" y="4809744"/>
            <a:ext cx="4572000" cy="419710"/>
          </a:xfrm>
          <a:prstGeom prst="rect">
            <a:avLst/>
          </a:prstGeom>
          <a:noFill/>
          <a:ln/>
        </p:spPr>
        <p:txBody>
          <a:bodyPr wrap="square" lIns="0" tIns="0" rIns="0" bIns="0" rtlCol="0" anchor="ctr"/>
          <a:lstStyle/>
          <a:p>
            <a:pPr marL="0" indent="0" algn="l">
              <a:buNone/>
            </a:pPr>
            <a:r>
              <a:rPr lang="en-US" sz="1200" b="1" dirty="0">
                <a:solidFill>
                  <a:srgbClr val="111827"/>
                </a:solidFill>
                <a:latin typeface="Raleway" pitchFamily="34" charset="0"/>
                <a:ea typeface="Raleway" pitchFamily="34" charset="-122"/>
                <a:cs typeface="Raleway" pitchFamily="34" charset="-120"/>
              </a:rPr>
              <a:t>7,200+ in-house consultants, 300+ recruiters, 2 proprietary hiring platforms, no subcontracting</a:t>
            </a:r>
            <a:endParaRPr lang="en-US" sz="1200" dirty="0"/>
          </a:p>
        </p:txBody>
      </p:sp>
      <p:sp>
        <p:nvSpPr>
          <p:cNvPr id="41" name="Text 31"/>
          <p:cNvSpPr txBox="1"/>
          <p:nvPr/>
        </p:nvSpPr>
        <p:spPr>
          <a:xfrm>
            <a:off x="7239305" y="4809744"/>
            <a:ext cx="5067605" cy="210312"/>
          </a:xfrm>
          <a:prstGeom prst="rect">
            <a:avLst/>
          </a:prstGeom>
          <a:noFill/>
          <a:ln/>
        </p:spPr>
        <p:txBody>
          <a:bodyPr wrap="none" lIns="0" tIns="0" rIns="0" bIns="0" rtlCol="0" anchor="ctr"/>
          <a:lstStyle/>
          <a:p>
            <a:pPr marL="0" indent="0" algn="l">
              <a:buNone/>
            </a:pPr>
            <a:r>
              <a:rPr lang="en-US" sz="1200" dirty="0">
                <a:solidFill>
                  <a:srgbClr val="6B7280"/>
                </a:solidFill>
                <a:latin typeface="Raleway" pitchFamily="34" charset="0"/>
                <a:ea typeface="Raleway" pitchFamily="34" charset="-122"/>
                <a:cs typeface="Raleway" pitchFamily="34" charset="-120"/>
              </a:rPr>
              <a:t>Frequently subcontract. No proprietary hiring platforms</a:t>
            </a:r>
            <a:endParaRPr lang="en-US" sz="1200" dirty="0"/>
          </a:p>
        </p:txBody>
      </p:sp>
      <p:pic>
        <p:nvPicPr>
          <p:cNvPr id="42" name="Image 8" descr="gen-dedup-29a145fcb957a3f4a2bc1cb5a2ec94cd.png"/>
          <p:cNvPicPr>
            <a:picLocks noChangeAspect="1"/>
          </p:cNvPicPr>
          <p:nvPr/>
        </p:nvPicPr>
        <p:blipFill>
          <a:blip r:embed="rId8"/>
          <a:srcRect t="-13462" b="-13462"/>
          <a:stretch/>
        </p:blipFill>
        <p:spPr>
          <a:xfrm>
            <a:off x="841248" y="6077102"/>
            <a:ext cx="142646" cy="181051"/>
          </a:xfrm>
          <a:prstGeom prst="rect">
            <a:avLst/>
          </a:prstGeom>
        </p:spPr>
      </p:pic>
      <p:sp>
        <p:nvSpPr>
          <p:cNvPr id="43" name="Text 32"/>
          <p:cNvSpPr txBox="1"/>
          <p:nvPr/>
        </p:nvSpPr>
        <p:spPr>
          <a:xfrm>
            <a:off x="1059790" y="6029554"/>
            <a:ext cx="1144829" cy="277063"/>
          </a:xfrm>
          <a:prstGeom prst="rect">
            <a:avLst/>
          </a:prstGeom>
          <a:noFill/>
          <a:ln/>
        </p:spPr>
        <p:txBody>
          <a:bodyPr wrap="none" lIns="0" tIns="0" rIns="0" bIns="0" rtlCol="0" anchor="ctr"/>
          <a:lstStyle/>
          <a:p>
            <a:pPr marL="0" indent="0" algn="l">
              <a:buNone/>
            </a:pPr>
            <a:r>
              <a:rPr lang="en-US" sz="1400" b="1" dirty="0">
                <a:solidFill>
                  <a:srgbClr val="6B7280"/>
                </a:solidFill>
                <a:latin typeface="Oswald" pitchFamily="34" charset="0"/>
                <a:ea typeface="Oswald" pitchFamily="34" charset="-122"/>
                <a:cs typeface="Oswald" pitchFamily="34" charset="-120"/>
              </a:rPr>
              <a:t>KEY METRICS</a:t>
            </a:r>
            <a:endParaRPr lang="en-US" sz="1400" dirty="0"/>
          </a:p>
        </p:txBody>
      </p:sp>
      <p:sp>
        <p:nvSpPr>
          <p:cNvPr id="44" name="Text 33"/>
          <p:cNvSpPr txBox="1"/>
          <p:nvPr/>
        </p:nvSpPr>
        <p:spPr>
          <a:xfrm>
            <a:off x="2286000" y="5810098"/>
            <a:ext cx="1714500" cy="324612"/>
          </a:xfrm>
          <a:prstGeom prst="rect">
            <a:avLst/>
          </a:prstGeom>
          <a:noFill/>
          <a:ln/>
        </p:spPr>
        <p:txBody>
          <a:bodyPr wrap="none" lIns="0" tIns="0" rIns="0" bIns="0" rtlCol="0" anchor="ctr"/>
          <a:lstStyle/>
          <a:p>
            <a:pPr marL="0" indent="0" algn="ctr">
              <a:buNone/>
            </a:pPr>
            <a:r>
              <a:rPr lang="en-US" sz="2200" b="1" dirty="0">
                <a:solidFill>
                  <a:srgbClr val="D62839"/>
                </a:solidFill>
                <a:latin typeface="Oswald" pitchFamily="34" charset="0"/>
                <a:ea typeface="Oswald" pitchFamily="34" charset="-122"/>
                <a:cs typeface="Oswald" pitchFamily="34" charset="-120"/>
              </a:rPr>
              <a:t>5,500</a:t>
            </a:r>
            <a:endParaRPr lang="en-US" sz="2200" dirty="0"/>
          </a:p>
        </p:txBody>
      </p:sp>
      <p:sp>
        <p:nvSpPr>
          <p:cNvPr id="45" name="Text 34"/>
          <p:cNvSpPr txBox="1"/>
          <p:nvPr/>
        </p:nvSpPr>
        <p:spPr>
          <a:xfrm>
            <a:off x="2286000" y="6166714"/>
            <a:ext cx="1714500" cy="162763"/>
          </a:xfrm>
          <a:prstGeom prst="rect">
            <a:avLst/>
          </a:prstGeom>
          <a:noFill/>
          <a:ln/>
        </p:spPr>
        <p:txBody>
          <a:bodyPr wrap="none" lIns="0" tIns="0" rIns="0" bIns="0" rtlCol="0" anchor="ctr"/>
          <a:lstStyle/>
          <a:p>
            <a:pPr marL="0" indent="0" algn="ctr">
              <a:buNone/>
            </a:pPr>
            <a:r>
              <a:rPr lang="en-US" sz="1000" b="1" dirty="0">
                <a:solidFill>
                  <a:srgbClr val="6B7280"/>
                </a:solidFill>
                <a:latin typeface="Roboto Condensed" pitchFamily="34" charset="0"/>
                <a:ea typeface="Roboto Condensed" pitchFamily="34" charset="-122"/>
                <a:cs typeface="Roboto Condensed" pitchFamily="34" charset="-120"/>
              </a:rPr>
              <a:t>In-house Consultants</a:t>
            </a:r>
            <a:endParaRPr lang="en-US" sz="1000" dirty="0"/>
          </a:p>
        </p:txBody>
      </p:sp>
      <p:sp>
        <p:nvSpPr>
          <p:cNvPr id="46" name="Text 35"/>
          <p:cNvSpPr txBox="1"/>
          <p:nvPr/>
        </p:nvSpPr>
        <p:spPr>
          <a:xfrm>
            <a:off x="4190695" y="5810098"/>
            <a:ext cx="1714500" cy="324612"/>
          </a:xfrm>
          <a:prstGeom prst="rect">
            <a:avLst/>
          </a:prstGeom>
          <a:noFill/>
          <a:ln/>
        </p:spPr>
        <p:txBody>
          <a:bodyPr wrap="none" lIns="0" tIns="0" rIns="0" bIns="0" rtlCol="0" anchor="ctr"/>
          <a:lstStyle/>
          <a:p>
            <a:pPr marL="0" indent="0" algn="ctr">
              <a:buNone/>
            </a:pPr>
            <a:r>
              <a:rPr lang="en-US" sz="2200" b="1" dirty="0">
                <a:solidFill>
                  <a:srgbClr val="D62839"/>
                </a:solidFill>
                <a:latin typeface="Oswald" pitchFamily="34" charset="0"/>
                <a:ea typeface="Oswald" pitchFamily="34" charset="-122"/>
                <a:cs typeface="Oswald" pitchFamily="34" charset="-120"/>
              </a:rPr>
              <a:t>60+</a:t>
            </a:r>
            <a:endParaRPr lang="en-US" sz="2200" dirty="0"/>
          </a:p>
        </p:txBody>
      </p:sp>
      <p:sp>
        <p:nvSpPr>
          <p:cNvPr id="47" name="Text 36"/>
          <p:cNvSpPr txBox="1"/>
          <p:nvPr/>
        </p:nvSpPr>
        <p:spPr>
          <a:xfrm>
            <a:off x="4190695" y="6166714"/>
            <a:ext cx="1714500" cy="162763"/>
          </a:xfrm>
          <a:prstGeom prst="rect">
            <a:avLst/>
          </a:prstGeom>
          <a:noFill/>
          <a:ln/>
        </p:spPr>
        <p:txBody>
          <a:bodyPr wrap="none" lIns="0" tIns="0" rIns="0" bIns="0" rtlCol="0" anchor="ctr"/>
          <a:lstStyle/>
          <a:p>
            <a:pPr marL="0" indent="0" algn="ctr">
              <a:buNone/>
            </a:pPr>
            <a:r>
              <a:rPr lang="en-US" sz="1000" b="1" dirty="0">
                <a:solidFill>
                  <a:srgbClr val="6B7280"/>
                </a:solidFill>
                <a:latin typeface="Roboto Condensed" pitchFamily="34" charset="0"/>
                <a:ea typeface="Roboto Condensed" pitchFamily="34" charset="-122"/>
                <a:cs typeface="Roboto Condensed" pitchFamily="34" charset="-120"/>
              </a:rPr>
              <a:t>AI Accelerators</a:t>
            </a:r>
            <a:endParaRPr lang="en-US" sz="1000" dirty="0"/>
          </a:p>
        </p:txBody>
      </p:sp>
      <p:sp>
        <p:nvSpPr>
          <p:cNvPr id="48" name="Text 37"/>
          <p:cNvSpPr txBox="1"/>
          <p:nvPr/>
        </p:nvSpPr>
        <p:spPr>
          <a:xfrm>
            <a:off x="6096305" y="5810098"/>
            <a:ext cx="1714500" cy="324612"/>
          </a:xfrm>
          <a:prstGeom prst="rect">
            <a:avLst/>
          </a:prstGeom>
          <a:noFill/>
          <a:ln/>
        </p:spPr>
        <p:txBody>
          <a:bodyPr wrap="none" lIns="0" tIns="0" rIns="0" bIns="0" rtlCol="0" anchor="ctr"/>
          <a:lstStyle/>
          <a:p>
            <a:pPr marL="0" indent="0" algn="ctr">
              <a:buNone/>
            </a:pPr>
            <a:r>
              <a:rPr lang="en-US" sz="2200" b="1" dirty="0">
                <a:solidFill>
                  <a:srgbClr val="D62839"/>
                </a:solidFill>
                <a:latin typeface="Oswald" pitchFamily="34" charset="0"/>
                <a:ea typeface="Oswald" pitchFamily="34" charset="-122"/>
                <a:cs typeface="Oswald" pitchFamily="34" charset="-120"/>
              </a:rPr>
              <a:t>30–40%</a:t>
            </a:r>
            <a:endParaRPr lang="en-US" sz="2200" dirty="0"/>
          </a:p>
        </p:txBody>
      </p:sp>
      <p:sp>
        <p:nvSpPr>
          <p:cNvPr id="49" name="Text 38"/>
          <p:cNvSpPr txBox="1"/>
          <p:nvPr/>
        </p:nvSpPr>
        <p:spPr>
          <a:xfrm>
            <a:off x="6096305" y="6166714"/>
            <a:ext cx="1714500" cy="162763"/>
          </a:xfrm>
          <a:prstGeom prst="rect">
            <a:avLst/>
          </a:prstGeom>
          <a:noFill/>
          <a:ln/>
        </p:spPr>
        <p:txBody>
          <a:bodyPr wrap="none" lIns="0" tIns="0" rIns="0" bIns="0" rtlCol="0" anchor="ctr"/>
          <a:lstStyle/>
          <a:p>
            <a:pPr marL="0" indent="0" algn="ctr">
              <a:buNone/>
            </a:pPr>
            <a:r>
              <a:rPr lang="en-US" sz="1000" b="1" dirty="0">
                <a:solidFill>
                  <a:srgbClr val="6B7280"/>
                </a:solidFill>
                <a:latin typeface="Roboto Condensed" pitchFamily="34" charset="0"/>
                <a:ea typeface="Roboto Condensed" pitchFamily="34" charset="-122"/>
                <a:cs typeface="Roboto Condensed" pitchFamily="34" charset="-120"/>
              </a:rPr>
              <a:t>AI OPEX Reduction</a:t>
            </a:r>
            <a:endParaRPr lang="en-US" sz="1000" dirty="0"/>
          </a:p>
        </p:txBody>
      </p:sp>
      <p:sp>
        <p:nvSpPr>
          <p:cNvPr id="50" name="Text 39"/>
          <p:cNvSpPr txBox="1"/>
          <p:nvPr/>
        </p:nvSpPr>
        <p:spPr>
          <a:xfrm>
            <a:off x="8001000" y="5810098"/>
            <a:ext cx="1714500" cy="324612"/>
          </a:xfrm>
          <a:prstGeom prst="rect">
            <a:avLst/>
          </a:prstGeom>
          <a:noFill/>
          <a:ln/>
        </p:spPr>
        <p:txBody>
          <a:bodyPr wrap="none" lIns="0" tIns="0" rIns="0" bIns="0" rtlCol="0" anchor="ctr"/>
          <a:lstStyle/>
          <a:p>
            <a:pPr marL="0" indent="0" algn="ctr">
              <a:buNone/>
            </a:pPr>
            <a:r>
              <a:rPr lang="en-US" sz="2200" b="1" dirty="0">
                <a:solidFill>
                  <a:srgbClr val="2A9D8F"/>
                </a:solidFill>
                <a:latin typeface="Oswald" pitchFamily="34" charset="0"/>
                <a:ea typeface="Oswald" pitchFamily="34" charset="-122"/>
                <a:cs typeface="Oswald" pitchFamily="34" charset="-120"/>
              </a:rPr>
              <a:t>Weeks</a:t>
            </a:r>
            <a:endParaRPr lang="en-US" sz="2200" dirty="0"/>
          </a:p>
        </p:txBody>
      </p:sp>
      <p:sp>
        <p:nvSpPr>
          <p:cNvPr id="51" name="Text 40"/>
          <p:cNvSpPr txBox="1"/>
          <p:nvPr/>
        </p:nvSpPr>
        <p:spPr>
          <a:xfrm>
            <a:off x="8001000" y="6166714"/>
            <a:ext cx="1714500" cy="162763"/>
          </a:xfrm>
          <a:prstGeom prst="rect">
            <a:avLst/>
          </a:prstGeom>
          <a:noFill/>
          <a:ln/>
        </p:spPr>
        <p:txBody>
          <a:bodyPr wrap="none" lIns="0" tIns="0" rIns="0" bIns="0" rtlCol="0" anchor="ctr"/>
          <a:lstStyle/>
          <a:p>
            <a:pPr marL="0" indent="0" algn="ctr">
              <a:buNone/>
            </a:pPr>
            <a:r>
              <a:rPr lang="en-US" sz="1000" b="1" dirty="0">
                <a:solidFill>
                  <a:srgbClr val="6B7280"/>
                </a:solidFill>
                <a:latin typeface="Roboto Condensed" pitchFamily="34" charset="0"/>
                <a:ea typeface="Roboto Condensed" pitchFamily="34" charset="-122"/>
                <a:cs typeface="Roboto Condensed" pitchFamily="34" charset="-120"/>
              </a:rPr>
              <a:t>PoC to Production</a:t>
            </a:r>
            <a:endParaRPr lang="en-US" sz="1000" dirty="0"/>
          </a:p>
        </p:txBody>
      </p:sp>
      <p:sp>
        <p:nvSpPr>
          <p:cNvPr id="52" name="Text 41"/>
          <p:cNvSpPr txBox="1"/>
          <p:nvPr/>
        </p:nvSpPr>
        <p:spPr>
          <a:xfrm>
            <a:off x="9905695" y="5810098"/>
            <a:ext cx="1524305" cy="324612"/>
          </a:xfrm>
          <a:prstGeom prst="rect">
            <a:avLst/>
          </a:prstGeom>
          <a:noFill/>
          <a:ln/>
        </p:spPr>
        <p:txBody>
          <a:bodyPr wrap="none" lIns="0" tIns="0" rIns="0" bIns="0" rtlCol="0" anchor="ctr"/>
          <a:lstStyle/>
          <a:p>
            <a:pPr marL="0" indent="0" algn="ctr">
              <a:buNone/>
            </a:pPr>
            <a:r>
              <a:rPr lang="en-US" sz="2200" b="1" dirty="0">
                <a:solidFill>
                  <a:srgbClr val="D62839"/>
                </a:solidFill>
                <a:latin typeface="Oswald" pitchFamily="34" charset="0"/>
                <a:ea typeface="Oswald" pitchFamily="34" charset="-122"/>
                <a:cs typeface="Oswald" pitchFamily="34" charset="-120"/>
              </a:rPr>
              <a:t>0</a:t>
            </a:r>
            <a:endParaRPr lang="en-US" sz="2200" dirty="0"/>
          </a:p>
        </p:txBody>
      </p:sp>
      <p:sp>
        <p:nvSpPr>
          <p:cNvPr id="53" name="Text 42"/>
          <p:cNvSpPr txBox="1"/>
          <p:nvPr/>
        </p:nvSpPr>
        <p:spPr>
          <a:xfrm>
            <a:off x="9905695" y="6166714"/>
            <a:ext cx="1524305" cy="162763"/>
          </a:xfrm>
          <a:prstGeom prst="rect">
            <a:avLst/>
          </a:prstGeom>
          <a:noFill/>
          <a:ln/>
        </p:spPr>
        <p:txBody>
          <a:bodyPr wrap="none" lIns="0" tIns="0" rIns="0" bIns="0" rtlCol="0" anchor="ctr"/>
          <a:lstStyle/>
          <a:p>
            <a:pPr marL="0" indent="0" algn="ctr">
              <a:buNone/>
            </a:pPr>
            <a:r>
              <a:rPr lang="en-US" sz="1000" b="1" dirty="0">
                <a:solidFill>
                  <a:srgbClr val="6B7280"/>
                </a:solidFill>
                <a:latin typeface="Roboto Condensed" pitchFamily="34" charset="0"/>
                <a:ea typeface="Roboto Condensed" pitchFamily="34" charset="-122"/>
                <a:cs typeface="Roboto Condensed" pitchFamily="34" charset="-120"/>
              </a:rPr>
              <a:t>Subcontracting</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229</TotalTime>
  <Words>6514</Words>
  <Application>Microsoft Office PowerPoint</Application>
  <PresentationFormat>Widescreen</PresentationFormat>
  <Paragraphs>1109</Paragraphs>
  <Slides>42</Slides>
  <Notes>41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42</vt:i4>
      </vt:variant>
    </vt:vector>
  </HeadingPairs>
  <TitlesOfParts>
    <vt:vector size="51" baseType="lpstr">
      <vt:lpstr>Aptos</vt:lpstr>
      <vt:lpstr>Aptos Display</vt:lpstr>
      <vt:lpstr>Arial</vt:lpstr>
      <vt:lpstr>Calibri</vt:lpstr>
      <vt:lpstr>Inter</vt:lpstr>
      <vt:lpstr>Oswald</vt:lpstr>
      <vt:lpstr>Raleway</vt:lpstr>
      <vt:lpstr>Roboto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E36250417</dc:creator>
  <cp:lastModifiedBy>Athithia Krishna</cp:lastModifiedBy>
  <cp:revision>33</cp:revision>
  <dcterms:created xsi:type="dcterms:W3CDTF">2026-07-06T09:15:11Z</dcterms:created>
  <dcterms:modified xsi:type="dcterms:W3CDTF">2026-07-21T09:03:30Z</dcterms:modified>
</cp:coreProperties>
</file>