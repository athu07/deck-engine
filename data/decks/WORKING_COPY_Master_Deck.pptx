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2"/>
  </p:notesMasterIdLst>
  <p:sldIdLst>
    <p:sldId id="2147483328" r:id="rId2"/>
    <p:sldId id="2147483329" r:id="rId3"/>
    <p:sldId id="2147483452" r:id="rId4"/>
    <p:sldId id="2147483451" r:id="rId5"/>
    <p:sldId id="2147483330" r:id="rId6"/>
    <p:sldId id="2147483433" r:id="rId7"/>
    <p:sldId id="2147483434" r:id="rId8"/>
    <p:sldId id="2147483327" r:id="rId9"/>
    <p:sldId id="2147483331" r:id="rId10"/>
    <p:sldId id="320" r:id="rId11"/>
    <p:sldId id="260" r:id="rId12"/>
    <p:sldId id="2147483426" r:id="rId13"/>
    <p:sldId id="2147483332" r:id="rId14"/>
    <p:sldId id="2147483323" r:id="rId15"/>
    <p:sldId id="2147483416" r:id="rId16"/>
    <p:sldId id="2147483418" r:id="rId17"/>
    <p:sldId id="2147483449" r:id="rId18"/>
    <p:sldId id="2147483448" r:id="rId19"/>
    <p:sldId id="2147483447" r:id="rId20"/>
    <p:sldId id="2147483320" r:id="rId21"/>
    <p:sldId id="272" r:id="rId22"/>
    <p:sldId id="2147483343" r:id="rId23"/>
    <p:sldId id="2147483446" r:id="rId24"/>
    <p:sldId id="317" r:id="rId25"/>
    <p:sldId id="2147483344" r:id="rId26"/>
    <p:sldId id="268" r:id="rId27"/>
    <p:sldId id="2147483427" r:id="rId28"/>
    <p:sldId id="2147483428" r:id="rId29"/>
    <p:sldId id="2147483429" r:id="rId30"/>
    <p:sldId id="273" r:id="rId31"/>
    <p:sldId id="2147483423" r:id="rId32"/>
    <p:sldId id="2147483430" r:id="rId33"/>
    <p:sldId id="2147483431" r:id="rId34"/>
    <p:sldId id="2147483432" r:id="rId35"/>
    <p:sldId id="2147483444" r:id="rId36"/>
    <p:sldId id="2147483305" r:id="rId37"/>
    <p:sldId id="266" r:id="rId38"/>
    <p:sldId id="299" r:id="rId39"/>
    <p:sldId id="2147483445" r:id="rId40"/>
    <p:sldId id="328" r:id="rId41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63" d="100"/>
          <a:sy n="63" d="100"/>
        </p:scale>
        <p:origin x="6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FAE9F7-9452-4374-B978-FE6603E0B5F3}" type="datetimeFigureOut">
              <a:t>7/14/2026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0FB33C-7C9E-4B02-AA78-CF059E19D148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2643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CS02B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3759F-D684-2B53-71A3-18739199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25E1F-F7FC-A264-368E-2EA22A4D6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15D19-27F9-D83D-845C-8CB0D0D3F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283EC-4EEC-FDF0-9715-A2D0D76EEB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708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11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J2W_ID: CS138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050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39C72-50B3-E3AF-D46A-682D935D8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0CD18-B2E7-2213-3ADC-CC79A8BD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5F7EF-8EE2-A756-31A6-FE6C1D6C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8B3FC-01B1-6FC7-0489-6B130E9F0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07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38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86C0-AD46-EC4B-79D9-AEE72304E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C7AAD1-CA6D-9293-72A0-309B90668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076AA-23DD-F8A5-C2E5-3CCEF96F7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72F1CE-2E64-05CF-A3EB-E46AE3C400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883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083C3-033A-38F9-9ED1-6CB54ABF1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D686B-41F6-7B9E-FE96-E5605D31A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10103-2C13-4357-EBA2-746614E6B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0070C-B650-0ADD-4F79-E128A4AEFC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673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EAC2A-AFE3-3AD3-EA69-EDF5A234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481DAE-A0BC-5424-8E02-2248C3631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070DB-DE8B-5ECB-28C7-E87B7CB5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901B6-9345-5574-0EEA-A330B26F1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762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5871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365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J2W_ID: CS143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0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9020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022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004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82EEA-3085-13E8-584F-9DB1BB1C5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D695A-8813-98FA-0375-DA314DBB6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37F7E-9DAC-DD80-84EA-6F843A2F3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12CB-0C05-4306-1A51-5CD003DFF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771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899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29009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51626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55186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J2W_ID: CS149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138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912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14/07/2026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18" Type="http://schemas.openxmlformats.org/officeDocument/2006/relationships/image" Target="../media/image4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17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2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5" Type="http://schemas.openxmlformats.org/officeDocument/2006/relationships/image" Target="../media/image49.jpe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eg"/><Relationship Id="rId3" Type="http://schemas.openxmlformats.org/officeDocument/2006/relationships/image" Target="../media/image54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jpeg"/><Relationship Id="rId5" Type="http://schemas.openxmlformats.org/officeDocument/2006/relationships/image" Target="../media/image51.jpeg"/><Relationship Id="rId4" Type="http://schemas.openxmlformats.org/officeDocument/2006/relationships/image" Target="../media/image26.png"/><Relationship Id="rId9" Type="http://schemas.openxmlformats.org/officeDocument/2006/relationships/image" Target="../media/image57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jpeg"/><Relationship Id="rId3" Type="http://schemas.openxmlformats.org/officeDocument/2006/relationships/image" Target="../media/image54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jpeg"/><Relationship Id="rId5" Type="http://schemas.openxmlformats.org/officeDocument/2006/relationships/image" Target="../media/image51.jpeg"/><Relationship Id="rId10" Type="http://schemas.openxmlformats.org/officeDocument/2006/relationships/image" Target="../media/image59.jpeg"/><Relationship Id="rId4" Type="http://schemas.openxmlformats.org/officeDocument/2006/relationships/image" Target="../media/image26.png"/><Relationship Id="rId9" Type="http://schemas.openxmlformats.org/officeDocument/2006/relationships/image" Target="../media/image5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23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11" Type="http://schemas.openxmlformats.org/officeDocument/2006/relationships/image" Target="../media/image68.png"/><Relationship Id="rId5" Type="http://schemas.openxmlformats.org/officeDocument/2006/relationships/image" Target="../media/image25.png"/><Relationship Id="rId10" Type="http://schemas.openxmlformats.org/officeDocument/2006/relationships/image" Target="../media/image67.png"/><Relationship Id="rId4" Type="http://schemas.openxmlformats.org/officeDocument/2006/relationships/image" Target="../media/image24.png"/><Relationship Id="rId9" Type="http://schemas.openxmlformats.org/officeDocument/2006/relationships/image" Target="../media/image6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30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10" Type="http://schemas.openxmlformats.org/officeDocument/2006/relationships/image" Target="../media/image83.png"/><Relationship Id="rId4" Type="http://schemas.openxmlformats.org/officeDocument/2006/relationships/image" Target="../media/image31.png"/><Relationship Id="rId9" Type="http://schemas.openxmlformats.org/officeDocument/2006/relationships/image" Target="../media/image8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4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25.png"/><Relationship Id="rId10" Type="http://schemas.openxmlformats.org/officeDocument/2006/relationships/image" Target="../media/image89.png"/><Relationship Id="rId4" Type="http://schemas.openxmlformats.org/officeDocument/2006/relationships/image" Target="../media/image24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24.png"/><Relationship Id="rId7" Type="http://schemas.openxmlformats.org/officeDocument/2006/relationships/image" Target="../media/image95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4.png"/><Relationship Id="rId11" Type="http://schemas.openxmlformats.org/officeDocument/2006/relationships/image" Target="../media/image99.png"/><Relationship Id="rId5" Type="http://schemas.openxmlformats.org/officeDocument/2006/relationships/image" Target="../media/image63.png"/><Relationship Id="rId10" Type="http://schemas.openxmlformats.org/officeDocument/2006/relationships/image" Target="../media/image98.png"/><Relationship Id="rId4" Type="http://schemas.openxmlformats.org/officeDocument/2006/relationships/image" Target="../media/image25.png"/><Relationship Id="rId9" Type="http://schemas.openxmlformats.org/officeDocument/2006/relationships/image" Target="../media/image9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54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60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84.png"/><Relationship Id="rId10" Type="http://schemas.openxmlformats.org/officeDocument/2006/relationships/image" Target="../media/image116.png"/><Relationship Id="rId4" Type="http://schemas.openxmlformats.org/officeDocument/2006/relationships/image" Target="../media/image61.png"/><Relationship Id="rId9" Type="http://schemas.openxmlformats.org/officeDocument/2006/relationships/image" Target="../media/image1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30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85.png"/><Relationship Id="rId10" Type="http://schemas.openxmlformats.org/officeDocument/2006/relationships/image" Target="../media/image122.png"/><Relationship Id="rId4" Type="http://schemas.openxmlformats.org/officeDocument/2006/relationships/image" Target="../media/image31.png"/><Relationship Id="rId9" Type="http://schemas.openxmlformats.org/officeDocument/2006/relationships/image" Target="../media/image1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1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5.sv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8.png"/><Relationship Id="rId11" Type="http://schemas.openxmlformats.org/officeDocument/2006/relationships/image" Target="../media/image133.png"/><Relationship Id="rId5" Type="http://schemas.openxmlformats.org/officeDocument/2006/relationships/image" Target="../media/image127.png"/><Relationship Id="rId10" Type="http://schemas.openxmlformats.org/officeDocument/2006/relationships/image" Target="../media/image132.png"/><Relationship Id="rId4" Type="http://schemas.openxmlformats.org/officeDocument/2006/relationships/image" Target="../media/image126.png"/><Relationship Id="rId9" Type="http://schemas.openxmlformats.org/officeDocument/2006/relationships/image" Target="../media/image13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30.png"/><Relationship Id="rId7" Type="http://schemas.openxmlformats.org/officeDocument/2006/relationships/image" Target="../media/image1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31.png"/><Relationship Id="rId9" Type="http://schemas.openxmlformats.org/officeDocument/2006/relationships/image" Target="../media/image1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4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44.png"/><Relationship Id="rId21" Type="http://schemas.openxmlformats.org/officeDocument/2006/relationships/image" Target="../media/image162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45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png"/><Relationship Id="rId3" Type="http://schemas.openxmlformats.org/officeDocument/2006/relationships/image" Target="../media/image163.png"/><Relationship Id="rId7" Type="http://schemas.openxmlformats.org/officeDocument/2006/relationships/image" Target="../media/image16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6.png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3" Type="http://schemas.openxmlformats.org/officeDocument/2006/relationships/image" Target="../media/image60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62.png"/><Relationship Id="rId10" Type="http://schemas.openxmlformats.org/officeDocument/2006/relationships/image" Target="../media/image186.png"/><Relationship Id="rId4" Type="http://schemas.openxmlformats.org/officeDocument/2006/relationships/image" Target="../media/image61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4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25.png"/><Relationship Id="rId10" Type="http://schemas.openxmlformats.org/officeDocument/2006/relationships/image" Target="../media/image89.png"/><Relationship Id="rId4" Type="http://schemas.openxmlformats.org/officeDocument/2006/relationships/image" Target="../media/image24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3" Type="http://schemas.openxmlformats.org/officeDocument/2006/relationships/image" Target="../media/image106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5" Type="http://schemas.openxmlformats.org/officeDocument/2006/relationships/image" Target="../media/image191.png"/><Relationship Id="rId10" Type="http://schemas.openxmlformats.org/officeDocument/2006/relationships/image" Target="../media/image196.png"/><Relationship Id="rId4" Type="http://schemas.openxmlformats.org/officeDocument/2006/relationships/image" Target="../media/image107.png"/><Relationship Id="rId9" Type="http://schemas.openxmlformats.org/officeDocument/2006/relationships/image" Target="../media/image19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4.png"/><Relationship Id="rId13" Type="http://schemas.openxmlformats.org/officeDocument/2006/relationships/image" Target="../media/image209.png"/><Relationship Id="rId3" Type="http://schemas.openxmlformats.org/officeDocument/2006/relationships/image" Target="../media/image199.png"/><Relationship Id="rId7" Type="http://schemas.openxmlformats.org/officeDocument/2006/relationships/image" Target="../media/image203.png"/><Relationship Id="rId12" Type="http://schemas.openxmlformats.org/officeDocument/2006/relationships/image" Target="../media/image20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2.png"/><Relationship Id="rId11" Type="http://schemas.openxmlformats.org/officeDocument/2006/relationships/image" Target="../media/image207.png"/><Relationship Id="rId5" Type="http://schemas.openxmlformats.org/officeDocument/2006/relationships/image" Target="../media/image201.png"/><Relationship Id="rId10" Type="http://schemas.openxmlformats.org/officeDocument/2006/relationships/image" Target="../media/image206.png"/><Relationship Id="rId4" Type="http://schemas.openxmlformats.org/officeDocument/2006/relationships/image" Target="../media/image200.png"/><Relationship Id="rId9" Type="http://schemas.openxmlformats.org/officeDocument/2006/relationships/image" Target="../media/image205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8.png"/><Relationship Id="rId5" Type="http://schemas.openxmlformats.org/officeDocument/2006/relationships/image" Target="../media/image212.png"/><Relationship Id="rId4" Type="http://schemas.openxmlformats.org/officeDocument/2006/relationships/image" Target="../media/image2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92.png"/><Relationship Id="rId3" Type="http://schemas.openxmlformats.org/officeDocument/2006/relationships/image" Target="../media/image84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25.png"/><Relationship Id="rId10" Type="http://schemas.openxmlformats.org/officeDocument/2006/relationships/image" Target="../media/image89.png"/><Relationship Id="rId4" Type="http://schemas.openxmlformats.org/officeDocument/2006/relationships/image" Target="../media/image24.png"/><Relationship Id="rId9" Type="http://schemas.openxmlformats.org/officeDocument/2006/relationships/image" Target="../media/image88.png"/><Relationship Id="rId14" Type="http://schemas.openxmlformats.org/officeDocument/2006/relationships/image" Target="../media/image93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5.png"/><Relationship Id="rId3" Type="http://schemas.openxmlformats.org/officeDocument/2006/relationships/image" Target="../media/image24.png"/><Relationship Id="rId7" Type="http://schemas.openxmlformats.org/officeDocument/2006/relationships/image" Target="../media/image2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8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21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.png"/><Relationship Id="rId13" Type="http://schemas.openxmlformats.org/officeDocument/2006/relationships/image" Target="../media/image226.png"/><Relationship Id="rId3" Type="http://schemas.openxmlformats.org/officeDocument/2006/relationships/image" Target="../media/image47.png"/><Relationship Id="rId7" Type="http://schemas.openxmlformats.org/officeDocument/2006/relationships/image" Target="../media/image220.png"/><Relationship Id="rId12" Type="http://schemas.openxmlformats.org/officeDocument/2006/relationships/image" Target="../media/image2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9.png"/><Relationship Id="rId11" Type="http://schemas.openxmlformats.org/officeDocument/2006/relationships/image" Target="../media/image224.png"/><Relationship Id="rId5" Type="http://schemas.openxmlformats.org/officeDocument/2006/relationships/image" Target="../media/image218.png"/><Relationship Id="rId15" Type="http://schemas.openxmlformats.org/officeDocument/2006/relationships/image" Target="../media/image53.png"/><Relationship Id="rId10" Type="http://schemas.openxmlformats.org/officeDocument/2006/relationships/image" Target="../media/image223.png"/><Relationship Id="rId4" Type="http://schemas.openxmlformats.org/officeDocument/2006/relationships/image" Target="../media/image217.png"/><Relationship Id="rId9" Type="http://schemas.openxmlformats.org/officeDocument/2006/relationships/image" Target="../media/image222.png"/><Relationship Id="rId1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0.png"/><Relationship Id="rId5" Type="http://schemas.openxmlformats.org/officeDocument/2006/relationships/image" Target="../media/image229.png"/><Relationship Id="rId4" Type="http://schemas.openxmlformats.org/officeDocument/2006/relationships/image" Target="../media/image228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3.png"/><Relationship Id="rId13" Type="http://schemas.openxmlformats.org/officeDocument/2006/relationships/image" Target="../media/image238.png"/><Relationship Id="rId3" Type="http://schemas.openxmlformats.org/officeDocument/2006/relationships/image" Target="../media/image25.png"/><Relationship Id="rId7" Type="http://schemas.openxmlformats.org/officeDocument/2006/relationships/image" Target="../media/image232.png"/><Relationship Id="rId12" Type="http://schemas.openxmlformats.org/officeDocument/2006/relationships/image" Target="../media/image23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1.png"/><Relationship Id="rId11" Type="http://schemas.openxmlformats.org/officeDocument/2006/relationships/image" Target="../media/image236.png"/><Relationship Id="rId5" Type="http://schemas.openxmlformats.org/officeDocument/2006/relationships/image" Target="../media/image138.png"/><Relationship Id="rId10" Type="http://schemas.openxmlformats.org/officeDocument/2006/relationships/image" Target="../media/image235.png"/><Relationship Id="rId4" Type="http://schemas.openxmlformats.org/officeDocument/2006/relationships/image" Target="../media/image24.png"/><Relationship Id="rId9" Type="http://schemas.openxmlformats.org/officeDocument/2006/relationships/image" Target="../media/image234.png"/><Relationship Id="rId14" Type="http://schemas.openxmlformats.org/officeDocument/2006/relationships/image" Target="../media/image23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4.png"/><Relationship Id="rId13" Type="http://schemas.openxmlformats.org/officeDocument/2006/relationships/image" Target="../media/image249.png"/><Relationship Id="rId3" Type="http://schemas.openxmlformats.org/officeDocument/2006/relationships/image" Target="../media/image47.png"/><Relationship Id="rId7" Type="http://schemas.openxmlformats.org/officeDocument/2006/relationships/image" Target="../media/image243.png"/><Relationship Id="rId12" Type="http://schemas.openxmlformats.org/officeDocument/2006/relationships/image" Target="../media/image2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2.png"/><Relationship Id="rId11" Type="http://schemas.openxmlformats.org/officeDocument/2006/relationships/image" Target="../media/image247.png"/><Relationship Id="rId5" Type="http://schemas.openxmlformats.org/officeDocument/2006/relationships/image" Target="../media/image241.png"/><Relationship Id="rId15" Type="http://schemas.openxmlformats.org/officeDocument/2006/relationships/image" Target="../media/image53.png"/><Relationship Id="rId10" Type="http://schemas.openxmlformats.org/officeDocument/2006/relationships/image" Target="../media/image246.png"/><Relationship Id="rId4" Type="http://schemas.openxmlformats.org/officeDocument/2006/relationships/image" Target="../media/image240.png"/><Relationship Id="rId9" Type="http://schemas.openxmlformats.org/officeDocument/2006/relationships/image" Target="../media/image245.png"/><Relationship Id="rId14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2.jpeg"/><Relationship Id="rId3" Type="http://schemas.openxmlformats.org/officeDocument/2006/relationships/image" Target="../media/image52.png"/><Relationship Id="rId7" Type="http://schemas.openxmlformats.org/officeDocument/2006/relationships/image" Target="../media/image25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0.png"/><Relationship Id="rId11" Type="http://schemas.openxmlformats.org/officeDocument/2006/relationships/image" Target="../media/image255.jpeg"/><Relationship Id="rId5" Type="http://schemas.openxmlformats.org/officeDocument/2006/relationships/image" Target="../media/image4.png"/><Relationship Id="rId10" Type="http://schemas.openxmlformats.org/officeDocument/2006/relationships/image" Target="../media/image254.jpeg"/><Relationship Id="rId4" Type="http://schemas.openxmlformats.org/officeDocument/2006/relationships/image" Target="../media/image53.png"/><Relationship Id="rId9" Type="http://schemas.openxmlformats.org/officeDocument/2006/relationships/image" Target="../media/image253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6.png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coe.vercel.app/" TargetMode="External"/><Relationship Id="rId7" Type="http://schemas.openxmlformats.org/officeDocument/2006/relationships/image" Target="../media/image257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ata-coe.vercel.app/" TargetMode="External"/><Relationship Id="rId5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algn="ctr"/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334195" y="0"/>
            <a:ext cx="2857500" cy="2857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5905195"/>
            <a:ext cx="3810305" cy="952805"/>
          </a:xfrm>
          <a:custGeom>
            <a:avLst/>
            <a:gdLst/>
            <a:ahLst/>
            <a:cxnLst/>
            <a:rect l="l" t="t" r="r" b="b"/>
            <a:pathLst>
              <a:path w="3810305" h="952805">
                <a:moveTo>
                  <a:pt x="0" y="952805"/>
                </a:moveTo>
                <a:lnTo>
                  <a:pt x="3810305" y="952805"/>
                </a:lnTo>
                <a:lnTo>
                  <a:pt x="0" y="0"/>
                </a:lnTo>
                <a:close/>
              </a:path>
            </a:pathLst>
          </a:custGeom>
          <a:solidFill>
            <a:srgbClr val="D62839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774290" y="3881628"/>
            <a:ext cx="66486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BUSINESS DRIVERS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TECHNOLOGY ACCELERATORS </a:t>
            </a:r>
            <a:r>
              <a:rPr lang="en-US" sz="12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|</a:t>
            </a:r>
            <a:r>
              <a:rPr lang="en-US" sz="15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GAME CHANGERS </a:t>
            </a:r>
            <a:endParaRPr lang="en-US" sz="1200"/>
          </a:p>
        </p:txBody>
      </p:sp>
      <p:sp>
        <p:nvSpPr>
          <p:cNvPr id="9" name="Text 4"/>
          <p:cNvSpPr txBox="1"/>
          <p:nvPr/>
        </p:nvSpPr>
        <p:spPr>
          <a:xfrm>
            <a:off x="4153205" y="4262933"/>
            <a:ext cx="389351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Energy. Excellence. Innovation.</a:t>
            </a:r>
            <a:endParaRPr lang="en-US" sz="180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141" r="141"/>
          <a:stretch/>
        </p:blipFill>
        <p:spPr>
          <a:xfrm>
            <a:off x="4629607" y="447142"/>
            <a:ext cx="2933395" cy="141914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287018" y="2262226"/>
            <a:ext cx="947592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Building the Enterprise Operating Model​</a:t>
            </a:r>
          </a:p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for the Next Decade​</a:t>
            </a:r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5639105" y="3596335"/>
            <a:ext cx="914400" cy="57607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0" y="5238598"/>
            <a:ext cx="12191695" cy="1619402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7"/>
          <p:cNvSpPr/>
          <p:nvPr/>
        </p:nvSpPr>
        <p:spPr>
          <a:xfrm>
            <a:off x="0" y="5238598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8"/>
          <p:cNvSpPr/>
          <p:nvPr/>
        </p:nvSpPr>
        <p:spPr>
          <a:xfrm>
            <a:off x="10201961" y="5362956"/>
            <a:ext cx="9144" cy="13807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9"/>
          <p:cNvSpPr txBox="1"/>
          <p:nvPr/>
        </p:nvSpPr>
        <p:spPr>
          <a:xfrm>
            <a:off x="457200" y="5362956"/>
            <a:ext cx="96304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Trusted by:</a:t>
            </a:r>
            <a:endParaRPr lang="en-US" sz="1000"/>
          </a:p>
        </p:txBody>
      </p:sp>
      <p:sp>
        <p:nvSpPr>
          <p:cNvPr id="17" name="Shape 10"/>
          <p:cNvSpPr/>
          <p:nvPr/>
        </p:nvSpPr>
        <p:spPr>
          <a:xfrm>
            <a:off x="10362895" y="560527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577779" y="5672023"/>
            <a:ext cx="114300" cy="1143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767974" y="5605272"/>
            <a:ext cx="8101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9001:2015</a:t>
            </a:r>
            <a:endParaRPr lang="en-US" sz="900"/>
          </a:p>
        </p:txBody>
      </p:sp>
      <p:sp>
        <p:nvSpPr>
          <p:cNvPr id="20" name="Shape 12"/>
          <p:cNvSpPr/>
          <p:nvPr/>
        </p:nvSpPr>
        <p:spPr>
          <a:xfrm>
            <a:off x="10362895" y="5928970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554919" y="5995721"/>
            <a:ext cx="114300" cy="1143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0745114" y="5928970"/>
            <a:ext cx="85770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CMMI Certified</a:t>
            </a:r>
            <a:endParaRPr lang="en-US" sz="900"/>
          </a:p>
        </p:txBody>
      </p:sp>
      <p:sp>
        <p:nvSpPr>
          <p:cNvPr id="23" name="Shape 14"/>
          <p:cNvSpPr/>
          <p:nvPr/>
        </p:nvSpPr>
        <p:spPr>
          <a:xfrm>
            <a:off x="10362895" y="6253582"/>
            <a:ext cx="1371600" cy="247802"/>
          </a:xfrm>
          <a:prstGeom prst="roundRect">
            <a:avLst>
              <a:gd name="adj" fmla="val 3690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10537546" y="6319418"/>
            <a:ext cx="85954" cy="1143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0699394" y="6253582"/>
            <a:ext cx="9244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Women-Owned</a:t>
            </a:r>
            <a:endParaRPr lang="en-US" sz="90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11">
            <a:alphaModFix amt="90000"/>
          </a:blip>
          <a:srcRect/>
          <a:stretch/>
        </p:blipFill>
        <p:spPr>
          <a:xfrm>
            <a:off x="457200" y="5700370"/>
            <a:ext cx="428854" cy="428854"/>
          </a:xfrm>
          <a:prstGeom prst="rect">
            <a:avLst/>
          </a:prstGeom>
        </p:spPr>
      </p:pic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12">
            <a:alphaModFix amt="90000"/>
          </a:blip>
          <a:srcRect l="2016" r="2016"/>
          <a:stretch/>
        </p:blipFill>
        <p:spPr>
          <a:xfrm>
            <a:off x="1578254" y="5805526"/>
            <a:ext cx="1143000" cy="228600"/>
          </a:xfrm>
          <a:prstGeom prst="rect">
            <a:avLst/>
          </a:prstGeom>
        </p:spPr>
      </p:pic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3">
            <a:alphaModFix amt="90000"/>
          </a:blip>
          <a:srcRect t="569" b="569"/>
          <a:stretch/>
        </p:blipFill>
        <p:spPr>
          <a:xfrm>
            <a:off x="3413455" y="5639105"/>
            <a:ext cx="838505" cy="552298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14">
            <a:alphaModFix amt="90000"/>
          </a:blip>
          <a:srcRect t="563" b="563"/>
          <a:stretch/>
        </p:blipFill>
        <p:spPr>
          <a:xfrm>
            <a:off x="4935017" y="5648249"/>
            <a:ext cx="809244" cy="533095"/>
          </a:xfrm>
          <a:prstGeom prst="rect">
            <a:avLst/>
          </a:prstGeom>
        </p:spPr>
      </p:pic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5">
            <a:alphaModFix amt="90000"/>
          </a:blip>
          <a:srcRect t="267" b="267"/>
          <a:stretch/>
        </p:blipFill>
        <p:spPr>
          <a:xfrm>
            <a:off x="6427318" y="5648249"/>
            <a:ext cx="952805" cy="533095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 r:embed="rId16">
            <a:alphaModFix amt="90000"/>
          </a:blip>
          <a:srcRect/>
          <a:stretch/>
        </p:blipFill>
        <p:spPr>
          <a:xfrm>
            <a:off x="8067751" y="5662879"/>
            <a:ext cx="504749" cy="504749"/>
          </a:xfrm>
          <a:prstGeom prst="rect">
            <a:avLst/>
          </a:prstGeom>
        </p:spPr>
      </p:pic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7">
            <a:alphaModFix amt="90000"/>
          </a:blip>
          <a:srcRect t="525" b="525"/>
          <a:stretch/>
        </p:blipFill>
        <p:spPr>
          <a:xfrm>
            <a:off x="9265615" y="5662879"/>
            <a:ext cx="714146" cy="504749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8">
            <a:alphaModFix amt="90000"/>
          </a:blip>
          <a:srcRect l="688" r="688"/>
          <a:stretch/>
        </p:blipFill>
        <p:spPr>
          <a:xfrm>
            <a:off x="457200" y="6445606"/>
            <a:ext cx="1067105" cy="19019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9">
            <a:alphaModFix amt="90000"/>
          </a:blip>
          <a:srcRect l="960" r="960"/>
          <a:stretch/>
        </p:blipFill>
        <p:spPr>
          <a:xfrm>
            <a:off x="2056486" y="6390742"/>
            <a:ext cx="1466698" cy="304495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20">
            <a:alphaModFix amt="90000"/>
          </a:blip>
          <a:srcRect t="311" b="311"/>
          <a:stretch/>
        </p:blipFill>
        <p:spPr>
          <a:xfrm>
            <a:off x="4055364" y="6325819"/>
            <a:ext cx="828446" cy="428854"/>
          </a:xfrm>
          <a:prstGeom prst="rect">
            <a:avLst/>
          </a:prstGeom>
        </p:spPr>
      </p:pic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21">
            <a:alphaModFix amt="90000"/>
          </a:blip>
          <a:srcRect t="385" b="385"/>
          <a:stretch/>
        </p:blipFill>
        <p:spPr>
          <a:xfrm>
            <a:off x="5410505" y="6325819"/>
            <a:ext cx="771754" cy="428854"/>
          </a:xfrm>
          <a:prstGeom prst="rect">
            <a:avLst/>
          </a:prstGeom>
        </p:spPr>
      </p:pic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22">
            <a:alphaModFix amt="90000"/>
          </a:blip>
          <a:srcRect t="77" b="77"/>
          <a:stretch/>
        </p:blipFill>
        <p:spPr>
          <a:xfrm>
            <a:off x="7669073" y="6368796"/>
            <a:ext cx="629107" cy="342900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23">
            <a:alphaModFix amt="90000"/>
          </a:blip>
          <a:srcRect l="1712" r="1712"/>
          <a:stretch/>
        </p:blipFill>
        <p:spPr>
          <a:xfrm>
            <a:off x="8829446" y="6420002"/>
            <a:ext cx="1143000" cy="247802"/>
          </a:xfrm>
          <a:prstGeom prst="rect">
            <a:avLst/>
          </a:prstGeom>
        </p:spPr>
      </p:pic>
      <p:pic>
        <p:nvPicPr>
          <p:cNvPr id="97" name="Picture 96" descr="Exclusive: Pure Storage's Everpure rebrand has one small problem: The brand  already exists - SDxCentral">
            <a:extLst>
              <a:ext uri="{FF2B5EF4-FFF2-40B4-BE49-F238E27FC236}">
                <a16:creationId xmlns:a16="http://schemas.microsoft.com/office/drawing/2014/main" id="{431B8AA5-2EE7-C68D-5346-7C18CD3AB9C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7318" y="6420002"/>
            <a:ext cx="952805" cy="2858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32388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32388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09905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4343400" y="4953305"/>
            <a:ext cx="3448202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8076895" y="4953305"/>
            <a:ext cx="352409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4533595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724705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4724705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27" name="Image 6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268005" y="3476549"/>
            <a:ext cx="38405" cy="5715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58200" y="3476549"/>
            <a:ext cx="2524658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300+</a:t>
            </a:r>
            <a:endParaRPr lang="en-US" sz="3100" dirty="0"/>
          </a:p>
        </p:txBody>
      </p:sp>
      <p:sp>
        <p:nvSpPr>
          <p:cNvPr id="29" name="Text 20"/>
          <p:cNvSpPr txBox="1"/>
          <p:nvPr/>
        </p:nvSpPr>
        <p:spPr>
          <a:xfrm>
            <a:off x="8458200" y="3993185"/>
            <a:ext cx="300380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GCCs built: greenfield &amp; brownfield</a:t>
            </a:r>
            <a:endParaRPr lang="en-US" sz="1200" dirty="0"/>
          </a:p>
        </p:txBody>
      </p:sp>
      <p:pic>
        <p:nvPicPr>
          <p:cNvPr id="30" name="Image 7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00100" y="5191049"/>
            <a:ext cx="38405" cy="5715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990295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5,500+</a:t>
            </a:r>
            <a:endParaRPr lang="en-US" sz="3100" dirty="0"/>
          </a:p>
        </p:txBody>
      </p:sp>
      <p:sp>
        <p:nvSpPr>
          <p:cNvPr id="32" name="Text 22"/>
          <p:cNvSpPr txBox="1"/>
          <p:nvPr/>
        </p:nvSpPr>
        <p:spPr>
          <a:xfrm>
            <a:off x="990295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 &amp; tech experts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4533595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4724705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4724705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826800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45820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845820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6">
            <a:extLst>
              <a:ext uri="{FF2B5EF4-FFF2-40B4-BE49-F238E27FC236}">
                <a16:creationId xmlns:a16="http://schemas.microsoft.com/office/drawing/2014/main" id="{BC38BC13-DFC1-F89E-0089-AA5AA093AE76}"/>
              </a:ext>
            </a:extLst>
          </p:cNvPr>
          <p:cNvSpPr/>
          <p:nvPr/>
        </p:nvSpPr>
        <p:spPr>
          <a:xfrm>
            <a:off x="609595" y="3248406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8000"/>
          </a:blip>
          <a:srcRect/>
          <a:stretch/>
        </p:blipFill>
        <p:spPr>
          <a:xfrm>
            <a:off x="-381305" y="3715207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387090"/>
            <a:ext cx="10972190" cy="1450129"/>
          </a:xfrm>
          <a:prstGeom prst="roundRect">
            <a:avLst>
              <a:gd name="adj" fmla="val 28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387090"/>
            <a:ext cx="47549" cy="1450129"/>
          </a:xfrm>
          <a:prstGeom prst="roundRect">
            <a:avLst>
              <a:gd name="adj" fmla="val 132625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57745" y="32388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594" y="4953305"/>
            <a:ext cx="5295445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57745" y="4953305"/>
            <a:ext cx="5543248" cy="1447495"/>
          </a:xfrm>
          <a:prstGeom prst="roundRect">
            <a:avLst>
              <a:gd name="adj" fmla="val 498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819302" y="466344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WHO WE ARE</a:t>
            </a:r>
            <a:endParaRPr lang="en-US" sz="2400" dirty="0"/>
          </a:p>
        </p:txBody>
      </p:sp>
      <p:sp>
        <p:nvSpPr>
          <p:cNvPr id="18" name="Text 12"/>
          <p:cNvSpPr txBox="1"/>
          <p:nvPr/>
        </p:nvSpPr>
        <p:spPr>
          <a:xfrm>
            <a:off x="819302" y="858622"/>
            <a:ext cx="44961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AI-native GCC platform - a decade in the making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90295" y="1465380"/>
            <a:ext cx="6967162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is the AI-native GCC platform for the Fortune 1000 and beyond.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990294" y="1977901"/>
            <a:ext cx="91449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 years building nothing but GCCs - so we solve the next problem before it shows up, deliver ROI in weeks where the industry takes quarters, and turn the GCC from a cost line into an innovation engine.</a:t>
            </a:r>
            <a:endParaRPr lang="en-US" sz="1100" dirty="0"/>
          </a:p>
        </p:txBody>
      </p:sp>
      <p:pic>
        <p:nvPicPr>
          <p:cNvPr id="21" name="Image 4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800100" y="3476549"/>
            <a:ext cx="38405" cy="5715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0295" y="3476549"/>
            <a:ext cx="1552651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10+</a:t>
            </a:r>
            <a:endParaRPr lang="en-US" sz="3100" dirty="0"/>
          </a:p>
        </p:txBody>
      </p:sp>
      <p:sp>
        <p:nvSpPr>
          <p:cNvPr id="23" name="Text 16"/>
          <p:cNvSpPr txBox="1"/>
          <p:nvPr/>
        </p:nvSpPr>
        <p:spPr>
          <a:xfrm>
            <a:off x="990295" y="399318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Years GCC leadership</a:t>
            </a:r>
            <a:endParaRPr lang="en-US" sz="1200" dirty="0"/>
          </a:p>
        </p:txBody>
      </p:sp>
      <p:pic>
        <p:nvPicPr>
          <p:cNvPr id="24" name="Image 5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7941" y="3476549"/>
            <a:ext cx="38405" cy="5715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439051" y="3476549"/>
            <a:ext cx="17913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320+</a:t>
            </a:r>
            <a:endParaRPr lang="en-US" sz="3100" dirty="0"/>
          </a:p>
        </p:txBody>
      </p:sp>
      <p:sp>
        <p:nvSpPr>
          <p:cNvPr id="26" name="Text 18"/>
          <p:cNvSpPr txBox="1"/>
          <p:nvPr/>
        </p:nvSpPr>
        <p:spPr>
          <a:xfrm>
            <a:off x="6439051" y="3993185"/>
            <a:ext cx="2131466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clients served</a:t>
            </a:r>
            <a:endParaRPr lang="en-US" sz="1200" dirty="0"/>
          </a:p>
        </p:txBody>
      </p:sp>
      <p:pic>
        <p:nvPicPr>
          <p:cNvPr id="33" name="Image 8" descr="gen-dedup-3d17221e8cd76f10a3e0815681bf2023.png"/>
          <p:cNvPicPr>
            <a:picLocks noChangeAspect="1"/>
          </p:cNvPicPr>
          <p:nvPr/>
        </p:nvPicPr>
        <p:blipFill>
          <a:blip r:embed="rId7"/>
          <a:srcRect l="-400" r="-400"/>
          <a:stretch/>
        </p:blipFill>
        <p:spPr>
          <a:xfrm>
            <a:off x="799790" y="5191049"/>
            <a:ext cx="38405" cy="571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990900" y="5191049"/>
            <a:ext cx="1705356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</a:t>
            </a:r>
            <a:endParaRPr lang="en-US" sz="3100" dirty="0"/>
          </a:p>
        </p:txBody>
      </p:sp>
      <p:sp>
        <p:nvSpPr>
          <p:cNvPr id="35" name="Text 24"/>
          <p:cNvSpPr txBox="1"/>
          <p:nvPr/>
        </p:nvSpPr>
        <p:spPr>
          <a:xfrm>
            <a:off x="990900" y="5707685"/>
            <a:ext cx="20290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Countries with footprint</a:t>
            </a:r>
            <a:endParaRPr lang="en-US" sz="1200" dirty="0"/>
          </a:p>
        </p:txBody>
      </p:sp>
      <p:pic>
        <p:nvPicPr>
          <p:cNvPr id="36" name="Image 9" descr="gen-dedup-32cd67bc95385c5507b78533d3bab6e6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248855" y="5191049"/>
            <a:ext cx="38405" cy="5715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6439050" y="5191049"/>
            <a:ext cx="167701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</a:t>
            </a:r>
            <a:endParaRPr lang="en-US" sz="3100" dirty="0"/>
          </a:p>
        </p:txBody>
      </p:sp>
      <p:sp>
        <p:nvSpPr>
          <p:cNvPr id="38" name="Text 26"/>
          <p:cNvSpPr txBox="1"/>
          <p:nvPr/>
        </p:nvSpPr>
        <p:spPr>
          <a:xfrm>
            <a:off x="6439050" y="5707685"/>
            <a:ext cx="199522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AI-enabled capabilities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ae513f7589b684705cecd0a1fd419bd.png"/>
          <p:cNvPicPr>
            <a:picLocks noChangeAspect="1"/>
          </p:cNvPicPr>
          <p:nvPr/>
        </p:nvPicPr>
        <p:blipFill>
          <a:blip r:embed="rId3">
            <a:alphaModFix amt="15000"/>
          </a:blip>
          <a:srcRect l="-38540" r="-38540"/>
          <a:stretch/>
        </p:blipFill>
        <p:spPr>
          <a:xfrm>
            <a:off x="286207" y="1143000"/>
            <a:ext cx="8096098" cy="4572000"/>
          </a:xfrm>
          <a:prstGeom prst="rect">
            <a:avLst/>
          </a:prstGeom>
        </p:spPr>
      </p:pic>
      <p:pic>
        <p:nvPicPr>
          <p:cNvPr id="3" name="Image 1" descr="gen-dedup-37abb9d8cc081a24feb608c288538026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" name="Image 2" descr="gen-dedup-c2c9136402f20c216bf7cbcc052ad1a0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5" name="Image 3" descr="gen-dedup-c8fa2eb184fc8de7f554dc71374b921a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8715146" y="1333195"/>
            <a:ext cx="2924251" cy="4781398"/>
          </a:xfrm>
          <a:prstGeom prst="roundRect">
            <a:avLst>
              <a:gd name="adj" fmla="val 25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1"/>
          <p:cNvSpPr/>
          <p:nvPr/>
        </p:nvSpPr>
        <p:spPr>
          <a:xfrm>
            <a:off x="609905" y="6286500"/>
            <a:ext cx="10992002" cy="400507"/>
          </a:xfrm>
          <a:prstGeom prst="roundRect">
            <a:avLst>
              <a:gd name="adj" fmla="val 1438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2"/>
          <p:cNvSpPr/>
          <p:nvPr/>
        </p:nvSpPr>
        <p:spPr>
          <a:xfrm>
            <a:off x="1714500" y="3000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3"/>
          <p:cNvSpPr/>
          <p:nvPr/>
        </p:nvSpPr>
        <p:spPr>
          <a:xfrm>
            <a:off x="4190695" y="2238451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4762195" y="2333549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5524805" y="319125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7810805" y="366674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858000" y="4143146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6953098" y="4429354"/>
            <a:ext cx="95098" cy="9509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4" descr="gen-dedup-f6de3db2c0e3a0458fdfe03bdecc5f42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163056" y="3400654"/>
            <a:ext cx="209398" cy="209398"/>
          </a:xfrm>
          <a:prstGeom prst="rect">
            <a:avLst/>
          </a:prstGeom>
        </p:spPr>
      </p:pic>
      <p:pic>
        <p:nvPicPr>
          <p:cNvPr id="16" name="Image 5" descr="gen-dedup-c86e8c174ca8fa1030f905d340dc1437.png"/>
          <p:cNvPicPr>
            <a:picLocks noChangeAspect="1"/>
          </p:cNvPicPr>
          <p:nvPr/>
        </p:nvPicPr>
        <p:blipFill>
          <a:blip r:embed="rId8"/>
          <a:srcRect l="-400" r="-400"/>
          <a:stretch/>
        </p:blipFill>
        <p:spPr>
          <a:xfrm>
            <a:off x="609905" y="685800"/>
            <a:ext cx="57607" cy="57150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9302" y="647395"/>
            <a:ext cx="9525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GLOBAL FOOTPRINT &amp; INDUSTRIES WE SERVE</a:t>
            </a:r>
            <a:endParaRPr lang="en-US" sz="2400" dirty="0"/>
          </a:p>
        </p:txBody>
      </p:sp>
      <p:sp>
        <p:nvSpPr>
          <p:cNvPr id="18" name="Text 10"/>
          <p:cNvSpPr txBox="1"/>
          <p:nvPr/>
        </p:nvSpPr>
        <p:spPr>
          <a:xfrm>
            <a:off x="819302" y="1039673"/>
            <a:ext cx="95253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8 Global Locations | 8 Core Industries</a:t>
            </a:r>
            <a:endParaRPr lang="en-US" sz="1500" dirty="0"/>
          </a:p>
        </p:txBody>
      </p:sp>
      <p:sp>
        <p:nvSpPr>
          <p:cNvPr id="19" name="Shape 11"/>
          <p:cNvSpPr/>
          <p:nvPr/>
        </p:nvSpPr>
        <p:spPr>
          <a:xfrm>
            <a:off x="1538935" y="3143707"/>
            <a:ext cx="44805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2"/>
          <p:cNvSpPr txBox="1"/>
          <p:nvPr/>
        </p:nvSpPr>
        <p:spPr>
          <a:xfrm>
            <a:off x="1538935" y="3143707"/>
            <a:ext cx="448056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Dallas</a:t>
            </a:r>
            <a:endParaRPr lang="en-US" sz="800" dirty="0"/>
          </a:p>
        </p:txBody>
      </p:sp>
      <p:sp>
        <p:nvSpPr>
          <p:cNvPr id="21" name="Shape 13"/>
          <p:cNvSpPr/>
          <p:nvPr/>
        </p:nvSpPr>
        <p:spPr>
          <a:xfrm>
            <a:off x="4097426" y="2000707"/>
            <a:ext cx="286207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4"/>
          <p:cNvSpPr txBox="1"/>
          <p:nvPr/>
        </p:nvSpPr>
        <p:spPr>
          <a:xfrm>
            <a:off x="4097426" y="2000707"/>
            <a:ext cx="286207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UK</a:t>
            </a:r>
            <a:endParaRPr lang="en-US" sz="800" dirty="0"/>
          </a:p>
        </p:txBody>
      </p:sp>
      <p:sp>
        <p:nvSpPr>
          <p:cNvPr id="23" name="Shape 15"/>
          <p:cNvSpPr/>
          <p:nvPr/>
        </p:nvSpPr>
        <p:spPr>
          <a:xfrm>
            <a:off x="4567428" y="2095805"/>
            <a:ext cx="485546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 txBox="1"/>
          <p:nvPr/>
        </p:nvSpPr>
        <p:spPr>
          <a:xfrm>
            <a:off x="4567428" y="2095805"/>
            <a:ext cx="486461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Poland</a:t>
            </a:r>
            <a:endParaRPr lang="en-US" sz="800" dirty="0"/>
          </a:p>
        </p:txBody>
      </p:sp>
      <p:sp>
        <p:nvSpPr>
          <p:cNvPr id="25" name="Shape 17"/>
          <p:cNvSpPr/>
          <p:nvPr/>
        </p:nvSpPr>
        <p:spPr>
          <a:xfrm>
            <a:off x="5400446" y="3333902"/>
            <a:ext cx="3429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18"/>
          <p:cNvSpPr txBox="1"/>
          <p:nvPr/>
        </p:nvSpPr>
        <p:spPr>
          <a:xfrm>
            <a:off x="5400446" y="3333902"/>
            <a:ext cx="3429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UAE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7467905" y="3810305"/>
            <a:ext cx="694944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 txBox="1"/>
          <p:nvPr/>
        </p:nvSpPr>
        <p:spPr>
          <a:xfrm>
            <a:off x="7467905" y="3810305"/>
            <a:ext cx="69585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Philippines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6477610" y="4286707"/>
            <a:ext cx="571500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 txBox="1"/>
          <p:nvPr/>
        </p:nvSpPr>
        <p:spPr>
          <a:xfrm>
            <a:off x="6477610" y="4286707"/>
            <a:ext cx="57150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Malaysia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6725412" y="4572000"/>
            <a:ext cx="647395" cy="286207"/>
          </a:xfrm>
          <a:prstGeom prst="roundRect">
            <a:avLst>
              <a:gd name="adj" fmla="val 13419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 txBox="1"/>
          <p:nvPr/>
        </p:nvSpPr>
        <p:spPr>
          <a:xfrm>
            <a:off x="6725412" y="4572000"/>
            <a:ext cx="648310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63500" tIns="25400" rIns="63500" bIns="254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Singapore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5898794" y="3619195"/>
            <a:ext cx="685800" cy="333756"/>
          </a:xfrm>
          <a:prstGeom prst="roundRect">
            <a:avLst>
              <a:gd name="adj" fmla="val 11507"/>
            </a:avLst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 txBox="1"/>
          <p:nvPr/>
        </p:nvSpPr>
        <p:spPr>
          <a:xfrm>
            <a:off x="5898794" y="3619195"/>
            <a:ext cx="685800" cy="3337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01600" tIns="38100" rIns="101600" bIns="3810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 Hub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8906256" y="1867205"/>
            <a:ext cx="2523744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 txBox="1"/>
          <p:nvPr/>
        </p:nvSpPr>
        <p:spPr>
          <a:xfrm>
            <a:off x="9158630" y="1524305"/>
            <a:ext cx="2272284" cy="24871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INDUSTRIES WE SERVE</a:t>
            </a:r>
            <a:endParaRPr lang="en-US" sz="1300" dirty="0"/>
          </a:p>
        </p:txBody>
      </p:sp>
      <p:pic>
        <p:nvPicPr>
          <p:cNvPr id="37" name="Image 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018995"/>
            <a:ext cx="2523744" cy="295351"/>
          </a:xfrm>
          <a:prstGeom prst="rect">
            <a:avLst/>
          </a:prstGeom>
        </p:spPr>
      </p:pic>
      <p:pic>
        <p:nvPicPr>
          <p:cNvPr id="38" name="Image 7" descr="gen-dedup-2bd0b0fa7484346ccc3fd816b7451a75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9048902" y="2100377"/>
            <a:ext cx="190195" cy="13350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353398" y="2018995"/>
            <a:ext cx="26700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BFSI</a:t>
            </a:r>
            <a:endParaRPr lang="en-US" sz="900" dirty="0"/>
          </a:p>
        </p:txBody>
      </p:sp>
      <p:pic>
        <p:nvPicPr>
          <p:cNvPr id="40" name="Image 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391156"/>
            <a:ext cx="2523744" cy="295351"/>
          </a:xfrm>
          <a:prstGeom prst="rect">
            <a:avLst/>
          </a:prstGeom>
        </p:spPr>
      </p:pic>
      <p:pic>
        <p:nvPicPr>
          <p:cNvPr id="41" name="Image 9" descr="gen-dedup-87254bd47463b9ac5fc2428135379ff4.png"/>
          <p:cNvPicPr>
            <a:picLocks noChangeAspect="1"/>
          </p:cNvPicPr>
          <p:nvPr/>
        </p:nvPicPr>
        <p:blipFill>
          <a:blip r:embed="rId11"/>
          <a:srcRect l="-21233" r="-21233"/>
          <a:stretch/>
        </p:blipFill>
        <p:spPr>
          <a:xfrm>
            <a:off x="9048902" y="2471623"/>
            <a:ext cx="190195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9353398" y="2391156"/>
            <a:ext cx="1515161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Healthcare &amp; Life Science</a:t>
            </a:r>
            <a:endParaRPr lang="en-US" sz="900" dirty="0"/>
          </a:p>
        </p:txBody>
      </p:sp>
      <p:pic>
        <p:nvPicPr>
          <p:cNvPr id="43" name="Image 1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2762402"/>
            <a:ext cx="2523744" cy="295351"/>
          </a:xfrm>
          <a:prstGeom prst="rect">
            <a:avLst/>
          </a:prstGeom>
        </p:spPr>
      </p:pic>
      <p:pic>
        <p:nvPicPr>
          <p:cNvPr id="44" name="Image 11" descr="gen-dedup-6a9e002375939ddd6a79ac98f2a4d902.png"/>
          <p:cNvPicPr>
            <a:picLocks noChangeAspect="1"/>
          </p:cNvPicPr>
          <p:nvPr/>
        </p:nvPicPr>
        <p:blipFill>
          <a:blip r:embed="rId12"/>
          <a:srcRect l="-13318" r="-13318"/>
          <a:stretch/>
        </p:blipFill>
        <p:spPr>
          <a:xfrm>
            <a:off x="9048902" y="2842870"/>
            <a:ext cx="190195" cy="133502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9353398" y="2762402"/>
            <a:ext cx="1086307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Retail &amp; Consumer</a:t>
            </a:r>
            <a:endParaRPr lang="en-US" sz="900" dirty="0"/>
          </a:p>
        </p:txBody>
      </p:sp>
      <p:pic>
        <p:nvPicPr>
          <p:cNvPr id="46" name="Image 12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133649"/>
            <a:ext cx="2523744" cy="295351"/>
          </a:xfrm>
          <a:prstGeom prst="rect">
            <a:avLst/>
          </a:prstGeom>
        </p:spPr>
      </p:pic>
      <p:pic>
        <p:nvPicPr>
          <p:cNvPr id="47" name="Image 13" descr="gen-dedup-1ac84738dfd443b955249e948e0d73ca.png"/>
          <p:cNvPicPr>
            <a:picLocks noChangeAspect="1"/>
          </p:cNvPicPr>
          <p:nvPr/>
        </p:nvPicPr>
        <p:blipFill>
          <a:blip r:embed="rId13"/>
          <a:srcRect l="-21233" r="-21233"/>
          <a:stretch/>
        </p:blipFill>
        <p:spPr>
          <a:xfrm>
            <a:off x="9048902" y="3215030"/>
            <a:ext cx="190195" cy="133502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9353398" y="3133649"/>
            <a:ext cx="16861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Automotive &amp; Manufacturing</a:t>
            </a:r>
            <a:endParaRPr lang="en-US" sz="900" dirty="0"/>
          </a:p>
        </p:txBody>
      </p:sp>
      <p:pic>
        <p:nvPicPr>
          <p:cNvPr id="49" name="Image 14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504895"/>
            <a:ext cx="2523744" cy="295351"/>
          </a:xfrm>
          <a:prstGeom prst="rect">
            <a:avLst/>
          </a:prstGeom>
        </p:spPr>
      </p:pic>
      <p:pic>
        <p:nvPicPr>
          <p:cNvPr id="50" name="Image 15" descr="gen-dedup-a6d5727770eb2c467ca0fcfb922fbe99.png"/>
          <p:cNvPicPr>
            <a:picLocks noChangeAspect="1"/>
          </p:cNvPicPr>
          <p:nvPr/>
        </p:nvPicPr>
        <p:blipFill>
          <a:blip r:embed="rId14"/>
          <a:srcRect l="-6986" r="-6986"/>
          <a:stretch/>
        </p:blipFill>
        <p:spPr>
          <a:xfrm>
            <a:off x="9048902" y="3586277"/>
            <a:ext cx="190195" cy="133502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9353398" y="3504895"/>
            <a:ext cx="11247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 &amp; SaaS</a:t>
            </a:r>
            <a:endParaRPr lang="en-US" sz="900" dirty="0"/>
          </a:p>
        </p:txBody>
      </p:sp>
      <p:pic>
        <p:nvPicPr>
          <p:cNvPr id="52" name="Image 16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3877056"/>
            <a:ext cx="2523744" cy="295351"/>
          </a:xfrm>
          <a:prstGeom prst="rect">
            <a:avLst/>
          </a:prstGeom>
        </p:spPr>
      </p:pic>
      <p:pic>
        <p:nvPicPr>
          <p:cNvPr id="53" name="Image 17" descr="gen-dedup-f9e079124fd14560a869c5b2316619e3.png"/>
          <p:cNvPicPr>
            <a:picLocks noChangeAspect="1"/>
          </p:cNvPicPr>
          <p:nvPr/>
        </p:nvPicPr>
        <p:blipFill>
          <a:blip r:embed="rId15"/>
          <a:srcRect l="-13318" r="-13318"/>
          <a:stretch/>
        </p:blipFill>
        <p:spPr>
          <a:xfrm>
            <a:off x="9048902" y="3957523"/>
            <a:ext cx="190195" cy="133502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9353398" y="3877056"/>
            <a:ext cx="1228954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Telecommunications</a:t>
            </a:r>
            <a:endParaRPr lang="en-US" sz="900" dirty="0"/>
          </a:p>
        </p:txBody>
      </p:sp>
      <p:pic>
        <p:nvPicPr>
          <p:cNvPr id="55" name="Image 18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248302"/>
            <a:ext cx="2523744" cy="295351"/>
          </a:xfrm>
          <a:prstGeom prst="rect">
            <a:avLst/>
          </a:prstGeom>
        </p:spPr>
      </p:pic>
      <p:pic>
        <p:nvPicPr>
          <p:cNvPr id="56" name="Image 19" descr="gen-dedup-451e9eae7293a4bc33edf7b5ccafce38.png"/>
          <p:cNvPicPr>
            <a:picLocks noChangeAspect="1"/>
          </p:cNvPicPr>
          <p:nvPr/>
        </p:nvPicPr>
        <p:blipFill>
          <a:blip r:embed="rId16"/>
          <a:srcRect l="-31409" r="-31409"/>
          <a:stretch/>
        </p:blipFill>
        <p:spPr>
          <a:xfrm>
            <a:off x="9048902" y="4328770"/>
            <a:ext cx="190195" cy="133502"/>
          </a:xfrm>
          <a:prstGeom prst="rect">
            <a:avLst/>
          </a:prstGeom>
        </p:spPr>
      </p:pic>
      <p:sp>
        <p:nvSpPr>
          <p:cNvPr id="57" name="Text 35"/>
          <p:cNvSpPr txBox="1"/>
          <p:nvPr/>
        </p:nvSpPr>
        <p:spPr>
          <a:xfrm>
            <a:off x="9353398" y="4248302"/>
            <a:ext cx="1105510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Energies &amp; Utilities</a:t>
            </a:r>
            <a:endParaRPr lang="en-US" sz="900" dirty="0"/>
          </a:p>
        </p:txBody>
      </p:sp>
      <p:pic>
        <p:nvPicPr>
          <p:cNvPr id="58" name="Image 20" descr="gen-dedup-a3ba9c707eb1f0939238c0b2ee690b47.png"/>
          <p:cNvPicPr>
            <a:picLocks noChangeAspect="1"/>
          </p:cNvPicPr>
          <p:nvPr/>
        </p:nvPicPr>
        <p:blipFill>
          <a:blip r:embed="rId9"/>
          <a:srcRect t="-20" b="-20"/>
          <a:stretch/>
        </p:blipFill>
        <p:spPr>
          <a:xfrm>
            <a:off x="8906256" y="4619549"/>
            <a:ext cx="2523744" cy="295351"/>
          </a:xfrm>
          <a:prstGeom prst="rect">
            <a:avLst/>
          </a:prstGeom>
        </p:spPr>
      </p:pic>
      <p:pic>
        <p:nvPicPr>
          <p:cNvPr id="59" name="Image 21" descr="gen-dedup-40abce9d65960ad896b885d7512e550b.png"/>
          <p:cNvPicPr>
            <a:picLocks noChangeAspect="1"/>
          </p:cNvPicPr>
          <p:nvPr/>
        </p:nvPicPr>
        <p:blipFill>
          <a:blip r:embed="rId17"/>
          <a:srcRect l="-21233" r="-21233"/>
          <a:stretch/>
        </p:blipFill>
        <p:spPr>
          <a:xfrm>
            <a:off x="9048902" y="4700930"/>
            <a:ext cx="190195" cy="133502"/>
          </a:xfrm>
          <a:prstGeom prst="rect">
            <a:avLst/>
          </a:prstGeom>
        </p:spPr>
      </p:pic>
      <p:sp>
        <p:nvSpPr>
          <p:cNvPr id="60" name="Text 36"/>
          <p:cNvSpPr txBox="1"/>
          <p:nvPr/>
        </p:nvSpPr>
        <p:spPr>
          <a:xfrm>
            <a:off x="9353398" y="4619549"/>
            <a:ext cx="124815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 Services</a:t>
            </a:r>
            <a:endParaRPr lang="en-US" sz="900" dirty="0"/>
          </a:p>
        </p:txBody>
      </p:sp>
      <p:pic>
        <p:nvPicPr>
          <p:cNvPr id="61" name="Image 22" descr="gen-dedup-a24ca5efa244217182f79dc248b17d8b.png"/>
          <p:cNvPicPr>
            <a:picLocks noChangeAspect="1"/>
          </p:cNvPicPr>
          <p:nvPr/>
        </p:nvPicPr>
        <p:blipFill>
          <a:blip r:embed="rId18"/>
          <a:srcRect t="-22432" b="-22432"/>
          <a:stretch/>
        </p:blipFill>
        <p:spPr>
          <a:xfrm>
            <a:off x="8906256" y="1573682"/>
            <a:ext cx="133502" cy="171907"/>
          </a:xfrm>
          <a:prstGeom prst="rect">
            <a:avLst/>
          </a:prstGeom>
        </p:spPr>
      </p:pic>
      <p:sp>
        <p:nvSpPr>
          <p:cNvPr id="62" name="Text 37"/>
          <p:cNvSpPr txBox="1"/>
          <p:nvPr/>
        </p:nvSpPr>
        <p:spPr>
          <a:xfrm>
            <a:off x="942746" y="6362395"/>
            <a:ext cx="3224174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Connecting global expertise with the India Delivery Hub</a:t>
            </a:r>
            <a:endParaRPr lang="en-US" sz="800" dirty="0"/>
          </a:p>
        </p:txBody>
      </p:sp>
      <p:sp>
        <p:nvSpPr>
          <p:cNvPr id="63" name="Text 38"/>
          <p:cNvSpPr txBox="1"/>
          <p:nvPr/>
        </p:nvSpPr>
        <p:spPr>
          <a:xfrm>
            <a:off x="9831629" y="6362395"/>
            <a:ext cx="1886407" cy="124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cross-industry scalability</a:t>
            </a:r>
            <a:endParaRPr lang="en-US" sz="800" dirty="0"/>
          </a:p>
        </p:txBody>
      </p:sp>
      <p:pic>
        <p:nvPicPr>
          <p:cNvPr id="64" name="Image 23" descr="gen-dedup-1a59845541d7fd4fb2a1972088c3d49f.png"/>
          <p:cNvPicPr>
            <a:picLocks noChangeAspect="1"/>
          </p:cNvPicPr>
          <p:nvPr/>
        </p:nvPicPr>
        <p:blipFill>
          <a:blip r:embed="rId19"/>
          <a:srcRect t="-11170" b="-11170"/>
          <a:stretch/>
        </p:blipFill>
        <p:spPr>
          <a:xfrm>
            <a:off x="800100" y="6366053"/>
            <a:ext cx="85954" cy="105156"/>
          </a:xfrm>
          <a:prstGeom prst="rect">
            <a:avLst/>
          </a:prstGeom>
        </p:spPr>
      </p:pic>
      <p:pic>
        <p:nvPicPr>
          <p:cNvPr id="65" name="Image 24" descr="gen-dedup-d522b7b7ebdde5571aa98d9631dd96ee.png"/>
          <p:cNvPicPr>
            <a:picLocks noChangeAspect="1"/>
          </p:cNvPicPr>
          <p:nvPr/>
        </p:nvPicPr>
        <p:blipFill>
          <a:blip r:embed="rId20"/>
          <a:srcRect t="-11170" b="-11170"/>
          <a:stretch/>
        </p:blipFill>
        <p:spPr>
          <a:xfrm>
            <a:off x="9688982" y="6366053"/>
            <a:ext cx="85954" cy="1051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430207" y="-571500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485546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42900"/>
            <a:ext cx="59125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43407"/>
            <a:ext cx="58110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Visionary Leadership Driving Enterprise Excellence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6" b="-6"/>
          <a:stretch/>
        </p:blipFill>
        <p:spPr>
          <a:xfrm>
            <a:off x="609905" y="1123798"/>
            <a:ext cx="5372100" cy="37152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98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233" y="1367942"/>
            <a:ext cx="752551" cy="7525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17474" y="2224735"/>
            <a:ext cx="1020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300"/>
          </a:p>
        </p:txBody>
      </p:sp>
      <p:sp>
        <p:nvSpPr>
          <p:cNvPr id="12" name="Text 7"/>
          <p:cNvSpPr txBox="1"/>
          <p:nvPr/>
        </p:nvSpPr>
        <p:spPr>
          <a:xfrm>
            <a:off x="789127" y="2457907"/>
            <a:ext cx="107442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2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20253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Priti Sawant is a serial entrepreneur, category creator, and a pioneer of India’s Global Capability Center (GCC) ecosystem. With 20+ years of experience, she has built and scaled businesses at the intersection of technology and enterprise transformation. She began her journey at Accenture and later led Magna Infotech-scaling it from pre-revenue to a market leader, creating India’s first GCC-focused model, and delivering a successful exit and public listing (IPO). She is a 2-time entrepreneur, having built two successful, leading companies solving for GCCs in India.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2025396" y="3527888"/>
            <a:ext cx="3867912" cy="138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She founded JoulestoWatts, backed by Manipal Global Education Services. Today, J2W operates across 8 countries, enabling 300+ GCCs, deploying 5,200+ professionals, and building 4 in-house products, with strong Fortune 500 partnerships. Recognised by Forbes Japan, she is also a TiE Charter Member, startup mentor, and a strong advocate of gender diversity, having built organisations with 40%+ women representation and 50% women-led leadership roles.</a:t>
            </a:r>
            <a:endParaRPr lang="en-US" sz="110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6210605" y="1123798"/>
            <a:ext cx="5372100" cy="3715207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20586" y="1339596"/>
            <a:ext cx="809244" cy="809244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b="1042"/>
          <a:stretch/>
        </p:blipFill>
        <p:spPr>
          <a:xfrm>
            <a:off x="6548933" y="1367942"/>
            <a:ext cx="752551" cy="7525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11773" y="2224735"/>
            <a:ext cx="10323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300"/>
          </a:p>
        </p:txBody>
      </p:sp>
      <p:sp>
        <p:nvSpPr>
          <p:cNvPr id="19" name="Text 12"/>
          <p:cNvSpPr txBox="1"/>
          <p:nvPr/>
        </p:nvSpPr>
        <p:spPr>
          <a:xfrm>
            <a:off x="6781190" y="2457907"/>
            <a:ext cx="2953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2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7626096" y="1557311"/>
            <a:ext cx="3867912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Priya Mohan is a seasoned operator, investor, and entrepreneur with 20+ years spanning venture capital, high-growth startups, and investment banking. She was most recently a Partner at General Catalyst India, where she led India investments and co-creation opportunities across transformative, economy-shaping companies. Previously, as Managing Partner at Venture Highway, she held board seats across marquee portfolio companies in multiple sectors. Before investing, she co-founded Vidyartha, an EdTech platform which she successfully exited to Byju's.</a:t>
            </a:r>
            <a:endParaRPr lang="en-US" sz="1100"/>
          </a:p>
        </p:txBody>
      </p:sp>
      <p:sp>
        <p:nvSpPr>
          <p:cNvPr id="21" name="Text 14"/>
          <p:cNvSpPr txBox="1"/>
          <p:nvPr/>
        </p:nvSpPr>
        <p:spPr>
          <a:xfrm>
            <a:off x="7626096" y="3527888"/>
            <a:ext cx="3867912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Her earlier career included 9 years in investment banking and equity research - structuring and executing complex transactions across private equity raises, secondary sales, and buyouts. A Chartered Accountant and Management Graduate from the Indian School of Business (ISB), Priya was a state guest of the United States under the IVLP program and is a member of the Kamalnayan Bajaj Aspen Fellowship (Cohort X).</a:t>
            </a:r>
            <a:endParaRPr lang="en-US" sz="1100" dirty="0"/>
          </a:p>
        </p:txBody>
      </p:sp>
      <p:pic>
        <p:nvPicPr>
          <p:cNvPr id="54" name="Image 15" descr="preencoded.png"/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5" name="Image 16" descr="preencoded.png"/>
          <p:cNvPicPr>
            <a:picLocks noChangeAspect="1"/>
          </p:cNvPicPr>
          <p:nvPr/>
        </p:nvPicPr>
        <p:blipFill>
          <a:blip r:embed="rId9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667598" y="-75153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/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714500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1714500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191402" y="1285646"/>
            <a:ext cx="4304995" cy="2667305"/>
          </a:xfrm>
          <a:prstGeom prst="roundRect">
            <a:avLst>
              <a:gd name="adj" fmla="val 195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85646"/>
            <a:ext cx="4304995" cy="38405"/>
          </a:xfrm>
          <a:prstGeom prst="roundRect">
            <a:avLst>
              <a:gd name="adj" fmla="val 1360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ARCHITECTS OF TRANSFORMATION</a:t>
            </a:r>
            <a:endParaRPr lang="en-US" sz="2500"/>
          </a:p>
        </p:txBody>
      </p:sp>
      <p:sp>
        <p:nvSpPr>
          <p:cNvPr id="18" name="Text 14"/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Seasoned Team Uniting Technology, Strategy, And Workforce Excellence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476549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3476549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1" name="Text 17"/>
          <p:cNvSpPr txBox="1"/>
          <p:nvPr/>
        </p:nvSpPr>
        <p:spPr>
          <a:xfrm>
            <a:off x="3294583" y="2266798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  <a:endParaRPr lang="en-US" sz="1500"/>
          </a:p>
        </p:txBody>
      </p:sp>
      <p:sp>
        <p:nvSpPr>
          <p:cNvPr id="22" name="Text 18"/>
          <p:cNvSpPr txBox="1"/>
          <p:nvPr/>
        </p:nvSpPr>
        <p:spPr>
          <a:xfrm>
            <a:off x="3254350" y="2572207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  <a:endParaRPr lang="en-US" sz="900"/>
          </a:p>
        </p:txBody>
      </p:sp>
      <p:sp>
        <p:nvSpPr>
          <p:cNvPr id="23" name="Text 19"/>
          <p:cNvSpPr txBox="1"/>
          <p:nvPr/>
        </p:nvSpPr>
        <p:spPr>
          <a:xfrm>
            <a:off x="1857146" y="2790749"/>
            <a:ext cx="40005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Serial entrepreneur and pioneer of India's GCC ecosystem. 20+ years building businesses at the intersection of technology and enterprise transformation. Founded J2W, operating across 8 countries, 300+ GCCs, 5,200+ professionals. Forbes Japan featured. TiE Charter Member.</a:t>
            </a:r>
            <a:endParaRPr lang="en-US" sz="1000"/>
          </a:p>
        </p:txBody>
      </p:sp>
      <p:sp>
        <p:nvSpPr>
          <p:cNvPr id="24" name="Shape 20"/>
          <p:cNvSpPr/>
          <p:nvPr/>
        </p:nvSpPr>
        <p:spPr>
          <a:xfrm>
            <a:off x="7953451" y="1429207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7953451" y="1429207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26" name="Text 22"/>
          <p:cNvSpPr txBox="1"/>
          <p:nvPr/>
        </p:nvSpPr>
        <p:spPr>
          <a:xfrm>
            <a:off x="7764170" y="2266798"/>
            <a:ext cx="1144829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  <a:endParaRPr lang="en-US" sz="1500"/>
          </a:p>
        </p:txBody>
      </p:sp>
      <p:sp>
        <p:nvSpPr>
          <p:cNvPr id="27" name="Text 23"/>
          <p:cNvSpPr txBox="1"/>
          <p:nvPr/>
        </p:nvSpPr>
        <p:spPr>
          <a:xfrm>
            <a:off x="8214970" y="2572207"/>
            <a:ext cx="2478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9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  <a:endParaRPr lang="en-US" sz="900"/>
          </a:p>
        </p:txBody>
      </p:sp>
      <p:sp>
        <p:nvSpPr>
          <p:cNvPr id="28" name="Text 24"/>
          <p:cNvSpPr txBox="1"/>
          <p:nvPr/>
        </p:nvSpPr>
        <p:spPr>
          <a:xfrm>
            <a:off x="6334049" y="2790749"/>
            <a:ext cx="400050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Seasoned operator, investor, and entrepreneur with 20+ years in venture capital and investment banking. Ex-General Catalyst &amp; Venture Highway. Co-founded Vidyartha, exited to BYJU'S. CA &amp; ISB alumna. Kamalnayan Bajaj Aspen Fellow.</a:t>
            </a:r>
            <a:endParaRPr lang="en-US" sz="1000"/>
          </a:p>
        </p:txBody>
      </p:sp>
      <p:sp>
        <p:nvSpPr>
          <p:cNvPr id="31" name="Text 27"/>
          <p:cNvSpPr txBox="1"/>
          <p:nvPr/>
        </p:nvSpPr>
        <p:spPr>
          <a:xfrm>
            <a:off x="1821485" y="5178349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32" name="Text 28"/>
          <p:cNvSpPr txBox="1"/>
          <p:nvPr/>
        </p:nvSpPr>
        <p:spPr>
          <a:xfrm>
            <a:off x="1503274" y="5445354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33" name="Text 29"/>
          <p:cNvSpPr txBox="1"/>
          <p:nvPr/>
        </p:nvSpPr>
        <p:spPr>
          <a:xfrm>
            <a:off x="904646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years experience, 15 in financial services. AI, data science &amp; ML leader. Patent holder. Scales enterprise AI transformations. IIM Bangalore MBA.</a:t>
            </a:r>
            <a:endParaRPr lang="en-US" sz="900"/>
          </a:p>
        </p:txBody>
      </p:sp>
      <p:sp>
        <p:nvSpPr>
          <p:cNvPr id="34" name="Shape 30"/>
          <p:cNvSpPr/>
          <p:nvPr/>
        </p:nvSpPr>
        <p:spPr>
          <a:xfrm>
            <a:off x="571042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1"/>
          <p:cNvSpPr/>
          <p:nvPr/>
        </p:nvSpPr>
        <p:spPr>
          <a:xfrm>
            <a:off x="571042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36" name="Text 32"/>
          <p:cNvSpPr txBox="1"/>
          <p:nvPr/>
        </p:nvSpPr>
        <p:spPr>
          <a:xfrm>
            <a:off x="5512003" y="51783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37" name="Text 33"/>
          <p:cNvSpPr txBox="1"/>
          <p:nvPr/>
        </p:nvSpPr>
        <p:spPr>
          <a:xfrm>
            <a:off x="4998110" y="54453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/>
          </a:p>
        </p:txBody>
      </p:sp>
      <p:sp>
        <p:nvSpPr>
          <p:cNvPr id="38" name="Text 34"/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transformation leader. INSEAD MBA. AWS Certified Architect &amp; PMP. Expertise in AI strategy, architecture and cross-geography team leadership.</a:t>
            </a:r>
            <a:endParaRPr lang="en-US" sz="900"/>
          </a:p>
        </p:txBody>
      </p:sp>
      <p:sp>
        <p:nvSpPr>
          <p:cNvPr id="39" name="Shape 35"/>
          <p:cNvSpPr/>
          <p:nvPr/>
        </p:nvSpPr>
        <p:spPr>
          <a:xfrm>
            <a:off x="9405518" y="4339844"/>
            <a:ext cx="761695" cy="761695"/>
          </a:xfrm>
          <a:prstGeom prst="ellipse">
            <a:avLst/>
          </a:prstGeom>
          <a:solidFill>
            <a:srgbClr val="F3F4F6"/>
          </a:solidFill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6"/>
          <p:cNvSpPr/>
          <p:nvPr/>
        </p:nvSpPr>
        <p:spPr>
          <a:xfrm>
            <a:off x="9405518" y="4339844"/>
            <a:ext cx="762610" cy="7626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CA3A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Photo</a:t>
            </a:r>
            <a:endParaRPr lang="en-US" sz="1000"/>
          </a:p>
        </p:txBody>
      </p:sp>
      <p:sp>
        <p:nvSpPr>
          <p:cNvPr id="41" name="Text 37"/>
          <p:cNvSpPr txBox="1"/>
          <p:nvPr/>
        </p:nvSpPr>
        <p:spPr>
          <a:xfrm>
            <a:off x="9322308" y="51783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Kunal Shah</a:t>
            </a:r>
            <a:endParaRPr lang="en-US" sz="1300"/>
          </a:p>
        </p:txBody>
      </p:sp>
      <p:sp>
        <p:nvSpPr>
          <p:cNvPr id="42" name="Text 38"/>
          <p:cNvSpPr txBox="1"/>
          <p:nvPr/>
        </p:nvSpPr>
        <p:spPr>
          <a:xfrm>
            <a:off x="8810244" y="54453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- GLOBAL BFSI STRATEGY</a:t>
            </a:r>
            <a:endParaRPr lang="en-US" sz="900"/>
          </a:p>
        </p:txBody>
      </p:sp>
      <p:sp>
        <p:nvSpPr>
          <p:cNvPr id="43" name="Text 39"/>
          <p:cNvSpPr txBox="1"/>
          <p:nvPr/>
        </p:nvSpPr>
        <p:spPr>
          <a:xfrm>
            <a:off x="8295741" y="5644997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Industry-recognized AI, data science &amp; ML leader. 20+ years in BFSI. Ex JP Morgan &amp; CLSA. Scales enterprise AI transformations. Drives measurable ROI for banks &amp; fintechs.</a:t>
            </a:r>
            <a:endParaRPr lang="en-US" sz="900"/>
          </a:p>
        </p:txBody>
      </p:sp>
      <p:pic>
        <p:nvPicPr>
          <p:cNvPr id="46" name="Image 4" descr="preencoded.png">
            <a:extLst>
              <a:ext uri="{FF2B5EF4-FFF2-40B4-BE49-F238E27FC236}">
                <a16:creationId xmlns:a16="http://schemas.microsoft.com/office/drawing/2014/main" id="{C6614DD8-D2D3-3E59-136C-61594D6E82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7895844" y="1398828"/>
            <a:ext cx="857707" cy="857707"/>
          </a:xfrm>
          <a:prstGeom prst="rect">
            <a:avLst/>
          </a:prstGeom>
        </p:spPr>
      </p:pic>
      <p:pic>
        <p:nvPicPr>
          <p:cNvPr id="48" name="Image 2" descr="preencoded.png">
            <a:extLst>
              <a:ext uri="{FF2B5EF4-FFF2-40B4-BE49-F238E27FC236}">
                <a16:creationId xmlns:a16="http://schemas.microsoft.com/office/drawing/2014/main" id="{3C07FD42-E1E3-E85C-D27C-13F1FA4C86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3472994" y="1429207"/>
            <a:ext cx="783996" cy="783996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21381C72-F8AC-4843-BD6E-BF23284635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9958" y="4383736"/>
            <a:ext cx="761695" cy="76169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1E4787F7-0E35-B225-403B-21A9F0D68F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0428" y="4311358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FE56F8F-09ED-BCC5-7551-0F240ACC8F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768" y="4336643"/>
            <a:ext cx="792836" cy="792836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2270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918E-CA58-E5F4-F9F4-9F82CB89C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0EFF5F3-4DDA-24A6-E4D8-A4A3C70A923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E78A4C1-42F3-11EA-B71C-5C5DA0E2DB6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EEB366C-A762-A317-6EC4-B4CB5906CB0C}"/>
              </a:ext>
            </a:extLst>
          </p:cNvPr>
          <p:cNvSpPr/>
          <p:nvPr/>
        </p:nvSpPr>
        <p:spPr>
          <a:xfrm>
            <a:off x="8667598" y="-761695"/>
            <a:ext cx="4286707" cy="4286707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1CB91D49-ED4B-44E1-D2BD-99A7301EF3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476402" y="30476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ef527bea2207a14ec6e8d4c8ae9cdc45.png">
            <a:extLst>
              <a:ext uri="{FF2B5EF4-FFF2-40B4-BE49-F238E27FC236}">
                <a16:creationId xmlns:a16="http://schemas.microsoft.com/office/drawing/2014/main" id="{CFAD2321-944A-2D5D-9226-C340246D3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84" r="-384"/>
          <a:stretch/>
        </p:blipFill>
        <p:spPr>
          <a:xfrm>
            <a:off x="609905" y="457200"/>
            <a:ext cx="57607" cy="476402"/>
          </a:xfrm>
          <a:prstGeom prst="rect">
            <a:avLst/>
          </a:prstGeom>
        </p:spPr>
      </p:pic>
      <p:sp>
        <p:nvSpPr>
          <p:cNvPr id="11" name="Shape 7">
            <a:extLst>
              <a:ext uri="{FF2B5EF4-FFF2-40B4-BE49-F238E27FC236}">
                <a16:creationId xmlns:a16="http://schemas.microsoft.com/office/drawing/2014/main" id="{44747A4E-921A-5EDB-FAC9-CD0C2B5E6FE6}"/>
              </a:ext>
            </a:extLst>
          </p:cNvPr>
          <p:cNvSpPr/>
          <p:nvPr/>
        </p:nvSpPr>
        <p:spPr>
          <a:xfrm>
            <a:off x="60990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62D325F3-E949-BD67-D77F-B841EA2FFC98}"/>
              </a:ext>
            </a:extLst>
          </p:cNvPr>
          <p:cNvSpPr/>
          <p:nvPr/>
        </p:nvSpPr>
        <p:spPr>
          <a:xfrm>
            <a:off x="60990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CF7BBC12-BA96-1390-E4D1-18008A972E35}"/>
              </a:ext>
            </a:extLst>
          </p:cNvPr>
          <p:cNvSpPr/>
          <p:nvPr/>
        </p:nvSpPr>
        <p:spPr>
          <a:xfrm>
            <a:off x="4304995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449B8BA-5A3A-4443-904B-545B45C085D1}"/>
              </a:ext>
            </a:extLst>
          </p:cNvPr>
          <p:cNvSpPr/>
          <p:nvPr/>
        </p:nvSpPr>
        <p:spPr>
          <a:xfrm>
            <a:off x="4304995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020476DD-27A6-B949-7BAB-B7EDC28ED23E}"/>
              </a:ext>
            </a:extLst>
          </p:cNvPr>
          <p:cNvSpPr/>
          <p:nvPr/>
        </p:nvSpPr>
        <p:spPr>
          <a:xfrm>
            <a:off x="8001000" y="4095598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127C0E3-8A1A-1DCC-1A8D-1D4C70CB7928}"/>
              </a:ext>
            </a:extLst>
          </p:cNvPr>
          <p:cNvSpPr/>
          <p:nvPr/>
        </p:nvSpPr>
        <p:spPr>
          <a:xfrm>
            <a:off x="8001000" y="4095598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E5123C06-1736-AA5E-4B57-DA609F852FBF}"/>
              </a:ext>
            </a:extLst>
          </p:cNvPr>
          <p:cNvSpPr txBox="1"/>
          <p:nvPr/>
        </p:nvSpPr>
        <p:spPr>
          <a:xfrm>
            <a:off x="819302" y="381305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25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SQUAD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C0F8F398-50F2-62AE-E4A6-521DD9C62CAE}"/>
              </a:ext>
            </a:extLst>
          </p:cNvPr>
          <p:cNvSpPr txBox="1"/>
          <p:nvPr/>
        </p:nvSpPr>
        <p:spPr>
          <a:xfrm>
            <a:off x="819302" y="794614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Senior Leadership That Architects Every GCC We Build — From Category-creating Founders To Deep LLM And Aerospace Engineering Pedigree.</a:t>
            </a: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67190F1-E999-2077-D39E-1D1D1144962B}"/>
              </a:ext>
            </a:extLst>
          </p:cNvPr>
          <p:cNvSpPr txBox="1"/>
          <p:nvPr/>
        </p:nvSpPr>
        <p:spPr>
          <a:xfrm>
            <a:off x="5512003" y="5203749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Deepak Desai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8B384D12-7A64-640E-7F5B-8B89D4A842BE}"/>
              </a:ext>
            </a:extLst>
          </p:cNvPr>
          <p:cNvSpPr txBox="1"/>
          <p:nvPr/>
        </p:nvSpPr>
        <p:spPr>
          <a:xfrm>
            <a:off x="4998110" y="5483454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TECHNOLOGY ADVISOR &amp; LLM SPECIALIST</a:t>
            </a:r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3D859B5E-A79A-62A8-39BA-AC8B1D8A7A5E}"/>
              </a:ext>
            </a:extLst>
          </p:cNvPr>
          <p:cNvSpPr txBox="1"/>
          <p:nvPr/>
        </p:nvSpPr>
        <p:spPr>
          <a:xfrm>
            <a:off x="4600651" y="5688076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Ex-IBM Senior Partner (APAC &amp; US). 30+ yrs; deep NLP, LLM &amp; GenAI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specialisation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E9E23B86-AFDA-FBE0-A66D-169B980A5221}"/>
              </a:ext>
            </a:extLst>
          </p:cNvPr>
          <p:cNvSpPr txBox="1"/>
          <p:nvPr/>
        </p:nvSpPr>
        <p:spPr>
          <a:xfrm>
            <a:off x="9369908" y="5241849"/>
            <a:ext cx="92994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Alok Raj</a:t>
            </a:r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EB1414D0-7C7E-984D-8097-5F5882853D37}"/>
              </a:ext>
            </a:extLst>
          </p:cNvPr>
          <p:cNvSpPr txBox="1"/>
          <p:nvPr/>
        </p:nvSpPr>
        <p:spPr>
          <a:xfrm>
            <a:off x="8857844" y="5521554"/>
            <a:ext cx="196138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— TECH ASSESSMENTS &amp; AI ENGINEERING</a:t>
            </a:r>
          </a:p>
        </p:txBody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F00AEF2F-F343-5140-DAE4-D166B891E453}"/>
              </a:ext>
            </a:extLst>
          </p:cNvPr>
          <p:cNvSpPr txBox="1"/>
          <p:nvPr/>
        </p:nvSpPr>
        <p:spPr>
          <a:xfrm>
            <a:off x="8295741" y="5634075"/>
            <a:ext cx="3146959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Ex-Airbus. Leads technical screening, upskilling &amp; AI platform work.</a:t>
            </a: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E2F5F6E6-811A-BEBD-EA4F-AB0A72E09B96}"/>
              </a:ext>
            </a:extLst>
          </p:cNvPr>
          <p:cNvSpPr/>
          <p:nvPr/>
        </p:nvSpPr>
        <p:spPr>
          <a:xfrm>
            <a:off x="60990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8">
            <a:extLst>
              <a:ext uri="{FF2B5EF4-FFF2-40B4-BE49-F238E27FC236}">
                <a16:creationId xmlns:a16="http://schemas.microsoft.com/office/drawing/2014/main" id="{E8E625C5-6C60-4C0D-D5E0-531142AB8043}"/>
              </a:ext>
            </a:extLst>
          </p:cNvPr>
          <p:cNvSpPr/>
          <p:nvPr/>
        </p:nvSpPr>
        <p:spPr>
          <a:xfrm>
            <a:off x="60990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BC0FA406-4AA6-F67C-DDFE-B58975E86601}"/>
              </a:ext>
            </a:extLst>
          </p:cNvPr>
          <p:cNvSpPr/>
          <p:nvPr/>
        </p:nvSpPr>
        <p:spPr>
          <a:xfrm>
            <a:off x="4304995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3A05880F-C31C-8F78-1AAB-02143D86C584}"/>
              </a:ext>
            </a:extLst>
          </p:cNvPr>
          <p:cNvSpPr/>
          <p:nvPr/>
        </p:nvSpPr>
        <p:spPr>
          <a:xfrm>
            <a:off x="4304995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1">
            <a:extLst>
              <a:ext uri="{FF2B5EF4-FFF2-40B4-BE49-F238E27FC236}">
                <a16:creationId xmlns:a16="http://schemas.microsoft.com/office/drawing/2014/main" id="{08B807FE-1B80-6A6E-1103-88480D41A8CB}"/>
              </a:ext>
            </a:extLst>
          </p:cNvPr>
          <p:cNvSpPr/>
          <p:nvPr/>
        </p:nvSpPr>
        <p:spPr>
          <a:xfrm>
            <a:off x="8001000" y="1351230"/>
            <a:ext cx="3590849" cy="2523744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1143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12">
            <a:extLst>
              <a:ext uri="{FF2B5EF4-FFF2-40B4-BE49-F238E27FC236}">
                <a16:creationId xmlns:a16="http://schemas.microsoft.com/office/drawing/2014/main" id="{46EF62F7-B6FE-4656-C8B8-B8BB21513E63}"/>
              </a:ext>
            </a:extLst>
          </p:cNvPr>
          <p:cNvSpPr/>
          <p:nvPr/>
        </p:nvSpPr>
        <p:spPr>
          <a:xfrm>
            <a:off x="8001000" y="1351230"/>
            <a:ext cx="3590849" cy="38405"/>
          </a:xfrm>
          <a:prstGeom prst="roundRect">
            <a:avLst>
              <a:gd name="adj" fmla="val 14375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09B7B038-1011-2FD6-B6CF-97CD0771FA43}"/>
              </a:ext>
            </a:extLst>
          </p:cNvPr>
          <p:cNvSpPr txBox="1"/>
          <p:nvPr/>
        </p:nvSpPr>
        <p:spPr>
          <a:xfrm>
            <a:off x="1821485" y="2433981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Priti Sawant</a:t>
            </a:r>
          </a:p>
        </p:txBody>
      </p:sp>
      <p:sp>
        <p:nvSpPr>
          <p:cNvPr id="54" name="Text 28">
            <a:extLst>
              <a:ext uri="{FF2B5EF4-FFF2-40B4-BE49-F238E27FC236}">
                <a16:creationId xmlns:a16="http://schemas.microsoft.com/office/drawing/2014/main" id="{7113E0F9-68A9-7E68-2727-3FBEDDAB0956}"/>
              </a:ext>
            </a:extLst>
          </p:cNvPr>
          <p:cNvSpPr txBox="1"/>
          <p:nvPr/>
        </p:nvSpPr>
        <p:spPr>
          <a:xfrm>
            <a:off x="1503274" y="2700986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FOUNDER &amp; CEO</a:t>
            </a:r>
          </a:p>
        </p:txBody>
      </p:sp>
      <p:sp>
        <p:nvSpPr>
          <p:cNvPr id="55" name="Text 29">
            <a:extLst>
              <a:ext uri="{FF2B5EF4-FFF2-40B4-BE49-F238E27FC236}">
                <a16:creationId xmlns:a16="http://schemas.microsoft.com/office/drawing/2014/main" id="{48BE7424-2C1C-ABB5-7637-F221420FFB43}"/>
              </a:ext>
            </a:extLst>
          </p:cNvPr>
          <p:cNvSpPr txBox="1"/>
          <p:nvPr/>
        </p:nvSpPr>
        <p:spPr>
          <a:xfrm>
            <a:off x="904646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Pioneer of India's GCC ecosystem; built &amp; </a:t>
            </a:r>
            <a:r>
              <a:rPr lang="en-US" sz="900" err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IPO'd</a:t>
            </a: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India's first GCC-focused model. 20+ yrs · Forbes Japan.</a:t>
            </a:r>
          </a:p>
        </p:txBody>
      </p:sp>
      <p:sp>
        <p:nvSpPr>
          <p:cNvPr id="58" name="Text 32">
            <a:extLst>
              <a:ext uri="{FF2B5EF4-FFF2-40B4-BE49-F238E27FC236}">
                <a16:creationId xmlns:a16="http://schemas.microsoft.com/office/drawing/2014/main" id="{D6A207EA-7DC5-1085-2F92-ECCBA22ABD4C}"/>
              </a:ext>
            </a:extLst>
          </p:cNvPr>
          <p:cNvSpPr txBox="1"/>
          <p:nvPr/>
        </p:nvSpPr>
        <p:spPr>
          <a:xfrm>
            <a:off x="5512003" y="2433981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Priya Mohan</a:t>
            </a:r>
          </a:p>
        </p:txBody>
      </p:sp>
      <p:sp>
        <p:nvSpPr>
          <p:cNvPr id="59" name="Text 33">
            <a:extLst>
              <a:ext uri="{FF2B5EF4-FFF2-40B4-BE49-F238E27FC236}">
                <a16:creationId xmlns:a16="http://schemas.microsoft.com/office/drawing/2014/main" id="{A8488A79-ED28-6B95-20FA-980EF1D07CF8}"/>
              </a:ext>
            </a:extLst>
          </p:cNvPr>
          <p:cNvSpPr txBox="1"/>
          <p:nvPr/>
        </p:nvSpPr>
        <p:spPr>
          <a:xfrm>
            <a:off x="4998110" y="2700986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COO</a:t>
            </a:r>
          </a:p>
        </p:txBody>
      </p:sp>
      <p:sp>
        <p:nvSpPr>
          <p:cNvPr id="60" name="Text 34">
            <a:extLst>
              <a:ext uri="{FF2B5EF4-FFF2-40B4-BE49-F238E27FC236}">
                <a16:creationId xmlns:a16="http://schemas.microsoft.com/office/drawing/2014/main" id="{B7486E20-6348-0E06-FAD5-6B07D847F523}"/>
              </a:ext>
            </a:extLst>
          </p:cNvPr>
          <p:cNvSpPr txBox="1"/>
          <p:nvPr/>
        </p:nvSpPr>
        <p:spPr>
          <a:xfrm>
            <a:off x="4600651" y="2943708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Ex-General Catalyst Partner &amp; Venture Highway MP. CA + ISB. Leads the full AI implementation lifecycle.</a:t>
            </a: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1FB4B21B-03F9-D4C5-6FB9-8113E17E8C4F}"/>
              </a:ext>
            </a:extLst>
          </p:cNvPr>
          <p:cNvSpPr txBox="1"/>
          <p:nvPr/>
        </p:nvSpPr>
        <p:spPr>
          <a:xfrm>
            <a:off x="3153308" y="2381404"/>
            <a:ext cx="113385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00"/>
          </a:p>
        </p:txBody>
      </p:sp>
      <p:sp>
        <p:nvSpPr>
          <p:cNvPr id="72" name="Text 18">
            <a:extLst>
              <a:ext uri="{FF2B5EF4-FFF2-40B4-BE49-F238E27FC236}">
                <a16:creationId xmlns:a16="http://schemas.microsoft.com/office/drawing/2014/main" id="{9FDC9E99-482C-3F4A-E3D9-BB9B4D52CF45}"/>
              </a:ext>
            </a:extLst>
          </p:cNvPr>
          <p:cNvSpPr txBox="1"/>
          <p:nvPr/>
        </p:nvSpPr>
        <p:spPr>
          <a:xfrm>
            <a:off x="3113075" y="2686813"/>
            <a:ext cx="1207008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900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A2ED01AD-6CA0-176F-9158-B666E1FEF1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42"/>
          <a:stretch/>
        </p:blipFill>
        <p:spPr>
          <a:xfrm>
            <a:off x="5643956" y="1498143"/>
            <a:ext cx="857707" cy="857707"/>
          </a:xfrm>
          <a:prstGeom prst="rect">
            <a:avLst/>
          </a:prstGeom>
        </p:spPr>
      </p:pic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76AF17EC-A631-46EC-EE69-CA4956C544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89100" y="1540410"/>
            <a:ext cx="783996" cy="783996"/>
          </a:xfrm>
          <a:prstGeom prst="rect">
            <a:avLst/>
          </a:prstGeom>
        </p:spPr>
      </p:pic>
      <p:sp>
        <p:nvSpPr>
          <p:cNvPr id="81" name="Text 27">
            <a:extLst>
              <a:ext uri="{FF2B5EF4-FFF2-40B4-BE49-F238E27FC236}">
                <a16:creationId xmlns:a16="http://schemas.microsoft.com/office/drawing/2014/main" id="{B381CD11-E268-2372-4D99-32B247B0C995}"/>
              </a:ext>
            </a:extLst>
          </p:cNvPr>
          <p:cNvSpPr txBox="1"/>
          <p:nvPr/>
        </p:nvSpPr>
        <p:spPr>
          <a:xfrm>
            <a:off x="9240521" y="2460703"/>
            <a:ext cx="11567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Vineet Shukla</a:t>
            </a:r>
            <a:endParaRPr lang="en-US" sz="1300"/>
          </a:p>
        </p:txBody>
      </p:sp>
      <p:sp>
        <p:nvSpPr>
          <p:cNvPr id="82" name="Text 28">
            <a:extLst>
              <a:ext uri="{FF2B5EF4-FFF2-40B4-BE49-F238E27FC236}">
                <a16:creationId xmlns:a16="http://schemas.microsoft.com/office/drawing/2014/main" id="{5E7655ED-600E-B7B1-5E25-9C0CD529FC89}"/>
              </a:ext>
            </a:extLst>
          </p:cNvPr>
          <p:cNvSpPr txBox="1"/>
          <p:nvPr/>
        </p:nvSpPr>
        <p:spPr>
          <a:xfrm>
            <a:off x="8923224" y="2727708"/>
            <a:ext cx="17913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CHIEF TECHNOLOGY OFFICER</a:t>
            </a:r>
            <a:endParaRPr lang="en-US" sz="900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65C84447-29D7-83F1-7E2D-21FC86F81B79}"/>
              </a:ext>
            </a:extLst>
          </p:cNvPr>
          <p:cNvSpPr txBox="1"/>
          <p:nvPr/>
        </p:nvSpPr>
        <p:spPr>
          <a:xfrm>
            <a:off x="8324596" y="2970430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20+ yrs scaling AI/ML at enterprise scale; built UnitedHealth Group's AI/ML practice ground-up.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51689ACD-6133-3D2C-FB65-00805A1BA9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9908" y="1565302"/>
            <a:ext cx="797305" cy="797305"/>
          </a:xfrm>
          <a:prstGeom prst="ellipse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85" name="Text 32">
            <a:extLst>
              <a:ext uri="{FF2B5EF4-FFF2-40B4-BE49-F238E27FC236}">
                <a16:creationId xmlns:a16="http://schemas.microsoft.com/office/drawing/2014/main" id="{3D99FB26-2BB6-A39C-43E5-EBC5369FDE30}"/>
              </a:ext>
            </a:extLst>
          </p:cNvPr>
          <p:cNvSpPr txBox="1"/>
          <p:nvPr/>
        </p:nvSpPr>
        <p:spPr>
          <a:xfrm>
            <a:off x="1661923" y="5203228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Daniel Dsouza</a:t>
            </a:r>
            <a:endParaRPr lang="en-US" sz="1300"/>
          </a:p>
        </p:txBody>
      </p:sp>
      <p:sp>
        <p:nvSpPr>
          <p:cNvPr id="86" name="Text 33">
            <a:extLst>
              <a:ext uri="{FF2B5EF4-FFF2-40B4-BE49-F238E27FC236}">
                <a16:creationId xmlns:a16="http://schemas.microsoft.com/office/drawing/2014/main" id="{D659C513-FD23-4690-80EB-2002DECA9008}"/>
              </a:ext>
            </a:extLst>
          </p:cNvPr>
          <p:cNvSpPr txBox="1"/>
          <p:nvPr/>
        </p:nvSpPr>
        <p:spPr>
          <a:xfrm>
            <a:off x="1148030" y="5470233"/>
            <a:ext cx="2188159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45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HEAD OF ARTIFICIAL INTELLIGENCE</a:t>
            </a:r>
            <a:endParaRPr lang="en-US" sz="900">
              <a:solidFill>
                <a:srgbClr val="2A9D8F"/>
              </a:solidFill>
            </a:endParaRPr>
          </a:p>
        </p:txBody>
      </p:sp>
      <p:sp>
        <p:nvSpPr>
          <p:cNvPr id="87" name="Text 34">
            <a:extLst>
              <a:ext uri="{FF2B5EF4-FFF2-40B4-BE49-F238E27FC236}">
                <a16:creationId xmlns:a16="http://schemas.microsoft.com/office/drawing/2014/main" id="{79B11D3C-42A6-79D9-601B-161AC7C56371}"/>
              </a:ext>
            </a:extLst>
          </p:cNvPr>
          <p:cNvSpPr txBox="1"/>
          <p:nvPr/>
        </p:nvSpPr>
        <p:spPr>
          <a:xfrm>
            <a:off x="750571" y="5712955"/>
            <a:ext cx="3286354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 AI strategy &amp; LLM deployment. Owns GCC AI accelerators. INSEAD.</a:t>
            </a: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8A886F30-D801-727B-D49A-08BE134763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60348" y="4336237"/>
            <a:ext cx="791235" cy="791235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7FE7B978-BC8D-A9AE-DDD9-3536B965D5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6742" y="4308997"/>
            <a:ext cx="834910" cy="834910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B07CD8E2-0147-7DFF-D0E3-F8BDD9DC44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3619" y="4336236"/>
            <a:ext cx="835609" cy="835609"/>
          </a:xfrm>
          <a:prstGeom prst="ellipse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08463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b81d2082573e6d8de64df87af639bbf0.png"/>
          <p:cNvPicPr>
            <a:picLocks noChangeAspect="1"/>
          </p:cNvPicPr>
          <p:nvPr/>
        </p:nvPicPr>
        <p:blipFill>
          <a:blip r:embed="rId6"/>
          <a:srcRect l="-360" r="-360"/>
          <a:stretch/>
        </p:blipFill>
        <p:spPr>
          <a:xfrm>
            <a:off x="609905" y="533095"/>
            <a:ext cx="57607" cy="381305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19302" y="381305"/>
            <a:ext cx="387157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OFFER</a:t>
            </a:r>
            <a:endParaRPr lang="en-US" sz="2700" dirty="0"/>
          </a:p>
        </p:txBody>
      </p:sp>
      <p:sp>
        <p:nvSpPr>
          <p:cNvPr id="10" name="Text 4"/>
          <p:cNvSpPr txBox="1"/>
          <p:nvPr/>
        </p:nvSpPr>
        <p:spPr>
          <a:xfrm>
            <a:off x="819302" y="800100"/>
            <a:ext cx="4189781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Three Interlocking Revenue Engines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6"/>
          <p:cNvSpPr/>
          <p:nvPr/>
        </p:nvSpPr>
        <p:spPr>
          <a:xfrm>
            <a:off x="619049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 txBox="1"/>
          <p:nvPr/>
        </p:nvSpPr>
        <p:spPr>
          <a:xfrm>
            <a:off x="1411834" y="2033626"/>
            <a:ext cx="173461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19302" y="2691079"/>
            <a:ext cx="2934310" cy="3001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engineers - not generic coders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Verticals: IT and Cloud Computing · BFSI · more 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Deployed in 10 days or less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accountability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2116836" y="1652321"/>
            <a:ext cx="32918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1570025" y="2309774"/>
            <a:ext cx="142097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Volume Engine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419295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4429354" y="1533449"/>
            <a:ext cx="3314700" cy="10479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5386730" y="2033626"/>
            <a:ext cx="140634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4619549" y="4204760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pods, embedded tech lead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engineer AI-certified before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AI Labs - continuous monthly upskilling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AI-assisted code, test &amp; docs from Day 1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Compounding productivity, not static seats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5905195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28"/>
          <p:cNvSpPr txBox="1"/>
          <p:nvPr/>
        </p:nvSpPr>
        <p:spPr>
          <a:xfrm>
            <a:off x="5079492" y="2309774"/>
            <a:ext cx="2018081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Margin Expansion Engine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8229600" y="1524305"/>
            <a:ext cx="3333902" cy="4952390"/>
          </a:xfrm>
          <a:prstGeom prst="roundRect">
            <a:avLst>
              <a:gd name="adj" fmla="val 12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8238744" y="1533449"/>
            <a:ext cx="3314700" cy="10479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 txBox="1"/>
          <p:nvPr/>
        </p:nvSpPr>
        <p:spPr>
          <a:xfrm>
            <a:off x="8685886" y="2033626"/>
            <a:ext cx="2425903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8429854" y="4158691"/>
            <a:ext cx="29343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pods owning outcomes, not tasks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Operate to outcome-bound SLOs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accelerators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SAP, ServiceNow &amp; industry stacks</a:t>
            </a:r>
          </a:p>
          <a:p>
            <a:pPr algn="l"/>
            <a:endParaRPr lang="en-US" sz="1400" dirty="0">
              <a:solidFill>
                <a:srgbClr val="4B5563"/>
              </a:solidFill>
              <a:latin typeface="Raleway" pitchFamily="34" charset="0"/>
              <a:ea typeface="Raleway" pitchFamily="34" charset="-122"/>
              <a:cs typeface="Raleway" pitchFamily="34" charset="-120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our standard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9715500" y="1652321"/>
            <a:ext cx="36301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>
                    <a:alpha val="90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0"/>
          <p:cNvSpPr txBox="1"/>
          <p:nvPr/>
        </p:nvSpPr>
        <p:spPr>
          <a:xfrm>
            <a:off x="8956548" y="2309774"/>
            <a:ext cx="188183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kern="0" spc="45" dirty="0">
                <a:solidFill>
                  <a:srgbClr val="FFFFFF">
                    <a:alpha val="90000"/>
                  </a:srgbClr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Strategic Value Engine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53805" y="-57150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5e765734fa6996e94526269805e72083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095598"/>
            <a:ext cx="2381098" cy="2381098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ef527bea2207a14ec6e8d4c8ae9cdc45.png"/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743407"/>
            <a:ext cx="57607" cy="4764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818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818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153705" y="1714500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153705" y="1714500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24953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24953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267298" y="3619195"/>
            <a:ext cx="3448202" cy="1772107"/>
          </a:xfrm>
          <a:prstGeom prst="roundRect">
            <a:avLst>
              <a:gd name="adj" fmla="val 4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267298" y="3619195"/>
            <a:ext cx="3448202" cy="47549"/>
          </a:xfrm>
          <a:prstGeom prst="roundRect">
            <a:avLst>
              <a:gd name="adj" fmla="val 16542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09905" y="5572354"/>
            <a:ext cx="10972800" cy="571500"/>
          </a:xfrm>
          <a:prstGeom prst="roundRect">
            <a:avLst>
              <a:gd name="adj" fmla="val 42667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4" descr="gen-dedup-fcfcca745fa5c1c832fd66175382f504.png"/>
          <p:cNvPicPr>
            <a:picLocks noChangeAspect="1"/>
          </p:cNvPicPr>
          <p:nvPr/>
        </p:nvPicPr>
        <p:blipFill>
          <a:blip r:embed="rId7"/>
          <a:srcRect l="-2083" r="-2083"/>
          <a:stretch/>
        </p:blipFill>
        <p:spPr>
          <a:xfrm>
            <a:off x="609905" y="6286500"/>
            <a:ext cx="10972800" cy="91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9302" y="666598"/>
            <a:ext cx="5715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OWN</a:t>
            </a:r>
            <a:endParaRPr lang="en-US" sz="2700" dirty="0"/>
          </a:p>
        </p:txBody>
      </p:sp>
      <p:sp>
        <p:nvSpPr>
          <p:cNvPr id="22" name="Text 15"/>
          <p:cNvSpPr txBox="1"/>
          <p:nvPr/>
        </p:nvSpPr>
        <p:spPr>
          <a:xfrm>
            <a:off x="819302" y="1100938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Proprietary Stack - Our Moat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8001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5" descr="gen-dedup-354148c7dfe2ece024d9587c6b984377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895198" y="2029054"/>
            <a:ext cx="114300" cy="152705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380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Premier Lounge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8001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Curated network of vetted experts - instant access to scarce skills.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45720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6" descr="gen-dedup-8653d22c8fc2d1668da8a16f36629000.png"/>
          <p:cNvPicPr>
            <a:picLocks noChangeAspect="1"/>
          </p:cNvPicPr>
          <p:nvPr/>
        </p:nvPicPr>
        <p:blipFill>
          <a:blip r:embed="rId9"/>
          <a:srcRect t="-25150" b="-25150"/>
          <a:stretch/>
        </p:blipFill>
        <p:spPr>
          <a:xfrm>
            <a:off x="4667098" y="2029054"/>
            <a:ext cx="114300" cy="152705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009998" y="195224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OfferLetter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45720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AI-driven sourcing &amp; resume parsing - onboard one engineer an hour.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8343900" y="195224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7" descr="gen-dedup-fe8b3fc2b54c6cb2835c9e1123b7a343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8438998" y="2029054"/>
            <a:ext cx="114300" cy="15270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8781898" y="1952244"/>
            <a:ext cx="270205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Data Abstraction Layer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8343900" y="242864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Unified API gateway + real-time ETL - a single pane of glass.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26865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gen-dedup-e7d7166718140d8159b1663599725aa5.png"/>
          <p:cNvPicPr>
            <a:picLocks noChangeAspect="1"/>
          </p:cNvPicPr>
          <p:nvPr/>
        </p:nvPicPr>
        <p:blipFill>
          <a:blip r:embed="rId11"/>
          <a:srcRect t="-8450" b="-8450"/>
          <a:stretch/>
        </p:blipFill>
        <p:spPr>
          <a:xfrm>
            <a:off x="2781605" y="3933749"/>
            <a:ext cx="114300" cy="15270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1245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J2W AI Labs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26865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Internal AI engine - every engineer AI-certified before Day 1.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458407" y="3857854"/>
            <a:ext cx="304495" cy="304495"/>
          </a:xfrm>
          <a:prstGeom prst="roundRect">
            <a:avLst>
              <a:gd name="adj" fmla="val 11261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9" descr="gen-dedup-a3d9bb31ae14fa9101e3246a3a64819e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553505" y="3933749"/>
            <a:ext cx="114300" cy="152705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896405" y="3857854"/>
            <a:ext cx="257220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60+ Accelerators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458407" y="4334256"/>
            <a:ext cx="3048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solutions on SAP, ServiceNow &amp; industry stacks.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800100" y="5715000"/>
            <a:ext cx="105924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75" dirty="0">
                <a:solidFill>
                  <a:srgbClr val="9CA3A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ARC FRAMEWORK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Adaptive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(Grow)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Resilient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(Mature)</a:t>
            </a:r>
            <a:r>
              <a:rPr lang="en-US" sz="1500" b="1" kern="0" spc="75" dirty="0">
                <a:solidFill>
                  <a:srgbClr val="6B728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→</a:t>
            </a:r>
            <a:r>
              <a:rPr lang="en-US" sz="1500" b="1" kern="0" spc="75" dirty="0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Cognitive</a:t>
            </a:r>
            <a:r>
              <a:rPr lang="en-US" sz="1200" b="1" kern="0" spc="75" dirty="0">
                <a:solidFill>
                  <a:srgbClr val="CBD5E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(Transform)</a:t>
            </a:r>
            <a:endParaRPr lang="en-US" sz="1500" dirty="0"/>
          </a:p>
        </p:txBody>
      </p:sp>
      <p:sp>
        <p:nvSpPr>
          <p:cNvPr id="44" name="Text 32"/>
          <p:cNvSpPr txBox="1"/>
          <p:nvPr/>
        </p:nvSpPr>
        <p:spPr>
          <a:xfrm>
            <a:off x="609905" y="6429146"/>
            <a:ext cx="109728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Transparent, scalable, and owned by us - </a:t>
            </a:r>
            <a:r>
              <a:rPr lang="en-US" sz="12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competitive moat, not a black box.</a:t>
            </a:r>
            <a:endParaRPr 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DD6EC7-8F41-58C5-8FE6-D76C9E660C2A}"/>
              </a:ext>
            </a:extLst>
          </p:cNvPr>
          <p:cNvSpPr txBox="1"/>
          <p:nvPr/>
        </p:nvSpPr>
        <p:spPr>
          <a:xfrm>
            <a:off x="3048000" y="3429000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3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9F6EB1A-5FD2-665F-5EE8-C4B8D6498CF8}"/>
              </a:ext>
            </a:extLst>
          </p:cNvPr>
          <p:cNvSpPr/>
          <p:nvPr/>
        </p:nvSpPr>
        <p:spPr>
          <a:xfrm>
            <a:off x="840648" y="107471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311"/>
              </a:lnSpc>
            </a:pPr>
            <a:r>
              <a:rPr lang="en-US" sz="2933" b="1" dirty="0">
                <a:solidFill>
                  <a:srgbClr val="1B2A4A"/>
                </a:solidFill>
                <a:latin typeface="Oswald" panose="00000500000000000000" pitchFamily="2" charset="0"/>
                <a:ea typeface="Calibri Light"/>
                <a:cs typeface="Calibri Light"/>
              </a:rPr>
              <a:t>END TO END GCC BUILD OFFERINGS</a:t>
            </a: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A24FAB32-955D-AD73-0047-05FB50424916}"/>
              </a:ext>
            </a:extLst>
          </p:cNvPr>
          <p:cNvSpPr/>
          <p:nvPr/>
        </p:nvSpPr>
        <p:spPr>
          <a:xfrm>
            <a:off x="8286474" y="2494799"/>
            <a:ext cx="3589767" cy="76374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2B3F627-1A4C-A8C3-3D3B-3199B41148B7}"/>
              </a:ext>
            </a:extLst>
          </p:cNvPr>
          <p:cNvSpPr/>
          <p:nvPr/>
        </p:nvSpPr>
        <p:spPr>
          <a:xfrm>
            <a:off x="4423923" y="2475093"/>
            <a:ext cx="3694869" cy="75717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6B86DAEF-B005-1BA9-95B2-0DB17919DFFB}"/>
              </a:ext>
            </a:extLst>
          </p:cNvPr>
          <p:cNvSpPr/>
          <p:nvPr/>
        </p:nvSpPr>
        <p:spPr>
          <a:xfrm>
            <a:off x="515390" y="2475091"/>
            <a:ext cx="3596335" cy="776884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3E328A8-286C-CAE0-37BC-C9EBD605D0D9}"/>
              </a:ext>
            </a:extLst>
          </p:cNvPr>
          <p:cNvSpPr/>
          <p:nvPr/>
        </p:nvSpPr>
        <p:spPr>
          <a:xfrm>
            <a:off x="8293042" y="1332093"/>
            <a:ext cx="3583199" cy="76374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FD7AEA01-BA51-2676-ABCA-D51578AB2D7E}"/>
              </a:ext>
            </a:extLst>
          </p:cNvPr>
          <p:cNvSpPr/>
          <p:nvPr/>
        </p:nvSpPr>
        <p:spPr>
          <a:xfrm>
            <a:off x="4415697" y="1337832"/>
            <a:ext cx="3701439" cy="770315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5A5C8905-BACE-7255-BC59-F4886AC07E06}"/>
              </a:ext>
            </a:extLst>
          </p:cNvPr>
          <p:cNvSpPr/>
          <p:nvPr/>
        </p:nvSpPr>
        <p:spPr>
          <a:xfrm>
            <a:off x="518451" y="1338662"/>
            <a:ext cx="3589767" cy="7900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17" name="Text 35">
            <a:extLst>
              <a:ext uri="{FF2B5EF4-FFF2-40B4-BE49-F238E27FC236}">
                <a16:creationId xmlns:a16="http://schemas.microsoft.com/office/drawing/2014/main" id="{1D2B7726-1808-85B4-0B23-22D0C401EC11}"/>
              </a:ext>
            </a:extLst>
          </p:cNvPr>
          <p:cNvSpPr/>
          <p:nvPr/>
        </p:nvSpPr>
        <p:spPr>
          <a:xfrm>
            <a:off x="10369811" y="2794457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90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>
              <a:latin typeface="Raleway" pitchFamily="2" charset="0"/>
            </a:endParaRPr>
          </a:p>
        </p:txBody>
      </p:sp>
      <p:pic>
        <p:nvPicPr>
          <p:cNvPr id="19" name="Image 0">
            <a:extLst>
              <a:ext uri="{FF2B5EF4-FFF2-40B4-BE49-F238E27FC236}">
                <a16:creationId xmlns:a16="http://schemas.microsoft.com/office/drawing/2014/main" id="{317DB878-83B1-D693-E671-7B52AACB7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03" y="1518075"/>
            <a:ext cx="256032" cy="256032"/>
          </a:xfrm>
          <a:prstGeom prst="rect">
            <a:avLst/>
          </a:prstGeom>
        </p:spPr>
      </p:pic>
      <p:sp>
        <p:nvSpPr>
          <p:cNvPr id="21" name="Text 20">
            <a:extLst>
              <a:ext uri="{FF2B5EF4-FFF2-40B4-BE49-F238E27FC236}">
                <a16:creationId xmlns:a16="http://schemas.microsoft.com/office/drawing/2014/main" id="{E2E9505C-F1EF-799A-9BCC-134811764AE4}"/>
              </a:ext>
            </a:extLst>
          </p:cNvPr>
          <p:cNvSpPr/>
          <p:nvPr/>
        </p:nvSpPr>
        <p:spPr>
          <a:xfrm>
            <a:off x="1399455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 err="1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CoE</a:t>
            </a: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/>
                <a:cs typeface="Calibri"/>
              </a:rPr>
              <a:t> Design &amp; Planning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  <a:ea typeface="Calibri Light"/>
              <a:cs typeface="Calibri Light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Operating model, governance, KPI architecture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3" name="Image 1">
            <a:extLst>
              <a:ext uri="{FF2B5EF4-FFF2-40B4-BE49-F238E27FC236}">
                <a16:creationId xmlns:a16="http://schemas.microsoft.com/office/drawing/2014/main" id="{B185FF42-C80C-AE3C-2856-DDE98BF512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855" y="1518075"/>
            <a:ext cx="256032" cy="256032"/>
          </a:xfrm>
          <a:prstGeom prst="rect">
            <a:avLst/>
          </a:prstGeom>
        </p:spPr>
      </p:pic>
      <p:sp>
        <p:nvSpPr>
          <p:cNvPr id="25" name="Text 23">
            <a:extLst>
              <a:ext uri="{FF2B5EF4-FFF2-40B4-BE49-F238E27FC236}">
                <a16:creationId xmlns:a16="http://schemas.microsoft.com/office/drawing/2014/main" id="{111B3A20-E4E7-A990-F757-38316B876A62}"/>
              </a:ext>
            </a:extLst>
          </p:cNvPr>
          <p:cNvSpPr/>
          <p:nvPr/>
        </p:nvSpPr>
        <p:spPr>
          <a:xfrm>
            <a:off x="5130207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Location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Intelligence from active deployments across 8 metros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27" name="Image 2">
            <a:extLst>
              <a:ext uri="{FF2B5EF4-FFF2-40B4-BE49-F238E27FC236}">
                <a16:creationId xmlns:a16="http://schemas.microsoft.com/office/drawing/2014/main" id="{E5A63AD7-E3B9-D79E-2CB3-0061F5363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2572" y="1518075"/>
            <a:ext cx="256032" cy="256032"/>
          </a:xfrm>
          <a:prstGeom prst="rect">
            <a:avLst/>
          </a:prstGeom>
        </p:spPr>
      </p:pic>
      <p:sp>
        <p:nvSpPr>
          <p:cNvPr id="29" name="Text 26">
            <a:extLst>
              <a:ext uri="{FF2B5EF4-FFF2-40B4-BE49-F238E27FC236}">
                <a16:creationId xmlns:a16="http://schemas.microsoft.com/office/drawing/2014/main" id="{66822201-13C7-2C29-FE88-30AB0E1ED7E3}"/>
              </a:ext>
            </a:extLst>
          </p:cNvPr>
          <p:cNvSpPr/>
          <p:nvPr/>
        </p:nvSpPr>
        <p:spPr>
          <a:xfrm>
            <a:off x="8952924" y="1369577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Employer Branding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Position the hub to attract architect-grade talent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1" name="Image 3">
            <a:extLst>
              <a:ext uri="{FF2B5EF4-FFF2-40B4-BE49-F238E27FC236}">
                <a16:creationId xmlns:a16="http://schemas.microsoft.com/office/drawing/2014/main" id="{5416860F-CB36-1578-BCC0-4DBCF8DC0B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103" y="2642787"/>
            <a:ext cx="256032" cy="256032"/>
          </a:xfrm>
          <a:prstGeom prst="rect">
            <a:avLst/>
          </a:prstGeom>
        </p:spPr>
      </p:pic>
      <p:sp>
        <p:nvSpPr>
          <p:cNvPr id="33" name="Text 29">
            <a:extLst>
              <a:ext uri="{FF2B5EF4-FFF2-40B4-BE49-F238E27FC236}">
                <a16:creationId xmlns:a16="http://schemas.microsoft.com/office/drawing/2014/main" id="{0CDB8E21-2566-4255-EA6E-D261734326BC}"/>
              </a:ext>
            </a:extLst>
          </p:cNvPr>
          <p:cNvSpPr/>
          <p:nvPr/>
        </p:nvSpPr>
        <p:spPr>
          <a:xfrm>
            <a:off x="1399455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Talent Strategy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Workforce pyramid aligned to the AI &amp; innovation mandate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5" name="Image 4">
            <a:extLst>
              <a:ext uri="{FF2B5EF4-FFF2-40B4-BE49-F238E27FC236}">
                <a16:creationId xmlns:a16="http://schemas.microsoft.com/office/drawing/2014/main" id="{B9E8AB31-35BA-3AD8-9024-64C34E7A32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855" y="2642787"/>
            <a:ext cx="256032" cy="256032"/>
          </a:xfrm>
          <a:prstGeom prst="rect">
            <a:avLst/>
          </a:prstGeom>
        </p:spPr>
      </p:pic>
      <p:sp>
        <p:nvSpPr>
          <p:cNvPr id="37" name="Text 32">
            <a:extLst>
              <a:ext uri="{FF2B5EF4-FFF2-40B4-BE49-F238E27FC236}">
                <a16:creationId xmlns:a16="http://schemas.microsoft.com/office/drawing/2014/main" id="{9919EDE5-7E3B-6A85-983B-F892F7361379}"/>
              </a:ext>
            </a:extLst>
          </p:cNvPr>
          <p:cNvSpPr/>
          <p:nvPr/>
        </p:nvSpPr>
        <p:spPr>
          <a:xfrm>
            <a:off x="5130207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Technology &amp; IT Advisory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Infrastructure, security, and platform choices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9" name="Image 5" descr="A blue shield with black background&#10;&#10;AI-generated content may be incorrect.">
            <a:extLst>
              <a:ext uri="{FF2B5EF4-FFF2-40B4-BE49-F238E27FC236}">
                <a16:creationId xmlns:a16="http://schemas.microsoft.com/office/drawing/2014/main" id="{1C34CD28-2BF3-1ADD-D4F5-94D1B7E9B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5711" y="2642787"/>
            <a:ext cx="256032" cy="256032"/>
          </a:xfrm>
          <a:prstGeom prst="rect">
            <a:avLst/>
          </a:prstGeom>
        </p:spPr>
      </p:pic>
      <p:sp>
        <p:nvSpPr>
          <p:cNvPr id="41" name="Text 35">
            <a:extLst>
              <a:ext uri="{FF2B5EF4-FFF2-40B4-BE49-F238E27FC236}">
                <a16:creationId xmlns:a16="http://schemas.microsoft.com/office/drawing/2014/main" id="{28686CFF-924D-945C-CEE4-09E4103C2E0E}"/>
              </a:ext>
            </a:extLst>
          </p:cNvPr>
          <p:cNvSpPr/>
          <p:nvPr/>
        </p:nvSpPr>
        <p:spPr>
          <a:xfrm>
            <a:off x="8966063" y="2494289"/>
            <a:ext cx="2569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51"/>
              </a:lnSpc>
            </a:pPr>
            <a:r>
              <a:rPr lang="en-US" sz="1100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Regulatory &amp; Compliance</a:t>
            </a:r>
          </a:p>
          <a:p>
            <a:pPr>
              <a:lnSpc>
                <a:spcPts val="1251"/>
              </a:lnSpc>
            </a:pPr>
            <a:endParaRPr lang="en-US" sz="1100" dirty="0">
              <a:latin typeface="Raleway" pitchFamily="2" charset="0"/>
            </a:endParaRPr>
          </a:p>
          <a:p>
            <a:pPr>
              <a:lnSpc>
                <a:spcPts val="1251"/>
              </a:lnSpc>
            </a:pPr>
            <a:r>
              <a:rPr lang="en-US" sz="1100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Setup requirements incl. cross-border complexity</a:t>
            </a:r>
            <a:endParaRPr lang="en-US" sz="1100" dirty="0">
              <a:latin typeface="Raleway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DFD70AB-6CFD-3D32-EA6A-88ACCEF64380}"/>
              </a:ext>
            </a:extLst>
          </p:cNvPr>
          <p:cNvSpPr/>
          <p:nvPr/>
        </p:nvSpPr>
        <p:spPr>
          <a:xfrm>
            <a:off x="545527" y="1386821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5" name="Shape 5">
            <a:extLst>
              <a:ext uri="{FF2B5EF4-FFF2-40B4-BE49-F238E27FC236}">
                <a16:creationId xmlns:a16="http://schemas.microsoft.com/office/drawing/2014/main" id="{9961EDFA-D25E-79FD-23FF-3E5462317B5A}"/>
              </a:ext>
            </a:extLst>
          </p:cNvPr>
          <p:cNvSpPr/>
          <p:nvPr/>
        </p:nvSpPr>
        <p:spPr>
          <a:xfrm>
            <a:off x="545527" y="248383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7" name="Shape 5">
            <a:extLst>
              <a:ext uri="{FF2B5EF4-FFF2-40B4-BE49-F238E27FC236}">
                <a16:creationId xmlns:a16="http://schemas.microsoft.com/office/drawing/2014/main" id="{1292AB2C-0644-8588-6340-5CB0D174661B}"/>
              </a:ext>
            </a:extLst>
          </p:cNvPr>
          <p:cNvSpPr/>
          <p:nvPr/>
        </p:nvSpPr>
        <p:spPr>
          <a:xfrm>
            <a:off x="4421215" y="1360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49" name="Shape 5">
            <a:extLst>
              <a:ext uri="{FF2B5EF4-FFF2-40B4-BE49-F238E27FC236}">
                <a16:creationId xmlns:a16="http://schemas.microsoft.com/office/drawing/2014/main" id="{AE7A3464-AABE-F751-9125-47299A9668B5}"/>
              </a:ext>
            </a:extLst>
          </p:cNvPr>
          <p:cNvSpPr/>
          <p:nvPr/>
        </p:nvSpPr>
        <p:spPr>
          <a:xfrm>
            <a:off x="4421215" y="2503545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1" name="Shape 5">
            <a:extLst>
              <a:ext uri="{FF2B5EF4-FFF2-40B4-BE49-F238E27FC236}">
                <a16:creationId xmlns:a16="http://schemas.microsoft.com/office/drawing/2014/main" id="{05A2FD1F-29F0-3B70-3714-38018E14DC7A}"/>
              </a:ext>
            </a:extLst>
          </p:cNvPr>
          <p:cNvSpPr/>
          <p:nvPr/>
        </p:nvSpPr>
        <p:spPr>
          <a:xfrm>
            <a:off x="8310043" y="1334269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3" name="Shape 5">
            <a:extLst>
              <a:ext uri="{FF2B5EF4-FFF2-40B4-BE49-F238E27FC236}">
                <a16:creationId xmlns:a16="http://schemas.microsoft.com/office/drawing/2014/main" id="{871C464D-666F-0EA6-2ED0-D84D28529855}"/>
              </a:ext>
            </a:extLst>
          </p:cNvPr>
          <p:cNvSpPr/>
          <p:nvPr/>
        </p:nvSpPr>
        <p:spPr>
          <a:xfrm>
            <a:off x="8310043" y="2523253"/>
            <a:ext cx="64008" cy="749808"/>
          </a:xfrm>
          <a:prstGeom prst="rect">
            <a:avLst/>
          </a:prstGeom>
          <a:solidFill>
            <a:srgbClr val="1A9E8F"/>
          </a:solidFill>
          <a:ln/>
        </p:spPr>
        <p:txBody>
          <a:bodyPr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351">
              <a:latin typeface="Raleway" pitchFamily="2" charset="0"/>
            </a:endParaRPr>
          </a:p>
        </p:txBody>
      </p:sp>
      <p:sp>
        <p:nvSpPr>
          <p:cNvPr id="55" name="Text 3">
            <a:extLst>
              <a:ext uri="{FF2B5EF4-FFF2-40B4-BE49-F238E27FC236}">
                <a16:creationId xmlns:a16="http://schemas.microsoft.com/office/drawing/2014/main" id="{09F889FB-3341-BF6B-DBB5-39B953E2C185}"/>
              </a:ext>
            </a:extLst>
          </p:cNvPr>
          <p:cNvSpPr/>
          <p:nvPr/>
        </p:nvSpPr>
        <p:spPr>
          <a:xfrm>
            <a:off x="898899" y="737164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500" dirty="0">
              <a:latin typeface="Oswald" panose="00000500000000000000" pitchFamily="2" charset="0"/>
            </a:endParaRPr>
          </a:p>
        </p:txBody>
      </p:sp>
      <p:pic>
        <p:nvPicPr>
          <p:cNvPr id="57" name="Picture 5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923F85-373A-773B-6CF5-E336710B3B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-51" b="494"/>
          <a:stretch>
            <a:fillRect/>
          </a:stretch>
        </p:blipFill>
        <p:spPr>
          <a:xfrm>
            <a:off x="381000" y="3963672"/>
            <a:ext cx="11435781" cy="2337897"/>
          </a:xfrm>
          <a:prstGeom prst="rect">
            <a:avLst/>
          </a:prstGeom>
        </p:spPr>
      </p:pic>
      <p:sp>
        <p:nvSpPr>
          <p:cNvPr id="58" name="Text 3">
            <a:extLst>
              <a:ext uri="{FF2B5EF4-FFF2-40B4-BE49-F238E27FC236}">
                <a16:creationId xmlns:a16="http://schemas.microsoft.com/office/drawing/2014/main" id="{9975DB06-9287-12C5-1354-E3D7B352D11D}"/>
              </a:ext>
            </a:extLst>
          </p:cNvPr>
          <p:cNvSpPr/>
          <p:nvPr/>
        </p:nvSpPr>
        <p:spPr>
          <a:xfrm>
            <a:off x="543299" y="3539937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kern="0" spc="151">
                <a:solidFill>
                  <a:srgbClr val="147A6F"/>
                </a:solidFill>
                <a:latin typeface="Raleway" pitchFamily="2" charset="0"/>
                <a:ea typeface="Calibri"/>
                <a:cs typeface="Calibri"/>
              </a:rPr>
              <a:t>ENGAGEMENT MODELS</a:t>
            </a:r>
            <a:endParaRPr lang="en-US" sz="1200" b="1" kern="0" spc="151" dirty="0">
              <a:solidFill>
                <a:srgbClr val="147A6F"/>
              </a:solidFill>
              <a:latin typeface="Raleway" pitchFamily="2" charset="0"/>
              <a:ea typeface="Calibri"/>
              <a:cs typeface="Calibri"/>
            </a:endParaRPr>
          </a:p>
        </p:txBody>
      </p:sp>
      <p:pic>
        <p:nvPicPr>
          <p:cNvPr id="4" name="Image 2" descr="gen-dedup-fa42f52387628f3d1450b94c6ddb571f.png">
            <a:extLst>
              <a:ext uri="{FF2B5EF4-FFF2-40B4-BE49-F238E27FC236}">
                <a16:creationId xmlns:a16="http://schemas.microsoft.com/office/drawing/2014/main" id="{14A324AB-509B-CFB1-6000-F44EE7DA217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6" r="-406"/>
          <a:stretch/>
        </p:blipFill>
        <p:spPr>
          <a:xfrm>
            <a:off x="560571" y="249821"/>
            <a:ext cx="57607" cy="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6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4000500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9905" y="1238098"/>
            <a:ext cx="5257800" cy="5381244"/>
          </a:xfrm>
          <a:prstGeom prst="roundRect">
            <a:avLst>
              <a:gd name="adj" fmla="val 1443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09905" y="1238098"/>
            <a:ext cx="5257800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191402" y="1238098"/>
            <a:ext cx="5410505" cy="5381244"/>
          </a:xfrm>
          <a:prstGeom prst="roundRect">
            <a:avLst>
              <a:gd name="adj" fmla="val 1410"/>
            </a:avLst>
          </a:prstGeom>
          <a:solidFill>
            <a:srgbClr val="FFF1F2"/>
          </a:solidFill>
          <a:ln w="12700">
            <a:solidFill>
              <a:srgbClr val="FFE4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191402" y="1238098"/>
            <a:ext cx="5410505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800100" y="20958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0100" y="20958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0100" y="3524098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00100" y="3524098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00100" y="4953305"/>
            <a:ext cx="4895698" cy="1304849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00100" y="4953305"/>
            <a:ext cx="28346" cy="1304849"/>
          </a:xfrm>
          <a:prstGeom prst="roundRect">
            <a:avLst>
              <a:gd name="adj" fmla="val 20322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381598" y="2048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381598" y="2048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381598" y="2809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381598" y="2809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6381598" y="3571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381598" y="3571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381598" y="433425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381598" y="433425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6381598" y="5095951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381598" y="5095951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4"/>
          <p:cNvSpPr/>
          <p:nvPr/>
        </p:nvSpPr>
        <p:spPr>
          <a:xfrm>
            <a:off x="6381598" y="5857646"/>
            <a:ext cx="5048402" cy="685800"/>
          </a:xfrm>
          <a:prstGeom prst="roundRect">
            <a:avLst>
              <a:gd name="adj" fmla="val 8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6381598" y="5857646"/>
            <a:ext cx="28346" cy="685800"/>
          </a:xfrm>
          <a:prstGeom prst="roundRect">
            <a:avLst>
              <a:gd name="adj" fmla="val 20322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2" descr="gen-dedup-6bfc16d6ff4fed65d6f2f0ea4f4ba26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19302" y="390449"/>
            <a:ext cx="10478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 &amp; BROWNFIELD USE CASES</a:t>
            </a:r>
            <a:endParaRPr lang="en-US" sz="2500"/>
          </a:p>
        </p:txBody>
      </p:sp>
      <p:sp>
        <p:nvSpPr>
          <p:cNvPr id="32" name="Text 27"/>
          <p:cNvSpPr txBox="1"/>
          <p:nvPr/>
        </p:nvSpPr>
        <p:spPr>
          <a:xfrm>
            <a:off x="819302" y="784555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Gcc</a:t>
            </a: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Strategy &amp; Transformation Pathways</a:t>
            </a:r>
            <a:endParaRPr lang="en-US" sz="1500" dirty="0">
              <a:solidFill>
                <a:srgbClr val="2A9D8F"/>
              </a:solidFill>
            </a:endParaRPr>
          </a:p>
        </p:txBody>
      </p:sp>
      <p:sp>
        <p:nvSpPr>
          <p:cNvPr id="33" name="Text 28"/>
          <p:cNvSpPr txBox="1"/>
          <p:nvPr/>
        </p:nvSpPr>
        <p:spPr>
          <a:xfrm>
            <a:off x="1104595" y="1380744"/>
            <a:ext cx="45537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GREENFIELD</a:t>
            </a:r>
            <a:endParaRPr lang="en-US" sz="1800"/>
          </a:p>
        </p:txBody>
      </p:sp>
      <p:pic>
        <p:nvPicPr>
          <p:cNvPr id="34" name="Image 3" descr="gen-dedup-3063db8b8b54f844b0a7dab11828a6a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0100" y="1457554"/>
            <a:ext cx="190195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104595" y="1762049"/>
            <a:ext cx="45537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Building a new GCC from the ground up</a:t>
            </a:r>
            <a:endParaRPr lang="en-US" sz="1000"/>
          </a:p>
        </p:txBody>
      </p:sp>
      <p:sp>
        <p:nvSpPr>
          <p:cNvPr id="36" name="Shape 30"/>
          <p:cNvSpPr/>
          <p:nvPr/>
        </p:nvSpPr>
        <p:spPr>
          <a:xfrm>
            <a:off x="990295" y="22384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1"/>
          <p:cNvSpPr/>
          <p:nvPr/>
        </p:nvSpPr>
        <p:spPr>
          <a:xfrm>
            <a:off x="990295" y="22384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1333195" y="2238451"/>
            <a:ext cx="432145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new GCC that is AI-native from day one</a:t>
            </a:r>
            <a:endParaRPr lang="en-US" sz="1200"/>
          </a:p>
        </p:txBody>
      </p:sp>
      <p:sp>
        <p:nvSpPr>
          <p:cNvPr id="39" name="Shape 33"/>
          <p:cNvSpPr/>
          <p:nvPr/>
        </p:nvSpPr>
        <p:spPr>
          <a:xfrm>
            <a:off x="1333195" y="2581351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1333195" y="2581351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5"/>
          <p:cNvSpPr txBox="1"/>
          <p:nvPr/>
        </p:nvSpPr>
        <p:spPr>
          <a:xfrm>
            <a:off x="1719072" y="2676449"/>
            <a:ext cx="36155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first value</a:t>
            </a:r>
            <a:endParaRPr lang="en-US" sz="1000"/>
          </a:p>
        </p:txBody>
      </p:sp>
      <p:pic>
        <p:nvPicPr>
          <p:cNvPr id="42" name="Image 4" descr="gen-dedup-51560749890e099b4f0b94d98ab81c97.png"/>
          <p:cNvPicPr>
            <a:picLocks noChangeAspect="1"/>
          </p:cNvPicPr>
          <p:nvPr/>
        </p:nvPicPr>
        <p:blipFill>
          <a:blip r:embed="rId7"/>
          <a:srcRect l="-3425" r="-3425"/>
          <a:stretch/>
        </p:blipFill>
        <p:spPr>
          <a:xfrm>
            <a:off x="1485900" y="2683764"/>
            <a:ext cx="142646" cy="133502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990295" y="3666744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990295" y="3666744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900"/>
          </a:p>
        </p:txBody>
      </p:sp>
      <p:sp>
        <p:nvSpPr>
          <p:cNvPr id="45" name="Text 38"/>
          <p:cNvSpPr txBox="1"/>
          <p:nvPr/>
        </p:nvSpPr>
        <p:spPr>
          <a:xfrm>
            <a:off x="1333195" y="3666744"/>
            <a:ext cx="46488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Stand up a capability or engineering function at speed</a:t>
            </a:r>
            <a:endParaRPr lang="en-US" sz="1200"/>
          </a:p>
        </p:txBody>
      </p:sp>
      <p:sp>
        <p:nvSpPr>
          <p:cNvPr id="46" name="Shape 39"/>
          <p:cNvSpPr/>
          <p:nvPr/>
        </p:nvSpPr>
        <p:spPr>
          <a:xfrm>
            <a:off x="1333195" y="4009644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0"/>
          <p:cNvSpPr/>
          <p:nvPr/>
        </p:nvSpPr>
        <p:spPr>
          <a:xfrm>
            <a:off x="1333195" y="4009644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1"/>
          <p:cNvSpPr txBox="1"/>
          <p:nvPr/>
        </p:nvSpPr>
        <p:spPr>
          <a:xfrm>
            <a:off x="1751990" y="4105656"/>
            <a:ext cx="3582619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 in 60 days, 0% attrition</a:t>
            </a:r>
            <a:endParaRPr lang="en-US" sz="1000"/>
          </a:p>
        </p:txBody>
      </p:sp>
      <p:pic>
        <p:nvPicPr>
          <p:cNvPr id="49" name="Image 5" descr="gen-dedup-2884c36795c02f4b5ed120dc5847c6b9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1485900" y="4112057"/>
            <a:ext cx="171907" cy="133502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990295" y="5095951"/>
            <a:ext cx="228600" cy="2286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990295" y="5095951"/>
            <a:ext cx="2286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900"/>
          </a:p>
        </p:txBody>
      </p:sp>
      <p:sp>
        <p:nvSpPr>
          <p:cNvPr id="52" name="Text 44"/>
          <p:cNvSpPr txBox="1"/>
          <p:nvPr/>
        </p:nvSpPr>
        <p:spPr>
          <a:xfrm>
            <a:off x="1333195" y="5095951"/>
            <a:ext cx="41340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Establish a function-specific capability centre as AI-native</a:t>
            </a:r>
            <a:endParaRPr lang="en-US" sz="1200"/>
          </a:p>
        </p:txBody>
      </p:sp>
      <p:sp>
        <p:nvSpPr>
          <p:cNvPr id="53" name="Shape 45"/>
          <p:cNvSpPr/>
          <p:nvPr/>
        </p:nvSpPr>
        <p:spPr>
          <a:xfrm>
            <a:off x="1333195" y="5606186"/>
            <a:ext cx="4134002" cy="342900"/>
          </a:xfrm>
          <a:prstGeom prst="roundRect">
            <a:avLst>
              <a:gd name="adj" fmla="val 11200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46"/>
          <p:cNvSpPr/>
          <p:nvPr/>
        </p:nvSpPr>
        <p:spPr>
          <a:xfrm>
            <a:off x="1333195" y="5606186"/>
            <a:ext cx="19202" cy="342900"/>
          </a:xfrm>
          <a:prstGeom prst="roundRect">
            <a:avLst>
              <a:gd name="adj" fmla="val 200004"/>
            </a:avLst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7"/>
          <p:cNvSpPr txBox="1"/>
          <p:nvPr/>
        </p:nvSpPr>
        <p:spPr>
          <a:xfrm>
            <a:off x="1723644" y="5701284"/>
            <a:ext cx="361096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23% lead time reduction</a:t>
            </a:r>
            <a:endParaRPr lang="en-US" sz="1000"/>
          </a:p>
        </p:txBody>
      </p:sp>
      <p:pic>
        <p:nvPicPr>
          <p:cNvPr id="56" name="Image 6" descr="gen-dedup-2036ae2e9c63f2cd93ec60dae03cb4ac.png"/>
          <p:cNvPicPr>
            <a:picLocks noChangeAspect="1"/>
          </p:cNvPicPr>
          <p:nvPr/>
        </p:nvPicPr>
        <p:blipFill>
          <a:blip r:embed="rId9"/>
          <a:srcRect l="-3425" r="-3425"/>
          <a:stretch/>
        </p:blipFill>
        <p:spPr>
          <a:xfrm>
            <a:off x="1485900" y="5708599"/>
            <a:ext cx="142646" cy="133502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6733642" y="1380744"/>
            <a:ext cx="465886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BROWNFIELD</a:t>
            </a:r>
            <a:endParaRPr lang="en-US" sz="1800"/>
          </a:p>
        </p:txBody>
      </p:sp>
      <p:pic>
        <p:nvPicPr>
          <p:cNvPr id="58" name="Image 7" descr="gen-dedup-82a1fdef16b450831e091d4acdf0fd27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381598" y="1457554"/>
            <a:ext cx="237744" cy="190195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6687007" y="1762049"/>
            <a:ext cx="470550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i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 enterprises whose GCC already runs</a:t>
            </a:r>
            <a:endParaRPr lang="en-US" sz="1000"/>
          </a:p>
        </p:txBody>
      </p:sp>
      <p:sp>
        <p:nvSpPr>
          <p:cNvPr id="60" name="Shape 50"/>
          <p:cNvSpPr/>
          <p:nvPr/>
        </p:nvSpPr>
        <p:spPr>
          <a:xfrm>
            <a:off x="6524244" y="2239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1"/>
          <p:cNvSpPr/>
          <p:nvPr/>
        </p:nvSpPr>
        <p:spPr>
          <a:xfrm>
            <a:off x="6524244" y="2239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800"/>
          </a:p>
        </p:txBody>
      </p:sp>
      <p:sp>
        <p:nvSpPr>
          <p:cNvPr id="62" name="Text 52"/>
          <p:cNvSpPr txBox="1"/>
          <p:nvPr/>
        </p:nvSpPr>
        <p:spPr>
          <a:xfrm>
            <a:off x="6829654" y="2220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Shift the GCC operating model from delivery to AI-native ownership</a:t>
            </a:r>
            <a:endParaRPr lang="en-US" sz="900"/>
          </a:p>
        </p:txBody>
      </p:sp>
      <p:sp>
        <p:nvSpPr>
          <p:cNvPr id="63" name="Shape 53"/>
          <p:cNvSpPr/>
          <p:nvPr/>
        </p:nvSpPr>
        <p:spPr>
          <a:xfrm>
            <a:off x="9763049" y="2257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9583826" y="2314346"/>
            <a:ext cx="160843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99.8% SLA compliance</a:t>
            </a:r>
            <a:endParaRPr lang="en-US" sz="900"/>
          </a:p>
        </p:txBody>
      </p:sp>
      <p:sp>
        <p:nvSpPr>
          <p:cNvPr id="65" name="Shape 55"/>
          <p:cNvSpPr/>
          <p:nvPr/>
        </p:nvSpPr>
        <p:spPr>
          <a:xfrm>
            <a:off x="6524244" y="3057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6"/>
          <p:cNvSpPr/>
          <p:nvPr/>
        </p:nvSpPr>
        <p:spPr>
          <a:xfrm>
            <a:off x="6524244" y="3057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800"/>
          </a:p>
        </p:txBody>
      </p:sp>
      <p:sp>
        <p:nvSpPr>
          <p:cNvPr id="67" name="Text 57"/>
          <p:cNvSpPr txBox="1"/>
          <p:nvPr/>
        </p:nvSpPr>
        <p:spPr>
          <a:xfrm>
            <a:off x="6829654" y="3038551"/>
            <a:ext cx="259598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Move stalled AI pilots into production</a:t>
            </a:r>
            <a:endParaRPr lang="en-US" sz="900"/>
          </a:p>
        </p:txBody>
      </p:sp>
      <p:sp>
        <p:nvSpPr>
          <p:cNvPr id="68" name="Shape 58"/>
          <p:cNvSpPr/>
          <p:nvPr/>
        </p:nvSpPr>
        <p:spPr>
          <a:xfrm>
            <a:off x="9763049" y="3019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9"/>
          <p:cNvSpPr txBox="1"/>
          <p:nvPr/>
        </p:nvSpPr>
        <p:spPr>
          <a:xfrm>
            <a:off x="9858146" y="3076956"/>
            <a:ext cx="133411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 to production</a:t>
            </a:r>
            <a:endParaRPr lang="en-US" sz="900"/>
          </a:p>
        </p:txBody>
      </p:sp>
      <p:sp>
        <p:nvSpPr>
          <p:cNvPr id="70" name="Shape 60"/>
          <p:cNvSpPr/>
          <p:nvPr/>
        </p:nvSpPr>
        <p:spPr>
          <a:xfrm>
            <a:off x="6524244" y="3763670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1"/>
          <p:cNvSpPr/>
          <p:nvPr/>
        </p:nvSpPr>
        <p:spPr>
          <a:xfrm>
            <a:off x="6524244" y="3763670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800"/>
          </a:p>
        </p:txBody>
      </p:sp>
      <p:sp>
        <p:nvSpPr>
          <p:cNvPr id="72" name="Text 62"/>
          <p:cNvSpPr txBox="1"/>
          <p:nvPr/>
        </p:nvSpPr>
        <p:spPr>
          <a:xfrm>
            <a:off x="6829654" y="3744468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 AI into a function to lift output and decisions without adding headcount</a:t>
            </a:r>
            <a:endParaRPr lang="en-US" sz="900"/>
          </a:p>
        </p:txBody>
      </p:sp>
      <p:sp>
        <p:nvSpPr>
          <p:cNvPr id="73" name="Shape 63"/>
          <p:cNvSpPr/>
          <p:nvPr/>
        </p:nvSpPr>
        <p:spPr>
          <a:xfrm>
            <a:off x="9660636" y="3781044"/>
            <a:ext cx="1628546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4"/>
          <p:cNvSpPr txBox="1"/>
          <p:nvPr/>
        </p:nvSpPr>
        <p:spPr>
          <a:xfrm>
            <a:off x="9482328" y="3838651"/>
            <a:ext cx="1711757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300 engineers/60d, 0% attr.</a:t>
            </a:r>
            <a:endParaRPr lang="en-US" sz="900"/>
          </a:p>
        </p:txBody>
      </p:sp>
      <p:sp>
        <p:nvSpPr>
          <p:cNvPr id="75" name="Shape 65"/>
          <p:cNvSpPr/>
          <p:nvPr/>
        </p:nvSpPr>
        <p:spPr>
          <a:xfrm>
            <a:off x="6524244" y="4525366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66"/>
          <p:cNvSpPr/>
          <p:nvPr/>
        </p:nvSpPr>
        <p:spPr>
          <a:xfrm>
            <a:off x="6524244" y="4525366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800"/>
          </a:p>
        </p:txBody>
      </p:sp>
      <p:sp>
        <p:nvSpPr>
          <p:cNvPr id="77" name="Text 67"/>
          <p:cNvSpPr txBox="1"/>
          <p:nvPr/>
        </p:nvSpPr>
        <p:spPr>
          <a:xfrm>
            <a:off x="6829654" y="4506163"/>
            <a:ext cx="279166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Unify fragmented and mainframe data into one AI-ready layer</a:t>
            </a:r>
            <a:endParaRPr lang="en-US" sz="900"/>
          </a:p>
        </p:txBody>
      </p:sp>
      <p:sp>
        <p:nvSpPr>
          <p:cNvPr id="78" name="Shape 68"/>
          <p:cNvSpPr/>
          <p:nvPr/>
        </p:nvSpPr>
        <p:spPr>
          <a:xfrm>
            <a:off x="9763049" y="4543654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69"/>
          <p:cNvSpPr txBox="1"/>
          <p:nvPr/>
        </p:nvSpPr>
        <p:spPr>
          <a:xfrm>
            <a:off x="9604858" y="460034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$15M savings, 30% uplift</a:t>
            </a:r>
            <a:endParaRPr lang="en-US" sz="900"/>
          </a:p>
        </p:txBody>
      </p:sp>
      <p:sp>
        <p:nvSpPr>
          <p:cNvPr id="80" name="Shape 70"/>
          <p:cNvSpPr/>
          <p:nvPr/>
        </p:nvSpPr>
        <p:spPr>
          <a:xfrm>
            <a:off x="6524244" y="5343754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1"/>
          <p:cNvSpPr/>
          <p:nvPr/>
        </p:nvSpPr>
        <p:spPr>
          <a:xfrm>
            <a:off x="6524244" y="5343754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</a:t>
            </a:r>
            <a:endParaRPr lang="en-US" sz="800"/>
          </a:p>
        </p:txBody>
      </p:sp>
      <p:sp>
        <p:nvSpPr>
          <p:cNvPr id="82" name="Text 72"/>
          <p:cNvSpPr txBox="1"/>
          <p:nvPr/>
        </p:nvSpPr>
        <p:spPr>
          <a:xfrm>
            <a:off x="6829654" y="5324551"/>
            <a:ext cx="3242462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Re-engineer a core process with embedded AI</a:t>
            </a:r>
            <a:endParaRPr lang="en-US" sz="900"/>
          </a:p>
        </p:txBody>
      </p:sp>
      <p:sp>
        <p:nvSpPr>
          <p:cNvPr id="83" name="Shape 73"/>
          <p:cNvSpPr/>
          <p:nvPr/>
        </p:nvSpPr>
        <p:spPr>
          <a:xfrm>
            <a:off x="9763049" y="5305349"/>
            <a:ext cx="1524305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4"/>
          <p:cNvSpPr txBox="1"/>
          <p:nvPr/>
        </p:nvSpPr>
        <p:spPr>
          <a:xfrm>
            <a:off x="9604858" y="5362956"/>
            <a:ext cx="158739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42% TAT ↓, 23% lead time ↓</a:t>
            </a:r>
            <a:endParaRPr lang="en-US" sz="900"/>
          </a:p>
        </p:txBody>
      </p:sp>
      <p:sp>
        <p:nvSpPr>
          <p:cNvPr id="85" name="Shape 75"/>
          <p:cNvSpPr/>
          <p:nvPr/>
        </p:nvSpPr>
        <p:spPr>
          <a:xfrm>
            <a:off x="6524244" y="6105449"/>
            <a:ext cx="190195" cy="190195"/>
          </a:xfrm>
          <a:prstGeom prst="ellipse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6"/>
          <p:cNvSpPr/>
          <p:nvPr/>
        </p:nvSpPr>
        <p:spPr>
          <a:xfrm>
            <a:off x="6524244" y="6105449"/>
            <a:ext cx="191110" cy="1911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endParaRPr lang="en-US" sz="800"/>
          </a:p>
        </p:txBody>
      </p:sp>
      <p:sp>
        <p:nvSpPr>
          <p:cNvPr id="87" name="Text 77"/>
          <p:cNvSpPr txBox="1"/>
          <p:nvPr/>
        </p:nvSpPr>
        <p:spPr>
          <a:xfrm>
            <a:off x="6829654" y="6086246"/>
            <a:ext cx="318577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Govern and de-risk sprawling AI deployments</a:t>
            </a:r>
            <a:endParaRPr lang="en-US" sz="900"/>
          </a:p>
        </p:txBody>
      </p:sp>
      <p:sp>
        <p:nvSpPr>
          <p:cNvPr id="88" name="Shape 78"/>
          <p:cNvSpPr/>
          <p:nvPr/>
        </p:nvSpPr>
        <p:spPr>
          <a:xfrm>
            <a:off x="9724644" y="6067044"/>
            <a:ext cx="1571854" cy="247802"/>
          </a:xfrm>
          <a:prstGeom prst="roundRect">
            <a:avLst>
              <a:gd name="adj" fmla="val 15498"/>
            </a:avLst>
          </a:prstGeom>
          <a:solidFill>
            <a:srgbClr val="FFF1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79"/>
          <p:cNvSpPr txBox="1"/>
          <p:nvPr/>
        </p:nvSpPr>
        <p:spPr>
          <a:xfrm>
            <a:off x="9557309" y="6124651"/>
            <a:ext cx="1644091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2M+ users, 35% adherence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220557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856D4-134A-581B-EC5E-520C5A53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8A530831-F204-5E89-7B5A-76B52BF25A35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9C2AF6D8-5D7F-C534-E8E4-DA00D9002C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BCEA5056-2FC8-FBB4-C394-8A4C143CC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5A98248E-EE1B-23EF-94BB-766E2BC3FDC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3618C317-4414-EB34-2C38-0AC5944E1004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F31C911D-F040-F235-7735-291225B14D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832DFE89-9B52-C7A9-8829-A59C6834021E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9806661-5DF1-05EF-1477-AF6345A7FD0F}"/>
              </a:ext>
            </a:extLst>
          </p:cNvPr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Domain-deep engineering talent - deployed, governed, and continuously upskilled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3AA6F4EC-9880-9FAB-4776-CB7EC6C7DD60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place people. We deploy domain-certified engineers into governed pods - with sprint accountability, AI-powered sourcing, and a contract-to-hire model that keeps your risk low and your velocity high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3BE14DA7-645C-95C9-5C91-F96EFC962D6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9F4FE693-DA3B-61CF-1215-7B57E8924352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42C24B0-8636-74A4-4FC8-8DBDB08299C1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days or less to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deploy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717DBA06-294F-AFD6-F4A3-E3BB6A843F0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19292444-1F09-6360-0F68-8AD41048A7D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300935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0A4FE0DB-0E00-A4E0-D0F5-5DA20E53E7F3}"/>
              </a:ext>
            </a:extLst>
          </p:cNvPr>
          <p:cNvSpPr/>
          <p:nvPr/>
        </p:nvSpPr>
        <p:spPr>
          <a:xfrm>
            <a:off x="3510382" y="5143500"/>
            <a:ext cx="2300935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5640A7D-F0E3-6BED-EEA7-16F614B5632E}"/>
              </a:ext>
            </a:extLst>
          </p:cNvPr>
          <p:cNvSpPr txBox="1"/>
          <p:nvPr/>
        </p:nvSpPr>
        <p:spPr>
          <a:xfrm>
            <a:off x="3735018" y="5143500"/>
            <a:ext cx="1648005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subcontracting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93207DB2-729B-AE24-7E77-6519958DE5C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038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E0CA82C4-F034-80D0-F825-1B18CD990C5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2266D092-185E-2198-BDD3-B88FC8175BF2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ED31349B-331C-666B-1026-10D8E100F4F3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Contract-to-hire flexibility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 in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205FF807-74F6-4E07-EE11-D8132CD5F0C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FB78842A-22DE-1C9A-4EE2-D07FD5A3BBD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34AB57F4-B2CA-C3A2-0103-9F6A8E9AFA38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5B673A20-4A15-839A-EE62-676A6C5F3333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Pod governance + sprint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 from Day 1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93529912-BB1C-C574-75A1-3D8ECD602D40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99FB5298-5A36-5FFC-CC7E-17E7D43B7AAD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ED705767-82C0-1D2C-EADE-B791EDD5E9F6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capacity with domain depth and delivery accountability.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679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9663ecf744b06e35d4c2cebaab92a2ea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525305" y="4762195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b81d2082573e6d8de64df87af639bbf0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609905" y="381305"/>
            <a:ext cx="57607" cy="38130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3429000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429000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24809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24809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9068105" y="1524305"/>
            <a:ext cx="2609698" cy="3877056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9068105" y="1524305"/>
            <a:ext cx="2609698" cy="57607"/>
          </a:xfrm>
          <a:prstGeom prst="roundRect">
            <a:avLst>
              <a:gd name="adj" fmla="val 139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3" descr="gen-dedup-c79c8869390c39dd2ec5734755e72ead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5715000"/>
            <a:ext cx="11011205" cy="91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905" y="5905195"/>
            <a:ext cx="11058754" cy="685800"/>
          </a:xfrm>
          <a:prstGeom prst="roundRect">
            <a:avLst>
              <a:gd name="adj" fmla="val 29630"/>
            </a:avLst>
          </a:prstGeom>
          <a:solidFill>
            <a:srgbClr val="2A9D8F">
              <a:alpha val="5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5905195"/>
            <a:ext cx="38405" cy="685800"/>
          </a:xfrm>
          <a:prstGeom prst="roundRect">
            <a:avLst>
              <a:gd name="adj" fmla="val 52909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157460" y="3543605"/>
            <a:ext cx="323698" cy="323698"/>
          </a:xfrm>
          <a:prstGeom prst="rect">
            <a:avLst/>
          </a:prstGeom>
        </p:spPr>
      </p:pic>
      <p:pic>
        <p:nvPicPr>
          <p:cNvPr id="20" name="Image 5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3266274" y="3638702"/>
            <a:ext cx="105156" cy="133502"/>
          </a:xfrm>
          <a:prstGeom prst="rect">
            <a:avLst/>
          </a:prstGeom>
        </p:spPr>
      </p:pic>
      <p:pic>
        <p:nvPicPr>
          <p:cNvPr id="21" name="Image 6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76555" y="3543605"/>
            <a:ext cx="323698" cy="323698"/>
          </a:xfrm>
          <a:prstGeom prst="rect">
            <a:avLst/>
          </a:prstGeom>
        </p:spPr>
      </p:pic>
      <p:pic>
        <p:nvPicPr>
          <p:cNvPr id="22" name="Image 7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6086283" y="3638702"/>
            <a:ext cx="105156" cy="133502"/>
          </a:xfrm>
          <a:prstGeom prst="rect">
            <a:avLst/>
          </a:prstGeom>
        </p:spPr>
      </p:pic>
      <p:pic>
        <p:nvPicPr>
          <p:cNvPr id="23" name="Image 8" descr="gen-dedup-1bf8b7c2ed0132a588bc6493359d36f7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795651" y="3543605"/>
            <a:ext cx="323698" cy="323698"/>
          </a:xfrm>
          <a:prstGeom prst="rect">
            <a:avLst/>
          </a:prstGeom>
        </p:spPr>
      </p:pic>
      <p:pic>
        <p:nvPicPr>
          <p:cNvPr id="24" name="Image 9" descr="gen-dedup-4f3b576989a6b43ea9ecd09ca0f289b1.png"/>
          <p:cNvPicPr>
            <a:picLocks noChangeAspect="1"/>
          </p:cNvPicPr>
          <p:nvPr/>
        </p:nvPicPr>
        <p:blipFill>
          <a:blip r:embed="rId8"/>
          <a:srcRect t="-5544" b="-5544"/>
          <a:stretch/>
        </p:blipFill>
        <p:spPr>
          <a:xfrm>
            <a:off x="8905379" y="3638702"/>
            <a:ext cx="105156" cy="133502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19302" y="304495"/>
            <a:ext cx="10478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OPERATING MODEL</a:t>
            </a:r>
            <a:endParaRPr lang="en-US" sz="2700" dirty="0"/>
          </a:p>
        </p:txBody>
      </p:sp>
      <p:sp>
        <p:nvSpPr>
          <p:cNvPr id="26" name="Text 14"/>
          <p:cNvSpPr txBox="1"/>
          <p:nvPr/>
        </p:nvSpPr>
        <p:spPr>
          <a:xfrm>
            <a:off x="819302" y="79278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Don't Just Deploy - We Embed, Align, And Deliver Measurable Outcomes.</a:t>
            </a:r>
            <a:endParaRPr lang="en-US" sz="1500" b="1" dirty="0">
              <a:solidFill>
                <a:srgbClr val="2A9D8F"/>
              </a:solidFill>
            </a:endParaRPr>
          </a:p>
        </p:txBody>
      </p:sp>
      <p:sp>
        <p:nvSpPr>
          <p:cNvPr id="27" name="Shape 15"/>
          <p:cNvSpPr/>
          <p:nvPr/>
        </p:nvSpPr>
        <p:spPr>
          <a:xfrm>
            <a:off x="163860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10" descr="gen-dedup-ac1977dfe20a87d93b03eab8a85600aa.png"/>
          <p:cNvPicPr>
            <a:picLocks noChangeAspect="1"/>
          </p:cNvPicPr>
          <p:nvPr/>
        </p:nvPicPr>
        <p:blipFill>
          <a:blip r:embed="rId9"/>
          <a:srcRect t="-13131" b="-13131"/>
          <a:stretch/>
        </p:blipFill>
        <p:spPr>
          <a:xfrm>
            <a:off x="1814170" y="1971446"/>
            <a:ext cx="181051" cy="22860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050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Embed.</a:t>
            </a:r>
            <a:endParaRPr lang="en-US" sz="2000" dirty="0"/>
          </a:p>
        </p:txBody>
      </p:sp>
      <p:sp>
        <p:nvSpPr>
          <p:cNvPr id="30" name="Text 17"/>
          <p:cNvSpPr txBox="1"/>
          <p:nvPr/>
        </p:nvSpPr>
        <p:spPr>
          <a:xfrm>
            <a:off x="7050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Days 1–14</a:t>
            </a:r>
            <a:endParaRPr lang="en-US" sz="1300" dirty="0"/>
          </a:p>
        </p:txBody>
      </p:sp>
      <p:sp>
        <p:nvSpPr>
          <p:cNvPr id="31" name="Text 18"/>
          <p:cNvSpPr txBox="1"/>
          <p:nvPr/>
        </p:nvSpPr>
        <p:spPr>
          <a:xfrm>
            <a:off x="705002" y="3018434"/>
            <a:ext cx="2309775" cy="1743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map your stakeholder reality before touching a single workflow — identifying the 80% we move within and the 20% that unlocks transformation.</a:t>
            </a:r>
            <a:endParaRPr lang="en-US" sz="1200" dirty="0"/>
          </a:p>
        </p:txBody>
      </p:sp>
      <p:sp>
        <p:nvSpPr>
          <p:cNvPr id="32" name="Text 19"/>
          <p:cNvSpPr txBox="1"/>
          <p:nvPr/>
        </p:nvSpPr>
        <p:spPr>
          <a:xfrm>
            <a:off x="2409444" y="1687137"/>
            <a:ext cx="60167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 dirty="0"/>
          </a:p>
        </p:txBody>
      </p:sp>
      <p:sp>
        <p:nvSpPr>
          <p:cNvPr id="33" name="Shape 20"/>
          <p:cNvSpPr/>
          <p:nvPr/>
        </p:nvSpPr>
        <p:spPr>
          <a:xfrm>
            <a:off x="4457700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11" descr="gen-dedup-bb65f8a83efde23cd45884ce4e632f2a.png"/>
          <p:cNvPicPr>
            <a:picLocks noChangeAspect="1"/>
          </p:cNvPicPr>
          <p:nvPr/>
        </p:nvPicPr>
        <p:blipFill>
          <a:blip r:embed="rId10"/>
          <a:srcRect t="-13131" b="-13131"/>
          <a:stretch/>
        </p:blipFill>
        <p:spPr>
          <a:xfrm>
            <a:off x="4634179" y="1971446"/>
            <a:ext cx="181051" cy="228600"/>
          </a:xfrm>
          <a:prstGeom prst="rect">
            <a:avLst/>
          </a:prstGeom>
        </p:spPr>
      </p:pic>
      <p:sp>
        <p:nvSpPr>
          <p:cNvPr id="35" name="Text 21"/>
          <p:cNvSpPr txBox="1"/>
          <p:nvPr/>
        </p:nvSpPr>
        <p:spPr>
          <a:xfrm>
            <a:off x="3524098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Build.</a:t>
            </a:r>
            <a:endParaRPr lang="en-US" sz="2000" dirty="0"/>
          </a:p>
        </p:txBody>
      </p:sp>
      <p:sp>
        <p:nvSpPr>
          <p:cNvPr id="36" name="Text 22"/>
          <p:cNvSpPr txBox="1"/>
          <p:nvPr/>
        </p:nvSpPr>
        <p:spPr>
          <a:xfrm>
            <a:off x="3524098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Weeks 2–6</a:t>
            </a:r>
            <a:endParaRPr lang="en-US" sz="1300" dirty="0"/>
          </a:p>
        </p:txBody>
      </p:sp>
      <p:sp>
        <p:nvSpPr>
          <p:cNvPr id="37" name="Text 23"/>
          <p:cNvSpPr txBox="1"/>
          <p:nvPr/>
        </p:nvSpPr>
        <p:spPr>
          <a:xfrm>
            <a:off x="3524098" y="329793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deploy the closest-fit accelerator and customize where needed. Hundreds of prior engagements mean you inherit a head start, not a blank slate.</a:t>
            </a:r>
            <a:endParaRPr lang="en-US" sz="1200" dirty="0"/>
          </a:p>
        </p:txBody>
      </p:sp>
      <p:sp>
        <p:nvSpPr>
          <p:cNvPr id="38" name="Text 24"/>
          <p:cNvSpPr txBox="1"/>
          <p:nvPr/>
        </p:nvSpPr>
        <p:spPr>
          <a:xfrm>
            <a:off x="523128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 dirty="0"/>
          </a:p>
        </p:txBody>
      </p:sp>
      <p:sp>
        <p:nvSpPr>
          <p:cNvPr id="39" name="Shape 25"/>
          <p:cNvSpPr/>
          <p:nvPr/>
        </p:nvSpPr>
        <p:spPr>
          <a:xfrm>
            <a:off x="7276795" y="1819656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2" descr="gen-dedup-ec7913c77fa2db42f3e898c22d604bf4.png"/>
          <p:cNvPicPr>
            <a:picLocks noChangeAspect="1"/>
          </p:cNvPicPr>
          <p:nvPr/>
        </p:nvPicPr>
        <p:blipFill>
          <a:blip r:embed="rId11"/>
          <a:srcRect t="-28914" b="-28914"/>
          <a:stretch/>
        </p:blipFill>
        <p:spPr>
          <a:xfrm>
            <a:off x="7398844" y="1895244"/>
            <a:ext cx="289681" cy="365760"/>
          </a:xfrm>
          <a:prstGeom prst="rect">
            <a:avLst/>
          </a:prstGeom>
        </p:spPr>
      </p:pic>
      <p:sp>
        <p:nvSpPr>
          <p:cNvPr id="41" name="Text 26"/>
          <p:cNvSpPr txBox="1"/>
          <p:nvPr/>
        </p:nvSpPr>
        <p:spPr>
          <a:xfrm>
            <a:off x="6344107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Operate.</a:t>
            </a:r>
            <a:endParaRPr lang="en-US" sz="2000" dirty="0"/>
          </a:p>
        </p:txBody>
      </p:sp>
      <p:sp>
        <p:nvSpPr>
          <p:cNvPr id="42" name="Text 27"/>
          <p:cNvSpPr txBox="1"/>
          <p:nvPr/>
        </p:nvSpPr>
        <p:spPr>
          <a:xfrm>
            <a:off x="6344107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Month 2 onward</a:t>
            </a:r>
            <a:endParaRPr lang="en-US" sz="1300" dirty="0"/>
          </a:p>
        </p:txBody>
      </p:sp>
      <p:sp>
        <p:nvSpPr>
          <p:cNvPr id="43" name="Text 28"/>
          <p:cNvSpPr txBox="1"/>
          <p:nvPr/>
        </p:nvSpPr>
        <p:spPr>
          <a:xfrm>
            <a:off x="6344107" y="3195725"/>
            <a:ext cx="2309775" cy="1390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Forward-deployed engineers run AI inside your enterprise and don't rotate off. The context, accountability, and institutional memory stay with you.</a:t>
            </a:r>
            <a:endParaRPr lang="en-US" sz="1200" dirty="0"/>
          </a:p>
        </p:txBody>
      </p:sp>
      <p:sp>
        <p:nvSpPr>
          <p:cNvPr id="44" name="Text 29"/>
          <p:cNvSpPr txBox="1"/>
          <p:nvPr/>
        </p:nvSpPr>
        <p:spPr>
          <a:xfrm>
            <a:off x="8051292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 dirty="0"/>
          </a:p>
        </p:txBody>
      </p:sp>
      <p:sp>
        <p:nvSpPr>
          <p:cNvPr id="45" name="Shape 30"/>
          <p:cNvSpPr/>
          <p:nvPr/>
        </p:nvSpPr>
        <p:spPr>
          <a:xfrm>
            <a:off x="10096805" y="1819656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6" name="Image 13" descr="gen-dedup-9fd551ffaf14ed4b68fb6cf808d818cf.png"/>
          <p:cNvPicPr>
            <a:picLocks noChangeAspect="1"/>
          </p:cNvPicPr>
          <p:nvPr/>
        </p:nvPicPr>
        <p:blipFill>
          <a:blip r:embed="rId12"/>
          <a:srcRect t="-13131" b="-13131"/>
          <a:stretch/>
        </p:blipFill>
        <p:spPr>
          <a:xfrm>
            <a:off x="10272370" y="1971446"/>
            <a:ext cx="181051" cy="228600"/>
          </a:xfrm>
          <a:prstGeom prst="rect">
            <a:avLst/>
          </a:prstGeom>
        </p:spPr>
      </p:pic>
      <p:sp>
        <p:nvSpPr>
          <p:cNvPr id="47" name="Text 31"/>
          <p:cNvSpPr txBox="1"/>
          <p:nvPr/>
        </p:nvSpPr>
        <p:spPr>
          <a:xfrm>
            <a:off x="9163202" y="2505456"/>
            <a:ext cx="240030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Compound.</a:t>
            </a:r>
            <a:endParaRPr lang="en-US" sz="2000" dirty="0"/>
          </a:p>
        </p:txBody>
      </p:sp>
      <p:sp>
        <p:nvSpPr>
          <p:cNvPr id="48" name="Text 32"/>
          <p:cNvSpPr txBox="1"/>
          <p:nvPr/>
        </p:nvSpPr>
        <p:spPr>
          <a:xfrm>
            <a:off x="9163202" y="2968854"/>
            <a:ext cx="24003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Year one &amp; beyond</a:t>
            </a:r>
            <a:endParaRPr lang="en-US" sz="1300" dirty="0"/>
          </a:p>
        </p:txBody>
      </p:sp>
      <p:sp>
        <p:nvSpPr>
          <p:cNvPr id="49" name="Text 33"/>
          <p:cNvSpPr txBox="1"/>
          <p:nvPr/>
        </p:nvSpPr>
        <p:spPr>
          <a:xfrm>
            <a:off x="9163202" y="3285235"/>
            <a:ext cx="230977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problem solved sharpens the platform. The system gets smarter as you scale — outcomes that compound while you sleep.</a:t>
            </a:r>
            <a:endParaRPr lang="en-US" sz="1200" dirty="0"/>
          </a:p>
        </p:txBody>
      </p:sp>
      <p:sp>
        <p:nvSpPr>
          <p:cNvPr id="50" name="Text 34"/>
          <p:cNvSpPr txBox="1"/>
          <p:nvPr/>
        </p:nvSpPr>
        <p:spPr>
          <a:xfrm>
            <a:off x="10865815" y="1687137"/>
            <a:ext cx="60716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 dirty="0"/>
          </a:p>
        </p:txBody>
      </p:sp>
      <p:sp>
        <p:nvSpPr>
          <p:cNvPr id="51" name="Text 35"/>
          <p:cNvSpPr txBox="1"/>
          <p:nvPr/>
        </p:nvSpPr>
        <p:spPr>
          <a:xfrm>
            <a:off x="914400" y="6048756"/>
            <a:ext cx="104013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Your business is our GTM.</a:t>
            </a:r>
            <a:r>
              <a:rPr lang="en-US" sz="13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We build with you, so your teams actually adopt, use, and grow everything we create together - not just receive it.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968513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219456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219456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4" y="1341120"/>
            <a:ext cx="414528" cy="414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1376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Sourcing Engine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41376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AI-driven talent matching across 8,500+ active consultants and 1,250+ skills - niche to mainstream.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108960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3108960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9648" y="1341120"/>
            <a:ext cx="414528" cy="4145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30880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Human + AI Teams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3230880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Blended delivery with AI productivity tools embedded from Day 1. Capability stacks over role pyramids.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5998464" y="1182624"/>
            <a:ext cx="2779776" cy="60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3"/>
          <p:cNvSpPr/>
          <p:nvPr/>
        </p:nvSpPr>
        <p:spPr>
          <a:xfrm>
            <a:off x="5998464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9152" y="1341120"/>
            <a:ext cx="414528" cy="4145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20384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Fully Managed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120384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owns payroll, compliance, onboarding and HR. Zero admin burden on the client side.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8887968" y="1182624"/>
            <a:ext cx="2779776" cy="60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Shape 17"/>
          <p:cNvSpPr/>
          <p:nvPr/>
        </p:nvSpPr>
        <p:spPr>
          <a:xfrm>
            <a:off x="8887968" y="1243584"/>
            <a:ext cx="2779776" cy="1889760"/>
          </a:xfrm>
          <a:prstGeom prst="rect">
            <a:avLst/>
          </a:prstGeom>
          <a:solidFill>
            <a:srgbClr val="F9FFFE"/>
          </a:solidFill>
          <a:ln w="6350">
            <a:solidFill>
              <a:srgbClr val="D0ECE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8656" y="1341120"/>
            <a:ext cx="414528" cy="4145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009888" y="1840992"/>
            <a:ext cx="2535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AI-First L&amp;D</a:t>
            </a:r>
            <a:endParaRPr lang="en-US" sz="1467">
              <a:latin typeface="Oswald" panose="00000500000000000000" pitchFamily="2" charset="0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9009888" y="2182368"/>
            <a:ext cx="253593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Continuous upskilling via J2W </a:t>
            </a:r>
            <a:r>
              <a:rPr lang="en-US" sz="1133" err="1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CoE</a:t>
            </a:r>
            <a:r>
              <a:rPr lang="en-US" sz="1133">
                <a:solidFill>
                  <a:srgbClr val="555555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 - contextual, hands-on AI training powered by Research Wing.</a:t>
            </a:r>
            <a:endParaRPr lang="en-US" sz="1133">
              <a:latin typeface="Raleway" pitchFamily="2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341376" y="3291840"/>
            <a:ext cx="25603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2901696" y="3291840"/>
            <a:ext cx="4023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Traditional Staffing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6925056" y="3291840"/>
            <a:ext cx="4949952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 Workforce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219456" y="3681984"/>
            <a:ext cx="11533632" cy="0"/>
          </a:xfrm>
          <a:prstGeom prst="line">
            <a:avLst/>
          </a:prstGeom>
          <a:noFill/>
          <a:ln w="952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4"/>
          <p:cNvSpPr/>
          <p:nvPr/>
        </p:nvSpPr>
        <p:spPr>
          <a:xfrm>
            <a:off x="219456" y="3681984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5"/>
          <p:cNvSpPr/>
          <p:nvPr/>
        </p:nvSpPr>
        <p:spPr>
          <a:xfrm>
            <a:off x="341376" y="373075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Speed to Deploy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2901696" y="373075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Weeks to months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3791712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193280" y="373075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1 engineer onboarded per hour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219456" y="4114800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Text 29"/>
          <p:cNvSpPr/>
          <p:nvPr/>
        </p:nvSpPr>
        <p:spPr>
          <a:xfrm>
            <a:off x="341376" y="4163568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Team Composition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2901696" y="4163568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Single-role profile deployments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224528"/>
            <a:ext cx="219456" cy="21945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193280" y="4163568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capability stacks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219456" y="4547616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1" name="Text 33"/>
          <p:cNvSpPr/>
          <p:nvPr/>
        </p:nvSpPr>
        <p:spPr>
          <a:xfrm>
            <a:off x="341376" y="4596384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2" name="Text 34"/>
          <p:cNvSpPr/>
          <p:nvPr/>
        </p:nvSpPr>
        <p:spPr>
          <a:xfrm>
            <a:off x="2901696" y="4596384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Client's burden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4657344"/>
            <a:ext cx="219456" cy="219456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7193280" y="4596384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J2W-owned - HRBP implant at every site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5" name="Shape 36"/>
          <p:cNvSpPr/>
          <p:nvPr/>
        </p:nvSpPr>
        <p:spPr>
          <a:xfrm>
            <a:off x="219456" y="4980432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Text 37"/>
          <p:cNvSpPr/>
          <p:nvPr/>
        </p:nvSpPr>
        <p:spPr>
          <a:xfrm>
            <a:off x="341376" y="5029200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Performance Issues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47" name="Text 38"/>
          <p:cNvSpPr/>
          <p:nvPr/>
        </p:nvSpPr>
        <p:spPr>
          <a:xfrm>
            <a:off x="2901696" y="5029200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Escalation after the fact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090160"/>
            <a:ext cx="219456" cy="219456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7193280" y="5029200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Proactive monitoring &amp; intervention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0" name="Shape 40"/>
          <p:cNvSpPr/>
          <p:nvPr/>
        </p:nvSpPr>
        <p:spPr>
          <a:xfrm>
            <a:off x="219456" y="5413248"/>
            <a:ext cx="11533632" cy="432816"/>
          </a:xfrm>
          <a:prstGeom prst="rect">
            <a:avLst/>
          </a:prstGeom>
          <a:solidFill>
            <a:srgbClr val="FFFFFF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Text 41"/>
          <p:cNvSpPr/>
          <p:nvPr/>
        </p:nvSpPr>
        <p:spPr>
          <a:xfrm>
            <a:off x="341376" y="5462016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Knowledge Retention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2" name="Text 42"/>
          <p:cNvSpPr/>
          <p:nvPr/>
        </p:nvSpPr>
        <p:spPr>
          <a:xfrm>
            <a:off x="2901696" y="5462016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Lost with attrition</a:t>
            </a:r>
            <a:endParaRPr lang="en-US" sz="1267">
              <a:latin typeface="Raleway" pitchFamily="2" charset="0"/>
            </a:endParaRPr>
          </a:p>
        </p:txBody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522976"/>
            <a:ext cx="219456" cy="219456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7193280" y="5462016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0D9488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Captured in J2W Knowledge Repository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55" name="Shape 44"/>
          <p:cNvSpPr/>
          <p:nvPr/>
        </p:nvSpPr>
        <p:spPr>
          <a:xfrm>
            <a:off x="219456" y="5846064"/>
            <a:ext cx="11533632" cy="432816"/>
          </a:xfrm>
          <a:prstGeom prst="rect">
            <a:avLst/>
          </a:prstGeom>
          <a:solidFill>
            <a:srgbClr val="F0FAFA"/>
          </a:solidFill>
          <a:ln w="6350">
            <a:solidFill>
              <a:srgbClr val="E2F0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6" name="Text 45"/>
          <p:cNvSpPr/>
          <p:nvPr/>
        </p:nvSpPr>
        <p:spPr>
          <a:xfrm>
            <a:off x="341376" y="5894832"/>
            <a:ext cx="237744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Readiness</a:t>
            </a:r>
            <a:endParaRPr lang="en-US" sz="1267"/>
          </a:p>
        </p:txBody>
      </p:sp>
      <p:sp>
        <p:nvSpPr>
          <p:cNvPr id="57" name="Text 46"/>
          <p:cNvSpPr/>
          <p:nvPr/>
        </p:nvSpPr>
        <p:spPr>
          <a:xfrm>
            <a:off x="2901696" y="5894832"/>
            <a:ext cx="38404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</a:t>
            </a:r>
            <a:endParaRPr lang="en-US" sz="1267"/>
          </a:p>
        </p:txBody>
      </p:sp>
      <p:pic>
        <p:nvPicPr>
          <p:cNvPr id="58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672" y="5955792"/>
            <a:ext cx="219456" cy="219456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7193280" y="5894832"/>
            <a:ext cx="4437888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67" b="1">
                <a:solidFill>
                  <a:srgbClr val="C0392B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from Day 1</a:t>
            </a:r>
            <a:endParaRPr lang="en-US" sz="1267">
              <a:latin typeface="Raleway" pitchFamily="2" charset="0"/>
            </a:endParaRPr>
          </a:p>
        </p:txBody>
      </p:sp>
      <p:sp>
        <p:nvSpPr>
          <p:cNvPr id="60" name="Shape 48"/>
          <p:cNvSpPr/>
          <p:nvPr/>
        </p:nvSpPr>
        <p:spPr>
          <a:xfrm>
            <a:off x="0" y="6352032"/>
            <a:ext cx="12192000" cy="5059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1" name="Text 49"/>
          <p:cNvSpPr/>
          <p:nvPr/>
        </p:nvSpPr>
        <p:spPr>
          <a:xfrm>
            <a:off x="609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5,500+</a:t>
            </a:r>
            <a:endParaRPr lang="en-US" sz="1600"/>
          </a:p>
        </p:txBody>
      </p:sp>
      <p:sp>
        <p:nvSpPr>
          <p:cNvPr id="62" name="Text 50"/>
          <p:cNvSpPr/>
          <p:nvPr/>
        </p:nvSpPr>
        <p:spPr>
          <a:xfrm>
            <a:off x="609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Consultants</a:t>
            </a:r>
            <a:endParaRPr lang="en-US" sz="1000"/>
          </a:p>
        </p:txBody>
      </p:sp>
      <p:sp>
        <p:nvSpPr>
          <p:cNvPr id="63" name="Shape 51"/>
          <p:cNvSpPr/>
          <p:nvPr/>
        </p:nvSpPr>
        <p:spPr>
          <a:xfrm>
            <a:off x="24384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4" name="Text 52"/>
          <p:cNvSpPr/>
          <p:nvPr/>
        </p:nvSpPr>
        <p:spPr>
          <a:xfrm>
            <a:off x="24993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1,250+</a:t>
            </a:r>
            <a:endParaRPr lang="en-US" sz="1600"/>
          </a:p>
        </p:txBody>
      </p:sp>
      <p:sp>
        <p:nvSpPr>
          <p:cNvPr id="65" name="Text 53"/>
          <p:cNvSpPr/>
          <p:nvPr/>
        </p:nvSpPr>
        <p:spPr>
          <a:xfrm>
            <a:off x="24993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Covered</a:t>
            </a:r>
            <a:endParaRPr lang="en-US" sz="1000"/>
          </a:p>
        </p:txBody>
      </p:sp>
      <p:sp>
        <p:nvSpPr>
          <p:cNvPr id="66" name="Shape 54"/>
          <p:cNvSpPr/>
          <p:nvPr/>
        </p:nvSpPr>
        <p:spPr>
          <a:xfrm>
            <a:off x="48768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7" name="Text 55"/>
          <p:cNvSpPr/>
          <p:nvPr/>
        </p:nvSpPr>
        <p:spPr>
          <a:xfrm>
            <a:off x="49377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320+</a:t>
            </a:r>
            <a:endParaRPr lang="en-US" sz="1600"/>
          </a:p>
        </p:txBody>
      </p:sp>
      <p:sp>
        <p:nvSpPr>
          <p:cNvPr id="68" name="Text 56"/>
          <p:cNvSpPr/>
          <p:nvPr/>
        </p:nvSpPr>
        <p:spPr>
          <a:xfrm>
            <a:off x="49377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Clients</a:t>
            </a:r>
            <a:endParaRPr lang="en-US" sz="1000"/>
          </a:p>
        </p:txBody>
      </p:sp>
      <p:sp>
        <p:nvSpPr>
          <p:cNvPr id="69" name="Shape 57"/>
          <p:cNvSpPr/>
          <p:nvPr/>
        </p:nvSpPr>
        <p:spPr>
          <a:xfrm>
            <a:off x="73152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0" name="Text 58"/>
          <p:cNvSpPr/>
          <p:nvPr/>
        </p:nvSpPr>
        <p:spPr>
          <a:xfrm>
            <a:off x="73761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600"/>
          </a:p>
        </p:txBody>
      </p:sp>
      <p:sp>
        <p:nvSpPr>
          <p:cNvPr id="71" name="Text 59"/>
          <p:cNvSpPr/>
          <p:nvPr/>
        </p:nvSpPr>
        <p:spPr>
          <a:xfrm>
            <a:off x="73761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(6-Mo Pilot)</a:t>
            </a:r>
            <a:endParaRPr lang="en-US" sz="1000"/>
          </a:p>
        </p:txBody>
      </p:sp>
      <p:sp>
        <p:nvSpPr>
          <p:cNvPr id="72" name="Shape 60"/>
          <p:cNvSpPr/>
          <p:nvPr/>
        </p:nvSpPr>
        <p:spPr>
          <a:xfrm>
            <a:off x="9753600" y="6400800"/>
            <a:ext cx="0" cy="402336"/>
          </a:xfrm>
          <a:prstGeom prst="line">
            <a:avLst/>
          </a:prstGeom>
          <a:noFill/>
          <a:ln w="6350">
            <a:solidFill>
              <a:srgbClr val="FFFF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3" name="Text 61"/>
          <p:cNvSpPr/>
          <p:nvPr/>
        </p:nvSpPr>
        <p:spPr>
          <a:xfrm>
            <a:off x="9814560" y="6364224"/>
            <a:ext cx="23164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1/hr</a:t>
            </a:r>
            <a:endParaRPr lang="en-US" sz="1600"/>
          </a:p>
        </p:txBody>
      </p:sp>
      <p:sp>
        <p:nvSpPr>
          <p:cNvPr id="74" name="Text 62"/>
          <p:cNvSpPr/>
          <p:nvPr/>
        </p:nvSpPr>
        <p:spPr>
          <a:xfrm>
            <a:off x="9814560" y="6620256"/>
            <a:ext cx="231648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>
                <a:solidFill>
                  <a:srgbClr val="D0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Onboarded</a:t>
            </a:r>
            <a:endParaRPr lang="en-US" sz="1000"/>
          </a:p>
        </p:txBody>
      </p:sp>
      <p:pic>
        <p:nvPicPr>
          <p:cNvPr id="75" name="Image 0" descr="preencoded.png">
            <a:extLst>
              <a:ext uri="{FF2B5EF4-FFF2-40B4-BE49-F238E27FC236}">
                <a16:creationId xmlns:a16="http://schemas.microsoft.com/office/drawing/2014/main" id="{FAFFF64B-DC76-00D4-DDA1-C184592478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76" name="Image 1" descr="preencoded.png">
            <a:extLst>
              <a:ext uri="{FF2B5EF4-FFF2-40B4-BE49-F238E27FC236}">
                <a16:creationId xmlns:a16="http://schemas.microsoft.com/office/drawing/2014/main" id="{F02F145E-4174-DB5B-12FC-B946B2BEFC2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77" name="Shape 2">
            <a:extLst>
              <a:ext uri="{FF2B5EF4-FFF2-40B4-BE49-F238E27FC236}">
                <a16:creationId xmlns:a16="http://schemas.microsoft.com/office/drawing/2014/main" id="{C1C503D5-DE04-F879-CDE8-91C26E3173B8}"/>
              </a:ext>
            </a:extLst>
          </p:cNvPr>
          <p:cNvSpPr/>
          <p:nvPr/>
        </p:nvSpPr>
        <p:spPr>
          <a:xfrm>
            <a:off x="-1380897" y="-1256081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8" name="Image 4" descr="preencoded.png">
            <a:extLst>
              <a:ext uri="{FF2B5EF4-FFF2-40B4-BE49-F238E27FC236}">
                <a16:creationId xmlns:a16="http://schemas.microsoft.com/office/drawing/2014/main" id="{3FB3B60C-A4FF-CE53-9131-90677B3706C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400" r="-400"/>
          <a:stretch/>
        </p:blipFill>
        <p:spPr>
          <a:xfrm>
            <a:off x="609905" y="457200"/>
            <a:ext cx="57607" cy="457200"/>
          </a:xfrm>
          <a:prstGeom prst="rect">
            <a:avLst/>
          </a:prstGeom>
        </p:spPr>
      </p:pic>
      <p:sp>
        <p:nvSpPr>
          <p:cNvPr id="79" name="Text 11">
            <a:extLst>
              <a:ext uri="{FF2B5EF4-FFF2-40B4-BE49-F238E27FC236}">
                <a16:creationId xmlns:a16="http://schemas.microsoft.com/office/drawing/2014/main" id="{65F3FFE0-7460-C049-BC83-7BC32616A4C0}"/>
              </a:ext>
            </a:extLst>
          </p:cNvPr>
          <p:cNvSpPr txBox="1"/>
          <p:nvPr/>
        </p:nvSpPr>
        <p:spPr>
          <a:xfrm>
            <a:off x="819302" y="228600"/>
            <a:ext cx="97155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>
                <a:solidFill>
                  <a:srgbClr val="1A1A2E"/>
                </a:solidFill>
                <a:latin typeface="Oswald" panose="00000500000000000000" pitchFamily="2" charset="0"/>
                <a:ea typeface="Calibri" pitchFamily="34" charset="-122"/>
                <a:cs typeface="Calibri" pitchFamily="34" charset="-120"/>
              </a:rPr>
              <a:t>Workforce &amp; Talent Solutions</a:t>
            </a:r>
            <a:endParaRPr lang="en-US" sz="3200">
              <a:latin typeface="Oswald" panose="00000500000000000000" pitchFamily="2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830CE162-47E2-FB62-8B99-806E90C454F1}"/>
              </a:ext>
            </a:extLst>
          </p:cNvPr>
          <p:cNvSpPr txBox="1"/>
          <p:nvPr/>
        </p:nvSpPr>
        <p:spPr>
          <a:xfrm>
            <a:off x="819302" y="758952"/>
            <a:ext cx="96396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AI-DRIVEN WORKFORCE UNIT - NOT JUST STAFFING WITH A WRAPPER.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/>
          <p:cNvPicPr>
            <a:picLocks noChangeAspect="1"/>
          </p:cNvPicPr>
          <p:nvPr/>
        </p:nvPicPr>
        <p:blipFill>
          <a:blip r:embed="rId3">
            <a:alphaModFix amt="6000"/>
          </a:blip>
          <a:srcRect/>
          <a:stretch/>
        </p:blipFill>
        <p:spPr>
          <a:xfrm>
            <a:off x="-761695" y="476219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/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476902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476902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343900" y="1714500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343900" y="1714500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476902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476902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343900" y="4190695"/>
            <a:ext cx="3258007" cy="2143354"/>
          </a:xfrm>
          <a:prstGeom prst="roundRect">
            <a:avLst>
              <a:gd name="adj" fmla="val 35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343900" y="4190695"/>
            <a:ext cx="3258007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760780" y="577088"/>
            <a:ext cx="8438998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- HOW WE DELIVER</a:t>
            </a:r>
          </a:p>
          <a:p>
            <a:pPr marL="0" indent="0" algn="l">
              <a:buNone/>
            </a:pPr>
            <a:endParaRPr lang="en-US" sz="2500"/>
          </a:p>
        </p:txBody>
      </p:sp>
      <p:sp>
        <p:nvSpPr>
          <p:cNvPr id="24" name="Text 18"/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Sourcing To Sprint Governance - A Structured Operating Model, Not A Staffing Drop.</a:t>
            </a:r>
          </a:p>
        </p:txBody>
      </p:sp>
      <p:sp>
        <p:nvSpPr>
          <p:cNvPr id="25" name="Text 19"/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000"/>
          </a:p>
        </p:txBody>
      </p:sp>
      <p:sp>
        <p:nvSpPr>
          <p:cNvPr id="26" name="Text 20"/>
          <p:cNvSpPr txBox="1"/>
          <p:nvPr/>
        </p:nvSpPr>
        <p:spPr>
          <a:xfrm>
            <a:off x="838505" y="1981505"/>
            <a:ext cx="34015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400"/>
          </a:p>
        </p:txBody>
      </p:sp>
      <p:sp>
        <p:nvSpPr>
          <p:cNvPr id="27" name="Text 21"/>
          <p:cNvSpPr txBox="1"/>
          <p:nvPr/>
        </p:nvSpPr>
        <p:spPr>
          <a:xfrm>
            <a:off x="1237183" y="1995424"/>
            <a:ext cx="14173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Scope &amp; Source</a:t>
            </a:r>
            <a:endParaRPr lang="en-US" sz="1600"/>
          </a:p>
        </p:txBody>
      </p:sp>
      <p:sp>
        <p:nvSpPr>
          <p:cNvPr id="28" name="Text 22"/>
          <p:cNvSpPr txBox="1"/>
          <p:nvPr/>
        </p:nvSpPr>
        <p:spPr>
          <a:xfrm>
            <a:off x="838505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Role definition + domain-specific talent pool activation. TalentAI matching + voice-agent pre-screen. Shortlist in 72 hrs.</a:t>
            </a:r>
            <a:endParaRPr lang="en-US" sz="1000"/>
          </a:p>
        </p:txBody>
      </p:sp>
      <p:pic>
        <p:nvPicPr>
          <p:cNvPr id="29" name="Image 4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2648102"/>
            <a:ext cx="181051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705502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400"/>
          </a:p>
        </p:txBody>
      </p:sp>
      <p:sp>
        <p:nvSpPr>
          <p:cNvPr id="31" name="Text 24"/>
          <p:cNvSpPr txBox="1"/>
          <p:nvPr/>
        </p:nvSpPr>
        <p:spPr>
          <a:xfrm>
            <a:off x="5144414" y="1995424"/>
            <a:ext cx="8394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AI-Assess</a:t>
            </a:r>
            <a:endParaRPr lang="en-US" sz="1600"/>
          </a:p>
        </p:txBody>
      </p:sp>
      <p:sp>
        <p:nvSpPr>
          <p:cNvPr id="32" name="Text 25"/>
          <p:cNvSpPr txBox="1"/>
          <p:nvPr/>
        </p:nvSpPr>
        <p:spPr>
          <a:xfrm>
            <a:off x="4705502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coding + domain scenario assessment via TalentSphere. Technical bar validated by J2W before client interview.</a:t>
            </a:r>
            <a:endParaRPr lang="en-US" sz="1000"/>
          </a:p>
        </p:txBody>
      </p:sp>
      <p:pic>
        <p:nvPicPr>
          <p:cNvPr id="33" name="Image 5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2648102"/>
            <a:ext cx="181051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572500" y="1981505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400"/>
          </a:p>
        </p:txBody>
      </p:sp>
      <p:sp>
        <p:nvSpPr>
          <p:cNvPr id="35" name="Text 27"/>
          <p:cNvSpPr txBox="1"/>
          <p:nvPr/>
        </p:nvSpPr>
        <p:spPr>
          <a:xfrm>
            <a:off x="9011412" y="1995424"/>
            <a:ext cx="155356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Deploy in 10 Days</a:t>
            </a:r>
            <a:endParaRPr lang="en-US" sz="1600"/>
          </a:p>
        </p:txBody>
      </p:sp>
      <p:sp>
        <p:nvSpPr>
          <p:cNvPr id="36" name="Text 28"/>
          <p:cNvSpPr txBox="1"/>
          <p:nvPr/>
        </p:nvSpPr>
        <p:spPr>
          <a:xfrm>
            <a:off x="8572500" y="242864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Offer → onboarding → Day-1 productivity. J2W payroll, compliance, IT provisioning - fully managed.</a:t>
            </a:r>
            <a:endParaRPr lang="en-US" sz="1000"/>
          </a:p>
        </p:txBody>
      </p:sp>
      <p:pic>
        <p:nvPicPr>
          <p:cNvPr id="37" name="Image 6" descr="gen-dedup-ff9a716cc6b1850cd75acb20aeb0dc17.png"/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9872777" y="3895344"/>
            <a:ext cx="181051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838505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400"/>
          </a:p>
        </p:txBody>
      </p:sp>
      <p:sp>
        <p:nvSpPr>
          <p:cNvPr id="39" name="Text 30"/>
          <p:cNvSpPr txBox="1"/>
          <p:nvPr/>
        </p:nvSpPr>
        <p:spPr>
          <a:xfrm>
            <a:off x="1280160" y="4472534"/>
            <a:ext cx="15645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 &amp; Upskill</a:t>
            </a:r>
            <a:endParaRPr lang="en-US" sz="1600"/>
          </a:p>
        </p:txBody>
      </p:sp>
      <p:sp>
        <p:nvSpPr>
          <p:cNvPr id="40" name="Text 31"/>
          <p:cNvSpPr txBox="1"/>
          <p:nvPr/>
        </p:nvSpPr>
        <p:spPr>
          <a:xfrm>
            <a:off x="838505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Sprint accountability via Pod Manager. Monthly AI upskilling in J2W Labs. Weekly performance telemetry.</a:t>
            </a:r>
            <a:endParaRPr lang="en-US" sz="1000"/>
          </a:p>
        </p:txBody>
      </p:sp>
      <p:pic>
        <p:nvPicPr>
          <p:cNvPr id="41" name="Image 7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4062679" y="5124298"/>
            <a:ext cx="181051" cy="2286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4705502" y="4457700"/>
            <a:ext cx="38587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lang="en-US" sz="2400"/>
          </a:p>
        </p:txBody>
      </p:sp>
      <p:sp>
        <p:nvSpPr>
          <p:cNvPr id="43" name="Text 33"/>
          <p:cNvSpPr txBox="1"/>
          <p:nvPr/>
        </p:nvSpPr>
        <p:spPr>
          <a:xfrm>
            <a:off x="5142586" y="4472534"/>
            <a:ext cx="201808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POFU - 90-Day Funnel</a:t>
            </a:r>
            <a:endParaRPr lang="en-US" sz="1600"/>
          </a:p>
        </p:txBody>
      </p:sp>
      <p:sp>
        <p:nvSpPr>
          <p:cNvPr id="44" name="Text 34"/>
          <p:cNvSpPr txBox="1"/>
          <p:nvPr/>
        </p:nvSpPr>
        <p:spPr>
          <a:xfrm>
            <a:off x="4705502" y="4905756"/>
            <a:ext cx="27816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Follow-Up: milestone touchpoints, counter-offer inoculation, manager connects. Dropout rate → single digits.</a:t>
            </a:r>
            <a:endParaRPr lang="en-US" sz="1000"/>
          </a:p>
        </p:txBody>
      </p:sp>
      <p:pic>
        <p:nvPicPr>
          <p:cNvPr id="45" name="Image 8" descr="gen-dedup-68afaceb726e7c14c8688760b973252d.png"/>
          <p:cNvPicPr>
            <a:picLocks noChangeAspect="1"/>
          </p:cNvPicPr>
          <p:nvPr/>
        </p:nvPicPr>
        <p:blipFill>
          <a:blip r:embed="rId7"/>
          <a:srcRect l="-13360" r="-13360"/>
          <a:stretch/>
        </p:blipFill>
        <p:spPr>
          <a:xfrm>
            <a:off x="7929677" y="5124298"/>
            <a:ext cx="181051" cy="22860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572500" y="4457700"/>
            <a:ext cx="3913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lang="en-US" sz="2400"/>
          </a:p>
        </p:txBody>
      </p:sp>
      <p:sp>
        <p:nvSpPr>
          <p:cNvPr id="47" name="Text 36"/>
          <p:cNvSpPr txBox="1"/>
          <p:nvPr/>
        </p:nvSpPr>
        <p:spPr>
          <a:xfrm>
            <a:off x="9018727" y="4472534"/>
            <a:ext cx="159837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Scale or Convert</a:t>
            </a:r>
            <a:endParaRPr lang="en-US" sz="1600"/>
          </a:p>
        </p:txBody>
      </p:sp>
      <p:sp>
        <p:nvSpPr>
          <p:cNvPr id="48" name="Text 37"/>
          <p:cNvSpPr txBox="1"/>
          <p:nvPr/>
        </p:nvSpPr>
        <p:spPr>
          <a:xfrm>
            <a:off x="8572500" y="4905756"/>
            <a:ext cx="2781605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C2H → permanent conversion on Day 91. Scale the pod up or down. Quarterly Business Review with ROI data.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4ab2116e971fbb9400d0e99205bd0390.png"/>
          <p:cNvPicPr>
            <a:picLocks noChangeAspect="1"/>
          </p:cNvPicPr>
          <p:nvPr/>
        </p:nvPicPr>
        <p:blipFill>
          <a:blip r:embed="rId5">
            <a:alphaModFix amt="8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20007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20007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29525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09905" y="29525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905402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905402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09905" y="4858207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09905" y="4858207"/>
            <a:ext cx="57607" cy="857707"/>
          </a:xfrm>
          <a:prstGeom prst="roundRect">
            <a:avLst>
              <a:gd name="adj" fmla="val 6666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5810098"/>
            <a:ext cx="11030407" cy="857707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5810098"/>
            <a:ext cx="57607" cy="857707"/>
          </a:xfrm>
          <a:prstGeom prst="roundRect">
            <a:avLst>
              <a:gd name="adj" fmla="val 6666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3" descr="gen-dedup-f40e183725d285eac3acdddf8d8f823b.png"/>
          <p:cNvPicPr>
            <a:picLocks noChangeAspect="1"/>
          </p:cNvPicPr>
          <p:nvPr/>
        </p:nvPicPr>
        <p:blipFill>
          <a:blip r:embed="rId6"/>
          <a:srcRect l="-369" r="-369"/>
          <a:stretch/>
        </p:blipFill>
        <p:spPr>
          <a:xfrm>
            <a:off x="609905" y="448970"/>
            <a:ext cx="57607" cy="4956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19302" y="381305"/>
            <a:ext cx="449976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STRUCTURAL DIFFERENTIATION</a:t>
            </a:r>
            <a:endParaRPr lang="en-US" sz="2800"/>
          </a:p>
        </p:txBody>
      </p:sp>
      <p:sp>
        <p:nvSpPr>
          <p:cNvPr id="22" name="Text 16"/>
          <p:cNvSpPr txBox="1"/>
          <p:nvPr/>
        </p:nvSpPr>
        <p:spPr>
          <a:xfrm>
            <a:off x="819302" y="821131"/>
            <a:ext cx="361005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Workforce Solutions</a:t>
            </a:r>
          </a:p>
        </p:txBody>
      </p:sp>
      <p:sp>
        <p:nvSpPr>
          <p:cNvPr id="23" name="Text 17"/>
          <p:cNvSpPr txBox="1"/>
          <p:nvPr/>
        </p:nvSpPr>
        <p:spPr>
          <a:xfrm>
            <a:off x="609905" y="1380744"/>
            <a:ext cx="109728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Five structural differences that change the engagement from transactional to transformational.</a:t>
            </a:r>
            <a:endParaRPr lang="en-US" sz="1500"/>
          </a:p>
        </p:txBody>
      </p:sp>
      <p:sp>
        <p:nvSpPr>
          <p:cNvPr id="24" name="Text 18"/>
          <p:cNvSpPr txBox="1"/>
          <p:nvPr/>
        </p:nvSpPr>
        <p:spPr>
          <a:xfrm>
            <a:off x="1037844" y="2148840"/>
            <a:ext cx="190469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No Subcontracting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800100" y="2491740"/>
            <a:ext cx="112782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300+ in-house recruiters. 7,200+ professionals on J2W payroll. Zero subcontracting layer diluting quality, speed, or accountability.</a:t>
            </a:r>
            <a:endParaRPr lang="en-US" sz="1300"/>
          </a:p>
        </p:txBody>
      </p:sp>
      <p:pic>
        <p:nvPicPr>
          <p:cNvPr id="26" name="Image 4" descr="gen-dedup-928b248bf773cd1fca0141b5a5721735.png"/>
          <p:cNvPicPr>
            <a:picLocks noChangeAspect="1"/>
          </p:cNvPicPr>
          <p:nvPr/>
        </p:nvPicPr>
        <p:blipFill>
          <a:blip r:embed="rId7"/>
          <a:srcRect t="-6603" b="-6603"/>
          <a:stretch/>
        </p:blipFill>
        <p:spPr>
          <a:xfrm>
            <a:off x="800100" y="2211934"/>
            <a:ext cx="161849" cy="20939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37844" y="2991917"/>
            <a:ext cx="24149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GCC-Native Intelligence</a:t>
            </a:r>
            <a:endParaRPr lang="en-US" sz="1400"/>
          </a:p>
        </p:txBody>
      </p:sp>
      <p:sp>
        <p:nvSpPr>
          <p:cNvPr id="28" name="Text 21"/>
          <p:cNvSpPr txBox="1"/>
          <p:nvPr/>
        </p:nvSpPr>
        <p:spPr>
          <a:xfrm>
            <a:off x="800100" y="33348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Forged through 300+ active GCC deployments. We see the next problem before it shows up because we have already solved it somewhere else.</a:t>
            </a:r>
            <a:endParaRPr lang="en-US" sz="1300"/>
          </a:p>
        </p:txBody>
      </p:sp>
      <p:pic>
        <p:nvPicPr>
          <p:cNvPr id="29" name="Image 5" descr="gen-dedup-0c58ce2f3d3941653435c84e3cc91c65.png"/>
          <p:cNvPicPr>
            <a:picLocks noChangeAspect="1"/>
          </p:cNvPicPr>
          <p:nvPr/>
        </p:nvPicPr>
        <p:blipFill>
          <a:blip r:embed="rId8"/>
          <a:srcRect t="-14689" b="-14689"/>
          <a:stretch/>
        </p:blipFill>
        <p:spPr>
          <a:xfrm>
            <a:off x="800100" y="3055925"/>
            <a:ext cx="161849" cy="20939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037844" y="3944722"/>
            <a:ext cx="1633118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at Every Step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800100" y="4287622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TalentAI + TalentSphere: AI-ranked pools, voice-agent screening, skill graphs, predictive placement. Every tool passed our 40% improvement gate internally.</a:t>
            </a:r>
            <a:endParaRPr lang="en-US" sz="1300"/>
          </a:p>
        </p:txBody>
      </p:sp>
      <p:pic>
        <p:nvPicPr>
          <p:cNvPr id="32" name="Image 6" descr="gen-dedup-da669e206ac26c7983b1f8612c832ea6.png"/>
          <p:cNvPicPr>
            <a:picLocks noChangeAspect="1"/>
          </p:cNvPicPr>
          <p:nvPr/>
        </p:nvPicPr>
        <p:blipFill>
          <a:blip r:embed="rId9"/>
          <a:srcRect t="-30861" b="-30861"/>
          <a:stretch/>
        </p:blipFill>
        <p:spPr>
          <a:xfrm>
            <a:off x="800100" y="4008730"/>
            <a:ext cx="161849" cy="20939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37844" y="4897526"/>
            <a:ext cx="246065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Governance Built In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800100" y="5240426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Pod Manager - not billed to client - owns sprint governance, performance tracking, and L&amp;D coordination. This is a pod, not a staffing drop.</a:t>
            </a:r>
            <a:endParaRPr lang="en-US" sz="1300"/>
          </a:p>
        </p:txBody>
      </p:sp>
      <p:pic>
        <p:nvPicPr>
          <p:cNvPr id="35" name="Image 7" descr="gen-dedup-5d8964838ee5ef7b6e1692b5297312cd.png"/>
          <p:cNvPicPr>
            <a:picLocks noChangeAspect="1"/>
          </p:cNvPicPr>
          <p:nvPr/>
        </p:nvPicPr>
        <p:blipFill>
          <a:blip r:embed="rId10"/>
          <a:srcRect t="-30861" b="-30861"/>
          <a:stretch/>
        </p:blipFill>
        <p:spPr>
          <a:xfrm>
            <a:off x="800100" y="4960620"/>
            <a:ext cx="161849" cy="209398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037844" y="5849417"/>
            <a:ext cx="20519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Validated Playbooks</a:t>
            </a:r>
            <a:endParaRPr lang="en-US" sz="1400"/>
          </a:p>
        </p:txBody>
      </p:sp>
      <p:sp>
        <p:nvSpPr>
          <p:cNvPr id="37" name="Text 27"/>
          <p:cNvSpPr txBox="1"/>
          <p:nvPr/>
        </p:nvSpPr>
        <p:spPr>
          <a:xfrm>
            <a:off x="800100" y="6192317"/>
            <a:ext cx="105924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tool, process, and accelerator has passed our internal 40% improvement gate. Clients benefit from completed learning - not our experimentation.</a:t>
            </a:r>
            <a:endParaRPr lang="en-US" sz="1300"/>
          </a:p>
        </p:txBody>
      </p:sp>
      <p:pic>
        <p:nvPicPr>
          <p:cNvPr id="38" name="Image 8" descr="gen-dedup-001fb79ce367df5df5f79805d3e188cd.png"/>
          <p:cNvPicPr>
            <a:picLocks noChangeAspect="1"/>
          </p:cNvPicPr>
          <p:nvPr/>
        </p:nvPicPr>
        <p:blipFill>
          <a:blip r:embed="rId11"/>
          <a:srcRect t="-22775" b="-22775"/>
          <a:stretch/>
        </p:blipFill>
        <p:spPr>
          <a:xfrm>
            <a:off x="800100" y="5913425"/>
            <a:ext cx="161849" cy="2093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96E55-B4F8-57F1-D146-B4C78675B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gen-dedup-37abb9d8cc081a24feb608c288538026.png">
            <a:extLst>
              <a:ext uri="{FF2B5EF4-FFF2-40B4-BE49-F238E27FC236}">
                <a16:creationId xmlns:a16="http://schemas.microsoft.com/office/drawing/2014/main" id="{71330D75-D19F-98CB-DFD6-89655DE4C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5" name="Image 1" descr="gen-dedup-c2c9136402f20c216bf7cbcc052ad1a0.png">
            <a:extLst>
              <a:ext uri="{FF2B5EF4-FFF2-40B4-BE49-F238E27FC236}">
                <a16:creationId xmlns:a16="http://schemas.microsoft.com/office/drawing/2014/main" id="{4467D959-2368-EB24-595D-171CC1B504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184EBFC8-10E0-38E8-2A1B-471CD2171E3B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E36FF24-EF82-BF6E-F421-8A9645DDA417}"/>
              </a:ext>
            </a:extLst>
          </p:cNvPr>
          <p:cNvSpPr/>
          <p:nvPr/>
        </p:nvSpPr>
        <p:spPr>
          <a:xfrm>
            <a:off x="-476402" y="4476902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BDD638F0-1657-224A-7F7D-AF6756114563}"/>
              </a:ext>
            </a:extLst>
          </p:cNvPr>
          <p:cNvSpPr/>
          <p:nvPr/>
        </p:nvSpPr>
        <p:spPr>
          <a:xfrm>
            <a:off x="6099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042F7A-0CD5-7D23-E552-52F1274EC5FE}"/>
              </a:ext>
            </a:extLst>
          </p:cNvPr>
          <p:cNvSpPr/>
          <p:nvPr/>
        </p:nvSpPr>
        <p:spPr>
          <a:xfrm>
            <a:off x="6099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CEB462E-7AF1-D56B-469F-75B14B3A70E4}"/>
              </a:ext>
            </a:extLst>
          </p:cNvPr>
          <p:cNvSpPr/>
          <p:nvPr/>
        </p:nvSpPr>
        <p:spPr>
          <a:xfrm>
            <a:off x="43818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2992DEEC-A49E-A20E-175E-A95136E84033}"/>
              </a:ext>
            </a:extLst>
          </p:cNvPr>
          <p:cNvSpPr/>
          <p:nvPr/>
        </p:nvSpPr>
        <p:spPr>
          <a:xfrm>
            <a:off x="43818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14879945-2ED5-E94F-55B4-C01FDCC3B015}"/>
              </a:ext>
            </a:extLst>
          </p:cNvPr>
          <p:cNvSpPr/>
          <p:nvPr/>
        </p:nvSpPr>
        <p:spPr>
          <a:xfrm>
            <a:off x="8153705" y="1714500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9B311B25-F892-71FA-CCA7-08D7E2BE4BA9}"/>
              </a:ext>
            </a:extLst>
          </p:cNvPr>
          <p:cNvSpPr/>
          <p:nvPr/>
        </p:nvSpPr>
        <p:spPr>
          <a:xfrm>
            <a:off x="8153705" y="1714500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2FA2CEBE-DD26-0A26-DB7F-B41B97B75C84}"/>
              </a:ext>
            </a:extLst>
          </p:cNvPr>
          <p:cNvSpPr/>
          <p:nvPr/>
        </p:nvSpPr>
        <p:spPr>
          <a:xfrm>
            <a:off x="6099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B73B4A1D-D8A7-8665-6E79-DA08E8148C8A}"/>
              </a:ext>
            </a:extLst>
          </p:cNvPr>
          <p:cNvSpPr/>
          <p:nvPr/>
        </p:nvSpPr>
        <p:spPr>
          <a:xfrm>
            <a:off x="6099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7E1619A-A8B3-11EF-357F-D07768F07213}"/>
              </a:ext>
            </a:extLst>
          </p:cNvPr>
          <p:cNvSpPr/>
          <p:nvPr/>
        </p:nvSpPr>
        <p:spPr>
          <a:xfrm>
            <a:off x="43818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A3CDDA62-D7CA-9480-68AA-9B5E163731DB}"/>
              </a:ext>
            </a:extLst>
          </p:cNvPr>
          <p:cNvSpPr/>
          <p:nvPr/>
        </p:nvSpPr>
        <p:spPr>
          <a:xfrm>
            <a:off x="43818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2FCBBAC9-285A-6FE7-B237-C7F6034B907E}"/>
              </a:ext>
            </a:extLst>
          </p:cNvPr>
          <p:cNvSpPr/>
          <p:nvPr/>
        </p:nvSpPr>
        <p:spPr>
          <a:xfrm>
            <a:off x="8153705" y="4238244"/>
            <a:ext cx="3448202" cy="2286000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3EC8321E-5F0A-BC79-9C80-2E70374B3F81}"/>
              </a:ext>
            </a:extLst>
          </p:cNvPr>
          <p:cNvSpPr/>
          <p:nvPr/>
        </p:nvSpPr>
        <p:spPr>
          <a:xfrm>
            <a:off x="8153705" y="4238244"/>
            <a:ext cx="3448202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gen-dedup-90395934058aa4b7c1bff00d7e70c0a4.png">
            <a:extLst>
              <a:ext uri="{FF2B5EF4-FFF2-40B4-BE49-F238E27FC236}">
                <a16:creationId xmlns:a16="http://schemas.microsoft.com/office/drawing/2014/main" id="{8C8BA362-8E89-BBFE-8E8E-F4E802E4B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416" r="-416"/>
          <a:stretch/>
        </p:blipFill>
        <p:spPr>
          <a:xfrm>
            <a:off x="609905" y="533095"/>
            <a:ext cx="57607" cy="714146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8EB383D4-5792-E9E4-2123-C6277DE06A69}"/>
              </a:ext>
            </a:extLst>
          </p:cNvPr>
          <p:cNvSpPr txBox="1"/>
          <p:nvPr/>
        </p:nvSpPr>
        <p:spPr>
          <a:xfrm>
            <a:off x="819302" y="495605"/>
            <a:ext cx="8572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WORKFORCE SOLUTIONS – WHAT WE DEPLOY</a:t>
            </a:r>
            <a:endParaRPr lang="en-US" sz="25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9DD1BE38-7275-9217-C711-87525DAC2EF2}"/>
              </a:ext>
            </a:extLst>
          </p:cNvPr>
          <p:cNvSpPr txBox="1"/>
          <p:nvPr/>
        </p:nvSpPr>
        <p:spPr>
          <a:xfrm>
            <a:off x="819302" y="908914"/>
            <a:ext cx="85725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Not Just Tech Stacks — Domain-certified Engineers Who Understand Product Liability, Safety Standards, And Engineering Constraints.</a:t>
            </a:r>
            <a:endParaRPr lang="en-US" sz="13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E38B7257-75FC-2044-C776-C636205E2D15}"/>
              </a:ext>
            </a:extLst>
          </p:cNvPr>
          <p:cNvSpPr txBox="1"/>
          <p:nvPr/>
        </p:nvSpPr>
        <p:spPr>
          <a:xfrm>
            <a:off x="10287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BFSI</a:t>
            </a:r>
            <a:endParaRPr lang="en-US" sz="150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A6D0032F-CF94-9C5F-2D5E-28FB3ED09235}"/>
              </a:ext>
            </a:extLst>
          </p:cNvPr>
          <p:cNvSpPr txBox="1"/>
          <p:nvPr/>
        </p:nvSpPr>
        <p:spPr>
          <a:xfrm>
            <a:off x="9902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Python / Angular</a:t>
            </a:r>
            <a:endParaRPr lang="en-US" sz="100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8E6B47E1-1FC5-6C74-EA6D-0E67B8B328A2}"/>
              </a:ext>
            </a:extLst>
          </p:cNvPr>
          <p:cNvSpPr txBox="1"/>
          <p:nvPr/>
        </p:nvSpPr>
        <p:spPr>
          <a:xfrm>
            <a:off x="9902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Banking APIs · SWIFT · Finacle</a:t>
            </a:r>
            <a:endParaRPr lang="en-US" sz="100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3F71330-6FAC-938F-94DA-C428AA5E4F51}"/>
              </a:ext>
            </a:extLst>
          </p:cNvPr>
          <p:cNvSpPr txBox="1"/>
          <p:nvPr/>
        </p:nvSpPr>
        <p:spPr>
          <a:xfrm>
            <a:off x="9902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Salesforce FSC · SAP FICO</a:t>
            </a:r>
            <a:endParaRPr lang="en-US" sz="1000"/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44547BD8-4321-655C-34E5-836B73A0C6D1}"/>
              </a:ext>
            </a:extLst>
          </p:cNvPr>
          <p:cNvSpPr txBox="1"/>
          <p:nvPr/>
        </p:nvSpPr>
        <p:spPr>
          <a:xfrm>
            <a:off x="9902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PCI-DSS compliance</a:t>
            </a:r>
            <a:endParaRPr lang="en-US" sz="1000"/>
          </a:p>
        </p:txBody>
      </p:sp>
      <p:pic>
        <p:nvPicPr>
          <p:cNvPr id="30" name="Image 3" descr="gen-dedup-2aa19c82c71fd240e470708f6dffe216.png">
            <a:extLst>
              <a:ext uri="{FF2B5EF4-FFF2-40B4-BE49-F238E27FC236}">
                <a16:creationId xmlns:a16="http://schemas.microsoft.com/office/drawing/2014/main" id="{A5EB5580-0C25-D9AC-42C7-6E24AB045CC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2275" b="-12275"/>
          <a:stretch/>
        </p:blipFill>
        <p:spPr>
          <a:xfrm>
            <a:off x="800100" y="1966874"/>
            <a:ext cx="152705" cy="190195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1CC8784E-3D4F-B065-B604-950E131714BF}"/>
              </a:ext>
            </a:extLst>
          </p:cNvPr>
          <p:cNvSpPr txBox="1"/>
          <p:nvPr/>
        </p:nvSpPr>
        <p:spPr>
          <a:xfrm>
            <a:off x="4800600" y="1904695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Healthcare &amp; MedTech</a:t>
            </a:r>
            <a:endParaRPr lang="en-US" sz="150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73CACED0-50CE-96FF-A54A-D2E18DC15C00}"/>
              </a:ext>
            </a:extLst>
          </p:cNvPr>
          <p:cNvSpPr txBox="1"/>
          <p:nvPr/>
        </p:nvSpPr>
        <p:spPr>
          <a:xfrm>
            <a:off x="47621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HL7 / FHIR / DICOM</a:t>
            </a:r>
            <a:endParaRPr lang="en-US" sz="100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30981E60-DEE5-1205-826E-FAFBC89F2D66}"/>
              </a:ext>
            </a:extLst>
          </p:cNvPr>
          <p:cNvSpPr txBox="1"/>
          <p:nvPr/>
        </p:nvSpPr>
        <p:spPr>
          <a:xfrm>
            <a:off x="47621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AWS HealthLake · Epic</a:t>
            </a:r>
            <a:endParaRPr lang="en-US" sz="100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58F7F289-B8D1-C1D0-00A3-7C6A65CEF319}"/>
              </a:ext>
            </a:extLst>
          </p:cNvPr>
          <p:cNvSpPr txBox="1"/>
          <p:nvPr/>
        </p:nvSpPr>
        <p:spPr>
          <a:xfrm>
            <a:off x="47621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MLOps for medical imaging</a:t>
            </a:r>
            <a:endParaRPr lang="en-US" sz="1000"/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C9E3CF73-C89D-4E5C-54D1-9FF96F72EC94}"/>
              </a:ext>
            </a:extLst>
          </p:cNvPr>
          <p:cNvSpPr txBox="1"/>
          <p:nvPr/>
        </p:nvSpPr>
        <p:spPr>
          <a:xfrm>
            <a:off x="47621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HIPAA / FDA 21 CFR</a:t>
            </a:r>
            <a:endParaRPr lang="en-US" sz="1000"/>
          </a:p>
        </p:txBody>
      </p:sp>
      <p:pic>
        <p:nvPicPr>
          <p:cNvPr id="36" name="Image 4" descr="gen-dedup-b8cc7496714d41e2a07586de42649107.png">
            <a:extLst>
              <a:ext uri="{FF2B5EF4-FFF2-40B4-BE49-F238E27FC236}">
                <a16:creationId xmlns:a16="http://schemas.microsoft.com/office/drawing/2014/main" id="{0C21CFD1-D935-B571-88B5-C804FA531FF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2275" b="-12275"/>
          <a:stretch/>
        </p:blipFill>
        <p:spPr>
          <a:xfrm>
            <a:off x="4572000" y="1966874"/>
            <a:ext cx="152705" cy="190195"/>
          </a:xfrm>
          <a:prstGeom prst="rect">
            <a:avLst/>
          </a:prstGeom>
        </p:spPr>
      </p:pic>
      <p:sp>
        <p:nvSpPr>
          <p:cNvPr id="37" name="Text 30">
            <a:extLst>
              <a:ext uri="{FF2B5EF4-FFF2-40B4-BE49-F238E27FC236}">
                <a16:creationId xmlns:a16="http://schemas.microsoft.com/office/drawing/2014/main" id="{67CDB4A6-0DD4-4891-C898-20433C8A21F9}"/>
              </a:ext>
            </a:extLst>
          </p:cNvPr>
          <p:cNvSpPr txBox="1"/>
          <p:nvPr/>
        </p:nvSpPr>
        <p:spPr>
          <a:xfrm>
            <a:off x="8572500" y="1904695"/>
            <a:ext cx="318577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Automotive &amp; Manufacturing</a:t>
            </a:r>
            <a:endParaRPr lang="en-US" sz="15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6E901505-82C4-0BEE-CD5F-7D88BB8142A1}"/>
              </a:ext>
            </a:extLst>
          </p:cNvPr>
          <p:cNvSpPr txBox="1"/>
          <p:nvPr/>
        </p:nvSpPr>
        <p:spPr>
          <a:xfrm>
            <a:off x="8534095" y="230520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C/C++ · AUTOSAR</a:t>
            </a:r>
            <a:endParaRPr lang="en-US" sz="10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7A51DDC1-4E34-6408-DB1A-5AC11DE169EE}"/>
              </a:ext>
            </a:extLst>
          </p:cNvPr>
          <p:cNvSpPr txBox="1"/>
          <p:nvPr/>
        </p:nvSpPr>
        <p:spPr>
          <a:xfrm>
            <a:off x="8534095" y="254477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 / LIN · SCADA / MES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E18DFEA5-B799-AD91-6217-283FD483A501}"/>
              </a:ext>
            </a:extLst>
          </p:cNvPr>
          <p:cNvSpPr txBox="1"/>
          <p:nvPr/>
        </p:nvSpPr>
        <p:spPr>
          <a:xfrm>
            <a:off x="8534095" y="2785262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Siemens Teamcenter PLM</a:t>
            </a:r>
            <a:endParaRPr lang="en-US" sz="10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0EC24B56-647F-479D-3C61-E3B981514F68}"/>
              </a:ext>
            </a:extLst>
          </p:cNvPr>
          <p:cNvSpPr txBox="1"/>
          <p:nvPr/>
        </p:nvSpPr>
        <p:spPr>
          <a:xfrm>
            <a:off x="8534095" y="3024835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ISO 26262 / MISRA</a:t>
            </a:r>
            <a:endParaRPr lang="en-US" sz="1000"/>
          </a:p>
        </p:txBody>
      </p:sp>
      <p:pic>
        <p:nvPicPr>
          <p:cNvPr id="42" name="Image 5" descr="gen-dedup-55f61aa4f889b7525dd1b3da0df44f38.png">
            <a:extLst>
              <a:ext uri="{FF2B5EF4-FFF2-40B4-BE49-F238E27FC236}">
                <a16:creationId xmlns:a16="http://schemas.microsoft.com/office/drawing/2014/main" id="{1B099F92-EB26-716F-2CFE-7A3F106F302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2275" b="-12275"/>
          <a:stretch/>
        </p:blipFill>
        <p:spPr>
          <a:xfrm>
            <a:off x="8343900" y="1966874"/>
            <a:ext cx="152705" cy="190195"/>
          </a:xfrm>
          <a:prstGeom prst="rect">
            <a:avLst/>
          </a:prstGeom>
        </p:spPr>
      </p:pic>
      <p:sp>
        <p:nvSpPr>
          <p:cNvPr id="43" name="Text 35">
            <a:extLst>
              <a:ext uri="{FF2B5EF4-FFF2-40B4-BE49-F238E27FC236}">
                <a16:creationId xmlns:a16="http://schemas.microsoft.com/office/drawing/2014/main" id="{FCCA6029-85C4-B874-33DD-4B3159C1D5E3}"/>
              </a:ext>
            </a:extLst>
          </p:cNvPr>
          <p:cNvSpPr txBox="1"/>
          <p:nvPr/>
        </p:nvSpPr>
        <p:spPr>
          <a:xfrm>
            <a:off x="10287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Technology / SaaS</a:t>
            </a:r>
            <a:endParaRPr lang="en-US" sz="1500"/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381D4F6B-F0BC-D281-692B-E94956421435}"/>
              </a:ext>
            </a:extLst>
          </p:cNvPr>
          <p:cNvSpPr txBox="1"/>
          <p:nvPr/>
        </p:nvSpPr>
        <p:spPr>
          <a:xfrm>
            <a:off x="9902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Full-stack (React/Node/Java)</a:t>
            </a:r>
            <a:endParaRPr lang="en-US" sz="1000"/>
          </a:p>
        </p:txBody>
      </p:sp>
      <p:sp>
        <p:nvSpPr>
          <p:cNvPr id="45" name="Text 37">
            <a:extLst>
              <a:ext uri="{FF2B5EF4-FFF2-40B4-BE49-F238E27FC236}">
                <a16:creationId xmlns:a16="http://schemas.microsoft.com/office/drawing/2014/main" id="{E8C4BC21-8642-863C-4221-5E2315340885}"/>
              </a:ext>
            </a:extLst>
          </p:cNvPr>
          <p:cNvSpPr txBox="1"/>
          <p:nvPr/>
        </p:nvSpPr>
        <p:spPr>
          <a:xfrm>
            <a:off x="9902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Cloud-native AWS / Azure / GCP</a:t>
            </a:r>
            <a:endParaRPr lang="en-US" sz="1000"/>
          </a:p>
        </p:txBody>
      </p:sp>
      <p:sp>
        <p:nvSpPr>
          <p:cNvPr id="46" name="Text 38">
            <a:extLst>
              <a:ext uri="{FF2B5EF4-FFF2-40B4-BE49-F238E27FC236}">
                <a16:creationId xmlns:a16="http://schemas.microsoft.com/office/drawing/2014/main" id="{756A643C-98EF-53B5-4A6D-BB60453CA0D2}"/>
              </a:ext>
            </a:extLst>
          </p:cNvPr>
          <p:cNvSpPr txBox="1"/>
          <p:nvPr/>
        </p:nvSpPr>
        <p:spPr>
          <a:xfrm>
            <a:off x="9902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DevSecOps / CI-CD / K8s</a:t>
            </a:r>
            <a:endParaRPr lang="en-US" sz="1000"/>
          </a:p>
        </p:txBody>
      </p:sp>
      <p:sp>
        <p:nvSpPr>
          <p:cNvPr id="47" name="Text 39">
            <a:extLst>
              <a:ext uri="{FF2B5EF4-FFF2-40B4-BE49-F238E27FC236}">
                <a16:creationId xmlns:a16="http://schemas.microsoft.com/office/drawing/2014/main" id="{6DD64503-782C-709F-52F8-F70C73CF36E6}"/>
              </a:ext>
            </a:extLst>
          </p:cNvPr>
          <p:cNvSpPr txBox="1"/>
          <p:nvPr/>
        </p:nvSpPr>
        <p:spPr>
          <a:xfrm>
            <a:off x="9902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AI/ML &amp; GenAI pipelines</a:t>
            </a:r>
            <a:endParaRPr lang="en-US" sz="1000"/>
          </a:p>
        </p:txBody>
      </p:sp>
      <p:pic>
        <p:nvPicPr>
          <p:cNvPr id="48" name="Image 6" descr="gen-dedup-68421e7391c70a5aa3cb0ca89cfbd556.png">
            <a:extLst>
              <a:ext uri="{FF2B5EF4-FFF2-40B4-BE49-F238E27FC236}">
                <a16:creationId xmlns:a16="http://schemas.microsoft.com/office/drawing/2014/main" id="{81A42AC8-690C-E751-CA51-D879F2E5CCF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27844" b="-27844"/>
          <a:stretch/>
        </p:blipFill>
        <p:spPr>
          <a:xfrm>
            <a:off x="800100" y="4490618"/>
            <a:ext cx="152705" cy="190195"/>
          </a:xfrm>
          <a:prstGeom prst="rect">
            <a:avLst/>
          </a:prstGeom>
        </p:spPr>
      </p:pic>
      <p:sp>
        <p:nvSpPr>
          <p:cNvPr id="49" name="Text 40">
            <a:extLst>
              <a:ext uri="{FF2B5EF4-FFF2-40B4-BE49-F238E27FC236}">
                <a16:creationId xmlns:a16="http://schemas.microsoft.com/office/drawing/2014/main" id="{2B958B8C-5597-489C-25CE-073392EE3467}"/>
              </a:ext>
            </a:extLst>
          </p:cNvPr>
          <p:cNvSpPr txBox="1"/>
          <p:nvPr/>
        </p:nvSpPr>
        <p:spPr>
          <a:xfrm>
            <a:off x="48006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Pharma &amp; Life Sciences</a:t>
            </a:r>
            <a:endParaRPr lang="en-US" sz="1500"/>
          </a:p>
        </p:txBody>
      </p:sp>
      <p:sp>
        <p:nvSpPr>
          <p:cNvPr id="50" name="Text 41">
            <a:extLst>
              <a:ext uri="{FF2B5EF4-FFF2-40B4-BE49-F238E27FC236}">
                <a16:creationId xmlns:a16="http://schemas.microsoft.com/office/drawing/2014/main" id="{BDCEDFBD-D1A8-D5F7-3E35-5D4B11D64033}"/>
              </a:ext>
            </a:extLst>
          </p:cNvPr>
          <p:cNvSpPr txBox="1"/>
          <p:nvPr/>
        </p:nvSpPr>
        <p:spPr>
          <a:xfrm>
            <a:off x="47621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SAS · R · Python · Power BI</a:t>
            </a:r>
            <a:endParaRPr lang="en-US" sz="1000"/>
          </a:p>
        </p:txBody>
      </p:sp>
      <p:sp>
        <p:nvSpPr>
          <p:cNvPr id="51" name="Text 42">
            <a:extLst>
              <a:ext uri="{FF2B5EF4-FFF2-40B4-BE49-F238E27FC236}">
                <a16:creationId xmlns:a16="http://schemas.microsoft.com/office/drawing/2014/main" id="{EA5A88B7-EF04-11F3-A0EE-D103D1D420F5}"/>
              </a:ext>
            </a:extLst>
          </p:cNvPr>
          <p:cNvSpPr txBox="1"/>
          <p:nvPr/>
        </p:nvSpPr>
        <p:spPr>
          <a:xfrm>
            <a:off x="47621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Clinical data analytics</a:t>
            </a:r>
            <a:endParaRPr lang="en-US" sz="1000"/>
          </a:p>
        </p:txBody>
      </p:sp>
      <p:sp>
        <p:nvSpPr>
          <p:cNvPr id="52" name="Text 43">
            <a:extLst>
              <a:ext uri="{FF2B5EF4-FFF2-40B4-BE49-F238E27FC236}">
                <a16:creationId xmlns:a16="http://schemas.microsoft.com/office/drawing/2014/main" id="{1AD8570B-E932-0196-BDF2-6BFD1C80910C}"/>
              </a:ext>
            </a:extLst>
          </p:cNvPr>
          <p:cNvSpPr txBox="1"/>
          <p:nvPr/>
        </p:nvSpPr>
        <p:spPr>
          <a:xfrm>
            <a:off x="47621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BPMN 2.0 process mapping</a:t>
            </a:r>
            <a:endParaRPr lang="en-US" sz="1000"/>
          </a:p>
        </p:txBody>
      </p:sp>
      <p:sp>
        <p:nvSpPr>
          <p:cNvPr id="53" name="Text 44">
            <a:extLst>
              <a:ext uri="{FF2B5EF4-FFF2-40B4-BE49-F238E27FC236}">
                <a16:creationId xmlns:a16="http://schemas.microsoft.com/office/drawing/2014/main" id="{560FDBFC-6AC1-986D-CE58-AD28A1502613}"/>
              </a:ext>
            </a:extLst>
          </p:cNvPr>
          <p:cNvSpPr txBox="1"/>
          <p:nvPr/>
        </p:nvSpPr>
        <p:spPr>
          <a:xfrm>
            <a:off x="47621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GxP / FDA / EMA compliance</a:t>
            </a:r>
            <a:endParaRPr lang="en-US" sz="1000"/>
          </a:p>
        </p:txBody>
      </p:sp>
      <p:pic>
        <p:nvPicPr>
          <p:cNvPr id="54" name="Image 7" descr="gen-dedup-231d573942f103a3d6cb03e0f4d8280b.png">
            <a:extLst>
              <a:ext uri="{FF2B5EF4-FFF2-40B4-BE49-F238E27FC236}">
                <a16:creationId xmlns:a16="http://schemas.microsoft.com/office/drawing/2014/main" id="{E9AD1FA7-CF7D-FDFD-B8AC-5FCD7108B93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4491" b="-4491"/>
          <a:stretch/>
        </p:blipFill>
        <p:spPr>
          <a:xfrm>
            <a:off x="4572000" y="4490618"/>
            <a:ext cx="152705" cy="190195"/>
          </a:xfrm>
          <a:prstGeom prst="rect">
            <a:avLst/>
          </a:prstGeom>
        </p:spPr>
      </p:pic>
      <p:sp>
        <p:nvSpPr>
          <p:cNvPr id="55" name="Text 45">
            <a:extLst>
              <a:ext uri="{FF2B5EF4-FFF2-40B4-BE49-F238E27FC236}">
                <a16:creationId xmlns:a16="http://schemas.microsoft.com/office/drawing/2014/main" id="{7A8BCFB2-98AA-BA48-A144-28DC52ED84A6}"/>
              </a:ext>
            </a:extLst>
          </p:cNvPr>
          <p:cNvSpPr txBox="1"/>
          <p:nvPr/>
        </p:nvSpPr>
        <p:spPr>
          <a:xfrm>
            <a:off x="8572500" y="4429354"/>
            <a:ext cx="2820010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Retail &amp; E-commerce</a:t>
            </a:r>
            <a:endParaRPr lang="en-US" sz="1500"/>
          </a:p>
        </p:txBody>
      </p:sp>
      <p:sp>
        <p:nvSpPr>
          <p:cNvPr id="56" name="Text 46">
            <a:extLst>
              <a:ext uri="{FF2B5EF4-FFF2-40B4-BE49-F238E27FC236}">
                <a16:creationId xmlns:a16="http://schemas.microsoft.com/office/drawing/2014/main" id="{8B26216A-CE47-96C3-CA4B-AB9882895ECC}"/>
              </a:ext>
            </a:extLst>
          </p:cNvPr>
          <p:cNvSpPr txBox="1"/>
          <p:nvPr/>
        </p:nvSpPr>
        <p:spPr>
          <a:xfrm>
            <a:off x="8534095" y="482894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SAP Hybris · Salesforce</a:t>
            </a:r>
            <a:endParaRPr lang="en-US" sz="1000"/>
          </a:p>
        </p:txBody>
      </p:sp>
      <p:sp>
        <p:nvSpPr>
          <p:cNvPr id="57" name="Text 47">
            <a:extLst>
              <a:ext uri="{FF2B5EF4-FFF2-40B4-BE49-F238E27FC236}">
                <a16:creationId xmlns:a16="http://schemas.microsoft.com/office/drawing/2014/main" id="{64971ECB-FEED-CFCD-D22C-A2AF913100B2}"/>
              </a:ext>
            </a:extLst>
          </p:cNvPr>
          <p:cNvSpPr txBox="1"/>
          <p:nvPr/>
        </p:nvSpPr>
        <p:spPr>
          <a:xfrm>
            <a:off x="8534095" y="506943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Java / MySQL / Splunk</a:t>
            </a:r>
            <a:endParaRPr lang="en-US" sz="1000"/>
          </a:p>
        </p:txBody>
      </p:sp>
      <p:sp>
        <p:nvSpPr>
          <p:cNvPr id="58" name="Text 48">
            <a:extLst>
              <a:ext uri="{FF2B5EF4-FFF2-40B4-BE49-F238E27FC236}">
                <a16:creationId xmlns:a16="http://schemas.microsoft.com/office/drawing/2014/main" id="{14A831B4-C16E-143D-CD77-6B05FD232745}"/>
              </a:ext>
            </a:extLst>
          </p:cNvPr>
          <p:cNvSpPr txBox="1"/>
          <p:nvPr/>
        </p:nvSpPr>
        <p:spPr>
          <a:xfrm>
            <a:off x="8534095" y="5309006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 support (L1–L3)</a:t>
            </a:r>
            <a:endParaRPr lang="en-US" sz="1000"/>
          </a:p>
        </p:txBody>
      </p:sp>
      <p:sp>
        <p:nvSpPr>
          <p:cNvPr id="59" name="Text 49">
            <a:extLst>
              <a:ext uri="{FF2B5EF4-FFF2-40B4-BE49-F238E27FC236}">
                <a16:creationId xmlns:a16="http://schemas.microsoft.com/office/drawing/2014/main" id="{E39D26A1-4BD2-8861-D3A0-400CFE2EEACD}"/>
              </a:ext>
            </a:extLst>
          </p:cNvPr>
          <p:cNvSpPr txBox="1"/>
          <p:nvPr/>
        </p:nvSpPr>
        <p:spPr>
          <a:xfrm>
            <a:off x="8534095" y="5549494"/>
            <a:ext cx="285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Peak-season scale ops</a:t>
            </a:r>
            <a:endParaRPr lang="en-US" sz="1000"/>
          </a:p>
        </p:txBody>
      </p:sp>
      <p:pic>
        <p:nvPicPr>
          <p:cNvPr id="60" name="Image 8" descr="gen-dedup-e1ac69483d10434729f72c129465ac9b.png">
            <a:extLst>
              <a:ext uri="{FF2B5EF4-FFF2-40B4-BE49-F238E27FC236}">
                <a16:creationId xmlns:a16="http://schemas.microsoft.com/office/drawing/2014/main" id="{73D0861B-D964-9178-7170-1B171AB5C8A3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0060" b="-20060"/>
          <a:stretch/>
        </p:blipFill>
        <p:spPr>
          <a:xfrm>
            <a:off x="8343900" y="4490618"/>
            <a:ext cx="152705" cy="19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120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0496-E8FA-94F6-5A41-AF435DB10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A1A74A0-A7C4-B906-AA44-2D96F74F448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F5C2B6C-C64D-7B38-691E-478EA3AD03F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93B86C2-018F-68D0-BACE-33455FA6A33C}"/>
              </a:ext>
            </a:extLst>
          </p:cNvPr>
          <p:cNvSpPr/>
          <p:nvPr/>
        </p:nvSpPr>
        <p:spPr>
          <a:xfrm>
            <a:off x="8858707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debd4e3596836e8640379be3057665ef.png">
            <a:extLst>
              <a:ext uri="{FF2B5EF4-FFF2-40B4-BE49-F238E27FC236}">
                <a16:creationId xmlns:a16="http://schemas.microsoft.com/office/drawing/2014/main" id="{C1647C25-D6F9-E15F-9C33-982F20A47B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761695" y="3238805"/>
            <a:ext cx="2857500" cy="2857500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ECB5D70D-324B-40EB-440A-C8DCF474B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A11CAB48-904C-3F73-EF50-02B2E641811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b359e3fa59182a7dfb1cf9bffd3421a2.png">
            <a:extLst>
              <a:ext uri="{FF2B5EF4-FFF2-40B4-BE49-F238E27FC236}">
                <a16:creationId xmlns:a16="http://schemas.microsoft.com/office/drawing/2014/main" id="{1D1FD2F1-F193-35BD-0FED-3A60508065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75" r="-375"/>
          <a:stretch/>
        </p:blipFill>
        <p:spPr>
          <a:xfrm>
            <a:off x="609905" y="457200"/>
            <a:ext cx="57607" cy="609905"/>
          </a:xfrm>
          <a:prstGeom prst="rect">
            <a:avLst/>
          </a:prstGeom>
        </p:spPr>
      </p:pic>
      <p:sp>
        <p:nvSpPr>
          <p:cNvPr id="9" name="Shape 3">
            <a:extLst>
              <a:ext uri="{FF2B5EF4-FFF2-40B4-BE49-F238E27FC236}">
                <a16:creationId xmlns:a16="http://schemas.microsoft.com/office/drawing/2014/main" id="{6D59B055-6705-6691-7F37-1D6EDDD728BD}"/>
              </a:ext>
            </a:extLst>
          </p:cNvPr>
          <p:cNvSpPr/>
          <p:nvPr/>
        </p:nvSpPr>
        <p:spPr>
          <a:xfrm>
            <a:off x="609905" y="1524305"/>
            <a:ext cx="2704795" cy="514807"/>
          </a:xfrm>
          <a:prstGeom prst="roundRect">
            <a:avLst>
              <a:gd name="adj" fmla="val 14742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6C20B249-757D-552B-C99C-ED95D32236A4}"/>
              </a:ext>
            </a:extLst>
          </p:cNvPr>
          <p:cNvSpPr/>
          <p:nvPr/>
        </p:nvSpPr>
        <p:spPr>
          <a:xfrm>
            <a:off x="60990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2C98150B-0B1D-40B1-8321-BABFBB47FE82}"/>
              </a:ext>
            </a:extLst>
          </p:cNvPr>
          <p:cNvSpPr/>
          <p:nvPr/>
        </p:nvSpPr>
        <p:spPr>
          <a:xfrm>
            <a:off x="60990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9A67B0C9-9FCE-C9FB-F571-D1FC48CEE047}"/>
              </a:ext>
            </a:extLst>
          </p:cNvPr>
          <p:cNvSpPr/>
          <p:nvPr/>
        </p:nvSpPr>
        <p:spPr>
          <a:xfrm>
            <a:off x="6248095" y="2286000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223A277F-D2B2-0BCC-890D-DFF2AAC6AA20}"/>
              </a:ext>
            </a:extLst>
          </p:cNvPr>
          <p:cNvSpPr/>
          <p:nvPr/>
        </p:nvSpPr>
        <p:spPr>
          <a:xfrm>
            <a:off x="6248095" y="2286000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65BE715C-CABA-9751-9DC5-7D8052D7DE8D}"/>
              </a:ext>
            </a:extLst>
          </p:cNvPr>
          <p:cNvSpPr/>
          <p:nvPr/>
        </p:nvSpPr>
        <p:spPr>
          <a:xfrm>
            <a:off x="60990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F140F71-7243-385E-BF34-10764518F348}"/>
              </a:ext>
            </a:extLst>
          </p:cNvPr>
          <p:cNvSpPr/>
          <p:nvPr/>
        </p:nvSpPr>
        <p:spPr>
          <a:xfrm>
            <a:off x="60990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>
            <a:extLst>
              <a:ext uri="{FF2B5EF4-FFF2-40B4-BE49-F238E27FC236}">
                <a16:creationId xmlns:a16="http://schemas.microsoft.com/office/drawing/2014/main" id="{85F4A12B-379C-4B00-B1A4-8D51CC174B61}"/>
              </a:ext>
            </a:extLst>
          </p:cNvPr>
          <p:cNvSpPr/>
          <p:nvPr/>
        </p:nvSpPr>
        <p:spPr>
          <a:xfrm>
            <a:off x="6248095" y="3952951"/>
            <a:ext cx="5352898" cy="1524305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1">
            <a:extLst>
              <a:ext uri="{FF2B5EF4-FFF2-40B4-BE49-F238E27FC236}">
                <a16:creationId xmlns:a16="http://schemas.microsoft.com/office/drawing/2014/main" id="{A611CCBC-DC83-9A32-4DBF-C0D053E8D715}"/>
              </a:ext>
            </a:extLst>
          </p:cNvPr>
          <p:cNvSpPr/>
          <p:nvPr/>
        </p:nvSpPr>
        <p:spPr>
          <a:xfrm>
            <a:off x="6248095" y="3952951"/>
            <a:ext cx="5352898" cy="38405"/>
          </a:xfrm>
          <a:prstGeom prst="roundRect">
            <a:avLst>
              <a:gd name="adj" fmla="val 197618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FC84BC8D-EB38-4B9D-CAF0-414123B7DD8B}"/>
              </a:ext>
            </a:extLst>
          </p:cNvPr>
          <p:cNvSpPr/>
          <p:nvPr/>
        </p:nvSpPr>
        <p:spPr>
          <a:xfrm>
            <a:off x="609905" y="5715000"/>
            <a:ext cx="10972800" cy="857707"/>
          </a:xfrm>
          <a:prstGeom prst="roundRect">
            <a:avLst>
              <a:gd name="adj" fmla="val 8849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96242951-3034-1954-84A0-A10FBA070A7C}"/>
              </a:ext>
            </a:extLst>
          </p:cNvPr>
          <p:cNvSpPr txBox="1"/>
          <p:nvPr/>
        </p:nvSpPr>
        <p:spPr>
          <a:xfrm>
            <a:off x="819302" y="381305"/>
            <a:ext cx="8097012" cy="409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CLIENT CONTEXT</a:t>
            </a:r>
            <a:endParaRPr lang="en-US" sz="25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8AD78B51-01AE-A81F-718B-4AB2BD51EE3B}"/>
              </a:ext>
            </a:extLst>
          </p:cNvPr>
          <p:cNvSpPr txBox="1"/>
          <p:nvPr/>
        </p:nvSpPr>
        <p:spPr>
          <a:xfrm>
            <a:off x="819302" y="822960"/>
            <a:ext cx="80970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[CLIENT NAME] — Talent Challenges Identified</a:t>
            </a:r>
            <a:endParaRPr lang="en-US" sz="1200"/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7955B252-AF10-E49D-C035-04FD30D4885A}"/>
              </a:ext>
            </a:extLst>
          </p:cNvPr>
          <p:cNvSpPr txBox="1"/>
          <p:nvPr/>
        </p:nvSpPr>
        <p:spPr>
          <a:xfrm>
            <a:off x="819302" y="1079906"/>
            <a:ext cx="8097012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Identified during discovery session — [DATE]</a:t>
            </a:r>
            <a:endParaRPr lang="en-US" sz="1000"/>
          </a:p>
        </p:txBody>
      </p:sp>
      <p:pic>
        <p:nvPicPr>
          <p:cNvPr id="24" name="Image 4" descr="gen-dedup-d103097e730368316f78abf5dde7d335.png">
            <a:extLst>
              <a:ext uri="{FF2B5EF4-FFF2-40B4-BE49-F238E27FC236}">
                <a16:creationId xmlns:a16="http://schemas.microsoft.com/office/drawing/2014/main" id="{D7085508-4B8C-E229-EF1F-9ABE92708D4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6800" b="-16800"/>
          <a:stretch/>
        </p:blipFill>
        <p:spPr>
          <a:xfrm>
            <a:off x="819302" y="1695298"/>
            <a:ext cx="114300" cy="152705"/>
          </a:xfrm>
          <a:prstGeom prst="rect">
            <a:avLst/>
          </a:prstGeom>
        </p:spPr>
      </p:pic>
      <p:sp>
        <p:nvSpPr>
          <p:cNvPr id="25" name="Text 18">
            <a:extLst>
              <a:ext uri="{FF2B5EF4-FFF2-40B4-BE49-F238E27FC236}">
                <a16:creationId xmlns:a16="http://schemas.microsoft.com/office/drawing/2014/main" id="{CF51D9BC-6155-2E49-4BCB-FD65ECDE3723}"/>
              </a:ext>
            </a:extLst>
          </p:cNvPr>
          <p:cNvSpPr txBox="1"/>
          <p:nvPr/>
        </p:nvSpPr>
        <p:spPr>
          <a:xfrm>
            <a:off x="1067105" y="1666951"/>
            <a:ext cx="2211019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Offer Drop Rate</a:t>
            </a:r>
            <a:endParaRPr lang="en-US" sz="160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E03686CD-E1F9-CFBD-C015-D780C9A5D4CF}"/>
              </a:ext>
            </a:extLst>
          </p:cNvPr>
          <p:cNvSpPr txBox="1"/>
          <p:nvPr/>
        </p:nvSpPr>
        <p:spPr>
          <a:xfrm>
            <a:off x="838505" y="2476195"/>
            <a:ext cx="306324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10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469E30B-EB0F-18DA-4B6D-BF75C7688EA2}"/>
              </a:ext>
            </a:extLst>
          </p:cNvPr>
          <p:cNvSpPr txBox="1"/>
          <p:nvPr/>
        </p:nvSpPr>
        <p:spPr>
          <a:xfrm>
            <a:off x="1201522" y="2495398"/>
            <a:ext cx="18480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1 Title]</a:t>
            </a:r>
            <a:endParaRPr lang="en-US" sz="150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436730F5-092B-0761-E7C4-730CDC80E5F1}"/>
              </a:ext>
            </a:extLst>
          </p:cNvPr>
          <p:cNvSpPr txBox="1"/>
          <p:nvPr/>
        </p:nvSpPr>
        <p:spPr>
          <a:xfrm>
            <a:off x="83850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90-Day Notice Period — Extended windows enable offer shopping, joining-day dropouts and wasted recruitment effort.</a:t>
            </a:r>
            <a:endParaRPr lang="en-US" sz="1100"/>
          </a:p>
        </p:txBody>
      </p:sp>
      <p:sp>
        <p:nvSpPr>
          <p:cNvPr id="29" name="Text 22">
            <a:extLst>
              <a:ext uri="{FF2B5EF4-FFF2-40B4-BE49-F238E27FC236}">
                <a16:creationId xmlns:a16="http://schemas.microsoft.com/office/drawing/2014/main" id="{95865E34-69BD-20A8-8151-F62AC71D4F58}"/>
              </a:ext>
            </a:extLst>
          </p:cNvPr>
          <p:cNvSpPr txBox="1"/>
          <p:nvPr/>
        </p:nvSpPr>
        <p:spPr>
          <a:xfrm>
            <a:off x="6476695" y="2476195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100"/>
          </a:p>
        </p:txBody>
      </p:sp>
      <p:sp>
        <p:nvSpPr>
          <p:cNvPr id="30" name="Text 23">
            <a:extLst>
              <a:ext uri="{FF2B5EF4-FFF2-40B4-BE49-F238E27FC236}">
                <a16:creationId xmlns:a16="http://schemas.microsoft.com/office/drawing/2014/main" id="{6882D94C-6A81-5E13-FBA6-AB4B1849AF98}"/>
              </a:ext>
            </a:extLst>
          </p:cNvPr>
          <p:cNvSpPr txBox="1"/>
          <p:nvPr/>
        </p:nvSpPr>
        <p:spPr>
          <a:xfrm>
            <a:off x="6875374" y="2495398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2 Title]</a:t>
            </a:r>
            <a:endParaRPr lang="en-US" sz="1500"/>
          </a:p>
        </p:txBody>
      </p:sp>
      <p:sp>
        <p:nvSpPr>
          <p:cNvPr id="31" name="Text 24">
            <a:extLst>
              <a:ext uri="{FF2B5EF4-FFF2-40B4-BE49-F238E27FC236}">
                <a16:creationId xmlns:a16="http://schemas.microsoft.com/office/drawing/2014/main" id="{C5441E10-CADF-4B10-2761-499C5F9A01BE}"/>
              </a:ext>
            </a:extLst>
          </p:cNvPr>
          <p:cNvSpPr txBox="1"/>
          <p:nvPr/>
        </p:nvSpPr>
        <p:spPr>
          <a:xfrm>
            <a:off x="6476695" y="2895905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5-Day WFO Resistance — Post-COVID candidates resist full office return; qualified talent pool shrinks for mandatory in-office roles.</a:t>
            </a:r>
            <a:endParaRPr lang="en-US" sz="1100"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E6D8B6CA-D62D-02E0-163A-AC7F845F4194}"/>
              </a:ext>
            </a:extLst>
          </p:cNvPr>
          <p:cNvSpPr txBox="1"/>
          <p:nvPr/>
        </p:nvSpPr>
        <p:spPr>
          <a:xfrm>
            <a:off x="838505" y="4143146"/>
            <a:ext cx="340157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10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C2C216A8-96F5-A7FC-C9A7-44ACB776AC2D}"/>
              </a:ext>
            </a:extLst>
          </p:cNvPr>
          <p:cNvSpPr txBox="1"/>
          <p:nvPr/>
        </p:nvSpPr>
        <p:spPr>
          <a:xfrm>
            <a:off x="1236269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3 Title]</a:t>
            </a:r>
            <a:endParaRPr lang="en-US" sz="1500"/>
          </a:p>
        </p:txBody>
      </p:sp>
      <p:sp>
        <p:nvSpPr>
          <p:cNvPr id="34" name="Text 27">
            <a:extLst>
              <a:ext uri="{FF2B5EF4-FFF2-40B4-BE49-F238E27FC236}">
                <a16:creationId xmlns:a16="http://schemas.microsoft.com/office/drawing/2014/main" id="{86900820-89F2-D72F-29D7-39F328CD9491}"/>
              </a:ext>
            </a:extLst>
          </p:cNvPr>
          <p:cNvSpPr txBox="1"/>
          <p:nvPr/>
        </p:nvSpPr>
        <p:spPr>
          <a:xfrm>
            <a:off x="83850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Niche Skill Pool — 50% of hires are CAs (≤5 yrs exp). Intense competition from Big 4s and other captives for limited talent.</a:t>
            </a:r>
            <a:endParaRPr lang="en-US" sz="1100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4EE1B485-5C1B-9046-DA53-C78DFF78B888}"/>
              </a:ext>
            </a:extLst>
          </p:cNvPr>
          <p:cNvSpPr txBox="1"/>
          <p:nvPr/>
        </p:nvSpPr>
        <p:spPr>
          <a:xfrm>
            <a:off x="6476695" y="4143146"/>
            <a:ext cx="3429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100"/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D7C0D921-403B-9A10-F944-DB9BD69AD35A}"/>
              </a:ext>
            </a:extLst>
          </p:cNvPr>
          <p:cNvSpPr txBox="1"/>
          <p:nvPr/>
        </p:nvSpPr>
        <p:spPr>
          <a:xfrm>
            <a:off x="6878117" y="4162349"/>
            <a:ext cx="188183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[Challenge 4 Title]</a:t>
            </a:r>
            <a:endParaRPr lang="en-US" sz="150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503548BD-771C-288E-A61A-80EE65897C33}"/>
              </a:ext>
            </a:extLst>
          </p:cNvPr>
          <p:cNvSpPr txBox="1"/>
          <p:nvPr/>
        </p:nvSpPr>
        <p:spPr>
          <a:xfrm>
            <a:off x="6476695" y="4562856"/>
            <a:ext cx="48774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Sporadic Demand — 8–10 roles max per BU creates unpredictable, low-volume patterns. Hard to maintain dedicated pipeline.</a:t>
            </a:r>
            <a:endParaRPr lang="en-US" sz="1100"/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BFD1044B-AF7C-29D6-9D49-92FC4101D780}"/>
              </a:ext>
            </a:extLst>
          </p:cNvPr>
          <p:cNvSpPr txBox="1"/>
          <p:nvPr/>
        </p:nvSpPr>
        <p:spPr>
          <a:xfrm>
            <a:off x="972007" y="5857646"/>
            <a:ext cx="2553005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 people strong</a:t>
            </a:r>
            <a:endParaRPr lang="en-US" sz="1600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F752953E-9C91-76AF-8997-77F80270438D}"/>
              </a:ext>
            </a:extLst>
          </p:cNvPr>
          <p:cNvSpPr txBox="1"/>
          <p:nvPr/>
        </p:nvSpPr>
        <p:spPr>
          <a:xfrm>
            <a:off x="972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Org size</a:t>
            </a:r>
            <a:endParaRPr lang="en-US" sz="1000"/>
          </a:p>
        </p:txBody>
      </p:sp>
      <p:sp>
        <p:nvSpPr>
          <p:cNvPr id="40" name="Text 33">
            <a:extLst>
              <a:ext uri="{FF2B5EF4-FFF2-40B4-BE49-F238E27FC236}">
                <a16:creationId xmlns:a16="http://schemas.microsoft.com/office/drawing/2014/main" id="{52F0515C-5D54-0F4E-E602-55BD8F123E74}"/>
              </a:ext>
            </a:extLst>
          </p:cNvPr>
          <p:cNvSpPr txBox="1"/>
          <p:nvPr/>
        </p:nvSpPr>
        <p:spPr>
          <a:xfrm>
            <a:off x="3638398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[X–X] hires in [YEAR]</a:t>
            </a:r>
            <a:endParaRPr lang="en-US" sz="1600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BD6E3207-CDF6-22BC-ED87-28A6D5EB1362}"/>
              </a:ext>
            </a:extLst>
          </p:cNvPr>
          <p:cNvSpPr txBox="1"/>
          <p:nvPr/>
        </p:nvSpPr>
        <p:spPr>
          <a:xfrm>
            <a:off x="3638398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Hiring target</a:t>
            </a:r>
            <a:endParaRPr lang="en-US" sz="1000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90C151A5-5398-CFF6-21BB-9B74144D15B7}"/>
              </a:ext>
            </a:extLst>
          </p:cNvPr>
          <p:cNvSpPr txBox="1"/>
          <p:nvPr/>
        </p:nvSpPr>
        <p:spPr>
          <a:xfrm>
            <a:off x="6305702" y="5857646"/>
            <a:ext cx="283098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[X]% junior workforce</a:t>
            </a:r>
            <a:endParaRPr lang="en-US" sz="1600"/>
          </a:p>
        </p:txBody>
      </p:sp>
      <p:sp>
        <p:nvSpPr>
          <p:cNvPr id="43" name="Text 36">
            <a:extLst>
              <a:ext uri="{FF2B5EF4-FFF2-40B4-BE49-F238E27FC236}">
                <a16:creationId xmlns:a16="http://schemas.microsoft.com/office/drawing/2014/main" id="{01F18857-4EE3-FC89-750D-B7FF1BFF20C0}"/>
              </a:ext>
            </a:extLst>
          </p:cNvPr>
          <p:cNvSpPr txBox="1"/>
          <p:nvPr/>
        </p:nvSpPr>
        <p:spPr>
          <a:xfrm>
            <a:off x="6305702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Level mix</a:t>
            </a:r>
            <a:endParaRPr lang="en-US" sz="1000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201C60D3-E6FD-737E-B1AD-3D48A0052972}"/>
              </a:ext>
            </a:extLst>
          </p:cNvPr>
          <p:cNvSpPr txBox="1"/>
          <p:nvPr/>
        </p:nvSpPr>
        <p:spPr>
          <a:xfrm>
            <a:off x="8973007" y="5857646"/>
            <a:ext cx="3038551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[City] extension of [HQ]</a:t>
            </a:r>
            <a:endParaRPr lang="en-US" sz="1600"/>
          </a:p>
        </p:txBody>
      </p:sp>
      <p:sp>
        <p:nvSpPr>
          <p:cNvPr id="45" name="Text 38">
            <a:extLst>
              <a:ext uri="{FF2B5EF4-FFF2-40B4-BE49-F238E27FC236}">
                <a16:creationId xmlns:a16="http://schemas.microsoft.com/office/drawing/2014/main" id="{C01B6739-62F3-695B-659F-779A403E97F6}"/>
              </a:ext>
            </a:extLst>
          </p:cNvPr>
          <p:cNvSpPr txBox="1"/>
          <p:nvPr/>
        </p:nvSpPr>
        <p:spPr>
          <a:xfrm>
            <a:off x="8973007" y="6147511"/>
            <a:ext cx="255300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E5E7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mandate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881971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5142-E6EF-BA67-50C5-BEE670AE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09BB6A9-53AC-0120-3CEF-05E25FFC92F1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82EBB72-A6BF-5CEB-4F2C-B1542E62424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715D4C-1AF4-E120-D15D-EA2316DEC404}"/>
              </a:ext>
            </a:extLst>
          </p:cNvPr>
          <p:cNvSpPr/>
          <p:nvPr/>
        </p:nvSpPr>
        <p:spPr>
          <a:xfrm>
            <a:off x="9334195" y="-476402"/>
            <a:ext cx="3333902" cy="3333902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16b8f91e6d72561d8e86691bd4589640.svg">
            <a:extLst>
              <a:ext uri="{FF2B5EF4-FFF2-40B4-BE49-F238E27FC236}">
                <a16:creationId xmlns:a16="http://schemas.microsoft.com/office/drawing/2014/main" id="{10665FFC-7191-3EE9-E262-A0EE2B1630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1305" y="4572000"/>
            <a:ext cx="1904695" cy="1904695"/>
          </a:xfrm>
          <a:prstGeom prst="rect">
            <a:avLst/>
          </a:prstGeom>
        </p:spPr>
      </p:pic>
      <p:pic>
        <p:nvPicPr>
          <p:cNvPr id="6" name="Image 1" descr="gen-dedup-c43d37ec6b749a14b46300e23657ecc9.png">
            <a:extLst>
              <a:ext uri="{FF2B5EF4-FFF2-40B4-BE49-F238E27FC236}">
                <a16:creationId xmlns:a16="http://schemas.microsoft.com/office/drawing/2014/main" id="{350E297F-CAF1-4144-06DE-2E7C7E9C5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" r="-2"/>
          <a:stretch/>
        </p:blipFill>
        <p:spPr>
          <a:xfrm>
            <a:off x="0" y="6743700"/>
            <a:ext cx="8128102" cy="114300"/>
          </a:xfrm>
          <a:prstGeom prst="rect">
            <a:avLst/>
          </a:prstGeom>
        </p:spPr>
      </p:pic>
      <p:pic>
        <p:nvPicPr>
          <p:cNvPr id="7" name="Image 2" descr="gen-dedup-ccb3fbefd7198ae67d29d234b7ba9a3d.png">
            <a:extLst>
              <a:ext uri="{FF2B5EF4-FFF2-40B4-BE49-F238E27FC236}">
                <a16:creationId xmlns:a16="http://schemas.microsoft.com/office/drawing/2014/main" id="{5FEA7D47-47C8-A1C7-8C9B-341CBB70B2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128102" y="6743700"/>
            <a:ext cx="4063594" cy="114300"/>
          </a:xfrm>
          <a:prstGeom prst="rect">
            <a:avLst/>
          </a:prstGeom>
        </p:spPr>
      </p:pic>
      <p:pic>
        <p:nvPicPr>
          <p:cNvPr id="8" name="Image 3" descr="gen-dedup-c72c85b07e3f177762516dd89615ea68.png">
            <a:extLst>
              <a:ext uri="{FF2B5EF4-FFF2-40B4-BE49-F238E27FC236}">
                <a16:creationId xmlns:a16="http://schemas.microsoft.com/office/drawing/2014/main" id="{DBB914E7-7CAC-44B2-57A7-E24AA324305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457200" y="439826"/>
            <a:ext cx="75895" cy="476402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1C51DAEE-6AF9-9607-3EE6-CAEBF6FCD705}"/>
              </a:ext>
            </a:extLst>
          </p:cNvPr>
          <p:cNvSpPr txBox="1"/>
          <p:nvPr/>
        </p:nvSpPr>
        <p:spPr>
          <a:xfrm>
            <a:off x="724205" y="286207"/>
            <a:ext cx="516270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82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TAILORED APPROACH</a:t>
            </a:r>
            <a:endParaRPr lang="en-US" sz="330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46C6FDC3-1406-99B3-22CD-791C2A6B0DD2}"/>
              </a:ext>
            </a:extLst>
          </p:cNvPr>
          <p:cNvSpPr txBox="1"/>
          <p:nvPr/>
        </p:nvSpPr>
        <p:spPr>
          <a:xfrm>
            <a:off x="724205" y="761695"/>
            <a:ext cx="5848502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81" dirty="0" err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JoulestoWatts</a:t>
            </a:r>
            <a:r>
              <a:rPr lang="en-US" sz="1600" b="1" kern="0" spc="81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 — Tailored Approach For [Client]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1DF6EAD2-5567-3E85-2BB2-10F941B5BE5C}"/>
              </a:ext>
            </a:extLst>
          </p:cNvPr>
          <p:cNvSpPr/>
          <p:nvPr/>
        </p:nvSpPr>
        <p:spPr>
          <a:xfrm>
            <a:off x="724205" y="1185062"/>
            <a:ext cx="19202" cy="2670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6C39EE7-0BFF-562D-E09A-AE50EF2C38F7}"/>
              </a:ext>
            </a:extLst>
          </p:cNvPr>
          <p:cNvSpPr txBox="1"/>
          <p:nvPr/>
        </p:nvSpPr>
        <p:spPr>
          <a:xfrm>
            <a:off x="857707" y="1185062"/>
            <a:ext cx="8172907" cy="2670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Addressing [CLIENT]'s talent challenges with precision.</a:t>
            </a:r>
            <a:endParaRPr lang="en-US" sz="1300"/>
          </a:p>
        </p:txBody>
      </p:sp>
      <p:pic>
        <p:nvPicPr>
          <p:cNvPr id="15" name="Image 4" descr="gen-dedup-95d112f40cf296f81bdd24a7d4987a4a.png">
            <a:extLst>
              <a:ext uri="{FF2B5EF4-FFF2-40B4-BE49-F238E27FC236}">
                <a16:creationId xmlns:a16="http://schemas.microsoft.com/office/drawing/2014/main" id="{6D5E7822-1699-930D-7FA1-07E94783FC6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1571854"/>
            <a:ext cx="5524805" cy="2428646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23DFA1FD-6024-96F8-30D8-5F2F1DCEFBB2}"/>
              </a:ext>
            </a:extLst>
          </p:cNvPr>
          <p:cNvSpPr/>
          <p:nvPr/>
        </p:nvSpPr>
        <p:spPr>
          <a:xfrm>
            <a:off x="5219395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A863C90A-CE16-12AA-698C-0AF334F0C167}"/>
              </a:ext>
            </a:extLst>
          </p:cNvPr>
          <p:cNvSpPr/>
          <p:nvPr/>
        </p:nvSpPr>
        <p:spPr>
          <a:xfrm>
            <a:off x="685800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5" descr="gen-dedup-05ba22bc3988e5bbe03600cefb5c4c1e.png">
            <a:extLst>
              <a:ext uri="{FF2B5EF4-FFF2-40B4-BE49-F238E27FC236}">
                <a16:creationId xmlns:a16="http://schemas.microsoft.com/office/drawing/2014/main" id="{E41CE03E-C47D-C9A0-A6FB-C97036914D0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809244" y="1947672"/>
            <a:ext cx="181051" cy="228600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3B0171A3-2D1D-15A0-A793-09400DC0C07F}"/>
              </a:ext>
            </a:extLst>
          </p:cNvPr>
          <p:cNvSpPr txBox="1"/>
          <p:nvPr/>
        </p:nvSpPr>
        <p:spPr>
          <a:xfrm>
            <a:off x="5508346" y="1772107"/>
            <a:ext cx="45171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270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3DC7178B-0677-F7E2-9E49-2B4844FE134F}"/>
              </a:ext>
            </a:extLst>
          </p:cNvPr>
          <p:cNvSpPr txBox="1"/>
          <p:nvPr/>
        </p:nvSpPr>
        <p:spPr>
          <a:xfrm>
            <a:off x="685800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1 Title]</a:t>
            </a:r>
            <a:endParaRPr lang="en-US" sz="180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EEA57806-EC40-49D0-D6C2-2D98B4DFBEDC}"/>
              </a:ext>
            </a:extLst>
          </p:cNvPr>
          <p:cNvSpPr txBox="1"/>
          <p:nvPr/>
        </p:nvSpPr>
        <p:spPr>
          <a:xfrm>
            <a:off x="685800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Dedicated CA Talent Pipeline — Pre-mapped, warm bench of Chartered Accountants across PE, renewables, infra. Proactive sourcing from campus, Big 4, competitor pools — ready before demand hits.</a:t>
            </a:r>
            <a:endParaRPr lang="en-US" sz="110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2A23ACFE-017B-B89F-192A-C2CE4BE601FC}"/>
              </a:ext>
            </a:extLst>
          </p:cNvPr>
          <p:cNvSpPr/>
          <p:nvPr/>
        </p:nvSpPr>
        <p:spPr>
          <a:xfrm>
            <a:off x="685800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5">
            <a:extLst>
              <a:ext uri="{FF2B5EF4-FFF2-40B4-BE49-F238E27FC236}">
                <a16:creationId xmlns:a16="http://schemas.microsoft.com/office/drawing/2014/main" id="{E5DAC0CC-8B22-00B0-D00C-BD9FC8CEF060}"/>
              </a:ext>
            </a:extLst>
          </p:cNvPr>
          <p:cNvSpPr/>
          <p:nvPr/>
        </p:nvSpPr>
        <p:spPr>
          <a:xfrm>
            <a:off x="685800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CBFA6F2A-4AA8-1C83-3E75-78E595CCE462}"/>
              </a:ext>
            </a:extLst>
          </p:cNvPr>
          <p:cNvSpPr txBox="1"/>
          <p:nvPr/>
        </p:nvSpPr>
        <p:spPr>
          <a:xfrm>
            <a:off x="1057046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Niche Talent + Sporadic Demand</a:t>
            </a:r>
            <a:endParaRPr lang="en-US" sz="1000"/>
          </a:p>
        </p:txBody>
      </p:sp>
      <p:pic>
        <p:nvPicPr>
          <p:cNvPr id="25" name="Image 6" descr="gen-dedup-b5a86b1bccfd13e1ee7bd0a5c9907751.png">
            <a:extLst>
              <a:ext uri="{FF2B5EF4-FFF2-40B4-BE49-F238E27FC236}">
                <a16:creationId xmlns:a16="http://schemas.microsoft.com/office/drawing/2014/main" id="{9D83D374-D078-A731-7447-EAC7EC744FE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3537814"/>
            <a:ext cx="105156" cy="133502"/>
          </a:xfrm>
          <a:prstGeom prst="rect">
            <a:avLst/>
          </a:prstGeom>
        </p:spPr>
      </p:pic>
      <p:pic>
        <p:nvPicPr>
          <p:cNvPr id="26" name="Image 7" descr="gen-dedup-95d112f40cf296f81bdd24a7d4987a4a.png">
            <a:extLst>
              <a:ext uri="{FF2B5EF4-FFF2-40B4-BE49-F238E27FC236}">
                <a16:creationId xmlns:a16="http://schemas.microsoft.com/office/drawing/2014/main" id="{98F42680-DF22-8FF5-A7B8-81C23A5BF5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1571854"/>
            <a:ext cx="5524805" cy="2428646"/>
          </a:xfrm>
          <a:prstGeom prst="rect">
            <a:avLst/>
          </a:prstGeom>
        </p:spPr>
      </p:pic>
      <p:sp>
        <p:nvSpPr>
          <p:cNvPr id="27" name="Shape 17">
            <a:extLst>
              <a:ext uri="{FF2B5EF4-FFF2-40B4-BE49-F238E27FC236}">
                <a16:creationId xmlns:a16="http://schemas.microsoft.com/office/drawing/2014/main" id="{59CDE63D-E081-7A87-608B-EE7D13539150}"/>
              </a:ext>
            </a:extLst>
          </p:cNvPr>
          <p:cNvSpPr/>
          <p:nvPr/>
        </p:nvSpPr>
        <p:spPr>
          <a:xfrm>
            <a:off x="10972800" y="1571854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1D219710-C70F-7BF9-DC5C-EC4178B5A333}"/>
              </a:ext>
            </a:extLst>
          </p:cNvPr>
          <p:cNvSpPr/>
          <p:nvPr/>
        </p:nvSpPr>
        <p:spPr>
          <a:xfrm>
            <a:off x="6439205" y="1848002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8" descr="gen-dedup-bcfe80973f057fc6d9d91d2ed63b3815.png">
            <a:extLst>
              <a:ext uri="{FF2B5EF4-FFF2-40B4-BE49-F238E27FC236}">
                <a16:creationId xmlns:a16="http://schemas.microsoft.com/office/drawing/2014/main" id="{CB0C3DF3-A0E0-B95D-E139-66C6063BB6F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28914" b="-28914"/>
          <a:stretch/>
        </p:blipFill>
        <p:spPr>
          <a:xfrm>
            <a:off x="6562649" y="1947672"/>
            <a:ext cx="181051" cy="228600"/>
          </a:xfrm>
          <a:prstGeom prst="rect">
            <a:avLst/>
          </a:prstGeom>
        </p:spPr>
      </p:pic>
      <p:sp>
        <p:nvSpPr>
          <p:cNvPr id="30" name="Text 19">
            <a:extLst>
              <a:ext uri="{FF2B5EF4-FFF2-40B4-BE49-F238E27FC236}">
                <a16:creationId xmlns:a16="http://schemas.microsoft.com/office/drawing/2014/main" id="{50F73662-D535-3E4F-31AE-AED70562AA01}"/>
              </a:ext>
            </a:extLst>
          </p:cNvPr>
          <p:cNvSpPr txBox="1"/>
          <p:nvPr/>
        </p:nvSpPr>
        <p:spPr>
          <a:xfrm>
            <a:off x="11217859" y="1772107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2700"/>
          </a:p>
        </p:txBody>
      </p:sp>
      <p:sp>
        <p:nvSpPr>
          <p:cNvPr id="31" name="Text 20">
            <a:extLst>
              <a:ext uri="{FF2B5EF4-FFF2-40B4-BE49-F238E27FC236}">
                <a16:creationId xmlns:a16="http://schemas.microsoft.com/office/drawing/2014/main" id="{292A9FFF-87CF-1B1D-FC17-31866FCBA553}"/>
              </a:ext>
            </a:extLst>
          </p:cNvPr>
          <p:cNvSpPr txBox="1"/>
          <p:nvPr/>
        </p:nvSpPr>
        <p:spPr>
          <a:xfrm>
            <a:off x="6439205" y="2391156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2 Title]</a:t>
            </a:r>
            <a:endParaRPr lang="en-US" sz="1800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0BAC202A-C17A-A1FE-2AC8-3C6C6DA3D4A4}"/>
              </a:ext>
            </a:extLst>
          </p:cNvPr>
          <p:cNvSpPr txBox="1"/>
          <p:nvPr/>
        </p:nvSpPr>
        <p:spPr>
          <a:xfrm>
            <a:off x="6439205" y="2779776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Candidate Commitment Engine — Structured 90-day POFU: milestone touchpoints, early virtual onboarding, manager connects, counter-offer inoculation. Reduces offer drop from [X]% to single digits.</a:t>
            </a:r>
            <a:endParaRPr lang="en-US" sz="1100"/>
          </a:p>
        </p:txBody>
      </p:sp>
      <p:sp>
        <p:nvSpPr>
          <p:cNvPr id="33" name="Shape 22">
            <a:extLst>
              <a:ext uri="{FF2B5EF4-FFF2-40B4-BE49-F238E27FC236}">
                <a16:creationId xmlns:a16="http://schemas.microsoft.com/office/drawing/2014/main" id="{5459C077-7B78-8C9B-7A44-1674B605D3A6}"/>
              </a:ext>
            </a:extLst>
          </p:cNvPr>
          <p:cNvSpPr/>
          <p:nvPr/>
        </p:nvSpPr>
        <p:spPr>
          <a:xfrm>
            <a:off x="6439205" y="3387852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3">
            <a:extLst>
              <a:ext uri="{FF2B5EF4-FFF2-40B4-BE49-F238E27FC236}">
                <a16:creationId xmlns:a16="http://schemas.microsoft.com/office/drawing/2014/main" id="{CB5721C4-BD6C-56E8-C256-8CCAB4DDA64F}"/>
              </a:ext>
            </a:extLst>
          </p:cNvPr>
          <p:cNvSpPr/>
          <p:nvPr/>
        </p:nvSpPr>
        <p:spPr>
          <a:xfrm>
            <a:off x="6439205" y="3387852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4">
            <a:extLst>
              <a:ext uri="{FF2B5EF4-FFF2-40B4-BE49-F238E27FC236}">
                <a16:creationId xmlns:a16="http://schemas.microsoft.com/office/drawing/2014/main" id="{5FA5C261-AD36-C711-6311-0EC1AB750CB0}"/>
              </a:ext>
            </a:extLst>
          </p:cNvPr>
          <p:cNvSpPr txBox="1"/>
          <p:nvPr/>
        </p:nvSpPr>
        <p:spPr>
          <a:xfrm>
            <a:off x="6810451" y="3502152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Offer Dropouts + Notice Period</a:t>
            </a:r>
            <a:endParaRPr lang="en-US" sz="1000"/>
          </a:p>
        </p:txBody>
      </p:sp>
      <p:pic>
        <p:nvPicPr>
          <p:cNvPr id="36" name="Image 9" descr="gen-dedup-812f619697984955bda52af315dc5a08.png">
            <a:extLst>
              <a:ext uri="{FF2B5EF4-FFF2-40B4-BE49-F238E27FC236}">
                <a16:creationId xmlns:a16="http://schemas.microsoft.com/office/drawing/2014/main" id="{D7BD82F6-F3AF-8D2E-0017-6772B8E7489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3537814"/>
            <a:ext cx="105156" cy="133502"/>
          </a:xfrm>
          <a:prstGeom prst="rect">
            <a:avLst/>
          </a:prstGeom>
        </p:spPr>
      </p:pic>
      <p:pic>
        <p:nvPicPr>
          <p:cNvPr id="37" name="Image 10" descr="gen-dedup-95d112f40cf296f81bdd24a7d4987a4a.png">
            <a:extLst>
              <a:ext uri="{FF2B5EF4-FFF2-40B4-BE49-F238E27FC236}">
                <a16:creationId xmlns:a16="http://schemas.microsoft.com/office/drawing/2014/main" id="{ED999605-4D8E-47E0-5669-A0F7FB4A65B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457200" y="4143146"/>
            <a:ext cx="5524805" cy="2428646"/>
          </a:xfrm>
          <a:prstGeom prst="rect">
            <a:avLst/>
          </a:prstGeom>
        </p:spPr>
      </p:pic>
      <p:sp>
        <p:nvSpPr>
          <p:cNvPr id="38" name="Shape 25">
            <a:extLst>
              <a:ext uri="{FF2B5EF4-FFF2-40B4-BE49-F238E27FC236}">
                <a16:creationId xmlns:a16="http://schemas.microsoft.com/office/drawing/2014/main" id="{04E5F171-17C4-C41D-C603-F306BD353213}"/>
              </a:ext>
            </a:extLst>
          </p:cNvPr>
          <p:cNvSpPr/>
          <p:nvPr/>
        </p:nvSpPr>
        <p:spPr>
          <a:xfrm>
            <a:off x="5219395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3236BBC6-8CCE-3A62-7D50-01D8D8825E6A}"/>
              </a:ext>
            </a:extLst>
          </p:cNvPr>
          <p:cNvSpPr/>
          <p:nvPr/>
        </p:nvSpPr>
        <p:spPr>
          <a:xfrm>
            <a:off x="685800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11" descr="gen-dedup-6476ff3035aeb0817ff39e799f5ab604.png">
            <a:extLst>
              <a:ext uri="{FF2B5EF4-FFF2-40B4-BE49-F238E27FC236}">
                <a16:creationId xmlns:a16="http://schemas.microsoft.com/office/drawing/2014/main" id="{E8542DFA-293A-43A8-033E-527EAFB9687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2800" r="-2800"/>
          <a:stretch/>
        </p:blipFill>
        <p:spPr>
          <a:xfrm>
            <a:off x="809244" y="4519879"/>
            <a:ext cx="181051" cy="228600"/>
          </a:xfrm>
          <a:prstGeom prst="rect">
            <a:avLst/>
          </a:prstGeom>
        </p:spPr>
      </p:pic>
      <p:sp>
        <p:nvSpPr>
          <p:cNvPr id="41" name="Text 27">
            <a:extLst>
              <a:ext uri="{FF2B5EF4-FFF2-40B4-BE49-F238E27FC236}">
                <a16:creationId xmlns:a16="http://schemas.microsoft.com/office/drawing/2014/main" id="{DCDD8D0E-1DCB-CFBB-394F-9D749F1C9303}"/>
              </a:ext>
            </a:extLst>
          </p:cNvPr>
          <p:cNvSpPr txBox="1"/>
          <p:nvPr/>
        </p:nvSpPr>
        <p:spPr>
          <a:xfrm>
            <a:off x="5464454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2700"/>
          </a:p>
        </p:txBody>
      </p:sp>
      <p:sp>
        <p:nvSpPr>
          <p:cNvPr id="42" name="Text 28">
            <a:extLst>
              <a:ext uri="{FF2B5EF4-FFF2-40B4-BE49-F238E27FC236}">
                <a16:creationId xmlns:a16="http://schemas.microsoft.com/office/drawing/2014/main" id="{772B34FD-8E6A-DE99-F5BF-DB1A68F0D2BD}"/>
              </a:ext>
            </a:extLst>
          </p:cNvPr>
          <p:cNvSpPr txBox="1"/>
          <p:nvPr/>
        </p:nvSpPr>
        <p:spPr>
          <a:xfrm>
            <a:off x="685800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3 Title]</a:t>
            </a:r>
            <a:endParaRPr lang="en-US" sz="1800"/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3C115CE9-6CE6-0BC8-CD3C-556ABEB1ADB4}"/>
              </a:ext>
            </a:extLst>
          </p:cNvPr>
          <p:cNvSpPr txBox="1"/>
          <p:nvPr/>
        </p:nvSpPr>
        <p:spPr>
          <a:xfrm>
            <a:off x="685800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WFO Employer Brand Strategy — Position 5-day WFO as a career accelerator: same role as HQ, in-person mentorship, global parity. Target candidates already in-office or returning.</a:t>
            </a:r>
            <a:endParaRPr lang="en-US" sz="1100"/>
          </a:p>
        </p:txBody>
      </p:sp>
      <p:sp>
        <p:nvSpPr>
          <p:cNvPr id="44" name="Shape 30">
            <a:extLst>
              <a:ext uri="{FF2B5EF4-FFF2-40B4-BE49-F238E27FC236}">
                <a16:creationId xmlns:a16="http://schemas.microsoft.com/office/drawing/2014/main" id="{9524A817-F417-8272-6809-00D1F5C25D02}"/>
              </a:ext>
            </a:extLst>
          </p:cNvPr>
          <p:cNvSpPr/>
          <p:nvPr/>
        </p:nvSpPr>
        <p:spPr>
          <a:xfrm>
            <a:off x="685800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1">
            <a:extLst>
              <a:ext uri="{FF2B5EF4-FFF2-40B4-BE49-F238E27FC236}">
                <a16:creationId xmlns:a16="http://schemas.microsoft.com/office/drawing/2014/main" id="{904F1079-FEBE-EF19-4690-40B4F5A173EF}"/>
              </a:ext>
            </a:extLst>
          </p:cNvPr>
          <p:cNvSpPr/>
          <p:nvPr/>
        </p:nvSpPr>
        <p:spPr>
          <a:xfrm>
            <a:off x="685800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2">
            <a:extLst>
              <a:ext uri="{FF2B5EF4-FFF2-40B4-BE49-F238E27FC236}">
                <a16:creationId xmlns:a16="http://schemas.microsoft.com/office/drawing/2014/main" id="{E2B87D99-E6F8-0914-F5C9-E8CC69EF06C5}"/>
              </a:ext>
            </a:extLst>
          </p:cNvPr>
          <p:cNvSpPr txBox="1"/>
          <p:nvPr/>
        </p:nvSpPr>
        <p:spPr>
          <a:xfrm>
            <a:off x="1057046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WFO Resistance + Brand</a:t>
            </a:r>
            <a:endParaRPr lang="en-US" sz="1000"/>
          </a:p>
        </p:txBody>
      </p:sp>
      <p:pic>
        <p:nvPicPr>
          <p:cNvPr id="47" name="Image 12" descr="gen-dedup-b5a86b1bccfd13e1ee7bd0a5c9907751.png">
            <a:extLst>
              <a:ext uri="{FF2B5EF4-FFF2-40B4-BE49-F238E27FC236}">
                <a16:creationId xmlns:a16="http://schemas.microsoft.com/office/drawing/2014/main" id="{A0B42826-7149-A73B-9986-E5DE1C5E20E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3478" b="-13478"/>
          <a:stretch/>
        </p:blipFill>
        <p:spPr>
          <a:xfrm>
            <a:off x="875995" y="6110021"/>
            <a:ext cx="105156" cy="133502"/>
          </a:xfrm>
          <a:prstGeom prst="rect">
            <a:avLst/>
          </a:prstGeom>
        </p:spPr>
      </p:pic>
      <p:pic>
        <p:nvPicPr>
          <p:cNvPr id="48" name="Image 13" descr="gen-dedup-95d112f40cf296f81bdd24a7d4987a4a.png">
            <a:extLst>
              <a:ext uri="{FF2B5EF4-FFF2-40B4-BE49-F238E27FC236}">
                <a16:creationId xmlns:a16="http://schemas.microsoft.com/office/drawing/2014/main" id="{7A904E7A-9A23-65C5-498D-68299034FF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7" r="-7"/>
          <a:stretch/>
        </p:blipFill>
        <p:spPr>
          <a:xfrm>
            <a:off x="6210605" y="4143146"/>
            <a:ext cx="5524805" cy="2428646"/>
          </a:xfrm>
          <a:prstGeom prst="rect">
            <a:avLst/>
          </a:prstGeom>
        </p:spPr>
      </p:pic>
      <p:sp>
        <p:nvSpPr>
          <p:cNvPr id="49" name="Shape 33">
            <a:extLst>
              <a:ext uri="{FF2B5EF4-FFF2-40B4-BE49-F238E27FC236}">
                <a16:creationId xmlns:a16="http://schemas.microsoft.com/office/drawing/2014/main" id="{51B6378F-2579-2A16-7897-FD0342764BEA}"/>
              </a:ext>
            </a:extLst>
          </p:cNvPr>
          <p:cNvSpPr/>
          <p:nvPr/>
        </p:nvSpPr>
        <p:spPr>
          <a:xfrm>
            <a:off x="10972800" y="4143146"/>
            <a:ext cx="761695" cy="761695"/>
          </a:xfrm>
          <a:prstGeom prst="rect">
            <a:avLst/>
          </a:prstGeom>
          <a:solidFill>
            <a:srgbClr val="000000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4">
            <a:extLst>
              <a:ext uri="{FF2B5EF4-FFF2-40B4-BE49-F238E27FC236}">
                <a16:creationId xmlns:a16="http://schemas.microsoft.com/office/drawing/2014/main" id="{D16B82CB-8454-3B5A-BDB9-41F1EF0AA131}"/>
              </a:ext>
            </a:extLst>
          </p:cNvPr>
          <p:cNvSpPr/>
          <p:nvPr/>
        </p:nvSpPr>
        <p:spPr>
          <a:xfrm>
            <a:off x="6439205" y="4419295"/>
            <a:ext cx="428854" cy="428854"/>
          </a:xfrm>
          <a:prstGeom prst="roundRect">
            <a:avLst>
              <a:gd name="adj" fmla="val 22175"/>
            </a:avLst>
          </a:prstGeom>
          <a:solidFill>
            <a:srgbClr val="D62839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4" descr="gen-dedup-83b2b39c1654ef06d127da6f7bb8f2a0.png">
            <a:extLst>
              <a:ext uri="{FF2B5EF4-FFF2-40B4-BE49-F238E27FC236}">
                <a16:creationId xmlns:a16="http://schemas.microsoft.com/office/drawing/2014/main" id="{4003C448-05B3-A10E-95D9-DAF2F9652DC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-28914" b="-28914"/>
          <a:stretch/>
        </p:blipFill>
        <p:spPr>
          <a:xfrm>
            <a:off x="6562649" y="4519879"/>
            <a:ext cx="181051" cy="228600"/>
          </a:xfrm>
          <a:prstGeom prst="rect">
            <a:avLst/>
          </a:prstGeom>
        </p:spPr>
      </p:pic>
      <p:sp>
        <p:nvSpPr>
          <p:cNvPr id="52" name="Text 35">
            <a:extLst>
              <a:ext uri="{FF2B5EF4-FFF2-40B4-BE49-F238E27FC236}">
                <a16:creationId xmlns:a16="http://schemas.microsoft.com/office/drawing/2014/main" id="{D6E237A9-70E6-29E9-E8EE-2BAB92F3E57D}"/>
              </a:ext>
            </a:extLst>
          </p:cNvPr>
          <p:cNvSpPr txBox="1"/>
          <p:nvPr/>
        </p:nvSpPr>
        <p:spPr>
          <a:xfrm>
            <a:off x="11214202" y="4343400"/>
            <a:ext cx="455371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2700"/>
          </a:p>
        </p:txBody>
      </p:sp>
      <p:sp>
        <p:nvSpPr>
          <p:cNvPr id="53" name="Text 36">
            <a:extLst>
              <a:ext uri="{FF2B5EF4-FFF2-40B4-BE49-F238E27FC236}">
                <a16:creationId xmlns:a16="http://schemas.microsoft.com/office/drawing/2014/main" id="{4896BADA-0F0A-2623-6DAC-682DCB3687AF}"/>
              </a:ext>
            </a:extLst>
          </p:cNvPr>
          <p:cNvSpPr txBox="1"/>
          <p:nvPr/>
        </p:nvSpPr>
        <p:spPr>
          <a:xfrm>
            <a:off x="6439205" y="4962449"/>
            <a:ext cx="50676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[Solution 4 Title]</a:t>
            </a:r>
            <a:endParaRPr lang="en-US" sz="1800"/>
          </a:p>
        </p:txBody>
      </p:sp>
      <p:sp>
        <p:nvSpPr>
          <p:cNvPr id="54" name="Text 37">
            <a:extLst>
              <a:ext uri="{FF2B5EF4-FFF2-40B4-BE49-F238E27FC236}">
                <a16:creationId xmlns:a16="http://schemas.microsoft.com/office/drawing/2014/main" id="{E758BCE9-FA0C-67DE-7E9C-7A6AA3E11566}"/>
              </a:ext>
            </a:extLst>
          </p:cNvPr>
          <p:cNvSpPr txBox="1"/>
          <p:nvPr/>
        </p:nvSpPr>
        <p:spPr>
          <a:xfrm>
            <a:off x="6439205" y="5351069"/>
            <a:ext cx="50676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e.g. Managed RPO Partnership — Consolidated recruitment ops across all BUs with a dedicated team. Eliminates vendor fragmentation. Data-driven hiring intelligence for workforce planning.</a:t>
            </a:r>
            <a:endParaRPr lang="en-US" sz="1100"/>
          </a:p>
        </p:txBody>
      </p:sp>
      <p:sp>
        <p:nvSpPr>
          <p:cNvPr id="55" name="Shape 38">
            <a:extLst>
              <a:ext uri="{FF2B5EF4-FFF2-40B4-BE49-F238E27FC236}">
                <a16:creationId xmlns:a16="http://schemas.microsoft.com/office/drawing/2014/main" id="{CEE8A453-7A9D-4360-D21A-37F7F6790338}"/>
              </a:ext>
            </a:extLst>
          </p:cNvPr>
          <p:cNvSpPr/>
          <p:nvPr/>
        </p:nvSpPr>
        <p:spPr>
          <a:xfrm>
            <a:off x="6439205" y="5959145"/>
            <a:ext cx="5067605" cy="437998"/>
          </a:xfrm>
          <a:prstGeom prst="roundRect">
            <a:avLst>
              <a:gd name="adj" fmla="val 17328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39">
            <a:extLst>
              <a:ext uri="{FF2B5EF4-FFF2-40B4-BE49-F238E27FC236}">
                <a16:creationId xmlns:a16="http://schemas.microsoft.com/office/drawing/2014/main" id="{056F5FE7-9A03-08BC-0EA2-89258EB24EF2}"/>
              </a:ext>
            </a:extLst>
          </p:cNvPr>
          <p:cNvSpPr/>
          <p:nvPr/>
        </p:nvSpPr>
        <p:spPr>
          <a:xfrm>
            <a:off x="6439205" y="5959145"/>
            <a:ext cx="38405" cy="437998"/>
          </a:xfrm>
          <a:prstGeom prst="roundRect">
            <a:avLst>
              <a:gd name="adj" fmla="val 197618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0">
            <a:extLst>
              <a:ext uri="{FF2B5EF4-FFF2-40B4-BE49-F238E27FC236}">
                <a16:creationId xmlns:a16="http://schemas.microsoft.com/office/drawing/2014/main" id="{FA686457-4C60-0C95-3625-41D6DE551183}"/>
              </a:ext>
            </a:extLst>
          </p:cNvPr>
          <p:cNvSpPr txBox="1"/>
          <p:nvPr/>
        </p:nvSpPr>
        <p:spPr>
          <a:xfrm>
            <a:off x="6810451" y="6073445"/>
            <a:ext cx="4543654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Solves: Fragmented Hiring + Scale</a:t>
            </a:r>
            <a:endParaRPr lang="en-US" sz="1000"/>
          </a:p>
        </p:txBody>
      </p:sp>
      <p:pic>
        <p:nvPicPr>
          <p:cNvPr id="58" name="Image 15" descr="gen-dedup-812f619697984955bda52af315dc5a08.png">
            <a:extLst>
              <a:ext uri="{FF2B5EF4-FFF2-40B4-BE49-F238E27FC236}">
                <a16:creationId xmlns:a16="http://schemas.microsoft.com/office/drawing/2014/main" id="{6286225A-5A1D-45A0-AD82-F2C525D188B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13478" b="-13478"/>
          <a:stretch/>
        </p:blipFill>
        <p:spPr>
          <a:xfrm>
            <a:off x="6629400" y="6110021"/>
            <a:ext cx="105156" cy="13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06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382305" y="0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476402" y="3524098"/>
            <a:ext cx="2381098" cy="2381098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2" descr="gen-dedup-50f81f9bdcb5400074144f35c0ecb91c.png"/>
          <p:cNvPicPr>
            <a:picLocks noChangeAspect="1"/>
          </p:cNvPicPr>
          <p:nvPr/>
        </p:nvPicPr>
        <p:blipFill>
          <a:blip r:embed="rId5"/>
          <a:srcRect l="-7" r="-7"/>
          <a:stretch/>
        </p:blipFill>
        <p:spPr>
          <a:xfrm>
            <a:off x="2704795" y="1238098"/>
            <a:ext cx="3143707" cy="44577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5762549"/>
            <a:ext cx="10992002" cy="847649"/>
          </a:xfrm>
          <a:prstGeom prst="roundRect">
            <a:avLst>
              <a:gd name="adj" fmla="val 1939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3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2467051"/>
            <a:ext cx="10972800" cy="9144"/>
          </a:xfrm>
          <a:prstGeom prst="rect">
            <a:avLst/>
          </a:prstGeom>
        </p:spPr>
      </p:pic>
      <p:pic>
        <p:nvPicPr>
          <p:cNvPr id="11" name="Image 4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3267151"/>
            <a:ext cx="10972800" cy="9144"/>
          </a:xfrm>
          <a:prstGeom prst="rect">
            <a:avLst/>
          </a:prstGeom>
        </p:spPr>
      </p:pic>
      <p:pic>
        <p:nvPicPr>
          <p:cNvPr id="12" name="Image 5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067251"/>
            <a:ext cx="10972800" cy="9144"/>
          </a:xfrm>
          <a:prstGeom prst="rect">
            <a:avLst/>
          </a:prstGeom>
        </p:spPr>
      </p:pic>
      <p:pic>
        <p:nvPicPr>
          <p:cNvPr id="13" name="Image 6" descr="gen-dedup-1004aa64a550a79a04cd74d7f57c96c1.png"/>
          <p:cNvPicPr>
            <a:picLocks noChangeAspect="1"/>
          </p:cNvPicPr>
          <p:nvPr/>
        </p:nvPicPr>
        <p:blipFill>
          <a:blip r:embed="rId6"/>
          <a:srcRect l="-2083" r="-2083"/>
          <a:stretch/>
        </p:blipFill>
        <p:spPr>
          <a:xfrm>
            <a:off x="609905" y="4867351"/>
            <a:ext cx="10972800" cy="9144"/>
          </a:xfrm>
          <a:prstGeom prst="rect">
            <a:avLst/>
          </a:prstGeom>
        </p:spPr>
      </p:pic>
      <p:pic>
        <p:nvPicPr>
          <p:cNvPr id="14" name="Image 7" descr="gen-dedup-06e3d16aa0e9246458a784af17ea21a8.png"/>
          <p:cNvPicPr>
            <a:picLocks noChangeAspect="1"/>
          </p:cNvPicPr>
          <p:nvPr/>
        </p:nvPicPr>
        <p:blipFill>
          <a:blip r:embed="rId7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819302" y="390449"/>
            <a:ext cx="104781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WHY J2W - NOT THE BIG 4 OR LARGE SIs</a:t>
            </a:r>
            <a:endParaRPr lang="en-US" sz="2700"/>
          </a:p>
        </p:txBody>
      </p:sp>
      <p:sp>
        <p:nvSpPr>
          <p:cNvPr id="16" name="Text 6"/>
          <p:cNvSpPr txBox="1"/>
          <p:nvPr/>
        </p:nvSpPr>
        <p:spPr>
          <a:xfrm>
            <a:off x="819302" y="824789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THE SMARTER CHOICE FOR AI &amp; DIGITAL TRANSFORMATION AT SCALE</a:t>
            </a:r>
            <a:endParaRPr lang="en-US" sz="1200"/>
          </a:p>
        </p:txBody>
      </p:sp>
      <p:sp>
        <p:nvSpPr>
          <p:cNvPr id="17" name="Text 7"/>
          <p:cNvSpPr txBox="1"/>
          <p:nvPr/>
        </p:nvSpPr>
        <p:spPr>
          <a:xfrm>
            <a:off x="2704795" y="1333195"/>
            <a:ext cx="3143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 + J2W</a:t>
            </a:r>
            <a:endParaRPr lang="en-US" sz="1500"/>
          </a:p>
        </p:txBody>
      </p:sp>
      <p:sp>
        <p:nvSpPr>
          <p:cNvPr id="18" name="Text 8"/>
          <p:cNvSpPr txBox="1"/>
          <p:nvPr/>
        </p:nvSpPr>
        <p:spPr>
          <a:xfrm>
            <a:off x="5848502" y="1333195"/>
            <a:ext cx="28575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Big 4 / Top IT SIs</a:t>
            </a:r>
            <a:endParaRPr lang="en-US" sz="1500"/>
          </a:p>
        </p:txBody>
      </p:sp>
      <p:sp>
        <p:nvSpPr>
          <p:cNvPr id="19" name="Text 9"/>
          <p:cNvSpPr txBox="1"/>
          <p:nvPr/>
        </p:nvSpPr>
        <p:spPr>
          <a:xfrm>
            <a:off x="8706002" y="1333195"/>
            <a:ext cx="28767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Staffing Agencies</a:t>
            </a:r>
            <a:endParaRPr lang="en-US" sz="1500"/>
          </a:p>
        </p:txBody>
      </p:sp>
      <p:sp>
        <p:nvSpPr>
          <p:cNvPr id="20" name="Text 10"/>
          <p:cNvSpPr txBox="1"/>
          <p:nvPr/>
        </p:nvSpPr>
        <p:spPr>
          <a:xfrm>
            <a:off x="609905" y="19906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ROI &amp; Outcome Model</a:t>
            </a:r>
            <a:endParaRPr lang="en-US" sz="1000"/>
          </a:p>
        </p:txBody>
      </p:sp>
      <p:sp>
        <p:nvSpPr>
          <p:cNvPr id="21" name="Text 11"/>
          <p:cNvSpPr txBox="1"/>
          <p:nvPr/>
        </p:nvSpPr>
        <p:spPr>
          <a:xfrm>
            <a:off x="2895905" y="18068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from Day 1 - aligned to your milestones, CXO ROI expectations &amp; project KPIs</a:t>
            </a:r>
            <a:endParaRPr lang="en-US" sz="1000"/>
          </a:p>
        </p:txBody>
      </p:sp>
      <p:sp>
        <p:nvSpPr>
          <p:cNvPr id="22" name="Text 12"/>
          <p:cNvSpPr txBox="1"/>
          <p:nvPr/>
        </p:nvSpPr>
        <p:spPr>
          <a:xfrm>
            <a:off x="6038698" y="18068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Heavy retainers + longer payback cycles. High technical debt risk on failed transformations</a:t>
            </a:r>
            <a:endParaRPr lang="en-US" sz="1000"/>
          </a:p>
        </p:txBody>
      </p:sp>
      <p:sp>
        <p:nvSpPr>
          <p:cNvPr id="23" name="Text 13"/>
          <p:cNvSpPr txBox="1"/>
          <p:nvPr/>
        </p:nvSpPr>
        <p:spPr>
          <a:xfrm>
            <a:off x="8896198" y="18937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Headcount model only. Zero delivery ownership or outcome accountability</a:t>
            </a:r>
            <a:endParaRPr lang="en-US" sz="1000"/>
          </a:p>
        </p:txBody>
      </p:sp>
      <p:sp>
        <p:nvSpPr>
          <p:cNvPr id="24" name="Text 14"/>
          <p:cNvSpPr txBox="1"/>
          <p:nvPr/>
        </p:nvSpPr>
        <p:spPr>
          <a:xfrm>
            <a:off x="609905" y="27907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Time-To-Value</a:t>
            </a:r>
            <a:endParaRPr lang="en-US" sz="1000"/>
          </a:p>
        </p:txBody>
      </p:sp>
      <p:sp>
        <p:nvSpPr>
          <p:cNvPr id="25" name="Text 15"/>
          <p:cNvSpPr txBox="1"/>
          <p:nvPr/>
        </p:nvSpPr>
        <p:spPr>
          <a:xfrm>
            <a:off x="2895905" y="26069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Production-ready Gen &amp; Agentic AI PoCs in weeks via 50+ accelerators across SAP, Oracle, ServiceNow &amp; more</a:t>
            </a:r>
            <a:endParaRPr lang="en-US" sz="1000"/>
          </a:p>
        </p:txBody>
      </p:sp>
      <p:sp>
        <p:nvSpPr>
          <p:cNvPr id="26" name="Text 16"/>
          <p:cNvSpPr txBox="1"/>
          <p:nvPr/>
        </p:nvSpPr>
        <p:spPr>
          <a:xfrm>
            <a:off x="6038698" y="26069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Lengthy consulting cycles with SI-driven models - higher costs &amp; slower results</a:t>
            </a:r>
            <a:endParaRPr lang="en-US" sz="1000"/>
          </a:p>
        </p:txBody>
      </p:sp>
      <p:sp>
        <p:nvSpPr>
          <p:cNvPr id="27" name="Text 17"/>
          <p:cNvSpPr txBox="1"/>
          <p:nvPr/>
        </p:nvSpPr>
        <p:spPr>
          <a:xfrm>
            <a:off x="8896198" y="27806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28" name="Text 18"/>
          <p:cNvSpPr txBox="1"/>
          <p:nvPr/>
        </p:nvSpPr>
        <p:spPr>
          <a:xfrm>
            <a:off x="609905" y="35908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/ Data Governance</a:t>
            </a:r>
            <a:endParaRPr lang="en-US" sz="1000"/>
          </a:p>
        </p:txBody>
      </p:sp>
      <p:sp>
        <p:nvSpPr>
          <p:cNvPr id="29" name="Text 19"/>
          <p:cNvSpPr txBox="1"/>
          <p:nvPr/>
        </p:nvSpPr>
        <p:spPr>
          <a:xfrm>
            <a:off x="2895905" y="3321101"/>
            <a:ext cx="2762402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Pre-built guardrails. Mission-critical delivery in regulated industries (Fortune 500 MedTech). Data stays in your environment</a:t>
            </a:r>
            <a:endParaRPr lang="en-US" sz="1000"/>
          </a:p>
        </p:txBody>
      </p:sp>
      <p:sp>
        <p:nvSpPr>
          <p:cNvPr id="30" name="Text 20"/>
          <p:cNvSpPr txBox="1"/>
          <p:nvPr/>
        </p:nvSpPr>
        <p:spPr>
          <a:xfrm>
            <a:off x="6038698" y="3407054"/>
            <a:ext cx="24771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Claims excellence, but multiple public incidents (e.g. Deloitte AU govt penalties) undermine credibility</a:t>
            </a:r>
            <a:endParaRPr lang="en-US" sz="1000"/>
          </a:p>
        </p:txBody>
      </p:sp>
      <p:sp>
        <p:nvSpPr>
          <p:cNvPr id="31" name="Text 21"/>
          <p:cNvSpPr txBox="1"/>
          <p:nvPr/>
        </p:nvSpPr>
        <p:spPr>
          <a:xfrm>
            <a:off x="8896198" y="35807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2" name="Text 22"/>
          <p:cNvSpPr txBox="1"/>
          <p:nvPr/>
        </p:nvSpPr>
        <p:spPr>
          <a:xfrm>
            <a:off x="609905" y="4390949"/>
            <a:ext cx="19056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OPEX Optimisation</a:t>
            </a:r>
            <a:endParaRPr lang="en-US" sz="1000"/>
          </a:p>
        </p:txBody>
      </p:sp>
      <p:sp>
        <p:nvSpPr>
          <p:cNvPr id="33" name="Text 23"/>
          <p:cNvSpPr txBox="1"/>
          <p:nvPr/>
        </p:nvSpPr>
        <p:spPr>
          <a:xfrm>
            <a:off x="2895905" y="42071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30-40% reduction in AI OPEX via Query Routing, Semantic Caching, Precision RAG &amp; in-house SLMs</a:t>
            </a:r>
            <a:endParaRPr lang="en-US" sz="1000"/>
          </a:p>
        </p:txBody>
      </p:sp>
      <p:sp>
        <p:nvSpPr>
          <p:cNvPr id="34" name="Text 24"/>
          <p:cNvSpPr txBox="1"/>
          <p:nvPr/>
        </p:nvSpPr>
        <p:spPr>
          <a:xfrm>
            <a:off x="6038698" y="42940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incentivised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licences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&amp; tokens - not to </a:t>
            </a:r>
            <a:r>
              <a:rPr lang="en-US" sz="1000" err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optimise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your cost</a:t>
            </a:r>
            <a:endParaRPr lang="en-US" sz="1000"/>
          </a:p>
        </p:txBody>
      </p:sp>
      <p:sp>
        <p:nvSpPr>
          <p:cNvPr id="35" name="Text 25"/>
          <p:cNvSpPr txBox="1"/>
          <p:nvPr/>
        </p:nvSpPr>
        <p:spPr>
          <a:xfrm>
            <a:off x="8896198" y="4380890"/>
            <a:ext cx="24963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>
                <a:solidFill>
                  <a:srgbClr val="94A3B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offered</a:t>
            </a:r>
            <a:endParaRPr lang="en-US" sz="1000"/>
          </a:p>
        </p:txBody>
      </p:sp>
      <p:sp>
        <p:nvSpPr>
          <p:cNvPr id="36" name="Text 26"/>
          <p:cNvSpPr txBox="1"/>
          <p:nvPr/>
        </p:nvSpPr>
        <p:spPr>
          <a:xfrm>
            <a:off x="609905" y="5191049"/>
            <a:ext cx="21433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Talent &amp; Managed Services</a:t>
            </a:r>
            <a:endParaRPr lang="en-US" sz="1000"/>
          </a:p>
        </p:txBody>
      </p:sp>
      <p:sp>
        <p:nvSpPr>
          <p:cNvPr id="37" name="Text 27"/>
          <p:cNvSpPr txBox="1"/>
          <p:nvPr/>
        </p:nvSpPr>
        <p:spPr>
          <a:xfrm>
            <a:off x="2895905" y="5007254"/>
            <a:ext cx="276240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in-house consultants · 300+ recruiters · 2 proprietary hiring platforms · No subcontracting</a:t>
            </a:r>
            <a:endParaRPr lang="en-US" sz="1000"/>
          </a:p>
        </p:txBody>
      </p:sp>
      <p:sp>
        <p:nvSpPr>
          <p:cNvPr id="38" name="Text 28"/>
          <p:cNvSpPr txBox="1"/>
          <p:nvPr/>
        </p:nvSpPr>
        <p:spPr>
          <a:xfrm>
            <a:off x="6038698" y="5094122"/>
            <a:ext cx="2477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Frequently subcontract. No proprietary hiring platforms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896198" y="5094122"/>
            <a:ext cx="24963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Lacks SME depth &amp; governance. Outcome ownership absent</a:t>
            </a:r>
            <a:endParaRPr lang="en-US" sz="1000"/>
          </a:p>
        </p:txBody>
      </p:sp>
      <p:sp>
        <p:nvSpPr>
          <p:cNvPr id="40" name="Shape 30"/>
          <p:cNvSpPr/>
          <p:nvPr/>
        </p:nvSpPr>
        <p:spPr>
          <a:xfrm>
            <a:off x="2315261" y="5762549"/>
            <a:ext cx="9144" cy="82844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1"/>
          <p:cNvSpPr txBox="1"/>
          <p:nvPr/>
        </p:nvSpPr>
        <p:spPr>
          <a:xfrm>
            <a:off x="1185062" y="6072530"/>
            <a:ext cx="10433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56">
                <a:solidFill>
                  <a:srgbClr val="64748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KEY METRICS</a:t>
            </a:r>
            <a:endParaRPr lang="en-US" sz="1100"/>
          </a:p>
        </p:txBody>
      </p:sp>
      <p:pic>
        <p:nvPicPr>
          <p:cNvPr id="42" name="Image 8" descr="gen-dedup-0bed6a635fcb1d23b7a23c5aaedf5133.png"/>
          <p:cNvPicPr>
            <a:picLocks noChangeAspect="1"/>
          </p:cNvPicPr>
          <p:nvPr/>
        </p:nvPicPr>
        <p:blipFill>
          <a:blip r:embed="rId8"/>
          <a:srcRect l="-3526" r="-3526"/>
          <a:stretch/>
        </p:blipFill>
        <p:spPr>
          <a:xfrm>
            <a:off x="913486" y="6118250"/>
            <a:ext cx="152705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2506370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5,500</a:t>
            </a:r>
            <a:endParaRPr lang="en-US" sz="1800"/>
          </a:p>
        </p:txBody>
      </p:sp>
      <p:sp>
        <p:nvSpPr>
          <p:cNvPr id="44" name="Text 33"/>
          <p:cNvSpPr txBox="1"/>
          <p:nvPr/>
        </p:nvSpPr>
        <p:spPr>
          <a:xfrm>
            <a:off x="2506370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In-house Consultants</a:t>
            </a:r>
            <a:endParaRPr lang="en-US" sz="800"/>
          </a:p>
        </p:txBody>
      </p:sp>
      <p:pic>
        <p:nvPicPr>
          <p:cNvPr id="45" name="Image 9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4225442" y="6034126"/>
            <a:ext cx="9144" cy="286207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321454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6</a:t>
            </a: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0+</a:t>
            </a:r>
            <a:endParaRPr lang="en-US" sz="1800"/>
          </a:p>
        </p:txBody>
      </p:sp>
      <p:sp>
        <p:nvSpPr>
          <p:cNvPr id="47" name="Text 35"/>
          <p:cNvSpPr txBox="1"/>
          <p:nvPr/>
        </p:nvSpPr>
        <p:spPr>
          <a:xfrm>
            <a:off x="4321454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Accelerators</a:t>
            </a:r>
            <a:endParaRPr lang="en-US" sz="800"/>
          </a:p>
        </p:txBody>
      </p:sp>
      <p:pic>
        <p:nvPicPr>
          <p:cNvPr id="48" name="Image 10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6040526" y="6034126"/>
            <a:ext cx="9144" cy="286207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137453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30-40%</a:t>
            </a:r>
            <a:endParaRPr lang="en-US" sz="1800"/>
          </a:p>
        </p:txBody>
      </p:sp>
      <p:sp>
        <p:nvSpPr>
          <p:cNvPr id="50" name="Text 37"/>
          <p:cNvSpPr txBox="1"/>
          <p:nvPr/>
        </p:nvSpPr>
        <p:spPr>
          <a:xfrm>
            <a:off x="6137453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OPEX Reduction</a:t>
            </a:r>
            <a:endParaRPr lang="en-US" sz="800"/>
          </a:p>
        </p:txBody>
      </p:sp>
      <p:pic>
        <p:nvPicPr>
          <p:cNvPr id="51" name="Image 11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7856525" y="6034126"/>
            <a:ext cx="9144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952537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Weeks</a:t>
            </a:r>
            <a:endParaRPr lang="en-US" sz="1800"/>
          </a:p>
        </p:txBody>
      </p:sp>
      <p:sp>
        <p:nvSpPr>
          <p:cNvPr id="53" name="Text 39"/>
          <p:cNvSpPr txBox="1"/>
          <p:nvPr/>
        </p:nvSpPr>
        <p:spPr>
          <a:xfrm>
            <a:off x="7952537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PoC to Production</a:t>
            </a:r>
            <a:endParaRPr lang="en-US" sz="800"/>
          </a:p>
        </p:txBody>
      </p:sp>
      <p:pic>
        <p:nvPicPr>
          <p:cNvPr id="54" name="Image 12" descr="gen-dedup-bc499f386c10f37c45470adccc65c0cd.png"/>
          <p:cNvPicPr>
            <a:picLocks noChangeAspect="1"/>
          </p:cNvPicPr>
          <p:nvPr/>
        </p:nvPicPr>
        <p:blipFill>
          <a:blip r:embed="rId9"/>
          <a:srcRect t="-2165" b="-2165"/>
          <a:stretch/>
        </p:blipFill>
        <p:spPr>
          <a:xfrm>
            <a:off x="9671609" y="6034126"/>
            <a:ext cx="9144" cy="286207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9767621" y="5981090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</a:t>
            </a:r>
            <a:endParaRPr lang="en-US" sz="1800"/>
          </a:p>
        </p:txBody>
      </p:sp>
      <p:sp>
        <p:nvSpPr>
          <p:cNvPr id="56" name="Text 41"/>
          <p:cNvSpPr txBox="1"/>
          <p:nvPr/>
        </p:nvSpPr>
        <p:spPr>
          <a:xfrm>
            <a:off x="9767621" y="6247181"/>
            <a:ext cx="16386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Subcontracting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072768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585" y="232488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4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OUR ENGAGEMENT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32585" y="815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Three Ways To Engage - Each Built Around How The Workforce Is Hired, Held And Transitioned To You.</a:t>
            </a:r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3042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27632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BOT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627632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Build–Operate–Transfer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14400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 dirty="0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hire, build and run the team, then transfer the workforce to your payroll on a defined timeline. Clean, de-risked path - ideal for Southwest's phased scale to 1,000+.</a:t>
            </a:r>
            <a:endParaRPr lang="en-US" sz="1031" dirty="0">
              <a:latin typeface="Raleway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370832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645152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30428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58384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CaaS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358384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Captive-as-a-Service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645152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 hold the employment and operating layer; you direct the work. Zero-capex, variable workforce that flexes with demand.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8101584" y="1874520"/>
            <a:ext cx="3529584" cy="228600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375904" y="2148840"/>
            <a:ext cx="603504" cy="603504"/>
          </a:xfrm>
          <a:prstGeom prst="ellipse">
            <a:avLst/>
          </a:prstGeom>
          <a:solidFill>
            <a:srgbClr val="E9EEF6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1352" y="2304288"/>
            <a:ext cx="292608" cy="2926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89136" y="214884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B2A4A"/>
                </a:solidFill>
                <a:latin typeface="Raleway" pitchFamily="2" charset="0"/>
                <a:ea typeface="Georgia" pitchFamily="34" charset="-122"/>
                <a:cs typeface="Georgia" pitchFamily="34" charset="-120"/>
              </a:rPr>
              <a:t>HYBRID</a:t>
            </a:r>
            <a:endParaRPr lang="en-US" sz="2200">
              <a:latin typeface="Raleway" pitchFamily="2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9089136" y="253288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>
                <a:solidFill>
                  <a:srgbClr val="147A6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Calibrated to mandate</a:t>
            </a:r>
            <a:endParaRPr lang="en-US" sz="1000">
              <a:latin typeface="Raleway" pitchFamily="2" charset="0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8375904" y="2898648"/>
            <a:ext cx="3026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031">
                <a:solidFill>
                  <a:srgbClr val="16203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Core IP and leadership hired direct to you; scale roles stay on our books and transition on a ~3-month cadence. Most common for AI-first hubs.</a:t>
            </a:r>
            <a:endParaRPr lang="en-US" sz="1031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40082" y="4434839"/>
            <a:ext cx="10911535" cy="171570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143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960120" y="46085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151" dirty="0">
                <a:solidFill>
                  <a:srgbClr val="2A9D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HOW WE POSITION THE PARTNERSHIP</a:t>
            </a:r>
            <a:endParaRPr lang="en-US" sz="1100" dirty="0">
              <a:solidFill>
                <a:srgbClr val="2A9D8F"/>
              </a:solidFill>
              <a:latin typeface="Raleway" pitchFamily="2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960120" y="4901184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i="1">
                <a:latin typeface="Raleway" pitchFamily="2" charset="0"/>
                <a:ea typeface="Georgia" pitchFamily="34" charset="-122"/>
                <a:cs typeface="Georgia" pitchFamily="34" charset="-120"/>
              </a:rPr>
              <a:t>“We set up the GCC, build the culture, build the pods, and find your leaders.”</a:t>
            </a:r>
            <a:endParaRPr lang="en-US" sz="1600">
              <a:latin typeface="Raleway" pitchFamily="2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005840" y="53218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Core IP &amp; leadership roles are yours - placed full-time, not contract-to-hire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Scale roles flex on our books; transition on a ~3-month cadence as demand matures</a:t>
            </a:r>
            <a:endParaRPr lang="en-US" sz="1100" dirty="0">
              <a:latin typeface="Raleway" pitchFamily="2" charset="0"/>
            </a:endParaRPr>
          </a:p>
          <a:p>
            <a:pPr marL="165096" indent="-165096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latin typeface="Raleway" pitchFamily="2" charset="0"/>
                <a:ea typeface="Calibri" pitchFamily="34" charset="-122"/>
                <a:cs typeface="Calibri" pitchFamily="34" charset="-120"/>
              </a:rPr>
              <a:t>One integrated partner across advisory, talent, AI engineering &amp; operations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34" name="Image 3" descr="gen-dedup-ef527bea2207a14ec6e8d4c8ae9cdc45.png">
            <a:extLst>
              <a:ext uri="{FF2B5EF4-FFF2-40B4-BE49-F238E27FC236}">
                <a16:creationId xmlns:a16="http://schemas.microsoft.com/office/drawing/2014/main" id="{5A7B537F-DECD-1F9B-8D25-05DE4975932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84" r="-384"/>
          <a:stretch/>
        </p:blipFill>
        <p:spPr>
          <a:xfrm>
            <a:off x="609905" y="513893"/>
            <a:ext cx="57607" cy="476402"/>
          </a:xfrm>
          <a:prstGeom prst="rect">
            <a:avLst/>
          </a:prstGeom>
        </p:spPr>
      </p:pic>
      <p:pic>
        <p:nvPicPr>
          <p:cNvPr id="36" name="Image 1" descr="gen-dedup-323228122ff92d2332e711a84ca3b40c.png">
            <a:extLst>
              <a:ext uri="{FF2B5EF4-FFF2-40B4-BE49-F238E27FC236}">
                <a16:creationId xmlns:a16="http://schemas.microsoft.com/office/drawing/2014/main" id="{7BDFB49D-4770-417A-3427-BB22271B791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8" name="Image 2" descr="gen-dedup-9663ecf744b06e35d4c2cebaab92a2ea.png">
            <a:extLst>
              <a:ext uri="{FF2B5EF4-FFF2-40B4-BE49-F238E27FC236}">
                <a16:creationId xmlns:a16="http://schemas.microsoft.com/office/drawing/2014/main" id="{D30CF95D-69D2-B95B-602B-F363E8DFCC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31" name="Shape 4">
            <a:extLst>
              <a:ext uri="{FF2B5EF4-FFF2-40B4-BE49-F238E27FC236}">
                <a16:creationId xmlns:a16="http://schemas.microsoft.com/office/drawing/2014/main" id="{BBCDDA5B-D44E-C7DB-0F83-785E756E9C1B}"/>
              </a:ext>
            </a:extLst>
          </p:cNvPr>
          <p:cNvSpPr/>
          <p:nvPr/>
        </p:nvSpPr>
        <p:spPr>
          <a:xfrm>
            <a:off x="609904" y="182117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4">
            <a:extLst>
              <a:ext uri="{FF2B5EF4-FFF2-40B4-BE49-F238E27FC236}">
                <a16:creationId xmlns:a16="http://schemas.microsoft.com/office/drawing/2014/main" id="{3E4CD662-29F3-F704-F276-7809D2AFD6D9}"/>
              </a:ext>
            </a:extLst>
          </p:cNvPr>
          <p:cNvSpPr/>
          <p:nvPr/>
        </p:nvSpPr>
        <p:spPr>
          <a:xfrm>
            <a:off x="4350815" y="1830316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9075DFCB-AF89-7D04-C4FC-01891F6C3BB0}"/>
              </a:ext>
            </a:extLst>
          </p:cNvPr>
          <p:cNvSpPr/>
          <p:nvPr/>
        </p:nvSpPr>
        <p:spPr>
          <a:xfrm>
            <a:off x="8091726" y="1839461"/>
            <a:ext cx="3529583" cy="70121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4">
            <a:extLst>
              <a:ext uri="{FF2B5EF4-FFF2-40B4-BE49-F238E27FC236}">
                <a16:creationId xmlns:a16="http://schemas.microsoft.com/office/drawing/2014/main" id="{A97E8DC9-4566-74DF-15C9-E0059E5C68E7}"/>
              </a:ext>
            </a:extLst>
          </p:cNvPr>
          <p:cNvSpPr/>
          <p:nvPr/>
        </p:nvSpPr>
        <p:spPr>
          <a:xfrm rot="5400000" flipV="1">
            <a:off x="-207001" y="5258484"/>
            <a:ext cx="1715701" cy="57605"/>
          </a:xfrm>
          <a:prstGeom prst="roundRect">
            <a:avLst>
              <a:gd name="adj" fmla="val 139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127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0598" y="-952805"/>
            <a:ext cx="2857500" cy="2857500"/>
          </a:xfrm>
          <a:prstGeom prst="ellipse">
            <a:avLst/>
          </a:prstGeom>
          <a:solidFill>
            <a:srgbClr val="2A9D8F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952805" y="3810305"/>
            <a:ext cx="3810305" cy="3810305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4c26b4c5ec9888af3384e8d3541bb01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5" name="Image 1" descr="gen-dedup-4fa3233eeced3efae942f87c3fec22ca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6" name="Image 2" descr="gen-dedup-75d82f7445d1942c6539817bc8ac9cde.png"/>
          <p:cNvPicPr>
            <a:picLocks noChangeAspect="1"/>
          </p:cNvPicPr>
          <p:nvPr/>
        </p:nvPicPr>
        <p:blipFill>
          <a:blip r:embed="rId5"/>
          <a:srcRect l="-360" r="-360"/>
          <a:stretch/>
        </p:blipFill>
        <p:spPr>
          <a:xfrm>
            <a:off x="381305" y="437998"/>
            <a:ext cx="38405" cy="381305"/>
          </a:xfrm>
          <a:prstGeom prst="rect">
            <a:avLst/>
          </a:prstGeom>
        </p:spPr>
      </p:pic>
      <p:pic>
        <p:nvPicPr>
          <p:cNvPr id="7" name="Image 3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1548555" y="1437870"/>
            <a:ext cx="1295705" cy="19202"/>
          </a:xfrm>
          <a:prstGeom prst="rect">
            <a:avLst/>
          </a:prstGeom>
        </p:spPr>
      </p:pic>
      <p:pic>
        <p:nvPicPr>
          <p:cNvPr id="8" name="Image 4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3454165" y="1437870"/>
            <a:ext cx="1295705" cy="19202"/>
          </a:xfrm>
          <a:prstGeom prst="rect">
            <a:avLst/>
          </a:prstGeom>
        </p:spPr>
      </p:pic>
      <p:pic>
        <p:nvPicPr>
          <p:cNvPr id="9" name="Image 5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5358860" y="1437870"/>
            <a:ext cx="1295705" cy="19202"/>
          </a:xfrm>
          <a:prstGeom prst="rect">
            <a:avLst/>
          </a:prstGeom>
        </p:spPr>
      </p:pic>
      <p:pic>
        <p:nvPicPr>
          <p:cNvPr id="10" name="Image 6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7263555" y="1437870"/>
            <a:ext cx="1295705" cy="19202"/>
          </a:xfrm>
          <a:prstGeom prst="rect">
            <a:avLst/>
          </a:prstGeom>
        </p:spPr>
      </p:pic>
      <p:pic>
        <p:nvPicPr>
          <p:cNvPr id="11" name="Image 7" descr="gen-dedup-7f61158598543fc796bb3c2c27f958a4.png"/>
          <p:cNvPicPr>
            <a:picLocks noChangeAspect="1"/>
          </p:cNvPicPr>
          <p:nvPr/>
        </p:nvPicPr>
        <p:blipFill>
          <a:blip r:embed="rId6"/>
          <a:srcRect t="-388" b="-388"/>
          <a:stretch/>
        </p:blipFill>
        <p:spPr>
          <a:xfrm>
            <a:off x="9169165" y="1437870"/>
            <a:ext cx="1295705" cy="19202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381305" y="4858207"/>
            <a:ext cx="11449202" cy="1666951"/>
          </a:xfrm>
          <a:prstGeom prst="roundRect">
            <a:avLst>
              <a:gd name="adj" fmla="val 455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3"/>
          <p:cNvSpPr/>
          <p:nvPr/>
        </p:nvSpPr>
        <p:spPr>
          <a:xfrm>
            <a:off x="381305" y="4858207"/>
            <a:ext cx="11449202" cy="38405"/>
          </a:xfrm>
          <a:prstGeom prst="roundRect">
            <a:avLst>
              <a:gd name="adj" fmla="val 197618"/>
            </a:avLst>
          </a:prstGeom>
          <a:solidFill>
            <a:srgbClr val="1F2A44"/>
          </a:solidFill>
          <a:ln w="12700">
            <a:solidFill>
              <a:srgbClr val="1F2A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4" name="Image 8" descr="gen-dedup-ab1146f3f355eca22c0d9b03e8fdfd45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39565" y="1133375"/>
            <a:ext cx="647395" cy="647395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81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6" name="Image 9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2634862" y="1381279"/>
            <a:ext cx="105156" cy="133502"/>
          </a:xfrm>
          <a:prstGeom prst="rect">
            <a:avLst/>
          </a:prstGeom>
        </p:spPr>
      </p:pic>
      <p:pic>
        <p:nvPicPr>
          <p:cNvPr id="17" name="Image 10" descr="gen-dedup-084ed169e39c505ee56d1059d1e7f5e0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2844260" y="1133375"/>
            <a:ext cx="647395" cy="647395"/>
          </a:xfrm>
          <a:prstGeom prst="rect">
            <a:avLst/>
          </a:prstGeom>
        </p:spPr>
      </p:pic>
      <p:sp>
        <p:nvSpPr>
          <p:cNvPr id="18" name="Shape 5"/>
          <p:cNvSpPr/>
          <p:nvPr/>
        </p:nvSpPr>
        <p:spPr>
          <a:xfrm>
            <a:off x="2286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19" name="Image 11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4539558" y="1381279"/>
            <a:ext cx="105156" cy="133502"/>
          </a:xfrm>
          <a:prstGeom prst="rect">
            <a:avLst/>
          </a:prstGeom>
        </p:spPr>
      </p:pic>
      <p:pic>
        <p:nvPicPr>
          <p:cNvPr id="20" name="Image 12" descr="gen-dedup-f03bd5e991a1e95ba5f86664ffaf90b6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748955" y="1133375"/>
            <a:ext cx="647395" cy="647395"/>
          </a:xfrm>
          <a:prstGeom prst="rect">
            <a:avLst/>
          </a:prstGeom>
        </p:spPr>
      </p:pic>
      <p:sp>
        <p:nvSpPr>
          <p:cNvPr id="21" name="Shape 6"/>
          <p:cNvSpPr/>
          <p:nvPr/>
        </p:nvSpPr>
        <p:spPr>
          <a:xfrm>
            <a:off x="4190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2" name="Image 13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6445167" y="1381279"/>
            <a:ext cx="105156" cy="133502"/>
          </a:xfrm>
          <a:prstGeom prst="rect">
            <a:avLst/>
          </a:prstGeom>
        </p:spPr>
      </p:pic>
      <p:pic>
        <p:nvPicPr>
          <p:cNvPr id="23" name="Image 14" descr="gen-dedup-806dc9e2e0ee6d295653696f70b9366b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4565" y="1133375"/>
            <a:ext cx="647395" cy="647395"/>
          </a:xfrm>
          <a:prstGeom prst="rect">
            <a:avLst/>
          </a:prstGeom>
        </p:spPr>
      </p:pic>
      <p:sp>
        <p:nvSpPr>
          <p:cNvPr id="24" name="Shape 7"/>
          <p:cNvSpPr/>
          <p:nvPr/>
        </p:nvSpPr>
        <p:spPr>
          <a:xfrm>
            <a:off x="609630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5" name="Image 15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8349862" y="1381279"/>
            <a:ext cx="105156" cy="133502"/>
          </a:xfrm>
          <a:prstGeom prst="rect">
            <a:avLst/>
          </a:prstGeom>
        </p:spPr>
      </p:pic>
      <p:pic>
        <p:nvPicPr>
          <p:cNvPr id="26" name="Image 16" descr="gen-dedup-ad6b9b0bf83ce2bd5a7c7b4006cbbe94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559260" y="1133375"/>
            <a:ext cx="647395" cy="64739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8001000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28" name="Image 17" descr="gen-dedup-751f54efc8996aa3b67bfa9254252285.png"/>
          <p:cNvPicPr>
            <a:picLocks noChangeAspect="1"/>
          </p:cNvPicPr>
          <p:nvPr/>
        </p:nvPicPr>
        <p:blipFill>
          <a:blip r:embed="rId8"/>
          <a:srcRect l="-13014" r="-13014"/>
          <a:stretch/>
        </p:blipFill>
        <p:spPr>
          <a:xfrm>
            <a:off x="10254558" y="1381279"/>
            <a:ext cx="105156" cy="133502"/>
          </a:xfrm>
          <a:prstGeom prst="rect">
            <a:avLst/>
          </a:prstGeom>
        </p:spPr>
      </p:pic>
      <p:pic>
        <p:nvPicPr>
          <p:cNvPr id="29" name="Image 18" descr="gen-dedup-b46550ae4e6ed9a58f8d7957a285dc33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463955" y="1133375"/>
            <a:ext cx="647395" cy="647395"/>
          </a:xfrm>
          <a:prstGeom prst="rect">
            <a:avLst/>
          </a:prstGeom>
        </p:spPr>
      </p:pic>
      <p:sp>
        <p:nvSpPr>
          <p:cNvPr id="30" name="Shape 9"/>
          <p:cNvSpPr/>
          <p:nvPr/>
        </p:nvSpPr>
        <p:spPr>
          <a:xfrm>
            <a:off x="9905695" y="2020197"/>
            <a:ext cx="1714500" cy="342900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31" name="Text 10"/>
          <p:cNvSpPr txBox="1"/>
          <p:nvPr/>
        </p:nvSpPr>
        <p:spPr>
          <a:xfrm>
            <a:off x="533095" y="381305"/>
            <a:ext cx="762061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CONTRACT PROCESS OUTSOURCING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pic>
        <p:nvPicPr>
          <p:cNvPr id="32" name="Image 19" descr="gen-dedup-4a6b4084955cbd0659fccb83d04c1ff8.png"/>
          <p:cNvPicPr>
            <a:picLocks noChangeAspect="1"/>
          </p:cNvPicPr>
          <p:nvPr/>
        </p:nvPicPr>
        <p:blipFill>
          <a:blip r:embed="rId14"/>
          <a:srcRect l="-2283" r="-2283"/>
          <a:stretch/>
        </p:blipFill>
        <p:spPr>
          <a:xfrm>
            <a:off x="1138904" y="1305282"/>
            <a:ext cx="209398" cy="267005"/>
          </a:xfrm>
          <a:prstGeom prst="rect">
            <a:avLst/>
          </a:prstGeom>
        </p:spPr>
      </p:pic>
      <p:sp>
        <p:nvSpPr>
          <p:cNvPr id="33" name="Text 11"/>
          <p:cNvSpPr txBox="1"/>
          <p:nvPr/>
        </p:nvSpPr>
        <p:spPr>
          <a:xfrm>
            <a:off x="381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Demand Planning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4" name="Text 12"/>
          <p:cNvSpPr txBox="1"/>
          <p:nvPr/>
        </p:nvSpPr>
        <p:spPr>
          <a:xfrm>
            <a:off x="431800" y="2581539"/>
            <a:ext cx="166400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​Receive hiring forecast and quarterly demand.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​Finalize role requirements, SLAs, and timelines.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​Allocate dedicated recruitment teams.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5" name="Image 20" descr="gen-dedup-583ddbce9aa1176519b3ebf713c30048.png"/>
          <p:cNvPicPr>
            <a:picLocks noChangeAspect="1"/>
          </p:cNvPicPr>
          <p:nvPr/>
        </p:nvPicPr>
        <p:blipFill>
          <a:blip r:embed="rId15"/>
          <a:srcRect t="-29694" b="-29694"/>
          <a:stretch/>
        </p:blipFill>
        <p:spPr>
          <a:xfrm>
            <a:off x="2967514" y="1276407"/>
            <a:ext cx="365760" cy="365760"/>
          </a:xfrm>
          <a:prstGeom prst="rect">
            <a:avLst/>
          </a:prstGeom>
        </p:spPr>
      </p:pic>
      <p:sp>
        <p:nvSpPr>
          <p:cNvPr id="36" name="Text 13"/>
          <p:cNvSpPr txBox="1"/>
          <p:nvPr/>
        </p:nvSpPr>
        <p:spPr>
          <a:xfrm>
            <a:off x="2286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Talent Sourcing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37" name="Text 14"/>
          <p:cNvSpPr txBox="1"/>
          <p:nvPr/>
        </p:nvSpPr>
        <p:spPr>
          <a:xfrm>
            <a:off x="2336495" y="2581539"/>
            <a:ext cx="1664005" cy="151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​Target pool for voice roles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​Top 20 partner colleges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​10,000+ candidate database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​Employee referrals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​Job portals &amp; social media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​3 weekly walk-in drives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38" name="Image 21" descr="gen-dedup-b0e128b88bfd559ead5e7a3c3bdc5cee.png"/>
          <p:cNvPicPr>
            <a:picLocks noChangeAspect="1"/>
          </p:cNvPicPr>
          <p:nvPr/>
        </p:nvPicPr>
        <p:blipFill>
          <a:blip r:embed="rId16"/>
          <a:srcRect t="-31430" b="-31430"/>
          <a:stretch/>
        </p:blipFill>
        <p:spPr>
          <a:xfrm>
            <a:off x="4843767" y="1237426"/>
            <a:ext cx="457200" cy="457200"/>
          </a:xfrm>
          <a:prstGeom prst="rect">
            <a:avLst/>
          </a:prstGeom>
        </p:spPr>
      </p:pic>
      <p:sp>
        <p:nvSpPr>
          <p:cNvPr id="39" name="Text 15"/>
          <p:cNvSpPr txBox="1"/>
          <p:nvPr/>
        </p:nvSpPr>
        <p:spPr>
          <a:xfrm>
            <a:off x="4190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Screening &amp; Assess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0" name="Text 16"/>
          <p:cNvSpPr txBox="1"/>
          <p:nvPr/>
        </p:nvSpPr>
        <p:spPr>
          <a:xfrm>
            <a:off x="4242105" y="2581539"/>
            <a:ext cx="1664005" cy="1279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​AI-powered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​HR screening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​Communication and aptitude assessment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​Role-specific evaluation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​Candidate shortlisting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1" name="Image 22" descr="gen-dedup-c0e8b97501f6f827e5c293fa34a7379c.png"/>
          <p:cNvPicPr>
            <a:picLocks noChangeAspect="1"/>
          </p:cNvPicPr>
          <p:nvPr/>
        </p:nvPicPr>
        <p:blipFill>
          <a:blip r:embed="rId17"/>
          <a:srcRect t="-29694" b="-29694"/>
          <a:stretch/>
        </p:blipFill>
        <p:spPr>
          <a:xfrm>
            <a:off x="6738404" y="1228282"/>
            <a:ext cx="457200" cy="457200"/>
          </a:xfrm>
          <a:prstGeom prst="rect">
            <a:avLst/>
          </a:prstGeom>
        </p:spPr>
      </p:pic>
      <p:sp>
        <p:nvSpPr>
          <p:cNvPr id="42" name="Text 17"/>
          <p:cNvSpPr txBox="1"/>
          <p:nvPr/>
        </p:nvSpPr>
        <p:spPr>
          <a:xfrm>
            <a:off x="609630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Client Selection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3" name="Text 18"/>
          <p:cNvSpPr txBox="1"/>
          <p:nvPr/>
        </p:nvSpPr>
        <p:spPr>
          <a:xfrm>
            <a:off x="6146800" y="2581539"/>
            <a:ext cx="1664005" cy="136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​Schedule client interviews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​Coordinate interview feedback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​Manage candidate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​Release offers through AI-enabled platform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4" name="Image 23" descr="gen-dedup-ac53abe7c25d3e6867ea233df4b39080.png"/>
          <p:cNvPicPr>
            <a:picLocks noChangeAspect="1"/>
          </p:cNvPicPr>
          <p:nvPr/>
        </p:nvPicPr>
        <p:blipFill>
          <a:blip r:embed="rId18"/>
          <a:srcRect t="-23287" b="-23287"/>
          <a:stretch/>
        </p:blipFill>
        <p:spPr>
          <a:xfrm>
            <a:off x="8691658" y="1285551"/>
            <a:ext cx="365760" cy="365760"/>
          </a:xfrm>
          <a:prstGeom prst="rect">
            <a:avLst/>
          </a:prstGeom>
        </p:spPr>
      </p:pic>
      <p:sp>
        <p:nvSpPr>
          <p:cNvPr id="45" name="Text 19"/>
          <p:cNvSpPr txBox="1"/>
          <p:nvPr/>
        </p:nvSpPr>
        <p:spPr>
          <a:xfrm>
            <a:off x="8001000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Offer to Joining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6" name="Text 20"/>
          <p:cNvSpPr txBox="1"/>
          <p:nvPr/>
        </p:nvSpPr>
        <p:spPr>
          <a:xfrm>
            <a:off x="8051495" y="2581539"/>
            <a:ext cx="1664005" cy="1119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​Offer acceptance tracking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​Background verification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​Documentation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​Pre-joining engagement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​Joining confirmation</a:t>
            </a:r>
            <a:endParaRPr lang="en-US" sz="1150" dirty="0">
              <a:latin typeface="Raleway" pitchFamily="2" charset="0"/>
            </a:endParaRPr>
          </a:p>
        </p:txBody>
      </p:sp>
      <p:pic>
        <p:nvPicPr>
          <p:cNvPr id="47" name="Image 24" descr="gen-dedup-a43375c774087ebf05bf08d5bb813ef2.png"/>
          <p:cNvPicPr>
            <a:picLocks noChangeAspect="1"/>
          </p:cNvPicPr>
          <p:nvPr/>
        </p:nvPicPr>
        <p:blipFill>
          <a:blip r:embed="rId19"/>
          <a:srcRect t="-15144" b="-15144"/>
          <a:stretch/>
        </p:blipFill>
        <p:spPr>
          <a:xfrm>
            <a:off x="10597267" y="1285551"/>
            <a:ext cx="365760" cy="365760"/>
          </a:xfrm>
          <a:prstGeom prst="rect">
            <a:avLst/>
          </a:prstGeom>
        </p:spPr>
      </p:pic>
      <p:sp>
        <p:nvSpPr>
          <p:cNvPr id="48" name="Text 21"/>
          <p:cNvSpPr txBox="1"/>
          <p:nvPr/>
        </p:nvSpPr>
        <p:spPr>
          <a:xfrm>
            <a:off x="9905695" y="2116209"/>
            <a:ext cx="1714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Deployment</a:t>
            </a:r>
            <a:endParaRPr lang="en-US" sz="1300" dirty="0">
              <a:latin typeface="Raleway" pitchFamily="2" charset="0"/>
            </a:endParaRPr>
          </a:p>
        </p:txBody>
      </p:sp>
      <p:sp>
        <p:nvSpPr>
          <p:cNvPr id="49" name="Text 22"/>
          <p:cNvSpPr txBox="1"/>
          <p:nvPr/>
        </p:nvSpPr>
        <p:spPr>
          <a:xfrm>
            <a:off x="9957105" y="2581539"/>
            <a:ext cx="1664005" cy="120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​Onboard candidates at BLR/HYD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​Track joining ratio and SLA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​Weekly governance reviews</a:t>
            </a:r>
            <a:endParaRPr lang="en-US" sz="1150" dirty="0">
              <a:latin typeface="Raleway" pitchFamily="2" charset="0"/>
            </a:endParaRPr>
          </a:p>
          <a:p>
            <a:pPr marL="139700" indent="-139700" algn="l">
              <a:lnSpc>
                <a:spcPts val="126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B5563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​Continuous pipeline replenishment</a:t>
            </a:r>
            <a:endParaRPr lang="en-US" sz="1150" dirty="0">
              <a:latin typeface="Raleway" pitchFamily="2" charset="0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571500" y="5048402"/>
            <a:ext cx="304495" cy="304495"/>
          </a:xfrm>
          <a:prstGeom prst="roundRect">
            <a:avLst>
              <a:gd name="adj" fmla="val 18919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51" name="Image 25" descr="gen-dedup-7e358a94e44e4fa43a54aae5ce00aa47.png"/>
          <p:cNvPicPr>
            <a:picLocks noChangeAspect="1"/>
          </p:cNvPicPr>
          <p:nvPr/>
        </p:nvPicPr>
        <p:blipFill>
          <a:blip r:embed="rId20"/>
          <a:srcRect t="-100" b="-100"/>
          <a:stretch/>
        </p:blipFill>
        <p:spPr>
          <a:xfrm>
            <a:off x="666598" y="5124298"/>
            <a:ext cx="114300" cy="152705"/>
          </a:xfrm>
          <a:prstGeom prst="rect">
            <a:avLst/>
          </a:prstGeom>
        </p:spPr>
      </p:pic>
      <p:sp>
        <p:nvSpPr>
          <p:cNvPr id="52" name="Text 24"/>
          <p:cNvSpPr txBox="1"/>
          <p:nvPr/>
        </p:nvSpPr>
        <p:spPr>
          <a:xfrm>
            <a:off x="990295" y="5086807"/>
            <a:ext cx="2857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Delivery Strengths</a:t>
            </a:r>
            <a:endParaRPr lang="en-US" sz="1300" dirty="0">
              <a:latin typeface="Raleway" pitchFamily="2" charset="0"/>
            </a:endParaRPr>
          </a:p>
        </p:txBody>
      </p:sp>
      <p:pic>
        <p:nvPicPr>
          <p:cNvPr id="53" name="Image 26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71500" y="5649354"/>
            <a:ext cx="152705" cy="190195"/>
          </a:xfrm>
          <a:prstGeom prst="rect">
            <a:avLst/>
          </a:prstGeom>
        </p:spPr>
      </p:pic>
      <p:sp>
        <p:nvSpPr>
          <p:cNvPr id="54" name="Text 25"/>
          <p:cNvSpPr txBox="1"/>
          <p:nvPr/>
        </p:nvSpPr>
        <p:spPr>
          <a:xfrm>
            <a:off x="895198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Partnerships with Top 20 colleges.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5" name="Image 27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2800807" y="5649354"/>
            <a:ext cx="152705" cy="190195"/>
          </a:xfrm>
          <a:prstGeom prst="rect">
            <a:avLst/>
          </a:prstGeom>
        </p:spPr>
      </p:pic>
      <p:sp>
        <p:nvSpPr>
          <p:cNvPr id="56" name="Text 26"/>
          <p:cNvSpPr txBox="1"/>
          <p:nvPr/>
        </p:nvSpPr>
        <p:spPr>
          <a:xfrm>
            <a:off x="3124505" y="5649354"/>
            <a:ext cx="181051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10,000+ active candidate database.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7" name="Image 28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5029200" y="5649354"/>
            <a:ext cx="152705" cy="190195"/>
          </a:xfrm>
          <a:prstGeom prst="rect">
            <a:avLst/>
          </a:prstGeom>
        </p:spPr>
      </p:pic>
      <p:sp>
        <p:nvSpPr>
          <p:cNvPr id="58" name="Text 27"/>
          <p:cNvSpPr txBox="1"/>
          <p:nvPr/>
        </p:nvSpPr>
        <p:spPr>
          <a:xfrm>
            <a:off x="5352898" y="5649354"/>
            <a:ext cx="190561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Proven five-year delivery experience in Customer Support hiring.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59" name="Image 29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7448702" y="5649354"/>
            <a:ext cx="152705" cy="190195"/>
          </a:xfrm>
          <a:prstGeom prst="rect">
            <a:avLst/>
          </a:prstGeom>
        </p:spPr>
      </p:pic>
      <p:sp>
        <p:nvSpPr>
          <p:cNvPr id="60" name="Text 28"/>
          <p:cNvSpPr txBox="1"/>
          <p:nvPr/>
        </p:nvSpPr>
        <p:spPr>
          <a:xfrm>
            <a:off x="7772400" y="5649354"/>
            <a:ext cx="16194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Capacity to deliver 300 CPO hires per quarter.</a:t>
            </a:r>
            <a:endParaRPr lang="en-US" sz="1100" dirty="0">
              <a:latin typeface="Raleway" pitchFamily="2" charset="0"/>
            </a:endParaRPr>
          </a:p>
        </p:txBody>
      </p:sp>
      <p:pic>
        <p:nvPicPr>
          <p:cNvPr id="61" name="Image 30" descr="gen-dedup-564235ad4609c9efa5814b009357ec1f.png"/>
          <p:cNvPicPr>
            <a:picLocks noChangeAspect="1"/>
          </p:cNvPicPr>
          <p:nvPr/>
        </p:nvPicPr>
        <p:blipFill>
          <a:blip r:embed="rId21"/>
          <a:srcRect t="-12275" b="-12275"/>
          <a:stretch/>
        </p:blipFill>
        <p:spPr>
          <a:xfrm>
            <a:off x="9581998" y="5649354"/>
            <a:ext cx="152705" cy="190195"/>
          </a:xfrm>
          <a:prstGeom prst="rect">
            <a:avLst/>
          </a:prstGeom>
        </p:spPr>
      </p:pic>
      <p:sp>
        <p:nvSpPr>
          <p:cNvPr id="62" name="Text 29"/>
          <p:cNvSpPr txBox="1"/>
          <p:nvPr/>
        </p:nvSpPr>
        <p:spPr>
          <a:xfrm>
            <a:off x="9905695" y="5649354"/>
            <a:ext cx="1666951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Three walk-in drives every week.</a:t>
            </a:r>
            <a:endParaRPr lang="en-US" sz="11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52a6aed37365ba1b37d9c18af825b761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4876495" cy="75895"/>
          </a:xfrm>
          <a:prstGeom prst="rect">
            <a:avLst/>
          </a:prstGeom>
        </p:spPr>
      </p:pic>
      <p:pic>
        <p:nvPicPr>
          <p:cNvPr id="3" name="Image 1" descr="gen-dedup-b6bc99787a821c9ace348c3d347c76b2.png"/>
          <p:cNvPicPr>
            <a:picLocks noChangeAspect="1"/>
          </p:cNvPicPr>
          <p:nvPr/>
        </p:nvPicPr>
        <p:blipFill>
          <a:blip r:embed="rId4"/>
          <a:srcRect l="-201" r="-201"/>
          <a:stretch/>
        </p:blipFill>
        <p:spPr>
          <a:xfrm>
            <a:off x="4876495" y="0"/>
            <a:ext cx="7315200" cy="758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334195" y="-1429207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2" descr="gen-dedup-db50b546e9bae7cd91e656957d1236d6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381305" y="381305"/>
            <a:ext cx="38405" cy="4764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381305" y="1143000"/>
            <a:ext cx="11449202" cy="3353105"/>
          </a:xfrm>
          <a:prstGeom prst="roundRect">
            <a:avLst>
              <a:gd name="adj" fmla="val 2263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381305" y="4667098"/>
            <a:ext cx="11430000" cy="1238098"/>
          </a:xfrm>
          <a:prstGeom prst="roundRect">
            <a:avLst>
              <a:gd name="adj" fmla="val 613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pic>
        <p:nvPicPr>
          <p:cNvPr id="8" name="Image 3" descr="gen-dedup-585cde59db80495211d9f9275819a0e9.png"/>
          <p:cNvPicPr>
            <a:picLocks noChangeAspect="1"/>
          </p:cNvPicPr>
          <p:nvPr/>
        </p:nvPicPr>
        <p:blipFill>
          <a:blip r:embed="rId6"/>
          <a:srcRect l="-2" r="-2"/>
          <a:stretch/>
        </p:blipFill>
        <p:spPr>
          <a:xfrm>
            <a:off x="381305" y="6096305"/>
            <a:ext cx="11487607" cy="571500"/>
          </a:xfrm>
          <a:prstGeom prst="rect">
            <a:avLst/>
          </a:prstGeom>
        </p:spPr>
      </p:pic>
      <p:pic>
        <p:nvPicPr>
          <p:cNvPr id="9" name="Image 4" descr="gen-dedup-76e37ab332a35b71054b9cd9efd3a7f3.png"/>
          <p:cNvPicPr>
            <a:picLocks noChangeAspect="1"/>
          </p:cNvPicPr>
          <p:nvPr/>
        </p:nvPicPr>
        <p:blipFill>
          <a:blip r:embed="rId7"/>
          <a:srcRect t="-73" b="-73"/>
          <a:stretch/>
        </p:blipFill>
        <p:spPr>
          <a:xfrm>
            <a:off x="381305" y="4524451"/>
            <a:ext cx="2095805" cy="286207"/>
          </a:xfrm>
          <a:prstGeom prst="rect">
            <a:avLst/>
          </a:prstGeom>
        </p:spPr>
      </p:pic>
      <p:pic>
        <p:nvPicPr>
          <p:cNvPr id="10" name="Image 5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4000500" y="5000854"/>
            <a:ext cx="9144" cy="571500"/>
          </a:xfrm>
          <a:prstGeom prst="rect">
            <a:avLst/>
          </a:prstGeom>
        </p:spPr>
      </p:pic>
      <p:pic>
        <p:nvPicPr>
          <p:cNvPr id="11" name="Image 6" descr="gen-dedup-1299df1a9106269eceef43134d53c151.png"/>
          <p:cNvPicPr>
            <a:picLocks noChangeAspect="1"/>
          </p:cNvPicPr>
          <p:nvPr/>
        </p:nvPicPr>
        <p:blipFill>
          <a:blip r:embed="rId8"/>
          <a:srcRect t="-2083" b="-2083"/>
          <a:stretch/>
        </p:blipFill>
        <p:spPr>
          <a:xfrm>
            <a:off x="7715707" y="5000854"/>
            <a:ext cx="9144" cy="57150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1182198" y="228600"/>
            <a:ext cx="476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94A0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900" dirty="0"/>
          </a:p>
        </p:txBody>
      </p:sp>
      <p:sp>
        <p:nvSpPr>
          <p:cNvPr id="13" name="Text 4"/>
          <p:cNvSpPr txBox="1"/>
          <p:nvPr/>
        </p:nvSpPr>
        <p:spPr>
          <a:xfrm>
            <a:off x="533095" y="362102"/>
            <a:ext cx="111639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The Strategic Hiring Imperative </a:t>
            </a:r>
            <a:r>
              <a:rPr lang="en-US" sz="2400" b="1" dirty="0">
                <a:solidFill>
                  <a:srgbClr val="64738A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– Risk Mitigation &amp; Performance Assurance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14" name="Text 5"/>
          <p:cNvSpPr txBox="1"/>
          <p:nvPr/>
        </p:nvSpPr>
        <p:spPr>
          <a:xfrm>
            <a:off x="533095" y="724205"/>
            <a:ext cx="104781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38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Strategic Hiring: Transformational Flexibility Meets Execution Certainty</a:t>
            </a:r>
            <a:endParaRPr lang="en-US" sz="1500" dirty="0"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381305" y="1143000"/>
          <a:ext cx="11430000" cy="3487670"/>
        </p:xfrm>
        <a:graphic>
          <a:graphicData uri="http://schemas.openxmlformats.org/drawingml/2006/table">
            <a:tbl>
              <a:tblPr/>
              <a:tblGrid>
                <a:gridCol w="2352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22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FULL-TIME DIRECT HIRE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STRATEGIC HIRING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ADVANTAGE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Time-to-Productivity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60–90 days (typical India ramp)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30–45 days (proven track record)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payroll covers cost, risk absorption model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Cultural Alignment Risk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High; irreversible 30-day notice penalty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Mitigated; 90-day validation window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Continuous feedback loops; replacement guarantee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Skill Verification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Resume-based assessment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Real-world project performance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Demonstrated competency in banking context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Market Rate Volatility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Locked at day-1 salary; long-term inflation exposure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Flexible; 90-day market reset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J2W absorbs rate fluctuations during contract phase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Regulatory Compliance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Full statutory obligation immediately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3346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Managed by J2W as primary employer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44"/>
                          </a:solidFill>
                          <a:latin typeface="Raleway" pitchFamily="2" charset="0"/>
                          <a:ea typeface="Inter" pitchFamily="34" charset="-122"/>
                          <a:cs typeface="Inter" pitchFamily="34" charset="-120"/>
                        </a:rPr>
                        <a:t>Simplified transition; legal risk eliminated</a:t>
                      </a:r>
                      <a:endParaRPr lang="en-US" sz="1100" dirty="0">
                        <a:latin typeface="Raleway" pitchFamily="2" charset="0"/>
                        <a:ea typeface="Inter" charset="0"/>
                        <a:cs typeface="Inter" charset="0"/>
                      </a:endParaRPr>
                    </a:p>
                  </a:txBody>
                  <a:tcPr marL="190195" marR="190195" marT="133502" marB="133502" anchor="ctr">
                    <a:lnL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E5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>
                        <a:alpha val="4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6"/>
          <p:cNvSpPr txBox="1"/>
          <p:nvPr/>
        </p:nvSpPr>
        <p:spPr>
          <a:xfrm>
            <a:off x="803758" y="4595774"/>
            <a:ext cx="1465783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Financial Impact</a:t>
            </a:r>
            <a:endParaRPr lang="en-US" sz="900" dirty="0">
              <a:latin typeface="Raleway" pitchFamily="2" charset="0"/>
            </a:endParaRPr>
          </a:p>
        </p:txBody>
      </p:sp>
      <p:sp>
        <p:nvSpPr>
          <p:cNvPr id="17" name="Text 7"/>
          <p:cNvSpPr txBox="1"/>
          <p:nvPr/>
        </p:nvSpPr>
        <p:spPr>
          <a:xfrm>
            <a:off x="6665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45–50%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8" name="Text 8"/>
          <p:cNvSpPr txBox="1"/>
          <p:nvPr/>
        </p:nvSpPr>
        <p:spPr>
          <a:xfrm>
            <a:off x="6665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of permanent year-1 compensation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absorbs employment overhead)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19" name="Text 9"/>
          <p:cNvSpPr txBox="1"/>
          <p:nvPr/>
        </p:nvSpPr>
        <p:spPr>
          <a:xfrm>
            <a:off x="4381805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85%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0" name="Text 10"/>
          <p:cNvSpPr txBox="1"/>
          <p:nvPr/>
        </p:nvSpPr>
        <p:spPr>
          <a:xfrm>
            <a:off x="4381805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reduction in mis-hire risk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(J2W internal data across 250+ placements)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1" name="Text 11"/>
          <p:cNvSpPr txBox="1"/>
          <p:nvPr/>
        </p:nvSpPr>
        <p:spPr>
          <a:xfrm>
            <a:off x="8096098" y="4898875"/>
            <a:ext cx="31437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8–12%</a:t>
            </a:r>
            <a:endParaRPr lang="en-US" sz="30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2" name="Text 12"/>
          <p:cNvSpPr txBox="1"/>
          <p:nvPr/>
        </p:nvSpPr>
        <p:spPr>
          <a:xfrm>
            <a:off x="8096098" y="5359298"/>
            <a:ext cx="31437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total 12-month cost reduction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  <a:p>
            <a:pPr marL="0" indent="0" algn="l">
              <a:lnSpc>
                <a:spcPts val="1365"/>
              </a:lnSpc>
              <a:buNone/>
            </a:pPr>
            <a:r>
              <a:rPr lang="en-US" sz="1100" dirty="0">
                <a:solidFill>
                  <a:schemeClr val="bg1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(Day-366 conversion vs. direct hire)</a:t>
            </a:r>
            <a:endParaRPr lang="en-US" sz="1100" dirty="0">
              <a:solidFill>
                <a:schemeClr val="bg1"/>
              </a:solidFill>
              <a:latin typeface="Raleway" pitchFamily="2" charset="0"/>
            </a:endParaRPr>
          </a:p>
        </p:txBody>
      </p:sp>
      <p:sp>
        <p:nvSpPr>
          <p:cNvPr id="23" name="Text 13"/>
          <p:cNvSpPr txBox="1"/>
          <p:nvPr/>
        </p:nvSpPr>
        <p:spPr>
          <a:xfrm>
            <a:off x="619049" y="6174943"/>
            <a:ext cx="109545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Strategic Hiring is not compromise; it is strategic optionality</a:t>
            </a:r>
            <a:r>
              <a:rPr lang="en-US" sz="1200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– allowing client to acquire transformational talent with performance certainty, while J2W's operational infrastructure absorbs execution risk.</a:t>
            </a:r>
            <a:endParaRPr lang="en-US" sz="12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7A9A2-3F80-FB51-FBFF-C64E56705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1167;p28">
            <a:extLst>
              <a:ext uri="{FF2B5EF4-FFF2-40B4-BE49-F238E27FC236}">
                <a16:creationId xmlns:a16="http://schemas.microsoft.com/office/drawing/2014/main" id="{716471D0-FF9C-103A-34D0-08F23B2D1462}"/>
              </a:ext>
            </a:extLst>
          </p:cNvPr>
          <p:cNvSpPr/>
          <p:nvPr/>
        </p:nvSpPr>
        <p:spPr>
          <a:xfrm>
            <a:off x="2440104" y="2160244"/>
            <a:ext cx="11477" cy="704858"/>
          </a:xfrm>
          <a:custGeom>
            <a:avLst/>
            <a:gdLst/>
            <a:ahLst/>
            <a:cxnLst/>
            <a:rect l="l" t="t" r="r" b="b"/>
            <a:pathLst>
              <a:path w="323" h="19837" extrusionOk="0">
                <a:moveTo>
                  <a:pt x="156" y="1"/>
                </a:moveTo>
                <a:cubicBezTo>
                  <a:pt x="72" y="1"/>
                  <a:pt x="1" y="72"/>
                  <a:pt x="1" y="156"/>
                </a:cubicBezTo>
                <a:lnTo>
                  <a:pt x="1" y="19682"/>
                </a:lnTo>
                <a:cubicBezTo>
                  <a:pt x="1" y="19765"/>
                  <a:pt x="72" y="19837"/>
                  <a:pt x="156" y="19837"/>
                </a:cubicBezTo>
                <a:cubicBezTo>
                  <a:pt x="251" y="19837"/>
                  <a:pt x="322" y="19765"/>
                  <a:pt x="322" y="19682"/>
                </a:cubicBezTo>
                <a:lnTo>
                  <a:pt x="322" y="156"/>
                </a:lnTo>
                <a:cubicBezTo>
                  <a:pt x="322" y="72"/>
                  <a:pt x="251" y="1"/>
                  <a:pt x="156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Clr>
                <a:srgbClr val="000000"/>
              </a:buClr>
              <a:buFont typeface="Arial"/>
              <a:buNone/>
            </a:pPr>
            <a:endParaRPr sz="1400" kern="0">
              <a:solidFill>
                <a:srgbClr val="000000"/>
              </a:solidFill>
              <a:latin typeface="Oswald" panose="00000500000000000000" pitchFamily="2" charset="0"/>
              <a:cs typeface="Arial"/>
              <a:sym typeface="Arial"/>
            </a:endParaRPr>
          </a:p>
        </p:txBody>
      </p:sp>
      <p:grpSp>
        <p:nvGrpSpPr>
          <p:cNvPr id="85" name="Google Shape;1169;p28">
            <a:extLst>
              <a:ext uri="{FF2B5EF4-FFF2-40B4-BE49-F238E27FC236}">
                <a16:creationId xmlns:a16="http://schemas.microsoft.com/office/drawing/2014/main" id="{8A541D6C-1626-CF66-4AE8-55E6D3A00B4B}"/>
              </a:ext>
            </a:extLst>
          </p:cNvPr>
          <p:cNvGrpSpPr/>
          <p:nvPr/>
        </p:nvGrpSpPr>
        <p:grpSpPr>
          <a:xfrm>
            <a:off x="4138719" y="969718"/>
            <a:ext cx="1291642" cy="2101441"/>
            <a:chOff x="4509810" y="1070674"/>
            <a:chExt cx="1291642" cy="2101441"/>
          </a:xfrm>
        </p:grpSpPr>
        <p:sp>
          <p:nvSpPr>
            <p:cNvPr id="86" name="Google Shape;1170;p28">
              <a:extLst>
                <a:ext uri="{FF2B5EF4-FFF2-40B4-BE49-F238E27FC236}">
                  <a16:creationId xmlns:a16="http://schemas.microsoft.com/office/drawing/2014/main" id="{399D75F4-7A53-9473-FBEF-A2EE2F18D56C}"/>
                </a:ext>
              </a:extLst>
            </p:cNvPr>
            <p:cNvSpPr/>
            <p:nvPr/>
          </p:nvSpPr>
          <p:spPr>
            <a:xfrm>
              <a:off x="5146097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55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87" name="Google Shape;1171;p28">
              <a:extLst>
                <a:ext uri="{FF2B5EF4-FFF2-40B4-BE49-F238E27FC236}">
                  <a16:creationId xmlns:a16="http://schemas.microsoft.com/office/drawing/2014/main" id="{34468A44-505F-2527-2E43-6ADCB8F47E51}"/>
                </a:ext>
              </a:extLst>
            </p:cNvPr>
            <p:cNvGrpSpPr/>
            <p:nvPr/>
          </p:nvGrpSpPr>
          <p:grpSpPr>
            <a:xfrm>
              <a:off x="4989575" y="1647760"/>
              <a:ext cx="332122" cy="501793"/>
              <a:chOff x="4989575" y="1647760"/>
              <a:chExt cx="332122" cy="501793"/>
            </a:xfrm>
          </p:grpSpPr>
          <p:sp>
            <p:nvSpPr>
              <p:cNvPr id="91" name="Google Shape;1172;p28">
                <a:extLst>
                  <a:ext uri="{FF2B5EF4-FFF2-40B4-BE49-F238E27FC236}">
                    <a16:creationId xmlns:a16="http://schemas.microsoft.com/office/drawing/2014/main" id="{52E165A7-C1D7-660D-F7DB-7CEEA3FF8367}"/>
                  </a:ext>
                </a:extLst>
              </p:cNvPr>
              <p:cNvSpPr/>
              <p:nvPr/>
            </p:nvSpPr>
            <p:spPr>
              <a:xfrm>
                <a:off x="4989575" y="1836476"/>
                <a:ext cx="332122" cy="313077"/>
              </a:xfrm>
              <a:custGeom>
                <a:avLst/>
                <a:gdLst/>
                <a:ahLst/>
                <a:cxnLst/>
                <a:rect l="l" t="t" r="r" b="b"/>
                <a:pathLst>
                  <a:path w="9347" h="8811" extrusionOk="0">
                    <a:moveTo>
                      <a:pt x="8096" y="214"/>
                    </a:moveTo>
                    <a:cubicBezTo>
                      <a:pt x="8668" y="214"/>
                      <a:pt x="9132" y="679"/>
                      <a:pt x="9132" y="1238"/>
                    </a:cubicBezTo>
                    <a:lnTo>
                      <a:pt x="9132" y="7561"/>
                    </a:lnTo>
                    <a:cubicBezTo>
                      <a:pt x="9132" y="8132"/>
                      <a:pt x="8668" y="8596"/>
                      <a:pt x="8096" y="8596"/>
                    </a:cubicBezTo>
                    <a:lnTo>
                      <a:pt x="1250" y="8596"/>
                    </a:lnTo>
                    <a:cubicBezTo>
                      <a:pt x="679" y="8596"/>
                      <a:pt x="226" y="8132"/>
                      <a:pt x="226" y="7561"/>
                    </a:cubicBezTo>
                    <a:lnTo>
                      <a:pt x="226" y="1238"/>
                    </a:lnTo>
                    <a:cubicBezTo>
                      <a:pt x="226" y="679"/>
                      <a:pt x="679" y="214"/>
                      <a:pt x="1250" y="214"/>
                    </a:cubicBezTo>
                    <a:close/>
                    <a:moveTo>
                      <a:pt x="1250" y="0"/>
                    </a:moveTo>
                    <a:cubicBezTo>
                      <a:pt x="560" y="0"/>
                      <a:pt x="0" y="560"/>
                      <a:pt x="0" y="1238"/>
                    </a:cubicBezTo>
                    <a:lnTo>
                      <a:pt x="0" y="7561"/>
                    </a:lnTo>
                    <a:cubicBezTo>
                      <a:pt x="0" y="8251"/>
                      <a:pt x="560" y="8811"/>
                      <a:pt x="1250" y="8811"/>
                    </a:cubicBezTo>
                    <a:lnTo>
                      <a:pt x="8096" y="8811"/>
                    </a:lnTo>
                    <a:cubicBezTo>
                      <a:pt x="8787" y="8811"/>
                      <a:pt x="9347" y="8251"/>
                      <a:pt x="9347" y="7561"/>
                    </a:cubicBezTo>
                    <a:lnTo>
                      <a:pt x="9347" y="1238"/>
                    </a:lnTo>
                    <a:cubicBezTo>
                      <a:pt x="9347" y="560"/>
                      <a:pt x="8787" y="0"/>
                      <a:pt x="8096" y="0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2" name="Google Shape;1173;p28">
                <a:extLst>
                  <a:ext uri="{FF2B5EF4-FFF2-40B4-BE49-F238E27FC236}">
                    <a16:creationId xmlns:a16="http://schemas.microsoft.com/office/drawing/2014/main" id="{C339217B-76D8-33B2-225D-BCB57B79E556}"/>
                  </a:ext>
                </a:extLst>
              </p:cNvPr>
              <p:cNvSpPr/>
              <p:nvPr/>
            </p:nvSpPr>
            <p:spPr>
              <a:xfrm>
                <a:off x="5137214" y="1879186"/>
                <a:ext cx="143018" cy="189566"/>
              </a:xfrm>
              <a:custGeom>
                <a:avLst/>
                <a:gdLst/>
                <a:ahLst/>
                <a:cxnLst/>
                <a:rect l="l" t="t" r="r" b="b"/>
                <a:pathLst>
                  <a:path w="4025" h="533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27"/>
                      <a:pt x="108" y="227"/>
                    </a:cubicBezTo>
                    <a:lnTo>
                      <a:pt x="3168" y="227"/>
                    </a:lnTo>
                    <a:cubicBezTo>
                      <a:pt x="3513" y="227"/>
                      <a:pt x="3799" y="513"/>
                      <a:pt x="3799" y="858"/>
                    </a:cubicBezTo>
                    <a:lnTo>
                      <a:pt x="3799" y="5227"/>
                    </a:lnTo>
                    <a:cubicBezTo>
                      <a:pt x="3799" y="5287"/>
                      <a:pt x="3846" y="5335"/>
                      <a:pt x="3906" y="5335"/>
                    </a:cubicBezTo>
                    <a:cubicBezTo>
                      <a:pt x="3977" y="5335"/>
                      <a:pt x="4025" y="5287"/>
                      <a:pt x="4025" y="5227"/>
                    </a:cubicBezTo>
                    <a:lnTo>
                      <a:pt x="4025" y="858"/>
                    </a:lnTo>
                    <a:cubicBezTo>
                      <a:pt x="4025" y="382"/>
                      <a:pt x="3632" y="1"/>
                      <a:pt x="3168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3" name="Google Shape;1174;p28">
                <a:extLst>
                  <a:ext uri="{FF2B5EF4-FFF2-40B4-BE49-F238E27FC236}">
                    <a16:creationId xmlns:a16="http://schemas.microsoft.com/office/drawing/2014/main" id="{EABA45A2-47DB-D472-A97E-8D9D3FB7B98F}"/>
                  </a:ext>
                </a:extLst>
              </p:cNvPr>
              <p:cNvSpPr/>
              <p:nvPr/>
            </p:nvSpPr>
            <p:spPr>
              <a:xfrm>
                <a:off x="5043727" y="1647760"/>
                <a:ext cx="224246" cy="196353"/>
              </a:xfrm>
              <a:custGeom>
                <a:avLst/>
                <a:gdLst/>
                <a:ahLst/>
                <a:cxnLst/>
                <a:rect l="l" t="t" r="r" b="b"/>
                <a:pathLst>
                  <a:path w="6311" h="5526" extrusionOk="0">
                    <a:moveTo>
                      <a:pt x="3346" y="215"/>
                    </a:moveTo>
                    <a:cubicBezTo>
                      <a:pt x="4858" y="215"/>
                      <a:pt x="6084" y="1454"/>
                      <a:pt x="6084" y="2954"/>
                    </a:cubicBezTo>
                    <a:lnTo>
                      <a:pt x="6084" y="5311"/>
                    </a:lnTo>
                    <a:lnTo>
                      <a:pt x="215" y="5311"/>
                    </a:lnTo>
                    <a:lnTo>
                      <a:pt x="215" y="2954"/>
                    </a:lnTo>
                    <a:cubicBezTo>
                      <a:pt x="215" y="1454"/>
                      <a:pt x="1441" y="215"/>
                      <a:pt x="2953" y="215"/>
                    </a:cubicBezTo>
                    <a:close/>
                    <a:moveTo>
                      <a:pt x="2953" y="1"/>
                    </a:moveTo>
                    <a:cubicBezTo>
                      <a:pt x="1322" y="1"/>
                      <a:pt x="0" y="1323"/>
                      <a:pt x="0" y="2954"/>
                    </a:cubicBezTo>
                    <a:lnTo>
                      <a:pt x="0" y="5525"/>
                    </a:lnTo>
                    <a:lnTo>
                      <a:pt x="6311" y="5525"/>
                    </a:lnTo>
                    <a:lnTo>
                      <a:pt x="6311" y="2954"/>
                    </a:lnTo>
                    <a:cubicBezTo>
                      <a:pt x="6311" y="1323"/>
                      <a:pt x="4977" y="1"/>
                      <a:pt x="3346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94" name="Google Shape;1175;p28">
                <a:extLst>
                  <a:ext uri="{FF2B5EF4-FFF2-40B4-BE49-F238E27FC236}">
                    <a16:creationId xmlns:a16="http://schemas.microsoft.com/office/drawing/2014/main" id="{9533EEE9-9EFA-7A6B-FDC5-46443D3DDF9F}"/>
                  </a:ext>
                </a:extLst>
              </p:cNvPr>
              <p:cNvSpPr/>
              <p:nvPr/>
            </p:nvSpPr>
            <p:spPr>
              <a:xfrm>
                <a:off x="5068245" y="1676542"/>
                <a:ext cx="175175" cy="167571"/>
              </a:xfrm>
              <a:custGeom>
                <a:avLst/>
                <a:gdLst/>
                <a:ahLst/>
                <a:cxnLst/>
                <a:rect l="l" t="t" r="r" b="b"/>
                <a:pathLst>
                  <a:path w="4930" h="4716" extrusionOk="0">
                    <a:moveTo>
                      <a:pt x="2620" y="215"/>
                    </a:moveTo>
                    <a:cubicBezTo>
                      <a:pt x="3775" y="215"/>
                      <a:pt x="4716" y="1155"/>
                      <a:pt x="4716" y="2310"/>
                    </a:cubicBezTo>
                    <a:lnTo>
                      <a:pt x="4716" y="4501"/>
                    </a:lnTo>
                    <a:lnTo>
                      <a:pt x="215" y="4501"/>
                    </a:lnTo>
                    <a:lnTo>
                      <a:pt x="215" y="2310"/>
                    </a:lnTo>
                    <a:cubicBezTo>
                      <a:pt x="215" y="1155"/>
                      <a:pt x="1156" y="215"/>
                      <a:pt x="2311" y="215"/>
                    </a:cubicBezTo>
                    <a:close/>
                    <a:moveTo>
                      <a:pt x="2311" y="1"/>
                    </a:moveTo>
                    <a:cubicBezTo>
                      <a:pt x="1037" y="1"/>
                      <a:pt x="1" y="1036"/>
                      <a:pt x="1" y="2310"/>
                    </a:cubicBezTo>
                    <a:lnTo>
                      <a:pt x="1" y="4715"/>
                    </a:lnTo>
                    <a:lnTo>
                      <a:pt x="4930" y="4715"/>
                    </a:lnTo>
                    <a:lnTo>
                      <a:pt x="4930" y="2310"/>
                    </a:lnTo>
                    <a:cubicBezTo>
                      <a:pt x="4930" y="1036"/>
                      <a:pt x="3894" y="1"/>
                      <a:pt x="2620" y="1"/>
                    </a:cubicBezTo>
                    <a:close/>
                  </a:path>
                </a:pathLst>
              </a:custGeom>
              <a:solidFill>
                <a:srgbClr val="4949E7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88" name="Google Shape;1176;p28">
              <a:extLst>
                <a:ext uri="{FF2B5EF4-FFF2-40B4-BE49-F238E27FC236}">
                  <a16:creationId xmlns:a16="http://schemas.microsoft.com/office/drawing/2014/main" id="{FC9A0794-6D05-4A9F-77EC-859EA4A2F9CB}"/>
                </a:ext>
              </a:extLst>
            </p:cNvPr>
            <p:cNvSpPr/>
            <p:nvPr/>
          </p:nvSpPr>
          <p:spPr>
            <a:xfrm>
              <a:off x="4509810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29" y="1644"/>
                    <a:pt x="4311" y="3692"/>
                    <a:pt x="4311" y="6192"/>
                  </a:cubicBezTo>
                  <a:cubicBezTo>
                    <a:pt x="4311" y="8692"/>
                    <a:pt x="2429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22" y="10502"/>
                    <a:pt x="36350" y="8573"/>
                    <a:pt x="36350" y="6192"/>
                  </a:cubicBezTo>
                  <a:cubicBezTo>
                    <a:pt x="36350" y="3823"/>
                    <a:pt x="34422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4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9" name="Google Shape;1177;p28">
              <a:extLst>
                <a:ext uri="{FF2B5EF4-FFF2-40B4-BE49-F238E27FC236}">
                  <a16:creationId xmlns:a16="http://schemas.microsoft.com/office/drawing/2014/main" id="{373F2C13-5F7E-7D5B-C108-440C87EF50C3}"/>
                </a:ext>
              </a:extLst>
            </p:cNvPr>
            <p:cNvSpPr/>
            <p:nvPr/>
          </p:nvSpPr>
          <p:spPr>
            <a:xfrm>
              <a:off x="5120300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1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81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81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90" name="Google Shape;1178;p28">
              <a:extLst>
                <a:ext uri="{FF2B5EF4-FFF2-40B4-BE49-F238E27FC236}">
                  <a16:creationId xmlns:a16="http://schemas.microsoft.com/office/drawing/2014/main" id="{14687F98-091A-C7F3-3D07-F2C41B196118}"/>
                </a:ext>
              </a:extLst>
            </p:cNvPr>
            <p:cNvSpPr txBox="1"/>
            <p:nvPr/>
          </p:nvSpPr>
          <p:spPr>
            <a:xfrm>
              <a:off x="4599720" y="1070674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BGV Initiation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" name="Google Shape;1179;p28">
            <a:extLst>
              <a:ext uri="{FF2B5EF4-FFF2-40B4-BE49-F238E27FC236}">
                <a16:creationId xmlns:a16="http://schemas.microsoft.com/office/drawing/2014/main" id="{A3BB47C8-D0E8-D9C2-29C7-A00A40917F36}"/>
              </a:ext>
            </a:extLst>
          </p:cNvPr>
          <p:cNvGrpSpPr/>
          <p:nvPr/>
        </p:nvGrpSpPr>
        <p:grpSpPr>
          <a:xfrm>
            <a:off x="5285232" y="969718"/>
            <a:ext cx="1355430" cy="2101441"/>
            <a:chOff x="5656323" y="1070674"/>
            <a:chExt cx="1355430" cy="2101441"/>
          </a:xfrm>
        </p:grpSpPr>
        <p:sp>
          <p:nvSpPr>
            <p:cNvPr id="96" name="Google Shape;1180;p28">
              <a:extLst>
                <a:ext uri="{FF2B5EF4-FFF2-40B4-BE49-F238E27FC236}">
                  <a16:creationId xmlns:a16="http://schemas.microsoft.com/office/drawing/2014/main" id="{D526E92E-4508-31E0-93DD-75CF9142BD08}"/>
                </a:ext>
              </a:extLst>
            </p:cNvPr>
            <p:cNvSpPr/>
            <p:nvPr/>
          </p:nvSpPr>
          <p:spPr>
            <a:xfrm>
              <a:off x="6313317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8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97" name="Google Shape;1181;p28">
              <a:extLst>
                <a:ext uri="{FF2B5EF4-FFF2-40B4-BE49-F238E27FC236}">
                  <a16:creationId xmlns:a16="http://schemas.microsoft.com/office/drawing/2014/main" id="{4D1CBBC3-6EC6-39B5-9116-967996FCB4F7}"/>
                </a:ext>
              </a:extLst>
            </p:cNvPr>
            <p:cNvGrpSpPr/>
            <p:nvPr/>
          </p:nvGrpSpPr>
          <p:grpSpPr>
            <a:xfrm>
              <a:off x="6086582" y="1676116"/>
              <a:ext cx="337630" cy="473435"/>
              <a:chOff x="6086582" y="1676116"/>
              <a:chExt cx="337630" cy="473435"/>
            </a:xfrm>
          </p:grpSpPr>
          <p:sp>
            <p:nvSpPr>
              <p:cNvPr id="101" name="Google Shape;1182;p28">
                <a:extLst>
                  <a:ext uri="{FF2B5EF4-FFF2-40B4-BE49-F238E27FC236}">
                    <a16:creationId xmlns:a16="http://schemas.microsoft.com/office/drawing/2014/main" id="{07AFAA24-89E9-29B3-B55B-37B214D1C1C0}"/>
                  </a:ext>
                </a:extLst>
              </p:cNvPr>
              <p:cNvSpPr/>
              <p:nvPr/>
            </p:nvSpPr>
            <p:spPr>
              <a:xfrm>
                <a:off x="6248185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4" y="1"/>
                      <a:pt x="127" y="12"/>
                      <a:pt x="12" y="632"/>
                    </a:cubicBezTo>
                    <a:cubicBezTo>
                      <a:pt x="0" y="691"/>
                      <a:pt x="36" y="751"/>
                      <a:pt x="96" y="763"/>
                    </a:cubicBezTo>
                    <a:cubicBezTo>
                      <a:pt x="103" y="764"/>
                      <a:pt x="111" y="765"/>
                      <a:pt x="119" y="765"/>
                    </a:cubicBezTo>
                    <a:cubicBezTo>
                      <a:pt x="170" y="765"/>
                      <a:pt x="216" y="731"/>
                      <a:pt x="227" y="680"/>
                    </a:cubicBezTo>
                    <a:cubicBezTo>
                      <a:pt x="310" y="215"/>
                      <a:pt x="596" y="215"/>
                      <a:pt x="858" y="215"/>
                    </a:cubicBezTo>
                    <a:lnTo>
                      <a:pt x="929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1" y="3144"/>
                      <a:pt x="1691" y="3144"/>
                    </a:cubicBezTo>
                    <a:cubicBezTo>
                      <a:pt x="1751" y="3144"/>
                      <a:pt x="1798" y="3097"/>
                      <a:pt x="1798" y="3037"/>
                    </a:cubicBezTo>
                    <a:lnTo>
                      <a:pt x="1798" y="799"/>
                    </a:lnTo>
                    <a:cubicBezTo>
                      <a:pt x="1798" y="215"/>
                      <a:pt x="1262" y="1"/>
                      <a:pt x="929" y="1"/>
                    </a:cubicBezTo>
                    <a:lnTo>
                      <a:pt x="869" y="1"/>
                    </a:lnTo>
                    <a:cubicBezTo>
                      <a:pt x="860" y="1"/>
                      <a:pt x="850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2" name="Google Shape;1183;p28">
                <a:extLst>
                  <a:ext uri="{FF2B5EF4-FFF2-40B4-BE49-F238E27FC236}">
                    <a16:creationId xmlns:a16="http://schemas.microsoft.com/office/drawing/2014/main" id="{ECB7326C-28AB-D4D6-E474-602D018B6A99}"/>
                  </a:ext>
                </a:extLst>
              </p:cNvPr>
              <p:cNvSpPr/>
              <p:nvPr/>
            </p:nvSpPr>
            <p:spPr>
              <a:xfrm>
                <a:off x="6304008" y="1819526"/>
                <a:ext cx="63923" cy="111750"/>
              </a:xfrm>
              <a:custGeom>
                <a:avLst/>
                <a:gdLst/>
                <a:ahLst/>
                <a:cxnLst/>
                <a:rect l="l" t="t" r="r" b="b"/>
                <a:pathLst>
                  <a:path w="1799" h="3145" extrusionOk="0">
                    <a:moveTo>
                      <a:pt x="841" y="1"/>
                    </a:moveTo>
                    <a:cubicBezTo>
                      <a:pt x="575" y="1"/>
                      <a:pt x="128" y="12"/>
                      <a:pt x="13" y="632"/>
                    </a:cubicBezTo>
                    <a:cubicBezTo>
                      <a:pt x="1" y="691"/>
                      <a:pt x="37" y="751"/>
                      <a:pt x="96" y="763"/>
                    </a:cubicBezTo>
                    <a:cubicBezTo>
                      <a:pt x="104" y="764"/>
                      <a:pt x="112" y="765"/>
                      <a:pt x="119" y="765"/>
                    </a:cubicBezTo>
                    <a:cubicBezTo>
                      <a:pt x="170" y="765"/>
                      <a:pt x="217" y="731"/>
                      <a:pt x="227" y="680"/>
                    </a:cubicBezTo>
                    <a:cubicBezTo>
                      <a:pt x="311" y="215"/>
                      <a:pt x="596" y="215"/>
                      <a:pt x="870" y="215"/>
                    </a:cubicBezTo>
                    <a:lnTo>
                      <a:pt x="930" y="215"/>
                    </a:lnTo>
                    <a:cubicBezTo>
                      <a:pt x="1108" y="215"/>
                      <a:pt x="1584" y="322"/>
                      <a:pt x="1584" y="799"/>
                    </a:cubicBezTo>
                    <a:lnTo>
                      <a:pt x="1584" y="3037"/>
                    </a:lnTo>
                    <a:cubicBezTo>
                      <a:pt x="1584" y="3097"/>
                      <a:pt x="1632" y="3144"/>
                      <a:pt x="1692" y="3144"/>
                    </a:cubicBezTo>
                    <a:cubicBezTo>
                      <a:pt x="1751" y="3144"/>
                      <a:pt x="1799" y="3097"/>
                      <a:pt x="1799" y="3037"/>
                    </a:cubicBezTo>
                    <a:lnTo>
                      <a:pt x="1799" y="799"/>
                    </a:lnTo>
                    <a:cubicBezTo>
                      <a:pt x="1799" y="215"/>
                      <a:pt x="1263" y="1"/>
                      <a:pt x="930" y="1"/>
                    </a:cubicBezTo>
                    <a:lnTo>
                      <a:pt x="870" y="1"/>
                    </a:lnTo>
                    <a:cubicBezTo>
                      <a:pt x="861" y="1"/>
                      <a:pt x="851" y="1"/>
                      <a:pt x="841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3" name="Google Shape;1184;p28">
                <a:extLst>
                  <a:ext uri="{FF2B5EF4-FFF2-40B4-BE49-F238E27FC236}">
                    <a16:creationId xmlns:a16="http://schemas.microsoft.com/office/drawing/2014/main" id="{22C28AFD-BACD-C7EA-24CD-30BF02E0BA72}"/>
                  </a:ext>
                </a:extLst>
              </p:cNvPr>
              <p:cNvSpPr/>
              <p:nvPr/>
            </p:nvSpPr>
            <p:spPr>
              <a:xfrm>
                <a:off x="6086582" y="1676116"/>
                <a:ext cx="337630" cy="473435"/>
              </a:xfrm>
              <a:custGeom>
                <a:avLst/>
                <a:gdLst/>
                <a:ahLst/>
                <a:cxnLst/>
                <a:rect l="l" t="t" r="r" b="b"/>
                <a:pathLst>
                  <a:path w="9502" h="13324" extrusionOk="0">
                    <a:moveTo>
                      <a:pt x="3846" y="1"/>
                    </a:moveTo>
                    <a:cubicBezTo>
                      <a:pt x="3274" y="1"/>
                      <a:pt x="2941" y="382"/>
                      <a:pt x="2941" y="1025"/>
                    </a:cubicBezTo>
                    <a:lnTo>
                      <a:pt x="2941" y="8180"/>
                    </a:lnTo>
                    <a:cubicBezTo>
                      <a:pt x="2631" y="7883"/>
                      <a:pt x="1977" y="7252"/>
                      <a:pt x="1500" y="6859"/>
                    </a:cubicBezTo>
                    <a:cubicBezTo>
                      <a:pt x="1375" y="6754"/>
                      <a:pt x="1227" y="6702"/>
                      <a:pt x="1073" y="6702"/>
                    </a:cubicBezTo>
                    <a:cubicBezTo>
                      <a:pt x="878" y="6702"/>
                      <a:pt x="674" y="6787"/>
                      <a:pt x="500" y="6954"/>
                    </a:cubicBezTo>
                    <a:cubicBezTo>
                      <a:pt x="179" y="7263"/>
                      <a:pt x="0" y="7823"/>
                      <a:pt x="381" y="8371"/>
                    </a:cubicBezTo>
                    <a:cubicBezTo>
                      <a:pt x="1012" y="9240"/>
                      <a:pt x="3882" y="12395"/>
                      <a:pt x="4013" y="12526"/>
                    </a:cubicBezTo>
                    <a:cubicBezTo>
                      <a:pt x="4548" y="13098"/>
                      <a:pt x="5417" y="13324"/>
                      <a:pt x="6239" y="13324"/>
                    </a:cubicBezTo>
                    <a:cubicBezTo>
                      <a:pt x="6858" y="13324"/>
                      <a:pt x="7442" y="13205"/>
                      <a:pt x="7858" y="13002"/>
                    </a:cubicBezTo>
                    <a:cubicBezTo>
                      <a:pt x="8727" y="12574"/>
                      <a:pt x="9501" y="11240"/>
                      <a:pt x="9501" y="10133"/>
                    </a:cubicBezTo>
                    <a:lnTo>
                      <a:pt x="9501" y="5382"/>
                    </a:lnTo>
                    <a:cubicBezTo>
                      <a:pt x="9501" y="4799"/>
                      <a:pt x="8954" y="4585"/>
                      <a:pt x="8620" y="4585"/>
                    </a:cubicBezTo>
                    <a:lnTo>
                      <a:pt x="8561" y="4585"/>
                    </a:lnTo>
                    <a:cubicBezTo>
                      <a:pt x="8551" y="4585"/>
                      <a:pt x="8542" y="4585"/>
                      <a:pt x="8532" y="4585"/>
                    </a:cubicBezTo>
                    <a:cubicBezTo>
                      <a:pt x="8265" y="4585"/>
                      <a:pt x="7818" y="4596"/>
                      <a:pt x="7703" y="5216"/>
                    </a:cubicBezTo>
                    <a:cubicBezTo>
                      <a:pt x="7692" y="5275"/>
                      <a:pt x="7739" y="5335"/>
                      <a:pt x="7799" y="5347"/>
                    </a:cubicBezTo>
                    <a:cubicBezTo>
                      <a:pt x="7805" y="5348"/>
                      <a:pt x="7811" y="5349"/>
                      <a:pt x="7818" y="5349"/>
                    </a:cubicBezTo>
                    <a:cubicBezTo>
                      <a:pt x="7861" y="5349"/>
                      <a:pt x="7907" y="5315"/>
                      <a:pt x="7918" y="5263"/>
                    </a:cubicBezTo>
                    <a:cubicBezTo>
                      <a:pt x="8013" y="4799"/>
                      <a:pt x="8287" y="4799"/>
                      <a:pt x="8561" y="4799"/>
                    </a:cubicBezTo>
                    <a:lnTo>
                      <a:pt x="8620" y="4799"/>
                    </a:lnTo>
                    <a:cubicBezTo>
                      <a:pt x="8799" y="4799"/>
                      <a:pt x="9275" y="4906"/>
                      <a:pt x="9275" y="5382"/>
                    </a:cubicBezTo>
                    <a:lnTo>
                      <a:pt x="9275" y="10133"/>
                    </a:lnTo>
                    <a:cubicBezTo>
                      <a:pt x="9275" y="11169"/>
                      <a:pt x="8573" y="12407"/>
                      <a:pt x="7763" y="12800"/>
                    </a:cubicBezTo>
                    <a:cubicBezTo>
                      <a:pt x="7380" y="12989"/>
                      <a:pt x="6821" y="13106"/>
                      <a:pt x="6240" y="13106"/>
                    </a:cubicBezTo>
                    <a:cubicBezTo>
                      <a:pt x="5468" y="13106"/>
                      <a:pt x="4657" y="12900"/>
                      <a:pt x="4167" y="12383"/>
                    </a:cubicBezTo>
                    <a:cubicBezTo>
                      <a:pt x="4144" y="12347"/>
                      <a:pt x="1191" y="9109"/>
                      <a:pt x="560" y="8240"/>
                    </a:cubicBezTo>
                    <a:cubicBezTo>
                      <a:pt x="250" y="7811"/>
                      <a:pt x="381" y="7359"/>
                      <a:pt x="643" y="7109"/>
                    </a:cubicBezTo>
                    <a:cubicBezTo>
                      <a:pt x="758" y="7001"/>
                      <a:pt x="912" y="6924"/>
                      <a:pt x="1068" y="6924"/>
                    </a:cubicBezTo>
                    <a:cubicBezTo>
                      <a:pt x="1171" y="6924"/>
                      <a:pt x="1275" y="6957"/>
                      <a:pt x="1369" y="7037"/>
                    </a:cubicBezTo>
                    <a:cubicBezTo>
                      <a:pt x="1988" y="7549"/>
                      <a:pt x="2965" y="8514"/>
                      <a:pt x="2977" y="8526"/>
                    </a:cubicBezTo>
                    <a:lnTo>
                      <a:pt x="3167" y="8704"/>
                    </a:lnTo>
                    <a:lnTo>
                      <a:pt x="3167" y="1025"/>
                    </a:lnTo>
                    <a:cubicBezTo>
                      <a:pt x="3167" y="501"/>
                      <a:pt x="3405" y="215"/>
                      <a:pt x="3846" y="215"/>
                    </a:cubicBezTo>
                    <a:cubicBezTo>
                      <a:pt x="4060" y="215"/>
                      <a:pt x="4251" y="286"/>
                      <a:pt x="4382" y="417"/>
                    </a:cubicBezTo>
                    <a:cubicBezTo>
                      <a:pt x="4489" y="536"/>
                      <a:pt x="4560" y="691"/>
                      <a:pt x="4560" y="858"/>
                    </a:cubicBezTo>
                    <a:lnTo>
                      <a:pt x="4560" y="7168"/>
                    </a:lnTo>
                    <a:cubicBezTo>
                      <a:pt x="4560" y="7228"/>
                      <a:pt x="4608" y="7275"/>
                      <a:pt x="4667" y="7275"/>
                    </a:cubicBezTo>
                    <a:cubicBezTo>
                      <a:pt x="4727" y="7275"/>
                      <a:pt x="4775" y="7228"/>
                      <a:pt x="4775" y="7168"/>
                    </a:cubicBezTo>
                    <a:lnTo>
                      <a:pt x="4775" y="858"/>
                    </a:lnTo>
                    <a:cubicBezTo>
                      <a:pt x="4775" y="632"/>
                      <a:pt x="4691" y="417"/>
                      <a:pt x="4536" y="263"/>
                    </a:cubicBezTo>
                    <a:cubicBezTo>
                      <a:pt x="4358" y="96"/>
                      <a:pt x="4120" y="1"/>
                      <a:pt x="3846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04" name="Google Shape;1185;p28">
                <a:extLst>
                  <a:ext uri="{FF2B5EF4-FFF2-40B4-BE49-F238E27FC236}">
                    <a16:creationId xmlns:a16="http://schemas.microsoft.com/office/drawing/2014/main" id="{1BF60D97-4BD8-7E0D-9142-CAA1D9FC919E}"/>
                  </a:ext>
                </a:extLst>
              </p:cNvPr>
              <p:cNvSpPr/>
              <p:nvPr/>
            </p:nvSpPr>
            <p:spPr>
              <a:xfrm>
                <a:off x="6331936" y="1996302"/>
                <a:ext cx="74085" cy="122374"/>
              </a:xfrm>
              <a:custGeom>
                <a:avLst/>
                <a:gdLst/>
                <a:ahLst/>
                <a:cxnLst/>
                <a:rect l="l" t="t" r="r" b="b"/>
                <a:pathLst>
                  <a:path w="2085" h="3444" extrusionOk="0">
                    <a:moveTo>
                      <a:pt x="1710" y="1"/>
                    </a:moveTo>
                    <a:cubicBezTo>
                      <a:pt x="1704" y="1"/>
                      <a:pt x="1698" y="1"/>
                      <a:pt x="1691" y="3"/>
                    </a:cubicBezTo>
                    <a:cubicBezTo>
                      <a:pt x="1632" y="3"/>
                      <a:pt x="1584" y="62"/>
                      <a:pt x="1596" y="122"/>
                    </a:cubicBezTo>
                    <a:cubicBezTo>
                      <a:pt x="1596" y="146"/>
                      <a:pt x="1846" y="2539"/>
                      <a:pt x="84" y="3229"/>
                    </a:cubicBezTo>
                    <a:cubicBezTo>
                      <a:pt x="25" y="3253"/>
                      <a:pt x="1" y="3313"/>
                      <a:pt x="25" y="3372"/>
                    </a:cubicBezTo>
                    <a:cubicBezTo>
                      <a:pt x="36" y="3408"/>
                      <a:pt x="72" y="3444"/>
                      <a:pt x="120" y="3444"/>
                    </a:cubicBezTo>
                    <a:cubicBezTo>
                      <a:pt x="132" y="3444"/>
                      <a:pt x="144" y="3432"/>
                      <a:pt x="156" y="3432"/>
                    </a:cubicBezTo>
                    <a:cubicBezTo>
                      <a:pt x="2084" y="2682"/>
                      <a:pt x="1811" y="122"/>
                      <a:pt x="1811" y="98"/>
                    </a:cubicBezTo>
                    <a:cubicBezTo>
                      <a:pt x="1800" y="45"/>
                      <a:pt x="1761" y="1"/>
                      <a:pt x="1710" y="1"/>
                    </a:cubicBezTo>
                    <a:close/>
                  </a:path>
                </a:pathLst>
              </a:custGeom>
              <a:solidFill>
                <a:srgbClr val="EC3A3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98" name="Google Shape;1186;p28">
              <a:extLst>
                <a:ext uri="{FF2B5EF4-FFF2-40B4-BE49-F238E27FC236}">
                  <a16:creationId xmlns:a16="http://schemas.microsoft.com/office/drawing/2014/main" id="{A3585137-67E6-5535-AEFA-907D745D14CA}"/>
                </a:ext>
              </a:extLst>
            </p:cNvPr>
            <p:cNvSpPr/>
            <p:nvPr/>
          </p:nvSpPr>
          <p:spPr>
            <a:xfrm>
              <a:off x="5677456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39" y="8573"/>
                    <a:pt x="36339" y="6192"/>
                  </a:cubicBezTo>
                  <a:cubicBezTo>
                    <a:pt x="36339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5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9" name="Google Shape;1187;p28">
              <a:extLst>
                <a:ext uri="{FF2B5EF4-FFF2-40B4-BE49-F238E27FC236}">
                  <a16:creationId xmlns:a16="http://schemas.microsoft.com/office/drawing/2014/main" id="{97F43694-0890-C155-45AB-2019188B526D}"/>
                </a:ext>
              </a:extLst>
            </p:cNvPr>
            <p:cNvSpPr/>
            <p:nvPr/>
          </p:nvSpPr>
          <p:spPr>
            <a:xfrm>
              <a:off x="6287520" y="2235403"/>
              <a:ext cx="63497" cy="63070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5" y="1"/>
                    <a:pt x="1" y="394"/>
                    <a:pt x="1" y="882"/>
                  </a:cubicBezTo>
                  <a:cubicBezTo>
                    <a:pt x="1" y="1382"/>
                    <a:pt x="405" y="1775"/>
                    <a:pt x="894" y="1775"/>
                  </a:cubicBezTo>
                  <a:cubicBezTo>
                    <a:pt x="1382" y="1775"/>
                    <a:pt x="1787" y="1382"/>
                    <a:pt x="1787" y="882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00" name="Google Shape;1188;p28">
              <a:extLst>
                <a:ext uri="{FF2B5EF4-FFF2-40B4-BE49-F238E27FC236}">
                  <a16:creationId xmlns:a16="http://schemas.microsoft.com/office/drawing/2014/main" id="{87791E86-D3DA-0DD6-EE7C-4FAD9E33066C}"/>
                </a:ext>
              </a:extLst>
            </p:cNvPr>
            <p:cNvSpPr txBox="1"/>
            <p:nvPr/>
          </p:nvSpPr>
          <p:spPr>
            <a:xfrm>
              <a:off x="5656323" y="1070674"/>
              <a:ext cx="135543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Employee Engagement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5" name="Google Shape;1189;p28">
            <a:extLst>
              <a:ext uri="{FF2B5EF4-FFF2-40B4-BE49-F238E27FC236}">
                <a16:creationId xmlns:a16="http://schemas.microsoft.com/office/drawing/2014/main" id="{3A9C801D-9595-2D1E-2FA0-D61396213E25}"/>
              </a:ext>
            </a:extLst>
          </p:cNvPr>
          <p:cNvGrpSpPr/>
          <p:nvPr/>
        </p:nvGrpSpPr>
        <p:grpSpPr>
          <a:xfrm>
            <a:off x="6474047" y="998770"/>
            <a:ext cx="1318849" cy="2072389"/>
            <a:chOff x="6845138" y="1099726"/>
            <a:chExt cx="1318849" cy="2072389"/>
          </a:xfrm>
        </p:grpSpPr>
        <p:sp>
          <p:nvSpPr>
            <p:cNvPr id="106" name="Google Shape;1190;p28">
              <a:extLst>
                <a:ext uri="{FF2B5EF4-FFF2-40B4-BE49-F238E27FC236}">
                  <a16:creationId xmlns:a16="http://schemas.microsoft.com/office/drawing/2014/main" id="{FB6D0D85-D9EC-1A06-FBDF-0446DD88558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07" name="Google Shape;1191;p28">
              <a:extLst>
                <a:ext uri="{FF2B5EF4-FFF2-40B4-BE49-F238E27FC236}">
                  <a16:creationId xmlns:a16="http://schemas.microsoft.com/office/drawing/2014/main" id="{E24BB692-ABAC-0026-5997-D1C5BC423CD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11" name="Google Shape;1192;p28">
                <a:extLst>
                  <a:ext uri="{FF2B5EF4-FFF2-40B4-BE49-F238E27FC236}">
                    <a16:creationId xmlns:a16="http://schemas.microsoft.com/office/drawing/2014/main" id="{4D4540B5-DF73-D250-1D59-71043298944A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2" name="Google Shape;1193;p28">
                <a:extLst>
                  <a:ext uri="{FF2B5EF4-FFF2-40B4-BE49-F238E27FC236}">
                    <a16:creationId xmlns:a16="http://schemas.microsoft.com/office/drawing/2014/main" id="{67C3277B-9E77-9CCC-239E-AF96A4AA9EF1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3" name="Google Shape;1194;p28">
                <a:extLst>
                  <a:ext uri="{FF2B5EF4-FFF2-40B4-BE49-F238E27FC236}">
                    <a16:creationId xmlns:a16="http://schemas.microsoft.com/office/drawing/2014/main" id="{DC89F1EE-43AD-820E-6AFD-275385905905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4" name="Google Shape;1195;p28">
                <a:extLst>
                  <a:ext uri="{FF2B5EF4-FFF2-40B4-BE49-F238E27FC236}">
                    <a16:creationId xmlns:a16="http://schemas.microsoft.com/office/drawing/2014/main" id="{0130EE85-89ED-FC67-CB3D-1087A7872EFF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5" name="Google Shape;1196;p28">
                <a:extLst>
                  <a:ext uri="{FF2B5EF4-FFF2-40B4-BE49-F238E27FC236}">
                    <a16:creationId xmlns:a16="http://schemas.microsoft.com/office/drawing/2014/main" id="{E4B53581-2DBB-A8CB-0381-AFC101758407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6" name="Google Shape;1197;p28">
                <a:extLst>
                  <a:ext uri="{FF2B5EF4-FFF2-40B4-BE49-F238E27FC236}">
                    <a16:creationId xmlns:a16="http://schemas.microsoft.com/office/drawing/2014/main" id="{4E745A48-9514-C2A9-C521-BE9EE6AB0D98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7" name="Google Shape;1198;p28">
                <a:extLst>
                  <a:ext uri="{FF2B5EF4-FFF2-40B4-BE49-F238E27FC236}">
                    <a16:creationId xmlns:a16="http://schemas.microsoft.com/office/drawing/2014/main" id="{7680EA58-6C02-8B80-ABFD-4EC3573AAABF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8" name="Google Shape;1199;p28">
                <a:extLst>
                  <a:ext uri="{FF2B5EF4-FFF2-40B4-BE49-F238E27FC236}">
                    <a16:creationId xmlns:a16="http://schemas.microsoft.com/office/drawing/2014/main" id="{72CCB8EF-64B5-4379-9184-CF95CA85A5F5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19" name="Google Shape;1200;p28">
                <a:extLst>
                  <a:ext uri="{FF2B5EF4-FFF2-40B4-BE49-F238E27FC236}">
                    <a16:creationId xmlns:a16="http://schemas.microsoft.com/office/drawing/2014/main" id="{917A3234-7418-CFD5-AC80-3A5EF96B4F56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0" name="Google Shape;1201;p28">
                <a:extLst>
                  <a:ext uri="{FF2B5EF4-FFF2-40B4-BE49-F238E27FC236}">
                    <a16:creationId xmlns:a16="http://schemas.microsoft.com/office/drawing/2014/main" id="{14951EEF-C771-295C-058F-0D90F1D6B217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21" name="Google Shape;1202;p28">
                <a:extLst>
                  <a:ext uri="{FF2B5EF4-FFF2-40B4-BE49-F238E27FC236}">
                    <a16:creationId xmlns:a16="http://schemas.microsoft.com/office/drawing/2014/main" id="{0A0CA42F-4F4C-C151-CF36-1CF53AD35F96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08" name="Google Shape;1203;p28">
              <a:extLst>
                <a:ext uri="{FF2B5EF4-FFF2-40B4-BE49-F238E27FC236}">
                  <a16:creationId xmlns:a16="http://schemas.microsoft.com/office/drawing/2014/main" id="{83A987A5-D40D-7A01-C7A5-D21B8AB0CE0E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6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204;p28">
              <a:extLst>
                <a:ext uri="{FF2B5EF4-FFF2-40B4-BE49-F238E27FC236}">
                  <a16:creationId xmlns:a16="http://schemas.microsoft.com/office/drawing/2014/main" id="{CBF4B274-AB7B-3E9B-C224-EB6292378E3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10" name="Google Shape;1205;p28">
              <a:extLst>
                <a:ext uri="{FF2B5EF4-FFF2-40B4-BE49-F238E27FC236}">
                  <a16:creationId xmlns:a16="http://schemas.microsoft.com/office/drawing/2014/main" id="{9BC774F1-119B-6F70-F432-181C4D80A201}"/>
                </a:ext>
              </a:extLst>
            </p:cNvPr>
            <p:cNvSpPr txBox="1"/>
            <p:nvPr/>
          </p:nvSpPr>
          <p:spPr>
            <a:xfrm>
              <a:off x="6872487" y="1099726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Onboarding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2" name="Google Shape;1206;p28">
            <a:extLst>
              <a:ext uri="{FF2B5EF4-FFF2-40B4-BE49-F238E27FC236}">
                <a16:creationId xmlns:a16="http://schemas.microsoft.com/office/drawing/2014/main" id="{B2554248-DF1C-379B-EA12-9AD5870B36A4}"/>
              </a:ext>
            </a:extLst>
          </p:cNvPr>
          <p:cNvGrpSpPr/>
          <p:nvPr/>
        </p:nvGrpSpPr>
        <p:grpSpPr>
          <a:xfrm>
            <a:off x="636597" y="995664"/>
            <a:ext cx="1291216" cy="2075495"/>
            <a:chOff x="1007688" y="1096620"/>
            <a:chExt cx="1291216" cy="2075495"/>
          </a:xfrm>
        </p:grpSpPr>
        <p:sp>
          <p:nvSpPr>
            <p:cNvPr id="123" name="Google Shape;1207;p28">
              <a:extLst>
                <a:ext uri="{FF2B5EF4-FFF2-40B4-BE49-F238E27FC236}">
                  <a16:creationId xmlns:a16="http://schemas.microsoft.com/office/drawing/2014/main" id="{BD782012-A3FA-2281-775A-9A6AEB215088}"/>
                </a:ext>
              </a:extLst>
            </p:cNvPr>
            <p:cNvSpPr/>
            <p:nvPr/>
          </p:nvSpPr>
          <p:spPr>
            <a:xfrm>
              <a:off x="1643549" y="2261200"/>
              <a:ext cx="11477" cy="704858"/>
            </a:xfrm>
            <a:custGeom>
              <a:avLst/>
              <a:gdLst/>
              <a:ahLst/>
              <a:cxnLst/>
              <a:rect l="l" t="t" r="r" b="b"/>
              <a:pathLst>
                <a:path w="323" h="19837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19682"/>
                  </a:lnTo>
                  <a:cubicBezTo>
                    <a:pt x="1" y="19765"/>
                    <a:pt x="72" y="19837"/>
                    <a:pt x="167" y="19837"/>
                  </a:cubicBezTo>
                  <a:cubicBezTo>
                    <a:pt x="251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4" name="Google Shape;1208;p28">
              <a:extLst>
                <a:ext uri="{FF2B5EF4-FFF2-40B4-BE49-F238E27FC236}">
                  <a16:creationId xmlns:a16="http://schemas.microsoft.com/office/drawing/2014/main" id="{B4808649-F3D9-640A-E517-1A6416430ACE}"/>
                </a:ext>
              </a:extLst>
            </p:cNvPr>
            <p:cNvSpPr/>
            <p:nvPr/>
          </p:nvSpPr>
          <p:spPr>
            <a:xfrm>
              <a:off x="1440905" y="1674446"/>
              <a:ext cx="426497" cy="222540"/>
            </a:xfrm>
            <a:custGeom>
              <a:avLst/>
              <a:gdLst/>
              <a:ahLst/>
              <a:cxnLst/>
              <a:rect l="l" t="t" r="r" b="b"/>
              <a:pathLst>
                <a:path w="12003" h="6263" extrusionOk="0">
                  <a:moveTo>
                    <a:pt x="5918" y="298"/>
                  </a:moveTo>
                  <a:lnTo>
                    <a:pt x="11645" y="5525"/>
                  </a:lnTo>
                  <a:cubicBezTo>
                    <a:pt x="11752" y="5632"/>
                    <a:pt x="11764" y="5810"/>
                    <a:pt x="11657" y="5929"/>
                  </a:cubicBezTo>
                  <a:cubicBezTo>
                    <a:pt x="11609" y="5989"/>
                    <a:pt x="11538" y="6025"/>
                    <a:pt x="11454" y="6025"/>
                  </a:cubicBezTo>
                  <a:cubicBezTo>
                    <a:pt x="11383" y="6025"/>
                    <a:pt x="11312" y="6001"/>
                    <a:pt x="11252" y="5953"/>
                  </a:cubicBezTo>
                  <a:lnTo>
                    <a:pt x="5918" y="1084"/>
                  </a:lnTo>
                  <a:lnTo>
                    <a:pt x="691" y="5965"/>
                  </a:lnTo>
                  <a:cubicBezTo>
                    <a:pt x="641" y="6016"/>
                    <a:pt x="574" y="6040"/>
                    <a:pt x="507" y="6040"/>
                  </a:cubicBezTo>
                  <a:cubicBezTo>
                    <a:pt x="431" y="6040"/>
                    <a:pt x="355" y="6010"/>
                    <a:pt x="298" y="5953"/>
                  </a:cubicBezTo>
                  <a:cubicBezTo>
                    <a:pt x="251" y="5906"/>
                    <a:pt x="215" y="5834"/>
                    <a:pt x="215" y="5751"/>
                  </a:cubicBezTo>
                  <a:cubicBezTo>
                    <a:pt x="215" y="5667"/>
                    <a:pt x="251" y="5596"/>
                    <a:pt x="310" y="5548"/>
                  </a:cubicBezTo>
                  <a:lnTo>
                    <a:pt x="5918" y="298"/>
                  </a:lnTo>
                  <a:close/>
                  <a:moveTo>
                    <a:pt x="5918" y="0"/>
                  </a:moveTo>
                  <a:lnTo>
                    <a:pt x="155" y="5394"/>
                  </a:lnTo>
                  <a:cubicBezTo>
                    <a:pt x="60" y="5477"/>
                    <a:pt x="1" y="5608"/>
                    <a:pt x="1" y="5751"/>
                  </a:cubicBezTo>
                  <a:cubicBezTo>
                    <a:pt x="1" y="5882"/>
                    <a:pt x="48" y="6013"/>
                    <a:pt x="143" y="6108"/>
                  </a:cubicBezTo>
                  <a:cubicBezTo>
                    <a:pt x="239" y="6215"/>
                    <a:pt x="370" y="6263"/>
                    <a:pt x="501" y="6263"/>
                  </a:cubicBezTo>
                  <a:cubicBezTo>
                    <a:pt x="620" y="6263"/>
                    <a:pt x="751" y="6215"/>
                    <a:pt x="846" y="6120"/>
                  </a:cubicBezTo>
                  <a:lnTo>
                    <a:pt x="5918" y="1381"/>
                  </a:lnTo>
                  <a:lnTo>
                    <a:pt x="11109" y="6108"/>
                  </a:lnTo>
                  <a:cubicBezTo>
                    <a:pt x="11195" y="6194"/>
                    <a:pt x="11309" y="6241"/>
                    <a:pt x="11427" y="6241"/>
                  </a:cubicBezTo>
                  <a:cubicBezTo>
                    <a:pt x="11440" y="6241"/>
                    <a:pt x="11453" y="6240"/>
                    <a:pt x="11466" y="6239"/>
                  </a:cubicBezTo>
                  <a:cubicBezTo>
                    <a:pt x="11609" y="6239"/>
                    <a:pt x="11728" y="6179"/>
                    <a:pt x="11824" y="6072"/>
                  </a:cubicBezTo>
                  <a:cubicBezTo>
                    <a:pt x="12002" y="5870"/>
                    <a:pt x="11990" y="5548"/>
                    <a:pt x="11788" y="5370"/>
                  </a:cubicBezTo>
                  <a:lnTo>
                    <a:pt x="5918" y="0"/>
                  </a:ln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5" name="Google Shape;1209;p28">
              <a:extLst>
                <a:ext uri="{FF2B5EF4-FFF2-40B4-BE49-F238E27FC236}">
                  <a16:creationId xmlns:a16="http://schemas.microsoft.com/office/drawing/2014/main" id="{BFC693B5-6365-8068-76F9-D65CC8364606}"/>
                </a:ext>
              </a:extLst>
            </p:cNvPr>
            <p:cNvSpPr/>
            <p:nvPr/>
          </p:nvSpPr>
          <p:spPr>
            <a:xfrm>
              <a:off x="1498859" y="1712928"/>
              <a:ext cx="305082" cy="436623"/>
            </a:xfrm>
            <a:custGeom>
              <a:avLst/>
              <a:gdLst/>
              <a:ahLst/>
              <a:cxnLst/>
              <a:rect l="l" t="t" r="r" b="b"/>
              <a:pathLst>
                <a:path w="8586" h="12288" extrusionOk="0">
                  <a:moveTo>
                    <a:pt x="4287" y="298"/>
                  </a:moveTo>
                  <a:lnTo>
                    <a:pt x="8371" y="4132"/>
                  </a:lnTo>
                  <a:lnTo>
                    <a:pt x="8371" y="12073"/>
                  </a:lnTo>
                  <a:lnTo>
                    <a:pt x="6204" y="12073"/>
                  </a:lnTo>
                  <a:lnTo>
                    <a:pt x="6204" y="6989"/>
                  </a:lnTo>
                  <a:cubicBezTo>
                    <a:pt x="6204" y="5954"/>
                    <a:pt x="5370" y="5120"/>
                    <a:pt x="4347" y="5120"/>
                  </a:cubicBezTo>
                  <a:cubicBezTo>
                    <a:pt x="3323" y="5120"/>
                    <a:pt x="2477" y="5954"/>
                    <a:pt x="2477" y="6989"/>
                  </a:cubicBezTo>
                  <a:lnTo>
                    <a:pt x="2477" y="12073"/>
                  </a:lnTo>
                  <a:lnTo>
                    <a:pt x="215" y="12073"/>
                  </a:lnTo>
                  <a:lnTo>
                    <a:pt x="215" y="4132"/>
                  </a:lnTo>
                  <a:lnTo>
                    <a:pt x="4287" y="298"/>
                  </a:lnTo>
                  <a:close/>
                  <a:moveTo>
                    <a:pt x="4287" y="1"/>
                  </a:moveTo>
                  <a:lnTo>
                    <a:pt x="1" y="4037"/>
                  </a:lnTo>
                  <a:lnTo>
                    <a:pt x="1" y="12288"/>
                  </a:lnTo>
                  <a:lnTo>
                    <a:pt x="2703" y="12288"/>
                  </a:lnTo>
                  <a:lnTo>
                    <a:pt x="2703" y="6989"/>
                  </a:lnTo>
                  <a:cubicBezTo>
                    <a:pt x="2703" y="6085"/>
                    <a:pt x="3442" y="5346"/>
                    <a:pt x="4347" y="5346"/>
                  </a:cubicBezTo>
                  <a:cubicBezTo>
                    <a:pt x="5251" y="5346"/>
                    <a:pt x="5990" y="6085"/>
                    <a:pt x="5990" y="6989"/>
                  </a:cubicBezTo>
                  <a:lnTo>
                    <a:pt x="5990" y="12288"/>
                  </a:lnTo>
                  <a:lnTo>
                    <a:pt x="8585" y="12288"/>
                  </a:lnTo>
                  <a:lnTo>
                    <a:pt x="8585" y="4037"/>
                  </a:lnTo>
                  <a:lnTo>
                    <a:pt x="4287" y="1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6" name="Google Shape;1210;p28">
              <a:extLst>
                <a:ext uri="{FF2B5EF4-FFF2-40B4-BE49-F238E27FC236}">
                  <a16:creationId xmlns:a16="http://schemas.microsoft.com/office/drawing/2014/main" id="{7779BF20-05FF-0052-74B8-7423A714ADAA}"/>
                </a:ext>
              </a:extLst>
            </p:cNvPr>
            <p:cNvSpPr/>
            <p:nvPr/>
          </p:nvSpPr>
          <p:spPr>
            <a:xfrm>
              <a:off x="1649056" y="1869876"/>
              <a:ext cx="93095" cy="192941"/>
            </a:xfrm>
            <a:custGeom>
              <a:avLst/>
              <a:gdLst/>
              <a:ahLst/>
              <a:cxnLst/>
              <a:rect l="l" t="t" r="r" b="b"/>
              <a:pathLst>
                <a:path w="2620" h="5430" extrusionOk="0">
                  <a:moveTo>
                    <a:pt x="120" y="1"/>
                  </a:moveTo>
                  <a:cubicBezTo>
                    <a:pt x="72" y="1"/>
                    <a:pt x="12" y="48"/>
                    <a:pt x="12" y="108"/>
                  </a:cubicBezTo>
                  <a:cubicBezTo>
                    <a:pt x="0" y="167"/>
                    <a:pt x="48" y="215"/>
                    <a:pt x="108" y="227"/>
                  </a:cubicBezTo>
                  <a:cubicBezTo>
                    <a:pt x="120" y="227"/>
                    <a:pt x="965" y="286"/>
                    <a:pt x="1620" y="846"/>
                  </a:cubicBezTo>
                  <a:cubicBezTo>
                    <a:pt x="2286" y="1406"/>
                    <a:pt x="2406" y="1953"/>
                    <a:pt x="2406" y="2834"/>
                  </a:cubicBezTo>
                  <a:lnTo>
                    <a:pt x="2406" y="5323"/>
                  </a:lnTo>
                  <a:cubicBezTo>
                    <a:pt x="2406" y="5382"/>
                    <a:pt x="2453" y="5430"/>
                    <a:pt x="2513" y="5430"/>
                  </a:cubicBezTo>
                  <a:cubicBezTo>
                    <a:pt x="2572" y="5430"/>
                    <a:pt x="2620" y="5382"/>
                    <a:pt x="2620" y="5323"/>
                  </a:cubicBezTo>
                  <a:lnTo>
                    <a:pt x="2620" y="2834"/>
                  </a:lnTo>
                  <a:cubicBezTo>
                    <a:pt x="2620" y="1906"/>
                    <a:pt x="2489" y="1287"/>
                    <a:pt x="1763" y="679"/>
                  </a:cubicBezTo>
                  <a:cubicBezTo>
                    <a:pt x="1060" y="84"/>
                    <a:pt x="167" y="13"/>
                    <a:pt x="120" y="1"/>
                  </a:cubicBezTo>
                  <a:close/>
                </a:path>
              </a:pathLst>
            </a:custGeom>
            <a:solidFill>
              <a:srgbClr val="FCBD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7" name="Google Shape;1211;p28">
              <a:extLst>
                <a:ext uri="{FF2B5EF4-FFF2-40B4-BE49-F238E27FC236}">
                  <a16:creationId xmlns:a16="http://schemas.microsoft.com/office/drawing/2014/main" id="{A8FC2BBA-78D1-5DCD-E247-C4511248F9EE}"/>
                </a:ext>
              </a:extLst>
            </p:cNvPr>
            <p:cNvSpPr/>
            <p:nvPr/>
          </p:nvSpPr>
          <p:spPr>
            <a:xfrm>
              <a:off x="1007688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18" y="1644"/>
                    <a:pt x="4299" y="3692"/>
                    <a:pt x="4299" y="6192"/>
                  </a:cubicBezTo>
                  <a:cubicBezTo>
                    <a:pt x="4299" y="8692"/>
                    <a:pt x="2418" y="10752"/>
                    <a:pt x="1" y="11038"/>
                  </a:cubicBezTo>
                  <a:lnTo>
                    <a:pt x="1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10" y="10502"/>
                    <a:pt x="36338" y="8573"/>
                    <a:pt x="36338" y="6192"/>
                  </a:cubicBezTo>
                  <a:cubicBezTo>
                    <a:pt x="36338" y="3823"/>
                    <a:pt x="34410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 dirty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1</a:t>
              </a:r>
              <a:endParaRPr sz="1400" kern="0" dirty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8" name="Google Shape;1212;p28">
              <a:extLst>
                <a:ext uri="{FF2B5EF4-FFF2-40B4-BE49-F238E27FC236}">
                  <a16:creationId xmlns:a16="http://schemas.microsoft.com/office/drawing/2014/main" id="{8122203B-067A-2960-B16C-E7760D2CBC30}"/>
                </a:ext>
              </a:extLst>
            </p:cNvPr>
            <p:cNvSpPr/>
            <p:nvPr/>
          </p:nvSpPr>
          <p:spPr>
            <a:xfrm>
              <a:off x="1617752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393" y="1"/>
                    <a:pt x="0" y="394"/>
                    <a:pt x="0" y="882"/>
                  </a:cubicBezTo>
                  <a:cubicBezTo>
                    <a:pt x="0" y="1382"/>
                    <a:pt x="393" y="1775"/>
                    <a:pt x="893" y="1775"/>
                  </a:cubicBezTo>
                  <a:cubicBezTo>
                    <a:pt x="1382" y="1775"/>
                    <a:pt x="1774" y="1382"/>
                    <a:pt x="1774" y="882"/>
                  </a:cubicBezTo>
                  <a:cubicBezTo>
                    <a:pt x="1774" y="394"/>
                    <a:pt x="1382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29" name="Google Shape;1213;p28">
              <a:extLst>
                <a:ext uri="{FF2B5EF4-FFF2-40B4-BE49-F238E27FC236}">
                  <a16:creationId xmlns:a16="http://schemas.microsoft.com/office/drawing/2014/main" id="{98A37D5D-4C74-82FE-3933-8353A8B0E91C}"/>
                </a:ext>
              </a:extLst>
            </p:cNvPr>
            <p:cNvSpPr txBox="1"/>
            <p:nvPr/>
          </p:nvSpPr>
          <p:spPr>
            <a:xfrm>
              <a:off x="1111953" y="10966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Profile Screening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0" name="Google Shape;1214;p28">
            <a:extLst>
              <a:ext uri="{FF2B5EF4-FFF2-40B4-BE49-F238E27FC236}">
                <a16:creationId xmlns:a16="http://schemas.microsoft.com/office/drawing/2014/main" id="{6FAA4335-4B7A-1304-578E-0E702615CD76}"/>
              </a:ext>
            </a:extLst>
          </p:cNvPr>
          <p:cNvGrpSpPr/>
          <p:nvPr/>
        </p:nvGrpSpPr>
        <p:grpSpPr>
          <a:xfrm>
            <a:off x="1803817" y="971067"/>
            <a:ext cx="1291642" cy="2100092"/>
            <a:chOff x="2174908" y="1072023"/>
            <a:chExt cx="1291642" cy="2100092"/>
          </a:xfrm>
        </p:grpSpPr>
        <p:grpSp>
          <p:nvGrpSpPr>
            <p:cNvPr id="131" name="Google Shape;1215;p28">
              <a:extLst>
                <a:ext uri="{FF2B5EF4-FFF2-40B4-BE49-F238E27FC236}">
                  <a16:creationId xmlns:a16="http://schemas.microsoft.com/office/drawing/2014/main" id="{385FEA3F-10EB-B5FB-C333-4EB9AE32F0BA}"/>
                </a:ext>
              </a:extLst>
            </p:cNvPr>
            <p:cNvGrpSpPr/>
            <p:nvPr/>
          </p:nvGrpSpPr>
          <p:grpSpPr>
            <a:xfrm>
              <a:off x="2567937" y="1575025"/>
              <a:ext cx="505596" cy="574530"/>
              <a:chOff x="2567937" y="1575025"/>
              <a:chExt cx="505596" cy="574530"/>
            </a:xfrm>
          </p:grpSpPr>
          <p:sp>
            <p:nvSpPr>
              <p:cNvPr id="135" name="Google Shape;1216;p28">
                <a:extLst>
                  <a:ext uri="{FF2B5EF4-FFF2-40B4-BE49-F238E27FC236}">
                    <a16:creationId xmlns:a16="http://schemas.microsoft.com/office/drawing/2014/main" id="{6E7809C4-2F0E-8382-D044-A183FFB32EBF}"/>
                  </a:ext>
                </a:extLst>
              </p:cNvPr>
              <p:cNvSpPr/>
              <p:nvPr/>
            </p:nvSpPr>
            <p:spPr>
              <a:xfrm>
                <a:off x="2667358" y="1687344"/>
                <a:ext cx="302950" cy="396223"/>
              </a:xfrm>
              <a:custGeom>
                <a:avLst/>
                <a:gdLst/>
                <a:ahLst/>
                <a:cxnLst/>
                <a:rect l="l" t="t" r="r" b="b"/>
                <a:pathLst>
                  <a:path w="8526" h="11151" extrusionOk="0">
                    <a:moveTo>
                      <a:pt x="4326" y="218"/>
                    </a:moveTo>
                    <a:cubicBezTo>
                      <a:pt x="5309" y="218"/>
                      <a:pt x="6237" y="574"/>
                      <a:pt x="6978" y="1232"/>
                    </a:cubicBezTo>
                    <a:cubicBezTo>
                      <a:pt x="7823" y="1994"/>
                      <a:pt x="8299" y="3078"/>
                      <a:pt x="8299" y="4209"/>
                    </a:cubicBezTo>
                    <a:cubicBezTo>
                      <a:pt x="8299" y="5316"/>
                      <a:pt x="7859" y="6340"/>
                      <a:pt x="7061" y="7102"/>
                    </a:cubicBezTo>
                    <a:cubicBezTo>
                      <a:pt x="6299" y="7829"/>
                      <a:pt x="5871" y="8769"/>
                      <a:pt x="5871" y="9769"/>
                    </a:cubicBezTo>
                    <a:lnTo>
                      <a:pt x="5871" y="10924"/>
                    </a:lnTo>
                    <a:lnTo>
                      <a:pt x="2763" y="10924"/>
                    </a:lnTo>
                    <a:lnTo>
                      <a:pt x="2763" y="9734"/>
                    </a:lnTo>
                    <a:cubicBezTo>
                      <a:pt x="2763" y="8757"/>
                      <a:pt x="2346" y="7829"/>
                      <a:pt x="1584" y="7114"/>
                    </a:cubicBezTo>
                    <a:cubicBezTo>
                      <a:pt x="668" y="6257"/>
                      <a:pt x="227" y="5054"/>
                      <a:pt x="346" y="3804"/>
                    </a:cubicBezTo>
                    <a:cubicBezTo>
                      <a:pt x="537" y="1947"/>
                      <a:pt x="2013" y="447"/>
                      <a:pt x="3858" y="244"/>
                    </a:cubicBezTo>
                    <a:cubicBezTo>
                      <a:pt x="4015" y="226"/>
                      <a:pt x="4171" y="218"/>
                      <a:pt x="4326" y="218"/>
                    </a:cubicBezTo>
                    <a:close/>
                    <a:moveTo>
                      <a:pt x="4334" y="0"/>
                    </a:moveTo>
                    <a:cubicBezTo>
                      <a:pt x="4169" y="0"/>
                      <a:pt x="4002" y="10"/>
                      <a:pt x="3835" y="30"/>
                    </a:cubicBezTo>
                    <a:cubicBezTo>
                      <a:pt x="1882" y="244"/>
                      <a:pt x="322" y="1816"/>
                      <a:pt x="132" y="3780"/>
                    </a:cubicBezTo>
                    <a:cubicBezTo>
                      <a:pt x="1" y="5090"/>
                      <a:pt x="477" y="6364"/>
                      <a:pt x="1430" y="7269"/>
                    </a:cubicBezTo>
                    <a:cubicBezTo>
                      <a:pt x="2144" y="7936"/>
                      <a:pt x="2537" y="8817"/>
                      <a:pt x="2537" y="9734"/>
                    </a:cubicBezTo>
                    <a:lnTo>
                      <a:pt x="2537" y="11150"/>
                    </a:lnTo>
                    <a:lnTo>
                      <a:pt x="6097" y="11150"/>
                    </a:lnTo>
                    <a:lnTo>
                      <a:pt x="6097" y="9769"/>
                    </a:lnTo>
                    <a:cubicBezTo>
                      <a:pt x="6097" y="8829"/>
                      <a:pt x="6490" y="7948"/>
                      <a:pt x="7216" y="7257"/>
                    </a:cubicBezTo>
                    <a:cubicBezTo>
                      <a:pt x="8061" y="6459"/>
                      <a:pt x="8526" y="5376"/>
                      <a:pt x="8526" y="4209"/>
                    </a:cubicBezTo>
                    <a:cubicBezTo>
                      <a:pt x="8526" y="3018"/>
                      <a:pt x="8014" y="1875"/>
                      <a:pt x="7121" y="1078"/>
                    </a:cubicBezTo>
                    <a:cubicBezTo>
                      <a:pt x="6341" y="380"/>
                      <a:pt x="5366" y="0"/>
                      <a:pt x="4334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6" name="Google Shape;1217;p28">
                <a:extLst>
                  <a:ext uri="{FF2B5EF4-FFF2-40B4-BE49-F238E27FC236}">
                    <a16:creationId xmlns:a16="http://schemas.microsoft.com/office/drawing/2014/main" id="{ABADEFD6-B62D-B1A1-C346-0ABB41DA906E}"/>
                  </a:ext>
                </a:extLst>
              </p:cNvPr>
              <p:cNvSpPr/>
              <p:nvPr/>
            </p:nvSpPr>
            <p:spPr>
              <a:xfrm>
                <a:off x="2766779" y="2075505"/>
                <a:ext cx="109191" cy="74050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084" extrusionOk="0">
                    <a:moveTo>
                      <a:pt x="2858" y="226"/>
                    </a:moveTo>
                    <a:lnTo>
                      <a:pt x="2858" y="1548"/>
                    </a:lnTo>
                    <a:cubicBezTo>
                      <a:pt x="2858" y="1727"/>
                      <a:pt x="2715" y="1869"/>
                      <a:pt x="2537" y="1869"/>
                    </a:cubicBezTo>
                    <a:lnTo>
                      <a:pt x="537" y="1869"/>
                    </a:lnTo>
                    <a:cubicBezTo>
                      <a:pt x="358" y="1869"/>
                      <a:pt x="215" y="1727"/>
                      <a:pt x="215" y="1548"/>
                    </a:cubicBezTo>
                    <a:lnTo>
                      <a:pt x="215" y="226"/>
                    </a:lnTo>
                    <a:close/>
                    <a:moveTo>
                      <a:pt x="1" y="0"/>
                    </a:moveTo>
                    <a:lnTo>
                      <a:pt x="1" y="1548"/>
                    </a:lnTo>
                    <a:cubicBezTo>
                      <a:pt x="1" y="1846"/>
                      <a:pt x="239" y="2084"/>
                      <a:pt x="537" y="2084"/>
                    </a:cubicBezTo>
                    <a:lnTo>
                      <a:pt x="2537" y="2084"/>
                    </a:lnTo>
                    <a:cubicBezTo>
                      <a:pt x="2834" y="2084"/>
                      <a:pt x="3073" y="1846"/>
                      <a:pt x="3073" y="1548"/>
                    </a:cubicBezTo>
                    <a:lnTo>
                      <a:pt x="3073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7" name="Google Shape;1218;p28">
                <a:extLst>
                  <a:ext uri="{FF2B5EF4-FFF2-40B4-BE49-F238E27FC236}">
                    <a16:creationId xmlns:a16="http://schemas.microsoft.com/office/drawing/2014/main" id="{291AA5F3-454C-92C3-05AB-D881B18DBF21}"/>
                  </a:ext>
                </a:extLst>
              </p:cNvPr>
              <p:cNvSpPr/>
              <p:nvPr/>
            </p:nvSpPr>
            <p:spPr>
              <a:xfrm>
                <a:off x="2770190" y="2084815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8" name="Google Shape;1219;p28">
                <a:extLst>
                  <a:ext uri="{FF2B5EF4-FFF2-40B4-BE49-F238E27FC236}">
                    <a16:creationId xmlns:a16="http://schemas.microsoft.com/office/drawing/2014/main" id="{BED2FA48-4A04-B793-1096-B3E9DBA8F4F7}"/>
                  </a:ext>
                </a:extLst>
              </p:cNvPr>
              <p:cNvSpPr/>
              <p:nvPr/>
            </p:nvSpPr>
            <p:spPr>
              <a:xfrm>
                <a:off x="2770190" y="2102581"/>
                <a:ext cx="101978" cy="15243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29" extrusionOk="0">
                    <a:moveTo>
                      <a:pt x="12" y="0"/>
                    </a:moveTo>
                    <a:lnTo>
                      <a:pt x="0" y="214"/>
                    </a:lnTo>
                    <a:lnTo>
                      <a:pt x="2846" y="429"/>
                    </a:lnTo>
                    <a:lnTo>
                      <a:pt x="2869" y="214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39" name="Google Shape;1220;p28">
                <a:extLst>
                  <a:ext uri="{FF2B5EF4-FFF2-40B4-BE49-F238E27FC236}">
                    <a16:creationId xmlns:a16="http://schemas.microsoft.com/office/drawing/2014/main" id="{00DEA7E1-73FA-D39D-EBCD-EC047EFFBDE4}"/>
                  </a:ext>
                </a:extLst>
              </p:cNvPr>
              <p:cNvSpPr/>
              <p:nvPr/>
            </p:nvSpPr>
            <p:spPr>
              <a:xfrm>
                <a:off x="2770190" y="2120348"/>
                <a:ext cx="101978" cy="15670"/>
              </a:xfrm>
              <a:custGeom>
                <a:avLst/>
                <a:gdLst/>
                <a:ahLst/>
                <a:cxnLst/>
                <a:rect l="l" t="t" r="r" b="b"/>
                <a:pathLst>
                  <a:path w="2870" h="441" extrusionOk="0">
                    <a:moveTo>
                      <a:pt x="12" y="0"/>
                    </a:moveTo>
                    <a:lnTo>
                      <a:pt x="0" y="215"/>
                    </a:lnTo>
                    <a:lnTo>
                      <a:pt x="2846" y="441"/>
                    </a:lnTo>
                    <a:lnTo>
                      <a:pt x="2869" y="21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0" name="Google Shape;1221;p28">
                <a:extLst>
                  <a:ext uri="{FF2B5EF4-FFF2-40B4-BE49-F238E27FC236}">
                    <a16:creationId xmlns:a16="http://schemas.microsoft.com/office/drawing/2014/main" id="{C3A6C29F-9675-53EB-1E55-3FD90501166F}"/>
                  </a:ext>
                </a:extLst>
              </p:cNvPr>
              <p:cNvSpPr/>
              <p:nvPr/>
            </p:nvSpPr>
            <p:spPr>
              <a:xfrm>
                <a:off x="2795987" y="1817003"/>
                <a:ext cx="49106" cy="266565"/>
              </a:xfrm>
              <a:custGeom>
                <a:avLst/>
                <a:gdLst/>
                <a:ahLst/>
                <a:cxnLst/>
                <a:rect l="l" t="t" r="r" b="b"/>
                <a:pathLst>
                  <a:path w="1382" h="7502" extrusionOk="0">
                    <a:moveTo>
                      <a:pt x="691" y="215"/>
                    </a:moveTo>
                    <a:cubicBezTo>
                      <a:pt x="953" y="215"/>
                      <a:pt x="1167" y="429"/>
                      <a:pt x="1167" y="691"/>
                    </a:cubicBezTo>
                    <a:lnTo>
                      <a:pt x="1167" y="7275"/>
                    </a:lnTo>
                    <a:lnTo>
                      <a:pt x="227" y="7275"/>
                    </a:lnTo>
                    <a:lnTo>
                      <a:pt x="227" y="691"/>
                    </a:lnTo>
                    <a:cubicBezTo>
                      <a:pt x="227" y="429"/>
                      <a:pt x="429" y="215"/>
                      <a:pt x="691" y="215"/>
                    </a:cubicBezTo>
                    <a:close/>
                    <a:moveTo>
                      <a:pt x="691" y="0"/>
                    </a:moveTo>
                    <a:cubicBezTo>
                      <a:pt x="310" y="0"/>
                      <a:pt x="0" y="310"/>
                      <a:pt x="0" y="691"/>
                    </a:cubicBezTo>
                    <a:lnTo>
                      <a:pt x="0" y="7501"/>
                    </a:lnTo>
                    <a:lnTo>
                      <a:pt x="1381" y="7501"/>
                    </a:lnTo>
                    <a:lnTo>
                      <a:pt x="1381" y="691"/>
                    </a:lnTo>
                    <a:cubicBezTo>
                      <a:pt x="1381" y="310"/>
                      <a:pt x="1072" y="0"/>
                      <a:pt x="691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1" name="Google Shape;1222;p28">
                <a:extLst>
                  <a:ext uri="{FF2B5EF4-FFF2-40B4-BE49-F238E27FC236}">
                    <a16:creationId xmlns:a16="http://schemas.microsoft.com/office/drawing/2014/main" id="{9200000B-E4B9-924F-6E5B-529B0435D03F}"/>
                  </a:ext>
                </a:extLst>
              </p:cNvPr>
              <p:cNvSpPr/>
              <p:nvPr/>
            </p:nvSpPr>
            <p:spPr>
              <a:xfrm>
                <a:off x="2567937" y="1823755"/>
                <a:ext cx="83395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7" h="228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20"/>
                    </a:cubicBezTo>
                    <a:cubicBezTo>
                      <a:pt x="1" y="180"/>
                      <a:pt x="48" y="227"/>
                      <a:pt x="108" y="227"/>
                    </a:cubicBezTo>
                    <a:lnTo>
                      <a:pt x="2239" y="227"/>
                    </a:lnTo>
                    <a:cubicBezTo>
                      <a:pt x="2299" y="227"/>
                      <a:pt x="2346" y="180"/>
                      <a:pt x="2346" y="120"/>
                    </a:cubicBezTo>
                    <a:cubicBezTo>
                      <a:pt x="2346" y="49"/>
                      <a:pt x="2299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2" name="Google Shape;1223;p28">
                <a:extLst>
                  <a:ext uri="{FF2B5EF4-FFF2-40B4-BE49-F238E27FC236}">
                    <a16:creationId xmlns:a16="http://schemas.microsoft.com/office/drawing/2014/main" id="{7D7197D7-C5E4-2088-EAD5-E1C4F0FBFDC2}"/>
                  </a:ext>
                </a:extLst>
              </p:cNvPr>
              <p:cNvSpPr/>
              <p:nvPr/>
            </p:nvSpPr>
            <p:spPr>
              <a:xfrm>
                <a:off x="2990174" y="1823755"/>
                <a:ext cx="83359" cy="8101"/>
              </a:xfrm>
              <a:custGeom>
                <a:avLst/>
                <a:gdLst/>
                <a:ahLst/>
                <a:cxnLst/>
                <a:rect l="l" t="t" r="r" b="b"/>
                <a:pathLst>
                  <a:path w="2346" h="228" extrusionOk="0">
                    <a:moveTo>
                      <a:pt x="107" y="1"/>
                    </a:moveTo>
                    <a:cubicBezTo>
                      <a:pt x="48" y="1"/>
                      <a:pt x="0" y="49"/>
                      <a:pt x="0" y="120"/>
                    </a:cubicBezTo>
                    <a:cubicBezTo>
                      <a:pt x="0" y="180"/>
                      <a:pt x="48" y="227"/>
                      <a:pt x="107" y="227"/>
                    </a:cubicBezTo>
                    <a:lnTo>
                      <a:pt x="2239" y="227"/>
                    </a:lnTo>
                    <a:cubicBezTo>
                      <a:pt x="2298" y="227"/>
                      <a:pt x="2346" y="180"/>
                      <a:pt x="2346" y="120"/>
                    </a:cubicBezTo>
                    <a:cubicBezTo>
                      <a:pt x="2346" y="49"/>
                      <a:pt x="2298" y="1"/>
                      <a:pt x="2239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3" name="Google Shape;1224;p28">
                <a:extLst>
                  <a:ext uri="{FF2B5EF4-FFF2-40B4-BE49-F238E27FC236}">
                    <a16:creationId xmlns:a16="http://schemas.microsoft.com/office/drawing/2014/main" id="{7E71D27C-512E-13AB-2139-9826548B5FC6}"/>
                  </a:ext>
                </a:extLst>
              </p:cNvPr>
              <p:cNvSpPr/>
              <p:nvPr/>
            </p:nvSpPr>
            <p:spPr>
              <a:xfrm>
                <a:off x="2640282" y="194645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630" y="1"/>
                    </a:moveTo>
                    <a:cubicBezTo>
                      <a:pt x="1602" y="1"/>
                      <a:pt x="1572" y="13"/>
                      <a:pt x="1549" y="36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1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56" y="1727"/>
                      <a:pt x="179" y="1715"/>
                      <a:pt x="203" y="1691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6"/>
                    </a:cubicBezTo>
                    <a:cubicBezTo>
                      <a:pt x="1686" y="13"/>
                      <a:pt x="1659" y="1"/>
                      <a:pt x="163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4" name="Google Shape;1225;p28">
                <a:extLst>
                  <a:ext uri="{FF2B5EF4-FFF2-40B4-BE49-F238E27FC236}">
                    <a16:creationId xmlns:a16="http://schemas.microsoft.com/office/drawing/2014/main" id="{CCACFCA8-750E-1EE2-7EED-98DFF3B5A44A}"/>
                  </a:ext>
                </a:extLst>
              </p:cNvPr>
              <p:cNvSpPr/>
              <p:nvPr/>
            </p:nvSpPr>
            <p:spPr>
              <a:xfrm>
                <a:off x="2938971" y="164776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626" y="1"/>
                    </a:moveTo>
                    <a:cubicBezTo>
                      <a:pt x="1599" y="1"/>
                      <a:pt x="1572" y="13"/>
                      <a:pt x="1548" y="37"/>
                    </a:cubicBezTo>
                    <a:lnTo>
                      <a:pt x="48" y="1537"/>
                    </a:lnTo>
                    <a:cubicBezTo>
                      <a:pt x="1" y="1584"/>
                      <a:pt x="1" y="1656"/>
                      <a:pt x="48" y="1692"/>
                    </a:cubicBezTo>
                    <a:cubicBezTo>
                      <a:pt x="60" y="1715"/>
                      <a:pt x="96" y="1727"/>
                      <a:pt x="120" y="1727"/>
                    </a:cubicBezTo>
                    <a:cubicBezTo>
                      <a:pt x="144" y="1727"/>
                      <a:pt x="179" y="1715"/>
                      <a:pt x="191" y="1692"/>
                    </a:cubicBezTo>
                    <a:lnTo>
                      <a:pt x="1703" y="191"/>
                    </a:lnTo>
                    <a:cubicBezTo>
                      <a:pt x="1751" y="144"/>
                      <a:pt x="1751" y="72"/>
                      <a:pt x="1703" y="37"/>
                    </a:cubicBezTo>
                    <a:cubicBezTo>
                      <a:pt x="1679" y="13"/>
                      <a:pt x="1653" y="1"/>
                      <a:pt x="1626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5" name="Google Shape;1226;p28">
                <a:extLst>
                  <a:ext uri="{FF2B5EF4-FFF2-40B4-BE49-F238E27FC236}">
                    <a16:creationId xmlns:a16="http://schemas.microsoft.com/office/drawing/2014/main" id="{627D19A3-483B-7204-2CC8-08740FAB504A}"/>
                  </a:ext>
                </a:extLst>
              </p:cNvPr>
              <p:cNvSpPr/>
              <p:nvPr/>
            </p:nvSpPr>
            <p:spPr>
              <a:xfrm>
                <a:off x="2816703" y="1575025"/>
                <a:ext cx="8066" cy="83359"/>
              </a:xfrm>
              <a:custGeom>
                <a:avLst/>
                <a:gdLst/>
                <a:ahLst/>
                <a:cxnLst/>
                <a:rect l="l" t="t" r="r" b="b"/>
                <a:pathLst>
                  <a:path w="227" h="234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lnTo>
                      <a:pt x="1" y="2238"/>
                    </a:lnTo>
                    <a:cubicBezTo>
                      <a:pt x="1" y="2298"/>
                      <a:pt x="48" y="2346"/>
                      <a:pt x="108" y="2346"/>
                    </a:cubicBezTo>
                    <a:cubicBezTo>
                      <a:pt x="167" y="2346"/>
                      <a:pt x="227" y="2298"/>
                      <a:pt x="227" y="2238"/>
                    </a:cubicBezTo>
                    <a:lnTo>
                      <a:pt x="227" y="107"/>
                    </a:lnTo>
                    <a:cubicBezTo>
                      <a:pt x="227" y="48"/>
                      <a:pt x="167" y="0"/>
                      <a:pt x="10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6" name="Google Shape;1227;p28">
                <a:extLst>
                  <a:ext uri="{FF2B5EF4-FFF2-40B4-BE49-F238E27FC236}">
                    <a16:creationId xmlns:a16="http://schemas.microsoft.com/office/drawing/2014/main" id="{C8E199C7-CC9F-96A4-F32B-3E93AFB4DC78}"/>
                  </a:ext>
                </a:extLst>
              </p:cNvPr>
              <p:cNvSpPr/>
              <p:nvPr/>
            </p:nvSpPr>
            <p:spPr>
              <a:xfrm>
                <a:off x="2938971" y="1946450"/>
                <a:ext cx="62217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1" h="1728" extrusionOk="0">
                    <a:moveTo>
                      <a:pt x="120" y="1"/>
                    </a:moveTo>
                    <a:cubicBezTo>
                      <a:pt x="93" y="1"/>
                      <a:pt x="66" y="13"/>
                      <a:pt x="48" y="36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8" y="1691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79" y="1715"/>
                      <a:pt x="1703" y="1691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191" y="36"/>
                    </a:lnTo>
                    <a:cubicBezTo>
                      <a:pt x="173" y="13"/>
                      <a:pt x="146" y="1"/>
                      <a:pt x="120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7" name="Google Shape;1228;p28">
                <a:extLst>
                  <a:ext uri="{FF2B5EF4-FFF2-40B4-BE49-F238E27FC236}">
                    <a16:creationId xmlns:a16="http://schemas.microsoft.com/office/drawing/2014/main" id="{88440CCA-21CA-49C3-EFFD-ECE450B2E7B7}"/>
                  </a:ext>
                </a:extLst>
              </p:cNvPr>
              <p:cNvSpPr/>
              <p:nvPr/>
            </p:nvSpPr>
            <p:spPr>
              <a:xfrm>
                <a:off x="2640282" y="1647760"/>
                <a:ext cx="62253" cy="614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728" extrusionOk="0">
                    <a:moveTo>
                      <a:pt x="121" y="1"/>
                    </a:moveTo>
                    <a:cubicBezTo>
                      <a:pt x="93" y="1"/>
                      <a:pt x="66" y="13"/>
                      <a:pt x="48" y="37"/>
                    </a:cubicBezTo>
                    <a:cubicBezTo>
                      <a:pt x="1" y="72"/>
                      <a:pt x="1" y="144"/>
                      <a:pt x="48" y="191"/>
                    </a:cubicBezTo>
                    <a:lnTo>
                      <a:pt x="1549" y="1692"/>
                    </a:lnTo>
                    <a:cubicBezTo>
                      <a:pt x="1572" y="1715"/>
                      <a:pt x="1596" y="1727"/>
                      <a:pt x="1632" y="1727"/>
                    </a:cubicBezTo>
                    <a:cubicBezTo>
                      <a:pt x="1656" y="1727"/>
                      <a:pt x="1680" y="1715"/>
                      <a:pt x="1703" y="1692"/>
                    </a:cubicBezTo>
                    <a:cubicBezTo>
                      <a:pt x="1751" y="1656"/>
                      <a:pt x="1751" y="1584"/>
                      <a:pt x="1703" y="1537"/>
                    </a:cubicBezTo>
                    <a:lnTo>
                      <a:pt x="203" y="37"/>
                    </a:lnTo>
                    <a:cubicBezTo>
                      <a:pt x="179" y="13"/>
                      <a:pt x="150" y="1"/>
                      <a:pt x="121" y="1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48" name="Google Shape;1229;p28">
                <a:extLst>
                  <a:ext uri="{FF2B5EF4-FFF2-40B4-BE49-F238E27FC236}">
                    <a16:creationId xmlns:a16="http://schemas.microsoft.com/office/drawing/2014/main" id="{21C9B174-FE83-DFD6-0D00-6A4E1AD103AD}"/>
                  </a:ext>
                </a:extLst>
              </p:cNvPr>
              <p:cNvSpPr/>
              <p:nvPr/>
            </p:nvSpPr>
            <p:spPr>
              <a:xfrm>
                <a:off x="2853515" y="1726217"/>
                <a:ext cx="84638" cy="109440"/>
              </a:xfrm>
              <a:custGeom>
                <a:avLst/>
                <a:gdLst/>
                <a:ahLst/>
                <a:cxnLst/>
                <a:rect l="l" t="t" r="r" b="b"/>
                <a:pathLst>
                  <a:path w="2382" h="3080" extrusionOk="0">
                    <a:moveTo>
                      <a:pt x="118" y="0"/>
                    </a:moveTo>
                    <a:cubicBezTo>
                      <a:pt x="72" y="0"/>
                      <a:pt x="31" y="32"/>
                      <a:pt x="12" y="79"/>
                    </a:cubicBezTo>
                    <a:cubicBezTo>
                      <a:pt x="1" y="138"/>
                      <a:pt x="36" y="198"/>
                      <a:pt x="96" y="210"/>
                    </a:cubicBezTo>
                    <a:cubicBezTo>
                      <a:pt x="108" y="222"/>
                      <a:pt x="1894" y="734"/>
                      <a:pt x="2156" y="2984"/>
                    </a:cubicBezTo>
                    <a:cubicBezTo>
                      <a:pt x="2156" y="3032"/>
                      <a:pt x="2203" y="3079"/>
                      <a:pt x="2263" y="3079"/>
                    </a:cubicBezTo>
                    <a:lnTo>
                      <a:pt x="2275" y="3079"/>
                    </a:lnTo>
                    <a:cubicBezTo>
                      <a:pt x="2334" y="3067"/>
                      <a:pt x="2382" y="3020"/>
                      <a:pt x="2370" y="2960"/>
                    </a:cubicBezTo>
                    <a:cubicBezTo>
                      <a:pt x="2096" y="567"/>
                      <a:pt x="167" y="8"/>
                      <a:pt x="155" y="8"/>
                    </a:cubicBezTo>
                    <a:cubicBezTo>
                      <a:pt x="143" y="2"/>
                      <a:pt x="130" y="0"/>
                      <a:pt x="118" y="0"/>
                    </a:cubicBezTo>
                    <a:close/>
                  </a:path>
                </a:pathLst>
              </a:custGeom>
              <a:solidFill>
                <a:srgbClr val="69E7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32" name="Google Shape;1230;p28">
              <a:extLst>
                <a:ext uri="{FF2B5EF4-FFF2-40B4-BE49-F238E27FC236}">
                  <a16:creationId xmlns:a16="http://schemas.microsoft.com/office/drawing/2014/main" id="{4AB608ED-C160-6606-695C-CA0D0225554A}"/>
                </a:ext>
              </a:extLst>
            </p:cNvPr>
            <p:cNvSpPr/>
            <p:nvPr/>
          </p:nvSpPr>
          <p:spPr>
            <a:xfrm>
              <a:off x="2174908" y="2732081"/>
              <a:ext cx="1291642" cy="440034"/>
            </a:xfrm>
            <a:custGeom>
              <a:avLst/>
              <a:gdLst/>
              <a:ahLst/>
              <a:cxnLst/>
              <a:rect l="l" t="t" r="r" b="b"/>
              <a:pathLst>
                <a:path w="36351" h="12384" extrusionOk="0">
                  <a:moveTo>
                    <a:pt x="1" y="1"/>
                  </a:moveTo>
                  <a:lnTo>
                    <a:pt x="1" y="1358"/>
                  </a:lnTo>
                  <a:cubicBezTo>
                    <a:pt x="2430" y="1644"/>
                    <a:pt x="4311" y="3692"/>
                    <a:pt x="4311" y="6192"/>
                  </a:cubicBezTo>
                  <a:cubicBezTo>
                    <a:pt x="4311" y="8692"/>
                    <a:pt x="2430" y="10752"/>
                    <a:pt x="1" y="11038"/>
                  </a:cubicBezTo>
                  <a:lnTo>
                    <a:pt x="1" y="12383"/>
                  </a:lnTo>
                  <a:lnTo>
                    <a:pt x="32041" y="12383"/>
                  </a:lnTo>
                  <a:lnTo>
                    <a:pt x="32041" y="10502"/>
                  </a:lnTo>
                  <a:cubicBezTo>
                    <a:pt x="34422" y="10502"/>
                    <a:pt x="36351" y="8573"/>
                    <a:pt x="36351" y="6192"/>
                  </a:cubicBezTo>
                  <a:cubicBezTo>
                    <a:pt x="36351" y="3823"/>
                    <a:pt x="34422" y="1894"/>
                    <a:pt x="32041" y="1894"/>
                  </a:cubicBezTo>
                  <a:lnTo>
                    <a:pt x="320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2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33" name="Google Shape;1231;p28">
              <a:extLst>
                <a:ext uri="{FF2B5EF4-FFF2-40B4-BE49-F238E27FC236}">
                  <a16:creationId xmlns:a16="http://schemas.microsoft.com/office/drawing/2014/main" id="{AD13FD47-7823-BC40-DE88-960FC0E94AAA}"/>
                </a:ext>
              </a:extLst>
            </p:cNvPr>
            <p:cNvSpPr/>
            <p:nvPr/>
          </p:nvSpPr>
          <p:spPr>
            <a:xfrm>
              <a:off x="2785398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70" y="1775"/>
                    <a:pt x="1775" y="1382"/>
                    <a:pt x="1775" y="882"/>
                  </a:cubicBezTo>
                  <a:cubicBezTo>
                    <a:pt x="1775" y="394"/>
                    <a:pt x="1370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34" name="Google Shape;1232;p28">
              <a:extLst>
                <a:ext uri="{FF2B5EF4-FFF2-40B4-BE49-F238E27FC236}">
                  <a16:creationId xmlns:a16="http://schemas.microsoft.com/office/drawing/2014/main" id="{5BD2F1ED-D2A5-47E5-5938-0F18D7DB09E3}"/>
                </a:ext>
              </a:extLst>
            </p:cNvPr>
            <p:cNvSpPr txBox="1"/>
            <p:nvPr/>
          </p:nvSpPr>
          <p:spPr>
            <a:xfrm>
              <a:off x="2279253" y="1072023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Interview Schudiling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9" name="Google Shape;1233;p28">
            <a:extLst>
              <a:ext uri="{FF2B5EF4-FFF2-40B4-BE49-F238E27FC236}">
                <a16:creationId xmlns:a16="http://schemas.microsoft.com/office/drawing/2014/main" id="{55E5F40E-773D-4BD2-0836-63033FADC633}"/>
              </a:ext>
            </a:extLst>
          </p:cNvPr>
          <p:cNvGrpSpPr/>
          <p:nvPr/>
        </p:nvGrpSpPr>
        <p:grpSpPr>
          <a:xfrm>
            <a:off x="2971499" y="1020364"/>
            <a:ext cx="1291216" cy="2050795"/>
            <a:chOff x="3342590" y="1121320"/>
            <a:chExt cx="1291216" cy="2050795"/>
          </a:xfrm>
        </p:grpSpPr>
        <p:sp>
          <p:nvSpPr>
            <p:cNvPr id="150" name="Google Shape;1234;p28">
              <a:extLst>
                <a:ext uri="{FF2B5EF4-FFF2-40B4-BE49-F238E27FC236}">
                  <a16:creationId xmlns:a16="http://schemas.microsoft.com/office/drawing/2014/main" id="{8F1AC92B-2F4B-82C4-CA4E-8B92DD6474BD}"/>
                </a:ext>
              </a:extLst>
            </p:cNvPr>
            <p:cNvSpPr/>
            <p:nvPr/>
          </p:nvSpPr>
          <p:spPr>
            <a:xfrm>
              <a:off x="3978451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67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51" name="Google Shape;1235;p28">
              <a:extLst>
                <a:ext uri="{FF2B5EF4-FFF2-40B4-BE49-F238E27FC236}">
                  <a16:creationId xmlns:a16="http://schemas.microsoft.com/office/drawing/2014/main" id="{50B345B6-E339-579D-C4FB-F7AF9129A03A}"/>
                </a:ext>
              </a:extLst>
            </p:cNvPr>
            <p:cNvGrpSpPr/>
            <p:nvPr/>
          </p:nvGrpSpPr>
          <p:grpSpPr>
            <a:xfrm>
              <a:off x="3826157" y="1650745"/>
              <a:ext cx="324092" cy="498805"/>
              <a:chOff x="3826157" y="1650745"/>
              <a:chExt cx="324092" cy="498805"/>
            </a:xfrm>
          </p:grpSpPr>
          <p:sp>
            <p:nvSpPr>
              <p:cNvPr id="155" name="Google Shape;1236;p28">
                <a:extLst>
                  <a:ext uri="{FF2B5EF4-FFF2-40B4-BE49-F238E27FC236}">
                    <a16:creationId xmlns:a16="http://schemas.microsoft.com/office/drawing/2014/main" id="{94E76AF2-1C26-5E85-CBCF-A75BCE3938D9}"/>
                  </a:ext>
                </a:extLst>
              </p:cNvPr>
              <p:cNvSpPr/>
              <p:nvPr/>
            </p:nvSpPr>
            <p:spPr>
              <a:xfrm>
                <a:off x="3850248" y="1674446"/>
                <a:ext cx="275874" cy="275839"/>
              </a:xfrm>
              <a:custGeom>
                <a:avLst/>
                <a:gdLst/>
                <a:ahLst/>
                <a:cxnLst/>
                <a:rect l="l" t="t" r="r" b="b"/>
                <a:pathLst>
                  <a:path w="7764" h="7763" extrusionOk="0">
                    <a:moveTo>
                      <a:pt x="3882" y="226"/>
                    </a:moveTo>
                    <a:cubicBezTo>
                      <a:pt x="5906" y="226"/>
                      <a:pt x="7549" y="1869"/>
                      <a:pt x="7549" y="3881"/>
                    </a:cubicBezTo>
                    <a:cubicBezTo>
                      <a:pt x="7549" y="5906"/>
                      <a:pt x="5906" y="7549"/>
                      <a:pt x="3882" y="7549"/>
                    </a:cubicBezTo>
                    <a:cubicBezTo>
                      <a:pt x="1858" y="7549"/>
                      <a:pt x="215" y="5906"/>
                      <a:pt x="215" y="3881"/>
                    </a:cubicBezTo>
                    <a:cubicBezTo>
                      <a:pt x="215" y="1869"/>
                      <a:pt x="1858" y="226"/>
                      <a:pt x="3882" y="226"/>
                    </a:cubicBezTo>
                    <a:close/>
                    <a:moveTo>
                      <a:pt x="3882" y="0"/>
                    </a:moveTo>
                    <a:cubicBezTo>
                      <a:pt x="1739" y="0"/>
                      <a:pt x="1" y="1750"/>
                      <a:pt x="1" y="3881"/>
                    </a:cubicBezTo>
                    <a:cubicBezTo>
                      <a:pt x="1" y="6025"/>
                      <a:pt x="1739" y="7763"/>
                      <a:pt x="3882" y="7763"/>
                    </a:cubicBezTo>
                    <a:cubicBezTo>
                      <a:pt x="6025" y="7763"/>
                      <a:pt x="7764" y="6025"/>
                      <a:pt x="7764" y="3881"/>
                    </a:cubicBezTo>
                    <a:cubicBezTo>
                      <a:pt x="7764" y="1750"/>
                      <a:pt x="6025" y="0"/>
                      <a:pt x="3882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6" name="Google Shape;1237;p28">
                <a:extLst>
                  <a:ext uri="{FF2B5EF4-FFF2-40B4-BE49-F238E27FC236}">
                    <a16:creationId xmlns:a16="http://schemas.microsoft.com/office/drawing/2014/main" id="{D39CE082-70D2-ADAC-E2EA-6AB2F728304B}"/>
                  </a:ext>
                </a:extLst>
              </p:cNvPr>
              <p:cNvSpPr/>
              <p:nvPr/>
            </p:nvSpPr>
            <p:spPr>
              <a:xfrm>
                <a:off x="3826157" y="1650745"/>
                <a:ext cx="324092" cy="498805"/>
              </a:xfrm>
              <a:custGeom>
                <a:avLst/>
                <a:gdLst/>
                <a:ahLst/>
                <a:cxnLst/>
                <a:rect l="l" t="t" r="r" b="b"/>
                <a:pathLst>
                  <a:path w="9121" h="14038" extrusionOk="0">
                    <a:moveTo>
                      <a:pt x="4560" y="215"/>
                    </a:moveTo>
                    <a:cubicBezTo>
                      <a:pt x="6953" y="215"/>
                      <a:pt x="8894" y="2167"/>
                      <a:pt x="8894" y="4548"/>
                    </a:cubicBezTo>
                    <a:cubicBezTo>
                      <a:pt x="8894" y="6573"/>
                      <a:pt x="7501" y="8275"/>
                      <a:pt x="5620" y="8751"/>
                    </a:cubicBezTo>
                    <a:cubicBezTo>
                      <a:pt x="5548" y="8775"/>
                      <a:pt x="5477" y="8787"/>
                      <a:pt x="5405" y="8811"/>
                    </a:cubicBezTo>
                    <a:cubicBezTo>
                      <a:pt x="5132" y="8859"/>
                      <a:pt x="4846" y="8894"/>
                      <a:pt x="4560" y="8894"/>
                    </a:cubicBezTo>
                    <a:cubicBezTo>
                      <a:pt x="4274" y="8894"/>
                      <a:pt x="3989" y="8859"/>
                      <a:pt x="3715" y="8811"/>
                    </a:cubicBezTo>
                    <a:cubicBezTo>
                      <a:pt x="3643" y="8787"/>
                      <a:pt x="3572" y="8775"/>
                      <a:pt x="3489" y="8751"/>
                    </a:cubicBezTo>
                    <a:cubicBezTo>
                      <a:pt x="1619" y="8275"/>
                      <a:pt x="226" y="6573"/>
                      <a:pt x="226" y="4548"/>
                    </a:cubicBezTo>
                    <a:cubicBezTo>
                      <a:pt x="226" y="2167"/>
                      <a:pt x="2167" y="215"/>
                      <a:pt x="4560" y="215"/>
                    </a:cubicBezTo>
                    <a:close/>
                    <a:moveTo>
                      <a:pt x="5405" y="9025"/>
                    </a:moveTo>
                    <a:lnTo>
                      <a:pt x="5405" y="12978"/>
                    </a:lnTo>
                    <a:cubicBezTo>
                      <a:pt x="5405" y="13442"/>
                      <a:pt x="5024" y="13823"/>
                      <a:pt x="4560" y="13823"/>
                    </a:cubicBezTo>
                    <a:cubicBezTo>
                      <a:pt x="4096" y="13823"/>
                      <a:pt x="3715" y="13442"/>
                      <a:pt x="3715" y="12978"/>
                    </a:cubicBezTo>
                    <a:lnTo>
                      <a:pt x="3715" y="9025"/>
                    </a:lnTo>
                    <a:cubicBezTo>
                      <a:pt x="3989" y="9073"/>
                      <a:pt x="4274" y="9109"/>
                      <a:pt x="4560" y="9109"/>
                    </a:cubicBezTo>
                    <a:cubicBezTo>
                      <a:pt x="4846" y="9109"/>
                      <a:pt x="5132" y="9073"/>
                      <a:pt x="5405" y="9025"/>
                    </a:cubicBezTo>
                    <a:close/>
                    <a:moveTo>
                      <a:pt x="4560" y="0"/>
                    </a:moveTo>
                    <a:cubicBezTo>
                      <a:pt x="2048" y="0"/>
                      <a:pt x="0" y="2036"/>
                      <a:pt x="0" y="4548"/>
                    </a:cubicBezTo>
                    <a:cubicBezTo>
                      <a:pt x="0" y="6704"/>
                      <a:pt x="1500" y="8501"/>
                      <a:pt x="3489" y="8978"/>
                    </a:cubicBezTo>
                    <a:lnTo>
                      <a:pt x="3489" y="12978"/>
                    </a:lnTo>
                    <a:cubicBezTo>
                      <a:pt x="3489" y="13561"/>
                      <a:pt x="3977" y="14038"/>
                      <a:pt x="4560" y="14038"/>
                    </a:cubicBezTo>
                    <a:cubicBezTo>
                      <a:pt x="5144" y="14038"/>
                      <a:pt x="5620" y="13561"/>
                      <a:pt x="5620" y="12978"/>
                    </a:cubicBezTo>
                    <a:lnTo>
                      <a:pt x="5620" y="8978"/>
                    </a:lnTo>
                    <a:cubicBezTo>
                      <a:pt x="7620" y="8501"/>
                      <a:pt x="9120" y="6704"/>
                      <a:pt x="9120" y="4548"/>
                    </a:cubicBezTo>
                    <a:cubicBezTo>
                      <a:pt x="9120" y="2036"/>
                      <a:pt x="7072" y="0"/>
                      <a:pt x="456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57" name="Google Shape;1238;p28">
                <a:extLst>
                  <a:ext uri="{FF2B5EF4-FFF2-40B4-BE49-F238E27FC236}">
                    <a16:creationId xmlns:a16="http://schemas.microsoft.com/office/drawing/2014/main" id="{217ECB6E-337E-2B64-3C8B-4709887FC5E5}"/>
                  </a:ext>
                </a:extLst>
              </p:cNvPr>
              <p:cNvSpPr/>
              <p:nvPr/>
            </p:nvSpPr>
            <p:spPr>
              <a:xfrm>
                <a:off x="4003821" y="1713781"/>
                <a:ext cx="104110" cy="183206"/>
              </a:xfrm>
              <a:custGeom>
                <a:avLst/>
                <a:gdLst/>
                <a:ahLst/>
                <a:cxnLst/>
                <a:rect l="l" t="t" r="r" b="b"/>
                <a:pathLst>
                  <a:path w="2930" h="5156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5"/>
                      <a:pt x="108" y="215"/>
                    </a:cubicBezTo>
                    <a:cubicBezTo>
                      <a:pt x="822" y="215"/>
                      <a:pt x="1989" y="834"/>
                      <a:pt x="2299" y="2001"/>
                    </a:cubicBezTo>
                    <a:cubicBezTo>
                      <a:pt x="2691" y="3501"/>
                      <a:pt x="1977" y="4572"/>
                      <a:pt x="1489" y="4965"/>
                    </a:cubicBezTo>
                    <a:cubicBezTo>
                      <a:pt x="1441" y="5001"/>
                      <a:pt x="1441" y="5072"/>
                      <a:pt x="1477" y="5120"/>
                    </a:cubicBezTo>
                    <a:cubicBezTo>
                      <a:pt x="1501" y="5144"/>
                      <a:pt x="1525" y="5156"/>
                      <a:pt x="1560" y="5156"/>
                    </a:cubicBezTo>
                    <a:cubicBezTo>
                      <a:pt x="1584" y="5156"/>
                      <a:pt x="1608" y="5156"/>
                      <a:pt x="1632" y="5132"/>
                    </a:cubicBezTo>
                    <a:cubicBezTo>
                      <a:pt x="2156" y="4703"/>
                      <a:pt x="2930" y="3548"/>
                      <a:pt x="2501" y="1953"/>
                    </a:cubicBezTo>
                    <a:cubicBezTo>
                      <a:pt x="2168" y="679"/>
                      <a:pt x="894" y="0"/>
                      <a:pt x="108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52" name="Google Shape;1239;p28">
              <a:extLst>
                <a:ext uri="{FF2B5EF4-FFF2-40B4-BE49-F238E27FC236}">
                  <a16:creationId xmlns:a16="http://schemas.microsoft.com/office/drawing/2014/main" id="{6858F742-6140-2ABB-A784-D0808C0F9C7C}"/>
                </a:ext>
              </a:extLst>
            </p:cNvPr>
            <p:cNvSpPr/>
            <p:nvPr/>
          </p:nvSpPr>
          <p:spPr>
            <a:xfrm>
              <a:off x="3342590" y="2732081"/>
              <a:ext cx="1291216" cy="440034"/>
            </a:xfrm>
            <a:custGeom>
              <a:avLst/>
              <a:gdLst/>
              <a:ahLst/>
              <a:cxnLst/>
              <a:rect l="l" t="t" r="r" b="b"/>
              <a:pathLst>
                <a:path w="36339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3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3" name="Google Shape;1240;p28">
              <a:extLst>
                <a:ext uri="{FF2B5EF4-FFF2-40B4-BE49-F238E27FC236}">
                  <a16:creationId xmlns:a16="http://schemas.microsoft.com/office/drawing/2014/main" id="{AC727B32-DEC6-CAFC-C98E-C640EB1BEDF1}"/>
                </a:ext>
              </a:extLst>
            </p:cNvPr>
            <p:cNvSpPr/>
            <p:nvPr/>
          </p:nvSpPr>
          <p:spPr>
            <a:xfrm>
              <a:off x="3952654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82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54" name="Google Shape;1241;p28">
              <a:extLst>
                <a:ext uri="{FF2B5EF4-FFF2-40B4-BE49-F238E27FC236}">
                  <a16:creationId xmlns:a16="http://schemas.microsoft.com/office/drawing/2014/main" id="{8C9FF1E5-BA6C-7EC9-3B4B-82F9227D0145}"/>
                </a:ext>
              </a:extLst>
            </p:cNvPr>
            <p:cNvSpPr txBox="1"/>
            <p:nvPr/>
          </p:nvSpPr>
          <p:spPr>
            <a:xfrm>
              <a:off x="3432074" y="1121320"/>
              <a:ext cx="11673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Candidate</a:t>
              </a:r>
            </a:p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Selection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8" name="Google Shape;1189;p28">
            <a:extLst>
              <a:ext uri="{FF2B5EF4-FFF2-40B4-BE49-F238E27FC236}">
                <a16:creationId xmlns:a16="http://schemas.microsoft.com/office/drawing/2014/main" id="{98C4F42F-6D82-A48E-86DF-33684BB9CEF1}"/>
              </a:ext>
            </a:extLst>
          </p:cNvPr>
          <p:cNvGrpSpPr/>
          <p:nvPr/>
        </p:nvGrpSpPr>
        <p:grpSpPr>
          <a:xfrm>
            <a:off x="7651891" y="1027822"/>
            <a:ext cx="1291500" cy="2049876"/>
            <a:chOff x="6844818" y="1122239"/>
            <a:chExt cx="1291500" cy="2049876"/>
          </a:xfrm>
        </p:grpSpPr>
        <p:sp>
          <p:nvSpPr>
            <p:cNvPr id="159" name="Google Shape;1190;p28">
              <a:extLst>
                <a:ext uri="{FF2B5EF4-FFF2-40B4-BE49-F238E27FC236}">
                  <a16:creationId xmlns:a16="http://schemas.microsoft.com/office/drawing/2014/main" id="{9B2F1AB9-EDE3-0C72-8135-DD5F1D0B71A3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160" name="Google Shape;1191;p28">
              <a:extLst>
                <a:ext uri="{FF2B5EF4-FFF2-40B4-BE49-F238E27FC236}">
                  <a16:creationId xmlns:a16="http://schemas.microsoft.com/office/drawing/2014/main" id="{861BADA9-9485-9720-28D1-1D523A69360F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164" name="Google Shape;1192;p28">
                <a:extLst>
                  <a:ext uri="{FF2B5EF4-FFF2-40B4-BE49-F238E27FC236}">
                    <a16:creationId xmlns:a16="http://schemas.microsoft.com/office/drawing/2014/main" id="{E7AE7FC5-D147-1219-F91A-373F2AF71DA7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5" name="Google Shape;1193;p28">
                <a:extLst>
                  <a:ext uri="{FF2B5EF4-FFF2-40B4-BE49-F238E27FC236}">
                    <a16:creationId xmlns:a16="http://schemas.microsoft.com/office/drawing/2014/main" id="{8028112C-D71C-CCA7-4EC6-44555A9F272B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6" name="Google Shape;1194;p28">
                <a:extLst>
                  <a:ext uri="{FF2B5EF4-FFF2-40B4-BE49-F238E27FC236}">
                    <a16:creationId xmlns:a16="http://schemas.microsoft.com/office/drawing/2014/main" id="{AD150857-6F0C-7F74-F6D1-A8CE9895667E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7" name="Google Shape;1195;p28">
                <a:extLst>
                  <a:ext uri="{FF2B5EF4-FFF2-40B4-BE49-F238E27FC236}">
                    <a16:creationId xmlns:a16="http://schemas.microsoft.com/office/drawing/2014/main" id="{12E86D8F-E083-240B-C607-97B06FAB9A88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8" name="Google Shape;1196;p28">
                <a:extLst>
                  <a:ext uri="{FF2B5EF4-FFF2-40B4-BE49-F238E27FC236}">
                    <a16:creationId xmlns:a16="http://schemas.microsoft.com/office/drawing/2014/main" id="{17A05F95-871D-FBA0-8B56-4E0E3553098A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69" name="Google Shape;1197;p28">
                <a:extLst>
                  <a:ext uri="{FF2B5EF4-FFF2-40B4-BE49-F238E27FC236}">
                    <a16:creationId xmlns:a16="http://schemas.microsoft.com/office/drawing/2014/main" id="{7801B434-43AC-9C77-A2C3-DB882D4B5F39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0" name="Google Shape;1198;p28">
                <a:extLst>
                  <a:ext uri="{FF2B5EF4-FFF2-40B4-BE49-F238E27FC236}">
                    <a16:creationId xmlns:a16="http://schemas.microsoft.com/office/drawing/2014/main" id="{BEDBBA74-8480-7835-DABA-C035BF1788E2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1" name="Google Shape;1199;p28">
                <a:extLst>
                  <a:ext uri="{FF2B5EF4-FFF2-40B4-BE49-F238E27FC236}">
                    <a16:creationId xmlns:a16="http://schemas.microsoft.com/office/drawing/2014/main" id="{AAD5E79A-640F-761D-326B-A2450708D7B9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2" name="Google Shape;1200;p28">
                <a:extLst>
                  <a:ext uri="{FF2B5EF4-FFF2-40B4-BE49-F238E27FC236}">
                    <a16:creationId xmlns:a16="http://schemas.microsoft.com/office/drawing/2014/main" id="{435D180E-0806-94AC-263B-F6525EB551A8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3" name="Google Shape;1201;p28">
                <a:extLst>
                  <a:ext uri="{FF2B5EF4-FFF2-40B4-BE49-F238E27FC236}">
                    <a16:creationId xmlns:a16="http://schemas.microsoft.com/office/drawing/2014/main" id="{AB574B4B-8946-7C62-2AAE-8E5E92FD1713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174" name="Google Shape;1202;p28">
                <a:extLst>
                  <a:ext uri="{FF2B5EF4-FFF2-40B4-BE49-F238E27FC236}">
                    <a16:creationId xmlns:a16="http://schemas.microsoft.com/office/drawing/2014/main" id="{EE1F65A9-AC15-54CC-23C9-49896E1C9A0F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161" name="Google Shape;1203;p28">
              <a:extLst>
                <a:ext uri="{FF2B5EF4-FFF2-40B4-BE49-F238E27FC236}">
                  <a16:creationId xmlns:a16="http://schemas.microsoft.com/office/drawing/2014/main" id="{82D1B619-5F65-765C-6C93-B9944B919DFF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7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62" name="Google Shape;1204;p28">
              <a:extLst>
                <a:ext uri="{FF2B5EF4-FFF2-40B4-BE49-F238E27FC236}">
                  <a16:creationId xmlns:a16="http://schemas.microsoft.com/office/drawing/2014/main" id="{CA8E1562-EA24-166D-F10C-416C394EA8BC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163" name="Google Shape;1205;p28">
              <a:extLst>
                <a:ext uri="{FF2B5EF4-FFF2-40B4-BE49-F238E27FC236}">
                  <a16:creationId xmlns:a16="http://schemas.microsoft.com/office/drawing/2014/main" id="{9234B4A4-ADAC-ED44-7C47-492488E739CD}"/>
                </a:ext>
              </a:extLst>
            </p:cNvPr>
            <p:cNvSpPr txBox="1"/>
            <p:nvPr/>
          </p:nvSpPr>
          <p:spPr>
            <a:xfrm>
              <a:off x="6844818" y="1122239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Induction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09" name="Google Shape;1189;p28">
            <a:extLst>
              <a:ext uri="{FF2B5EF4-FFF2-40B4-BE49-F238E27FC236}">
                <a16:creationId xmlns:a16="http://schemas.microsoft.com/office/drawing/2014/main" id="{FD24C92F-8C3D-68C9-30B4-B226EADF4CB4}"/>
              </a:ext>
            </a:extLst>
          </p:cNvPr>
          <p:cNvGrpSpPr/>
          <p:nvPr/>
        </p:nvGrpSpPr>
        <p:grpSpPr>
          <a:xfrm>
            <a:off x="8728789" y="1040360"/>
            <a:ext cx="1397312" cy="2035620"/>
            <a:chOff x="6739006" y="1136495"/>
            <a:chExt cx="1397312" cy="2035620"/>
          </a:xfrm>
        </p:grpSpPr>
        <p:sp>
          <p:nvSpPr>
            <p:cNvPr id="210" name="Google Shape;1190;p28">
              <a:extLst>
                <a:ext uri="{FF2B5EF4-FFF2-40B4-BE49-F238E27FC236}">
                  <a16:creationId xmlns:a16="http://schemas.microsoft.com/office/drawing/2014/main" id="{F3166A78-8782-5F2C-E67B-90167905DC9F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11" name="Google Shape;1191;p28">
              <a:extLst>
                <a:ext uri="{FF2B5EF4-FFF2-40B4-BE49-F238E27FC236}">
                  <a16:creationId xmlns:a16="http://schemas.microsoft.com/office/drawing/2014/main" id="{1A76A9B5-4037-0C77-5D46-CA79EF9B6837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15" name="Google Shape;1192;p28">
                <a:extLst>
                  <a:ext uri="{FF2B5EF4-FFF2-40B4-BE49-F238E27FC236}">
                    <a16:creationId xmlns:a16="http://schemas.microsoft.com/office/drawing/2014/main" id="{CC323FEA-7A96-944D-57A7-D43B2A1AA3C8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6" name="Google Shape;1193;p28">
                <a:extLst>
                  <a:ext uri="{FF2B5EF4-FFF2-40B4-BE49-F238E27FC236}">
                    <a16:creationId xmlns:a16="http://schemas.microsoft.com/office/drawing/2014/main" id="{E769DD15-D638-7D11-EBC9-F814A9C734C8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7" name="Google Shape;1194;p28">
                <a:extLst>
                  <a:ext uri="{FF2B5EF4-FFF2-40B4-BE49-F238E27FC236}">
                    <a16:creationId xmlns:a16="http://schemas.microsoft.com/office/drawing/2014/main" id="{2B904047-EC6F-A433-C4D1-7E5CBB91DA59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8" name="Google Shape;1195;p28">
                <a:extLst>
                  <a:ext uri="{FF2B5EF4-FFF2-40B4-BE49-F238E27FC236}">
                    <a16:creationId xmlns:a16="http://schemas.microsoft.com/office/drawing/2014/main" id="{C78EE463-5B20-596C-591E-463163FEA272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19" name="Google Shape;1196;p28">
                <a:extLst>
                  <a:ext uri="{FF2B5EF4-FFF2-40B4-BE49-F238E27FC236}">
                    <a16:creationId xmlns:a16="http://schemas.microsoft.com/office/drawing/2014/main" id="{D8DE4272-CCF5-26C2-637D-F9B29E9D24D6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0" name="Google Shape;1197;p28">
                <a:extLst>
                  <a:ext uri="{FF2B5EF4-FFF2-40B4-BE49-F238E27FC236}">
                    <a16:creationId xmlns:a16="http://schemas.microsoft.com/office/drawing/2014/main" id="{55CFAC17-5016-FD3B-A07E-D82B46F4E490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1" name="Google Shape;1198;p28">
                <a:extLst>
                  <a:ext uri="{FF2B5EF4-FFF2-40B4-BE49-F238E27FC236}">
                    <a16:creationId xmlns:a16="http://schemas.microsoft.com/office/drawing/2014/main" id="{C9DDE432-9C9C-BFAF-EDB4-B4EBDA883801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2" name="Google Shape;1199;p28">
                <a:extLst>
                  <a:ext uri="{FF2B5EF4-FFF2-40B4-BE49-F238E27FC236}">
                    <a16:creationId xmlns:a16="http://schemas.microsoft.com/office/drawing/2014/main" id="{600D1562-51F5-72C1-B6BD-A29CC083CB0F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3" name="Google Shape;1200;p28">
                <a:extLst>
                  <a:ext uri="{FF2B5EF4-FFF2-40B4-BE49-F238E27FC236}">
                    <a16:creationId xmlns:a16="http://schemas.microsoft.com/office/drawing/2014/main" id="{C5B52FC9-D44E-428D-BE06-3FE5E9D8ABE1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4" name="Google Shape;1201;p28">
                <a:extLst>
                  <a:ext uri="{FF2B5EF4-FFF2-40B4-BE49-F238E27FC236}">
                    <a16:creationId xmlns:a16="http://schemas.microsoft.com/office/drawing/2014/main" id="{F848D5EB-42B1-02A9-6CED-006AB7C48F0B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25" name="Google Shape;1202;p28">
                <a:extLst>
                  <a:ext uri="{FF2B5EF4-FFF2-40B4-BE49-F238E27FC236}">
                    <a16:creationId xmlns:a16="http://schemas.microsoft.com/office/drawing/2014/main" id="{80C4AD59-9EFB-1D49-11E5-7672E5A98927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12" name="Google Shape;1203;p28">
              <a:extLst>
                <a:ext uri="{FF2B5EF4-FFF2-40B4-BE49-F238E27FC236}">
                  <a16:creationId xmlns:a16="http://schemas.microsoft.com/office/drawing/2014/main" id="{6DB132E0-6681-057D-A215-134A59F965E6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8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13" name="Google Shape;1204;p28">
              <a:extLst>
                <a:ext uri="{FF2B5EF4-FFF2-40B4-BE49-F238E27FC236}">
                  <a16:creationId xmlns:a16="http://schemas.microsoft.com/office/drawing/2014/main" id="{F5FF3D33-74FA-AF93-3EC6-AB8EE901510B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14" name="Google Shape;1205;p28">
              <a:extLst>
                <a:ext uri="{FF2B5EF4-FFF2-40B4-BE49-F238E27FC236}">
                  <a16:creationId xmlns:a16="http://schemas.microsoft.com/office/drawing/2014/main" id="{BDBE60E0-D28D-8F85-1389-37C5D8FA651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Process Training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6" name="Google Shape;1189;p28">
            <a:extLst>
              <a:ext uri="{FF2B5EF4-FFF2-40B4-BE49-F238E27FC236}">
                <a16:creationId xmlns:a16="http://schemas.microsoft.com/office/drawing/2014/main" id="{DA197626-712E-D5E1-58E5-852BF9D14CCD}"/>
              </a:ext>
            </a:extLst>
          </p:cNvPr>
          <p:cNvGrpSpPr/>
          <p:nvPr/>
        </p:nvGrpSpPr>
        <p:grpSpPr>
          <a:xfrm>
            <a:off x="9910716" y="1042078"/>
            <a:ext cx="1397312" cy="2035620"/>
            <a:chOff x="6739006" y="1136495"/>
            <a:chExt cx="1397312" cy="2035620"/>
          </a:xfrm>
        </p:grpSpPr>
        <p:sp>
          <p:nvSpPr>
            <p:cNvPr id="227" name="Google Shape;1190;p28">
              <a:extLst>
                <a:ext uri="{FF2B5EF4-FFF2-40B4-BE49-F238E27FC236}">
                  <a16:creationId xmlns:a16="http://schemas.microsoft.com/office/drawing/2014/main" id="{7E525721-8335-C85D-2371-3A82DFCD597D}"/>
                </a:ext>
              </a:extLst>
            </p:cNvPr>
            <p:cNvSpPr/>
            <p:nvPr/>
          </p:nvSpPr>
          <p:spPr>
            <a:xfrm>
              <a:off x="7480999" y="2261200"/>
              <a:ext cx="11441" cy="704858"/>
            </a:xfrm>
            <a:custGeom>
              <a:avLst/>
              <a:gdLst/>
              <a:ahLst/>
              <a:cxnLst/>
              <a:rect l="l" t="t" r="r" b="b"/>
              <a:pathLst>
                <a:path w="322" h="19837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19682"/>
                  </a:lnTo>
                  <a:cubicBezTo>
                    <a:pt x="0" y="19765"/>
                    <a:pt x="72" y="19837"/>
                    <a:pt x="155" y="19837"/>
                  </a:cubicBezTo>
                  <a:cubicBezTo>
                    <a:pt x="250" y="19837"/>
                    <a:pt x="322" y="19765"/>
                    <a:pt x="322" y="19682"/>
                  </a:cubicBezTo>
                  <a:lnTo>
                    <a:pt x="322" y="156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grpSp>
          <p:nvGrpSpPr>
            <p:cNvPr id="228" name="Google Shape;1191;p28">
              <a:extLst>
                <a:ext uri="{FF2B5EF4-FFF2-40B4-BE49-F238E27FC236}">
                  <a16:creationId xmlns:a16="http://schemas.microsoft.com/office/drawing/2014/main" id="{D1208399-531F-38A5-1FCE-3FE271A37C50}"/>
                </a:ext>
              </a:extLst>
            </p:cNvPr>
            <p:cNvGrpSpPr/>
            <p:nvPr/>
          </p:nvGrpSpPr>
          <p:grpSpPr>
            <a:xfrm>
              <a:off x="7307954" y="1698963"/>
              <a:ext cx="365560" cy="450589"/>
              <a:chOff x="7307954" y="1698963"/>
              <a:chExt cx="365560" cy="450589"/>
            </a:xfrm>
          </p:grpSpPr>
          <p:sp>
            <p:nvSpPr>
              <p:cNvPr id="232" name="Google Shape;1192;p28">
                <a:extLst>
                  <a:ext uri="{FF2B5EF4-FFF2-40B4-BE49-F238E27FC236}">
                    <a16:creationId xmlns:a16="http://schemas.microsoft.com/office/drawing/2014/main" id="{631F29CF-A516-0B34-48AF-DB63D27AF3C9}"/>
                  </a:ext>
                </a:extLst>
              </p:cNvPr>
              <p:cNvSpPr/>
              <p:nvPr/>
            </p:nvSpPr>
            <p:spPr>
              <a:xfrm>
                <a:off x="7432319" y="1819526"/>
                <a:ext cx="241195" cy="330026"/>
              </a:xfrm>
              <a:custGeom>
                <a:avLst/>
                <a:gdLst/>
                <a:ahLst/>
                <a:cxnLst/>
                <a:rect l="l" t="t" r="r" b="b"/>
                <a:pathLst>
                  <a:path w="6788" h="9288" extrusionOk="0">
                    <a:moveTo>
                      <a:pt x="3609" y="1"/>
                    </a:moveTo>
                    <a:cubicBezTo>
                      <a:pt x="3549" y="1"/>
                      <a:pt x="3501" y="49"/>
                      <a:pt x="3501" y="120"/>
                    </a:cubicBezTo>
                    <a:cubicBezTo>
                      <a:pt x="3501" y="179"/>
                      <a:pt x="3549" y="227"/>
                      <a:pt x="3609" y="227"/>
                    </a:cubicBezTo>
                    <a:lnTo>
                      <a:pt x="6561" y="227"/>
                    </a:lnTo>
                    <a:lnTo>
                      <a:pt x="6561" y="9073"/>
                    </a:lnTo>
                    <a:lnTo>
                      <a:pt x="215" y="9073"/>
                    </a:lnTo>
                    <a:lnTo>
                      <a:pt x="215" y="7383"/>
                    </a:lnTo>
                    <a:cubicBezTo>
                      <a:pt x="215" y="7323"/>
                      <a:pt x="168" y="7276"/>
                      <a:pt x="108" y="7276"/>
                    </a:cubicBezTo>
                    <a:cubicBezTo>
                      <a:pt x="49" y="7276"/>
                      <a:pt x="1" y="7323"/>
                      <a:pt x="1" y="7383"/>
                    </a:cubicBezTo>
                    <a:lnTo>
                      <a:pt x="1" y="9288"/>
                    </a:lnTo>
                    <a:lnTo>
                      <a:pt x="6787" y="9288"/>
                    </a:lnTo>
                    <a:lnTo>
                      <a:pt x="6787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3" name="Google Shape;1193;p28">
                <a:extLst>
                  <a:ext uri="{FF2B5EF4-FFF2-40B4-BE49-F238E27FC236}">
                    <a16:creationId xmlns:a16="http://schemas.microsoft.com/office/drawing/2014/main" id="{6DDB7ED4-3B4D-FE72-11B4-052B9DF7B160}"/>
                  </a:ext>
                </a:extLst>
              </p:cNvPr>
              <p:cNvSpPr/>
              <p:nvPr/>
            </p:nvSpPr>
            <p:spPr>
              <a:xfrm>
                <a:off x="7307954" y="1698963"/>
                <a:ext cx="256403" cy="387127"/>
              </a:xfrm>
              <a:custGeom>
                <a:avLst/>
                <a:gdLst/>
                <a:ahLst/>
                <a:cxnLst/>
                <a:rect l="l" t="t" r="r" b="b"/>
                <a:pathLst>
                  <a:path w="7216" h="10895" extrusionOk="0">
                    <a:moveTo>
                      <a:pt x="7001" y="215"/>
                    </a:moveTo>
                    <a:lnTo>
                      <a:pt x="7001" y="10669"/>
                    </a:lnTo>
                    <a:lnTo>
                      <a:pt x="215" y="10669"/>
                    </a:lnTo>
                    <a:lnTo>
                      <a:pt x="215" y="215"/>
                    </a:lnTo>
                    <a:close/>
                    <a:moveTo>
                      <a:pt x="0" y="1"/>
                    </a:moveTo>
                    <a:lnTo>
                      <a:pt x="0" y="10895"/>
                    </a:lnTo>
                    <a:lnTo>
                      <a:pt x="7216" y="10895"/>
                    </a:lnTo>
                    <a:lnTo>
                      <a:pt x="7216" y="1"/>
                    </a:ln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4" name="Google Shape;1194;p28">
                <a:extLst>
                  <a:ext uri="{FF2B5EF4-FFF2-40B4-BE49-F238E27FC236}">
                    <a16:creationId xmlns:a16="http://schemas.microsoft.com/office/drawing/2014/main" id="{3FAD3A8F-F89D-E5B7-6CD3-52B4319634A0}"/>
                  </a:ext>
                </a:extLst>
              </p:cNvPr>
              <p:cNvSpPr/>
              <p:nvPr/>
            </p:nvSpPr>
            <p:spPr>
              <a:xfrm>
                <a:off x="7343487" y="1739577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5" name="Google Shape;1195;p28">
                <a:extLst>
                  <a:ext uri="{FF2B5EF4-FFF2-40B4-BE49-F238E27FC236}">
                    <a16:creationId xmlns:a16="http://schemas.microsoft.com/office/drawing/2014/main" id="{3F876EB3-831F-89B5-5D10-60A0A1D0AF43}"/>
                  </a:ext>
                </a:extLst>
              </p:cNvPr>
              <p:cNvSpPr/>
              <p:nvPr/>
            </p:nvSpPr>
            <p:spPr>
              <a:xfrm>
                <a:off x="7343487" y="177596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1"/>
                    </a:moveTo>
                    <a:cubicBezTo>
                      <a:pt x="48" y="1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6" name="Google Shape;1196;p28">
                <a:extLst>
                  <a:ext uri="{FF2B5EF4-FFF2-40B4-BE49-F238E27FC236}">
                    <a16:creationId xmlns:a16="http://schemas.microsoft.com/office/drawing/2014/main" id="{FC94DCF4-5109-EC6C-ADFC-5B48991D996C}"/>
                  </a:ext>
                </a:extLst>
              </p:cNvPr>
              <p:cNvSpPr/>
              <p:nvPr/>
            </p:nvSpPr>
            <p:spPr>
              <a:xfrm>
                <a:off x="7343487" y="1812349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7" name="Google Shape;1197;p28">
                <a:extLst>
                  <a:ext uri="{FF2B5EF4-FFF2-40B4-BE49-F238E27FC236}">
                    <a16:creationId xmlns:a16="http://schemas.microsoft.com/office/drawing/2014/main" id="{12924D8E-1CE7-3ECB-3372-3C498803C9D2}"/>
                  </a:ext>
                </a:extLst>
              </p:cNvPr>
              <p:cNvSpPr/>
              <p:nvPr/>
            </p:nvSpPr>
            <p:spPr>
              <a:xfrm>
                <a:off x="7343487" y="1848734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8" name="Google Shape;1198;p28">
                <a:extLst>
                  <a:ext uri="{FF2B5EF4-FFF2-40B4-BE49-F238E27FC236}">
                    <a16:creationId xmlns:a16="http://schemas.microsoft.com/office/drawing/2014/main" id="{2164B9C4-75C7-63B2-F58F-E185A143C60B}"/>
                  </a:ext>
                </a:extLst>
              </p:cNvPr>
              <p:cNvSpPr/>
              <p:nvPr/>
            </p:nvSpPr>
            <p:spPr>
              <a:xfrm>
                <a:off x="7343487" y="1885120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8"/>
                    </a:cubicBezTo>
                    <a:cubicBezTo>
                      <a:pt x="1" y="167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7"/>
                      <a:pt x="5216" y="108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39" name="Google Shape;1199;p28">
                <a:extLst>
                  <a:ext uri="{FF2B5EF4-FFF2-40B4-BE49-F238E27FC236}">
                    <a16:creationId xmlns:a16="http://schemas.microsoft.com/office/drawing/2014/main" id="{875A8EF2-3E64-03A0-E322-203AAEB8AE2D}"/>
                  </a:ext>
                </a:extLst>
              </p:cNvPr>
              <p:cNvSpPr/>
              <p:nvPr/>
            </p:nvSpPr>
            <p:spPr>
              <a:xfrm>
                <a:off x="7343487" y="1921506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79"/>
                      <a:pt x="48" y="227"/>
                      <a:pt x="108" y="227"/>
                    </a:cubicBezTo>
                    <a:lnTo>
                      <a:pt x="5096" y="227"/>
                    </a:lnTo>
                    <a:cubicBezTo>
                      <a:pt x="5168" y="227"/>
                      <a:pt x="5216" y="179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0" name="Google Shape;1200;p28">
                <a:extLst>
                  <a:ext uri="{FF2B5EF4-FFF2-40B4-BE49-F238E27FC236}">
                    <a16:creationId xmlns:a16="http://schemas.microsoft.com/office/drawing/2014/main" id="{F44CCCFB-6BAB-33AF-2C47-D9416781FB1C}"/>
                  </a:ext>
                </a:extLst>
              </p:cNvPr>
              <p:cNvSpPr/>
              <p:nvPr/>
            </p:nvSpPr>
            <p:spPr>
              <a:xfrm>
                <a:off x="7343487" y="1957891"/>
                <a:ext cx="185338" cy="8066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27" extrusionOk="0">
                    <a:moveTo>
                      <a:pt x="108" y="0"/>
                    </a:moveTo>
                    <a:cubicBezTo>
                      <a:pt x="48" y="0"/>
                      <a:pt x="1" y="60"/>
                      <a:pt x="1" y="119"/>
                    </a:cubicBezTo>
                    <a:cubicBezTo>
                      <a:pt x="1" y="179"/>
                      <a:pt x="48" y="226"/>
                      <a:pt x="108" y="226"/>
                    </a:cubicBezTo>
                    <a:lnTo>
                      <a:pt x="5096" y="226"/>
                    </a:lnTo>
                    <a:cubicBezTo>
                      <a:pt x="5168" y="226"/>
                      <a:pt x="5216" y="179"/>
                      <a:pt x="5216" y="119"/>
                    </a:cubicBezTo>
                    <a:cubicBezTo>
                      <a:pt x="5216" y="60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1" name="Google Shape;1201;p28">
                <a:extLst>
                  <a:ext uri="{FF2B5EF4-FFF2-40B4-BE49-F238E27FC236}">
                    <a16:creationId xmlns:a16="http://schemas.microsoft.com/office/drawing/2014/main" id="{DF0D9D1F-0C17-F634-548A-E3379AB24EEC}"/>
                  </a:ext>
                </a:extLst>
              </p:cNvPr>
              <p:cNvSpPr/>
              <p:nvPr/>
            </p:nvSpPr>
            <p:spPr>
              <a:xfrm>
                <a:off x="7343487" y="1994703"/>
                <a:ext cx="185338" cy="7639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5" extrusionOk="0">
                    <a:moveTo>
                      <a:pt x="108" y="0"/>
                    </a:moveTo>
                    <a:cubicBezTo>
                      <a:pt x="48" y="0"/>
                      <a:pt x="1" y="48"/>
                      <a:pt x="1" y="107"/>
                    </a:cubicBezTo>
                    <a:cubicBezTo>
                      <a:pt x="1" y="167"/>
                      <a:pt x="48" y="214"/>
                      <a:pt x="108" y="214"/>
                    </a:cubicBezTo>
                    <a:lnTo>
                      <a:pt x="5096" y="214"/>
                    </a:lnTo>
                    <a:cubicBezTo>
                      <a:pt x="5168" y="214"/>
                      <a:pt x="5216" y="167"/>
                      <a:pt x="5216" y="107"/>
                    </a:cubicBezTo>
                    <a:cubicBezTo>
                      <a:pt x="5216" y="48"/>
                      <a:pt x="5168" y="0"/>
                      <a:pt x="5096" y="0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  <p:sp>
            <p:nvSpPr>
              <p:cNvPr id="242" name="Google Shape;1202;p28">
                <a:extLst>
                  <a:ext uri="{FF2B5EF4-FFF2-40B4-BE49-F238E27FC236}">
                    <a16:creationId xmlns:a16="http://schemas.microsoft.com/office/drawing/2014/main" id="{36589A87-D79E-0EF4-9804-D023D6D47730}"/>
                  </a:ext>
                </a:extLst>
              </p:cNvPr>
              <p:cNvSpPr/>
              <p:nvPr/>
            </p:nvSpPr>
            <p:spPr>
              <a:xfrm>
                <a:off x="7343487" y="2031053"/>
                <a:ext cx="185338" cy="7675"/>
              </a:xfrm>
              <a:custGeom>
                <a:avLst/>
                <a:gdLst/>
                <a:ahLst/>
                <a:cxnLst/>
                <a:rect l="l" t="t" r="r" b="b"/>
                <a:pathLst>
                  <a:path w="5216" h="216" extrusionOk="0">
                    <a:moveTo>
                      <a:pt x="108" y="1"/>
                    </a:moveTo>
                    <a:cubicBezTo>
                      <a:pt x="48" y="1"/>
                      <a:pt x="1" y="49"/>
                      <a:pt x="1" y="108"/>
                    </a:cubicBezTo>
                    <a:cubicBezTo>
                      <a:pt x="1" y="168"/>
                      <a:pt x="48" y="215"/>
                      <a:pt x="108" y="215"/>
                    </a:cubicBezTo>
                    <a:lnTo>
                      <a:pt x="5096" y="215"/>
                    </a:lnTo>
                    <a:cubicBezTo>
                      <a:pt x="5168" y="215"/>
                      <a:pt x="5216" y="168"/>
                      <a:pt x="5216" y="108"/>
                    </a:cubicBezTo>
                    <a:cubicBezTo>
                      <a:pt x="5216" y="49"/>
                      <a:pt x="5168" y="1"/>
                      <a:pt x="5096" y="1"/>
                    </a:cubicBezTo>
                    <a:close/>
                  </a:path>
                </a:pathLst>
              </a:custGeom>
              <a:solidFill>
                <a:srgbClr val="5EB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>
                  <a:buClr>
                    <a:srgbClr val="000000"/>
                  </a:buClr>
                  <a:buFont typeface="Arial"/>
                  <a:buNone/>
                </a:pPr>
                <a:endParaRPr sz="1400" kern="0">
                  <a:solidFill>
                    <a:srgbClr val="000000"/>
                  </a:solidFill>
                  <a:latin typeface="Oswald" panose="00000500000000000000" pitchFamily="2" charset="0"/>
                  <a:cs typeface="Arial"/>
                  <a:sym typeface="Arial"/>
                </a:endParaRPr>
              </a:p>
            </p:txBody>
          </p:sp>
        </p:grpSp>
        <p:sp>
          <p:nvSpPr>
            <p:cNvPr id="229" name="Google Shape;1203;p28">
              <a:extLst>
                <a:ext uri="{FF2B5EF4-FFF2-40B4-BE49-F238E27FC236}">
                  <a16:creationId xmlns:a16="http://schemas.microsoft.com/office/drawing/2014/main" id="{51857CE3-7CF9-37DC-4AD5-355273C403C5}"/>
                </a:ext>
              </a:extLst>
            </p:cNvPr>
            <p:cNvSpPr/>
            <p:nvPr/>
          </p:nvSpPr>
          <p:spPr>
            <a:xfrm>
              <a:off x="6845138" y="2732081"/>
              <a:ext cx="1291180" cy="440034"/>
            </a:xfrm>
            <a:custGeom>
              <a:avLst/>
              <a:gdLst/>
              <a:ahLst/>
              <a:cxnLst/>
              <a:rect l="l" t="t" r="r" b="b"/>
              <a:pathLst>
                <a:path w="36338" h="12384" extrusionOk="0">
                  <a:moveTo>
                    <a:pt x="0" y="1"/>
                  </a:moveTo>
                  <a:lnTo>
                    <a:pt x="0" y="1358"/>
                  </a:lnTo>
                  <a:cubicBezTo>
                    <a:pt x="2417" y="1644"/>
                    <a:pt x="4298" y="3692"/>
                    <a:pt x="4298" y="6192"/>
                  </a:cubicBezTo>
                  <a:cubicBezTo>
                    <a:pt x="4298" y="8692"/>
                    <a:pt x="2417" y="10752"/>
                    <a:pt x="0" y="11038"/>
                  </a:cubicBezTo>
                  <a:lnTo>
                    <a:pt x="0" y="12383"/>
                  </a:lnTo>
                  <a:lnTo>
                    <a:pt x="32040" y="12383"/>
                  </a:lnTo>
                  <a:lnTo>
                    <a:pt x="32040" y="10502"/>
                  </a:lnTo>
                  <a:cubicBezTo>
                    <a:pt x="34409" y="10502"/>
                    <a:pt x="36338" y="8573"/>
                    <a:pt x="36338" y="6192"/>
                  </a:cubicBezTo>
                  <a:cubicBezTo>
                    <a:pt x="36338" y="3823"/>
                    <a:pt x="34409" y="1894"/>
                    <a:pt x="32040" y="1894"/>
                  </a:cubicBezTo>
                  <a:lnTo>
                    <a:pt x="320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400" kern="0">
                  <a:solidFill>
                    <a:srgbClr val="FFFFFF"/>
                  </a:solidFill>
                  <a:latin typeface="Oswald" panose="00000500000000000000" pitchFamily="2" charset="0"/>
                  <a:ea typeface="Fira Sans Extra Condensed Medium"/>
                  <a:cs typeface="Fira Sans Extra Condensed Medium"/>
                  <a:sym typeface="Fira Sans Extra Condensed Medium"/>
                </a:rPr>
                <a:t>Phase 9</a:t>
              </a:r>
              <a:endParaRPr sz="1400" kern="0">
                <a:solidFill>
                  <a:srgbClr val="FFFFFF"/>
                </a:solidFill>
                <a:latin typeface="Oswald" panose="00000500000000000000" pitchFamily="2" charset="0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0" name="Google Shape;1204;p28">
              <a:extLst>
                <a:ext uri="{FF2B5EF4-FFF2-40B4-BE49-F238E27FC236}">
                  <a16:creationId xmlns:a16="http://schemas.microsoft.com/office/drawing/2014/main" id="{18DF79D3-F65B-B191-BFD4-39DBC533BA87}"/>
                </a:ext>
              </a:extLst>
            </p:cNvPr>
            <p:cNvSpPr/>
            <p:nvPr/>
          </p:nvSpPr>
          <p:spPr>
            <a:xfrm>
              <a:off x="7455167" y="2235403"/>
              <a:ext cx="63070" cy="63070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82" y="1"/>
                  </a:moveTo>
                  <a:cubicBezTo>
                    <a:pt x="394" y="1"/>
                    <a:pt x="1" y="394"/>
                    <a:pt x="1" y="882"/>
                  </a:cubicBezTo>
                  <a:cubicBezTo>
                    <a:pt x="1" y="1382"/>
                    <a:pt x="394" y="1775"/>
                    <a:pt x="882" y="1775"/>
                  </a:cubicBezTo>
                  <a:cubicBezTo>
                    <a:pt x="1382" y="1775"/>
                    <a:pt x="1775" y="1382"/>
                    <a:pt x="1775" y="882"/>
                  </a:cubicBezTo>
                  <a:cubicBezTo>
                    <a:pt x="1775" y="394"/>
                    <a:pt x="1382" y="1"/>
                    <a:pt x="8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endParaRPr sz="1400" kern="0">
                <a:solidFill>
                  <a:srgbClr val="000000"/>
                </a:solidFill>
                <a:latin typeface="Oswald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231" name="Google Shape;1205;p28">
              <a:extLst>
                <a:ext uri="{FF2B5EF4-FFF2-40B4-BE49-F238E27FC236}">
                  <a16:creationId xmlns:a16="http://schemas.microsoft.com/office/drawing/2014/main" id="{EAC4B42D-1E06-2008-678E-2E28E8D3B3F2}"/>
                </a:ext>
              </a:extLst>
            </p:cNvPr>
            <p:cNvSpPr txBox="1"/>
            <p:nvPr/>
          </p:nvSpPr>
          <p:spPr>
            <a:xfrm>
              <a:off x="6739006" y="1136495"/>
              <a:ext cx="1291500" cy="53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r>
                <a:rPr lang="en" sz="1500" kern="0">
                  <a:solidFill>
                    <a:srgbClr val="434343"/>
                  </a:solidFill>
                  <a:latin typeface="Oswald" panose="00000500000000000000" pitchFamily="2" charset="0"/>
                  <a:ea typeface="Roboto"/>
                  <a:cs typeface="Roboto"/>
                  <a:sym typeface="Roboto"/>
                </a:rPr>
                <a:t>Production</a:t>
              </a:r>
              <a:endParaRPr sz="1500" kern="0">
                <a:solidFill>
                  <a:srgbClr val="434343"/>
                </a:solidFill>
                <a:latin typeface="Oswald" panose="00000500000000000000" pitchFamily="2" charset="0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43" name="Text 2">
            <a:extLst>
              <a:ext uri="{FF2B5EF4-FFF2-40B4-BE49-F238E27FC236}">
                <a16:creationId xmlns:a16="http://schemas.microsoft.com/office/drawing/2014/main" id="{DCD7F7AC-B7BC-5CA0-6867-8FE5C9F4596F}"/>
              </a:ext>
            </a:extLst>
          </p:cNvPr>
          <p:cNvSpPr/>
          <p:nvPr/>
        </p:nvSpPr>
        <p:spPr>
          <a:xfrm>
            <a:off x="818696" y="117653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400" b="1" dirty="0">
                <a:latin typeface="Oswald" panose="00000500000000000000" pitchFamily="2" charset="0"/>
              </a:rPr>
              <a:t>LIFECYCLE FOR OPERATIONS</a:t>
            </a:r>
            <a:endParaRPr lang="en-US" sz="2400" b="1" dirty="0">
              <a:latin typeface="Oswald" panose="00000500000000000000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8E79C9-75E1-A512-7D1F-86028DA75C7E}"/>
              </a:ext>
            </a:extLst>
          </p:cNvPr>
          <p:cNvGrpSpPr/>
          <p:nvPr/>
        </p:nvGrpSpPr>
        <p:grpSpPr>
          <a:xfrm>
            <a:off x="229416" y="3294972"/>
            <a:ext cx="11692000" cy="3480000"/>
            <a:chOff x="200000" y="690000"/>
            <a:chExt cx="11692000" cy="348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EE569C-5CB3-8F31-A87A-8EFBF6EF61B5}"/>
                </a:ext>
              </a:extLst>
            </p:cNvPr>
            <p:cNvSpPr/>
            <p:nvPr/>
          </p:nvSpPr>
          <p:spPr>
            <a:xfrm>
              <a:off x="200000" y="700000"/>
              <a:ext cx="3864000" cy="480000"/>
            </a:xfrm>
            <a:prstGeom prst="rect">
              <a:avLst/>
            </a:prstGeom>
            <a:solidFill>
              <a:srgbClr val="D628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FD9D7A-39C1-CE48-442E-E07DCC63C6B5}"/>
                </a:ext>
              </a:extLst>
            </p:cNvPr>
            <p:cNvSpPr txBox="1"/>
            <p:nvPr/>
          </p:nvSpPr>
          <p:spPr>
            <a:xfrm>
              <a:off x="260000" y="70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 dirty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1
Capability Building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873A8AA-646A-F455-41F4-3FC77FF86900}"/>
                </a:ext>
              </a:extLst>
            </p:cNvPr>
            <p:cNvSpPr/>
            <p:nvPr/>
          </p:nvSpPr>
          <p:spPr>
            <a:xfrm>
              <a:off x="20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CC01B1A-197E-4362-9368-4C6794C80BA2}"/>
                </a:ext>
              </a:extLst>
            </p:cNvPr>
            <p:cNvSpPr/>
            <p:nvPr/>
          </p:nvSpPr>
          <p:spPr>
            <a:xfrm>
              <a:off x="2132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2031A21-8333-829A-FD2F-E339F0DF507A}"/>
                </a:ext>
              </a:extLst>
            </p:cNvPr>
            <p:cNvSpPr/>
            <p:nvPr/>
          </p:nvSpPr>
          <p:spPr>
            <a:xfrm>
              <a:off x="20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Requirement &amp; JD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E13ABF-1CB5-36EE-31CA-1428DAFA6FD3}"/>
                </a:ext>
              </a:extLst>
            </p:cNvPr>
            <p:cNvSpPr/>
            <p:nvPr/>
          </p:nvSpPr>
          <p:spPr>
            <a:xfrm>
              <a:off x="2132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B8E481-023D-85DC-05A0-1E434D131DF5}"/>
                </a:ext>
              </a:extLst>
            </p:cNvPr>
            <p:cNvSpPr/>
            <p:nvPr/>
          </p:nvSpPr>
          <p:spPr>
            <a:xfrm>
              <a:off x="20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Hiring Plan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B7D2481-0B3B-35D6-64C4-CDC549080D67}"/>
                </a:ext>
              </a:extLst>
            </p:cNvPr>
            <p:cNvSpPr/>
            <p:nvPr/>
          </p:nvSpPr>
          <p:spPr>
            <a:xfrm>
              <a:off x="2132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FD1BF87-0287-4D10-265F-332AEADB989E}"/>
                </a:ext>
              </a:extLst>
            </p:cNvPr>
            <p:cNvSpPr/>
            <p:nvPr/>
          </p:nvSpPr>
          <p:spPr>
            <a:xfrm>
              <a:off x="20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Sourcing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B2E587F-8CB5-1EC1-9064-C02DABA082AD}"/>
                </a:ext>
              </a:extLst>
            </p:cNvPr>
            <p:cNvSpPr/>
            <p:nvPr/>
          </p:nvSpPr>
          <p:spPr>
            <a:xfrm>
              <a:off x="2132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AAAE071-89FC-AB21-A58B-5D6692DFAA59}"/>
                </a:ext>
              </a:extLst>
            </p:cNvPr>
            <p:cNvSpPr/>
            <p:nvPr/>
          </p:nvSpPr>
          <p:spPr>
            <a:xfrm>
              <a:off x="20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Interviews &amp; Selections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300BE8D-74FD-E328-2128-92F7393A9B19}"/>
                </a:ext>
              </a:extLst>
            </p:cNvPr>
            <p:cNvSpPr/>
            <p:nvPr/>
          </p:nvSpPr>
          <p:spPr>
            <a:xfrm>
              <a:off x="2132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1668957-6D95-2C8C-A16C-01607C6C10A9}"/>
                </a:ext>
              </a:extLst>
            </p:cNvPr>
            <p:cNvSpPr/>
            <p:nvPr/>
          </p:nvSpPr>
          <p:spPr>
            <a:xfrm>
              <a:off x="20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Warm Calls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6FAA010-F37E-857B-1354-74D6FD0DFD91}"/>
                </a:ext>
              </a:extLst>
            </p:cNvPr>
            <p:cNvSpPr/>
            <p:nvPr/>
          </p:nvSpPr>
          <p:spPr>
            <a:xfrm>
              <a:off x="2132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B64D7C1-4358-343A-220C-0CA372E489B9}"/>
                </a:ext>
              </a:extLst>
            </p:cNvPr>
            <p:cNvSpPr/>
            <p:nvPr/>
          </p:nvSpPr>
          <p:spPr>
            <a:xfrm>
              <a:off x="200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BGVs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23CCBD1-563B-0451-4803-D02156E8FB63}"/>
                </a:ext>
              </a:extLst>
            </p:cNvPr>
            <p:cNvSpPr/>
            <p:nvPr/>
          </p:nvSpPr>
          <p:spPr>
            <a:xfrm>
              <a:off x="2132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27614DA-06F9-BC8C-4B2B-7DA6970F7514}"/>
                </a:ext>
              </a:extLst>
            </p:cNvPr>
            <p:cNvSpPr/>
            <p:nvPr/>
          </p:nvSpPr>
          <p:spPr>
            <a:xfrm>
              <a:off x="4114000" y="700000"/>
              <a:ext cx="3864000" cy="480000"/>
            </a:xfrm>
            <a:prstGeom prst="rect">
              <a:avLst/>
            </a:prstGeom>
            <a:solidFill>
              <a:srgbClr val="16A08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79AB300-EBD5-4508-5433-8DF3CB162C38}"/>
                </a:ext>
              </a:extLst>
            </p:cNvPr>
            <p:cNvSpPr txBox="1"/>
            <p:nvPr/>
          </p:nvSpPr>
          <p:spPr>
            <a:xfrm>
              <a:off x="4174000" y="72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2
Resource Management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A37F4D6-7EB5-DE72-9C74-E9B8B0694B43}"/>
                </a:ext>
              </a:extLst>
            </p:cNvPr>
            <p:cNvSpPr/>
            <p:nvPr/>
          </p:nvSpPr>
          <p:spPr>
            <a:xfrm>
              <a:off x="4114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85AD9D0-D70F-7C40-E072-9EF7551BBDF2}"/>
                </a:ext>
              </a:extLst>
            </p:cNvPr>
            <p:cNvSpPr/>
            <p:nvPr/>
          </p:nvSpPr>
          <p:spPr>
            <a:xfrm>
              <a:off x="6046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E709A32-DA30-D182-94B3-6B7BF3923A9C}"/>
                </a:ext>
              </a:extLst>
            </p:cNvPr>
            <p:cNvSpPr/>
            <p:nvPr/>
          </p:nvSpPr>
          <p:spPr>
            <a:xfrm>
              <a:off x="4114000" y="1420000"/>
              <a:ext cx="2389464" cy="1719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Orientation &amp; Onboarding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E00FB4-2225-D725-43D1-4CF731973797}"/>
                </a:ext>
              </a:extLst>
            </p:cNvPr>
            <p:cNvSpPr/>
            <p:nvPr/>
          </p:nvSpPr>
          <p:spPr>
            <a:xfrm>
              <a:off x="6046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E44F05A-B6CC-D54E-BE62-825ED8F28CAF}"/>
                </a:ext>
              </a:extLst>
            </p:cNvPr>
            <p:cNvSpPr/>
            <p:nvPr/>
          </p:nvSpPr>
          <p:spPr>
            <a:xfrm>
              <a:off x="4114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Allocation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D8BA504-3CBB-AD86-8529-2BC718E89338}"/>
                </a:ext>
              </a:extLst>
            </p:cNvPr>
            <p:cNvSpPr/>
            <p:nvPr/>
          </p:nvSpPr>
          <p:spPr>
            <a:xfrm>
              <a:off x="6046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09A53D6-1163-25AD-9F9B-6E921C119504}"/>
                </a:ext>
              </a:extLst>
            </p:cNvPr>
            <p:cNvSpPr/>
            <p:nvPr/>
          </p:nvSpPr>
          <p:spPr>
            <a:xfrm>
              <a:off x="4114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Access Controls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D021EE4-B1F9-3F8B-2080-4CE6320A9C36}"/>
                </a:ext>
              </a:extLst>
            </p:cNvPr>
            <p:cNvSpPr/>
            <p:nvPr/>
          </p:nvSpPr>
          <p:spPr>
            <a:xfrm>
              <a:off x="6046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BA5F09A-2AA7-1DFD-B623-CD131739A0DD}"/>
                </a:ext>
              </a:extLst>
            </p:cNvPr>
            <p:cNvSpPr/>
            <p:nvPr/>
          </p:nvSpPr>
          <p:spPr>
            <a:xfrm>
              <a:off x="4114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Training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4C543B1-5560-D63F-DC5F-75C3B1F7897F}"/>
                </a:ext>
              </a:extLst>
            </p:cNvPr>
            <p:cNvSpPr/>
            <p:nvPr/>
          </p:nvSpPr>
          <p:spPr>
            <a:xfrm>
              <a:off x="6046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00BE44A-6826-5394-0967-A67FD8F14611}"/>
                </a:ext>
              </a:extLst>
            </p:cNvPr>
            <p:cNvSpPr/>
            <p:nvPr/>
          </p:nvSpPr>
          <p:spPr>
            <a:xfrm>
              <a:off x="4114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OJT Support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75E524F-4BB2-C6E1-75B5-9CA1CFCA34DC}"/>
                </a:ext>
              </a:extLst>
            </p:cNvPr>
            <p:cNvSpPr/>
            <p:nvPr/>
          </p:nvSpPr>
          <p:spPr>
            <a:xfrm>
              <a:off x="6046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16A085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Client</a:t>
              </a:r>
              <a:endParaRPr sz="1200" b="1" dirty="0">
                <a:solidFill>
                  <a:srgbClr val="16A085"/>
                </a:solidFill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5215FB6-91E3-ECAC-637F-D892F6A79550}"/>
                </a:ext>
              </a:extLst>
            </p:cNvPr>
            <p:cNvSpPr/>
            <p:nvPr/>
          </p:nvSpPr>
          <p:spPr>
            <a:xfrm>
              <a:off x="4114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Attendance &amp; Shrinkage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53AF9549-EF18-11E8-E763-C2F96F47C62F}"/>
                </a:ext>
              </a:extLst>
            </p:cNvPr>
            <p:cNvSpPr/>
            <p:nvPr/>
          </p:nvSpPr>
          <p:spPr>
            <a:xfrm>
              <a:off x="6046000" y="2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 dirty="0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8F2EC72-ED28-A860-42CE-01189A4CE73E}"/>
                </a:ext>
              </a:extLst>
            </p:cNvPr>
            <p:cNvSpPr/>
            <p:nvPr/>
          </p:nvSpPr>
          <p:spPr>
            <a:xfrm>
              <a:off x="4114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Performance Mgmt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0609F77-7B43-A935-906E-4F4A320A8F26}"/>
                </a:ext>
              </a:extLst>
            </p:cNvPr>
            <p:cNvSpPr/>
            <p:nvPr/>
          </p:nvSpPr>
          <p:spPr>
            <a:xfrm>
              <a:off x="6046000" y="2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B843C6D-C09F-B3C4-A38F-29A8ED4452BE}"/>
                </a:ext>
              </a:extLst>
            </p:cNvPr>
            <p:cNvSpPr/>
            <p:nvPr/>
          </p:nvSpPr>
          <p:spPr>
            <a:xfrm>
              <a:off x="4114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 dirty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Engagement Activities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DB13160-573D-85AB-A4ED-C5873638F3B0}"/>
                </a:ext>
              </a:extLst>
            </p:cNvPr>
            <p:cNvSpPr/>
            <p:nvPr/>
          </p:nvSpPr>
          <p:spPr>
            <a:xfrm>
              <a:off x="6046000" y="3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3936EB0-7C54-F8AA-6964-33B7D3B7E850}"/>
                </a:ext>
              </a:extLst>
            </p:cNvPr>
            <p:cNvSpPr/>
            <p:nvPr/>
          </p:nvSpPr>
          <p:spPr>
            <a:xfrm>
              <a:off x="4114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Attrition Management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5BDF308-0D3D-0A6E-6D2C-32CCF8B36ED4}"/>
                </a:ext>
              </a:extLst>
            </p:cNvPr>
            <p:cNvSpPr/>
            <p:nvPr/>
          </p:nvSpPr>
          <p:spPr>
            <a:xfrm>
              <a:off x="6046000" y="3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2E3FA25-BE27-57B5-A55E-56A051BDCB8C}"/>
                </a:ext>
              </a:extLst>
            </p:cNvPr>
            <p:cNvSpPr/>
            <p:nvPr/>
          </p:nvSpPr>
          <p:spPr>
            <a:xfrm>
              <a:off x="4114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Management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256F9D0-FAB7-AB83-E07C-DC81D70A05ED}"/>
                </a:ext>
              </a:extLst>
            </p:cNvPr>
            <p:cNvSpPr/>
            <p:nvPr/>
          </p:nvSpPr>
          <p:spPr>
            <a:xfrm>
              <a:off x="6046000" y="3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81714A-B196-14DB-0918-4BA24E6DF5F2}"/>
                </a:ext>
              </a:extLst>
            </p:cNvPr>
            <p:cNvSpPr/>
            <p:nvPr/>
          </p:nvSpPr>
          <p:spPr>
            <a:xfrm>
              <a:off x="4114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Governance &amp; Visibility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D5DADA5-E0F3-08E6-1BB7-ABAC42BA94FA}"/>
                </a:ext>
              </a:extLst>
            </p:cNvPr>
            <p:cNvSpPr/>
            <p:nvPr/>
          </p:nvSpPr>
          <p:spPr>
            <a:xfrm>
              <a:off x="6046000" y="3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0817510-C915-7197-45F5-29C8D3DFAD12}"/>
                </a:ext>
              </a:extLst>
            </p:cNvPr>
            <p:cNvSpPr/>
            <p:nvPr/>
          </p:nvSpPr>
          <p:spPr>
            <a:xfrm>
              <a:off x="8028000" y="700000"/>
              <a:ext cx="3864000" cy="48000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>
                <a:latin typeface="Raleway" pitchFamily="2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68F798A-CD8A-7654-6936-59EBE970B0F4}"/>
                </a:ext>
              </a:extLst>
            </p:cNvPr>
            <p:cNvSpPr txBox="1"/>
            <p:nvPr/>
          </p:nvSpPr>
          <p:spPr>
            <a:xfrm>
              <a:off x="8088000" y="690000"/>
              <a:ext cx="3744000" cy="360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pPr algn="ctr"/>
              <a:r>
                <a:rPr sz="1200" b="1" i="0">
                  <a:solidFill>
                    <a:srgbClr val="FFFFFF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Stage 3
Exit Management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262037-EC18-8874-8DEF-2FF49DEFAB43}"/>
                </a:ext>
              </a:extLst>
            </p:cNvPr>
            <p:cNvSpPr/>
            <p:nvPr/>
          </p:nvSpPr>
          <p:spPr>
            <a:xfrm>
              <a:off x="8028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Deliverables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B11852-6F6B-C16C-CF38-E41D33CD5007}"/>
                </a:ext>
              </a:extLst>
            </p:cNvPr>
            <p:cNvSpPr/>
            <p:nvPr/>
          </p:nvSpPr>
          <p:spPr>
            <a:xfrm>
              <a:off x="9960000" y="1200000"/>
              <a:ext cx="1932000" cy="220000"/>
            </a:xfrm>
            <a:prstGeom prst="rect">
              <a:avLst/>
            </a:prstGeom>
            <a:solidFill>
              <a:srgbClr val="ECF0F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Ownership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8BB4853-8459-D2D4-B30F-FBCEAC9EDAAD}"/>
                </a:ext>
              </a:extLst>
            </p:cNvPr>
            <p:cNvSpPr/>
            <p:nvPr/>
          </p:nvSpPr>
          <p:spPr>
            <a:xfrm>
              <a:off x="8028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Exit Notification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FCF0AD7-E18B-B4F9-722F-09C9399346ED}"/>
                </a:ext>
              </a:extLst>
            </p:cNvPr>
            <p:cNvSpPr/>
            <p:nvPr/>
          </p:nvSpPr>
          <p:spPr>
            <a:xfrm>
              <a:off x="9960000" y="1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6462909-F69D-7F0C-FF5A-179F2E3DC812}"/>
                </a:ext>
              </a:extLst>
            </p:cNvPr>
            <p:cNvSpPr/>
            <p:nvPr/>
          </p:nvSpPr>
          <p:spPr>
            <a:xfrm>
              <a:off x="8028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Transition &amp; KT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B2F914-9490-C890-6CBD-C5B9CE1E0C6F}"/>
                </a:ext>
              </a:extLst>
            </p:cNvPr>
            <p:cNvSpPr/>
            <p:nvPr/>
          </p:nvSpPr>
          <p:spPr>
            <a:xfrm>
              <a:off x="9960000" y="16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D4BCF2C-26CD-69D1-B44B-65EA7A54F513}"/>
                </a:ext>
              </a:extLst>
            </p:cNvPr>
            <p:cNvSpPr/>
            <p:nvPr/>
          </p:nvSpPr>
          <p:spPr>
            <a:xfrm>
              <a:off x="8028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Redeployments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B7A48A4-7436-3045-0AA8-F3D6869DFEB5}"/>
                </a:ext>
              </a:extLst>
            </p:cNvPr>
            <p:cNvSpPr/>
            <p:nvPr/>
          </p:nvSpPr>
          <p:spPr>
            <a:xfrm>
              <a:off x="9960000" y="19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ABAAB48-0027-53F2-5475-063F02F55DAA}"/>
                </a:ext>
              </a:extLst>
            </p:cNvPr>
            <p:cNvSpPr/>
            <p:nvPr/>
          </p:nvSpPr>
          <p:spPr>
            <a:xfrm>
              <a:off x="8028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Asset Collection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3B5B1B9-59C6-EF09-9547-51C0973C930A}"/>
                </a:ext>
              </a:extLst>
            </p:cNvPr>
            <p:cNvSpPr/>
            <p:nvPr/>
          </p:nvSpPr>
          <p:spPr>
            <a:xfrm>
              <a:off x="9960000" y="2170000"/>
              <a:ext cx="1932000" cy="250000"/>
            </a:xfrm>
            <a:prstGeom prst="rect">
              <a:avLst/>
            </a:prstGeom>
            <a:solidFill>
              <a:srgbClr val="ECF0F1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64D736C-41F2-C1C2-3241-4FB34E12981C}"/>
                </a:ext>
              </a:extLst>
            </p:cNvPr>
            <p:cNvSpPr/>
            <p:nvPr/>
          </p:nvSpPr>
          <p:spPr>
            <a:xfrm>
              <a:off x="8028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l"/>
              <a:r>
                <a:rPr sz="1200" b="0">
                  <a:solidFill>
                    <a:srgbClr val="0D4B6D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NOCs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61F0B9C-21D4-C826-B48A-33C07115D9F0}"/>
                </a:ext>
              </a:extLst>
            </p:cNvPr>
            <p:cNvSpPr/>
            <p:nvPr/>
          </p:nvSpPr>
          <p:spPr>
            <a:xfrm>
              <a:off x="9960000" y="2420000"/>
              <a:ext cx="1932000" cy="250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CF0F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200" b="1">
                  <a:solidFill>
                    <a:schemeClr val="tx1"/>
                  </a:solidFill>
                  <a:latin typeface="Raleway" pitchFamily="2" charset="0"/>
                  <a:ea typeface="Calibri" panose="020F0502020204030204" pitchFamily="34" charset="0"/>
                  <a:cs typeface="Calibri" panose="020F0502020204030204" pitchFamily="34" charset="0"/>
                </a:rPr>
                <a:t>J2W</a:t>
              </a:r>
            </a:p>
          </p:txBody>
        </p:sp>
      </p:grpSp>
      <p:pic>
        <p:nvPicPr>
          <p:cNvPr id="4" name="Image 1" descr="gen-dedup-323228122ff92d2332e711a84ca3b40c.png">
            <a:extLst>
              <a:ext uri="{FF2B5EF4-FFF2-40B4-BE49-F238E27FC236}">
                <a16:creationId xmlns:a16="http://schemas.microsoft.com/office/drawing/2014/main" id="{476AB5FF-1605-E1FF-2C16-3497456671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D456ED6E-AF28-1EB2-A349-6A858D1A4A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15" name="Image 3" descr="gen-dedup-ef527bea2207a14ec6e8d4c8ae9cdc45.png">
            <a:extLst>
              <a:ext uri="{FF2B5EF4-FFF2-40B4-BE49-F238E27FC236}">
                <a16:creationId xmlns:a16="http://schemas.microsoft.com/office/drawing/2014/main" id="{81467DE1-E8C2-6D46-BAAF-A94EEE2A92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609905" y="250851"/>
            <a:ext cx="57607" cy="476402"/>
          </a:xfrm>
          <a:prstGeom prst="rect">
            <a:avLst/>
          </a:prstGeom>
        </p:spPr>
      </p:pic>
      <p:sp>
        <p:nvSpPr>
          <p:cNvPr id="3" name="Text 10">
            <a:extLst>
              <a:ext uri="{FF2B5EF4-FFF2-40B4-BE49-F238E27FC236}">
                <a16:creationId xmlns:a16="http://schemas.microsoft.com/office/drawing/2014/main" id="{6CA9F7E2-1E59-4D12-A739-60DA551DA5E7}"/>
              </a:ext>
            </a:extLst>
          </p:cNvPr>
          <p:cNvSpPr txBox="1"/>
          <p:nvPr/>
        </p:nvSpPr>
        <p:spPr>
          <a:xfrm>
            <a:off x="819302" y="664769"/>
            <a:ext cx="1047811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End-to-end Workforce Lifecycle Management - From Screening To Exit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254481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3e5efede2ea6a135da8da59a828adc3.png"/>
          <p:cNvPicPr>
            <a:picLocks noChangeAspect="1"/>
          </p:cNvPicPr>
          <p:nvPr/>
        </p:nvPicPr>
        <p:blipFill>
          <a:blip r:embed="rId3"/>
          <a:srcRect t="-403" b="-403"/>
          <a:stretch/>
        </p:blipFill>
        <p:spPr>
          <a:xfrm>
            <a:off x="0" y="0"/>
            <a:ext cx="4876495" cy="57607"/>
          </a:xfrm>
          <a:prstGeom prst="rect">
            <a:avLst/>
          </a:prstGeom>
        </p:spPr>
      </p:pic>
      <p:pic>
        <p:nvPicPr>
          <p:cNvPr id="3" name="Image 1" descr="gen-dedup-8f2b51904704db7afbf58c969153d6e7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4876495" y="0"/>
            <a:ext cx="7315200" cy="57607"/>
          </a:xfrm>
          <a:prstGeom prst="rect">
            <a:avLst/>
          </a:prstGeom>
        </p:spPr>
      </p:pic>
      <p:pic>
        <p:nvPicPr>
          <p:cNvPr id="4" name="Image 2" descr="gen-dedup-3381abfd1a6f9b6661a995d1481586b4.png"/>
          <p:cNvPicPr>
            <a:picLocks noChangeAspect="1"/>
          </p:cNvPicPr>
          <p:nvPr/>
        </p:nvPicPr>
        <p:blipFill>
          <a:blip r:embed="rId5"/>
          <a:srcRect l="-384" r="-384"/>
          <a:stretch/>
        </p:blipFill>
        <p:spPr>
          <a:xfrm>
            <a:off x="533095" y="437998"/>
            <a:ext cx="38405" cy="476402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5330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6" name="Shape 1"/>
          <p:cNvSpPr/>
          <p:nvPr/>
        </p:nvSpPr>
        <p:spPr>
          <a:xfrm>
            <a:off x="5330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7" name="Shape 2"/>
          <p:cNvSpPr/>
          <p:nvPr/>
        </p:nvSpPr>
        <p:spPr>
          <a:xfrm>
            <a:off x="27816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8" name="Shape 3"/>
          <p:cNvSpPr/>
          <p:nvPr/>
        </p:nvSpPr>
        <p:spPr>
          <a:xfrm>
            <a:off x="27816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9" name="Shape 4"/>
          <p:cNvSpPr/>
          <p:nvPr/>
        </p:nvSpPr>
        <p:spPr>
          <a:xfrm>
            <a:off x="5029200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5029200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727679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727679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525305" y="12380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9525305" y="12380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5330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5330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27816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27816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29200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0" name="Shape 15"/>
          <p:cNvSpPr/>
          <p:nvPr/>
        </p:nvSpPr>
        <p:spPr>
          <a:xfrm>
            <a:off x="5029200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1" name="Shape 16"/>
          <p:cNvSpPr/>
          <p:nvPr/>
        </p:nvSpPr>
        <p:spPr>
          <a:xfrm>
            <a:off x="727679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 sz="1100">
              <a:latin typeface="Raleway" pitchFamily="2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727679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9525305" y="2952598"/>
            <a:ext cx="2115007" cy="1571854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2700">
            <a:solidFill>
              <a:srgbClr val="E5E8EE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9525305" y="2952598"/>
            <a:ext cx="2115007" cy="38405"/>
          </a:xfrm>
          <a:prstGeom prst="roundRect">
            <a:avLst>
              <a:gd name="adj" fmla="val 197618"/>
            </a:avLst>
          </a:prstGeom>
          <a:solidFill>
            <a:srgbClr val="289C8F"/>
          </a:solidFill>
          <a:ln w="12700">
            <a:solidFill>
              <a:srgbClr val="289C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400">
              <a:latin typeface="Raleway" pitchFamily="2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33095" y="4809744"/>
            <a:ext cx="11087100" cy="571500"/>
          </a:xfrm>
          <a:prstGeom prst="roundRect">
            <a:avLst>
              <a:gd name="adj" fmla="val 13280"/>
            </a:avLst>
          </a:prstGeom>
          <a:solidFill>
            <a:srgbClr val="E0F0E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33095" y="5572354"/>
            <a:ext cx="11144707" cy="857707"/>
          </a:xfrm>
          <a:prstGeom prst="roundRect">
            <a:avLst>
              <a:gd name="adj" fmla="val 8849"/>
            </a:avLst>
          </a:prstGeom>
          <a:solidFill>
            <a:srgbClr val="1F2A44"/>
          </a:solidFill>
          <a:ln/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533095" y="5572354"/>
            <a:ext cx="57607" cy="857707"/>
          </a:xfrm>
          <a:prstGeom prst="roundRect">
            <a:avLst>
              <a:gd name="adj" fmla="val 131746"/>
            </a:avLst>
          </a:prstGeom>
          <a:solidFill>
            <a:srgbClr val="D8293A"/>
          </a:solidFill>
          <a:ln w="12700">
            <a:solidFill>
              <a:srgbClr val="D829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9" name="Text 24"/>
          <p:cNvSpPr txBox="1"/>
          <p:nvPr/>
        </p:nvSpPr>
        <p:spPr>
          <a:xfrm>
            <a:off x="685800" y="381305"/>
            <a:ext cx="9525305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A44"/>
                </a:solidFill>
                <a:latin typeface="Oswald" panose="00000500000000000000" pitchFamily="2" charset="0"/>
                <a:ea typeface="Fraunces" pitchFamily="34" charset="-122"/>
                <a:cs typeface="Fraunces" pitchFamily="34" charset="-120"/>
              </a:rPr>
              <a:t>ENGAGEMENT &amp; RETENTION OPERATING MODEL</a:t>
            </a:r>
            <a:endParaRPr lang="en-US" sz="2400" dirty="0">
              <a:latin typeface="Oswald" panose="00000500000000000000" pitchFamily="2" charset="0"/>
            </a:endParaRPr>
          </a:p>
        </p:txBody>
      </p:sp>
      <p:sp>
        <p:nvSpPr>
          <p:cNvPr id="30" name="Text 25"/>
          <p:cNvSpPr txBox="1"/>
          <p:nvPr/>
        </p:nvSpPr>
        <p:spPr>
          <a:xfrm>
            <a:off x="685800" y="790956"/>
            <a:ext cx="95253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A9D8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Engagement approach to protect offer acceptance, joining, onboarding experience and early retention</a:t>
            </a:r>
          </a:p>
        </p:txBody>
      </p:sp>
      <p:pic>
        <p:nvPicPr>
          <p:cNvPr id="31" name="Image 3" descr="gen-dedup-5bb4209ef079b31493c29820114b75a3.png"/>
          <p:cNvPicPr>
            <a:picLocks noChangeAspect="1"/>
          </p:cNvPicPr>
          <p:nvPr/>
        </p:nvPicPr>
        <p:blipFill>
          <a:blip r:embed="rId6"/>
          <a:srcRect t="-33500" b="-33500"/>
          <a:stretch/>
        </p:blipFill>
        <p:spPr>
          <a:xfrm>
            <a:off x="685800" y="1404518"/>
            <a:ext cx="114300" cy="15270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75995" y="1390802"/>
            <a:ext cx="975665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Pre-Joining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3" name="Text 27"/>
          <p:cNvSpPr txBox="1"/>
          <p:nvPr/>
        </p:nvSpPr>
        <p:spPr>
          <a:xfrm>
            <a:off x="6988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call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​Joiner group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​DOJ reminders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4" name="Image 4" descr="gen-dedup-e7d0b175ce68104e5146ab39d4667527.png"/>
          <p:cNvPicPr>
            <a:picLocks noChangeAspect="1"/>
          </p:cNvPicPr>
          <p:nvPr/>
        </p:nvPicPr>
        <p:blipFill>
          <a:blip r:embed="rId7"/>
          <a:srcRect t="-25150" b="-25150"/>
          <a:stretch/>
        </p:blipFill>
        <p:spPr>
          <a:xfrm>
            <a:off x="2933395" y="1404518"/>
            <a:ext cx="114300" cy="152705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124505" y="1390802"/>
            <a:ext cx="91988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Onboarding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6" name="Text 29"/>
          <p:cNvSpPr txBox="1"/>
          <p:nvPr/>
        </p:nvSpPr>
        <p:spPr>
          <a:xfrm>
            <a:off x="29464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​Welcome desk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​Buddy + SPOC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​Day-1 feedback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37" name="Image 5" descr="gen-dedup-d1099ec842727c9541224c4cdf2e219e.png"/>
          <p:cNvPicPr>
            <a:picLocks noChangeAspect="1"/>
          </p:cNvPicPr>
          <p:nvPr/>
        </p:nvPicPr>
        <p:blipFill>
          <a:blip r:embed="rId8"/>
          <a:srcRect t="-25150" b="-25150"/>
          <a:stretch/>
        </p:blipFill>
        <p:spPr>
          <a:xfrm>
            <a:off x="5181905" y="1404518"/>
            <a:ext cx="114300" cy="15270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5372100" y="1390802"/>
            <a:ext cx="73426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Learning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39" name="Text 31"/>
          <p:cNvSpPr txBox="1"/>
          <p:nvPr/>
        </p:nvSpPr>
        <p:spPr>
          <a:xfrm>
            <a:off x="519399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​Skill clinics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​Career path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​Coaching calendar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6" descr="gen-dedup-2e00fa6be7fc495ef2a19099c3871a4d.png"/>
          <p:cNvPicPr>
            <a:picLocks noChangeAspect="1"/>
          </p:cNvPicPr>
          <p:nvPr/>
        </p:nvPicPr>
        <p:blipFill>
          <a:blip r:embed="rId9"/>
          <a:srcRect t="-33500" b="-33500"/>
          <a:stretch/>
        </p:blipFill>
        <p:spPr>
          <a:xfrm>
            <a:off x="7429500" y="1404518"/>
            <a:ext cx="114300" cy="15270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19695" y="1390802"/>
            <a:ext cx="110368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Team Bonding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2" name="Text 33"/>
          <p:cNvSpPr txBox="1"/>
          <p:nvPr/>
        </p:nvSpPr>
        <p:spPr>
          <a:xfrm>
            <a:off x="7442505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​Team lunch/dinner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​Fun Fridays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​Festival celebrations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3" name="Image 7" descr="gen-dedup-344a0b921b0cf3fcaaba6cc187c7af25.png"/>
          <p:cNvPicPr>
            <a:picLocks noChangeAspect="1"/>
          </p:cNvPicPr>
          <p:nvPr/>
        </p:nvPicPr>
        <p:blipFill>
          <a:blip r:embed="rId10"/>
          <a:srcRect t="-25150" b="-25150"/>
          <a:stretch/>
        </p:blipFill>
        <p:spPr>
          <a:xfrm>
            <a:off x="9677095" y="1404518"/>
            <a:ext cx="114300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868205" y="1390802"/>
            <a:ext cx="33375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R&amp;R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5" name="Text 35"/>
          <p:cNvSpPr txBox="1"/>
          <p:nvPr/>
        </p:nvSpPr>
        <p:spPr>
          <a:xfrm>
            <a:off x="9690100" y="16614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​Quarterly champion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​Spot awards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​Milestone recognition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6" name="Image 8" descr="gen-dedup-f5be6804941732cc10589279018d51ec.png"/>
          <p:cNvPicPr>
            <a:picLocks noChangeAspect="1"/>
          </p:cNvPicPr>
          <p:nvPr/>
        </p:nvPicPr>
        <p:blipFill>
          <a:blip r:embed="rId11"/>
          <a:srcRect t="-16800" b="-16800"/>
          <a:stretch/>
        </p:blipFill>
        <p:spPr>
          <a:xfrm>
            <a:off x="685800" y="3119018"/>
            <a:ext cx="114300" cy="152705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875995" y="3105302"/>
            <a:ext cx="162123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Employee Listening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48" name="Text 37"/>
          <p:cNvSpPr txBox="1"/>
          <p:nvPr/>
        </p:nvSpPr>
        <p:spPr>
          <a:xfrm>
            <a:off x="6988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​Pulse surveys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​Open house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9" name="Image 9" descr="gen-dedup-91ec5b27424a7edc15e84d24cbb8f0d8.png"/>
          <p:cNvPicPr>
            <a:picLocks noChangeAspect="1"/>
          </p:cNvPicPr>
          <p:nvPr/>
        </p:nvPicPr>
        <p:blipFill>
          <a:blip r:embed="rId12"/>
          <a:srcRect t="-16800" b="-16800"/>
          <a:stretch/>
        </p:blipFill>
        <p:spPr>
          <a:xfrm>
            <a:off x="2933395" y="3119018"/>
            <a:ext cx="114300" cy="152705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3124505" y="3105302"/>
            <a:ext cx="146304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Wellness &amp; Safety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1" name="Text 39"/>
          <p:cNvSpPr txBox="1"/>
          <p:nvPr/>
        </p:nvSpPr>
        <p:spPr>
          <a:xfrm>
            <a:off x="29464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​Stress sessions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​Shift fatigue check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​Late-shift support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2" name="Image 10" descr="gen-dedup-1a6be58cec0ff7a0794675d7f083f4f9.png"/>
          <p:cNvPicPr>
            <a:picLocks noChangeAspect="1"/>
          </p:cNvPicPr>
          <p:nvPr/>
        </p:nvPicPr>
        <p:blipFill>
          <a:blip r:embed="rId13"/>
          <a:srcRect t="-33500" b="-33500"/>
          <a:stretch/>
        </p:blipFill>
        <p:spPr>
          <a:xfrm>
            <a:off x="5181905" y="3119018"/>
            <a:ext cx="114300" cy="152705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5372100" y="3105302"/>
            <a:ext cx="1378001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Manager Connect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4" name="Text 41"/>
          <p:cNvSpPr txBox="1"/>
          <p:nvPr/>
        </p:nvSpPr>
        <p:spPr>
          <a:xfrm>
            <a:off x="519399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​Huddles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​Roundtables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​Skip-level connects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5" name="Image 11" descr="gen-dedup-1ac8d13bd771379683ed8b759ced54e3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7429500" y="3119018"/>
            <a:ext cx="114300" cy="152705"/>
          </a:xfrm>
          <a:prstGeom prst="rect">
            <a:avLst/>
          </a:prstGeom>
        </p:spPr>
      </p:pic>
      <p:sp>
        <p:nvSpPr>
          <p:cNvPr id="56" name="Text 42"/>
          <p:cNvSpPr txBox="1"/>
          <p:nvPr/>
        </p:nvSpPr>
        <p:spPr>
          <a:xfrm>
            <a:off x="7619695" y="3105302"/>
            <a:ext cx="1194206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Retention EWS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57" name="Text 43"/>
          <p:cNvSpPr txBox="1"/>
          <p:nvPr/>
        </p:nvSpPr>
        <p:spPr>
          <a:xfrm>
            <a:off x="7442505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​Risk tagging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​1:1 counselling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​Backfill tracker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58" name="Image 12" descr="gen-dedup-ef3e2c640eeaaaf90a6fff1b95179db4.png"/>
          <p:cNvPicPr>
            <a:picLocks noChangeAspect="1"/>
          </p:cNvPicPr>
          <p:nvPr/>
        </p:nvPicPr>
        <p:blipFill>
          <a:blip r:embed="rId15"/>
          <a:srcRect t="-25150" b="-25150"/>
          <a:stretch/>
        </p:blipFill>
        <p:spPr>
          <a:xfrm>
            <a:off x="9677095" y="3119018"/>
            <a:ext cx="114300" cy="152705"/>
          </a:xfrm>
          <a:prstGeom prst="rect">
            <a:avLst/>
          </a:prstGeom>
        </p:spPr>
      </p:pic>
      <p:sp>
        <p:nvSpPr>
          <p:cNvPr id="59" name="Text 44"/>
          <p:cNvSpPr txBox="1"/>
          <p:nvPr/>
        </p:nvSpPr>
        <p:spPr>
          <a:xfrm>
            <a:off x="9868205" y="3105302"/>
            <a:ext cx="12701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Client Visibility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0" name="Text 45"/>
          <p:cNvSpPr txBox="1"/>
          <p:nvPr/>
        </p:nvSpPr>
        <p:spPr>
          <a:xfrm>
            <a:off x="9690100" y="3375965"/>
            <a:ext cx="177830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​EWS/RAG dashboard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​No-show tracker</a:t>
            </a:r>
            <a:endParaRPr lang="en-US" sz="1200" dirty="0">
              <a:latin typeface="Raleway" pitchFamily="2" charset="0"/>
            </a:endParaRPr>
          </a:p>
          <a:p>
            <a:pPr marL="139700" indent="-139700" algn="l">
              <a:lnSpc>
                <a:spcPts val="1560"/>
              </a:lnSpc>
              <a:buSzPct val="100000"/>
              <a:buChar char="•"/>
            </a:pPr>
            <a:r>
              <a:rPr lang="en-US" sz="1200" dirty="0">
                <a:solidFill>
                  <a:srgbClr val="2A3346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​Issue closure log</a:t>
            </a:r>
            <a:endParaRPr lang="en-US" sz="1200" dirty="0">
              <a:latin typeface="Raleway" pitchFamily="2" charset="0"/>
            </a:endParaRPr>
          </a:p>
        </p:txBody>
      </p:sp>
      <p:sp>
        <p:nvSpPr>
          <p:cNvPr id="61" name="Text 46"/>
          <p:cNvSpPr txBox="1"/>
          <p:nvPr/>
        </p:nvSpPr>
        <p:spPr>
          <a:xfrm>
            <a:off x="685800" y="4910328"/>
            <a:ext cx="10782605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A44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Governance Pack: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Weekly engagement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pulse/EWS dashboard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attendance &amp; no-show tracker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issue closure log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R&amp;R summary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learning calendar </a:t>
            </a:r>
            <a:r>
              <a:rPr lang="en-US" sz="1400" b="1" dirty="0">
                <a:solidFill>
                  <a:srgbClr val="94A0B5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|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Inter" pitchFamily="34" charset="-122"/>
                <a:cs typeface="Inter" pitchFamily="34" charset="-120"/>
              </a:rPr>
              <a:t> retention action tracker</a:t>
            </a:r>
            <a:endParaRPr lang="en-US" sz="1400" dirty="0">
              <a:latin typeface="Raleway" pitchFamily="2" charset="0"/>
            </a:endParaRPr>
          </a:p>
        </p:txBody>
      </p:sp>
      <p:sp>
        <p:nvSpPr>
          <p:cNvPr id="62" name="Text 47"/>
          <p:cNvSpPr txBox="1"/>
          <p:nvPr/>
        </p:nvSpPr>
        <p:spPr>
          <a:xfrm>
            <a:off x="761695" y="5743346"/>
            <a:ext cx="1066830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Engagement will be operated as a </a:t>
            </a:r>
            <a:r>
              <a:rPr lang="en-US" sz="1400" b="1" dirty="0">
                <a:solidFill>
                  <a:srgbClr val="289C8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measurable delivery control</a:t>
            </a:r>
            <a:r>
              <a:rPr lang="en-US" sz="1400" b="1" dirty="0">
                <a:solidFill>
                  <a:srgbClr val="FFFFFF"/>
                </a:solidFill>
                <a:latin typeface="Raleway" pitchFamily="2" charset="0"/>
                <a:ea typeface="Fraunces" pitchFamily="34" charset="-122"/>
                <a:cs typeface="Fraunces" pitchFamily="34" charset="-120"/>
              </a:rPr>
              <a:t> - not one-time activities - to improve joining, capability building, morale and early retention.</a:t>
            </a:r>
            <a:endParaRPr lang="en-US" sz="1400" dirty="0">
              <a:latin typeface="Raleway" pitchFamily="2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cad3a534ee2971c6a497c9faf59fb5c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9905" y="1143000"/>
            <a:ext cx="5352898" cy="2572207"/>
          </a:xfrm>
          <a:prstGeom prst="roundRect">
            <a:avLst>
              <a:gd name="adj" fmla="val 158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09905" y="1143000"/>
            <a:ext cx="5352898" cy="38405"/>
          </a:xfrm>
          <a:prstGeom prst="roundRect">
            <a:avLst>
              <a:gd name="adj" fmla="val 10582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172200" y="1143000"/>
            <a:ext cx="5429707" cy="2667305"/>
          </a:xfrm>
          <a:prstGeom prst="roundRect">
            <a:avLst>
              <a:gd name="adj" fmla="val 14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6172200" y="1143000"/>
            <a:ext cx="5429707" cy="38405"/>
          </a:xfrm>
          <a:prstGeom prst="roundRect">
            <a:avLst>
              <a:gd name="adj" fmla="val 10204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609905" y="3857854"/>
            <a:ext cx="5352898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09905" y="3857854"/>
            <a:ext cx="5352898" cy="38405"/>
          </a:xfrm>
          <a:prstGeom prst="roundRect">
            <a:avLst>
              <a:gd name="adj" fmla="val 11904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72200" y="3857854"/>
            <a:ext cx="5429707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6172200" y="3857854"/>
            <a:ext cx="5429707" cy="38405"/>
          </a:xfrm>
          <a:prstGeom prst="roundRect">
            <a:avLst>
              <a:gd name="adj" fmla="val 119047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09905" y="6238951"/>
            <a:ext cx="10992002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gen-dedup-ceebc0fa9ea338beb9aa6e4a9468a2a5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374904"/>
            <a:ext cx="57607" cy="4572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9302" y="304495"/>
            <a:ext cx="959205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ADVANTAGES AT SCALE – EXECUTION PROOF POINTS</a:t>
            </a:r>
            <a:endParaRPr lang="en-US" sz="2600"/>
          </a:p>
        </p:txBody>
      </p:sp>
      <p:sp>
        <p:nvSpPr>
          <p:cNvPr id="19" name="Text 13"/>
          <p:cNvSpPr txBox="1"/>
          <p:nvPr/>
        </p:nvSpPr>
        <p:spPr>
          <a:xfrm>
            <a:off x="819302" y="711403"/>
            <a:ext cx="89062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66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Track Record: From Vision to Operational Excellence</a:t>
            </a:r>
            <a:endParaRPr lang="en-US" sz="1300"/>
          </a:p>
        </p:txBody>
      </p:sp>
      <p:pic>
        <p:nvPicPr>
          <p:cNvPr id="20" name="Image 4" descr="gen-dedup-0694d8d7925cf9b99d92b905a7e8c15e.png"/>
          <p:cNvPicPr>
            <a:picLocks noChangeAspect="1"/>
          </p:cNvPicPr>
          <p:nvPr/>
        </p:nvPicPr>
        <p:blipFill>
          <a:blip r:embed="rId7"/>
          <a:srcRect t="-14384" b="-14384"/>
          <a:stretch/>
        </p:blipFill>
        <p:spPr>
          <a:xfrm>
            <a:off x="761695" y="1309421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72007" y="1257300"/>
            <a:ext cx="174559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EXECUTION</a:t>
            </a:r>
            <a:endParaRPr lang="en-US" sz="1400"/>
          </a:p>
        </p:txBody>
      </p:sp>
      <p:sp>
        <p:nvSpPr>
          <p:cNvPr id="22" name="Shape 15"/>
          <p:cNvSpPr/>
          <p:nvPr/>
        </p:nvSpPr>
        <p:spPr>
          <a:xfrm>
            <a:off x="761695" y="1762049"/>
            <a:ext cx="5029200" cy="57150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6"/>
          <p:cNvSpPr/>
          <p:nvPr/>
        </p:nvSpPr>
        <p:spPr>
          <a:xfrm>
            <a:off x="761695" y="1762049"/>
            <a:ext cx="38405" cy="571500"/>
          </a:xfrm>
          <a:prstGeom prst="rect">
            <a:avLst/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7"/>
          <p:cNvSpPr txBox="1"/>
          <p:nvPr/>
        </p:nvSpPr>
        <p:spPr>
          <a:xfrm>
            <a:off x="1028700" y="1914754"/>
            <a:ext cx="5220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991B1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"Excellence is not promised - it is demonstrated."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761695" y="2520086"/>
            <a:ext cx="50292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J2W’s transformational engagements across global enterprises validate our ability to deliver {{client}}’s  talent goals with operational excellence, speed, and precision.</a:t>
            </a:r>
            <a:endParaRPr lang="en-US" sz="1100" dirty="0"/>
          </a:p>
        </p:txBody>
      </p:sp>
      <p:pic>
        <p:nvPicPr>
          <p:cNvPr id="26" name="Image 5" descr="gen-dedup-b496c99a569898132f3e1260cdf9f417.png"/>
          <p:cNvPicPr>
            <a:picLocks noChangeAspect="1"/>
          </p:cNvPicPr>
          <p:nvPr/>
        </p:nvPicPr>
        <p:blipFill>
          <a:blip r:embed="rId8"/>
          <a:srcRect t="-14384" b="-14384"/>
          <a:stretch/>
        </p:blipFill>
        <p:spPr>
          <a:xfrm>
            <a:off x="6324905" y="1309421"/>
            <a:ext cx="133502" cy="17190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34302" y="1257300"/>
            <a:ext cx="284561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KEY PERFORMANCE INDICATORS</a:t>
            </a:r>
            <a:endParaRPr lang="en-US" sz="1400"/>
          </a:p>
        </p:txBody>
      </p:sp>
      <p:pic>
        <p:nvPicPr>
          <p:cNvPr id="28" name="Image 6" descr="gen-dedup-a43e574f5ad413a8939cab01d30b4d0c.png"/>
          <p:cNvPicPr>
            <a:picLocks noChangeAspect="1"/>
          </p:cNvPicPr>
          <p:nvPr/>
        </p:nvPicPr>
        <p:blipFill>
          <a:blip r:embed="rId9"/>
          <a:srcRect l="-77" r="-77"/>
          <a:stretch/>
        </p:blipFill>
        <p:spPr>
          <a:xfrm>
            <a:off x="6324905" y="1647749"/>
            <a:ext cx="5105095" cy="237744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400800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METRIC</a:t>
            </a:r>
            <a:endParaRPr lang="en-US" sz="900"/>
          </a:p>
        </p:txBody>
      </p:sp>
      <p:sp>
        <p:nvSpPr>
          <p:cNvPr id="30" name="Text 21"/>
          <p:cNvSpPr txBox="1"/>
          <p:nvPr/>
        </p:nvSpPr>
        <p:spPr>
          <a:xfrm>
            <a:off x="8134502" y="1695298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ACHIEVEMENT</a:t>
            </a:r>
            <a:endParaRPr lang="en-US" sz="900"/>
          </a:p>
        </p:txBody>
      </p:sp>
      <p:sp>
        <p:nvSpPr>
          <p:cNvPr id="31" name="Text 22"/>
          <p:cNvSpPr txBox="1"/>
          <p:nvPr/>
        </p:nvSpPr>
        <p:spPr>
          <a:xfrm>
            <a:off x="9868205" y="1695298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dirty="0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RELEVANCE TO {{CLIENT}}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6324905" y="20775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4"/>
          <p:cNvSpPr txBox="1"/>
          <p:nvPr/>
        </p:nvSpPr>
        <p:spPr>
          <a:xfrm>
            <a:off x="6400800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GCC Solutions Delivered</a:t>
            </a:r>
            <a:endParaRPr lang="en-US" sz="800"/>
          </a:p>
        </p:txBody>
      </p:sp>
      <p:sp>
        <p:nvSpPr>
          <p:cNvPr id="34" name="Text 25"/>
          <p:cNvSpPr txBox="1"/>
          <p:nvPr/>
        </p:nvSpPr>
        <p:spPr>
          <a:xfrm>
            <a:off x="8134502" y="19147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India’s Largest Provider</a:t>
            </a:r>
            <a:endParaRPr lang="en-US" sz="800"/>
          </a:p>
        </p:txBody>
      </p:sp>
      <p:sp>
        <p:nvSpPr>
          <p:cNvPr id="35" name="Text 26"/>
          <p:cNvSpPr txBox="1"/>
          <p:nvPr/>
        </p:nvSpPr>
        <p:spPr>
          <a:xfrm>
            <a:off x="9868205" y="19147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Proven at scale</a:t>
            </a:r>
            <a:endParaRPr lang="en-US" sz="800"/>
          </a:p>
        </p:txBody>
      </p:sp>
      <p:sp>
        <p:nvSpPr>
          <p:cNvPr id="36" name="Shape 27"/>
          <p:cNvSpPr/>
          <p:nvPr/>
        </p:nvSpPr>
        <p:spPr>
          <a:xfrm>
            <a:off x="6324905" y="22768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28"/>
          <p:cNvSpPr txBox="1"/>
          <p:nvPr/>
        </p:nvSpPr>
        <p:spPr>
          <a:xfrm>
            <a:off x="6400800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Capabilities</a:t>
            </a:r>
            <a:endParaRPr lang="en-US" sz="800"/>
          </a:p>
        </p:txBody>
      </p:sp>
      <p:sp>
        <p:nvSpPr>
          <p:cNvPr id="38" name="Text 29"/>
          <p:cNvSpPr txBox="1"/>
          <p:nvPr/>
        </p:nvSpPr>
        <p:spPr>
          <a:xfrm>
            <a:off x="8134502" y="21150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600 built in 12 months</a:t>
            </a:r>
            <a:endParaRPr lang="en-US" sz="800"/>
          </a:p>
        </p:txBody>
      </p:sp>
      <p:sp>
        <p:nvSpPr>
          <p:cNvPr id="39" name="Text 30"/>
          <p:cNvSpPr txBox="1"/>
          <p:nvPr/>
        </p:nvSpPr>
        <p:spPr>
          <a:xfrm>
            <a:off x="9868205" y="2115007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Accelerated innovation</a:t>
            </a:r>
            <a:endParaRPr lang="en-US" sz="800"/>
          </a:p>
        </p:txBody>
      </p:sp>
      <p:sp>
        <p:nvSpPr>
          <p:cNvPr id="40" name="Shape 31"/>
          <p:cNvSpPr/>
          <p:nvPr/>
        </p:nvSpPr>
        <p:spPr>
          <a:xfrm>
            <a:off x="6324905" y="24771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 txBox="1"/>
          <p:nvPr/>
        </p:nvSpPr>
        <p:spPr>
          <a:xfrm>
            <a:off x="6400800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 Journeys</a:t>
            </a:r>
            <a:endParaRPr lang="en-US" sz="800"/>
          </a:p>
        </p:txBody>
      </p:sp>
      <p:sp>
        <p:nvSpPr>
          <p:cNvPr id="42" name="Text 33"/>
          <p:cNvSpPr txBox="1"/>
          <p:nvPr/>
        </p:nvSpPr>
        <p:spPr>
          <a:xfrm>
            <a:off x="8134502" y="23143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4,000+ transformations</a:t>
            </a:r>
            <a:endParaRPr lang="en-US" sz="800"/>
          </a:p>
        </p:txBody>
      </p:sp>
      <p:sp>
        <p:nvSpPr>
          <p:cNvPr id="43" name="Text 34"/>
          <p:cNvSpPr txBox="1"/>
          <p:nvPr/>
        </p:nvSpPr>
        <p:spPr>
          <a:xfrm>
            <a:off x="9868205" y="23143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 readiness</a:t>
            </a:r>
            <a:endParaRPr lang="en-US" sz="800"/>
          </a:p>
        </p:txBody>
      </p:sp>
      <p:sp>
        <p:nvSpPr>
          <p:cNvPr id="44" name="Shape 35"/>
          <p:cNvSpPr/>
          <p:nvPr/>
        </p:nvSpPr>
        <p:spPr>
          <a:xfrm>
            <a:off x="6324905" y="2677363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6"/>
          <p:cNvSpPr txBox="1"/>
          <p:nvPr/>
        </p:nvSpPr>
        <p:spPr>
          <a:xfrm>
            <a:off x="6400800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Captive Centers</a:t>
            </a:r>
            <a:endParaRPr lang="en-US" sz="800"/>
          </a:p>
        </p:txBody>
      </p:sp>
      <p:sp>
        <p:nvSpPr>
          <p:cNvPr id="46" name="Text 37"/>
          <p:cNvSpPr txBox="1"/>
          <p:nvPr/>
        </p:nvSpPr>
        <p:spPr>
          <a:xfrm>
            <a:off x="8134502" y="25146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250+ established</a:t>
            </a:r>
            <a:endParaRPr lang="en-US" sz="800"/>
          </a:p>
        </p:txBody>
      </p:sp>
      <p:sp>
        <p:nvSpPr>
          <p:cNvPr id="47" name="Text 38"/>
          <p:cNvSpPr txBox="1"/>
          <p:nvPr/>
        </p:nvSpPr>
        <p:spPr>
          <a:xfrm>
            <a:off x="9868205" y="2514600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 maturity</a:t>
            </a:r>
            <a:endParaRPr lang="en-US" sz="800"/>
          </a:p>
        </p:txBody>
      </p:sp>
      <p:sp>
        <p:nvSpPr>
          <p:cNvPr id="48" name="Shape 39"/>
          <p:cNvSpPr/>
          <p:nvPr/>
        </p:nvSpPr>
        <p:spPr>
          <a:xfrm>
            <a:off x="6324905" y="2877617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0"/>
          <p:cNvSpPr txBox="1"/>
          <p:nvPr/>
        </p:nvSpPr>
        <p:spPr>
          <a:xfrm>
            <a:off x="6400800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Professionals</a:t>
            </a:r>
            <a:endParaRPr lang="en-US" sz="800"/>
          </a:p>
        </p:txBody>
      </p:sp>
      <p:sp>
        <p:nvSpPr>
          <p:cNvPr id="50" name="Text 41"/>
          <p:cNvSpPr txBox="1"/>
          <p:nvPr/>
        </p:nvSpPr>
        <p:spPr>
          <a:xfrm>
            <a:off x="8134502" y="2714854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7,200+ specialists</a:t>
            </a:r>
            <a:endParaRPr lang="en-US" sz="800"/>
          </a:p>
        </p:txBody>
      </p:sp>
      <p:sp>
        <p:nvSpPr>
          <p:cNvPr id="51" name="Text 42"/>
          <p:cNvSpPr txBox="1"/>
          <p:nvPr/>
        </p:nvSpPr>
        <p:spPr>
          <a:xfrm>
            <a:off x="9868205" y="2714854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Depth and speed</a:t>
            </a:r>
            <a:endParaRPr lang="en-US" sz="800"/>
          </a:p>
        </p:txBody>
      </p:sp>
      <p:sp>
        <p:nvSpPr>
          <p:cNvPr id="52" name="Shape 43"/>
          <p:cNvSpPr/>
          <p:nvPr/>
        </p:nvSpPr>
        <p:spPr>
          <a:xfrm>
            <a:off x="6324905" y="3076956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44"/>
          <p:cNvSpPr txBox="1"/>
          <p:nvPr/>
        </p:nvSpPr>
        <p:spPr>
          <a:xfrm>
            <a:off x="6400800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Models</a:t>
            </a:r>
            <a:endParaRPr lang="en-US" sz="800"/>
          </a:p>
        </p:txBody>
      </p:sp>
      <p:sp>
        <p:nvSpPr>
          <p:cNvPr id="54" name="Text 45"/>
          <p:cNvSpPr txBox="1"/>
          <p:nvPr/>
        </p:nvSpPr>
        <p:spPr>
          <a:xfrm>
            <a:off x="8134502" y="2915107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30+ proven formats</a:t>
            </a:r>
            <a:endParaRPr lang="en-US" sz="800"/>
          </a:p>
        </p:txBody>
      </p:sp>
      <p:sp>
        <p:nvSpPr>
          <p:cNvPr id="55" name="Text 46"/>
          <p:cNvSpPr txBox="1"/>
          <p:nvPr/>
        </p:nvSpPr>
        <p:spPr>
          <a:xfrm>
            <a:off x="9868205" y="2915107"/>
            <a:ext cx="172364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Risk-mitigated flexibility</a:t>
            </a:r>
            <a:endParaRPr lang="en-US" sz="800"/>
          </a:p>
        </p:txBody>
      </p:sp>
      <p:sp>
        <p:nvSpPr>
          <p:cNvPr id="56" name="Shape 47"/>
          <p:cNvSpPr/>
          <p:nvPr/>
        </p:nvSpPr>
        <p:spPr>
          <a:xfrm>
            <a:off x="6324905" y="3277210"/>
            <a:ext cx="51050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48"/>
          <p:cNvSpPr txBox="1"/>
          <p:nvPr/>
        </p:nvSpPr>
        <p:spPr>
          <a:xfrm>
            <a:off x="6400800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Global Presence</a:t>
            </a:r>
            <a:endParaRPr lang="en-US" sz="800"/>
          </a:p>
        </p:txBody>
      </p:sp>
      <p:sp>
        <p:nvSpPr>
          <p:cNvPr id="58" name="Text 49"/>
          <p:cNvSpPr txBox="1"/>
          <p:nvPr/>
        </p:nvSpPr>
        <p:spPr>
          <a:xfrm>
            <a:off x="8134502" y="3114446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countries</a:t>
            </a:r>
            <a:endParaRPr lang="en-US" sz="800"/>
          </a:p>
        </p:txBody>
      </p:sp>
      <p:sp>
        <p:nvSpPr>
          <p:cNvPr id="59" name="Text 50"/>
          <p:cNvSpPr txBox="1"/>
          <p:nvPr/>
        </p:nvSpPr>
        <p:spPr>
          <a:xfrm>
            <a:off x="9868205" y="3114446"/>
            <a:ext cx="14859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Scalable governance</a:t>
            </a:r>
            <a:endParaRPr lang="en-US" sz="800"/>
          </a:p>
        </p:txBody>
      </p:sp>
      <p:sp>
        <p:nvSpPr>
          <p:cNvPr id="60" name="Text 51"/>
          <p:cNvSpPr txBox="1"/>
          <p:nvPr/>
        </p:nvSpPr>
        <p:spPr>
          <a:xfrm>
            <a:off x="6400800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NPS Rating</a:t>
            </a:r>
            <a:endParaRPr lang="en-US" sz="800"/>
          </a:p>
        </p:txBody>
      </p:sp>
      <p:sp>
        <p:nvSpPr>
          <p:cNvPr id="61" name="Text 52"/>
          <p:cNvSpPr txBox="1"/>
          <p:nvPr/>
        </p:nvSpPr>
        <p:spPr>
          <a:xfrm>
            <a:off x="8134502" y="3314700"/>
            <a:ext cx="173370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Industry-leading</a:t>
            </a:r>
            <a:endParaRPr lang="en-US" sz="800"/>
          </a:p>
        </p:txBody>
      </p:sp>
      <p:sp>
        <p:nvSpPr>
          <p:cNvPr id="62" name="Text 53"/>
          <p:cNvSpPr txBox="1"/>
          <p:nvPr/>
        </p:nvSpPr>
        <p:spPr>
          <a:xfrm>
            <a:off x="9868205" y="3314700"/>
            <a:ext cx="1595628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Stakeholder satisfaction</a:t>
            </a:r>
            <a:endParaRPr lang="en-US" sz="800"/>
          </a:p>
        </p:txBody>
      </p:sp>
      <p:pic>
        <p:nvPicPr>
          <p:cNvPr id="63" name="Image 7" descr="gen-dedup-4370ae18ac36aa3a0f4496de6c5c7d66.png"/>
          <p:cNvPicPr>
            <a:picLocks noChangeAspect="1"/>
          </p:cNvPicPr>
          <p:nvPr/>
        </p:nvPicPr>
        <p:blipFill>
          <a:blip r:embed="rId10"/>
          <a:srcRect t="-30480" b="-30480"/>
          <a:stretch/>
        </p:blipFill>
        <p:spPr>
          <a:xfrm>
            <a:off x="761695" y="4024274"/>
            <a:ext cx="133502" cy="171907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972007" y="3972154"/>
            <a:ext cx="241493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COMPETITIVE COMPARISON</a:t>
            </a:r>
            <a:endParaRPr lang="en-US" sz="1400"/>
          </a:p>
        </p:txBody>
      </p:sp>
      <p:pic>
        <p:nvPicPr>
          <p:cNvPr id="65" name="Image 8" descr="gen-dedup-b7bc75dca3c706f3773680681adcedb5.png"/>
          <p:cNvPicPr>
            <a:picLocks noChangeAspect="1"/>
          </p:cNvPicPr>
          <p:nvPr/>
        </p:nvPicPr>
        <p:blipFill>
          <a:blip r:embed="rId11"/>
          <a:srcRect l="-45" r="-45"/>
          <a:stretch/>
        </p:blipFill>
        <p:spPr>
          <a:xfrm>
            <a:off x="761695" y="4362602"/>
            <a:ext cx="5029200" cy="256946"/>
          </a:xfrm>
          <a:prstGeom prst="rect">
            <a:avLst/>
          </a:prstGeom>
        </p:spPr>
      </p:pic>
      <p:sp>
        <p:nvSpPr>
          <p:cNvPr id="66" name="Text 55"/>
          <p:cNvSpPr txBox="1"/>
          <p:nvPr/>
        </p:nvSpPr>
        <p:spPr>
          <a:xfrm>
            <a:off x="838505" y="4419295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PARAMETER</a:t>
            </a:r>
            <a:endParaRPr lang="en-US" sz="900"/>
          </a:p>
        </p:txBody>
      </p:sp>
      <p:sp>
        <p:nvSpPr>
          <p:cNvPr id="67" name="Text 56"/>
          <p:cNvSpPr txBox="1"/>
          <p:nvPr/>
        </p:nvSpPr>
        <p:spPr>
          <a:xfrm>
            <a:off x="230154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374151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STAFFING</a:t>
            </a:r>
            <a:endParaRPr lang="en-US" sz="900"/>
          </a:p>
        </p:txBody>
      </p:sp>
      <p:sp>
        <p:nvSpPr>
          <p:cNvPr id="68" name="Text 57"/>
          <p:cNvSpPr txBox="1"/>
          <p:nvPr/>
        </p:nvSpPr>
        <p:spPr>
          <a:xfrm>
            <a:off x="4007815" y="4419295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BOT MODEL</a:t>
            </a:r>
            <a:endParaRPr lang="en-US" sz="900"/>
          </a:p>
        </p:txBody>
      </p:sp>
      <p:sp>
        <p:nvSpPr>
          <p:cNvPr id="69" name="Shape 58"/>
          <p:cNvSpPr/>
          <p:nvPr/>
        </p:nvSpPr>
        <p:spPr>
          <a:xfrm>
            <a:off x="761695" y="4848149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59"/>
          <p:cNvSpPr txBox="1"/>
          <p:nvPr/>
        </p:nvSpPr>
        <p:spPr>
          <a:xfrm>
            <a:off x="838505" y="4667098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Ownership</a:t>
            </a:r>
            <a:endParaRPr lang="en-US" sz="800"/>
          </a:p>
        </p:txBody>
      </p:sp>
      <p:sp>
        <p:nvSpPr>
          <p:cNvPr id="71" name="Text 60"/>
          <p:cNvSpPr txBox="1"/>
          <p:nvPr/>
        </p:nvSpPr>
        <p:spPr>
          <a:xfrm>
            <a:off x="2301545" y="4667098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Resource supply</a:t>
            </a:r>
            <a:endParaRPr lang="en-US" sz="800"/>
          </a:p>
        </p:txBody>
      </p:sp>
      <p:sp>
        <p:nvSpPr>
          <p:cNvPr id="72" name="Text 61"/>
          <p:cNvSpPr txBox="1"/>
          <p:nvPr/>
        </p:nvSpPr>
        <p:spPr>
          <a:xfrm>
            <a:off x="4007815" y="4667098"/>
            <a:ext cx="1788566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Outcome-driven partnership</a:t>
            </a:r>
            <a:endParaRPr lang="en-US" sz="800"/>
          </a:p>
        </p:txBody>
      </p:sp>
      <p:sp>
        <p:nvSpPr>
          <p:cNvPr id="73" name="Shape 62"/>
          <p:cNvSpPr/>
          <p:nvPr/>
        </p:nvSpPr>
        <p:spPr>
          <a:xfrm>
            <a:off x="761695" y="5086807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63"/>
          <p:cNvSpPr txBox="1"/>
          <p:nvPr/>
        </p:nvSpPr>
        <p:spPr>
          <a:xfrm>
            <a:off x="838505" y="490575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Risk</a:t>
            </a:r>
            <a:endParaRPr lang="en-US" sz="800"/>
          </a:p>
        </p:txBody>
      </p:sp>
      <p:sp>
        <p:nvSpPr>
          <p:cNvPr id="75" name="Text 64"/>
          <p:cNvSpPr txBox="1"/>
          <p:nvPr/>
        </p:nvSpPr>
        <p:spPr>
          <a:xfrm>
            <a:off x="230154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Client-owned</a:t>
            </a:r>
            <a:endParaRPr lang="en-US" sz="800"/>
          </a:p>
        </p:txBody>
      </p:sp>
      <p:sp>
        <p:nvSpPr>
          <p:cNvPr id="76" name="Text 65"/>
          <p:cNvSpPr txBox="1"/>
          <p:nvPr/>
        </p:nvSpPr>
        <p:spPr>
          <a:xfrm>
            <a:off x="4007815" y="490575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J2W-absorbed</a:t>
            </a:r>
            <a:endParaRPr lang="en-US" sz="800"/>
          </a:p>
        </p:txBody>
      </p:sp>
      <p:sp>
        <p:nvSpPr>
          <p:cNvPr id="77" name="Shape 66"/>
          <p:cNvSpPr/>
          <p:nvPr/>
        </p:nvSpPr>
        <p:spPr>
          <a:xfrm>
            <a:off x="761695" y="5324551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67"/>
          <p:cNvSpPr txBox="1"/>
          <p:nvPr/>
        </p:nvSpPr>
        <p:spPr>
          <a:xfrm>
            <a:off x="838505" y="5143500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</a:t>
            </a:r>
            <a:endParaRPr lang="en-US" sz="800"/>
          </a:p>
        </p:txBody>
      </p:sp>
      <p:sp>
        <p:nvSpPr>
          <p:cNvPr id="79" name="Text 68"/>
          <p:cNvSpPr txBox="1"/>
          <p:nvPr/>
        </p:nvSpPr>
        <p:spPr>
          <a:xfrm>
            <a:off x="230154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Absent</a:t>
            </a:r>
            <a:endParaRPr lang="en-US" sz="800"/>
          </a:p>
        </p:txBody>
      </p:sp>
      <p:sp>
        <p:nvSpPr>
          <p:cNvPr id="80" name="Text 69"/>
          <p:cNvSpPr txBox="1"/>
          <p:nvPr/>
        </p:nvSpPr>
        <p:spPr>
          <a:xfrm>
            <a:off x="4007815" y="5143500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AI-integrated</a:t>
            </a:r>
            <a:endParaRPr lang="en-US" sz="800"/>
          </a:p>
        </p:txBody>
      </p:sp>
      <p:sp>
        <p:nvSpPr>
          <p:cNvPr id="81" name="Shape 70"/>
          <p:cNvSpPr/>
          <p:nvPr/>
        </p:nvSpPr>
        <p:spPr>
          <a:xfrm>
            <a:off x="761695" y="5562295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1"/>
          <p:cNvSpPr txBox="1"/>
          <p:nvPr/>
        </p:nvSpPr>
        <p:spPr>
          <a:xfrm>
            <a:off x="838505" y="5381244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Accountability</a:t>
            </a:r>
            <a:endParaRPr lang="en-US" sz="800"/>
          </a:p>
        </p:txBody>
      </p:sp>
      <p:sp>
        <p:nvSpPr>
          <p:cNvPr id="83" name="Text 72"/>
          <p:cNvSpPr txBox="1"/>
          <p:nvPr/>
        </p:nvSpPr>
        <p:spPr>
          <a:xfrm>
            <a:off x="230154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Limited</a:t>
            </a:r>
            <a:endParaRPr lang="en-US" sz="800"/>
          </a:p>
        </p:txBody>
      </p:sp>
      <p:sp>
        <p:nvSpPr>
          <p:cNvPr id="84" name="Text 73"/>
          <p:cNvSpPr txBox="1"/>
          <p:nvPr/>
        </p:nvSpPr>
        <p:spPr>
          <a:xfrm>
            <a:off x="4007815" y="5381244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SLA-backed</a:t>
            </a:r>
            <a:endParaRPr lang="en-US" sz="800"/>
          </a:p>
        </p:txBody>
      </p:sp>
      <p:sp>
        <p:nvSpPr>
          <p:cNvPr id="85" name="Shape 74"/>
          <p:cNvSpPr/>
          <p:nvPr/>
        </p:nvSpPr>
        <p:spPr>
          <a:xfrm>
            <a:off x="761695" y="5800954"/>
            <a:ext cx="5029200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75"/>
          <p:cNvSpPr txBox="1"/>
          <p:nvPr/>
        </p:nvSpPr>
        <p:spPr>
          <a:xfrm>
            <a:off x="838505" y="5619902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Scalability</a:t>
            </a:r>
            <a:endParaRPr lang="en-US" sz="800"/>
          </a:p>
        </p:txBody>
      </p:sp>
      <p:sp>
        <p:nvSpPr>
          <p:cNvPr id="87" name="Text 76"/>
          <p:cNvSpPr txBox="1"/>
          <p:nvPr/>
        </p:nvSpPr>
        <p:spPr>
          <a:xfrm>
            <a:off x="230154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Ad-hoc</a:t>
            </a:r>
            <a:endParaRPr lang="en-US" sz="800"/>
          </a:p>
        </p:txBody>
      </p:sp>
      <p:sp>
        <p:nvSpPr>
          <p:cNvPr id="88" name="Text 77"/>
          <p:cNvSpPr txBox="1"/>
          <p:nvPr/>
        </p:nvSpPr>
        <p:spPr>
          <a:xfrm>
            <a:off x="4007815" y="5619902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Built-in</a:t>
            </a:r>
            <a:endParaRPr lang="en-US" sz="800"/>
          </a:p>
        </p:txBody>
      </p:sp>
      <p:sp>
        <p:nvSpPr>
          <p:cNvPr id="89" name="Text 78"/>
          <p:cNvSpPr txBox="1"/>
          <p:nvPr/>
        </p:nvSpPr>
        <p:spPr>
          <a:xfrm>
            <a:off x="838505" y="5857646"/>
            <a:ext cx="1467612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Cost Flexibility</a:t>
            </a:r>
            <a:endParaRPr lang="en-US" sz="800"/>
          </a:p>
        </p:txBody>
      </p:sp>
      <p:sp>
        <p:nvSpPr>
          <p:cNvPr id="90" name="Text 79"/>
          <p:cNvSpPr txBox="1"/>
          <p:nvPr/>
        </p:nvSpPr>
        <p:spPr>
          <a:xfrm>
            <a:off x="2301545" y="5857646"/>
            <a:ext cx="1714500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</a:t>
            </a:r>
            <a:endParaRPr lang="en-US" sz="800"/>
          </a:p>
        </p:txBody>
      </p:sp>
      <p:sp>
        <p:nvSpPr>
          <p:cNvPr id="91" name="Text 80"/>
          <p:cNvSpPr txBox="1"/>
          <p:nvPr/>
        </p:nvSpPr>
        <p:spPr>
          <a:xfrm>
            <a:off x="4007815" y="5857646"/>
            <a:ext cx="1921154" cy="1335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0F76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Variable &amp; performance-based</a:t>
            </a:r>
            <a:endParaRPr lang="en-US" sz="800"/>
          </a:p>
        </p:txBody>
      </p:sp>
      <p:pic>
        <p:nvPicPr>
          <p:cNvPr id="92" name="Image 9" descr="gen-dedup-9ab84477f1b24298cf62c9612563352f.png"/>
          <p:cNvPicPr>
            <a:picLocks noChangeAspect="1"/>
          </p:cNvPicPr>
          <p:nvPr/>
        </p:nvPicPr>
        <p:blipFill>
          <a:blip r:embed="rId12"/>
          <a:srcRect t="-30480" b="-30480"/>
          <a:stretch/>
        </p:blipFill>
        <p:spPr>
          <a:xfrm>
            <a:off x="6324905" y="4024274"/>
            <a:ext cx="133502" cy="171907"/>
          </a:xfrm>
          <a:prstGeom prst="rect">
            <a:avLst/>
          </a:prstGeom>
        </p:spPr>
      </p:pic>
      <p:sp>
        <p:nvSpPr>
          <p:cNvPr id="93" name="Text 81"/>
          <p:cNvSpPr txBox="1"/>
          <p:nvPr/>
        </p:nvSpPr>
        <p:spPr>
          <a:xfrm>
            <a:off x="6534302" y="3972154"/>
            <a:ext cx="182514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RELEVANCE TO CLIENT</a:t>
            </a:r>
            <a:endParaRPr lang="en-US" sz="1400" dirty="0"/>
          </a:p>
        </p:txBody>
      </p:sp>
      <p:sp>
        <p:nvSpPr>
          <p:cNvPr id="94" name="Shape 82"/>
          <p:cNvSpPr/>
          <p:nvPr/>
        </p:nvSpPr>
        <p:spPr>
          <a:xfrm>
            <a:off x="6324905" y="4362602"/>
            <a:ext cx="5105095" cy="1200607"/>
          </a:xfrm>
          <a:prstGeom prst="roundRect">
            <a:avLst>
              <a:gd name="adj" fmla="val 7253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83"/>
          <p:cNvSpPr txBox="1"/>
          <p:nvPr/>
        </p:nvSpPr>
        <p:spPr>
          <a:xfrm>
            <a:off x="7018020" y="4562856"/>
            <a:ext cx="1134770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250+</a:t>
            </a:r>
            <a:endParaRPr lang="en-US" sz="3300"/>
          </a:p>
        </p:txBody>
      </p:sp>
      <p:sp>
        <p:nvSpPr>
          <p:cNvPr id="96" name="Text 84"/>
          <p:cNvSpPr txBox="1"/>
          <p:nvPr/>
        </p:nvSpPr>
        <p:spPr>
          <a:xfrm>
            <a:off x="6951269" y="5027371"/>
            <a:ext cx="126735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Global Centers</a:t>
            </a:r>
            <a:endParaRPr lang="en-US" sz="1000"/>
          </a:p>
        </p:txBody>
      </p:sp>
      <p:pic>
        <p:nvPicPr>
          <p:cNvPr id="97" name="Image 10" descr="gen-dedup-5e9872b339ca97363a052a98d72d331e.png"/>
          <p:cNvPicPr>
            <a:picLocks noChangeAspect="1"/>
          </p:cNvPicPr>
          <p:nvPr/>
        </p:nvPicPr>
        <p:blipFill>
          <a:blip r:embed="rId13"/>
          <a:srcRect t="-2100" b="-2100"/>
          <a:stretch/>
        </p:blipFill>
        <p:spPr>
          <a:xfrm>
            <a:off x="8357616" y="4486046"/>
            <a:ext cx="9144" cy="476402"/>
          </a:xfrm>
          <a:prstGeom prst="rect">
            <a:avLst/>
          </a:prstGeom>
        </p:spPr>
      </p:pic>
      <p:sp>
        <p:nvSpPr>
          <p:cNvPr id="98" name="Text 85"/>
          <p:cNvSpPr txBox="1"/>
          <p:nvPr/>
        </p:nvSpPr>
        <p:spPr>
          <a:xfrm>
            <a:off x="8672170" y="4562856"/>
            <a:ext cx="1981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33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30–40%</a:t>
            </a:r>
            <a:endParaRPr lang="en-US" sz="3300"/>
          </a:p>
        </p:txBody>
      </p:sp>
      <p:sp>
        <p:nvSpPr>
          <p:cNvPr id="99" name="Text 86"/>
          <p:cNvSpPr txBox="1"/>
          <p:nvPr/>
        </p:nvSpPr>
        <p:spPr>
          <a:xfrm>
            <a:off x="8483803" y="5027371"/>
            <a:ext cx="2358238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991B1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Time-to-Excellence Accelerated</a:t>
            </a:r>
            <a:endParaRPr lang="en-US" sz="1000"/>
          </a:p>
        </p:txBody>
      </p:sp>
      <p:sp>
        <p:nvSpPr>
          <p:cNvPr id="100" name="Text 87"/>
          <p:cNvSpPr txBox="1"/>
          <p:nvPr/>
        </p:nvSpPr>
        <p:spPr>
          <a:xfrm>
            <a:off x="6452921" y="5255971"/>
            <a:ext cx="485820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1D1D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{client}  gains institutional knowledge from transformed global centers.</a:t>
            </a:r>
            <a:endParaRPr lang="en-US" sz="1000" dirty="0"/>
          </a:p>
        </p:txBody>
      </p:sp>
      <p:sp>
        <p:nvSpPr>
          <p:cNvPr id="101" name="Text 88"/>
          <p:cNvSpPr txBox="1"/>
          <p:nvPr/>
        </p:nvSpPr>
        <p:spPr>
          <a:xfrm>
            <a:off x="2079346" y="6367882"/>
            <a:ext cx="9238183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J2W has transformed 250+ global centers.  {{client}} gains from this institutional knowledge, accelerating time-to-excellence by 30–40%. </a:t>
            </a:r>
            <a:endParaRPr lang="en-US" sz="1000" dirty="0"/>
          </a:p>
        </p:txBody>
      </p:sp>
      <p:pic>
        <p:nvPicPr>
          <p:cNvPr id="102" name="Image 11" descr="gen-dedup-315c4f0fede1ff4637c888960421344a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1868119" y="6384341"/>
            <a:ext cx="105156" cy="133502"/>
          </a:xfrm>
          <a:prstGeom prst="rect">
            <a:avLst/>
          </a:prstGeom>
        </p:spPr>
      </p:pic>
      <p:sp>
        <p:nvSpPr>
          <p:cNvPr id="104" name="Text 15">
            <a:extLst>
              <a:ext uri="{FF2B5EF4-FFF2-40B4-BE49-F238E27FC236}">
                <a16:creationId xmlns:a16="http://schemas.microsoft.com/office/drawing/2014/main" id="{588138F4-61E6-C818-E657-35AA3245D5C3}"/>
              </a:ext>
            </a:extLst>
          </p:cNvPr>
          <p:cNvSpPr txBox="1"/>
          <p:nvPr/>
        </p:nvSpPr>
        <p:spPr>
          <a:xfrm flipH="1">
            <a:off x="11778343" y="6515100"/>
            <a:ext cx="283028" cy="255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Oswald" pitchFamily="34" charset="0"/>
              </a:rPr>
              <a:t>18</a:t>
            </a:r>
            <a:endParaRPr 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398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12000"/>
          </a:p>
        </p:txBody>
      </p:sp>
      <p:pic>
        <p:nvPicPr>
          <p:cNvPr id="11" name="Image 3" descr="gen-dedup-90395934058aa4b7c1bff00d7e70c0a4.png"/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PODS</a:t>
            </a:r>
            <a:endParaRPr lang="en-US" sz="5400"/>
          </a:p>
        </p:txBody>
      </p:sp>
      <p:sp>
        <p:nvSpPr>
          <p:cNvPr id="13" name="Text 7"/>
          <p:cNvSpPr txBox="1"/>
          <p:nvPr/>
        </p:nvSpPr>
        <p:spPr>
          <a:xfrm>
            <a:off x="1429207" y="3333902"/>
            <a:ext cx="10687507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AI-first engineering pods - governed, certified, and compounding from Day 1</a:t>
            </a:r>
            <a:endParaRPr lang="en-US" sz="2100"/>
          </a:p>
        </p:txBody>
      </p:sp>
      <p:sp>
        <p:nvSpPr>
          <p:cNvPr id="14" name="Text 8"/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fully governed, outcome-bound delivery model-not traditional staff augmentation. We embed complete engineering units that integrate directly into your sprint cycles, governed by strict SLAs and continuous AI upskilling.</a:t>
            </a:r>
            <a:endParaRPr lang="en-US" sz="1300"/>
          </a:p>
        </p:txBody>
      </p:sp>
      <p:pic>
        <p:nvPicPr>
          <p:cNvPr id="15" name="Image 4" descr="gen-dedup-818c62191cf4a66fb5704c7f87e3fedf.png"/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/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10-day onboarding </a:t>
            </a:r>
            <a:endParaRPr lang="en-US" sz="1100"/>
          </a:p>
        </p:txBody>
      </p:sp>
      <p:pic>
        <p:nvPicPr>
          <p:cNvPr id="18" name="Image 5" descr="gen-dedup-a287ae7abd092c83dc5f899415c51d00.png"/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/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1543507" cy="418795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3510382" y="5143500"/>
            <a:ext cx="1543507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/>
          <p:cNvSpPr txBox="1"/>
          <p:nvPr/>
        </p:nvSpPr>
        <p:spPr>
          <a:xfrm>
            <a:off x="3735019" y="5143500"/>
            <a:ext cx="11055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90-day POFU </a:t>
            </a:r>
            <a:endParaRPr lang="en-US" sz="1100"/>
          </a:p>
        </p:txBody>
      </p:sp>
      <p:pic>
        <p:nvPicPr>
          <p:cNvPr id="22" name="Image 7" descr="gen-dedup-c395ac9c840728d6470a4a8b33662e6e.png"/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2" y="5277002"/>
            <a:ext cx="114300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/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5199278" y="5143500"/>
            <a:ext cx="2619756" cy="418795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5199278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/>
          <p:cNvSpPr txBox="1"/>
          <p:nvPr/>
        </p:nvSpPr>
        <p:spPr>
          <a:xfrm>
            <a:off x="5423916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85% sprint completion target </a:t>
            </a:r>
            <a:endParaRPr lang="en-US" sz="1100"/>
          </a:p>
        </p:txBody>
      </p:sp>
      <p:pic>
        <p:nvPicPr>
          <p:cNvPr id="26" name="Image 9" descr="gen-dedup-7637b076e607f7218cdb4973c81f38e6.png"/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5427878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/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7969910" y="5143500"/>
            <a:ext cx="2562149" cy="418795"/>
          </a:xfrm>
          <a:prstGeom prst="rect">
            <a:avLst/>
          </a:prstGeom>
        </p:spPr>
      </p:pic>
      <p:sp>
        <p:nvSpPr>
          <p:cNvPr id="28" name="Shape 15"/>
          <p:cNvSpPr/>
          <p:nvPr/>
        </p:nvSpPr>
        <p:spPr>
          <a:xfrm>
            <a:off x="7969910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/>
          <p:cNvSpPr txBox="1"/>
          <p:nvPr/>
        </p:nvSpPr>
        <p:spPr>
          <a:xfrm>
            <a:off x="8194548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0.5 defect density threshold </a:t>
            </a:r>
            <a:endParaRPr lang="en-US" sz="1100"/>
          </a:p>
        </p:txBody>
      </p:sp>
      <p:pic>
        <p:nvPicPr>
          <p:cNvPr id="30" name="Image 11" descr="gen-dedup-de4cb59b8211160ed90cebf7a454cebf.png"/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8198510" y="5277002"/>
            <a:ext cx="114300" cy="152705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 your engineering footprint with absolute control and measurable outcomes.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447062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-952805" y="-952805"/>
            <a:ext cx="3810305" cy="381030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9525305" y="4762195"/>
            <a:ext cx="2857500" cy="28575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0990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0990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3372307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3372307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133795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133795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8896198" y="1524305"/>
            <a:ext cx="2628900" cy="1962302"/>
          </a:xfrm>
          <a:prstGeom prst="roundRect">
            <a:avLst>
              <a:gd name="adj" fmla="val 3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896198" y="1524305"/>
            <a:ext cx="2628900" cy="47549"/>
          </a:xfrm>
          <a:prstGeom prst="roundRect">
            <a:avLst>
              <a:gd name="adj" fmla="val 149365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09905" y="3619195"/>
            <a:ext cx="10916107" cy="2876702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t="-29" b="-29"/>
          <a:stretch/>
        </p:blipFill>
        <p:spPr>
          <a:xfrm>
            <a:off x="609905" y="3619195"/>
            <a:ext cx="10896905" cy="495605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09905" y="4572000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09905" y="4572000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048402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609905" y="5524805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5524805"/>
            <a:ext cx="10896905" cy="485546"/>
          </a:xfrm>
          <a:prstGeom prst="rect">
            <a:avLst/>
          </a:prstGeom>
          <a:solidFill>
            <a:srgbClr val="2A9D8F">
              <a:alpha val="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609905" y="6001207"/>
            <a:ext cx="1089690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 txBox="1"/>
          <p:nvPr/>
        </p:nvSpPr>
        <p:spPr>
          <a:xfrm>
            <a:off x="857707" y="46634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INTRODUCING THE AI-FIRST POD MODEL</a:t>
            </a:r>
            <a:endParaRPr lang="en-US" sz="2700" dirty="0"/>
          </a:p>
        </p:txBody>
      </p:sp>
      <p:sp>
        <p:nvSpPr>
          <p:cNvPr id="26" name="Text 20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 Managed, Governed Engineering Unit - Not Just Staffing With A Wrapper.</a:t>
            </a:r>
            <a:endParaRPr lang="en-US" sz="1300" dirty="0">
              <a:solidFill>
                <a:srgbClr val="2A9D8F"/>
              </a:solidFill>
            </a:endParaRPr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3874" y="1772107"/>
            <a:ext cx="333756" cy="26700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00100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Engineering Team</a:t>
            </a:r>
            <a:endParaRPr lang="en-US" sz="1500"/>
          </a:p>
        </p:txBody>
      </p:sp>
      <p:sp>
        <p:nvSpPr>
          <p:cNvPr id="29" name="Text 22"/>
          <p:cNvSpPr txBox="1"/>
          <p:nvPr/>
        </p:nvSpPr>
        <p:spPr>
          <a:xfrm>
            <a:off x="800100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Dedicated engineers (Java, Python, DevOps) - hired, vetted, and onboarded by J2W.</a:t>
            </a:r>
            <a:endParaRPr lang="en-US" sz="100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 l="-881" r="-881"/>
          <a:stretch/>
        </p:blipFill>
        <p:spPr>
          <a:xfrm>
            <a:off x="3633826" y="1772107"/>
            <a:ext cx="237744" cy="2670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62502" y="2190902"/>
            <a:ext cx="23180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Pod Lead</a:t>
            </a:r>
            <a:endParaRPr lang="en-US" sz="1500"/>
          </a:p>
        </p:txBody>
      </p:sp>
      <p:sp>
        <p:nvSpPr>
          <p:cNvPr id="32" name="Text 24"/>
          <p:cNvSpPr txBox="1"/>
          <p:nvPr/>
        </p:nvSpPr>
        <p:spPr>
          <a:xfrm>
            <a:off x="3562502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J2W program manager who owns delivery, sprint governance, and client alignment.</a:t>
            </a:r>
            <a:endParaRPr lang="en-US" sz="100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81598" y="1772107"/>
            <a:ext cx="267005" cy="2670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6324905" y="2190902"/>
            <a:ext cx="26526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Governance</a:t>
            </a:r>
            <a:endParaRPr lang="en-US" sz="1500"/>
          </a:p>
        </p:txBody>
      </p:sp>
      <p:sp>
        <p:nvSpPr>
          <p:cNvPr id="35" name="Text 26"/>
          <p:cNvSpPr txBox="1"/>
          <p:nvPr/>
        </p:nvSpPr>
        <p:spPr>
          <a:xfrm>
            <a:off x="6324905" y="2514600"/>
            <a:ext cx="2305202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performance tracking, SLA metrics, velocity monitoring, proactive resolution.</a:t>
            </a:r>
            <a:endParaRPr lang="en-US" sz="100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144000" y="1772107"/>
            <a:ext cx="267005" cy="2670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9087307" y="2190902"/>
            <a:ext cx="24515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L&amp;D Program</a:t>
            </a:r>
            <a:endParaRPr lang="en-US" sz="1500"/>
          </a:p>
        </p:txBody>
      </p:sp>
      <p:sp>
        <p:nvSpPr>
          <p:cNvPr id="38" name="Text 28"/>
          <p:cNvSpPr txBox="1"/>
          <p:nvPr/>
        </p:nvSpPr>
        <p:spPr>
          <a:xfrm>
            <a:off x="9087307" y="2514600"/>
            <a:ext cx="230520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Continuous AI training - hands-on, contextual upskilling powered by Research Wing.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800100" y="376275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Dimension</a:t>
            </a:r>
            <a:endParaRPr lang="en-US" sz="1200"/>
          </a:p>
        </p:txBody>
      </p:sp>
      <p:sp>
        <p:nvSpPr>
          <p:cNvPr id="40" name="Text 30"/>
          <p:cNvSpPr txBox="1"/>
          <p:nvPr/>
        </p:nvSpPr>
        <p:spPr>
          <a:xfrm>
            <a:off x="3657600" y="3762756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4B556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Traditional Staffing</a:t>
            </a:r>
            <a:endParaRPr lang="en-US" sz="1200"/>
          </a:p>
        </p:txBody>
      </p:sp>
      <p:sp>
        <p:nvSpPr>
          <p:cNvPr id="41" name="Text 31"/>
          <p:cNvSpPr txBox="1"/>
          <p:nvPr/>
        </p:nvSpPr>
        <p:spPr>
          <a:xfrm>
            <a:off x="7276795" y="376275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AI-First Pod</a:t>
            </a:r>
            <a:endParaRPr lang="en-US" sz="1200"/>
          </a:p>
        </p:txBody>
      </p:sp>
      <p:sp>
        <p:nvSpPr>
          <p:cNvPr id="42" name="Text 32"/>
          <p:cNvSpPr txBox="1"/>
          <p:nvPr/>
        </p:nvSpPr>
        <p:spPr>
          <a:xfrm>
            <a:off x="800100" y="423824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Governance</a:t>
            </a:r>
            <a:endParaRPr lang="en-US" sz="1200"/>
          </a:p>
        </p:txBody>
      </p:sp>
      <p:sp>
        <p:nvSpPr>
          <p:cNvPr id="43" name="Text 33"/>
          <p:cNvSpPr txBox="1"/>
          <p:nvPr/>
        </p:nvSpPr>
        <p:spPr>
          <a:xfrm>
            <a:off x="3657600" y="423824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Client's burden</a:t>
            </a:r>
            <a:endParaRPr lang="en-US" sz="110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257446"/>
            <a:ext cx="114300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524598" y="423824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J2W-owned</a:t>
            </a:r>
            <a:endParaRPr lang="en-US" sz="1100"/>
          </a:p>
        </p:txBody>
      </p:sp>
      <p:sp>
        <p:nvSpPr>
          <p:cNvPr id="46" name="Text 35"/>
          <p:cNvSpPr txBox="1"/>
          <p:nvPr/>
        </p:nvSpPr>
        <p:spPr>
          <a:xfrm>
            <a:off x="800100" y="4714646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Upskilling</a:t>
            </a:r>
            <a:endParaRPr lang="en-US" sz="1200"/>
          </a:p>
        </p:txBody>
      </p:sp>
      <p:sp>
        <p:nvSpPr>
          <p:cNvPr id="47" name="Text 36"/>
          <p:cNvSpPr txBox="1"/>
          <p:nvPr/>
        </p:nvSpPr>
        <p:spPr>
          <a:xfrm>
            <a:off x="3657600" y="4714646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Engineer's personal initiative</a:t>
            </a:r>
            <a:endParaRPr lang="en-US" sz="1100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4733849"/>
            <a:ext cx="114300" cy="133502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7524598" y="4714646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Structured, continuous, AI-focused</a:t>
            </a:r>
            <a:endParaRPr lang="en-US" sz="1100"/>
          </a:p>
        </p:txBody>
      </p:sp>
      <p:sp>
        <p:nvSpPr>
          <p:cNvPr id="50" name="Text 38"/>
          <p:cNvSpPr txBox="1"/>
          <p:nvPr/>
        </p:nvSpPr>
        <p:spPr>
          <a:xfrm>
            <a:off x="800100" y="5191049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Performance Issues</a:t>
            </a:r>
            <a:endParaRPr lang="en-US" sz="1200"/>
          </a:p>
        </p:txBody>
      </p:sp>
      <p:sp>
        <p:nvSpPr>
          <p:cNvPr id="51" name="Text 39"/>
          <p:cNvSpPr txBox="1"/>
          <p:nvPr/>
        </p:nvSpPr>
        <p:spPr>
          <a:xfrm>
            <a:off x="3657600" y="5191049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Escalation after the fact</a:t>
            </a:r>
            <a:endParaRPr lang="en-US" sz="1100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210251"/>
            <a:ext cx="114300" cy="133502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7524598" y="5191049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Proactive monitoring &amp; intervention</a:t>
            </a:r>
            <a:endParaRPr lang="en-US" sz="1100"/>
          </a:p>
        </p:txBody>
      </p:sp>
      <p:sp>
        <p:nvSpPr>
          <p:cNvPr id="54" name="Text 41"/>
          <p:cNvSpPr txBox="1"/>
          <p:nvPr/>
        </p:nvSpPr>
        <p:spPr>
          <a:xfrm>
            <a:off x="800100" y="5667451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Knowledge Retention</a:t>
            </a:r>
            <a:endParaRPr lang="en-US" sz="1200"/>
          </a:p>
        </p:txBody>
      </p:sp>
      <p:sp>
        <p:nvSpPr>
          <p:cNvPr id="55" name="Text 42"/>
          <p:cNvSpPr txBox="1"/>
          <p:nvPr/>
        </p:nvSpPr>
        <p:spPr>
          <a:xfrm>
            <a:off x="3657600" y="5667451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Lost with attrition</a:t>
            </a:r>
            <a:endParaRPr lang="en-US" sz="1100"/>
          </a:p>
        </p:txBody>
      </p:sp>
      <p:pic>
        <p:nvPicPr>
          <p:cNvPr id="56" name="Image 11" descr="preencoded.png"/>
          <p:cNvPicPr>
            <a:picLocks noChangeAspect="1"/>
          </p:cNvPicPr>
          <p:nvPr/>
        </p:nvPicPr>
        <p:blipFill>
          <a:blip r:embed="rId11"/>
          <a:srcRect t="-1100" b="-1100"/>
          <a:stretch/>
        </p:blipFill>
        <p:spPr>
          <a:xfrm>
            <a:off x="7276795" y="5686654"/>
            <a:ext cx="114300" cy="133502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524598" y="5667451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F293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 in Knowledge Repository</a:t>
            </a:r>
            <a:endParaRPr lang="en-US" sz="1100"/>
          </a:p>
        </p:txBody>
      </p:sp>
      <p:sp>
        <p:nvSpPr>
          <p:cNvPr id="58" name="Text 44"/>
          <p:cNvSpPr txBox="1"/>
          <p:nvPr/>
        </p:nvSpPr>
        <p:spPr>
          <a:xfrm>
            <a:off x="800100" y="6143854"/>
            <a:ext cx="2774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AI Readiness</a:t>
            </a:r>
            <a:endParaRPr lang="en-US" sz="1200"/>
          </a:p>
        </p:txBody>
      </p:sp>
      <p:sp>
        <p:nvSpPr>
          <p:cNvPr id="59" name="Text 45"/>
          <p:cNvSpPr txBox="1"/>
          <p:nvPr/>
        </p:nvSpPr>
        <p:spPr>
          <a:xfrm>
            <a:off x="3657600" y="6143854"/>
            <a:ext cx="35433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 hoc</a:t>
            </a:r>
            <a:endParaRPr lang="en-US" sz="1100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7276795" y="6163056"/>
            <a:ext cx="114300" cy="133502"/>
          </a:xfrm>
          <a:prstGeom prst="rect">
            <a:avLst/>
          </a:prstGeom>
        </p:spPr>
      </p:pic>
      <p:sp>
        <p:nvSpPr>
          <p:cNvPr id="61" name="Text 46"/>
          <p:cNvSpPr txBox="1"/>
          <p:nvPr/>
        </p:nvSpPr>
        <p:spPr>
          <a:xfrm>
            <a:off x="7524598" y="6143854"/>
            <a:ext cx="38295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207" r="-207"/>
          <a:stretch/>
        </p:blipFill>
        <p:spPr>
          <a:xfrm>
            <a:off x="0" y="0"/>
            <a:ext cx="4058107" cy="75895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4058107" y="0"/>
            <a:ext cx="8134502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571500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rcRect l="-400" r="-400"/>
          <a:stretch/>
        </p:blipFill>
        <p:spPr>
          <a:xfrm>
            <a:off x="609905" y="571500"/>
            <a:ext cx="57607" cy="5715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524305"/>
            <a:ext cx="11039551" cy="1752905"/>
          </a:xfrm>
          <a:prstGeom prst="roundRect">
            <a:avLst>
              <a:gd name="adj" fmla="val 453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524305"/>
            <a:ext cx="57607" cy="1752905"/>
          </a:xfrm>
          <a:prstGeom prst="roundRect">
            <a:avLst>
              <a:gd name="adj" fmla="val 138027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09905" y="3429000"/>
            <a:ext cx="11039551" cy="2305202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3429000"/>
            <a:ext cx="57607" cy="2305202"/>
          </a:xfrm>
          <a:prstGeom prst="roundRect">
            <a:avLst>
              <a:gd name="adj" fmla="val 104946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609905" y="5905195"/>
            <a:ext cx="10972800" cy="609905"/>
          </a:xfrm>
          <a:prstGeom prst="roundRect">
            <a:avLst>
              <a:gd name="adj" fmla="val 37481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2A9D8F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8"/>
          <p:cNvSpPr txBox="1"/>
          <p:nvPr/>
        </p:nvSpPr>
        <p:spPr>
          <a:xfrm>
            <a:off x="857707" y="428854"/>
            <a:ext cx="1066830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38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THE J2W AI RESEARCH WING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857707" y="1009498"/>
            <a:ext cx="105924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Your Pod's Secret Weapon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990295" y="2085746"/>
            <a:ext cx="4476902" cy="19202"/>
          </a:xfrm>
          <a:prstGeom prst="rect">
            <a:avLst/>
          </a:prstGeom>
          <a:solidFill>
            <a:srgbClr val="2A9D8F">
              <a:alpha val="20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/>
          <p:cNvSpPr txBox="1"/>
          <p:nvPr/>
        </p:nvSpPr>
        <p:spPr>
          <a:xfrm>
            <a:off x="990295" y="1666951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Is the AI Research Wing?</a:t>
            </a:r>
            <a:endParaRPr lang="en-US" sz="180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556" y="2221992"/>
            <a:ext cx="171907" cy="17190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14907" y="2190902"/>
            <a:ext cx="998250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dedicated team of AI researchers and engineers working on cutting-edge enterprise AI - agentic AI systems, LLM orchestration, model governance, and applied ML</a:t>
            </a:r>
            <a:endParaRPr lang="en-US" sz="110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19556" y="2602382"/>
            <a:ext cx="171907" cy="171907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314907" y="2572207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Currently building and publishing research on agentic AI architectures, prompt engineering frameworks, and enterprise AI adoption strategies</a:t>
            </a:r>
            <a:endParaRPr lang="en-US" sz="110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9556" y="2983687"/>
            <a:ext cx="171907" cy="17190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314907" y="2952598"/>
            <a:ext cx="10592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Powers J2W's proprietary platforms: the J2W Agentic Platform, Qualizen (GenAI-assisted quality engineering), and Talk2Data (conversational BI)</a:t>
            </a:r>
            <a:endParaRPr lang="en-US" sz="1100"/>
          </a:p>
        </p:txBody>
      </p:sp>
      <p:sp>
        <p:nvSpPr>
          <p:cNvPr id="24" name="Shape 15"/>
          <p:cNvSpPr/>
          <p:nvPr/>
        </p:nvSpPr>
        <p:spPr>
          <a:xfrm>
            <a:off x="990295" y="3990442"/>
            <a:ext cx="4476902" cy="19202"/>
          </a:xfrm>
          <a:prstGeom prst="rect">
            <a:avLst/>
          </a:prstGeom>
          <a:solidFill>
            <a:srgbClr val="D62839">
              <a:alpha val="20000"/>
            </a:srgbClr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6"/>
          <p:cNvSpPr txBox="1"/>
          <p:nvPr/>
        </p:nvSpPr>
        <p:spPr>
          <a:xfrm>
            <a:off x="990295" y="3571646"/>
            <a:ext cx="4562856" cy="3438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Pod Members Benefit</a:t>
            </a:r>
            <a:endParaRPr lang="en-US" sz="180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0"/>
          <a:srcRect l="-1064" r="-1064"/>
          <a:stretch/>
        </p:blipFill>
        <p:spPr>
          <a:xfrm>
            <a:off x="995782" y="4126687"/>
            <a:ext cx="219456" cy="171907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314907" y="4095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Weekly AI workshops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led by our research team - covering practical, project-applicable AI skills </a:t>
            </a:r>
            <a:endParaRPr lang="en-US" sz="110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11"/>
          <a:srcRect l="-1773" r="-1773"/>
          <a:stretch/>
        </p:blipFill>
        <p:spPr>
          <a:xfrm>
            <a:off x="1037844" y="4507992"/>
            <a:ext cx="133502" cy="171907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314907" y="4476902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Access to the J2W </a:t>
            </a:r>
            <a:r>
              <a:rPr lang="en-US" sz="1100" b="1" err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iLAB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Innovation Points program for building PoCs, hackathons, and rapid prototyping </a:t>
            </a:r>
            <a:endParaRPr lang="en-US" sz="110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2"/>
          <a:srcRect l="-1064" r="-1064"/>
          <a:stretch/>
        </p:blipFill>
        <p:spPr>
          <a:xfrm>
            <a:off x="995782" y="4888382"/>
            <a:ext cx="219456" cy="171907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14907" y="4858207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Contextual AI training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hands-on training tailored to the specific technology stack and domain </a:t>
            </a:r>
            <a:endParaRPr lang="en-US" sz="110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019556" y="5269687"/>
            <a:ext cx="171907" cy="171907"/>
          </a:xfrm>
          <a:prstGeom prst="rect">
            <a:avLst/>
          </a:prstGeom>
        </p:spPr>
      </p:pic>
      <p:sp>
        <p:nvSpPr>
          <p:cNvPr id="33" name="Text 20"/>
          <p:cNvSpPr txBox="1"/>
          <p:nvPr/>
        </p:nvSpPr>
        <p:spPr>
          <a:xfrm>
            <a:off x="1314907" y="5238598"/>
            <a:ext cx="100209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 against global best practices</a:t>
            </a: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- continuous measurement against industry-leading standards </a:t>
            </a:r>
            <a:endParaRPr lang="en-US" sz="1100"/>
          </a:p>
        </p:txBody>
      </p:sp>
      <p:sp>
        <p:nvSpPr>
          <p:cNvPr id="34" name="Text 21"/>
          <p:cNvSpPr txBox="1"/>
          <p:nvPr/>
        </p:nvSpPr>
        <p:spPr>
          <a:xfrm>
            <a:off x="952805" y="6010351"/>
            <a:ext cx="10287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result: Your engineers don't just work - they get better every week. And that compounding improvement is something no staffing model can deliver.</a:t>
            </a:r>
            <a:endParaRPr lang="en-US" sz="1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">
            <a:extLst>
              <a:ext uri="{FF2B5EF4-FFF2-40B4-BE49-F238E27FC236}">
                <a16:creationId xmlns:a16="http://schemas.microsoft.com/office/drawing/2014/main" id="{F52B61E2-5F3C-E58A-B761-FA83C301E75F}"/>
              </a:ext>
            </a:extLst>
          </p:cNvPr>
          <p:cNvSpPr/>
          <p:nvPr/>
        </p:nvSpPr>
        <p:spPr>
          <a:xfrm>
            <a:off x="6263640" y="1423648"/>
            <a:ext cx="5230368" cy="620036"/>
          </a:xfrm>
          <a:prstGeom prst="roundRect">
            <a:avLst>
              <a:gd name="adj" fmla="val 16800"/>
            </a:avLst>
          </a:prstGeom>
          <a:solidFill>
            <a:schemeClr val="bg1">
              <a:lumMod val="5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C1D4328-ABF1-7607-3876-D88BB1D0AC07}"/>
              </a:ext>
            </a:extLst>
          </p:cNvPr>
          <p:cNvSpPr/>
          <p:nvPr/>
        </p:nvSpPr>
        <p:spPr>
          <a:xfrm>
            <a:off x="648262" y="1454810"/>
            <a:ext cx="5230368" cy="620036"/>
          </a:xfrm>
          <a:prstGeom prst="roundRect">
            <a:avLst>
              <a:gd name="adj" fmla="val 16800"/>
            </a:avLst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>
              <a:latin typeface="Raleway" pitchFamily="2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822960" y="16550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2940"/>
              </a:lnSpc>
            </a:pPr>
            <a:r>
              <a:rPr lang="en-US" sz="2800" b="1" dirty="0">
                <a:solidFill>
                  <a:srgbClr val="1B2A4A"/>
                </a:solidFill>
                <a:latin typeface="Oswald" panose="00000500000000000000" pitchFamily="2" charset="0"/>
                <a:ea typeface="Georgia" pitchFamily="34" charset="-122"/>
                <a:cs typeface="Georgia" pitchFamily="34" charset="-120"/>
              </a:rPr>
              <a:t>AI PODS + INTERVIEW-AS-A-SERVICE</a:t>
            </a:r>
            <a:endParaRPr lang="en-US" sz="2800" dirty="0">
              <a:latin typeface="Oswald" panose="00000500000000000000" pitchFamily="2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545336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5331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 dirty="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PODS</a:t>
            </a:r>
            <a:endParaRPr lang="en-US" sz="1500" dirty="0">
              <a:latin typeface="Raleway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914400" y="2176272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08276"/>
            <a:ext cx="173736" cy="1737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Human + AI blended pods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Sized to mandate - small teams, larger mandates.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914400" y="2834640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866644"/>
            <a:ext cx="173736" cy="1737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Embedded tech lead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At J2W's cost; sets velocity, quality bar and KPIs.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914400" y="3493008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3525012"/>
            <a:ext cx="173736" cy="1737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AI tooling from Day 1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Code review, test generation, agentic workflows in CI/CD.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914400" y="4151376"/>
            <a:ext cx="237744" cy="23774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4183380"/>
            <a:ext cx="173736" cy="1737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8016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Pod governance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Weekly scorecards, sprint accountability, 24-hr escalation SLA.</a:t>
            </a:r>
            <a:endParaRPr lang="en-US" sz="1131">
              <a:latin typeface="Raleway" pitchFamily="2" charset="0"/>
            </a:endParaRPr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545336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76872" y="14264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200">
                <a:solidFill>
                  <a:srgbClr val="FFFFF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INTERVIEW-AS-A-SERVICE</a:t>
            </a:r>
            <a:endParaRPr lang="en-US" sz="1500">
              <a:latin typeface="Raleway" pitchFamily="2" charset="0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6263640" y="1975104"/>
            <a:ext cx="5257800" cy="2834640"/>
          </a:xfrm>
          <a:prstGeom prst="rect">
            <a:avLst/>
          </a:prstGeom>
          <a:solidFill>
            <a:srgbClr val="F4F6FA"/>
          </a:solidFill>
          <a:ln/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537960" y="2176272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208276"/>
            <a:ext cx="173736" cy="17373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03720" y="211226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Standing domain-vetted capacity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Interview slots pre-blocked, not scheduled on demand.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6" name="Shape 17"/>
          <p:cNvSpPr/>
          <p:nvPr/>
        </p:nvSpPr>
        <p:spPr>
          <a:xfrm>
            <a:off x="6537960" y="2834640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2866644"/>
            <a:ext cx="173736" cy="173736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03720" y="277063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Decision cycles 2–3 wks → 3–5 days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Candidates clear the domain bar before reaching you.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6537960" y="3493008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3525012"/>
            <a:ext cx="173736" cy="173736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903720" y="3429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 dirty="0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Manager time for judgment  </a:t>
            </a:r>
            <a:r>
              <a:rPr lang="en-US" sz="113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Not first-pass filtering - experts catch mismatches early.</a:t>
            </a:r>
            <a:endParaRPr lang="en-US" sz="1131" dirty="0">
              <a:latin typeface="Raleway" pitchFamily="2" charset="0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6537960" y="4151376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IN">
              <a:latin typeface="Raleway" pitchFamily="2" charset="0"/>
            </a:endParaRPr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964" y="4183380"/>
            <a:ext cx="173736" cy="173736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903720" y="40873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51"/>
              </a:lnSpc>
            </a:pPr>
            <a:r>
              <a:rPr lang="en-US" sz="1131" b="1">
                <a:solidFill>
                  <a:srgbClr val="1B2A4A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Structured, recorded, scored  </a:t>
            </a:r>
            <a:r>
              <a:rPr lang="en-US" sz="1131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Rubrics by role &amp; seniority; async review reports.</a:t>
            </a:r>
            <a:endParaRPr lang="en-US" sz="1131">
              <a:latin typeface="Raleway" pitchFamily="2" charset="0"/>
            </a:endParaRPr>
          </a:p>
        </p:txBody>
      </p:sp>
      <p:sp>
        <p:nvSpPr>
          <p:cNvPr id="35" name="Text 23"/>
          <p:cNvSpPr/>
          <p:nvPr/>
        </p:nvSpPr>
        <p:spPr>
          <a:xfrm>
            <a:off x="640080" y="4974336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A9E8F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Why it matters for Southwest:  </a:t>
            </a:r>
            <a:r>
              <a:rPr lang="en-US" sz="1200" i="1" dirty="0">
                <a:solidFill>
                  <a:srgbClr val="5B6B86"/>
                </a:solidFill>
                <a:latin typeface="Raleway" pitchFamily="2" charset="0"/>
                <a:ea typeface="Calibri" pitchFamily="34" charset="-122"/>
                <a:cs typeface="Calibri" pitchFamily="34" charset="-120"/>
              </a:rPr>
              <a:t>every early hire defines trajectory - only domain-credible candidates reach your leadership.</a:t>
            </a:r>
            <a:endParaRPr lang="en-US" sz="1200" dirty="0">
              <a:latin typeface="Raleway" pitchFamily="2" charset="0"/>
            </a:endParaRPr>
          </a:p>
        </p:txBody>
      </p:sp>
      <p:pic>
        <p:nvPicPr>
          <p:cNvPr id="40" name="Image 2" descr="gen-dedup-06e3d16aa0e9246458a784af17ea21a8.png">
            <a:extLst>
              <a:ext uri="{FF2B5EF4-FFF2-40B4-BE49-F238E27FC236}">
                <a16:creationId xmlns:a16="http://schemas.microsoft.com/office/drawing/2014/main" id="{5DB2953C-7553-710B-6986-48134ED3F54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37" r="-437"/>
          <a:stretch/>
        </p:blipFill>
        <p:spPr>
          <a:xfrm>
            <a:off x="609905" y="390449"/>
            <a:ext cx="57607" cy="418795"/>
          </a:xfrm>
          <a:prstGeom prst="rect">
            <a:avLst/>
          </a:prstGeom>
        </p:spPr>
      </p:pic>
      <p:pic>
        <p:nvPicPr>
          <p:cNvPr id="45" name="Image 1" descr="gen-dedup-323228122ff92d2332e711a84ca3b40c.png">
            <a:extLst>
              <a:ext uri="{FF2B5EF4-FFF2-40B4-BE49-F238E27FC236}">
                <a16:creationId xmlns:a16="http://schemas.microsoft.com/office/drawing/2014/main" id="{B93A69ED-69E0-3FB6-1D82-83C984D0EC9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47" name="Image 2" descr="gen-dedup-9663ecf744b06e35d4c2cebaab92a2ea.png">
            <a:extLst>
              <a:ext uri="{FF2B5EF4-FFF2-40B4-BE49-F238E27FC236}">
                <a16:creationId xmlns:a16="http://schemas.microsoft.com/office/drawing/2014/main" id="{277D5448-BEF8-7099-D1CD-B740E6A6C85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111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/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-381305" y="4190695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/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8" name="Image 3" descr="gen-dedup-806ddcf4485dfb282961f80f6430c89d.png"/>
          <p:cNvPicPr>
            <a:picLocks noChangeAspect="1"/>
          </p:cNvPicPr>
          <p:nvPr/>
        </p:nvPicPr>
        <p:blipFill>
          <a:blip r:embed="rId6"/>
          <a:srcRect l="-424" r="-424"/>
          <a:stretch/>
        </p:blipFill>
        <p:spPr>
          <a:xfrm>
            <a:off x="609905" y="533095"/>
            <a:ext cx="57607" cy="80924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0990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4"/>
          <p:cNvSpPr/>
          <p:nvPr/>
        </p:nvSpPr>
        <p:spPr>
          <a:xfrm>
            <a:off x="60990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4343400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4343400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7"/>
          <p:cNvSpPr/>
          <p:nvPr/>
        </p:nvSpPr>
        <p:spPr>
          <a:xfrm>
            <a:off x="8076895" y="1657807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8"/>
          <p:cNvSpPr/>
          <p:nvPr/>
        </p:nvSpPr>
        <p:spPr>
          <a:xfrm>
            <a:off x="8076895" y="1657807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4343400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343400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076895" y="3571646"/>
            <a:ext cx="3543300" cy="1809598"/>
          </a:xfrm>
          <a:prstGeom prst="roundRect">
            <a:avLst>
              <a:gd name="adj" fmla="val 21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8076895" y="3571646"/>
            <a:ext cx="3543300" cy="38405"/>
          </a:xfrm>
          <a:prstGeom prst="roundRect">
            <a:avLst>
              <a:gd name="adj" fmla="val 99999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609905" y="5619902"/>
            <a:ext cx="10972800" cy="761695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 txBox="1"/>
          <p:nvPr/>
        </p:nvSpPr>
        <p:spPr>
          <a:xfrm>
            <a:off x="819302" y="514807"/>
            <a:ext cx="8572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AI POD</a:t>
            </a:r>
            <a:endParaRPr lang="en-US" sz="1000"/>
          </a:p>
        </p:txBody>
      </p:sp>
      <p:sp>
        <p:nvSpPr>
          <p:cNvPr id="24" name="Text 18"/>
          <p:cNvSpPr txBox="1"/>
          <p:nvPr/>
        </p:nvSpPr>
        <p:spPr>
          <a:xfrm>
            <a:off x="819302" y="705002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WHAT WE HOLD OURSELVES ACCOUNTABLE TO</a:t>
            </a:r>
            <a:endParaRPr lang="en-US" sz="2400" dirty="0"/>
          </a:p>
        </p:txBody>
      </p:sp>
      <p:sp>
        <p:nvSpPr>
          <p:cNvPr id="25" name="Text 19"/>
          <p:cNvSpPr txBox="1"/>
          <p:nvPr/>
        </p:nvSpPr>
        <p:spPr>
          <a:xfrm>
            <a:off x="819302" y="1146658"/>
            <a:ext cx="8572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monthly, governed weekly, escalated immediately.</a:t>
            </a:r>
            <a:endParaRPr lang="en-US" sz="1200" b="1" dirty="0"/>
          </a:p>
        </p:txBody>
      </p:sp>
      <p:sp>
        <p:nvSpPr>
          <p:cNvPr id="26" name="Text 20"/>
          <p:cNvSpPr txBox="1"/>
          <p:nvPr/>
        </p:nvSpPr>
        <p:spPr>
          <a:xfrm>
            <a:off x="76169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85%+</a:t>
            </a:r>
            <a:endParaRPr lang="en-US" sz="2700"/>
          </a:p>
        </p:txBody>
      </p:sp>
      <p:sp>
        <p:nvSpPr>
          <p:cNvPr id="27" name="Text 21"/>
          <p:cNvSpPr txBox="1"/>
          <p:nvPr/>
        </p:nvSpPr>
        <p:spPr>
          <a:xfrm>
            <a:off x="76169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Sprint Completion</a:t>
            </a:r>
            <a:endParaRPr lang="en-US" sz="1000"/>
          </a:p>
        </p:txBody>
      </p:sp>
      <p:sp>
        <p:nvSpPr>
          <p:cNvPr id="28" name="Text 22"/>
          <p:cNvSpPr txBox="1"/>
          <p:nvPr/>
        </p:nvSpPr>
        <p:spPr>
          <a:xfrm>
            <a:off x="76169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Tracked weekly. Below 80% triggers immediate escalation to Practice Head.</a:t>
            </a:r>
            <a:endParaRPr lang="en-US" sz="900"/>
          </a:p>
        </p:txBody>
      </p:sp>
      <p:sp>
        <p:nvSpPr>
          <p:cNvPr id="29" name="Text 23"/>
          <p:cNvSpPr txBox="1"/>
          <p:nvPr/>
        </p:nvSpPr>
        <p:spPr>
          <a:xfrm>
            <a:off x="4496105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&lt;=0.5</a:t>
            </a:r>
            <a:endParaRPr lang="en-US" sz="2700"/>
          </a:p>
        </p:txBody>
      </p:sp>
      <p:sp>
        <p:nvSpPr>
          <p:cNvPr id="30" name="Text 24"/>
          <p:cNvSpPr txBox="1"/>
          <p:nvPr/>
        </p:nvSpPr>
        <p:spPr>
          <a:xfrm>
            <a:off x="4496105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Defect Density</a:t>
            </a:r>
            <a:endParaRPr lang="en-US" sz="1000"/>
          </a:p>
        </p:txBody>
      </p:sp>
      <p:sp>
        <p:nvSpPr>
          <p:cNvPr id="31" name="Text 25"/>
          <p:cNvSpPr txBox="1"/>
          <p:nvPr/>
        </p:nvSpPr>
        <p:spPr>
          <a:xfrm>
            <a:off x="4496105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Code quality benchmark (per KLOC). Reviewed at monthly performance scorecard.</a:t>
            </a:r>
            <a:endParaRPr lang="en-US" sz="900"/>
          </a:p>
        </p:txBody>
      </p:sp>
      <p:sp>
        <p:nvSpPr>
          <p:cNvPr id="32" name="Text 26"/>
          <p:cNvSpPr txBox="1"/>
          <p:nvPr/>
        </p:nvSpPr>
        <p:spPr>
          <a:xfrm>
            <a:off x="8229600" y="1772107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10-Day</a:t>
            </a:r>
            <a:endParaRPr lang="en-US" sz="2700"/>
          </a:p>
        </p:txBody>
      </p:sp>
      <p:sp>
        <p:nvSpPr>
          <p:cNvPr id="33" name="Text 27"/>
          <p:cNvSpPr txBox="1"/>
          <p:nvPr/>
        </p:nvSpPr>
        <p:spPr>
          <a:xfrm>
            <a:off x="8229600" y="2187245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Onboarding</a:t>
            </a:r>
            <a:endParaRPr lang="en-US" sz="1000"/>
          </a:p>
        </p:txBody>
      </p:sp>
      <p:sp>
        <p:nvSpPr>
          <p:cNvPr id="34" name="Text 28"/>
          <p:cNvSpPr txBox="1"/>
          <p:nvPr/>
        </p:nvSpPr>
        <p:spPr>
          <a:xfrm>
            <a:off x="8229600" y="2415845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engineers contributing to sprint by Day 10 via GenAI knowledge repo.</a:t>
            </a:r>
            <a:endParaRPr lang="en-US" sz="900"/>
          </a:p>
        </p:txBody>
      </p:sp>
      <p:sp>
        <p:nvSpPr>
          <p:cNvPr id="35" name="Text 29"/>
          <p:cNvSpPr txBox="1"/>
          <p:nvPr/>
        </p:nvSpPr>
        <p:spPr>
          <a:xfrm>
            <a:off x="76169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90-Day</a:t>
            </a:r>
            <a:endParaRPr lang="en-US" sz="2700"/>
          </a:p>
        </p:txBody>
      </p:sp>
      <p:sp>
        <p:nvSpPr>
          <p:cNvPr id="36" name="Text 30"/>
          <p:cNvSpPr txBox="1"/>
          <p:nvPr/>
        </p:nvSpPr>
        <p:spPr>
          <a:xfrm>
            <a:off x="76169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POFU</a:t>
            </a:r>
            <a:endParaRPr lang="en-US" sz="1000"/>
          </a:p>
        </p:txBody>
      </p:sp>
      <p:sp>
        <p:nvSpPr>
          <p:cNvPr id="37" name="Text 31"/>
          <p:cNvSpPr txBox="1"/>
          <p:nvPr/>
        </p:nvSpPr>
        <p:spPr>
          <a:xfrm>
            <a:off x="76169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Post-Offer Follow-Up management. Milestone touchpoints ensure offer dropout stays in single digits.</a:t>
            </a:r>
            <a:endParaRPr lang="en-US" sz="900"/>
          </a:p>
        </p:txBody>
      </p:sp>
      <p:sp>
        <p:nvSpPr>
          <p:cNvPr id="38" name="Text 32"/>
          <p:cNvSpPr txBox="1"/>
          <p:nvPr/>
        </p:nvSpPr>
        <p:spPr>
          <a:xfrm>
            <a:off x="4496105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&lt;5%</a:t>
            </a:r>
            <a:endParaRPr lang="en-US" sz="2700"/>
          </a:p>
        </p:txBody>
      </p:sp>
      <p:sp>
        <p:nvSpPr>
          <p:cNvPr id="39" name="Text 33"/>
          <p:cNvSpPr txBox="1"/>
          <p:nvPr/>
        </p:nvSpPr>
        <p:spPr>
          <a:xfrm>
            <a:off x="4496105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Unplanned Carryover</a:t>
            </a:r>
            <a:endParaRPr lang="en-US" sz="1000"/>
          </a:p>
        </p:txBody>
      </p:sp>
      <p:sp>
        <p:nvSpPr>
          <p:cNvPr id="40" name="Text 34"/>
          <p:cNvSpPr txBox="1"/>
          <p:nvPr/>
        </p:nvSpPr>
        <p:spPr>
          <a:xfrm>
            <a:off x="4496105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Strict backlog management to ensure sprint commitments are reliably met.</a:t>
            </a:r>
            <a:endParaRPr lang="en-US" sz="900"/>
          </a:p>
        </p:txBody>
      </p:sp>
      <p:sp>
        <p:nvSpPr>
          <p:cNvPr id="41" name="Text 35"/>
          <p:cNvSpPr txBox="1"/>
          <p:nvPr/>
        </p:nvSpPr>
        <p:spPr>
          <a:xfrm>
            <a:off x="8229600" y="3685946"/>
            <a:ext cx="3200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>
                <a:solidFill>
                  <a:srgbClr val="D62839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100%</a:t>
            </a:r>
            <a:endParaRPr lang="en-US" sz="2700"/>
          </a:p>
        </p:txBody>
      </p:sp>
      <p:sp>
        <p:nvSpPr>
          <p:cNvPr id="42" name="Text 36"/>
          <p:cNvSpPr txBox="1"/>
          <p:nvPr/>
        </p:nvSpPr>
        <p:spPr>
          <a:xfrm>
            <a:off x="8229600" y="4101084"/>
            <a:ext cx="32004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Governance Cadence Adherence</a:t>
            </a:r>
            <a:endParaRPr lang="en-US" sz="1000"/>
          </a:p>
        </p:txBody>
      </p:sp>
      <p:sp>
        <p:nvSpPr>
          <p:cNvPr id="43" name="Text 37"/>
          <p:cNvSpPr txBox="1"/>
          <p:nvPr/>
        </p:nvSpPr>
        <p:spPr>
          <a:xfrm>
            <a:off x="8229600" y="4329684"/>
            <a:ext cx="32004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Mandatory participation in standups, sprint reviews, and quarterly ROI QBRs.</a:t>
            </a:r>
            <a:endParaRPr lang="en-US" sz="900"/>
          </a:p>
        </p:txBody>
      </p:sp>
      <p:sp>
        <p:nvSpPr>
          <p:cNvPr id="44" name="Text 38"/>
          <p:cNvSpPr txBox="1"/>
          <p:nvPr/>
        </p:nvSpPr>
        <p:spPr>
          <a:xfrm>
            <a:off x="2202790" y="5880506"/>
            <a:ext cx="77916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These metrics convert pods from staffing cost centers into predictable delivery engines.</a:t>
            </a: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181587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6FEC-3F04-EFFB-9494-939530E6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C26CA67-5AC5-033E-F7C6-8741632D395F}"/>
              </a:ext>
            </a:extLst>
          </p:cNvPr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gen-dedup-4ab2116e971fbb9400d0e99205bd0390.png">
            <a:extLst>
              <a:ext uri="{FF2B5EF4-FFF2-40B4-BE49-F238E27FC236}">
                <a16:creationId xmlns:a16="http://schemas.microsoft.com/office/drawing/2014/main" id="{08E93300-66C1-83DC-0D75-3663638B54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</a:blip>
          <a:srcRect/>
          <a:stretch/>
        </p:blipFill>
        <p:spPr>
          <a:xfrm>
            <a:off x="10001707" y="5238598"/>
            <a:ext cx="1904695" cy="1904695"/>
          </a:xfrm>
          <a:prstGeom prst="rect">
            <a:avLst/>
          </a:prstGeom>
        </p:spPr>
      </p:pic>
      <p:pic>
        <p:nvPicPr>
          <p:cNvPr id="6" name="Image 1" descr="gen-dedup-323228122ff92d2332e711a84ca3b40c.png">
            <a:extLst>
              <a:ext uri="{FF2B5EF4-FFF2-40B4-BE49-F238E27FC236}">
                <a16:creationId xmlns:a16="http://schemas.microsoft.com/office/drawing/2014/main" id="{F1659A7B-21C5-E18B-E3B3-532B1CAA78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7" name="Image 2" descr="gen-dedup-9663ecf744b06e35d4c2cebaab92a2ea.png">
            <a:extLst>
              <a:ext uri="{FF2B5EF4-FFF2-40B4-BE49-F238E27FC236}">
                <a16:creationId xmlns:a16="http://schemas.microsoft.com/office/drawing/2014/main" id="{787AB771-F031-FC72-9428-7C4E26C420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sp>
        <p:nvSpPr>
          <p:cNvPr id="8" name="Text 3">
            <a:extLst>
              <a:ext uri="{FF2B5EF4-FFF2-40B4-BE49-F238E27FC236}">
                <a16:creationId xmlns:a16="http://schemas.microsoft.com/office/drawing/2014/main" id="{8B088AAD-A287-6BD5-6078-F68C935297D8}"/>
              </a:ext>
            </a:extLst>
          </p:cNvPr>
          <p:cNvSpPr txBox="1"/>
          <p:nvPr/>
        </p:nvSpPr>
        <p:spPr>
          <a:xfrm>
            <a:off x="381305" y="1143000"/>
            <a:ext cx="2382012" cy="152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0" b="1">
                <a:solidFill>
                  <a:srgbClr val="F3F4F6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12000"/>
          </a:p>
        </p:txBody>
      </p:sp>
      <p:pic>
        <p:nvPicPr>
          <p:cNvPr id="11" name="Image 3" descr="gen-dedup-90395934058aa4b7c1bff00d7e70c0a4.png">
            <a:extLst>
              <a:ext uri="{FF2B5EF4-FFF2-40B4-BE49-F238E27FC236}">
                <a16:creationId xmlns:a16="http://schemas.microsoft.com/office/drawing/2014/main" id="{796B9E8C-F151-F8F0-BEDC-37F1FA0B5F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16" r="-416"/>
          <a:stretch/>
        </p:blipFill>
        <p:spPr>
          <a:xfrm>
            <a:off x="1143000" y="2428646"/>
            <a:ext cx="57607" cy="714146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493B0B9E-4EAF-B775-BD2D-124ECC0CC2B7}"/>
              </a:ext>
            </a:extLst>
          </p:cNvPr>
          <p:cNvSpPr txBox="1"/>
          <p:nvPr/>
        </p:nvSpPr>
        <p:spPr>
          <a:xfrm>
            <a:off x="1429207" y="2333549"/>
            <a:ext cx="9525305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108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1E95E23-50BF-2585-6188-7EA29589DA1C}"/>
              </a:ext>
            </a:extLst>
          </p:cNvPr>
          <p:cNvSpPr txBox="1"/>
          <p:nvPr/>
        </p:nvSpPr>
        <p:spPr>
          <a:xfrm>
            <a:off x="1429207" y="3333902"/>
            <a:ext cx="9127033" cy="17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Outcome-owned delivery across your most critical enterprise stacks - </a:t>
            </a:r>
          </a:p>
          <a:p>
            <a:pPr marL="0" indent="0" algn="l">
              <a:buNone/>
            </a:pPr>
            <a:r>
              <a:rPr lang="en-US" sz="2100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 own the SLOs, not just the seats.</a:t>
            </a: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852004E-001E-9611-F364-77841D88018F}"/>
              </a:ext>
            </a:extLst>
          </p:cNvPr>
          <p:cNvSpPr txBox="1"/>
          <p:nvPr/>
        </p:nvSpPr>
        <p:spPr>
          <a:xfrm>
            <a:off x="1429207" y="4143146"/>
            <a:ext cx="93351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not a staffing engagement with a governance wrapper. We bring pre-built accelerators, embedded domain expertise, and a hard 40% improvement threshold - so every engagement moves a metric, not just a milestone.</a:t>
            </a:r>
            <a:endParaRPr lang="en-US" sz="1300"/>
          </a:p>
        </p:txBody>
      </p:sp>
      <p:pic>
        <p:nvPicPr>
          <p:cNvPr id="15" name="Image 4" descr="gen-dedup-818c62191cf4a66fb5704c7f87e3fedf.png">
            <a:extLst>
              <a:ext uri="{FF2B5EF4-FFF2-40B4-BE49-F238E27FC236}">
                <a16:creationId xmlns:a16="http://schemas.microsoft.com/office/drawing/2014/main" id="{E8F83646-DE63-E358-1F6F-53BDCE9C51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66" r="-166"/>
          <a:stretch/>
        </p:blipFill>
        <p:spPr>
          <a:xfrm>
            <a:off x="1429207" y="5143500"/>
            <a:ext cx="1933956" cy="418795"/>
          </a:xfrm>
          <a:prstGeom prst="rect">
            <a:avLst/>
          </a:prstGeom>
        </p:spPr>
      </p:pic>
      <p:sp>
        <p:nvSpPr>
          <p:cNvPr id="16" name="Shape 9">
            <a:extLst>
              <a:ext uri="{FF2B5EF4-FFF2-40B4-BE49-F238E27FC236}">
                <a16:creationId xmlns:a16="http://schemas.microsoft.com/office/drawing/2014/main" id="{F371CEAE-1742-792F-2C3C-3EE3A14928CC}"/>
              </a:ext>
            </a:extLst>
          </p:cNvPr>
          <p:cNvSpPr/>
          <p:nvPr/>
        </p:nvSpPr>
        <p:spPr>
          <a:xfrm>
            <a:off x="1429207" y="5143500"/>
            <a:ext cx="19339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A4DB6210-1039-8E9B-BA17-6D3D6EDB4D79}"/>
              </a:ext>
            </a:extLst>
          </p:cNvPr>
          <p:cNvSpPr txBox="1"/>
          <p:nvPr/>
        </p:nvSpPr>
        <p:spPr>
          <a:xfrm>
            <a:off x="1653845" y="5143500"/>
            <a:ext cx="14959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solution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accelerators</a:t>
            </a:r>
            <a:endParaRPr lang="en-US" sz="1100"/>
          </a:p>
        </p:txBody>
      </p:sp>
      <p:pic>
        <p:nvPicPr>
          <p:cNvPr id="18" name="Image 5" descr="gen-dedup-a287ae7abd092c83dc5f899415c51d00.png">
            <a:extLst>
              <a:ext uri="{FF2B5EF4-FFF2-40B4-BE49-F238E27FC236}">
                <a16:creationId xmlns:a16="http://schemas.microsoft.com/office/drawing/2014/main" id="{B8EBDEE0-CA2B-2977-B786-BF2F31C196A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-16800" b="-16800"/>
          <a:stretch/>
        </p:blipFill>
        <p:spPr>
          <a:xfrm>
            <a:off x="1657807" y="5277002"/>
            <a:ext cx="114300" cy="152705"/>
          </a:xfrm>
          <a:prstGeom prst="rect">
            <a:avLst/>
          </a:prstGeom>
        </p:spPr>
      </p:pic>
      <p:pic>
        <p:nvPicPr>
          <p:cNvPr id="19" name="Image 6" descr="gen-dedup-0363cb9fbb55bfd8aa96459f99cffd70.png">
            <a:extLst>
              <a:ext uri="{FF2B5EF4-FFF2-40B4-BE49-F238E27FC236}">
                <a16:creationId xmlns:a16="http://schemas.microsoft.com/office/drawing/2014/main" id="{70961C1D-5594-5681-CAB0-8FC218329E9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0" r="-260"/>
          <a:stretch/>
        </p:blipFill>
        <p:spPr>
          <a:xfrm>
            <a:off x="3510382" y="5143500"/>
            <a:ext cx="2430170" cy="418795"/>
          </a:xfrm>
          <a:prstGeom prst="rect">
            <a:avLst/>
          </a:prstGeom>
        </p:spPr>
      </p:pic>
      <p:sp>
        <p:nvSpPr>
          <p:cNvPr id="20" name="Shape 11">
            <a:extLst>
              <a:ext uri="{FF2B5EF4-FFF2-40B4-BE49-F238E27FC236}">
                <a16:creationId xmlns:a16="http://schemas.microsoft.com/office/drawing/2014/main" id="{457818EF-B619-D54A-AD34-A2E5256A6011}"/>
              </a:ext>
            </a:extLst>
          </p:cNvPr>
          <p:cNvSpPr/>
          <p:nvPr/>
        </p:nvSpPr>
        <p:spPr>
          <a:xfrm>
            <a:off x="3510382" y="5143500"/>
            <a:ext cx="2430170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F4429C0E-1902-5910-9BDD-8ABBCB86B1EB}"/>
              </a:ext>
            </a:extLst>
          </p:cNvPr>
          <p:cNvSpPr txBox="1"/>
          <p:nvPr/>
        </p:nvSpPr>
        <p:spPr>
          <a:xfrm>
            <a:off x="3735018" y="5143500"/>
            <a:ext cx="1740567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&amp; Data, QE, SAP,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ServiceNow &amp; industry stacks</a:t>
            </a:r>
            <a:endParaRPr lang="en-US" sz="1100"/>
          </a:p>
        </p:txBody>
      </p:sp>
      <p:pic>
        <p:nvPicPr>
          <p:cNvPr id="22" name="Image 7" descr="gen-dedup-c395ac9c840728d6470a4a8b33662e6e.png">
            <a:extLst>
              <a:ext uri="{FF2B5EF4-FFF2-40B4-BE49-F238E27FC236}">
                <a16:creationId xmlns:a16="http://schemas.microsoft.com/office/drawing/2014/main" id="{04CB1D1A-103F-1623-0D66-FF28427C6C4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-16800" b="-16800"/>
          <a:stretch/>
        </p:blipFill>
        <p:spPr>
          <a:xfrm>
            <a:off x="3738981" y="5277002"/>
            <a:ext cx="179959" cy="152705"/>
          </a:xfrm>
          <a:prstGeom prst="rect">
            <a:avLst/>
          </a:prstGeom>
        </p:spPr>
      </p:pic>
      <p:pic>
        <p:nvPicPr>
          <p:cNvPr id="23" name="Image 8" descr="gen-dedup-fe10f786880821f62e6e2a70ff719369.png">
            <a:extLst>
              <a:ext uri="{FF2B5EF4-FFF2-40B4-BE49-F238E27FC236}">
                <a16:creationId xmlns:a16="http://schemas.microsoft.com/office/drawing/2014/main" id="{5B947CD5-F90B-9E4C-3474-D5534455F9E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58" r="-58"/>
          <a:stretch/>
        </p:blipFill>
        <p:spPr>
          <a:xfrm>
            <a:off x="6080150" y="5143500"/>
            <a:ext cx="2619756" cy="418795"/>
          </a:xfrm>
          <a:prstGeom prst="rect">
            <a:avLst/>
          </a:prstGeom>
        </p:spPr>
      </p:pic>
      <p:sp>
        <p:nvSpPr>
          <p:cNvPr id="24" name="Shape 13">
            <a:extLst>
              <a:ext uri="{FF2B5EF4-FFF2-40B4-BE49-F238E27FC236}">
                <a16:creationId xmlns:a16="http://schemas.microsoft.com/office/drawing/2014/main" id="{1F6B1423-0E90-CE64-5BD3-9705DDC9D739}"/>
              </a:ext>
            </a:extLst>
          </p:cNvPr>
          <p:cNvSpPr/>
          <p:nvPr/>
        </p:nvSpPr>
        <p:spPr>
          <a:xfrm>
            <a:off x="6080150" y="5143500"/>
            <a:ext cx="2619756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F7B60D6-7803-AB8C-3D29-B56F3A615CAE}"/>
              </a:ext>
            </a:extLst>
          </p:cNvPr>
          <p:cNvSpPr txBox="1"/>
          <p:nvPr/>
        </p:nvSpPr>
        <p:spPr>
          <a:xfrm>
            <a:off x="6304788" y="5143500"/>
            <a:ext cx="2181758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 SLOs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not rigid headcount</a:t>
            </a:r>
            <a:endParaRPr lang="en-US" sz="1100"/>
          </a:p>
        </p:txBody>
      </p:sp>
      <p:pic>
        <p:nvPicPr>
          <p:cNvPr id="26" name="Image 9" descr="gen-dedup-7637b076e607f7218cdb4973c81f38e6.png">
            <a:extLst>
              <a:ext uri="{FF2B5EF4-FFF2-40B4-BE49-F238E27FC236}">
                <a16:creationId xmlns:a16="http://schemas.microsoft.com/office/drawing/2014/main" id="{9A3BB248-7EFA-E322-7669-BBCFE825832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8450" b="-8450"/>
          <a:stretch/>
        </p:blipFill>
        <p:spPr>
          <a:xfrm>
            <a:off x="6308750" y="5277002"/>
            <a:ext cx="114300" cy="152705"/>
          </a:xfrm>
          <a:prstGeom prst="rect">
            <a:avLst/>
          </a:prstGeom>
        </p:spPr>
      </p:pic>
      <p:pic>
        <p:nvPicPr>
          <p:cNvPr id="27" name="Image 10" descr="gen-dedup-4b04481605890cd5e2948f325621428b.png">
            <a:extLst>
              <a:ext uri="{FF2B5EF4-FFF2-40B4-BE49-F238E27FC236}">
                <a16:creationId xmlns:a16="http://schemas.microsoft.com/office/drawing/2014/main" id="{53B8E985-0D54-46C0-B850-F55F0F43B24D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216" r="-216"/>
          <a:stretch/>
        </p:blipFill>
        <p:spPr>
          <a:xfrm>
            <a:off x="8850782" y="5143500"/>
            <a:ext cx="2562149" cy="418795"/>
          </a:xfrm>
          <a:prstGeom prst="rect">
            <a:avLst/>
          </a:prstGeom>
        </p:spPr>
      </p:pic>
      <p:sp>
        <p:nvSpPr>
          <p:cNvPr id="28" name="Shape 15">
            <a:extLst>
              <a:ext uri="{FF2B5EF4-FFF2-40B4-BE49-F238E27FC236}">
                <a16:creationId xmlns:a16="http://schemas.microsoft.com/office/drawing/2014/main" id="{E9A59155-F9A1-AD80-A65B-F9ECD10439EE}"/>
              </a:ext>
            </a:extLst>
          </p:cNvPr>
          <p:cNvSpPr/>
          <p:nvPr/>
        </p:nvSpPr>
        <p:spPr>
          <a:xfrm>
            <a:off x="8850782" y="5143500"/>
            <a:ext cx="2562149" cy="418795"/>
          </a:xfrm>
          <a:prstGeom prst="roundRect">
            <a:avLst>
              <a:gd name="adj" fmla="val 1375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BE549BED-29A0-2ADD-A972-CA7D06BA8631}"/>
              </a:ext>
            </a:extLst>
          </p:cNvPr>
          <p:cNvSpPr txBox="1"/>
          <p:nvPr/>
        </p:nvSpPr>
        <p:spPr>
          <a:xfrm>
            <a:off x="9075420" y="5143500"/>
            <a:ext cx="2125066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14300" rIns="190500" bIns="114300" rtlCol="0" anchor="ctr"/>
          <a:lstStyle/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 - </a:t>
            </a:r>
          </a:p>
          <a:p>
            <a:pPr marL="0" indent="0" algn="l">
              <a:buNone/>
            </a:pPr>
            <a:r>
              <a:rPr lang="en-US" sz="11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our standard</a:t>
            </a:r>
            <a:endParaRPr lang="en-US" sz="1100"/>
          </a:p>
        </p:txBody>
      </p:sp>
      <p:pic>
        <p:nvPicPr>
          <p:cNvPr id="30" name="Image 11" descr="gen-dedup-de4cb59b8211160ed90cebf7a454cebf.png">
            <a:extLst>
              <a:ext uri="{FF2B5EF4-FFF2-40B4-BE49-F238E27FC236}">
                <a16:creationId xmlns:a16="http://schemas.microsoft.com/office/drawing/2014/main" id="{3B400595-3ACA-18C0-3A49-7171B2960EC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16800" b="-16800"/>
          <a:stretch/>
        </p:blipFill>
        <p:spPr>
          <a:xfrm>
            <a:off x="9079382" y="5277002"/>
            <a:ext cx="114300" cy="152705"/>
          </a:xfrm>
          <a:prstGeom prst="rect">
            <a:avLst/>
          </a:prstGeom>
        </p:spPr>
      </p:pic>
      <p:sp>
        <p:nvSpPr>
          <p:cNvPr id="31" name="Shape 17">
            <a:extLst>
              <a:ext uri="{FF2B5EF4-FFF2-40B4-BE49-F238E27FC236}">
                <a16:creationId xmlns:a16="http://schemas.microsoft.com/office/drawing/2014/main" id="{3EAF0254-0893-8027-5616-80FDE995E4DA}"/>
              </a:ext>
            </a:extLst>
          </p:cNvPr>
          <p:cNvSpPr/>
          <p:nvPr/>
        </p:nvSpPr>
        <p:spPr>
          <a:xfrm>
            <a:off x="1143000" y="6096305"/>
            <a:ext cx="9905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166FB85-E816-D8A3-12F5-2636818EBBCD}"/>
              </a:ext>
            </a:extLst>
          </p:cNvPr>
          <p:cNvSpPr txBox="1"/>
          <p:nvPr/>
        </p:nvSpPr>
        <p:spPr>
          <a:xfrm>
            <a:off x="1143000" y="6258154"/>
            <a:ext cx="99066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4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Turn your most complex enterprise operations into a competitive advantage - with outcomes we sign off on.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625895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323228122ff92d2332e711a84ca3b40c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8127187" cy="75895"/>
          </a:xfrm>
          <a:prstGeom prst="rect">
            <a:avLst/>
          </a:prstGeom>
        </p:spPr>
      </p:pic>
      <p:pic>
        <p:nvPicPr>
          <p:cNvPr id="5" name="Image 1" descr="gen-dedup-64882feb7a832238af77b962fc7a8538.png"/>
          <p:cNvPicPr>
            <a:picLocks noChangeAspect="1"/>
          </p:cNvPicPr>
          <p:nvPr/>
        </p:nvPicPr>
        <p:blipFill>
          <a:blip r:embed="rId4"/>
          <a:srcRect l="-203" r="-203"/>
          <a:stretch/>
        </p:blipFill>
        <p:spPr>
          <a:xfrm>
            <a:off x="8127187" y="0"/>
            <a:ext cx="406359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905695" y="-571500"/>
            <a:ext cx="2857500" cy="2857500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gen-dedup-6da70c599291e253314366a10c094ffa.png"/>
          <p:cNvPicPr>
            <a:picLocks noChangeAspect="1"/>
          </p:cNvPicPr>
          <p:nvPr/>
        </p:nvPicPr>
        <p:blipFill>
          <a:blip r:embed="rId5">
            <a:alphaModFix amt="15000"/>
          </a:blip>
          <a:srcRect/>
          <a:stretch/>
        </p:blipFill>
        <p:spPr>
          <a:xfrm>
            <a:off x="381305" y="1143000"/>
            <a:ext cx="1429207" cy="1429207"/>
          </a:xfrm>
          <a:prstGeom prst="rect">
            <a:avLst/>
          </a:prstGeom>
        </p:spPr>
      </p:pic>
      <p:pic>
        <p:nvPicPr>
          <p:cNvPr id="8" name="Image 3" descr="gen-dedup-c72c85b07e3f177762516dd89615ea68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09905" y="544982"/>
            <a:ext cx="75895" cy="476402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875995" y="381305"/>
            <a:ext cx="7105802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82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Managed Service Solutions</a:t>
            </a:r>
            <a:endParaRPr lang="en-US" sz="2400" dirty="0"/>
          </a:p>
        </p:txBody>
      </p:sp>
      <p:sp>
        <p:nvSpPr>
          <p:cNvPr id="10" name="Text 4"/>
          <p:cNvSpPr txBox="1"/>
          <p:nvPr/>
        </p:nvSpPr>
        <p:spPr>
          <a:xfrm>
            <a:off x="875995" y="898855"/>
            <a:ext cx="7791602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Outcome-bound Delivery - Not Just A Vendor With A Statement Of Work.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1524305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609905" y="1524305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9"/>
          <p:cNvSpPr/>
          <p:nvPr/>
        </p:nvSpPr>
        <p:spPr>
          <a:xfrm>
            <a:off x="609905" y="2699308"/>
            <a:ext cx="5524805" cy="1028700"/>
          </a:xfrm>
          <a:prstGeom prst="roundRect">
            <a:avLst>
              <a:gd name="adj" fmla="val 131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609905" y="2699308"/>
            <a:ext cx="38405" cy="1028700"/>
          </a:xfrm>
          <a:prstGeom prst="roundRect">
            <a:avLst>
              <a:gd name="adj" fmla="val 35273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609905" y="3823105"/>
            <a:ext cx="5524805" cy="1162202"/>
          </a:xfrm>
          <a:prstGeom prst="roundRect">
            <a:avLst>
              <a:gd name="adj" fmla="val 1031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09905" y="3823105"/>
            <a:ext cx="38405" cy="1162202"/>
          </a:xfrm>
          <a:prstGeom prst="roundRect">
            <a:avLst>
              <a:gd name="adj" fmla="val 31225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381598" y="1524305"/>
            <a:ext cx="5201107" cy="4572000"/>
          </a:xfrm>
          <a:prstGeom prst="roundRect">
            <a:avLst>
              <a:gd name="adj" fmla="val 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391656" y="1533449"/>
            <a:ext cx="5181905" cy="552298"/>
          </a:xfrm>
          <a:prstGeom prst="roundRect">
            <a:avLst>
              <a:gd name="adj" fmla="val 45672"/>
            </a:avLst>
          </a:prstGeom>
          <a:solidFill>
            <a:srgbClr val="1F293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 txBox="1"/>
          <p:nvPr/>
        </p:nvSpPr>
        <p:spPr>
          <a:xfrm>
            <a:off x="6543446" y="1593692"/>
            <a:ext cx="48774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Service Model Comparison</a:t>
            </a:r>
            <a:endParaRPr lang="en-US" sz="1100"/>
          </a:p>
        </p:txBody>
      </p:sp>
      <p:sp>
        <p:nvSpPr>
          <p:cNvPr id="22" name="Shape 16"/>
          <p:cNvSpPr/>
          <p:nvPr/>
        </p:nvSpPr>
        <p:spPr>
          <a:xfrm>
            <a:off x="609905" y="6229807"/>
            <a:ext cx="10972800" cy="437998"/>
          </a:xfrm>
          <a:prstGeom prst="roundRect">
            <a:avLst>
              <a:gd name="adj" fmla="val 36307"/>
            </a:avLst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609905" y="6229807"/>
            <a:ext cx="38405" cy="437998"/>
          </a:xfrm>
          <a:prstGeom prst="roundRect">
            <a:avLst>
              <a:gd name="adj" fmla="val 414077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 txBox="1"/>
          <p:nvPr/>
        </p:nvSpPr>
        <p:spPr>
          <a:xfrm>
            <a:off x="981151" y="16386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Solution Accelerators</a:t>
            </a:r>
            <a:endParaRPr lang="en-US" sz="1400"/>
          </a:p>
        </p:txBody>
      </p:sp>
      <p:sp>
        <p:nvSpPr>
          <p:cNvPr id="25" name="Text 19"/>
          <p:cNvSpPr txBox="1"/>
          <p:nvPr/>
        </p:nvSpPr>
        <p:spPr>
          <a:xfrm>
            <a:off x="761695" y="1950415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pre-built accelerators across SAP, ServiceNow, Salesforce, and industry stacks - deployed fast, customized to fit, never forced.</a:t>
            </a:r>
            <a:endParaRPr lang="en-US" sz="1100"/>
          </a:p>
        </p:txBody>
      </p:sp>
      <p:pic>
        <p:nvPicPr>
          <p:cNvPr id="26" name="Image 4" descr="gen-dedup-aaaf743a9627457c5a8ecc39eba03c50.png"/>
          <p:cNvPicPr>
            <a:picLocks noChangeAspect="1"/>
          </p:cNvPicPr>
          <p:nvPr/>
        </p:nvPicPr>
        <p:blipFill>
          <a:blip r:embed="rId7"/>
          <a:srcRect t="-13462" b="-13462"/>
          <a:stretch/>
        </p:blipFill>
        <p:spPr>
          <a:xfrm>
            <a:off x="761695" y="1689811"/>
            <a:ext cx="142646" cy="18105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1151" y="2813608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Cross-Function Coverage</a:t>
            </a:r>
            <a:endParaRPr lang="en-US" sz="1400"/>
          </a:p>
        </p:txBody>
      </p:sp>
      <p:sp>
        <p:nvSpPr>
          <p:cNvPr id="31" name="Text 23"/>
          <p:cNvSpPr txBox="1"/>
          <p:nvPr/>
        </p:nvSpPr>
        <p:spPr>
          <a:xfrm>
            <a:off x="761695" y="3125418"/>
            <a:ext cx="522031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AI CoE and Data CoE to Digital Engineering, Quality, and Cybersecurity - we operate across the full enterprise function map, not just the easy wins.</a:t>
            </a:r>
            <a:endParaRPr lang="en-US" sz="1100"/>
          </a:p>
        </p:txBody>
      </p:sp>
      <p:pic>
        <p:nvPicPr>
          <p:cNvPr id="32" name="Image 6" descr="gen-dedup-f27d894a2aa16499d7ef79199ddd11dd.png"/>
          <p:cNvPicPr>
            <a:picLocks noChangeAspect="1"/>
          </p:cNvPicPr>
          <p:nvPr/>
        </p:nvPicPr>
        <p:blipFill>
          <a:blip r:embed="rId8"/>
          <a:srcRect t="-21395" b="-21395"/>
          <a:stretch/>
        </p:blipFill>
        <p:spPr>
          <a:xfrm>
            <a:off x="761695" y="2864814"/>
            <a:ext cx="142646" cy="181051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81151" y="3937405"/>
            <a:ext cx="5000854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Proven ROI, Not Projections</a:t>
            </a:r>
            <a:endParaRPr lang="en-US" sz="1400"/>
          </a:p>
        </p:txBody>
      </p:sp>
      <p:sp>
        <p:nvSpPr>
          <p:cNvPr id="34" name="Text 25"/>
          <p:cNvSpPr txBox="1"/>
          <p:nvPr/>
        </p:nvSpPr>
        <p:spPr>
          <a:xfrm>
            <a:off x="761695" y="4249216"/>
            <a:ext cx="5220310" cy="581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accelerator comes with a benchmark from prior deployments. 80% reduction in reporting effort. 55% faster month-end close. 65% faster testing cycles. Numbers you inherit, not numbers we promise.</a:t>
            </a:r>
            <a:endParaRPr lang="en-US" sz="1100"/>
          </a:p>
        </p:txBody>
      </p:sp>
      <p:pic>
        <p:nvPicPr>
          <p:cNvPr id="35" name="Image 7" descr="gen-dedup-0d12da8ebc0b959d48949b1e6044d332.png"/>
          <p:cNvPicPr>
            <a:picLocks noChangeAspect="1"/>
          </p:cNvPicPr>
          <p:nvPr/>
        </p:nvPicPr>
        <p:blipFill>
          <a:blip r:embed="rId9"/>
          <a:srcRect t="-13462" b="-13462"/>
          <a:stretch/>
        </p:blipFill>
        <p:spPr>
          <a:xfrm>
            <a:off x="761695" y="3988612"/>
            <a:ext cx="142646" cy="181051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381598" y="1952244"/>
            <a:ext cx="5201107" cy="599846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6381598" y="2532888"/>
            <a:ext cx="5201107" cy="1920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 txBox="1"/>
          <p:nvPr/>
        </p:nvSpPr>
        <p:spPr>
          <a:xfrm>
            <a:off x="6534302" y="2048256"/>
            <a:ext cx="122895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4B556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Dimension</a:t>
            </a:r>
            <a:endParaRPr lang="en-US" sz="1000"/>
          </a:p>
        </p:txBody>
      </p:sp>
      <p:sp>
        <p:nvSpPr>
          <p:cNvPr id="39" name="Text 29"/>
          <p:cNvSpPr txBox="1"/>
          <p:nvPr/>
        </p:nvSpPr>
        <p:spPr>
          <a:xfrm>
            <a:off x="7757770" y="2048256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Traditional Managed Services</a:t>
            </a:r>
            <a:endParaRPr lang="en-US" sz="1000"/>
          </a:p>
        </p:txBody>
      </p:sp>
      <p:sp>
        <p:nvSpPr>
          <p:cNvPr id="40" name="Text 30"/>
          <p:cNvSpPr txBox="1"/>
          <p:nvPr/>
        </p:nvSpPr>
        <p:spPr>
          <a:xfrm>
            <a:off x="9471355" y="2048256"/>
            <a:ext cx="19623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J2W Managed Solutions</a:t>
            </a:r>
            <a:endParaRPr lang="en-US" sz="1000"/>
          </a:p>
        </p:txBody>
      </p:sp>
      <p:sp>
        <p:nvSpPr>
          <p:cNvPr id="41" name="Shape 31"/>
          <p:cNvSpPr/>
          <p:nvPr/>
        </p:nvSpPr>
        <p:spPr>
          <a:xfrm>
            <a:off x="6381598" y="3134563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/>
          <p:cNvSpPr txBox="1"/>
          <p:nvPr/>
        </p:nvSpPr>
        <p:spPr>
          <a:xfrm>
            <a:off x="6534302" y="266730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Engagement </a:t>
            </a:r>
          </a:p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</a:t>
            </a:r>
            <a:endParaRPr lang="en-US" sz="1000"/>
          </a:p>
        </p:txBody>
      </p:sp>
      <p:sp>
        <p:nvSpPr>
          <p:cNvPr id="43" name="Text 33"/>
          <p:cNvSpPr txBox="1"/>
          <p:nvPr/>
        </p:nvSpPr>
        <p:spPr>
          <a:xfrm>
            <a:off x="7757770" y="266730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SOW-based, scope-</a:t>
            </a:r>
          </a:p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locked</a:t>
            </a:r>
            <a:endParaRPr lang="en-US" sz="1000"/>
          </a:p>
        </p:txBody>
      </p:sp>
      <p:sp>
        <p:nvSpPr>
          <p:cNvPr id="44" name="Text 34"/>
          <p:cNvSpPr txBox="1"/>
          <p:nvPr/>
        </p:nvSpPr>
        <p:spPr>
          <a:xfrm>
            <a:off x="9471355" y="266730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Outcome-bound, SLO-governed</a:t>
            </a:r>
            <a:endParaRPr lang="en-US" sz="1000"/>
          </a:p>
        </p:txBody>
      </p:sp>
      <p:sp>
        <p:nvSpPr>
          <p:cNvPr id="45" name="Shape 35"/>
          <p:cNvSpPr/>
          <p:nvPr/>
        </p:nvSpPr>
        <p:spPr>
          <a:xfrm>
            <a:off x="6381598" y="3143707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6"/>
          <p:cNvSpPr/>
          <p:nvPr/>
        </p:nvSpPr>
        <p:spPr>
          <a:xfrm>
            <a:off x="6381598" y="372526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 txBox="1"/>
          <p:nvPr/>
        </p:nvSpPr>
        <p:spPr>
          <a:xfrm>
            <a:off x="6534302" y="3258007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Starting Point</a:t>
            </a:r>
            <a:endParaRPr lang="en-US" sz="1000"/>
          </a:p>
        </p:txBody>
      </p:sp>
      <p:sp>
        <p:nvSpPr>
          <p:cNvPr id="48" name="Text 38"/>
          <p:cNvSpPr txBox="1"/>
          <p:nvPr/>
        </p:nvSpPr>
        <p:spPr>
          <a:xfrm>
            <a:off x="7757770" y="3258007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 from scratch</a:t>
            </a:r>
            <a:endParaRPr lang="en-US" sz="1000"/>
          </a:p>
        </p:txBody>
      </p:sp>
      <p:sp>
        <p:nvSpPr>
          <p:cNvPr id="49" name="Text 39"/>
          <p:cNvSpPr txBox="1"/>
          <p:nvPr/>
        </p:nvSpPr>
        <p:spPr>
          <a:xfrm>
            <a:off x="9471355" y="3258007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60+ accelerators, deploy in weeks</a:t>
            </a:r>
            <a:endParaRPr lang="en-US" sz="1000"/>
          </a:p>
        </p:txBody>
      </p:sp>
      <p:sp>
        <p:nvSpPr>
          <p:cNvPr id="50" name="Shape 40"/>
          <p:cNvSpPr/>
          <p:nvPr/>
        </p:nvSpPr>
        <p:spPr>
          <a:xfrm>
            <a:off x="6381598" y="4315054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1"/>
          <p:cNvSpPr txBox="1"/>
          <p:nvPr/>
        </p:nvSpPr>
        <p:spPr>
          <a:xfrm>
            <a:off x="6534302" y="3847795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Performance Standard</a:t>
            </a:r>
            <a:endParaRPr lang="en-US" sz="1000"/>
          </a:p>
        </p:txBody>
      </p:sp>
      <p:sp>
        <p:nvSpPr>
          <p:cNvPr id="52" name="Text 42"/>
          <p:cNvSpPr txBox="1"/>
          <p:nvPr/>
        </p:nvSpPr>
        <p:spPr>
          <a:xfrm>
            <a:off x="7757770" y="3847795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Contractual minimums</a:t>
            </a:r>
            <a:endParaRPr lang="en-US" sz="1000"/>
          </a:p>
        </p:txBody>
      </p:sp>
      <p:sp>
        <p:nvSpPr>
          <p:cNvPr id="53" name="Text 43"/>
          <p:cNvSpPr txBox="1"/>
          <p:nvPr/>
        </p:nvSpPr>
        <p:spPr>
          <a:xfrm>
            <a:off x="9471355" y="3847795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 improvement threshold</a:t>
            </a:r>
            <a:endParaRPr lang="en-US" sz="1000"/>
          </a:p>
        </p:txBody>
      </p:sp>
      <p:sp>
        <p:nvSpPr>
          <p:cNvPr id="54" name="Shape 44"/>
          <p:cNvSpPr/>
          <p:nvPr/>
        </p:nvSpPr>
        <p:spPr>
          <a:xfrm>
            <a:off x="6381598" y="4324198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45"/>
          <p:cNvSpPr/>
          <p:nvPr/>
        </p:nvSpPr>
        <p:spPr>
          <a:xfrm>
            <a:off x="6381598" y="4905756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46"/>
          <p:cNvSpPr txBox="1"/>
          <p:nvPr/>
        </p:nvSpPr>
        <p:spPr>
          <a:xfrm>
            <a:off x="6534302" y="4438498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Coverage</a:t>
            </a:r>
            <a:endParaRPr lang="en-US" sz="1000"/>
          </a:p>
        </p:txBody>
      </p:sp>
      <p:sp>
        <p:nvSpPr>
          <p:cNvPr id="57" name="Text 47"/>
          <p:cNvSpPr txBox="1"/>
          <p:nvPr/>
        </p:nvSpPr>
        <p:spPr>
          <a:xfrm>
            <a:off x="7757770" y="4438498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Single-function specialization</a:t>
            </a:r>
            <a:endParaRPr lang="en-US" sz="1000"/>
          </a:p>
        </p:txBody>
      </p:sp>
      <p:sp>
        <p:nvSpPr>
          <p:cNvPr id="58" name="Text 48"/>
          <p:cNvSpPr txBox="1"/>
          <p:nvPr/>
        </p:nvSpPr>
        <p:spPr>
          <a:xfrm>
            <a:off x="9471355" y="4438498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Cross-stack: SAP, ServiceNow, Salesforce + more</a:t>
            </a:r>
            <a:endParaRPr lang="en-US" sz="1000"/>
          </a:p>
        </p:txBody>
      </p:sp>
      <p:sp>
        <p:nvSpPr>
          <p:cNvPr id="59" name="Shape 49"/>
          <p:cNvSpPr/>
          <p:nvPr/>
        </p:nvSpPr>
        <p:spPr>
          <a:xfrm>
            <a:off x="6381598" y="5496458"/>
            <a:ext cx="52011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0"/>
          <p:cNvSpPr txBox="1"/>
          <p:nvPr/>
        </p:nvSpPr>
        <p:spPr>
          <a:xfrm>
            <a:off x="6534302" y="5029200"/>
            <a:ext cx="1228954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Knowledge Retention</a:t>
            </a:r>
            <a:endParaRPr lang="en-US" sz="1000"/>
          </a:p>
        </p:txBody>
      </p:sp>
      <p:sp>
        <p:nvSpPr>
          <p:cNvPr id="61" name="Text 51"/>
          <p:cNvSpPr txBox="1"/>
          <p:nvPr/>
        </p:nvSpPr>
        <p:spPr>
          <a:xfrm>
            <a:off x="7757770" y="5029200"/>
            <a:ext cx="17145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Exits with the team</a:t>
            </a:r>
            <a:endParaRPr lang="en-US" sz="1000"/>
          </a:p>
        </p:txBody>
      </p:sp>
      <p:sp>
        <p:nvSpPr>
          <p:cNvPr id="62" name="Text 52"/>
          <p:cNvSpPr txBox="1"/>
          <p:nvPr/>
        </p:nvSpPr>
        <p:spPr>
          <a:xfrm>
            <a:off x="9471355" y="5029200"/>
            <a:ext cx="19623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Captured, compounding, stays with you</a:t>
            </a:r>
            <a:endParaRPr lang="en-US" sz="1000"/>
          </a:p>
        </p:txBody>
      </p:sp>
      <p:sp>
        <p:nvSpPr>
          <p:cNvPr id="63" name="Shape 53"/>
          <p:cNvSpPr/>
          <p:nvPr/>
        </p:nvSpPr>
        <p:spPr>
          <a:xfrm>
            <a:off x="6381598" y="5505602"/>
            <a:ext cx="5201107" cy="590702"/>
          </a:xfrm>
          <a:prstGeom prst="rect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4"/>
          <p:cNvSpPr txBox="1"/>
          <p:nvPr/>
        </p:nvSpPr>
        <p:spPr>
          <a:xfrm>
            <a:off x="6534302" y="5619902"/>
            <a:ext cx="1228954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 Readiness</a:t>
            </a:r>
            <a:endParaRPr lang="en-US" sz="1000"/>
          </a:p>
        </p:txBody>
      </p:sp>
      <p:sp>
        <p:nvSpPr>
          <p:cNvPr id="65" name="Text 55"/>
          <p:cNvSpPr txBox="1"/>
          <p:nvPr/>
        </p:nvSpPr>
        <p:spPr>
          <a:xfrm>
            <a:off x="7757770" y="5619902"/>
            <a:ext cx="171450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6B7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Optional add-on</a:t>
            </a:r>
            <a:endParaRPr lang="en-US" sz="1000"/>
          </a:p>
        </p:txBody>
      </p:sp>
      <p:sp>
        <p:nvSpPr>
          <p:cNvPr id="66" name="Text 56"/>
          <p:cNvSpPr txBox="1"/>
          <p:nvPr/>
        </p:nvSpPr>
        <p:spPr>
          <a:xfrm>
            <a:off x="9471355" y="5619902"/>
            <a:ext cx="196230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Embedded from Day 1</a:t>
            </a:r>
            <a:endParaRPr lang="en-US" sz="1000"/>
          </a:p>
        </p:txBody>
      </p:sp>
      <p:sp>
        <p:nvSpPr>
          <p:cNvPr id="67" name="Text 57"/>
          <p:cNvSpPr txBox="1"/>
          <p:nvPr/>
        </p:nvSpPr>
        <p:spPr>
          <a:xfrm>
            <a:off x="800100" y="6245352"/>
            <a:ext cx="1059241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From scattered pilots to governed programs. From manual reporting to real-time intelligence. From legacy stacks to modernized platforms. </a:t>
            </a:r>
            <a:r>
              <a:rPr lang="en-US" sz="11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J2W Managed Solutions operate until the outcome is real - then keep compounding.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3743683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14807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60103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0" cap="none" spc="-56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STRATEGIC MANAGED SERVICES OFFERINGS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19302" y="761695"/>
            <a:ext cx="6010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68" normalizeH="0" baseline="0" noProof="0" dirty="0">
                <a:ln>
                  <a:noFill/>
                </a:ln>
                <a:solidFill>
                  <a:srgbClr val="2A9D8F"/>
                </a:solidFill>
                <a:effectLst/>
                <a:uLnTx/>
                <a:uFillTx/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Comprehensive Capabilities Driving Digital Transformation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099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099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90956" y="13807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5256" y="1495044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26287" y="181965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13716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AI Solutions (AI CoE)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13716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GenAI strategies, agents, LLM workflows, predictive models, knowledge bots, and enterprise-grade AI governance &amp; value realization frameworks.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6210605" y="12573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6210605" y="12573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391656" y="13807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05956" y="1495044"/>
            <a:ext cx="171907" cy="17190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16929" y="18196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06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5"/>
          <p:cNvSpPr txBox="1"/>
          <p:nvPr/>
        </p:nvSpPr>
        <p:spPr>
          <a:xfrm>
            <a:off x="6972300" y="13807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Quality Engineering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 txBox="1"/>
          <p:nvPr/>
        </p:nvSpPr>
        <p:spPr>
          <a:xfrm>
            <a:off x="6972300" y="16020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Intelligent QA and Test Automation at scale - covering functional, performance, security, CI/CD pipelines, and TaaS delivery pods.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6099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099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790956" y="24478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2725" b="-2725"/>
          <a:stretch/>
        </p:blipFill>
        <p:spPr>
          <a:xfrm>
            <a:off x="918972" y="2562149"/>
            <a:ext cx="142646" cy="17190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8058" y="28858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1"/>
          <p:cNvSpPr txBox="1"/>
          <p:nvPr/>
        </p:nvSpPr>
        <p:spPr>
          <a:xfrm>
            <a:off x="13716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Migration &amp; Infra Support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 txBox="1"/>
          <p:nvPr/>
        </p:nvSpPr>
        <p:spPr>
          <a:xfrm>
            <a:off x="13716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Seamless migration across on-prem &amp; cloud, with data quality, cleansing, secure pipelines, infra ops, and cloud governance across AWS/Azure/GCP.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210605" y="23244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6210605" y="23244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391656" y="24478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505956" y="2562149"/>
            <a:ext cx="171907" cy="17190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523330" y="288584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07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 txBox="1"/>
          <p:nvPr/>
        </p:nvSpPr>
        <p:spPr>
          <a:xfrm>
            <a:off x="6972300" y="24478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Call Centre Optimization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8"/>
          <p:cNvSpPr txBox="1"/>
          <p:nvPr/>
        </p:nvSpPr>
        <p:spPr>
          <a:xfrm>
            <a:off x="6972300" y="26691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Transforming contact centers through operational assessment, workforce analytics, real-time dashboards, agent assist AI, and IVA-based automation.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6099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6099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790956" y="351495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5256" y="3629254"/>
            <a:ext cx="171907" cy="171907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18058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3"/>
          <p:cNvSpPr txBox="1"/>
          <p:nvPr/>
        </p:nvSpPr>
        <p:spPr>
          <a:xfrm>
            <a:off x="13716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Cybersecurity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4"/>
          <p:cNvSpPr txBox="1"/>
          <p:nvPr/>
        </p:nvSpPr>
        <p:spPr>
          <a:xfrm>
            <a:off x="13716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Full-spectrum security including assessment, red-team, cloud security, managed SOC/MDR, compliance (ISO, PCI, RBI), incident response &amp; digital forensics.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6210605" y="339059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6210605" y="339059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6391656" y="351495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rcRect t="-2725" b="-2725"/>
          <a:stretch/>
        </p:blipFill>
        <p:spPr>
          <a:xfrm>
            <a:off x="6519672" y="3629254"/>
            <a:ext cx="142646" cy="171907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6517843" y="3952951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08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39"/>
          <p:cNvSpPr txBox="1"/>
          <p:nvPr/>
        </p:nvSpPr>
        <p:spPr>
          <a:xfrm>
            <a:off x="6972300" y="351495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SAP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0"/>
          <p:cNvSpPr txBox="1"/>
          <p:nvPr/>
        </p:nvSpPr>
        <p:spPr>
          <a:xfrm>
            <a:off x="6972300" y="373532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SAP modernization - from S/4HANA migrations to BTP, Fiori, SuccessFactors, and enterprise-wide rollout with managed SAP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1"/>
          <p:cNvSpPr/>
          <p:nvPr/>
        </p:nvSpPr>
        <p:spPr>
          <a:xfrm>
            <a:off x="6099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2"/>
          <p:cNvSpPr/>
          <p:nvPr/>
        </p:nvSpPr>
        <p:spPr>
          <a:xfrm>
            <a:off x="6099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43"/>
          <p:cNvSpPr/>
          <p:nvPr/>
        </p:nvSpPr>
        <p:spPr>
          <a:xfrm>
            <a:off x="790956" y="4581144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0"/>
          <a:srcRect t="-1310" b="-1310"/>
          <a:stretch/>
        </p:blipFill>
        <p:spPr>
          <a:xfrm>
            <a:off x="886054" y="4695444"/>
            <a:ext cx="209398" cy="171907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917143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45"/>
          <p:cNvSpPr txBox="1"/>
          <p:nvPr/>
        </p:nvSpPr>
        <p:spPr>
          <a:xfrm>
            <a:off x="13716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Digital Engineering &amp; Automation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46"/>
          <p:cNvSpPr txBox="1"/>
          <p:nvPr/>
        </p:nvSpPr>
        <p:spPr>
          <a:xfrm>
            <a:off x="13716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Spanning full-stack &amp; UI/UX development, intelligent automation, AI-augmented RPA, and end-to-end process orchestration.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Shape 47"/>
          <p:cNvSpPr/>
          <p:nvPr/>
        </p:nvSpPr>
        <p:spPr>
          <a:xfrm>
            <a:off x="6210605" y="4457700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Shape 48"/>
          <p:cNvSpPr/>
          <p:nvPr/>
        </p:nvSpPr>
        <p:spPr>
          <a:xfrm>
            <a:off x="6210605" y="4457700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Shape 49"/>
          <p:cNvSpPr/>
          <p:nvPr/>
        </p:nvSpPr>
        <p:spPr>
          <a:xfrm>
            <a:off x="6391656" y="4581144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0" name="Image 8" descr="preencoded.png"/>
          <p:cNvPicPr>
            <a:picLocks noChangeAspect="1"/>
          </p:cNvPicPr>
          <p:nvPr/>
        </p:nvPicPr>
        <p:blipFill>
          <a:blip r:embed="rId11"/>
          <a:srcRect t="-1310" b="-1310"/>
          <a:stretch/>
        </p:blipFill>
        <p:spPr>
          <a:xfrm>
            <a:off x="6486754" y="4695444"/>
            <a:ext cx="209398" cy="171907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6516929" y="502005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09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ext 51"/>
          <p:cNvSpPr txBox="1"/>
          <p:nvPr/>
        </p:nvSpPr>
        <p:spPr>
          <a:xfrm>
            <a:off x="6972300" y="4581144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Salesforce Services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 txBox="1"/>
          <p:nvPr/>
        </p:nvSpPr>
        <p:spPr>
          <a:xfrm>
            <a:off x="6972300" y="4802429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Complete Salesforce transformation across Sales, Service, Marketing, Financial Services Cloud, and MuleSoft - backed by org audits and managed support.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Shape 53"/>
          <p:cNvSpPr/>
          <p:nvPr/>
        </p:nvSpPr>
        <p:spPr>
          <a:xfrm>
            <a:off x="6099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Shape 54"/>
          <p:cNvSpPr/>
          <p:nvPr/>
        </p:nvSpPr>
        <p:spPr>
          <a:xfrm>
            <a:off x="6099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Shape 55"/>
          <p:cNvSpPr/>
          <p:nvPr/>
        </p:nvSpPr>
        <p:spPr>
          <a:xfrm>
            <a:off x="790956" y="5648249"/>
            <a:ext cx="400507" cy="400507"/>
          </a:xfrm>
          <a:prstGeom prst="ellipse">
            <a:avLst/>
          </a:prstGeom>
          <a:solidFill>
            <a:srgbClr val="2A9D8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7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05256" y="5762549"/>
            <a:ext cx="171907" cy="171907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918058" y="6086246"/>
            <a:ext cx="228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2A9D8F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05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Text 57"/>
          <p:cNvSpPr txBox="1"/>
          <p:nvPr/>
        </p:nvSpPr>
        <p:spPr>
          <a:xfrm>
            <a:off x="13716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Data Analytics &amp; Dashboarding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Text 58"/>
          <p:cNvSpPr txBox="1"/>
          <p:nvPr/>
        </p:nvSpPr>
        <p:spPr>
          <a:xfrm>
            <a:off x="13716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Interactive dashboards across Power BI, Tableau, and Qlik - enabling real-time operational, financial, and leadership insights.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Shape 59"/>
          <p:cNvSpPr/>
          <p:nvPr/>
        </p:nvSpPr>
        <p:spPr>
          <a:xfrm>
            <a:off x="6210605" y="5524805"/>
            <a:ext cx="5372100" cy="952805"/>
          </a:xfrm>
          <a:prstGeom prst="roundRect">
            <a:avLst>
              <a:gd name="adj" fmla="val 15355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Shape 60"/>
          <p:cNvSpPr/>
          <p:nvPr/>
        </p:nvSpPr>
        <p:spPr>
          <a:xfrm>
            <a:off x="6210605" y="5524805"/>
            <a:ext cx="38405" cy="952805"/>
          </a:xfrm>
          <a:prstGeom prst="roundRect">
            <a:avLst>
              <a:gd name="adj" fmla="val 380950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Shape 61"/>
          <p:cNvSpPr/>
          <p:nvPr/>
        </p:nvSpPr>
        <p:spPr>
          <a:xfrm>
            <a:off x="6391656" y="5648249"/>
            <a:ext cx="400507" cy="400507"/>
          </a:xfrm>
          <a:prstGeom prst="ellipse">
            <a:avLst/>
          </a:prstGeom>
          <a:solidFill>
            <a:srgbClr val="D62839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4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6505956" y="5762549"/>
            <a:ext cx="171907" cy="171907"/>
          </a:xfrm>
          <a:prstGeom prst="rect">
            <a:avLst/>
          </a:prstGeom>
        </p:spPr>
      </p:pic>
      <p:sp>
        <p:nvSpPr>
          <p:cNvPr id="75" name="Text 62"/>
          <p:cNvSpPr txBox="1"/>
          <p:nvPr/>
        </p:nvSpPr>
        <p:spPr>
          <a:xfrm>
            <a:off x="6526987" y="6086246"/>
            <a:ext cx="210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D62839">
                    <a:alpha val="60000"/>
                  </a:srgbClr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10</a:t>
            </a: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Text 63"/>
          <p:cNvSpPr txBox="1"/>
          <p:nvPr/>
        </p:nvSpPr>
        <p:spPr>
          <a:xfrm>
            <a:off x="6972300" y="5648249"/>
            <a:ext cx="46012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4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Oswald" pitchFamily="34" charset="0"/>
                <a:ea typeface="Oswald" pitchFamily="34" charset="-122"/>
                <a:cs typeface="Oswald" pitchFamily="34" charset="-120"/>
              </a:rPr>
              <a:t>ServiceNow</a:t>
            </a: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Text 64"/>
          <p:cNvSpPr txBox="1"/>
          <p:nvPr/>
        </p:nvSpPr>
        <p:spPr>
          <a:xfrm>
            <a:off x="6972300" y="5869534"/>
            <a:ext cx="45628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55555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End-to-end ServiceNow enablement across ITSM, ITOM, CSM, CMDB, automation workflows, and CoE setup for scalable, multi-instance operations.</a:t>
            </a: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8" name="Image 11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79" name="Image 12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7675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d9df24ea47cddb7d0fdf53525bde3b5.png"/>
          <p:cNvPicPr>
            <a:picLocks noChangeAspect="1"/>
          </p:cNvPicPr>
          <p:nvPr/>
        </p:nvPicPr>
        <p:blipFill>
          <a:blip r:embed="rId3"/>
          <a:srcRect t="-2" b="-2"/>
          <a:stretch/>
        </p:blipFill>
        <p:spPr>
          <a:xfrm>
            <a:off x="0" y="0"/>
            <a:ext cx="8124444" cy="114300"/>
          </a:xfrm>
          <a:prstGeom prst="rect">
            <a:avLst/>
          </a:prstGeom>
        </p:spPr>
      </p:pic>
      <p:pic>
        <p:nvPicPr>
          <p:cNvPr id="3" name="Image 1" descr="gen-dedup-aca74248d2fbe032a73ba742e976ed37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8124444" y="0"/>
            <a:ext cx="4067251" cy="1143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2" descr="gen-dedup-dbb8812bbf9685dd99bfa1af8113e7f1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3262782" y="2049323"/>
            <a:ext cx="38405" cy="5715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33195" y="2011375"/>
            <a:ext cx="9525305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31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CASE STUDIES</a:t>
            </a:r>
            <a:endParaRPr lang="en-US" sz="6300" dirty="0"/>
          </a:p>
        </p:txBody>
      </p:sp>
      <p:sp>
        <p:nvSpPr>
          <p:cNvPr id="8" name="Text 3"/>
          <p:cNvSpPr txBox="1"/>
          <p:nvPr/>
        </p:nvSpPr>
        <p:spPr>
          <a:xfrm>
            <a:off x="1333195" y="3002585"/>
            <a:ext cx="9525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00" b="1" kern="0" spc="156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Real problems. Real clients. Measurable outcomes.</a:t>
            </a:r>
            <a:endParaRPr lang="en-US" sz="1900" dirty="0"/>
          </a:p>
        </p:txBody>
      </p:sp>
      <p:pic>
        <p:nvPicPr>
          <p:cNvPr id="9" name="Image 3" descr="gen-dedup-de680169e7c3927b717e44a8a690f2a5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810098" y="3574085"/>
            <a:ext cx="571500" cy="1920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33195" y="387858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"Every engagement below moved a metric that mattered — not just a milestone."</a:t>
            </a:r>
            <a:endParaRPr lang="en-US" sz="1500" dirty="0"/>
          </a:p>
        </p:txBody>
      </p:sp>
      <p:sp>
        <p:nvSpPr>
          <p:cNvPr id="11" name="Shape 5"/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6"/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9755734" y="6334049"/>
            <a:ext cx="1975104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PORTFOLIO OF EXCELLENCE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gen-dedup-9663ecf744b06e35d4c2cebaab92a2ea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0"/>
            <a:ext cx="4067251" cy="75895"/>
          </a:xfrm>
          <a:prstGeom prst="rect">
            <a:avLst/>
          </a:prstGeom>
        </p:spPr>
      </p:pic>
      <p:pic>
        <p:nvPicPr>
          <p:cNvPr id="5" name="Image 1" descr="gen-dedup-323228122ff92d2332e711a84ca3b40c.png"/>
          <p:cNvPicPr>
            <a:picLocks noChangeAspect="1"/>
          </p:cNvPicPr>
          <p:nvPr/>
        </p:nvPicPr>
        <p:blipFill>
          <a:blip r:embed="rId4"/>
          <a:srcRect l="-198" r="-198"/>
          <a:stretch/>
        </p:blipFill>
        <p:spPr>
          <a:xfrm>
            <a:off x="4067251" y="0"/>
            <a:ext cx="8124444" cy="7589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34195" y="-476402"/>
            <a:ext cx="3810305" cy="3810305"/>
          </a:xfrm>
          <a:prstGeom prst="ellipse">
            <a:avLst/>
          </a:prstGeom>
          <a:solidFill>
            <a:srgbClr val="2A9D8F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-1429207" y="3047695"/>
            <a:ext cx="3333902" cy="3333902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47395" y="4619549"/>
            <a:ext cx="10916107" cy="1781251"/>
          </a:xfrm>
          <a:prstGeom prst="roundRect">
            <a:avLst>
              <a:gd name="adj" fmla="val 439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64739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4739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343400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43400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8039405" y="1571854"/>
            <a:ext cx="3524098" cy="2809951"/>
          </a:xfrm>
          <a:prstGeom prst="roundRect">
            <a:avLst>
              <a:gd name="adj" fmla="val 1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8039405" y="1571854"/>
            <a:ext cx="3524098" cy="38405"/>
          </a:xfrm>
          <a:prstGeom prst="roundRect">
            <a:avLst>
              <a:gd name="adj" fmla="val 96852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0525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3666744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29146" y="5143500"/>
            <a:ext cx="2467051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9191549" y="5143500"/>
            <a:ext cx="2180844" cy="1114654"/>
          </a:xfrm>
          <a:prstGeom prst="roundRect">
            <a:avLst>
              <a:gd name="adj" fmla="val 5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gen-dedup-06e3d16aa0e9246458a784af17ea21a8.png"/>
          <p:cNvPicPr>
            <a:picLocks noChangeAspect="1"/>
          </p:cNvPicPr>
          <p:nvPr/>
        </p:nvPicPr>
        <p:blipFill>
          <a:blip r:embed="rId5"/>
          <a:srcRect l="-437" r="-437"/>
          <a:stretch/>
        </p:blipFill>
        <p:spPr>
          <a:xfrm>
            <a:off x="647395" y="743407"/>
            <a:ext cx="57607" cy="41879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7707" y="685800"/>
            <a:ext cx="104781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857707" y="1143000"/>
            <a:ext cx="104781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0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Flexible Engagement Models Tailored To Your Three-year Roadmap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3850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gen-dedup-fa5d0b435e79f3035aaec6593bf7cfb3.png"/>
          <p:cNvPicPr>
            <a:picLocks noChangeAspect="1"/>
          </p:cNvPicPr>
          <p:nvPr/>
        </p:nvPicPr>
        <p:blipFill>
          <a:blip r:embed="rId6"/>
          <a:srcRect l="-3526" r="-3526"/>
          <a:stretch/>
        </p:blipFill>
        <p:spPr>
          <a:xfrm>
            <a:off x="990295" y="1895551"/>
            <a:ext cx="152705" cy="19019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47495" y="1794967"/>
            <a:ext cx="199522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Discovery Workshop</a:t>
            </a:r>
            <a:endParaRPr lang="en-US" sz="1600"/>
          </a:p>
        </p:txBody>
      </p:sp>
      <p:sp>
        <p:nvSpPr>
          <p:cNvPr id="25" name="Text 19"/>
          <p:cNvSpPr txBox="1"/>
          <p:nvPr/>
        </p:nvSpPr>
        <p:spPr>
          <a:xfrm>
            <a:off x="1447495" y="2043684"/>
            <a:ext cx="167701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~90 Minutes</a:t>
            </a:r>
            <a:endParaRPr lang="en-US" sz="900"/>
          </a:p>
        </p:txBody>
      </p:sp>
      <p:sp>
        <p:nvSpPr>
          <p:cNvPr id="26" name="Shape 20"/>
          <p:cNvSpPr/>
          <p:nvPr/>
        </p:nvSpPr>
        <p:spPr>
          <a:xfrm>
            <a:off x="3259836" y="1762049"/>
            <a:ext cx="705002" cy="256946"/>
          </a:xfrm>
          <a:prstGeom prst="roundRect">
            <a:avLst>
              <a:gd name="adj" fmla="val 316331"/>
            </a:avLst>
          </a:prstGeom>
          <a:solidFill>
            <a:srgbClr val="E6F3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 txBox="1"/>
          <p:nvPr/>
        </p:nvSpPr>
        <p:spPr>
          <a:xfrm>
            <a:off x="83850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28" name="Image 4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2734056"/>
            <a:ext cx="85954" cy="152705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9556" y="2695651"/>
            <a:ext cx="27322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 case identification &amp; prioritization</a:t>
            </a:r>
            <a:endParaRPr lang="en-US" sz="1000"/>
          </a:p>
        </p:txBody>
      </p:sp>
      <p:pic>
        <p:nvPicPr>
          <p:cNvPr id="30" name="Image 5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019349"/>
            <a:ext cx="85954" cy="15270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019556" y="2980944"/>
            <a:ext cx="19723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Value hypothesis definition</a:t>
            </a:r>
            <a:endParaRPr lang="en-US" sz="1000"/>
          </a:p>
        </p:txBody>
      </p:sp>
      <p:pic>
        <p:nvPicPr>
          <p:cNvPr id="32" name="Image 6" descr="gen-dedup-2910efa1624004b251a6644ba5a6ae47.png"/>
          <p:cNvPicPr>
            <a:picLocks noChangeAspect="1"/>
          </p:cNvPicPr>
          <p:nvPr/>
        </p:nvPicPr>
        <p:blipFill>
          <a:blip r:embed="rId7"/>
          <a:srcRect t="-27726" b="-27726"/>
          <a:stretch/>
        </p:blipFill>
        <p:spPr>
          <a:xfrm>
            <a:off x="838505" y="3305556"/>
            <a:ext cx="85954" cy="15270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19556" y="3267151"/>
            <a:ext cx="33777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High-level roadmap aligned to 70/30 strategy</a:t>
            </a:r>
            <a:endParaRPr lang="en-US" sz="1000"/>
          </a:p>
        </p:txBody>
      </p:sp>
      <p:sp>
        <p:nvSpPr>
          <p:cNvPr id="34" name="Text 25"/>
          <p:cNvSpPr txBox="1"/>
          <p:nvPr/>
        </p:nvSpPr>
        <p:spPr>
          <a:xfrm>
            <a:off x="3354934" y="1848002"/>
            <a:ext cx="66202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LOW TOUCH</a:t>
            </a:r>
            <a:endParaRPr lang="en-US" sz="800"/>
          </a:p>
        </p:txBody>
      </p:sp>
      <p:sp>
        <p:nvSpPr>
          <p:cNvPr id="35" name="Shape 26"/>
          <p:cNvSpPr/>
          <p:nvPr/>
        </p:nvSpPr>
        <p:spPr>
          <a:xfrm>
            <a:off x="4533595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7" descr="gen-dedup-302cf04975ca72dffec5134ed5b99fbe.png"/>
          <p:cNvPicPr>
            <a:picLocks noChangeAspect="1"/>
          </p:cNvPicPr>
          <p:nvPr/>
        </p:nvPicPr>
        <p:blipFill>
          <a:blip r:embed="rId8"/>
          <a:srcRect t="-4491" b="-4491"/>
          <a:stretch/>
        </p:blipFill>
        <p:spPr>
          <a:xfrm>
            <a:off x="4686300" y="1895551"/>
            <a:ext cx="152705" cy="19019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143500" y="1794967"/>
            <a:ext cx="182514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Assessment &amp; PoC</a:t>
            </a:r>
            <a:endParaRPr lang="en-US" sz="1600"/>
          </a:p>
        </p:txBody>
      </p:sp>
      <p:sp>
        <p:nvSpPr>
          <p:cNvPr id="38" name="Text 28"/>
          <p:cNvSpPr txBox="1"/>
          <p:nvPr/>
        </p:nvSpPr>
        <p:spPr>
          <a:xfrm>
            <a:off x="5143500" y="2043684"/>
            <a:ext cx="1534363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4 Weeks</a:t>
            </a:r>
            <a:endParaRPr lang="en-US" sz="900"/>
          </a:p>
        </p:txBody>
      </p:sp>
      <p:sp>
        <p:nvSpPr>
          <p:cNvPr id="39" name="Shape 29"/>
          <p:cNvSpPr/>
          <p:nvPr/>
        </p:nvSpPr>
        <p:spPr>
          <a:xfrm>
            <a:off x="6982358" y="1762049"/>
            <a:ext cx="676656" cy="256946"/>
          </a:xfrm>
          <a:prstGeom prst="roundRect">
            <a:avLst>
              <a:gd name="adj" fmla="val 316331"/>
            </a:avLst>
          </a:prstGeom>
          <a:solidFill>
            <a:srgbClr val="FBE6E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 txBox="1"/>
          <p:nvPr/>
        </p:nvSpPr>
        <p:spPr>
          <a:xfrm>
            <a:off x="4533595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KEY DELIVERABLES</a:t>
            </a:r>
            <a:endParaRPr lang="en-US" sz="900"/>
          </a:p>
        </p:txBody>
      </p:sp>
      <p:pic>
        <p:nvPicPr>
          <p:cNvPr id="41" name="Image 8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734056"/>
            <a:ext cx="85954" cy="12344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714646" y="2695651"/>
            <a:ext cx="215432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Target state architecture design</a:t>
            </a:r>
            <a:endParaRPr lang="en-US" sz="900"/>
          </a:p>
        </p:txBody>
      </p:sp>
      <p:pic>
        <p:nvPicPr>
          <p:cNvPr id="43" name="Image 9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2971800"/>
            <a:ext cx="85954" cy="123444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4714646" y="2933395"/>
            <a:ext cx="25054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Working pilot / MVP implementation</a:t>
            </a:r>
            <a:endParaRPr lang="en-US" sz="900"/>
          </a:p>
        </p:txBody>
      </p:sp>
      <p:pic>
        <p:nvPicPr>
          <p:cNvPr id="45" name="Image 10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209544"/>
            <a:ext cx="85954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4714646" y="3172054"/>
            <a:ext cx="227868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Detailed ROI model &amp; rollout plan</a:t>
            </a:r>
            <a:endParaRPr lang="en-US" sz="900"/>
          </a:p>
        </p:txBody>
      </p:sp>
      <p:pic>
        <p:nvPicPr>
          <p:cNvPr id="47" name="Image 11" descr="gen-dedup-3f480c66afa147b2245dea2610bb3896.png"/>
          <p:cNvPicPr>
            <a:picLocks noChangeAspect="1"/>
          </p:cNvPicPr>
          <p:nvPr/>
        </p:nvPicPr>
        <p:blipFill>
          <a:blip r:embed="rId9"/>
          <a:srcRect t="-12832" b="-12832"/>
          <a:stretch/>
        </p:blipFill>
        <p:spPr>
          <a:xfrm>
            <a:off x="4533595" y="3448202"/>
            <a:ext cx="85954" cy="123444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4714646" y="3409798"/>
            <a:ext cx="21086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integration assessment</a:t>
            </a:r>
            <a:endParaRPr lang="en-US" sz="900"/>
          </a:p>
        </p:txBody>
      </p:sp>
      <p:sp>
        <p:nvSpPr>
          <p:cNvPr id="49" name="Text 35"/>
          <p:cNvSpPr txBox="1"/>
          <p:nvPr/>
        </p:nvSpPr>
        <p:spPr>
          <a:xfrm>
            <a:off x="7077456" y="1848002"/>
            <a:ext cx="65836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STRATEGIC</a:t>
            </a:r>
            <a:endParaRPr lang="en-US" sz="800"/>
          </a:p>
        </p:txBody>
      </p:sp>
      <p:sp>
        <p:nvSpPr>
          <p:cNvPr id="50" name="Shape 36"/>
          <p:cNvSpPr/>
          <p:nvPr/>
        </p:nvSpPr>
        <p:spPr>
          <a:xfrm>
            <a:off x="8229600" y="1762049"/>
            <a:ext cx="457200" cy="457200"/>
          </a:xfrm>
          <a:prstGeom prst="roundRect">
            <a:avLst>
              <a:gd name="adj" fmla="val 66667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1" name="Image 12" descr="gen-dedup-e104b6e838315a11dc2d3bf260faf00b.png"/>
          <p:cNvPicPr>
            <a:picLocks noChangeAspect="1"/>
          </p:cNvPicPr>
          <p:nvPr/>
        </p:nvPicPr>
        <p:blipFill>
          <a:blip r:embed="rId10"/>
          <a:srcRect t="-27844" b="-27844"/>
          <a:stretch/>
        </p:blipFill>
        <p:spPr>
          <a:xfrm>
            <a:off x="8382305" y="1895551"/>
            <a:ext cx="152705" cy="190195"/>
          </a:xfrm>
          <a:prstGeom prst="rect">
            <a:avLst/>
          </a:prstGeom>
        </p:spPr>
      </p:pic>
      <p:sp>
        <p:nvSpPr>
          <p:cNvPr id="52" name="Text 37"/>
          <p:cNvSpPr txBox="1"/>
          <p:nvPr/>
        </p:nvSpPr>
        <p:spPr>
          <a:xfrm>
            <a:off x="8839505" y="1794967"/>
            <a:ext cx="193852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Build &amp; Run Models</a:t>
            </a:r>
            <a:endParaRPr lang="en-US" sz="1600"/>
          </a:p>
        </p:txBody>
      </p:sp>
      <p:sp>
        <p:nvSpPr>
          <p:cNvPr id="53" name="Text 38"/>
          <p:cNvSpPr txBox="1"/>
          <p:nvPr/>
        </p:nvSpPr>
        <p:spPr>
          <a:xfrm>
            <a:off x="8839505" y="2043684"/>
            <a:ext cx="16294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Duration: Multi-Year</a:t>
            </a:r>
            <a:endParaRPr lang="en-US" sz="900"/>
          </a:p>
        </p:txBody>
      </p:sp>
      <p:sp>
        <p:nvSpPr>
          <p:cNvPr id="54" name="Shape 39"/>
          <p:cNvSpPr/>
          <p:nvPr/>
        </p:nvSpPr>
        <p:spPr>
          <a:xfrm>
            <a:off x="10555834" y="1762049"/>
            <a:ext cx="800100" cy="256946"/>
          </a:xfrm>
          <a:prstGeom prst="roundRect">
            <a:avLst>
              <a:gd name="adj" fmla="val 316331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40"/>
          <p:cNvSpPr txBox="1"/>
          <p:nvPr/>
        </p:nvSpPr>
        <p:spPr>
          <a:xfrm>
            <a:off x="8229600" y="2447849"/>
            <a:ext cx="3124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>
                <a:solidFill>
                  <a:srgbClr val="94A3B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COMMERCIAL MODELS</a:t>
            </a:r>
            <a:endParaRPr lang="en-US" sz="900"/>
          </a:p>
        </p:txBody>
      </p:sp>
      <p:pic>
        <p:nvPicPr>
          <p:cNvPr id="56" name="Image 13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2734056"/>
            <a:ext cx="85954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410651" y="2695651"/>
            <a:ext cx="287944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Fixed Scope: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For defined project builds</a:t>
            </a:r>
            <a:endParaRPr lang="en-US" sz="1000"/>
          </a:p>
        </p:txBody>
      </p:sp>
      <p:pic>
        <p:nvPicPr>
          <p:cNvPr id="58" name="Image 14" descr="gen-dedup-06c19e2f143b52e69c4653630769d291.png"/>
          <p:cNvPicPr>
            <a:picLocks noChangeAspect="1"/>
          </p:cNvPicPr>
          <p:nvPr/>
        </p:nvPicPr>
        <p:blipFill>
          <a:blip r:embed="rId11"/>
          <a:srcRect t="-27726" b="-27726"/>
          <a:stretch/>
        </p:blipFill>
        <p:spPr>
          <a:xfrm>
            <a:off x="8229600" y="3038551"/>
            <a:ext cx="85954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410651" y="3000146"/>
            <a:ext cx="30385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Managed Service: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SLA-driven operations</a:t>
            </a:r>
            <a:endParaRPr lang="en-US" sz="1000"/>
          </a:p>
        </p:txBody>
      </p:sp>
      <p:pic>
        <p:nvPicPr>
          <p:cNvPr id="60" name="Image 15" descr="gen-dedup-3678629b4a5ad6139a7cc5dcf1ee97ee.png"/>
          <p:cNvPicPr>
            <a:picLocks noChangeAspect="1"/>
          </p:cNvPicPr>
          <p:nvPr/>
        </p:nvPicPr>
        <p:blipFill>
          <a:blip r:embed="rId12"/>
          <a:srcRect t="-119879" b="-119879"/>
          <a:stretch/>
        </p:blipFill>
        <p:spPr>
          <a:xfrm>
            <a:off x="8229600" y="3343046"/>
            <a:ext cx="85954" cy="333756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410651" y="3305556"/>
            <a:ext cx="29434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>
                <a:solidFill>
                  <a:srgbClr val="1118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Outcome-Based:</a:t>
            </a:r>
            <a:r>
              <a:rPr lang="en-US" sz="10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Gain-share pricing tied to value</a:t>
            </a:r>
            <a:endParaRPr lang="en-US" sz="1000"/>
          </a:p>
        </p:txBody>
      </p:sp>
      <p:sp>
        <p:nvSpPr>
          <p:cNvPr id="62" name="Text 44"/>
          <p:cNvSpPr txBox="1"/>
          <p:nvPr/>
        </p:nvSpPr>
        <p:spPr>
          <a:xfrm>
            <a:off x="10650931" y="1848002"/>
            <a:ext cx="80650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334155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PARTNERSHIP</a:t>
            </a:r>
            <a:endParaRPr lang="en-US" sz="800"/>
          </a:p>
        </p:txBody>
      </p:sp>
      <p:pic>
        <p:nvPicPr>
          <p:cNvPr id="63" name="Image 16" descr="gen-dedup-a2699a036d9634824b4953ceddf6835e.png"/>
          <p:cNvPicPr>
            <a:picLocks noChangeAspect="1"/>
          </p:cNvPicPr>
          <p:nvPr/>
        </p:nvPicPr>
        <p:blipFill>
          <a:blip r:embed="rId13"/>
          <a:srcRect t="-16800" b="-16800"/>
          <a:stretch/>
        </p:blipFill>
        <p:spPr>
          <a:xfrm>
            <a:off x="905256" y="4809744"/>
            <a:ext cx="114300" cy="152705"/>
          </a:xfrm>
          <a:prstGeom prst="rect">
            <a:avLst/>
          </a:prstGeom>
        </p:spPr>
      </p:pic>
      <p:sp>
        <p:nvSpPr>
          <p:cNvPr id="64" name="Text 45"/>
          <p:cNvSpPr txBox="1"/>
          <p:nvPr/>
        </p:nvSpPr>
        <p:spPr>
          <a:xfrm>
            <a:off x="1114654" y="4762195"/>
            <a:ext cx="315193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7">
                <a:solidFill>
                  <a:srgbClr val="1E293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SAMPLE IMPLEMENTATION ROADMAP</a:t>
            </a:r>
            <a:endParaRPr lang="en-US" sz="1300"/>
          </a:p>
        </p:txBody>
      </p:sp>
      <p:sp>
        <p:nvSpPr>
          <p:cNvPr id="65" name="Text 46"/>
          <p:cNvSpPr txBox="1"/>
          <p:nvPr/>
        </p:nvSpPr>
        <p:spPr>
          <a:xfrm>
            <a:off x="1047902" y="5315407"/>
            <a:ext cx="71963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DISCOVERY</a:t>
            </a:r>
            <a:endParaRPr lang="en-US" sz="900"/>
          </a:p>
        </p:txBody>
      </p:sp>
      <p:sp>
        <p:nvSpPr>
          <p:cNvPr id="66" name="Text 47"/>
          <p:cNvSpPr txBox="1"/>
          <p:nvPr/>
        </p:nvSpPr>
        <p:spPr>
          <a:xfrm>
            <a:off x="3063240" y="5238598"/>
            <a:ext cx="1819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Q1</a:t>
            </a:r>
            <a:endParaRPr lang="en-US" sz="1200"/>
          </a:p>
        </p:txBody>
      </p:sp>
      <p:sp>
        <p:nvSpPr>
          <p:cNvPr id="67" name="Text 48"/>
          <p:cNvSpPr txBox="1"/>
          <p:nvPr/>
        </p:nvSpPr>
        <p:spPr>
          <a:xfrm>
            <a:off x="1047902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Assess readiness, define scope, select initial use cases</a:t>
            </a:r>
            <a:endParaRPr lang="en-US" sz="900"/>
          </a:p>
        </p:txBody>
      </p:sp>
      <p:sp>
        <p:nvSpPr>
          <p:cNvPr id="68" name="Shape 49"/>
          <p:cNvSpPr/>
          <p:nvPr/>
        </p:nvSpPr>
        <p:spPr>
          <a:xfrm>
            <a:off x="1047902" y="6117336"/>
            <a:ext cx="562356" cy="9144"/>
          </a:xfrm>
          <a:prstGeom prst="rect">
            <a:avLst/>
          </a:prstGeom>
          <a:solidFill>
            <a:srgbClr val="E6F3F1"/>
          </a:solidFill>
          <a:ln w="12700">
            <a:solidFill>
              <a:srgbClr val="E6F3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0"/>
          <p:cNvSpPr txBox="1"/>
          <p:nvPr/>
        </p:nvSpPr>
        <p:spPr>
          <a:xfrm>
            <a:off x="1104595" y="5964631"/>
            <a:ext cx="716890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2A9D8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Initiation</a:t>
            </a:r>
            <a:endParaRPr lang="en-US" sz="800"/>
          </a:p>
        </p:txBody>
      </p:sp>
      <p:pic>
        <p:nvPicPr>
          <p:cNvPr id="70" name="Image 17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3452774" y="5627218"/>
            <a:ext cx="105156" cy="133502"/>
          </a:xfrm>
          <a:prstGeom prst="rect">
            <a:avLst/>
          </a:prstGeom>
        </p:spPr>
      </p:pic>
      <p:sp>
        <p:nvSpPr>
          <p:cNvPr id="71" name="Text 51"/>
          <p:cNvSpPr txBox="1"/>
          <p:nvPr/>
        </p:nvSpPr>
        <p:spPr>
          <a:xfrm>
            <a:off x="3810305" y="5315407"/>
            <a:ext cx="86410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D62839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PILOT / POC</a:t>
            </a:r>
            <a:endParaRPr lang="en-US" sz="900"/>
          </a:p>
        </p:txBody>
      </p:sp>
      <p:sp>
        <p:nvSpPr>
          <p:cNvPr id="72" name="Text 52"/>
          <p:cNvSpPr txBox="1"/>
          <p:nvPr/>
        </p:nvSpPr>
        <p:spPr>
          <a:xfrm>
            <a:off x="5807354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Q2</a:t>
            </a:r>
            <a:endParaRPr lang="en-US" sz="1200"/>
          </a:p>
        </p:txBody>
      </p:sp>
      <p:sp>
        <p:nvSpPr>
          <p:cNvPr id="73" name="Text 53"/>
          <p:cNvSpPr txBox="1"/>
          <p:nvPr/>
        </p:nvSpPr>
        <p:spPr>
          <a:xfrm>
            <a:off x="3810305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MVP build, user testing, architecture validation</a:t>
            </a:r>
            <a:endParaRPr lang="en-US" sz="900"/>
          </a:p>
        </p:txBody>
      </p:sp>
      <p:sp>
        <p:nvSpPr>
          <p:cNvPr id="74" name="Shape 54"/>
          <p:cNvSpPr/>
          <p:nvPr/>
        </p:nvSpPr>
        <p:spPr>
          <a:xfrm>
            <a:off x="3810305" y="5897880"/>
            <a:ext cx="629107" cy="219456"/>
          </a:xfrm>
          <a:prstGeom prst="roundRect">
            <a:avLst>
              <a:gd name="adj" fmla="val 144928"/>
            </a:avLst>
          </a:prstGeom>
          <a:solidFill>
            <a:srgbClr val="FEF2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55"/>
          <p:cNvSpPr txBox="1"/>
          <p:nvPr/>
        </p:nvSpPr>
        <p:spPr>
          <a:xfrm>
            <a:off x="3866998" y="5964631"/>
            <a:ext cx="726948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D628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Validation</a:t>
            </a:r>
            <a:endParaRPr lang="en-US" sz="800"/>
          </a:p>
        </p:txBody>
      </p:sp>
      <p:pic>
        <p:nvPicPr>
          <p:cNvPr id="76" name="Image 18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6215177" y="5627218"/>
            <a:ext cx="105156" cy="133502"/>
          </a:xfrm>
          <a:prstGeom prst="rect">
            <a:avLst/>
          </a:prstGeom>
        </p:spPr>
      </p:pic>
      <p:sp>
        <p:nvSpPr>
          <p:cNvPr id="77" name="Text 56"/>
          <p:cNvSpPr txBox="1"/>
          <p:nvPr/>
        </p:nvSpPr>
        <p:spPr>
          <a:xfrm>
            <a:off x="6572707" y="5315407"/>
            <a:ext cx="402336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SCALE</a:t>
            </a:r>
            <a:endParaRPr lang="en-US" sz="900"/>
          </a:p>
        </p:txBody>
      </p:sp>
      <p:sp>
        <p:nvSpPr>
          <p:cNvPr id="78" name="Text 57"/>
          <p:cNvSpPr txBox="1"/>
          <p:nvPr/>
        </p:nvSpPr>
        <p:spPr>
          <a:xfrm>
            <a:off x="8569757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Q3</a:t>
            </a:r>
            <a:endParaRPr lang="en-US" sz="1200"/>
          </a:p>
        </p:txBody>
      </p:sp>
      <p:sp>
        <p:nvSpPr>
          <p:cNvPr id="79" name="Text 58"/>
          <p:cNvSpPr txBox="1"/>
          <p:nvPr/>
        </p:nvSpPr>
        <p:spPr>
          <a:xfrm>
            <a:off x="6572707" y="5505602"/>
            <a:ext cx="21625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Production deployment, integration, vendor onboarding</a:t>
            </a:r>
            <a:endParaRPr lang="en-US" sz="900"/>
          </a:p>
        </p:txBody>
      </p:sp>
      <p:sp>
        <p:nvSpPr>
          <p:cNvPr id="80" name="Shape 59"/>
          <p:cNvSpPr/>
          <p:nvPr/>
        </p:nvSpPr>
        <p:spPr>
          <a:xfrm>
            <a:off x="6572707" y="5897880"/>
            <a:ext cx="619049" cy="219456"/>
          </a:xfrm>
          <a:prstGeom prst="roundRect">
            <a:avLst>
              <a:gd name="adj" fmla="val 144928"/>
            </a:avLst>
          </a:prstGeom>
          <a:solidFill>
            <a:srgbClr val="F1F5F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60"/>
          <p:cNvSpPr txBox="1"/>
          <p:nvPr/>
        </p:nvSpPr>
        <p:spPr>
          <a:xfrm>
            <a:off x="6629400" y="5964631"/>
            <a:ext cx="661111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Execution</a:t>
            </a:r>
            <a:endParaRPr lang="en-US" sz="800"/>
          </a:p>
        </p:txBody>
      </p:sp>
      <p:pic>
        <p:nvPicPr>
          <p:cNvPr id="82" name="Image 19" descr="gen-dedup-6bab9f986820d248c4d42c53288c0e5d.png"/>
          <p:cNvPicPr>
            <a:picLocks noChangeAspect="1"/>
          </p:cNvPicPr>
          <p:nvPr/>
        </p:nvPicPr>
        <p:blipFill>
          <a:blip r:embed="rId14"/>
          <a:srcRect t="-5544" b="-5544"/>
          <a:stretch/>
        </p:blipFill>
        <p:spPr>
          <a:xfrm>
            <a:off x="8977579" y="5627218"/>
            <a:ext cx="105156" cy="133502"/>
          </a:xfrm>
          <a:prstGeom prst="rect">
            <a:avLst/>
          </a:prstGeom>
        </p:spPr>
      </p:pic>
      <p:sp>
        <p:nvSpPr>
          <p:cNvPr id="83" name="Text 61"/>
          <p:cNvSpPr txBox="1"/>
          <p:nvPr/>
        </p:nvSpPr>
        <p:spPr>
          <a:xfrm>
            <a:off x="9334195" y="5315407"/>
            <a:ext cx="63733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>
                <a:solidFill>
                  <a:srgbClr val="1E293B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OPTIMIZE</a:t>
            </a:r>
            <a:endParaRPr lang="en-US" sz="900"/>
          </a:p>
        </p:txBody>
      </p:sp>
      <p:sp>
        <p:nvSpPr>
          <p:cNvPr id="84" name="Text 62"/>
          <p:cNvSpPr txBox="1"/>
          <p:nvPr/>
        </p:nvSpPr>
        <p:spPr>
          <a:xfrm>
            <a:off x="11044123" y="5238598"/>
            <a:ext cx="1965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CBD5E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Q4</a:t>
            </a:r>
            <a:endParaRPr lang="en-US" sz="1200"/>
          </a:p>
        </p:txBody>
      </p:sp>
      <p:sp>
        <p:nvSpPr>
          <p:cNvPr id="85" name="Text 63"/>
          <p:cNvSpPr txBox="1"/>
          <p:nvPr/>
        </p:nvSpPr>
        <p:spPr>
          <a:xfrm>
            <a:off x="9334195" y="5505602"/>
            <a:ext cx="18772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47556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 ops, process tuning, continuous improvement</a:t>
            </a:r>
            <a:endParaRPr lang="en-US" sz="900"/>
          </a:p>
        </p:txBody>
      </p:sp>
      <p:sp>
        <p:nvSpPr>
          <p:cNvPr id="86" name="Text 64"/>
          <p:cNvSpPr txBox="1"/>
          <p:nvPr/>
        </p:nvSpPr>
        <p:spPr>
          <a:xfrm>
            <a:off x="9391802" y="5964631"/>
            <a:ext cx="737006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>
                <a:solidFill>
                  <a:srgbClr val="64748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Refinement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153050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858707" y="4000500"/>
            <a:ext cx="3810305" cy="3810305"/>
          </a:xfrm>
          <a:prstGeom prst="ellipse">
            <a:avLst/>
          </a:prstGeom>
          <a:noFill/>
          <a:ln w="508000">
            <a:solidFill>
              <a:srgbClr val="D62839">
                <a:alpha val="3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360" r="-360"/>
          <a:stretch/>
        </p:blipFill>
        <p:spPr>
          <a:xfrm>
            <a:off x="609905" y="523951"/>
            <a:ext cx="57607" cy="38130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9302" y="381305"/>
            <a:ext cx="43626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How We Move Forward</a:t>
            </a:r>
            <a:endParaRPr lang="en-US" sz="2700"/>
          </a:p>
        </p:txBody>
      </p:sp>
      <p:sp>
        <p:nvSpPr>
          <p:cNvPr id="7" name="Text 4"/>
          <p:cNvSpPr txBox="1"/>
          <p:nvPr/>
        </p:nvSpPr>
        <p:spPr>
          <a:xfrm>
            <a:off x="819302" y="780898"/>
            <a:ext cx="48582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68" dirty="0">
                <a:solidFill>
                  <a:srgbClr val="2A9D8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From Conversation To Capability In Four Steps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2175358" y="4538167"/>
            <a:ext cx="609905" cy="91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556662" y="4390949"/>
            <a:ext cx="70866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45">
                <a:solidFill>
                  <a:srgbClr val="2A9D8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This Partnership Allows Your GCC to Compound Over Time</a:t>
            </a:r>
            <a:endParaRPr lang="en-US" sz="180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l="-2111" r="-2111"/>
          <a:stretch/>
        </p:blipFill>
        <p:spPr>
          <a:xfrm>
            <a:off x="9407347" y="4538167"/>
            <a:ext cx="609905" cy="914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57200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457200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 txBox="1"/>
          <p:nvPr/>
        </p:nvSpPr>
        <p:spPr>
          <a:xfrm>
            <a:off x="2591410" y="1333195"/>
            <a:ext cx="601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01</a:t>
            </a:r>
            <a:endParaRPr lang="en-US" sz="3600"/>
          </a:p>
        </p:txBody>
      </p:sp>
      <p:sp>
        <p:nvSpPr>
          <p:cNvPr id="14" name="Shape 9"/>
          <p:cNvSpPr/>
          <p:nvPr/>
        </p:nvSpPr>
        <p:spPr>
          <a:xfrm>
            <a:off x="3333902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3333902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 txBox="1"/>
          <p:nvPr/>
        </p:nvSpPr>
        <p:spPr>
          <a:xfrm>
            <a:off x="5409590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02</a:t>
            </a:r>
            <a:endParaRPr lang="en-US" sz="3600"/>
          </a:p>
        </p:txBody>
      </p:sp>
      <p:sp>
        <p:nvSpPr>
          <p:cNvPr id="17" name="Shape 12"/>
          <p:cNvSpPr/>
          <p:nvPr/>
        </p:nvSpPr>
        <p:spPr>
          <a:xfrm>
            <a:off x="6210605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210605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 txBox="1"/>
          <p:nvPr/>
        </p:nvSpPr>
        <p:spPr>
          <a:xfrm>
            <a:off x="8286293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2A9D8F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03</a:t>
            </a:r>
            <a:endParaRPr lang="en-US" sz="3600"/>
          </a:p>
        </p:txBody>
      </p:sp>
      <p:sp>
        <p:nvSpPr>
          <p:cNvPr id="20" name="Shape 15"/>
          <p:cNvSpPr/>
          <p:nvPr/>
        </p:nvSpPr>
        <p:spPr>
          <a:xfrm>
            <a:off x="9087307" y="1238098"/>
            <a:ext cx="2648102" cy="2743200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9087307" y="1238098"/>
            <a:ext cx="2648102" cy="57607"/>
          </a:xfrm>
          <a:prstGeom prst="roundRect">
            <a:avLst>
              <a:gd name="adj" fmla="val 137034"/>
            </a:avLst>
          </a:prstGeom>
          <a:solidFill>
            <a:srgbClr val="D62839"/>
          </a:solidFill>
          <a:ln w="12700">
            <a:solidFill>
              <a:srgbClr val="D6283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 txBox="1"/>
          <p:nvPr/>
        </p:nvSpPr>
        <p:spPr>
          <a:xfrm>
            <a:off x="11157509" y="1333195"/>
            <a:ext cx="60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D62839">
                    <a:alpha val="8000"/>
                  </a:srgbClr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04</a:t>
            </a:r>
            <a:endParaRPr lang="en-US" sz="3600"/>
          </a:p>
        </p:txBody>
      </p:sp>
      <p:sp>
        <p:nvSpPr>
          <p:cNvPr id="23" name="Shape 18"/>
          <p:cNvSpPr/>
          <p:nvPr/>
        </p:nvSpPr>
        <p:spPr>
          <a:xfrm>
            <a:off x="457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57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1723644" y="5140757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80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Institutional memory outperforms headcount growth by preserving critical knowledge and expertise</a:t>
            </a:r>
            <a:endParaRPr lang="en-US" sz="1000"/>
          </a:p>
        </p:txBody>
      </p:sp>
      <p:sp>
        <p:nvSpPr>
          <p:cNvPr id="27" name="Shape 21"/>
          <p:cNvSpPr/>
          <p:nvPr/>
        </p:nvSpPr>
        <p:spPr>
          <a:xfrm>
            <a:off x="3314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3314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52798" y="5140757"/>
            <a:ext cx="228600" cy="2286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438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Signals beat noise in decision-making through data governance and platform leverage</a:t>
            </a:r>
            <a:endParaRPr lang="en-US" sz="1000"/>
          </a:p>
        </p:txBody>
      </p:sp>
      <p:sp>
        <p:nvSpPr>
          <p:cNvPr id="31" name="Shape 24"/>
          <p:cNvSpPr/>
          <p:nvPr/>
        </p:nvSpPr>
        <p:spPr>
          <a:xfrm>
            <a:off x="61722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6172200" y="4809744"/>
            <a:ext cx="38405" cy="1505102"/>
          </a:xfrm>
          <a:prstGeom prst="rect">
            <a:avLst/>
          </a:prstGeom>
          <a:solidFill>
            <a:srgbClr val="2A9D8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10298" y="5140757"/>
            <a:ext cx="228600" cy="228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2956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Platforms enable non-linear productivity gains beyond traditional pod-based scaling</a:t>
            </a:r>
            <a:endParaRPr lang="en-US" sz="1000"/>
          </a:p>
        </p:txBody>
      </p:sp>
      <p:sp>
        <p:nvSpPr>
          <p:cNvPr id="35" name="Shape 27"/>
          <p:cNvSpPr/>
          <p:nvPr/>
        </p:nvSpPr>
        <p:spPr>
          <a:xfrm>
            <a:off x="9029700" y="4809744"/>
            <a:ext cx="2704795" cy="1524305"/>
          </a:xfrm>
          <a:prstGeom prst="roundRect">
            <a:avLst>
              <a:gd name="adj" fmla="val 5999"/>
            </a:avLst>
          </a:prstGeom>
          <a:solidFill>
            <a:srgbClr val="FFFFFF"/>
          </a:solidFill>
          <a:ln w="1270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9029700" y="4809744"/>
            <a:ext cx="38405" cy="1505102"/>
          </a:xfrm>
          <a:prstGeom prst="rect">
            <a:avLst/>
          </a:prstGeom>
          <a:solidFill>
            <a:srgbClr val="D62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10254082" y="5140757"/>
            <a:ext cx="256946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153144" y="5550408"/>
            <a:ext cx="245790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37415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GCC operates as a strategic asset, driving sustained value rather than being a cost centre</a:t>
            </a:r>
            <a:endParaRPr lang="en-US" sz="1000"/>
          </a:p>
        </p:txBody>
      </p:sp>
      <p:sp>
        <p:nvSpPr>
          <p:cNvPr id="39" name="Shape 30"/>
          <p:cNvSpPr/>
          <p:nvPr/>
        </p:nvSpPr>
        <p:spPr>
          <a:xfrm>
            <a:off x="1514246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695298" y="1714500"/>
            <a:ext cx="171907" cy="22860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1264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Assess</a:t>
            </a:r>
            <a:endParaRPr lang="en-US" sz="1800"/>
          </a:p>
        </p:txBody>
      </p:sp>
      <p:sp>
        <p:nvSpPr>
          <p:cNvPr id="42" name="Text 32"/>
          <p:cNvSpPr txBox="1"/>
          <p:nvPr/>
        </p:nvSpPr>
        <p:spPr>
          <a:xfrm>
            <a:off x="619049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Map your current GCC capability maturity. Identify what's working, what's plateauing, and where AI-readiness gaps exist.</a:t>
            </a:r>
            <a:endParaRPr lang="en-US" sz="1200"/>
          </a:p>
        </p:txBody>
      </p:sp>
      <p:sp>
        <p:nvSpPr>
          <p:cNvPr id="43" name="Shape 33"/>
          <p:cNvSpPr/>
          <p:nvPr/>
        </p:nvSpPr>
        <p:spPr>
          <a:xfrm>
            <a:off x="4390949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543654" y="1714500"/>
            <a:ext cx="228600" cy="2286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3488436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Identify</a:t>
            </a:r>
            <a:endParaRPr lang="en-US" sz="1800"/>
          </a:p>
        </p:txBody>
      </p:sp>
      <p:sp>
        <p:nvSpPr>
          <p:cNvPr id="46" name="Text 35"/>
          <p:cNvSpPr txBox="1"/>
          <p:nvPr/>
        </p:nvSpPr>
        <p:spPr>
          <a:xfrm>
            <a:off x="3495751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Pinpoint high-judgment domains where Human+AI pods deliver highest leverage — not everything at once, right things first.</a:t>
            </a:r>
            <a:endParaRPr lang="en-US" sz="1200"/>
          </a:p>
        </p:txBody>
      </p:sp>
      <p:sp>
        <p:nvSpPr>
          <p:cNvPr id="47" name="Shape 36"/>
          <p:cNvSpPr/>
          <p:nvPr/>
        </p:nvSpPr>
        <p:spPr>
          <a:xfrm>
            <a:off x="7267651" y="1561795"/>
            <a:ext cx="533095" cy="533095"/>
          </a:xfrm>
          <a:prstGeom prst="ellipse">
            <a:avLst/>
          </a:prstGeom>
          <a:solidFill>
            <a:srgbClr val="2A9D8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420356" y="1714500"/>
            <a:ext cx="228600" cy="22860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6365138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Pilot</a:t>
            </a:r>
            <a:endParaRPr lang="en-US" sz="1800"/>
          </a:p>
        </p:txBody>
      </p:sp>
      <p:sp>
        <p:nvSpPr>
          <p:cNvPr id="50" name="Text 38"/>
          <p:cNvSpPr txBox="1"/>
          <p:nvPr/>
        </p:nvSpPr>
        <p:spPr>
          <a:xfrm>
            <a:off x="6372454" y="2667305"/>
            <a:ext cx="2324405" cy="1047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Launch a blended Human+AI pod in one business unit. Measure decision cycle time, productivity uplift, and innovation output.</a:t>
            </a:r>
            <a:endParaRPr lang="en-US" sz="1200"/>
          </a:p>
        </p:txBody>
      </p:sp>
      <p:sp>
        <p:nvSpPr>
          <p:cNvPr id="51" name="Shape 39"/>
          <p:cNvSpPr/>
          <p:nvPr/>
        </p:nvSpPr>
        <p:spPr>
          <a:xfrm>
            <a:off x="10144354" y="1561795"/>
            <a:ext cx="533095" cy="533095"/>
          </a:xfrm>
          <a:prstGeom prst="ellipse">
            <a:avLst/>
          </a:prstGeom>
          <a:solidFill>
            <a:srgbClr val="D6283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1"/>
          <a:srcRect l="-80" r="-80"/>
          <a:stretch/>
        </p:blipFill>
        <p:spPr>
          <a:xfrm>
            <a:off x="10267798" y="1714500"/>
            <a:ext cx="286207" cy="22860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241841" y="2247595"/>
            <a:ext cx="233812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1F293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Align</a:t>
            </a:r>
            <a:endParaRPr lang="en-US" sz="1800"/>
          </a:p>
        </p:txBody>
      </p:sp>
      <p:sp>
        <p:nvSpPr>
          <p:cNvPr id="54" name="Text 41"/>
          <p:cNvSpPr txBox="1"/>
          <p:nvPr/>
        </p:nvSpPr>
        <p:spPr>
          <a:xfrm>
            <a:off x="9249156" y="2667305"/>
            <a:ext cx="232440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Restructure contracts from FTE-based pricing to outcome-aligned models. Tie value to results, not headcount.</a:t>
            </a:r>
            <a:endParaRPr lang="en-US" sz="1200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180283" y="2457907"/>
            <a:ext cx="304495" cy="304495"/>
          </a:xfrm>
          <a:prstGeom prst="rect">
            <a:avLst/>
          </a:prstGeom>
        </p:spPr>
      </p:pic>
      <p:pic>
        <p:nvPicPr>
          <p:cNvPr id="56" name="Image 12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3270809" y="2542946"/>
            <a:ext cx="123444" cy="133502"/>
          </a:xfrm>
          <a:prstGeom prst="rect">
            <a:avLst/>
          </a:prstGeom>
        </p:spPr>
      </p:pic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000293" y="2457907"/>
            <a:ext cx="304495" cy="304495"/>
          </a:xfrm>
          <a:prstGeom prst="rect">
            <a:avLst/>
          </a:prstGeom>
        </p:spPr>
      </p:pic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6089904" y="2542946"/>
            <a:ext cx="123444" cy="133502"/>
          </a:xfrm>
          <a:prstGeom prst="rect">
            <a:avLst/>
          </a:prstGeom>
        </p:spPr>
      </p:pic>
      <p:pic>
        <p:nvPicPr>
          <p:cNvPr id="59" name="Image 15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8819388" y="2457907"/>
            <a:ext cx="304495" cy="304495"/>
          </a:xfrm>
          <a:prstGeom prst="rect">
            <a:avLst/>
          </a:prstGeom>
        </p:spPr>
      </p:pic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13"/>
          <a:srcRect l="-2838" r="-2838"/>
          <a:stretch/>
        </p:blipFill>
        <p:spPr>
          <a:xfrm>
            <a:off x="8909914" y="2542946"/>
            <a:ext cx="123444" cy="133502"/>
          </a:xfrm>
          <a:prstGeom prst="rect">
            <a:avLst/>
          </a:prstGeom>
        </p:spPr>
      </p:pic>
      <p:pic>
        <p:nvPicPr>
          <p:cNvPr id="61" name="Image 17" descr="preencoded.png"/>
          <p:cNvPicPr>
            <a:picLocks noChangeAspect="1"/>
          </p:cNvPicPr>
          <p:nvPr/>
        </p:nvPicPr>
        <p:blipFill>
          <a:blip r:embed="rId14"/>
          <a:srcRect l="-202" r="-202"/>
          <a:stretch/>
        </p:blipFill>
        <p:spPr>
          <a:xfrm>
            <a:off x="0" y="0"/>
            <a:ext cx="8128102" cy="75895"/>
          </a:xfrm>
          <a:prstGeom prst="rect">
            <a:avLst/>
          </a:prstGeom>
        </p:spPr>
      </p:pic>
      <p:pic>
        <p:nvPicPr>
          <p:cNvPr id="62" name="Image 18" descr="preencoded.png"/>
          <p:cNvPicPr>
            <a:picLocks noChangeAspect="1"/>
          </p:cNvPicPr>
          <p:nvPr/>
        </p:nvPicPr>
        <p:blipFill>
          <a:blip r:embed="rId15"/>
          <a:srcRect l="-197" r="-197"/>
          <a:stretch/>
        </p:blipFill>
        <p:spPr>
          <a:xfrm>
            <a:off x="8128102" y="0"/>
            <a:ext cx="4063594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442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382305" y="-1429207"/>
            <a:ext cx="4762195" cy="4762195"/>
          </a:xfrm>
          <a:prstGeom prst="ellipse">
            <a:avLst/>
          </a:prstGeom>
          <a:solidFill>
            <a:srgbClr val="2A9D8F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-952805" y="4476902"/>
            <a:ext cx="3810305" cy="3810305"/>
          </a:xfrm>
          <a:prstGeom prst="ellipse">
            <a:avLst/>
          </a:prstGeom>
          <a:solidFill>
            <a:srgbClr val="D62839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0" y="6782105"/>
            <a:ext cx="8128102" cy="7589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8128102" y="6782105"/>
            <a:ext cx="4063594" cy="7589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t="60" b="60"/>
          <a:stretch/>
        </p:blipFill>
        <p:spPr>
          <a:xfrm>
            <a:off x="4121201" y="914400"/>
            <a:ext cx="3952951" cy="190469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rcRect t="-420" b="-420"/>
          <a:stretch/>
        </p:blipFill>
        <p:spPr>
          <a:xfrm>
            <a:off x="5715000" y="3276295"/>
            <a:ext cx="761695" cy="3840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536899" y="3619195"/>
            <a:ext cx="51252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1" u="none" strike="noStrike" kern="0" cap="none" spc="150" normalizeH="0" baseline="0" noProof="0">
                <a:ln>
                  <a:noFill/>
                </a:ln>
                <a:solidFill>
                  <a:srgbClr val="4B5563"/>
                </a:solidFill>
                <a:effectLst/>
                <a:uLnTx/>
                <a:uFillTx/>
                <a:latin typeface="Raleway" pitchFamily="34" charset="0"/>
                <a:ea typeface="Raleway" pitchFamily="34" charset="-122"/>
                <a:cs typeface="Raleway" pitchFamily="34" charset="-120"/>
              </a:rPr>
              <a:t>"Let's win together"</a:t>
            </a:r>
            <a:endParaRPr kumimoji="0" lang="en-US" sz="3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1695" y="5410505"/>
            <a:ext cx="761695" cy="761695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8"/>
          <a:srcRect l="81" r="81"/>
          <a:stretch/>
        </p:blipFill>
        <p:spPr>
          <a:xfrm>
            <a:off x="3189427" y="5658307"/>
            <a:ext cx="809244" cy="267005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/>
          <a:srcRect l="7" r="7"/>
          <a:stretch/>
        </p:blipFill>
        <p:spPr>
          <a:xfrm>
            <a:off x="5665622" y="5453482"/>
            <a:ext cx="724205" cy="676656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0"/>
          <a:srcRect t="236" b="236"/>
          <a:stretch/>
        </p:blipFill>
        <p:spPr>
          <a:xfrm>
            <a:off x="8054950" y="5410505"/>
            <a:ext cx="1257300" cy="761695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1"/>
          <a:srcRect t="23" b="24"/>
          <a:stretch/>
        </p:blipFill>
        <p:spPr>
          <a:xfrm>
            <a:off x="10972800" y="5548579"/>
            <a:ext cx="457200" cy="485546"/>
          </a:xfrm>
          <a:prstGeom prst="rect">
            <a:avLst/>
          </a:prstGeom>
        </p:spPr>
      </p:pic>
      <p:pic>
        <p:nvPicPr>
          <p:cNvPr id="16" name="Image 9" descr="preencoded.png"/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0" y="0"/>
            <a:ext cx="4063594" cy="75895"/>
          </a:xfrm>
          <a:prstGeom prst="rect">
            <a:avLst/>
          </a:prstGeom>
        </p:spPr>
      </p:pic>
      <p:pic>
        <p:nvPicPr>
          <p:cNvPr id="17" name="Image 10" descr="preencoded.png"/>
          <p:cNvPicPr>
            <a:picLocks noChangeAspect="1"/>
          </p:cNvPicPr>
          <p:nvPr/>
        </p:nvPicPr>
        <p:blipFill>
          <a:blip r:embed="rId3"/>
          <a:srcRect l="-202" r="-202"/>
          <a:stretch/>
        </p:blipFill>
        <p:spPr>
          <a:xfrm>
            <a:off x="4063594" y="0"/>
            <a:ext cx="8128102" cy="7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747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7abb9d8cc081a24feb608c288538026.png"/>
          <p:cNvPicPr>
            <a:picLocks noChangeAspect="1"/>
          </p:cNvPicPr>
          <p:nvPr/>
        </p:nvPicPr>
        <p:blipFill>
          <a:blip r:embed="rId3"/>
          <a:srcRect l="-198" r="-198"/>
          <a:stretch/>
        </p:blipFill>
        <p:spPr>
          <a:xfrm>
            <a:off x="0" y="0"/>
            <a:ext cx="8124444" cy="75895"/>
          </a:xfrm>
          <a:prstGeom prst="rect">
            <a:avLst/>
          </a:prstGeom>
        </p:spPr>
      </p:pic>
      <p:pic>
        <p:nvPicPr>
          <p:cNvPr id="3" name="Image 1" descr="gen-dedup-c2c9136402f20c216bf7cbcc052ad1a0.png"/>
          <p:cNvPicPr>
            <a:picLocks noChangeAspect="1"/>
          </p:cNvPicPr>
          <p:nvPr/>
        </p:nvPicPr>
        <p:blipFill>
          <a:blip r:embed="rId4"/>
          <a:srcRect l="-202" r="-202"/>
          <a:stretch/>
        </p:blipFill>
        <p:spPr>
          <a:xfrm>
            <a:off x="8124444" y="0"/>
            <a:ext cx="4067251" cy="75895"/>
          </a:xfrm>
          <a:prstGeom prst="rect">
            <a:avLst/>
          </a:prstGeom>
        </p:spPr>
      </p:pic>
      <p:pic>
        <p:nvPicPr>
          <p:cNvPr id="4" name="Image 2" descr="gen-dedup-e46db74a4f97e080e2ee84f868b11606.png"/>
          <p:cNvPicPr>
            <a:picLocks noChangeAspect="1"/>
          </p:cNvPicPr>
          <p:nvPr/>
        </p:nvPicPr>
        <p:blipFill>
          <a:blip r:embed="rId5"/>
          <a:srcRect t="-384" b="-384"/>
          <a:stretch/>
        </p:blipFill>
        <p:spPr>
          <a:xfrm>
            <a:off x="5619902" y="2678278"/>
            <a:ext cx="952805" cy="38405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0195" y="3238805"/>
            <a:ext cx="11811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300" b="1" kern="0" spc="405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APPENDIX</a:t>
            </a:r>
            <a:endParaRPr lang="en-US" sz="6300" dirty="0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D269D29B-7F06-0A31-386E-55DE177850FF}"/>
              </a:ext>
            </a:extLst>
          </p:cNvPr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2A9D8F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22F98600-C71A-D446-B3E2-556E703264C2}"/>
              </a:ext>
            </a:extLst>
          </p:cNvPr>
          <p:cNvSpPr/>
          <p:nvPr/>
        </p:nvSpPr>
        <p:spPr>
          <a:xfrm>
            <a:off x="-952805" y="3047695"/>
            <a:ext cx="5715000" cy="5715000"/>
          </a:xfrm>
          <a:prstGeom prst="ellipse">
            <a:avLst/>
          </a:prstGeom>
          <a:solidFill>
            <a:srgbClr val="D62839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747F538-7189-52CD-A0B8-237E8B53D1A9}"/>
              </a:ext>
            </a:extLst>
          </p:cNvPr>
          <p:cNvSpPr/>
          <p:nvPr/>
        </p:nvSpPr>
        <p:spPr>
          <a:xfrm>
            <a:off x="609905" y="6096305"/>
            <a:ext cx="109728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31311054-91AE-5A3A-AACE-A0F31187E99D}"/>
              </a:ext>
            </a:extLst>
          </p:cNvPr>
          <p:cNvSpPr txBox="1"/>
          <p:nvPr/>
        </p:nvSpPr>
        <p:spPr>
          <a:xfrm>
            <a:off x="609905" y="6295644"/>
            <a:ext cx="129296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60" dirty="0">
                <a:solidFill>
                  <a:srgbClr val="111827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JOULESTOWATTS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6" descr="preencoded.png">
            <a:extLst>
              <a:ext uri="{FF2B5EF4-FFF2-40B4-BE49-F238E27FC236}">
                <a16:creationId xmlns:a16="http://schemas.microsoft.com/office/drawing/2014/main" id="{5B753806-8344-75DA-750F-D7D4897A8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400" r="-400"/>
          <a:stretch/>
        </p:blipFill>
        <p:spPr>
          <a:xfrm>
            <a:off x="457200" y="277281"/>
            <a:ext cx="57607" cy="457200"/>
          </a:xfrm>
          <a:prstGeom prst="rect">
            <a:avLst/>
          </a:prstGeom>
        </p:spPr>
      </p:pic>
      <p:sp>
        <p:nvSpPr>
          <p:cNvPr id="5" name="Text 33">
            <a:extLst>
              <a:ext uri="{FF2B5EF4-FFF2-40B4-BE49-F238E27FC236}">
                <a16:creationId xmlns:a16="http://schemas.microsoft.com/office/drawing/2014/main" id="{B6D878A4-6FA7-FEA7-B863-6FB6A47BEE61}"/>
              </a:ext>
            </a:extLst>
          </p:cNvPr>
          <p:cNvSpPr txBox="1"/>
          <p:nvPr/>
        </p:nvSpPr>
        <p:spPr>
          <a:xfrm>
            <a:off x="666598" y="227991"/>
            <a:ext cx="836035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</a:rPr>
              <a:t>Data </a:t>
            </a:r>
            <a:r>
              <a:rPr lang="en-US" sz="2700" b="1" kern="0" spc="-67" err="1">
                <a:solidFill>
                  <a:srgbClr val="111827"/>
                </a:solidFill>
                <a:latin typeface="Oswald" pitchFamily="34" charset="0"/>
              </a:rPr>
              <a:t>CoE</a:t>
            </a:r>
            <a:r>
              <a:rPr lang="en-US" sz="2700" b="1" kern="0" spc="-67">
                <a:solidFill>
                  <a:srgbClr val="111827"/>
                </a:solidFill>
                <a:latin typeface="Oswald" pitchFamily="34" charset="0"/>
              </a:rPr>
              <a:t> Framework</a:t>
            </a:r>
            <a:endParaRPr lang="en-US" sz="2700"/>
          </a:p>
        </p:txBody>
      </p:sp>
      <p:sp>
        <p:nvSpPr>
          <p:cNvPr id="6" name="Text 34">
            <a:extLst>
              <a:ext uri="{FF2B5EF4-FFF2-40B4-BE49-F238E27FC236}">
                <a16:creationId xmlns:a16="http://schemas.microsoft.com/office/drawing/2014/main" id="{B8A4FE25-4256-56C6-B36D-63EAA246C01E}"/>
              </a:ext>
            </a:extLst>
          </p:cNvPr>
          <p:cNvSpPr txBox="1"/>
          <p:nvPr/>
        </p:nvSpPr>
        <p:spPr>
          <a:xfrm>
            <a:off x="666598" y="658586"/>
            <a:ext cx="686988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75">
                <a:solidFill>
                  <a:srgbClr val="2A9D8F"/>
                </a:solidFill>
                <a:latin typeface="Roboto Condensed"/>
                <a:ea typeface="Roboto Condensed"/>
                <a:cs typeface="Roboto Condensed"/>
                <a:hlinkClick r:id="rId3"/>
              </a:rPr>
              <a:t>Explore the Capability</a:t>
            </a:r>
            <a:endParaRPr lang="en-US" sz="1500">
              <a:latin typeface="Roboto Condensed"/>
              <a:ea typeface="Roboto Condensed"/>
              <a:cs typeface="Roboto Condensed"/>
            </a:endParaRPr>
          </a:p>
        </p:txBody>
      </p:sp>
      <p:pic>
        <p:nvPicPr>
          <p:cNvPr id="7" name="Image 7" descr="preencoded.png">
            <a:extLst>
              <a:ext uri="{FF2B5EF4-FFF2-40B4-BE49-F238E27FC236}">
                <a16:creationId xmlns:a16="http://schemas.microsoft.com/office/drawing/2014/main" id="{F786F71B-2A7F-FF73-A96B-76931B442E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7" r="-197"/>
          <a:stretch/>
        </p:blipFill>
        <p:spPr>
          <a:xfrm>
            <a:off x="0" y="0"/>
            <a:ext cx="4063594" cy="75895"/>
          </a:xfrm>
          <a:prstGeom prst="rect">
            <a:avLst/>
          </a:prstGeom>
        </p:spPr>
      </p:pic>
      <p:pic>
        <p:nvPicPr>
          <p:cNvPr id="8" name="Image 8" descr="preencoded.png">
            <a:extLst>
              <a:ext uri="{FF2B5EF4-FFF2-40B4-BE49-F238E27FC236}">
                <a16:creationId xmlns:a16="http://schemas.microsoft.com/office/drawing/2014/main" id="{EAC53FD3-9115-514C-5187-6CF2F10A5A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02" r="-202"/>
          <a:stretch/>
        </p:blipFill>
        <p:spPr>
          <a:xfrm>
            <a:off x="4063594" y="0"/>
            <a:ext cx="8128102" cy="75895"/>
          </a:xfrm>
          <a:prstGeom prst="rect">
            <a:avLst/>
          </a:prstGeom>
        </p:spPr>
      </p:pic>
      <p:pic>
        <p:nvPicPr>
          <p:cNvPr id="14" name="Picture 13">
            <a:hlinkClick r:id="rId6"/>
            <a:extLst>
              <a:ext uri="{FF2B5EF4-FFF2-40B4-BE49-F238E27FC236}">
                <a16:creationId xmlns:a16="http://schemas.microsoft.com/office/drawing/2014/main" id="{4D3E195F-DE22-F9F6-E5FC-8445191F5E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5540" y="1231900"/>
            <a:ext cx="9660919" cy="5490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719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</TotalTime>
  <Words>6006</Words>
  <Application>Microsoft Office PowerPoint</Application>
  <PresentationFormat>Widescreen</PresentationFormat>
  <Paragraphs>1014</Paragraphs>
  <Slides>40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Inter</vt:lpstr>
      <vt:lpstr>Oswald</vt:lpstr>
      <vt:lpstr>Raleway</vt:lpstr>
      <vt:lpstr>Roboto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E36250417</dc:creator>
  <cp:lastModifiedBy>Athithia Krishna</cp:lastModifiedBy>
  <cp:revision>33</cp:revision>
  <dcterms:created xsi:type="dcterms:W3CDTF">2026-07-06T09:15:11Z</dcterms:created>
  <dcterms:modified xsi:type="dcterms:W3CDTF">2026-07-14T10:51:08Z</dcterms:modified>
</cp:coreProperties>
</file>