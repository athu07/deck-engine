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147483328" r:id="rId2"/>
    <p:sldId id="2147483329" r:id="rId3"/>
    <p:sldId id="2147483330" r:id="rId4"/>
    <p:sldId id="2147483327" r:id="rId5"/>
    <p:sldId id="2147483332" r:id="rId6"/>
    <p:sldId id="2147483331" r:id="rId7"/>
    <p:sldId id="2147483323" r:id="rId11"/>
    <p:sldId id="2147483416" r:id="rId12"/>
    <p:sldId id="2147483320" r:id="rId16"/>
    <p:sldId id="2147483418" r:id="rId13"/>
    <p:sldId id="2147483419" r:id="rId20"/>
    <p:sldId id="2147483305" r:id="rId8"/>
    <p:sldId id="299" r:id="rId9"/>
    <p:sldId id="2147483420" r:id="rId21"/>
    <p:sldId id="2147483421" r:id="rId22"/>
    <p:sldId id="2147483422" r:id="rId23"/>
    <p:sldId id="2147483423" r:id="rId24"/>
    <p:sldId id="2147483424" r:id="rId25"/>
    <p:sldId id="2147483425" r:id="rId26"/>
    <p:sldId id="2147483426" r:id="rId27"/>
    <p:sldId id="2147483427"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1.xml"/><Relationship Id="rId9" Type="http://schemas.openxmlformats.org/officeDocument/2006/relationships/slide" Target="slides/slide12.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10.xml"/><Relationship Id="rId16" Type="http://schemas.openxmlformats.org/officeDocument/2006/relationships/slide" Target="slides/slide9.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 Id="rId14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73587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jpeg"/><Relationship Id="rId8" Type="http://schemas.openxmlformats.org/officeDocument/2006/relationships/image" Target="../media/image34.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8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109.png"/><Relationship Id="rId6" Type="http://schemas.openxmlformats.org/officeDocument/2006/relationships/image" Target="../media/image110.png"/><Relationship Id="rId7" Type="http://schemas.openxmlformats.org/officeDocument/2006/relationships/image" Target="../media/image53.png"/><Relationship Id="rId8" Type="http://schemas.openxmlformats.org/officeDocument/2006/relationships/image" Target="../media/image111.png"/><Relationship Id="rId9" Type="http://schemas.openxmlformats.org/officeDocument/2006/relationships/image" Target="../media/image1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69.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 TECHNOLOGY ACCELERATORS | GAME CHANGERS</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219456"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7" name="Shape 5"/>
          <p:cNvSpPr/>
          <p:nvPr/>
        </p:nvSpPr>
        <p:spPr>
          <a:xfrm>
            <a:off x="219456"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8" name="Image 0" descr="preencoded.png"/>
          <p:cNvPicPr>
            <a:picLocks noChangeAspect="1"/>
          </p:cNvPicPr>
          <p:nvPr/>
        </p:nvPicPr>
        <p:blipFill>
          <a:blip r:embed="rId3"/>
          <a:stretch>
            <a:fillRect/>
          </a:stretch>
        </p:blipFill>
        <p:spPr>
          <a:xfrm>
            <a:off x="390144" y="1341120"/>
            <a:ext cx="414528" cy="414528"/>
          </a:xfrm>
          <a:prstGeom prst="rect">
            <a:avLst/>
          </a:prstGeom>
        </p:spPr>
      </p:pic>
      <p:sp>
        <p:nvSpPr>
          <p:cNvPr id="9" name="Text 6"/>
          <p:cNvSpPr/>
          <p:nvPr/>
        </p:nvSpPr>
        <p:spPr>
          <a:xfrm>
            <a:off x="341376"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Sourcing Engine</a:t>
            </a:r>
            <a:endParaRPr lang="en-US" sz="1467">
              <a:latin typeface="Oswald" panose="00000500000000000000" pitchFamily="2" charset="0"/>
            </a:endParaRPr>
          </a:p>
        </p:txBody>
      </p:sp>
      <p:sp>
        <p:nvSpPr>
          <p:cNvPr id="10" name="Text 7"/>
          <p:cNvSpPr/>
          <p:nvPr/>
        </p:nvSpPr>
        <p:spPr>
          <a:xfrm>
            <a:off x="341376"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AI-driven talent matching across 8,500+ active consultants and 1,250+ skills - niche to mainstream.</a:t>
            </a:r>
            <a:endParaRPr lang="en-US" sz="1133">
              <a:latin typeface="Raleway" pitchFamily="2" charset="0"/>
            </a:endParaRPr>
          </a:p>
        </p:txBody>
      </p:sp>
      <p:sp>
        <p:nvSpPr>
          <p:cNvPr id="11" name="Shape 8"/>
          <p:cNvSpPr/>
          <p:nvPr/>
        </p:nvSpPr>
        <p:spPr>
          <a:xfrm>
            <a:off x="3108960"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12" name="Shape 9"/>
          <p:cNvSpPr/>
          <p:nvPr/>
        </p:nvSpPr>
        <p:spPr>
          <a:xfrm>
            <a:off x="3108960"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3279648" y="1341120"/>
            <a:ext cx="414528" cy="414528"/>
          </a:xfrm>
          <a:prstGeom prst="rect">
            <a:avLst/>
          </a:prstGeom>
        </p:spPr>
      </p:pic>
      <p:sp>
        <p:nvSpPr>
          <p:cNvPr id="14" name="Text 10"/>
          <p:cNvSpPr/>
          <p:nvPr/>
        </p:nvSpPr>
        <p:spPr>
          <a:xfrm>
            <a:off x="3230880"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Human + AI Teams</a:t>
            </a:r>
            <a:endParaRPr lang="en-US" sz="1467">
              <a:latin typeface="Oswald" panose="00000500000000000000" pitchFamily="2" charset="0"/>
            </a:endParaRPr>
          </a:p>
        </p:txBody>
      </p:sp>
      <p:sp>
        <p:nvSpPr>
          <p:cNvPr id="15" name="Text 11"/>
          <p:cNvSpPr/>
          <p:nvPr/>
        </p:nvSpPr>
        <p:spPr>
          <a:xfrm>
            <a:off x="3230880"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Blended delivery with AI productivity tools embedded from Day 1. Capability stacks over role pyramids.</a:t>
            </a:r>
            <a:endParaRPr lang="en-US" sz="1133">
              <a:latin typeface="Raleway" pitchFamily="2" charset="0"/>
            </a:endParaRPr>
          </a:p>
        </p:txBody>
      </p:sp>
      <p:sp>
        <p:nvSpPr>
          <p:cNvPr id="16" name="Shape 12"/>
          <p:cNvSpPr/>
          <p:nvPr/>
        </p:nvSpPr>
        <p:spPr>
          <a:xfrm>
            <a:off x="5998464"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17" name="Shape 13"/>
          <p:cNvSpPr/>
          <p:nvPr/>
        </p:nvSpPr>
        <p:spPr>
          <a:xfrm>
            <a:off x="5998464"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8" name="Image 2" descr="preencoded.png"/>
          <p:cNvPicPr>
            <a:picLocks noChangeAspect="1"/>
          </p:cNvPicPr>
          <p:nvPr/>
        </p:nvPicPr>
        <p:blipFill>
          <a:blip r:embed="rId5"/>
          <a:stretch>
            <a:fillRect/>
          </a:stretch>
        </p:blipFill>
        <p:spPr>
          <a:xfrm>
            <a:off x="6169152" y="1341120"/>
            <a:ext cx="414528" cy="414528"/>
          </a:xfrm>
          <a:prstGeom prst="rect">
            <a:avLst/>
          </a:prstGeom>
        </p:spPr>
      </p:pic>
      <p:sp>
        <p:nvSpPr>
          <p:cNvPr id="19" name="Text 14"/>
          <p:cNvSpPr/>
          <p:nvPr/>
        </p:nvSpPr>
        <p:spPr>
          <a:xfrm>
            <a:off x="6120384"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Fully Managed</a:t>
            </a:r>
            <a:endParaRPr lang="en-US" sz="1467">
              <a:latin typeface="Oswald" panose="00000500000000000000" pitchFamily="2" charset="0"/>
            </a:endParaRPr>
          </a:p>
        </p:txBody>
      </p:sp>
      <p:sp>
        <p:nvSpPr>
          <p:cNvPr id="20" name="Text 15"/>
          <p:cNvSpPr/>
          <p:nvPr/>
        </p:nvSpPr>
        <p:spPr>
          <a:xfrm>
            <a:off x="6120384"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J2W owns payroll, compliance, onboarding and HR. Zero admin burden on the client side.</a:t>
            </a:r>
            <a:endParaRPr lang="en-US" sz="1133">
              <a:latin typeface="Raleway" pitchFamily="2" charset="0"/>
            </a:endParaRPr>
          </a:p>
        </p:txBody>
      </p:sp>
      <p:sp>
        <p:nvSpPr>
          <p:cNvPr id="21" name="Shape 16"/>
          <p:cNvSpPr/>
          <p:nvPr/>
        </p:nvSpPr>
        <p:spPr>
          <a:xfrm>
            <a:off x="8887968"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22" name="Shape 17"/>
          <p:cNvSpPr/>
          <p:nvPr/>
        </p:nvSpPr>
        <p:spPr>
          <a:xfrm>
            <a:off x="8887968"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23" name="Image 3" descr="preencoded.png"/>
          <p:cNvPicPr>
            <a:picLocks noChangeAspect="1"/>
          </p:cNvPicPr>
          <p:nvPr/>
        </p:nvPicPr>
        <p:blipFill>
          <a:blip r:embed="rId6"/>
          <a:stretch>
            <a:fillRect/>
          </a:stretch>
        </p:blipFill>
        <p:spPr>
          <a:xfrm>
            <a:off x="9058656" y="1341120"/>
            <a:ext cx="414528" cy="414528"/>
          </a:xfrm>
          <a:prstGeom prst="rect">
            <a:avLst/>
          </a:prstGeom>
        </p:spPr>
      </p:pic>
      <p:sp>
        <p:nvSpPr>
          <p:cNvPr id="24" name="Text 18"/>
          <p:cNvSpPr/>
          <p:nvPr/>
        </p:nvSpPr>
        <p:spPr>
          <a:xfrm>
            <a:off x="9009888"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AI-First L&amp;D</a:t>
            </a:r>
            <a:endParaRPr lang="en-US" sz="1467">
              <a:latin typeface="Oswald" panose="00000500000000000000" pitchFamily="2" charset="0"/>
            </a:endParaRPr>
          </a:p>
        </p:txBody>
      </p:sp>
      <p:sp>
        <p:nvSpPr>
          <p:cNvPr id="25" name="Text 19"/>
          <p:cNvSpPr/>
          <p:nvPr/>
        </p:nvSpPr>
        <p:spPr>
          <a:xfrm>
            <a:off x="9009888"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Continuous upskilling via J2W </a:t>
            </a:r>
            <a:r>
              <a:rPr lang="en-US" sz="1133" err="1">
                <a:solidFill>
                  <a:srgbClr val="555555"/>
                </a:solidFill>
                <a:latin typeface="Raleway" pitchFamily="2" charset="0"/>
                <a:ea typeface="Calibri" pitchFamily="34" charset="-122"/>
                <a:cs typeface="Calibri" pitchFamily="34" charset="-120"/>
              </a:rPr>
              <a:t>CoE</a:t>
            </a:r>
            <a:r>
              <a:rPr lang="en-US" sz="1133">
                <a:solidFill>
                  <a:srgbClr val="555555"/>
                </a:solidFill>
                <a:latin typeface="Raleway" pitchFamily="2" charset="0"/>
                <a:ea typeface="Calibri" pitchFamily="34" charset="-122"/>
                <a:cs typeface="Calibri" pitchFamily="34" charset="-120"/>
              </a:rPr>
              <a:t> - contextual, hands-on AI training powered by Research Wing.</a:t>
            </a:r>
            <a:endParaRPr lang="en-US" sz="1133">
              <a:latin typeface="Raleway" pitchFamily="2" charset="0"/>
            </a:endParaRPr>
          </a:p>
        </p:txBody>
      </p:sp>
      <p:sp>
        <p:nvSpPr>
          <p:cNvPr id="26" name="Text 20"/>
          <p:cNvSpPr/>
          <p:nvPr/>
        </p:nvSpPr>
        <p:spPr>
          <a:xfrm>
            <a:off x="341376" y="3291840"/>
            <a:ext cx="256032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Dimension</a:t>
            </a:r>
            <a:endParaRPr lang="en-US" sz="1267">
              <a:latin typeface="Raleway" pitchFamily="2" charset="0"/>
            </a:endParaRPr>
          </a:p>
        </p:txBody>
      </p:sp>
      <p:sp>
        <p:nvSpPr>
          <p:cNvPr id="27" name="Text 21"/>
          <p:cNvSpPr/>
          <p:nvPr/>
        </p:nvSpPr>
        <p:spPr>
          <a:xfrm>
            <a:off x="2901696" y="3291840"/>
            <a:ext cx="402336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Traditional Staffing</a:t>
            </a:r>
            <a:endParaRPr lang="en-US" sz="1267">
              <a:latin typeface="Raleway" pitchFamily="2" charset="0"/>
            </a:endParaRPr>
          </a:p>
        </p:txBody>
      </p:sp>
      <p:sp>
        <p:nvSpPr>
          <p:cNvPr id="28" name="Text 22"/>
          <p:cNvSpPr/>
          <p:nvPr/>
        </p:nvSpPr>
        <p:spPr>
          <a:xfrm>
            <a:off x="6925056" y="3291840"/>
            <a:ext cx="4949952"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 Workforce</a:t>
            </a:r>
            <a:endParaRPr lang="en-US" sz="1267">
              <a:latin typeface="Raleway" pitchFamily="2" charset="0"/>
            </a:endParaRPr>
          </a:p>
        </p:txBody>
      </p:sp>
      <p:sp>
        <p:nvSpPr>
          <p:cNvPr id="29" name="Shape 23"/>
          <p:cNvSpPr/>
          <p:nvPr/>
        </p:nvSpPr>
        <p:spPr>
          <a:xfrm>
            <a:off x="219456" y="3681984"/>
            <a:ext cx="11533632" cy="0"/>
          </a:xfrm>
          <a:prstGeom prst="line">
            <a:avLst/>
          </a:prstGeom>
          <a:noFill/>
          <a:ln w="9525">
            <a:solidFill>
              <a:srgbClr val="0D9488"/>
            </a:solidFill>
            <a:prstDash val="solid"/>
          </a:ln>
        </p:spPr>
        <p:txBody>
          <a:bodyPr/>
          <a:lstStyle/>
          <a:p>
            <a:endParaRPr lang="en-US" sz="2400"/>
          </a:p>
        </p:txBody>
      </p:sp>
      <p:sp>
        <p:nvSpPr>
          <p:cNvPr id="30" name="Shape 24"/>
          <p:cNvSpPr/>
          <p:nvPr/>
        </p:nvSpPr>
        <p:spPr>
          <a:xfrm>
            <a:off x="219456" y="3681984"/>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31" name="Text 25"/>
          <p:cNvSpPr/>
          <p:nvPr/>
        </p:nvSpPr>
        <p:spPr>
          <a:xfrm>
            <a:off x="341376" y="3730752"/>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Speed to Deploy</a:t>
            </a:r>
            <a:endParaRPr lang="en-US" sz="1267">
              <a:latin typeface="Raleway" pitchFamily="2" charset="0"/>
            </a:endParaRPr>
          </a:p>
        </p:txBody>
      </p:sp>
      <p:sp>
        <p:nvSpPr>
          <p:cNvPr id="32" name="Text 26"/>
          <p:cNvSpPr/>
          <p:nvPr/>
        </p:nvSpPr>
        <p:spPr>
          <a:xfrm>
            <a:off x="2901696" y="3730752"/>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Weeks to months</a:t>
            </a:r>
            <a:endParaRPr lang="en-US" sz="1267">
              <a:latin typeface="Raleway" pitchFamily="2" charset="0"/>
            </a:endParaRPr>
          </a:p>
        </p:txBody>
      </p:sp>
      <p:pic>
        <p:nvPicPr>
          <p:cNvPr id="33" name="Image 4" descr="preencoded.png"/>
          <p:cNvPicPr>
            <a:picLocks noChangeAspect="1"/>
          </p:cNvPicPr>
          <p:nvPr/>
        </p:nvPicPr>
        <p:blipFill>
          <a:blip r:embed="rId7"/>
          <a:stretch>
            <a:fillRect/>
          </a:stretch>
        </p:blipFill>
        <p:spPr>
          <a:xfrm>
            <a:off x="6900672" y="3791712"/>
            <a:ext cx="219456" cy="219456"/>
          </a:xfrm>
          <a:prstGeom prst="rect">
            <a:avLst/>
          </a:prstGeom>
        </p:spPr>
      </p:pic>
      <p:sp>
        <p:nvSpPr>
          <p:cNvPr id="34" name="Text 27"/>
          <p:cNvSpPr/>
          <p:nvPr/>
        </p:nvSpPr>
        <p:spPr>
          <a:xfrm>
            <a:off x="7193280" y="3730752"/>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1 engineer onboarded per hour</a:t>
            </a:r>
            <a:endParaRPr lang="en-US" sz="1267">
              <a:latin typeface="Raleway" pitchFamily="2" charset="0"/>
            </a:endParaRPr>
          </a:p>
        </p:txBody>
      </p:sp>
      <p:sp>
        <p:nvSpPr>
          <p:cNvPr id="35" name="Shape 28"/>
          <p:cNvSpPr/>
          <p:nvPr/>
        </p:nvSpPr>
        <p:spPr>
          <a:xfrm>
            <a:off x="219456" y="4114800"/>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36" name="Text 29"/>
          <p:cNvSpPr/>
          <p:nvPr/>
        </p:nvSpPr>
        <p:spPr>
          <a:xfrm>
            <a:off x="341376" y="4163568"/>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Team Composition</a:t>
            </a:r>
            <a:endParaRPr lang="en-US" sz="1267">
              <a:latin typeface="Raleway" pitchFamily="2" charset="0"/>
            </a:endParaRPr>
          </a:p>
        </p:txBody>
      </p:sp>
      <p:sp>
        <p:nvSpPr>
          <p:cNvPr id="37" name="Text 30"/>
          <p:cNvSpPr/>
          <p:nvPr/>
        </p:nvSpPr>
        <p:spPr>
          <a:xfrm>
            <a:off x="2901696" y="4163568"/>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Single-role profile deployments</a:t>
            </a:r>
            <a:endParaRPr lang="en-US" sz="1267">
              <a:latin typeface="Raleway" pitchFamily="2" charset="0"/>
            </a:endParaRPr>
          </a:p>
        </p:txBody>
      </p:sp>
      <p:pic>
        <p:nvPicPr>
          <p:cNvPr id="38" name="Image 5" descr="preencoded.png"/>
          <p:cNvPicPr>
            <a:picLocks noChangeAspect="1"/>
          </p:cNvPicPr>
          <p:nvPr/>
        </p:nvPicPr>
        <p:blipFill>
          <a:blip r:embed="rId7"/>
          <a:stretch>
            <a:fillRect/>
          </a:stretch>
        </p:blipFill>
        <p:spPr>
          <a:xfrm>
            <a:off x="6900672" y="4224528"/>
            <a:ext cx="219456" cy="219456"/>
          </a:xfrm>
          <a:prstGeom prst="rect">
            <a:avLst/>
          </a:prstGeom>
        </p:spPr>
      </p:pic>
      <p:sp>
        <p:nvSpPr>
          <p:cNvPr id="39" name="Text 31"/>
          <p:cNvSpPr/>
          <p:nvPr/>
        </p:nvSpPr>
        <p:spPr>
          <a:xfrm>
            <a:off x="7193280" y="4163568"/>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Human + AI blended capability stacks</a:t>
            </a:r>
            <a:endParaRPr lang="en-US" sz="1267">
              <a:latin typeface="Raleway" pitchFamily="2" charset="0"/>
            </a:endParaRPr>
          </a:p>
        </p:txBody>
      </p:sp>
      <p:sp>
        <p:nvSpPr>
          <p:cNvPr id="40" name="Shape 32"/>
          <p:cNvSpPr/>
          <p:nvPr/>
        </p:nvSpPr>
        <p:spPr>
          <a:xfrm>
            <a:off x="219456" y="4547616"/>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41" name="Text 33"/>
          <p:cNvSpPr/>
          <p:nvPr/>
        </p:nvSpPr>
        <p:spPr>
          <a:xfrm>
            <a:off x="341376" y="4596384"/>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Governance</a:t>
            </a:r>
            <a:endParaRPr lang="en-US" sz="1267">
              <a:latin typeface="Raleway" pitchFamily="2" charset="0"/>
            </a:endParaRPr>
          </a:p>
        </p:txBody>
      </p:sp>
      <p:sp>
        <p:nvSpPr>
          <p:cNvPr id="42" name="Text 34"/>
          <p:cNvSpPr/>
          <p:nvPr/>
        </p:nvSpPr>
        <p:spPr>
          <a:xfrm>
            <a:off x="2901696" y="4596384"/>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Client's burden</a:t>
            </a:r>
            <a:endParaRPr lang="en-US" sz="1267">
              <a:latin typeface="Raleway" pitchFamily="2" charset="0"/>
            </a:endParaRPr>
          </a:p>
        </p:txBody>
      </p:sp>
      <p:pic>
        <p:nvPicPr>
          <p:cNvPr id="43" name="Image 6" descr="preencoded.png"/>
          <p:cNvPicPr>
            <a:picLocks noChangeAspect="1"/>
          </p:cNvPicPr>
          <p:nvPr/>
        </p:nvPicPr>
        <p:blipFill>
          <a:blip r:embed="rId7"/>
          <a:stretch>
            <a:fillRect/>
          </a:stretch>
        </p:blipFill>
        <p:spPr>
          <a:xfrm>
            <a:off x="6900672" y="4657344"/>
            <a:ext cx="219456" cy="219456"/>
          </a:xfrm>
          <a:prstGeom prst="rect">
            <a:avLst/>
          </a:prstGeom>
        </p:spPr>
      </p:pic>
      <p:sp>
        <p:nvSpPr>
          <p:cNvPr id="44" name="Text 35"/>
          <p:cNvSpPr/>
          <p:nvPr/>
        </p:nvSpPr>
        <p:spPr>
          <a:xfrm>
            <a:off x="7193280" y="4596384"/>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J2W-owned - HRBP implant at every site</a:t>
            </a:r>
            <a:endParaRPr lang="en-US" sz="1267">
              <a:latin typeface="Raleway" pitchFamily="2" charset="0"/>
            </a:endParaRPr>
          </a:p>
        </p:txBody>
      </p:sp>
      <p:sp>
        <p:nvSpPr>
          <p:cNvPr id="45" name="Shape 36"/>
          <p:cNvSpPr/>
          <p:nvPr/>
        </p:nvSpPr>
        <p:spPr>
          <a:xfrm>
            <a:off x="219456" y="4980432"/>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46" name="Text 37"/>
          <p:cNvSpPr/>
          <p:nvPr/>
        </p:nvSpPr>
        <p:spPr>
          <a:xfrm>
            <a:off x="341376" y="5029200"/>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Performance Issues</a:t>
            </a:r>
            <a:endParaRPr lang="en-US" sz="1267">
              <a:latin typeface="Raleway" pitchFamily="2" charset="0"/>
            </a:endParaRPr>
          </a:p>
        </p:txBody>
      </p:sp>
      <p:sp>
        <p:nvSpPr>
          <p:cNvPr id="47" name="Text 38"/>
          <p:cNvSpPr/>
          <p:nvPr/>
        </p:nvSpPr>
        <p:spPr>
          <a:xfrm>
            <a:off x="2901696" y="5029200"/>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Escalation after the fact</a:t>
            </a:r>
            <a:endParaRPr lang="en-US" sz="1267">
              <a:latin typeface="Raleway" pitchFamily="2" charset="0"/>
            </a:endParaRPr>
          </a:p>
        </p:txBody>
      </p:sp>
      <p:pic>
        <p:nvPicPr>
          <p:cNvPr id="48" name="Image 7" descr="preencoded.png"/>
          <p:cNvPicPr>
            <a:picLocks noChangeAspect="1"/>
          </p:cNvPicPr>
          <p:nvPr/>
        </p:nvPicPr>
        <p:blipFill>
          <a:blip r:embed="rId7"/>
          <a:stretch>
            <a:fillRect/>
          </a:stretch>
        </p:blipFill>
        <p:spPr>
          <a:xfrm>
            <a:off x="6900672" y="5090160"/>
            <a:ext cx="219456" cy="219456"/>
          </a:xfrm>
          <a:prstGeom prst="rect">
            <a:avLst/>
          </a:prstGeom>
        </p:spPr>
      </p:pic>
      <p:sp>
        <p:nvSpPr>
          <p:cNvPr id="49" name="Text 39"/>
          <p:cNvSpPr/>
          <p:nvPr/>
        </p:nvSpPr>
        <p:spPr>
          <a:xfrm>
            <a:off x="7193280" y="5029200"/>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Proactive monitoring &amp; intervention</a:t>
            </a:r>
            <a:endParaRPr lang="en-US" sz="1267">
              <a:latin typeface="Raleway" pitchFamily="2" charset="0"/>
            </a:endParaRPr>
          </a:p>
        </p:txBody>
      </p:sp>
      <p:sp>
        <p:nvSpPr>
          <p:cNvPr id="50" name="Shape 40"/>
          <p:cNvSpPr/>
          <p:nvPr/>
        </p:nvSpPr>
        <p:spPr>
          <a:xfrm>
            <a:off x="219456" y="5413248"/>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51" name="Text 41"/>
          <p:cNvSpPr/>
          <p:nvPr/>
        </p:nvSpPr>
        <p:spPr>
          <a:xfrm>
            <a:off x="341376" y="5462016"/>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Knowledge Retention</a:t>
            </a:r>
            <a:endParaRPr lang="en-US" sz="1267">
              <a:latin typeface="Raleway" pitchFamily="2" charset="0"/>
            </a:endParaRPr>
          </a:p>
        </p:txBody>
      </p:sp>
      <p:sp>
        <p:nvSpPr>
          <p:cNvPr id="52" name="Text 42"/>
          <p:cNvSpPr/>
          <p:nvPr/>
        </p:nvSpPr>
        <p:spPr>
          <a:xfrm>
            <a:off x="2901696" y="5462016"/>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Lost with attrition</a:t>
            </a:r>
            <a:endParaRPr lang="en-US" sz="1267">
              <a:latin typeface="Raleway" pitchFamily="2" charset="0"/>
            </a:endParaRPr>
          </a:p>
        </p:txBody>
      </p:sp>
      <p:pic>
        <p:nvPicPr>
          <p:cNvPr id="53" name="Image 8" descr="preencoded.png"/>
          <p:cNvPicPr>
            <a:picLocks noChangeAspect="1"/>
          </p:cNvPicPr>
          <p:nvPr/>
        </p:nvPicPr>
        <p:blipFill>
          <a:blip r:embed="rId7"/>
          <a:stretch>
            <a:fillRect/>
          </a:stretch>
        </p:blipFill>
        <p:spPr>
          <a:xfrm>
            <a:off x="6900672" y="5522976"/>
            <a:ext cx="219456" cy="219456"/>
          </a:xfrm>
          <a:prstGeom prst="rect">
            <a:avLst/>
          </a:prstGeom>
        </p:spPr>
      </p:pic>
      <p:sp>
        <p:nvSpPr>
          <p:cNvPr id="54" name="Text 43"/>
          <p:cNvSpPr/>
          <p:nvPr/>
        </p:nvSpPr>
        <p:spPr>
          <a:xfrm>
            <a:off x="7193280" y="5462016"/>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Captured in J2W Knowledge Repository</a:t>
            </a:r>
            <a:endParaRPr lang="en-US" sz="1267">
              <a:latin typeface="Raleway" pitchFamily="2" charset="0"/>
            </a:endParaRPr>
          </a:p>
        </p:txBody>
      </p:sp>
      <p:sp>
        <p:nvSpPr>
          <p:cNvPr id="55" name="Shape 44"/>
          <p:cNvSpPr/>
          <p:nvPr/>
        </p:nvSpPr>
        <p:spPr>
          <a:xfrm>
            <a:off x="219456" y="5846064"/>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56" name="Text 45"/>
          <p:cNvSpPr/>
          <p:nvPr/>
        </p:nvSpPr>
        <p:spPr>
          <a:xfrm>
            <a:off x="341376" y="5894832"/>
            <a:ext cx="2377440" cy="335280"/>
          </a:xfrm>
          <a:prstGeom prst="rect">
            <a:avLst/>
          </a:prstGeom>
          <a:noFill/>
          <a:ln/>
        </p:spPr>
        <p:txBody>
          <a:bodyPr wrap="square" lIns="0" tIns="0" rIns="0" bIns="0" rtlCol="0" anchor="ctr"/>
          <a:lstStyle/>
          <a:p>
            <a:r>
              <a:rPr lang="en-US" sz="1267" b="1">
                <a:solidFill>
                  <a:srgbClr val="1A1A2E"/>
                </a:solidFill>
                <a:latin typeface="Calibri" pitchFamily="34" charset="0"/>
                <a:ea typeface="Calibri" pitchFamily="34" charset="-122"/>
                <a:cs typeface="Calibri" pitchFamily="34" charset="-120"/>
              </a:rPr>
              <a:t>AI Readiness</a:t>
            </a:r>
            <a:endParaRPr lang="en-US" sz="1267"/>
          </a:p>
        </p:txBody>
      </p:sp>
      <p:sp>
        <p:nvSpPr>
          <p:cNvPr id="57" name="Text 46"/>
          <p:cNvSpPr/>
          <p:nvPr/>
        </p:nvSpPr>
        <p:spPr>
          <a:xfrm>
            <a:off x="2901696" y="5894832"/>
            <a:ext cx="3840480" cy="335280"/>
          </a:xfrm>
          <a:prstGeom prst="rect">
            <a:avLst/>
          </a:prstGeom>
          <a:noFill/>
          <a:ln/>
        </p:spPr>
        <p:txBody>
          <a:bodyPr wrap="square" lIns="0" tIns="0" rIns="0" bIns="0" rtlCol="0" anchor="ctr"/>
          <a:lstStyle/>
          <a:p>
            <a:r>
              <a:rPr lang="en-US" sz="1267">
                <a:solidFill>
                  <a:srgbClr val="888888"/>
                </a:solidFill>
                <a:latin typeface="Calibri" pitchFamily="34" charset="0"/>
                <a:ea typeface="Calibri" pitchFamily="34" charset="-122"/>
                <a:cs typeface="Calibri" pitchFamily="34" charset="-120"/>
              </a:rPr>
              <a:t>Ad hoc</a:t>
            </a:r>
            <a:endParaRPr lang="en-US" sz="1267"/>
          </a:p>
        </p:txBody>
      </p:sp>
      <p:pic>
        <p:nvPicPr>
          <p:cNvPr id="58" name="Image 9" descr="preencoded.png"/>
          <p:cNvPicPr>
            <a:picLocks noChangeAspect="1"/>
          </p:cNvPicPr>
          <p:nvPr/>
        </p:nvPicPr>
        <p:blipFill>
          <a:blip r:embed="rId7"/>
          <a:stretch>
            <a:fillRect/>
          </a:stretch>
        </p:blipFill>
        <p:spPr>
          <a:xfrm>
            <a:off x="6900672" y="5955792"/>
            <a:ext cx="219456" cy="219456"/>
          </a:xfrm>
          <a:prstGeom prst="rect">
            <a:avLst/>
          </a:prstGeom>
        </p:spPr>
      </p:pic>
      <p:sp>
        <p:nvSpPr>
          <p:cNvPr id="59" name="Text 47"/>
          <p:cNvSpPr/>
          <p:nvPr/>
        </p:nvSpPr>
        <p:spPr>
          <a:xfrm>
            <a:off x="7193280" y="5894832"/>
            <a:ext cx="4437888" cy="335280"/>
          </a:xfrm>
          <a:prstGeom prst="rect">
            <a:avLst/>
          </a:prstGeom>
          <a:noFill/>
          <a:ln/>
        </p:spPr>
        <p:txBody>
          <a:bodyPr wrap="square" lIns="0" tIns="0" rIns="0" bIns="0" rtlCol="0" anchor="ctr"/>
          <a:lstStyle/>
          <a:p>
            <a:r>
              <a:rPr lang="en-US" sz="1267" b="1">
                <a:solidFill>
                  <a:srgbClr val="C0392B"/>
                </a:solidFill>
                <a:latin typeface="Raleway" pitchFamily="2" charset="0"/>
                <a:ea typeface="Calibri" pitchFamily="34" charset="-122"/>
                <a:cs typeface="Calibri" pitchFamily="34" charset="-120"/>
              </a:rPr>
              <a:t>Embedded from Day 1</a:t>
            </a:r>
            <a:endParaRPr lang="en-US" sz="1267">
              <a:latin typeface="Raleway" pitchFamily="2" charset="0"/>
            </a:endParaRPr>
          </a:p>
        </p:txBody>
      </p:sp>
      <p:sp>
        <p:nvSpPr>
          <p:cNvPr id="60" name="Shape 48"/>
          <p:cNvSpPr/>
          <p:nvPr/>
        </p:nvSpPr>
        <p:spPr>
          <a:xfrm>
            <a:off x="0" y="6352032"/>
            <a:ext cx="12192000" cy="505968"/>
          </a:xfrm>
          <a:prstGeom prst="rect">
            <a:avLst/>
          </a:prstGeom>
          <a:solidFill>
            <a:srgbClr val="0D9488"/>
          </a:solidFill>
          <a:ln w="12700">
            <a:solidFill>
              <a:srgbClr val="0D9488"/>
            </a:solidFill>
            <a:prstDash val="solid"/>
          </a:ln>
        </p:spPr>
        <p:txBody>
          <a:bodyPr/>
          <a:lstStyle/>
          <a:p>
            <a:endParaRPr lang="en-US" sz="2400"/>
          </a:p>
        </p:txBody>
      </p:sp>
      <p:sp>
        <p:nvSpPr>
          <p:cNvPr id="61" name="Text 49"/>
          <p:cNvSpPr/>
          <p:nvPr/>
        </p:nvSpPr>
        <p:spPr>
          <a:xfrm>
            <a:off x="609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5,500+</a:t>
            </a:r>
            <a:endParaRPr lang="en-US" sz="1600"/>
          </a:p>
        </p:txBody>
      </p:sp>
      <p:sp>
        <p:nvSpPr>
          <p:cNvPr id="62" name="Text 50"/>
          <p:cNvSpPr/>
          <p:nvPr/>
        </p:nvSpPr>
        <p:spPr>
          <a:xfrm>
            <a:off x="609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Active Consultants</a:t>
            </a:r>
            <a:endParaRPr lang="en-US" sz="1000"/>
          </a:p>
        </p:txBody>
      </p:sp>
      <p:sp>
        <p:nvSpPr>
          <p:cNvPr id="63" name="Shape 51"/>
          <p:cNvSpPr/>
          <p:nvPr/>
        </p:nvSpPr>
        <p:spPr>
          <a:xfrm>
            <a:off x="2438400" y="6400800"/>
            <a:ext cx="0" cy="402336"/>
          </a:xfrm>
          <a:prstGeom prst="line">
            <a:avLst/>
          </a:prstGeom>
          <a:noFill/>
          <a:ln w="6350">
            <a:solidFill>
              <a:srgbClr val="FFFFFF">
                <a:alpha val="45000"/>
              </a:srgbClr>
            </a:solidFill>
            <a:prstDash val="solid"/>
          </a:ln>
        </p:spPr>
        <p:txBody>
          <a:bodyPr/>
          <a:lstStyle/>
          <a:p>
            <a:endParaRPr lang="en-US" sz="2400"/>
          </a:p>
        </p:txBody>
      </p:sp>
      <p:sp>
        <p:nvSpPr>
          <p:cNvPr id="64" name="Text 52"/>
          <p:cNvSpPr/>
          <p:nvPr/>
        </p:nvSpPr>
        <p:spPr>
          <a:xfrm>
            <a:off x="24993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1,250+</a:t>
            </a:r>
            <a:endParaRPr lang="en-US" sz="1600"/>
          </a:p>
        </p:txBody>
      </p:sp>
      <p:sp>
        <p:nvSpPr>
          <p:cNvPr id="65" name="Text 53"/>
          <p:cNvSpPr/>
          <p:nvPr/>
        </p:nvSpPr>
        <p:spPr>
          <a:xfrm>
            <a:off x="24993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Skills Covered</a:t>
            </a:r>
            <a:endParaRPr lang="en-US" sz="1000"/>
          </a:p>
        </p:txBody>
      </p:sp>
      <p:sp>
        <p:nvSpPr>
          <p:cNvPr id="66" name="Shape 54"/>
          <p:cNvSpPr/>
          <p:nvPr/>
        </p:nvSpPr>
        <p:spPr>
          <a:xfrm>
            <a:off x="4876800" y="6400800"/>
            <a:ext cx="0" cy="402336"/>
          </a:xfrm>
          <a:prstGeom prst="line">
            <a:avLst/>
          </a:prstGeom>
          <a:noFill/>
          <a:ln w="6350">
            <a:solidFill>
              <a:srgbClr val="FFFFFF">
                <a:alpha val="45000"/>
              </a:srgbClr>
            </a:solidFill>
            <a:prstDash val="solid"/>
          </a:ln>
        </p:spPr>
        <p:txBody>
          <a:bodyPr/>
          <a:lstStyle/>
          <a:p>
            <a:endParaRPr lang="en-US" sz="2400"/>
          </a:p>
        </p:txBody>
      </p:sp>
      <p:sp>
        <p:nvSpPr>
          <p:cNvPr id="67" name="Text 55"/>
          <p:cNvSpPr/>
          <p:nvPr/>
        </p:nvSpPr>
        <p:spPr>
          <a:xfrm>
            <a:off x="49377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320+</a:t>
            </a:r>
            <a:endParaRPr lang="en-US" sz="1600"/>
          </a:p>
        </p:txBody>
      </p:sp>
      <p:sp>
        <p:nvSpPr>
          <p:cNvPr id="68" name="Text 56"/>
          <p:cNvSpPr/>
          <p:nvPr/>
        </p:nvSpPr>
        <p:spPr>
          <a:xfrm>
            <a:off x="49377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Enterprise Clients</a:t>
            </a:r>
            <a:endParaRPr lang="en-US" sz="1000"/>
          </a:p>
        </p:txBody>
      </p:sp>
      <p:sp>
        <p:nvSpPr>
          <p:cNvPr id="69" name="Shape 57"/>
          <p:cNvSpPr/>
          <p:nvPr/>
        </p:nvSpPr>
        <p:spPr>
          <a:xfrm>
            <a:off x="7315200" y="6400800"/>
            <a:ext cx="0" cy="402336"/>
          </a:xfrm>
          <a:prstGeom prst="line">
            <a:avLst/>
          </a:prstGeom>
          <a:noFill/>
          <a:ln w="6350">
            <a:solidFill>
              <a:srgbClr val="FFFFFF">
                <a:alpha val="45000"/>
              </a:srgbClr>
            </a:solidFill>
            <a:prstDash val="solid"/>
          </a:ln>
        </p:spPr>
        <p:txBody>
          <a:bodyPr/>
          <a:lstStyle/>
          <a:p>
            <a:endParaRPr lang="en-US" sz="2400"/>
          </a:p>
        </p:txBody>
      </p:sp>
      <p:sp>
        <p:nvSpPr>
          <p:cNvPr id="70" name="Text 58"/>
          <p:cNvSpPr/>
          <p:nvPr/>
        </p:nvSpPr>
        <p:spPr>
          <a:xfrm>
            <a:off x="73761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a:t>
            </a:r>
            <a:endParaRPr lang="en-US" sz="1600"/>
          </a:p>
        </p:txBody>
      </p:sp>
      <p:sp>
        <p:nvSpPr>
          <p:cNvPr id="71" name="Text 59"/>
          <p:cNvSpPr/>
          <p:nvPr/>
        </p:nvSpPr>
        <p:spPr>
          <a:xfrm>
            <a:off x="73761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Attrition (6-Mo Pilot)</a:t>
            </a:r>
            <a:endParaRPr lang="en-US" sz="1000"/>
          </a:p>
        </p:txBody>
      </p:sp>
      <p:sp>
        <p:nvSpPr>
          <p:cNvPr id="72" name="Shape 60"/>
          <p:cNvSpPr/>
          <p:nvPr/>
        </p:nvSpPr>
        <p:spPr>
          <a:xfrm>
            <a:off x="9753600" y="6400800"/>
            <a:ext cx="0" cy="402336"/>
          </a:xfrm>
          <a:prstGeom prst="line">
            <a:avLst/>
          </a:prstGeom>
          <a:noFill/>
          <a:ln w="6350">
            <a:solidFill>
              <a:srgbClr val="FFFFFF">
                <a:alpha val="45000"/>
              </a:srgbClr>
            </a:solidFill>
            <a:prstDash val="solid"/>
          </a:ln>
        </p:spPr>
        <p:txBody>
          <a:bodyPr/>
          <a:lstStyle/>
          <a:p>
            <a:endParaRPr lang="en-US" sz="2400"/>
          </a:p>
        </p:txBody>
      </p:sp>
      <p:sp>
        <p:nvSpPr>
          <p:cNvPr id="73" name="Text 61"/>
          <p:cNvSpPr/>
          <p:nvPr/>
        </p:nvSpPr>
        <p:spPr>
          <a:xfrm>
            <a:off x="98145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1/hr</a:t>
            </a:r>
            <a:endParaRPr lang="en-US" sz="1600"/>
          </a:p>
        </p:txBody>
      </p:sp>
      <p:sp>
        <p:nvSpPr>
          <p:cNvPr id="74" name="Text 62"/>
          <p:cNvSpPr/>
          <p:nvPr/>
        </p:nvSpPr>
        <p:spPr>
          <a:xfrm>
            <a:off x="98145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Engineers Onboarded</a:t>
            </a:r>
            <a:endParaRPr lang="en-US" sz="1000"/>
          </a:p>
        </p:txBody>
      </p:sp>
      <p:pic>
        <p:nvPicPr>
          <p:cNvPr id="75" name="Image 0" descr="preencoded.png">
            <a:extLst>
              <a:ext uri="{FF2B5EF4-FFF2-40B4-BE49-F238E27FC236}">
                <a16:creationId xmlns:a16="http://schemas.microsoft.com/office/drawing/2014/main" id="{FAFFF64B-DC76-00D4-DDA1-C18459247824}"/>
              </a:ext>
            </a:extLst>
          </p:cNvPr>
          <p:cNvPicPr>
            <a:picLocks noChangeAspect="1"/>
          </p:cNvPicPr>
          <p:nvPr/>
        </p:nvPicPr>
        <p:blipFill>
          <a:blip r:embed="rId8"/>
          <a:srcRect l="-207" r="-207"/>
          <a:stretch/>
        </p:blipFill>
        <p:spPr>
          <a:xfrm>
            <a:off x="0" y="0"/>
            <a:ext cx="4058107" cy="75895"/>
          </a:xfrm>
          <a:prstGeom prst="rect">
            <a:avLst/>
          </a:prstGeom>
        </p:spPr>
      </p:pic>
      <p:pic>
        <p:nvPicPr>
          <p:cNvPr id="76" name="Image 1" descr="preencoded.png">
            <a:extLst>
              <a:ext uri="{FF2B5EF4-FFF2-40B4-BE49-F238E27FC236}">
                <a16:creationId xmlns:a16="http://schemas.microsoft.com/office/drawing/2014/main" id="{F02F145E-4174-DB5B-12FC-B946B2BEFC21}"/>
              </a:ext>
            </a:extLst>
          </p:cNvPr>
          <p:cNvPicPr>
            <a:picLocks noChangeAspect="1"/>
          </p:cNvPicPr>
          <p:nvPr/>
        </p:nvPicPr>
        <p:blipFill>
          <a:blip r:embed="rId9"/>
          <a:srcRect l="-202" r="-202"/>
          <a:stretch/>
        </p:blipFill>
        <p:spPr>
          <a:xfrm>
            <a:off x="4058107" y="0"/>
            <a:ext cx="8134502" cy="75895"/>
          </a:xfrm>
          <a:prstGeom prst="rect">
            <a:avLst/>
          </a:prstGeom>
        </p:spPr>
      </p:pic>
      <p:sp>
        <p:nvSpPr>
          <p:cNvPr id="77" name="Shape 2">
            <a:extLst>
              <a:ext uri="{FF2B5EF4-FFF2-40B4-BE49-F238E27FC236}">
                <a16:creationId xmlns:a16="http://schemas.microsoft.com/office/drawing/2014/main" id="{C1C503D5-DE04-F879-CDE8-91C26E3173B8}"/>
              </a:ext>
            </a:extLst>
          </p:cNvPr>
          <p:cNvSpPr/>
          <p:nvPr/>
        </p:nvSpPr>
        <p:spPr>
          <a:xfrm>
            <a:off x="-1380897" y="-1256081"/>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8" name="Image 4" descr="preencoded.png">
            <a:extLst>
              <a:ext uri="{FF2B5EF4-FFF2-40B4-BE49-F238E27FC236}">
                <a16:creationId xmlns:a16="http://schemas.microsoft.com/office/drawing/2014/main" id="{3FB3B60C-A4FF-CE53-9131-90677B3706CF}"/>
              </a:ext>
            </a:extLst>
          </p:cNvPr>
          <p:cNvPicPr>
            <a:picLocks noChangeAspect="1"/>
          </p:cNvPicPr>
          <p:nvPr/>
        </p:nvPicPr>
        <p:blipFill>
          <a:blip r:embed="rId10"/>
          <a:srcRect l="-400" r="-400"/>
          <a:stretch/>
        </p:blipFill>
        <p:spPr>
          <a:xfrm>
            <a:off x="609905" y="457200"/>
            <a:ext cx="57607" cy="457200"/>
          </a:xfrm>
          <a:prstGeom prst="rect">
            <a:avLst/>
          </a:prstGeom>
        </p:spPr>
      </p:pic>
      <p:sp>
        <p:nvSpPr>
          <p:cNvPr id="79" name="Text 11">
            <a:extLst>
              <a:ext uri="{FF2B5EF4-FFF2-40B4-BE49-F238E27FC236}">
                <a16:creationId xmlns:a16="http://schemas.microsoft.com/office/drawing/2014/main" id="{65F3FFE0-7460-C049-BC83-7BC32616A4C0}"/>
              </a:ext>
            </a:extLst>
          </p:cNvPr>
          <p:cNvSpPr txBox="1"/>
          <p:nvPr/>
        </p:nvSpPr>
        <p:spPr>
          <a:xfrm>
            <a:off x="819302" y="228600"/>
            <a:ext cx="9715500" cy="428854"/>
          </a:xfrm>
          <a:prstGeom prst="rect">
            <a:avLst/>
          </a:prstGeom>
          <a:noFill/>
          <a:ln/>
        </p:spPr>
        <p:txBody>
          <a:bodyPr wrap="square" lIns="0" tIns="0" rIns="0" bIns="0" rtlCol="0" anchor="ctr"/>
          <a:lstStyle/>
          <a:p>
            <a:r>
              <a:rPr lang="en-US" sz="3200" b="1">
                <a:solidFill>
                  <a:srgbClr val="1A1A2E"/>
                </a:solidFill>
                <a:latin typeface="Oswald" panose="00000500000000000000" pitchFamily="2" charset="0"/>
                <a:ea typeface="Calibri" pitchFamily="34" charset="-122"/>
                <a:cs typeface="Calibri" pitchFamily="34" charset="-120"/>
              </a:rPr>
              <a:t>Workforce &amp; Talent Solutions</a:t>
            </a:r>
            <a:endParaRPr lang="en-US" sz="3200">
              <a:latin typeface="Oswald" panose="00000500000000000000" pitchFamily="2" charset="0"/>
            </a:endParaRPr>
          </a:p>
        </p:txBody>
      </p:sp>
      <p:sp>
        <p:nvSpPr>
          <p:cNvPr id="80" name="Text 12">
            <a:extLst>
              <a:ext uri="{FF2B5EF4-FFF2-40B4-BE49-F238E27FC236}">
                <a16:creationId xmlns:a16="http://schemas.microsoft.com/office/drawing/2014/main" id="{830CE162-47E2-FB62-8B99-806E90C454F1}"/>
              </a:ext>
            </a:extLst>
          </p:cNvPr>
          <p:cNvSpPr txBox="1"/>
          <p:nvPr/>
        </p:nvSpPr>
        <p:spPr>
          <a:xfrm>
            <a:off x="819302" y="758952"/>
            <a:ext cx="9639605" cy="200254"/>
          </a:xfrm>
          <a:prstGeom prst="rect">
            <a:avLst/>
          </a:prstGeom>
          <a:noFill/>
          <a:ln/>
        </p:spPr>
        <p:txBody>
          <a:bodyPr wrap="square" lIns="0" tIns="0" rIns="0" bIns="0" rtlCol="0" anchor="ctr"/>
          <a:lstStyle/>
          <a:p>
            <a:pPr marL="0" indent="0" algn="l">
              <a:buNone/>
            </a:pPr>
            <a:r>
              <a:rPr lang="en-US" sz="1300" b="1" kern="0" spc="68">
                <a:solidFill>
                  <a:srgbClr val="2A9D8F"/>
                </a:solidFill>
                <a:latin typeface="Roboto Condensed" pitchFamily="34" charset="0"/>
                <a:ea typeface="Roboto Condensed" pitchFamily="34" charset="-122"/>
                <a:cs typeface="Roboto Condensed" pitchFamily="34" charset="-120"/>
              </a:rPr>
              <a:t>A MANAGED, AI-DRIVEN WORKFORCE UNIT - NOT JUST STAFFING WITH A WRAPPER.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6000"/>
          </a:blip>
          <a:srcRect/>
          <a:stretch/>
        </p:blipFill>
        <p:spPr>
          <a:xfrm>
            <a:off x="-761695" y="476219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476902"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4476902" y="1714500"/>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343900"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8"/>
          <p:cNvSpPr/>
          <p:nvPr/>
        </p:nvSpPr>
        <p:spPr>
          <a:xfrm>
            <a:off x="8343900"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0"/>
          <p:cNvSpPr/>
          <p:nvPr/>
        </p:nvSpPr>
        <p:spPr>
          <a:xfrm>
            <a:off x="609905"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4476902"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2"/>
          <p:cNvSpPr/>
          <p:nvPr/>
        </p:nvSpPr>
        <p:spPr>
          <a:xfrm>
            <a:off x="4476902" y="4190695"/>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343900"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8343900"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23" name="Text 17"/>
          <p:cNvSpPr txBox="1"/>
          <p:nvPr/>
        </p:nvSpPr>
        <p:spPr>
          <a:xfrm>
            <a:off x="760780" y="577088"/>
            <a:ext cx="8438998"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HOW WE DELIVER</a:t>
            </a:r>
          </a:p>
        </p:txBody>
      </p:sp>
      <p:sp>
        <p:nvSpPr>
          <p:cNvPr id="24" name="Text 18"/>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From sourcing to sprint governance - a structured operating model, not a staffing drop.</a:t>
            </a:r>
          </a:p>
        </p:txBody>
      </p:sp>
      <p:sp>
        <p:nvSpPr>
          <p:cNvPr id="25" name="Text 19"/>
          <p:cNvSpPr txBox="1"/>
          <p:nvPr/>
        </p:nvSpPr>
        <p:spPr>
          <a:xfrm>
            <a:off x="819302" y="1079906"/>
            <a:ext cx="8097012" cy="152705"/>
          </a:xfrm>
          <a:prstGeom prst="rect">
            <a:avLst/>
          </a:prstGeom>
          <a:noFill/>
          <a:ln/>
        </p:spPr>
        <p:txBody>
          <a:bodyPr wrap="none" lIns="0" tIns="0" rIns="0" bIns="0" rtlCol="0" anchor="ctr"/>
          <a:lstStyle/>
          <a:p>
            <a:pPr marL="0" indent="0" algn="l">
              <a:buNone/>
            </a:pPr>
            <a:endParaRPr lang="en-US" sz="1000"/>
          </a:p>
        </p:txBody>
      </p:sp>
      <p:sp>
        <p:nvSpPr>
          <p:cNvPr id="26" name="Text 20"/>
          <p:cNvSpPr txBox="1"/>
          <p:nvPr/>
        </p:nvSpPr>
        <p:spPr>
          <a:xfrm>
            <a:off x="838505" y="1981505"/>
            <a:ext cx="34015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01</a:t>
            </a:r>
            <a:endParaRPr lang="en-US" sz="2400"/>
          </a:p>
        </p:txBody>
      </p:sp>
      <p:sp>
        <p:nvSpPr>
          <p:cNvPr id="27" name="Text 21"/>
          <p:cNvSpPr txBox="1"/>
          <p:nvPr/>
        </p:nvSpPr>
        <p:spPr>
          <a:xfrm>
            <a:off x="1237183" y="1995424"/>
            <a:ext cx="1417320"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Scope &amp; Source</a:t>
            </a:r>
            <a:endParaRPr lang="en-US" sz="1600"/>
          </a:p>
        </p:txBody>
      </p:sp>
      <p:sp>
        <p:nvSpPr>
          <p:cNvPr id="28" name="Text 22"/>
          <p:cNvSpPr txBox="1"/>
          <p:nvPr/>
        </p:nvSpPr>
        <p:spPr>
          <a:xfrm>
            <a:off x="838505"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Role definition + domain-specific talent pool activation. TalentAI matching + voice-agent pre-screen. Shortlist in 72 hrs.</a:t>
            </a:r>
            <a:endParaRPr lang="en-US" sz="1000"/>
          </a:p>
        </p:txBody>
      </p:sp>
      <p:pic>
        <p:nvPicPr>
          <p:cNvPr id="29" name="Image 4" descr="gen-dedup-68afaceb726e7c14c8688760b973252d.png"/>
          <p:cNvPicPr>
            <a:picLocks noChangeAspect="1"/>
          </p:cNvPicPr>
          <p:nvPr/>
        </p:nvPicPr>
        <p:blipFill>
          <a:blip r:embed="rId7"/>
          <a:srcRect l="-13360" r="-13360"/>
          <a:stretch/>
        </p:blipFill>
        <p:spPr>
          <a:xfrm>
            <a:off x="4062679" y="2648102"/>
            <a:ext cx="181051" cy="228600"/>
          </a:xfrm>
          <a:prstGeom prst="rect">
            <a:avLst/>
          </a:prstGeom>
        </p:spPr>
      </p:pic>
      <p:sp>
        <p:nvSpPr>
          <p:cNvPr id="30" name="Text 23"/>
          <p:cNvSpPr txBox="1"/>
          <p:nvPr/>
        </p:nvSpPr>
        <p:spPr>
          <a:xfrm>
            <a:off x="4705502" y="1981505"/>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02</a:t>
            </a:r>
            <a:endParaRPr lang="en-US" sz="2400"/>
          </a:p>
        </p:txBody>
      </p:sp>
      <p:sp>
        <p:nvSpPr>
          <p:cNvPr id="31" name="Text 24"/>
          <p:cNvSpPr txBox="1"/>
          <p:nvPr/>
        </p:nvSpPr>
        <p:spPr>
          <a:xfrm>
            <a:off x="5144414" y="1995424"/>
            <a:ext cx="839419"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AI-Assess</a:t>
            </a:r>
            <a:endParaRPr lang="en-US" sz="1600"/>
          </a:p>
        </p:txBody>
      </p:sp>
      <p:sp>
        <p:nvSpPr>
          <p:cNvPr id="32" name="Text 25"/>
          <p:cNvSpPr txBox="1"/>
          <p:nvPr/>
        </p:nvSpPr>
        <p:spPr>
          <a:xfrm>
            <a:off x="4705502"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Live coding + domain scenario assessment via TalentSphere. Technical bar validated by J2W before client interview.</a:t>
            </a:r>
            <a:endParaRPr lang="en-US" sz="1000"/>
          </a:p>
        </p:txBody>
      </p:sp>
      <p:pic>
        <p:nvPicPr>
          <p:cNvPr id="33" name="Image 5" descr="gen-dedup-68afaceb726e7c14c8688760b973252d.png"/>
          <p:cNvPicPr>
            <a:picLocks noChangeAspect="1"/>
          </p:cNvPicPr>
          <p:nvPr/>
        </p:nvPicPr>
        <p:blipFill>
          <a:blip r:embed="rId7"/>
          <a:srcRect l="-13360" r="-13360"/>
          <a:stretch/>
        </p:blipFill>
        <p:spPr>
          <a:xfrm>
            <a:off x="7929677" y="2648102"/>
            <a:ext cx="181051" cy="228600"/>
          </a:xfrm>
          <a:prstGeom prst="rect">
            <a:avLst/>
          </a:prstGeom>
        </p:spPr>
      </p:pic>
      <p:sp>
        <p:nvSpPr>
          <p:cNvPr id="34" name="Text 26"/>
          <p:cNvSpPr txBox="1"/>
          <p:nvPr/>
        </p:nvSpPr>
        <p:spPr>
          <a:xfrm>
            <a:off x="8572500" y="1981505"/>
            <a:ext cx="391363"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03</a:t>
            </a:r>
            <a:endParaRPr lang="en-US" sz="2400"/>
          </a:p>
        </p:txBody>
      </p:sp>
      <p:sp>
        <p:nvSpPr>
          <p:cNvPr id="35" name="Text 27"/>
          <p:cNvSpPr txBox="1"/>
          <p:nvPr/>
        </p:nvSpPr>
        <p:spPr>
          <a:xfrm>
            <a:off x="9011412" y="1995424"/>
            <a:ext cx="1553566"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Deploy in 10 Days</a:t>
            </a:r>
            <a:endParaRPr lang="en-US" sz="1600"/>
          </a:p>
        </p:txBody>
      </p:sp>
      <p:sp>
        <p:nvSpPr>
          <p:cNvPr id="36" name="Text 28"/>
          <p:cNvSpPr txBox="1"/>
          <p:nvPr/>
        </p:nvSpPr>
        <p:spPr>
          <a:xfrm>
            <a:off x="8572500"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Offer → onboarding → Day-1 productivity. J2W payroll, compliance, IT provisioning - fully managed.</a:t>
            </a:r>
            <a:endParaRPr lang="en-US" sz="1000"/>
          </a:p>
        </p:txBody>
      </p:sp>
      <p:pic>
        <p:nvPicPr>
          <p:cNvPr id="37" name="Image 6" descr="gen-dedup-ff9a716cc6b1850cd75acb20aeb0dc17.png"/>
          <p:cNvPicPr>
            <a:picLocks noChangeAspect="1"/>
          </p:cNvPicPr>
          <p:nvPr/>
        </p:nvPicPr>
        <p:blipFill>
          <a:blip r:embed="rId8"/>
          <a:srcRect t="-13131" b="-13131"/>
          <a:stretch/>
        </p:blipFill>
        <p:spPr>
          <a:xfrm>
            <a:off x="9872777" y="3895344"/>
            <a:ext cx="181051" cy="228600"/>
          </a:xfrm>
          <a:prstGeom prst="rect">
            <a:avLst/>
          </a:prstGeom>
        </p:spPr>
      </p:pic>
      <p:sp>
        <p:nvSpPr>
          <p:cNvPr id="38" name="Text 29"/>
          <p:cNvSpPr txBox="1"/>
          <p:nvPr/>
        </p:nvSpPr>
        <p:spPr>
          <a:xfrm>
            <a:off x="838505"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04</a:t>
            </a:r>
            <a:endParaRPr lang="en-US" sz="2400"/>
          </a:p>
        </p:txBody>
      </p:sp>
      <p:sp>
        <p:nvSpPr>
          <p:cNvPr id="39" name="Text 30"/>
          <p:cNvSpPr txBox="1"/>
          <p:nvPr/>
        </p:nvSpPr>
        <p:spPr>
          <a:xfrm>
            <a:off x="1280160" y="4472534"/>
            <a:ext cx="1564538"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Govern &amp; Upskill</a:t>
            </a:r>
            <a:endParaRPr lang="en-US" sz="1600"/>
          </a:p>
        </p:txBody>
      </p:sp>
      <p:sp>
        <p:nvSpPr>
          <p:cNvPr id="40" name="Text 31"/>
          <p:cNvSpPr txBox="1"/>
          <p:nvPr/>
        </p:nvSpPr>
        <p:spPr>
          <a:xfrm>
            <a:off x="838505"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Sprint accountability via Pod Manager. Monthly AI upskilling in J2W Labs. Weekly performance telemetry.</a:t>
            </a:r>
            <a:endParaRPr lang="en-US" sz="1000"/>
          </a:p>
        </p:txBody>
      </p:sp>
      <p:pic>
        <p:nvPicPr>
          <p:cNvPr id="41" name="Image 7" descr="gen-dedup-68afaceb726e7c14c8688760b973252d.png"/>
          <p:cNvPicPr>
            <a:picLocks noChangeAspect="1"/>
          </p:cNvPicPr>
          <p:nvPr/>
        </p:nvPicPr>
        <p:blipFill>
          <a:blip r:embed="rId7"/>
          <a:srcRect l="-13360" r="-13360"/>
          <a:stretch/>
        </p:blipFill>
        <p:spPr>
          <a:xfrm>
            <a:off x="4062679" y="5124298"/>
            <a:ext cx="181051" cy="228600"/>
          </a:xfrm>
          <a:prstGeom prst="rect">
            <a:avLst/>
          </a:prstGeom>
        </p:spPr>
      </p:pic>
      <p:sp>
        <p:nvSpPr>
          <p:cNvPr id="42" name="Text 32"/>
          <p:cNvSpPr txBox="1"/>
          <p:nvPr/>
        </p:nvSpPr>
        <p:spPr>
          <a:xfrm>
            <a:off x="4705502" y="4457700"/>
            <a:ext cx="38587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05</a:t>
            </a:r>
            <a:endParaRPr lang="en-US" sz="2400"/>
          </a:p>
        </p:txBody>
      </p:sp>
      <p:sp>
        <p:nvSpPr>
          <p:cNvPr id="43" name="Text 33"/>
          <p:cNvSpPr txBox="1"/>
          <p:nvPr/>
        </p:nvSpPr>
        <p:spPr>
          <a:xfrm>
            <a:off x="5142586" y="4472534"/>
            <a:ext cx="201808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POFU - 90-Day Funnel</a:t>
            </a:r>
            <a:endParaRPr lang="en-US" sz="1600"/>
          </a:p>
        </p:txBody>
      </p:sp>
      <p:sp>
        <p:nvSpPr>
          <p:cNvPr id="44" name="Text 34"/>
          <p:cNvSpPr txBox="1"/>
          <p:nvPr/>
        </p:nvSpPr>
        <p:spPr>
          <a:xfrm>
            <a:off x="4705502" y="4905756"/>
            <a:ext cx="2781605" cy="800100"/>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Post-Offer Follow-Up: milestone touchpoints, counter-offer inoculation, manager connects. Dropout rate → single digits.</a:t>
            </a:r>
            <a:endParaRPr lang="en-US" sz="1000"/>
          </a:p>
        </p:txBody>
      </p:sp>
      <p:pic>
        <p:nvPicPr>
          <p:cNvPr id="45" name="Image 8" descr="gen-dedup-68afaceb726e7c14c8688760b973252d.png"/>
          <p:cNvPicPr>
            <a:picLocks noChangeAspect="1"/>
          </p:cNvPicPr>
          <p:nvPr/>
        </p:nvPicPr>
        <p:blipFill>
          <a:blip r:embed="rId7"/>
          <a:srcRect l="-13360" r="-13360"/>
          <a:stretch/>
        </p:blipFill>
        <p:spPr>
          <a:xfrm>
            <a:off x="7929677" y="5124298"/>
            <a:ext cx="181051" cy="228600"/>
          </a:xfrm>
          <a:prstGeom prst="rect">
            <a:avLst/>
          </a:prstGeom>
        </p:spPr>
      </p:pic>
      <p:sp>
        <p:nvSpPr>
          <p:cNvPr id="46" name="Text 35"/>
          <p:cNvSpPr txBox="1"/>
          <p:nvPr/>
        </p:nvSpPr>
        <p:spPr>
          <a:xfrm>
            <a:off x="8572500"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06</a:t>
            </a:r>
            <a:endParaRPr lang="en-US" sz="2400"/>
          </a:p>
        </p:txBody>
      </p:sp>
      <p:sp>
        <p:nvSpPr>
          <p:cNvPr id="47" name="Text 36"/>
          <p:cNvSpPr txBox="1"/>
          <p:nvPr/>
        </p:nvSpPr>
        <p:spPr>
          <a:xfrm>
            <a:off x="9018727" y="4472534"/>
            <a:ext cx="159837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Scale or Convert</a:t>
            </a:r>
            <a:endParaRPr lang="en-US" sz="1600"/>
          </a:p>
        </p:txBody>
      </p:sp>
      <p:sp>
        <p:nvSpPr>
          <p:cNvPr id="48" name="Text 37"/>
          <p:cNvSpPr txBox="1"/>
          <p:nvPr/>
        </p:nvSpPr>
        <p:spPr>
          <a:xfrm>
            <a:off x="8572500"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C2H → permanent conversion on Day 91. Scale the pod up or down. Quarterly Business Review with ROI data.</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382305" y="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5" name="Shape 3"/>
          <p:cNvSpPr/>
          <p:nvPr/>
        </p:nvSpPr>
        <p:spPr>
          <a:xfrm>
            <a:off x="-476402" y="3524098"/>
            <a:ext cx="2381098" cy="2381098"/>
          </a:xfrm>
          <a:prstGeom prst="ellipse">
            <a:avLst/>
          </a:prstGeom>
          <a:solidFill>
            <a:srgbClr val="D62839">
              <a:alpha val="2000"/>
            </a:srgbClr>
          </a:solidFill>
          <a:ln w="12700">
            <a:solidFill>
              <a:srgbClr val="FFFFFF">
                <a:alpha val="0"/>
              </a:srgbClr>
            </a:solidFill>
            <a:prstDash val="solid"/>
          </a:ln>
        </p:spPr>
        <p:txBody>
          <a:bodyPr/>
          <a:lstStyle/>
          <a:p>
            <a:endParaRPr lang="en-US"/>
          </a:p>
        </p:txBody>
      </p:sp>
      <p:pic>
        <p:nvPicPr>
          <p:cNvPr id="6"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7"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pic>
        <p:nvPicPr>
          <p:cNvPr id="8" name="Image 2" descr="gen-dedup-50f81f9bdcb5400074144f35c0ecb91c.png"/>
          <p:cNvPicPr>
            <a:picLocks noChangeAspect="1"/>
          </p:cNvPicPr>
          <p:nvPr/>
        </p:nvPicPr>
        <p:blipFill>
          <a:blip r:embed="rId5"/>
          <a:srcRect l="-7" r="-7"/>
          <a:stretch/>
        </p:blipFill>
        <p:spPr>
          <a:xfrm>
            <a:off x="2704795" y="1238098"/>
            <a:ext cx="3143707" cy="4457700"/>
          </a:xfrm>
          <a:prstGeom prst="rect">
            <a:avLst/>
          </a:prstGeom>
        </p:spPr>
      </p:pic>
      <p:sp>
        <p:nvSpPr>
          <p:cNvPr id="9" name="Shape 4"/>
          <p:cNvSpPr/>
          <p:nvPr/>
        </p:nvSpPr>
        <p:spPr>
          <a:xfrm>
            <a:off x="609905" y="5762549"/>
            <a:ext cx="10992002" cy="847649"/>
          </a:xfrm>
          <a:prstGeom prst="roundRect">
            <a:avLst>
              <a:gd name="adj" fmla="val 19393"/>
            </a:avLst>
          </a:prstGeom>
          <a:solidFill>
            <a:srgbClr val="F8FAFC"/>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pic>
        <p:nvPicPr>
          <p:cNvPr id="10" name="Image 3" descr="gen-dedup-1004aa64a550a79a04cd74d7f57c96c1.png"/>
          <p:cNvPicPr>
            <a:picLocks noChangeAspect="1"/>
          </p:cNvPicPr>
          <p:nvPr/>
        </p:nvPicPr>
        <p:blipFill>
          <a:blip r:embed="rId6"/>
          <a:srcRect l="-2083" r="-2083"/>
          <a:stretch/>
        </p:blipFill>
        <p:spPr>
          <a:xfrm>
            <a:off x="609905" y="2467051"/>
            <a:ext cx="10972800" cy="9144"/>
          </a:xfrm>
          <a:prstGeom prst="rect">
            <a:avLst/>
          </a:prstGeom>
        </p:spPr>
      </p:pic>
      <p:pic>
        <p:nvPicPr>
          <p:cNvPr id="11" name="Image 4" descr="gen-dedup-1004aa64a550a79a04cd74d7f57c96c1.png"/>
          <p:cNvPicPr>
            <a:picLocks noChangeAspect="1"/>
          </p:cNvPicPr>
          <p:nvPr/>
        </p:nvPicPr>
        <p:blipFill>
          <a:blip r:embed="rId6"/>
          <a:srcRect l="-2083" r="-2083"/>
          <a:stretch/>
        </p:blipFill>
        <p:spPr>
          <a:xfrm>
            <a:off x="609905" y="3267151"/>
            <a:ext cx="10972800" cy="9144"/>
          </a:xfrm>
          <a:prstGeom prst="rect">
            <a:avLst/>
          </a:prstGeom>
        </p:spPr>
      </p:pic>
      <p:pic>
        <p:nvPicPr>
          <p:cNvPr id="12" name="Image 5" descr="gen-dedup-1004aa64a550a79a04cd74d7f57c96c1.png"/>
          <p:cNvPicPr>
            <a:picLocks noChangeAspect="1"/>
          </p:cNvPicPr>
          <p:nvPr/>
        </p:nvPicPr>
        <p:blipFill>
          <a:blip r:embed="rId6"/>
          <a:srcRect l="-2083" r="-2083"/>
          <a:stretch/>
        </p:blipFill>
        <p:spPr>
          <a:xfrm>
            <a:off x="609905" y="4067251"/>
            <a:ext cx="10972800" cy="9144"/>
          </a:xfrm>
          <a:prstGeom prst="rect">
            <a:avLst/>
          </a:prstGeom>
        </p:spPr>
      </p:pic>
      <p:pic>
        <p:nvPicPr>
          <p:cNvPr id="13" name="Image 6" descr="gen-dedup-1004aa64a550a79a04cd74d7f57c96c1.png"/>
          <p:cNvPicPr>
            <a:picLocks noChangeAspect="1"/>
          </p:cNvPicPr>
          <p:nvPr/>
        </p:nvPicPr>
        <p:blipFill>
          <a:blip r:embed="rId6"/>
          <a:srcRect l="-2083" r="-2083"/>
          <a:stretch/>
        </p:blipFill>
        <p:spPr>
          <a:xfrm>
            <a:off x="609905" y="4867351"/>
            <a:ext cx="10972800" cy="9144"/>
          </a:xfrm>
          <a:prstGeom prst="rect">
            <a:avLst/>
          </a:prstGeom>
        </p:spPr>
      </p:pic>
      <p:pic>
        <p:nvPicPr>
          <p:cNvPr id="14" name="Image 7" descr="gen-dedup-06e3d16aa0e9246458a784af17ea21a8.png"/>
          <p:cNvPicPr>
            <a:picLocks noChangeAspect="1"/>
          </p:cNvPicPr>
          <p:nvPr/>
        </p:nvPicPr>
        <p:blipFill>
          <a:blip r:embed="rId7"/>
          <a:srcRect l="-437" r="-437"/>
          <a:stretch/>
        </p:blipFill>
        <p:spPr>
          <a:xfrm>
            <a:off x="609905" y="390449"/>
            <a:ext cx="57607" cy="418795"/>
          </a:xfrm>
          <a:prstGeom prst="rect">
            <a:avLst/>
          </a:prstGeom>
        </p:spPr>
      </p:pic>
      <p:sp>
        <p:nvSpPr>
          <p:cNvPr id="15" name="Text 5"/>
          <p:cNvSpPr txBox="1"/>
          <p:nvPr/>
        </p:nvSpPr>
        <p:spPr>
          <a:xfrm>
            <a:off x="819302" y="390449"/>
            <a:ext cx="10478110" cy="381305"/>
          </a:xfrm>
          <a:prstGeom prst="rect">
            <a:avLst/>
          </a:prstGeom>
          <a:noFill/>
          <a:ln/>
        </p:spPr>
        <p:txBody>
          <a:bodyPr wrap="squar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WHY J2W - NOT THE BIG 4 OR LARGE SIs</a:t>
            </a:r>
            <a:endParaRPr lang="en-US" sz="2700"/>
          </a:p>
        </p:txBody>
      </p:sp>
      <p:sp>
        <p:nvSpPr>
          <p:cNvPr id="16" name="Text 6"/>
          <p:cNvSpPr txBox="1"/>
          <p:nvPr/>
        </p:nvSpPr>
        <p:spPr>
          <a:xfrm>
            <a:off x="819302" y="824789"/>
            <a:ext cx="10478110" cy="181051"/>
          </a:xfrm>
          <a:prstGeom prst="rect">
            <a:avLst/>
          </a:prstGeom>
          <a:noFill/>
          <a:ln/>
        </p:spPr>
        <p:txBody>
          <a:bodyPr wrap="squar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THE SMARTER CHOICE FOR AI &amp; DIGITAL TRANSFORMATION AT SCALE</a:t>
            </a:r>
            <a:endParaRPr lang="en-US" sz="1200"/>
          </a:p>
        </p:txBody>
      </p:sp>
      <p:sp>
        <p:nvSpPr>
          <p:cNvPr id="17" name="Text 7"/>
          <p:cNvSpPr txBox="1"/>
          <p:nvPr/>
        </p:nvSpPr>
        <p:spPr>
          <a:xfrm>
            <a:off x="2704795" y="1333195"/>
            <a:ext cx="3143707" cy="286207"/>
          </a:xfrm>
          <a:prstGeom prst="rect">
            <a:avLst/>
          </a:prstGeom>
          <a:noFill/>
          <a:ln/>
        </p:spPr>
        <p:txBody>
          <a:bodyPr wrap="squar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JoulesToWatts + J2W</a:t>
            </a:r>
            <a:endParaRPr lang="en-US" sz="1500"/>
          </a:p>
        </p:txBody>
      </p:sp>
      <p:sp>
        <p:nvSpPr>
          <p:cNvPr id="18" name="Text 8"/>
          <p:cNvSpPr txBox="1"/>
          <p:nvPr/>
        </p:nvSpPr>
        <p:spPr>
          <a:xfrm>
            <a:off x="5848502" y="1333195"/>
            <a:ext cx="2857500"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Big 4 / Top IT SIs</a:t>
            </a:r>
            <a:endParaRPr lang="en-US" sz="1500"/>
          </a:p>
        </p:txBody>
      </p:sp>
      <p:sp>
        <p:nvSpPr>
          <p:cNvPr id="19" name="Text 9"/>
          <p:cNvSpPr txBox="1"/>
          <p:nvPr/>
        </p:nvSpPr>
        <p:spPr>
          <a:xfrm>
            <a:off x="8706002" y="1333195"/>
            <a:ext cx="2876702"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Staffing Agencies</a:t>
            </a:r>
            <a:endParaRPr lang="en-US" sz="1500"/>
          </a:p>
        </p:txBody>
      </p:sp>
      <p:sp>
        <p:nvSpPr>
          <p:cNvPr id="20" name="Text 10"/>
          <p:cNvSpPr txBox="1"/>
          <p:nvPr/>
        </p:nvSpPr>
        <p:spPr>
          <a:xfrm>
            <a:off x="609905" y="19906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ROI &amp; Outcome Model</a:t>
            </a:r>
            <a:endParaRPr lang="en-US" sz="1000"/>
          </a:p>
        </p:txBody>
      </p:sp>
      <p:sp>
        <p:nvSpPr>
          <p:cNvPr id="21" name="Text 11"/>
          <p:cNvSpPr txBox="1"/>
          <p:nvPr/>
        </p:nvSpPr>
        <p:spPr>
          <a:xfrm>
            <a:off x="2895905" y="18068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Outcome-driven from Day 1 - aligned to your milestones, CXO ROI expectations &amp; project KPIs</a:t>
            </a:r>
            <a:endParaRPr lang="en-US" sz="1000"/>
          </a:p>
        </p:txBody>
      </p:sp>
      <p:sp>
        <p:nvSpPr>
          <p:cNvPr id="22" name="Text 12"/>
          <p:cNvSpPr txBox="1"/>
          <p:nvPr/>
        </p:nvSpPr>
        <p:spPr>
          <a:xfrm>
            <a:off x="6038698" y="18068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Heavy retainers + longer payback cycles. High technical debt risk on failed transformations</a:t>
            </a:r>
            <a:endParaRPr lang="en-US" sz="1000"/>
          </a:p>
        </p:txBody>
      </p:sp>
      <p:sp>
        <p:nvSpPr>
          <p:cNvPr id="23" name="Text 13"/>
          <p:cNvSpPr txBox="1"/>
          <p:nvPr/>
        </p:nvSpPr>
        <p:spPr>
          <a:xfrm>
            <a:off x="8896198" y="18937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Headcount model only. Zero delivery ownership or outcome accountability</a:t>
            </a:r>
            <a:endParaRPr lang="en-US" sz="1000"/>
          </a:p>
        </p:txBody>
      </p:sp>
      <p:sp>
        <p:nvSpPr>
          <p:cNvPr id="24" name="Text 14"/>
          <p:cNvSpPr txBox="1"/>
          <p:nvPr/>
        </p:nvSpPr>
        <p:spPr>
          <a:xfrm>
            <a:off x="609905" y="27907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Time-To-Value</a:t>
            </a:r>
            <a:endParaRPr lang="en-US" sz="1000"/>
          </a:p>
        </p:txBody>
      </p:sp>
      <p:sp>
        <p:nvSpPr>
          <p:cNvPr id="25" name="Text 15"/>
          <p:cNvSpPr txBox="1"/>
          <p:nvPr/>
        </p:nvSpPr>
        <p:spPr>
          <a:xfrm>
            <a:off x="2895905" y="26069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Production-ready Gen &amp; Agentic AI PoCs in weeks via 50+ accelerators across SAP, Oracle, ServiceNow &amp; more</a:t>
            </a:r>
            <a:endParaRPr lang="en-US" sz="1000"/>
          </a:p>
        </p:txBody>
      </p:sp>
      <p:sp>
        <p:nvSpPr>
          <p:cNvPr id="26" name="Text 16"/>
          <p:cNvSpPr txBox="1"/>
          <p:nvPr/>
        </p:nvSpPr>
        <p:spPr>
          <a:xfrm>
            <a:off x="6038698" y="26069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Lengthy consulting cycles with SI-driven models - higher costs &amp; slower results</a:t>
            </a:r>
            <a:endParaRPr lang="en-US" sz="1000"/>
          </a:p>
        </p:txBody>
      </p:sp>
      <p:sp>
        <p:nvSpPr>
          <p:cNvPr id="27" name="Text 17"/>
          <p:cNvSpPr txBox="1"/>
          <p:nvPr/>
        </p:nvSpPr>
        <p:spPr>
          <a:xfrm>
            <a:off x="8896198" y="27806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28" name="Text 18"/>
          <p:cNvSpPr txBox="1"/>
          <p:nvPr/>
        </p:nvSpPr>
        <p:spPr>
          <a:xfrm>
            <a:off x="609905" y="35908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 Data Governance</a:t>
            </a:r>
            <a:endParaRPr lang="en-US" sz="1000"/>
          </a:p>
        </p:txBody>
      </p:sp>
      <p:sp>
        <p:nvSpPr>
          <p:cNvPr id="29" name="Text 19"/>
          <p:cNvSpPr txBox="1"/>
          <p:nvPr/>
        </p:nvSpPr>
        <p:spPr>
          <a:xfrm>
            <a:off x="2895905" y="3321101"/>
            <a:ext cx="2762402" cy="6958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Pre-built guardrails. Mission-critical delivery in regulated industries (Fortune 500 MedTech). Data stays in your environment</a:t>
            </a:r>
            <a:endParaRPr lang="en-US" sz="1000"/>
          </a:p>
        </p:txBody>
      </p:sp>
      <p:sp>
        <p:nvSpPr>
          <p:cNvPr id="30" name="Text 20"/>
          <p:cNvSpPr txBox="1"/>
          <p:nvPr/>
        </p:nvSpPr>
        <p:spPr>
          <a:xfrm>
            <a:off x="6038698" y="34070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Claims excellence, but multiple public incidents (e.g. Deloitte AU govt penalties) undermine credibility</a:t>
            </a:r>
            <a:endParaRPr lang="en-US" sz="1000"/>
          </a:p>
        </p:txBody>
      </p:sp>
      <p:sp>
        <p:nvSpPr>
          <p:cNvPr id="31" name="Text 21"/>
          <p:cNvSpPr txBox="1"/>
          <p:nvPr/>
        </p:nvSpPr>
        <p:spPr>
          <a:xfrm>
            <a:off x="8896198" y="35807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2" name="Text 22"/>
          <p:cNvSpPr txBox="1"/>
          <p:nvPr/>
        </p:nvSpPr>
        <p:spPr>
          <a:xfrm>
            <a:off x="609905" y="43909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OPEX Optimisation</a:t>
            </a:r>
            <a:endParaRPr lang="en-US" sz="1000"/>
          </a:p>
        </p:txBody>
      </p:sp>
      <p:sp>
        <p:nvSpPr>
          <p:cNvPr id="33" name="Text 23"/>
          <p:cNvSpPr txBox="1"/>
          <p:nvPr/>
        </p:nvSpPr>
        <p:spPr>
          <a:xfrm>
            <a:off x="2895905" y="42071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30-40% reduction in AI OPEX via Query Routing, Semantic Caching, Precision RAG &amp; in-house SLMs</a:t>
            </a:r>
            <a:endParaRPr lang="en-US" sz="1000"/>
          </a:p>
        </p:txBody>
      </p:sp>
      <p:sp>
        <p:nvSpPr>
          <p:cNvPr id="34" name="Text 24"/>
          <p:cNvSpPr txBox="1"/>
          <p:nvPr/>
        </p:nvSpPr>
        <p:spPr>
          <a:xfrm>
            <a:off x="6038698" y="42940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 </a:t>
            </a:r>
            <a:r>
              <a:rPr lang="en-US" sz="1000" err="1">
                <a:solidFill>
                  <a:srgbClr val="475569"/>
                </a:solidFill>
                <a:latin typeface="Raleway" pitchFamily="34" charset="0"/>
                <a:ea typeface="Raleway" pitchFamily="34" charset="-122"/>
                <a:cs typeface="Raleway" pitchFamily="34" charset="-120"/>
              </a:rPr>
              <a:t>incentivised</a:t>
            </a:r>
            <a:r>
              <a:rPr lang="en-US" sz="1000">
                <a:solidFill>
                  <a:srgbClr val="475569"/>
                </a:solidFill>
                <a:latin typeface="Raleway" pitchFamily="34" charset="0"/>
                <a:ea typeface="Raleway" pitchFamily="34" charset="-122"/>
                <a:cs typeface="Raleway" pitchFamily="34" charset="-120"/>
              </a:rPr>
              <a:t> to </a:t>
            </a:r>
            <a:r>
              <a:rPr lang="en-US" sz="1000" err="1">
                <a:solidFill>
                  <a:srgbClr val="475569"/>
                </a:solidFill>
                <a:latin typeface="Raleway" pitchFamily="34" charset="0"/>
                <a:ea typeface="Raleway" pitchFamily="34" charset="-122"/>
                <a:cs typeface="Raleway" pitchFamily="34" charset="-120"/>
              </a:rPr>
              <a:t>maximise</a:t>
            </a:r>
            <a:r>
              <a:rPr lang="en-US" sz="1000">
                <a:solidFill>
                  <a:srgbClr val="475569"/>
                </a:solidFill>
                <a:latin typeface="Raleway" pitchFamily="34" charset="0"/>
                <a:ea typeface="Raleway" pitchFamily="34" charset="-122"/>
                <a:cs typeface="Raleway" pitchFamily="34" charset="-120"/>
              </a:rPr>
              <a:t> </a:t>
            </a:r>
            <a:r>
              <a:rPr lang="en-US" sz="1000" err="1">
                <a:solidFill>
                  <a:srgbClr val="475569"/>
                </a:solidFill>
                <a:latin typeface="Raleway" pitchFamily="34" charset="0"/>
                <a:ea typeface="Raleway" pitchFamily="34" charset="-122"/>
                <a:cs typeface="Raleway" pitchFamily="34" charset="-120"/>
              </a:rPr>
              <a:t>licences</a:t>
            </a:r>
            <a:r>
              <a:rPr lang="en-US" sz="1000">
                <a:solidFill>
                  <a:srgbClr val="475569"/>
                </a:solidFill>
                <a:latin typeface="Raleway" pitchFamily="34" charset="0"/>
                <a:ea typeface="Raleway" pitchFamily="34" charset="-122"/>
                <a:cs typeface="Raleway" pitchFamily="34" charset="-120"/>
              </a:rPr>
              <a:t> &amp; tokens - not to </a:t>
            </a:r>
            <a:r>
              <a:rPr lang="en-US" sz="1000" err="1">
                <a:solidFill>
                  <a:srgbClr val="475569"/>
                </a:solidFill>
                <a:latin typeface="Raleway" pitchFamily="34" charset="0"/>
                <a:ea typeface="Raleway" pitchFamily="34" charset="-122"/>
                <a:cs typeface="Raleway" pitchFamily="34" charset="-120"/>
              </a:rPr>
              <a:t>optimise</a:t>
            </a:r>
            <a:r>
              <a:rPr lang="en-US" sz="1000">
                <a:solidFill>
                  <a:srgbClr val="475569"/>
                </a:solidFill>
                <a:latin typeface="Raleway" pitchFamily="34" charset="0"/>
                <a:ea typeface="Raleway" pitchFamily="34" charset="-122"/>
                <a:cs typeface="Raleway" pitchFamily="34" charset="-120"/>
              </a:rPr>
              <a:t> your cost</a:t>
            </a:r>
            <a:endParaRPr lang="en-US" sz="1000"/>
          </a:p>
        </p:txBody>
      </p:sp>
      <p:sp>
        <p:nvSpPr>
          <p:cNvPr id="35" name="Text 25"/>
          <p:cNvSpPr txBox="1"/>
          <p:nvPr/>
        </p:nvSpPr>
        <p:spPr>
          <a:xfrm>
            <a:off x="8896198" y="43808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6" name="Text 26"/>
          <p:cNvSpPr txBox="1"/>
          <p:nvPr/>
        </p:nvSpPr>
        <p:spPr>
          <a:xfrm>
            <a:off x="609905" y="5191049"/>
            <a:ext cx="2143354"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Talent &amp; Managed Services</a:t>
            </a:r>
            <a:endParaRPr lang="en-US" sz="1000"/>
          </a:p>
        </p:txBody>
      </p:sp>
      <p:sp>
        <p:nvSpPr>
          <p:cNvPr id="37" name="Text 27"/>
          <p:cNvSpPr txBox="1"/>
          <p:nvPr/>
        </p:nvSpPr>
        <p:spPr>
          <a:xfrm>
            <a:off x="2895905" y="50072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7,200+ in-house consultants · 300+ recruiters · 2 proprietary hiring platforms · No subcontracting</a:t>
            </a:r>
            <a:endParaRPr lang="en-US" sz="1000"/>
          </a:p>
        </p:txBody>
      </p:sp>
      <p:sp>
        <p:nvSpPr>
          <p:cNvPr id="38" name="Text 28"/>
          <p:cNvSpPr txBox="1"/>
          <p:nvPr/>
        </p:nvSpPr>
        <p:spPr>
          <a:xfrm>
            <a:off x="6038698" y="50941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Frequently subcontract. No proprietary hiring platforms</a:t>
            </a:r>
            <a:endParaRPr lang="en-US" sz="1000"/>
          </a:p>
        </p:txBody>
      </p:sp>
      <p:sp>
        <p:nvSpPr>
          <p:cNvPr id="39" name="Text 29"/>
          <p:cNvSpPr txBox="1"/>
          <p:nvPr/>
        </p:nvSpPr>
        <p:spPr>
          <a:xfrm>
            <a:off x="8896198" y="50941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Lacks SME depth &amp; governance. Outcome ownership absent</a:t>
            </a:r>
            <a:endParaRPr lang="en-US" sz="1000"/>
          </a:p>
        </p:txBody>
      </p:sp>
      <p:sp>
        <p:nvSpPr>
          <p:cNvPr id="40" name="Shape 30"/>
          <p:cNvSpPr/>
          <p:nvPr/>
        </p:nvSpPr>
        <p:spPr>
          <a:xfrm>
            <a:off x="2315261" y="5762549"/>
            <a:ext cx="9144" cy="828446"/>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1"/>
          <p:cNvSpPr txBox="1"/>
          <p:nvPr/>
        </p:nvSpPr>
        <p:spPr>
          <a:xfrm>
            <a:off x="1185062" y="6072530"/>
            <a:ext cx="1043330" cy="210312"/>
          </a:xfrm>
          <a:prstGeom prst="rect">
            <a:avLst/>
          </a:prstGeom>
          <a:noFill/>
          <a:ln/>
        </p:spPr>
        <p:txBody>
          <a:bodyPr wrap="square" lIns="0" tIns="0" rIns="0" bIns="0" rtlCol="0" anchor="ctr"/>
          <a:lstStyle/>
          <a:p>
            <a:pPr marL="0" indent="0" algn="l">
              <a:buNone/>
            </a:pPr>
            <a:r>
              <a:rPr lang="en-US" sz="1100" b="1" kern="0" spc="56">
                <a:solidFill>
                  <a:srgbClr val="64748B"/>
                </a:solidFill>
                <a:latin typeface="Oswald" pitchFamily="34" charset="0"/>
                <a:ea typeface="Oswald" pitchFamily="34" charset="-122"/>
                <a:cs typeface="Oswald" pitchFamily="34" charset="-120"/>
              </a:rPr>
              <a:t> KEY METRICS</a:t>
            </a:r>
            <a:endParaRPr lang="en-US" sz="1100"/>
          </a:p>
        </p:txBody>
      </p:sp>
      <p:pic>
        <p:nvPicPr>
          <p:cNvPr id="42" name="Image 8" descr="gen-dedup-0bed6a635fcb1d23b7a23c5aaedf5133.png"/>
          <p:cNvPicPr>
            <a:picLocks noChangeAspect="1"/>
          </p:cNvPicPr>
          <p:nvPr/>
        </p:nvPicPr>
        <p:blipFill>
          <a:blip r:embed="rId8"/>
          <a:srcRect l="-3526" r="-3526"/>
          <a:stretch/>
        </p:blipFill>
        <p:spPr>
          <a:xfrm>
            <a:off x="913486" y="6118250"/>
            <a:ext cx="152705" cy="142646"/>
          </a:xfrm>
          <a:prstGeom prst="rect">
            <a:avLst/>
          </a:prstGeom>
        </p:spPr>
      </p:pic>
      <p:sp>
        <p:nvSpPr>
          <p:cNvPr id="43" name="Text 32"/>
          <p:cNvSpPr txBox="1"/>
          <p:nvPr/>
        </p:nvSpPr>
        <p:spPr>
          <a:xfrm>
            <a:off x="2506370"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5,500</a:t>
            </a:r>
            <a:endParaRPr lang="en-US" sz="1800"/>
          </a:p>
        </p:txBody>
      </p:sp>
      <p:sp>
        <p:nvSpPr>
          <p:cNvPr id="44" name="Text 33"/>
          <p:cNvSpPr txBox="1"/>
          <p:nvPr/>
        </p:nvSpPr>
        <p:spPr>
          <a:xfrm>
            <a:off x="2506370"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In-house Consultants</a:t>
            </a:r>
            <a:endParaRPr lang="en-US" sz="800"/>
          </a:p>
        </p:txBody>
      </p:sp>
      <p:pic>
        <p:nvPicPr>
          <p:cNvPr id="45" name="Image 9" descr="gen-dedup-bc499f386c10f37c45470adccc65c0cd.png"/>
          <p:cNvPicPr>
            <a:picLocks noChangeAspect="1"/>
          </p:cNvPicPr>
          <p:nvPr/>
        </p:nvPicPr>
        <p:blipFill>
          <a:blip r:embed="rId9"/>
          <a:srcRect t="-2165" b="-2165"/>
          <a:stretch/>
        </p:blipFill>
        <p:spPr>
          <a:xfrm>
            <a:off x="4225442" y="6034126"/>
            <a:ext cx="9144" cy="286207"/>
          </a:xfrm>
          <a:prstGeom prst="rect">
            <a:avLst/>
          </a:prstGeom>
        </p:spPr>
      </p:pic>
      <p:sp>
        <p:nvSpPr>
          <p:cNvPr id="46" name="Text 34"/>
          <p:cNvSpPr txBox="1"/>
          <p:nvPr/>
        </p:nvSpPr>
        <p:spPr>
          <a:xfrm>
            <a:off x="4321454" y="5981090"/>
            <a:ext cx="1638605" cy="228600"/>
          </a:xfrm>
          <a:prstGeom prst="rect">
            <a:avLst/>
          </a:prstGeom>
          <a:noFill/>
          <a:ln/>
        </p:spPr>
        <p:txBody>
          <a:bodyPr wrap="square" lIns="0" tIns="0" rIns="0" bIns="0" rtlCol="0" anchor="ctr"/>
          <a:lstStyle/>
          <a:p>
            <a:pPr marL="0" indent="0" algn="ctr">
              <a:buNone/>
            </a:pPr>
            <a:r>
              <a:rPr lang="en-US" b="1">
                <a:solidFill>
                  <a:srgbClr val="2A9D8F"/>
                </a:solidFill>
                <a:latin typeface="Oswald" pitchFamily="34" charset="0"/>
                <a:ea typeface="Oswald" pitchFamily="34" charset="-122"/>
                <a:cs typeface="Oswald" pitchFamily="34" charset="-120"/>
              </a:rPr>
              <a:t>6</a:t>
            </a:r>
            <a:r>
              <a:rPr lang="en-US" sz="1800" b="1">
                <a:solidFill>
                  <a:srgbClr val="2A9D8F"/>
                </a:solidFill>
                <a:latin typeface="Oswald" pitchFamily="34" charset="0"/>
                <a:ea typeface="Oswald" pitchFamily="34" charset="-122"/>
                <a:cs typeface="Oswald" pitchFamily="34" charset="-120"/>
              </a:rPr>
              <a:t>0+</a:t>
            </a:r>
            <a:endParaRPr lang="en-US" sz="1800"/>
          </a:p>
        </p:txBody>
      </p:sp>
      <p:sp>
        <p:nvSpPr>
          <p:cNvPr id="47" name="Text 35"/>
          <p:cNvSpPr txBox="1"/>
          <p:nvPr/>
        </p:nvSpPr>
        <p:spPr>
          <a:xfrm>
            <a:off x="4321454"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Accelerators</a:t>
            </a:r>
            <a:endParaRPr lang="en-US" sz="800"/>
          </a:p>
        </p:txBody>
      </p:sp>
      <p:pic>
        <p:nvPicPr>
          <p:cNvPr id="48" name="Image 10" descr="gen-dedup-bc499f386c10f37c45470adccc65c0cd.png"/>
          <p:cNvPicPr>
            <a:picLocks noChangeAspect="1"/>
          </p:cNvPicPr>
          <p:nvPr/>
        </p:nvPicPr>
        <p:blipFill>
          <a:blip r:embed="rId9"/>
          <a:srcRect t="-2165" b="-2165"/>
          <a:stretch/>
        </p:blipFill>
        <p:spPr>
          <a:xfrm>
            <a:off x="6040526" y="6034126"/>
            <a:ext cx="9144" cy="286207"/>
          </a:xfrm>
          <a:prstGeom prst="rect">
            <a:avLst/>
          </a:prstGeom>
        </p:spPr>
      </p:pic>
      <p:sp>
        <p:nvSpPr>
          <p:cNvPr id="49" name="Text 36"/>
          <p:cNvSpPr txBox="1"/>
          <p:nvPr/>
        </p:nvSpPr>
        <p:spPr>
          <a:xfrm>
            <a:off x="6137453"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30-40%</a:t>
            </a:r>
            <a:endParaRPr lang="en-US" sz="1800"/>
          </a:p>
        </p:txBody>
      </p:sp>
      <p:sp>
        <p:nvSpPr>
          <p:cNvPr id="50" name="Text 37"/>
          <p:cNvSpPr txBox="1"/>
          <p:nvPr/>
        </p:nvSpPr>
        <p:spPr>
          <a:xfrm>
            <a:off x="6137453"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OPEX Reduction</a:t>
            </a:r>
            <a:endParaRPr lang="en-US" sz="800"/>
          </a:p>
        </p:txBody>
      </p:sp>
      <p:pic>
        <p:nvPicPr>
          <p:cNvPr id="51" name="Image 11" descr="gen-dedup-bc499f386c10f37c45470adccc65c0cd.png"/>
          <p:cNvPicPr>
            <a:picLocks noChangeAspect="1"/>
          </p:cNvPicPr>
          <p:nvPr/>
        </p:nvPicPr>
        <p:blipFill>
          <a:blip r:embed="rId9"/>
          <a:srcRect t="-2165" b="-2165"/>
          <a:stretch/>
        </p:blipFill>
        <p:spPr>
          <a:xfrm>
            <a:off x="7856525" y="6034126"/>
            <a:ext cx="9144" cy="286207"/>
          </a:xfrm>
          <a:prstGeom prst="rect">
            <a:avLst/>
          </a:prstGeom>
        </p:spPr>
      </p:pic>
      <p:sp>
        <p:nvSpPr>
          <p:cNvPr id="52" name="Text 38"/>
          <p:cNvSpPr txBox="1"/>
          <p:nvPr/>
        </p:nvSpPr>
        <p:spPr>
          <a:xfrm>
            <a:off x="7952537" y="5981090"/>
            <a:ext cx="1638605" cy="228600"/>
          </a:xfrm>
          <a:prstGeom prst="rect">
            <a:avLst/>
          </a:prstGeom>
          <a:noFill/>
          <a:ln/>
        </p:spPr>
        <p:txBody>
          <a:bodyPr wrap="square" lIns="0" tIns="0" rIns="0" bIns="0" rtlCol="0" anchor="ctr"/>
          <a:lstStyle/>
          <a:p>
            <a:pPr marL="0" indent="0" algn="ctr">
              <a:buNone/>
            </a:pPr>
            <a:r>
              <a:rPr lang="en-US" sz="1800" b="1">
                <a:solidFill>
                  <a:srgbClr val="2A9D8F"/>
                </a:solidFill>
                <a:latin typeface="Oswald" pitchFamily="34" charset="0"/>
                <a:ea typeface="Oswald" pitchFamily="34" charset="-122"/>
                <a:cs typeface="Oswald" pitchFamily="34" charset="-120"/>
              </a:rPr>
              <a:t>Weeks</a:t>
            </a:r>
            <a:endParaRPr lang="en-US" sz="1800"/>
          </a:p>
        </p:txBody>
      </p:sp>
      <p:sp>
        <p:nvSpPr>
          <p:cNvPr id="53" name="Text 39"/>
          <p:cNvSpPr txBox="1"/>
          <p:nvPr/>
        </p:nvSpPr>
        <p:spPr>
          <a:xfrm>
            <a:off x="7952537"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PoC to Production</a:t>
            </a:r>
            <a:endParaRPr lang="en-US" sz="800"/>
          </a:p>
        </p:txBody>
      </p:sp>
      <p:pic>
        <p:nvPicPr>
          <p:cNvPr id="54" name="Image 12" descr="gen-dedup-bc499f386c10f37c45470adccc65c0cd.png"/>
          <p:cNvPicPr>
            <a:picLocks noChangeAspect="1"/>
          </p:cNvPicPr>
          <p:nvPr/>
        </p:nvPicPr>
        <p:blipFill>
          <a:blip r:embed="rId9"/>
          <a:srcRect t="-2165" b="-2165"/>
          <a:stretch/>
        </p:blipFill>
        <p:spPr>
          <a:xfrm>
            <a:off x="9671609" y="6034126"/>
            <a:ext cx="9144" cy="286207"/>
          </a:xfrm>
          <a:prstGeom prst="rect">
            <a:avLst/>
          </a:prstGeom>
        </p:spPr>
      </p:pic>
      <p:sp>
        <p:nvSpPr>
          <p:cNvPr id="55" name="Text 40"/>
          <p:cNvSpPr txBox="1"/>
          <p:nvPr/>
        </p:nvSpPr>
        <p:spPr>
          <a:xfrm>
            <a:off x="9767621"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0</a:t>
            </a:r>
            <a:endParaRPr lang="en-US" sz="1800"/>
          </a:p>
        </p:txBody>
      </p:sp>
      <p:sp>
        <p:nvSpPr>
          <p:cNvPr id="56" name="Text 41"/>
          <p:cNvSpPr txBox="1"/>
          <p:nvPr/>
        </p:nvSpPr>
        <p:spPr>
          <a:xfrm>
            <a:off x="9767621"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Subcontracting</a:t>
            </a:r>
            <a:endParaRPr lang="en-US" sz="800"/>
          </a:p>
        </p:txBody>
      </p:sp>
    </p:spTree>
    <p:extLst>
      <p:ext uri="{BB962C8B-B14F-4D97-AF65-F5344CB8AC3E}">
        <p14:creationId xmlns:p14="http://schemas.microsoft.com/office/powerpoint/2010/main" val="3072768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4ab2116e971fbb9400d0e99205bd0390.png"/>
          <p:cNvPicPr>
            <a:picLocks noChangeAspect="1"/>
          </p:cNvPicPr>
          <p:nvPr/>
        </p:nvPicPr>
        <p:blipFill>
          <a:blip r:embed="rId5">
            <a:alphaModFix amt="8000"/>
          </a:blip>
          <a:srcRect/>
          <a:stretch/>
        </p:blipFill>
        <p:spPr>
          <a:xfrm>
            <a:off x="-381305" y="4190695"/>
            <a:ext cx="1904695" cy="1904695"/>
          </a:xfrm>
          <a:prstGeom prst="rect">
            <a:avLst/>
          </a:prstGeom>
        </p:spPr>
      </p:pic>
      <p:sp>
        <p:nvSpPr>
          <p:cNvPr id="8" name="Shape 3"/>
          <p:cNvSpPr/>
          <p:nvPr/>
        </p:nvSpPr>
        <p:spPr>
          <a:xfrm>
            <a:off x="609905" y="20007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9" name="Shape 4"/>
          <p:cNvSpPr/>
          <p:nvPr/>
        </p:nvSpPr>
        <p:spPr>
          <a:xfrm>
            <a:off x="609905" y="2000707"/>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609905" y="29525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1" name="Shape 6"/>
          <p:cNvSpPr/>
          <p:nvPr/>
        </p:nvSpPr>
        <p:spPr>
          <a:xfrm>
            <a:off x="609905" y="2952598"/>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09905" y="3905402"/>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3" name="Shape 8"/>
          <p:cNvSpPr/>
          <p:nvPr/>
        </p:nvSpPr>
        <p:spPr>
          <a:xfrm>
            <a:off x="609905" y="3905402"/>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609905" y="48582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5" name="Shape 10"/>
          <p:cNvSpPr/>
          <p:nvPr/>
        </p:nvSpPr>
        <p:spPr>
          <a:xfrm>
            <a:off x="609905" y="4858207"/>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6" name="Shape 11"/>
          <p:cNvSpPr/>
          <p:nvPr/>
        </p:nvSpPr>
        <p:spPr>
          <a:xfrm>
            <a:off x="609905" y="58100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7" name="Shape 12"/>
          <p:cNvSpPr/>
          <p:nvPr/>
        </p:nvSpPr>
        <p:spPr>
          <a:xfrm>
            <a:off x="609905" y="5810098"/>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pic>
        <p:nvPicPr>
          <p:cNvPr id="20" name="Image 3" descr="gen-dedup-f40e183725d285eac3acdddf8d8f823b.png"/>
          <p:cNvPicPr>
            <a:picLocks noChangeAspect="1"/>
          </p:cNvPicPr>
          <p:nvPr/>
        </p:nvPicPr>
        <p:blipFill>
          <a:blip r:embed="rId6"/>
          <a:srcRect l="-369" r="-369"/>
          <a:stretch/>
        </p:blipFill>
        <p:spPr>
          <a:xfrm>
            <a:off x="609905" y="448970"/>
            <a:ext cx="57607" cy="495605"/>
          </a:xfrm>
          <a:prstGeom prst="rect">
            <a:avLst/>
          </a:prstGeom>
        </p:spPr>
      </p:pic>
      <p:sp>
        <p:nvSpPr>
          <p:cNvPr id="21" name="Text 15"/>
          <p:cNvSpPr txBox="1"/>
          <p:nvPr/>
        </p:nvSpPr>
        <p:spPr>
          <a:xfrm>
            <a:off x="819302" y="381305"/>
            <a:ext cx="4499762" cy="409651"/>
          </a:xfrm>
          <a:prstGeom prst="rect">
            <a:avLst/>
          </a:prstGeom>
          <a:noFill/>
          <a:ln/>
        </p:spPr>
        <p:txBody>
          <a:bodyPr wrap="none" lIns="0" tIns="0" rIns="0" bIns="0" rtlCol="0" anchor="ctr"/>
          <a:lstStyle/>
          <a:p>
            <a:pPr marL="0" indent="0" algn="l">
              <a:buNone/>
            </a:pPr>
            <a:r>
              <a:rPr lang="en-US" sz="2800" b="1">
                <a:solidFill>
                  <a:srgbClr val="111827"/>
                </a:solidFill>
                <a:latin typeface="Oswald" pitchFamily="34" charset="0"/>
                <a:ea typeface="Oswald" pitchFamily="34" charset="-122"/>
                <a:cs typeface="Oswald" pitchFamily="34" charset="-120"/>
              </a:rPr>
              <a:t>STRUCTURAL DIFFERENTIATION</a:t>
            </a:r>
            <a:endParaRPr lang="en-US" sz="2800"/>
          </a:p>
        </p:txBody>
      </p:sp>
      <p:sp>
        <p:nvSpPr>
          <p:cNvPr id="22" name="Text 16"/>
          <p:cNvSpPr txBox="1"/>
          <p:nvPr/>
        </p:nvSpPr>
        <p:spPr>
          <a:xfrm>
            <a:off x="819302" y="821131"/>
            <a:ext cx="3610051" cy="191110"/>
          </a:xfrm>
          <a:prstGeom prst="rect">
            <a:avLst/>
          </a:prstGeom>
          <a:noFill/>
          <a:ln/>
        </p:spPr>
        <p:txBody>
          <a:bodyPr wrap="none" lIns="0" tIns="0" rIns="0" bIns="0" rtlCol="0" anchor="ctr"/>
          <a:lstStyle/>
          <a:p>
            <a:pPr marL="0" indent="0" algn="l">
              <a:buNone/>
            </a:pPr>
            <a:r>
              <a:rPr lang="en-US" sz="1300" b="1" kern="0" spc="66">
                <a:solidFill>
                  <a:srgbClr val="2A9D8F"/>
                </a:solidFill>
                <a:latin typeface="Roboto Condensed" pitchFamily="34" charset="0"/>
                <a:ea typeface="Roboto Condensed" pitchFamily="34" charset="-122"/>
                <a:cs typeface="Roboto Condensed" pitchFamily="34" charset="-120"/>
              </a:rPr>
              <a:t>WORKFORCE SOLUTIONS</a:t>
            </a:r>
          </a:p>
        </p:txBody>
      </p:sp>
      <p:sp>
        <p:nvSpPr>
          <p:cNvPr id="23" name="Text 17"/>
          <p:cNvSpPr txBox="1"/>
          <p:nvPr/>
        </p:nvSpPr>
        <p:spPr>
          <a:xfrm>
            <a:off x="609905" y="1380744"/>
            <a:ext cx="10972800" cy="267005"/>
          </a:xfrm>
          <a:prstGeom prst="rect">
            <a:avLst/>
          </a:prstGeom>
          <a:noFill/>
          <a:ln/>
        </p:spPr>
        <p:txBody>
          <a:bodyPr wrap="none" lIns="0" tIns="0" rIns="0" bIns="0" rtlCol="0" anchor="ctr"/>
          <a:lstStyle/>
          <a:p>
            <a:pPr marL="0" indent="0" algn="l">
              <a:buNone/>
            </a:pPr>
            <a:r>
              <a:rPr lang="en-US" sz="1500" b="1">
                <a:solidFill>
                  <a:srgbClr val="D62839"/>
                </a:solidFill>
                <a:latin typeface="Raleway" pitchFamily="34" charset="0"/>
                <a:ea typeface="Raleway" pitchFamily="34" charset="-122"/>
                <a:cs typeface="Raleway" pitchFamily="34" charset="-120"/>
              </a:rPr>
              <a:t>Five structural differences that change the engagement from transactional to transformational.</a:t>
            </a:r>
            <a:endParaRPr lang="en-US" sz="1500"/>
          </a:p>
        </p:txBody>
      </p:sp>
      <p:sp>
        <p:nvSpPr>
          <p:cNvPr id="24" name="Text 18"/>
          <p:cNvSpPr txBox="1"/>
          <p:nvPr/>
        </p:nvSpPr>
        <p:spPr>
          <a:xfrm>
            <a:off x="1037844" y="2148840"/>
            <a:ext cx="1904695"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No Subcontracting</a:t>
            </a:r>
            <a:endParaRPr lang="en-US" sz="1400"/>
          </a:p>
        </p:txBody>
      </p:sp>
      <p:sp>
        <p:nvSpPr>
          <p:cNvPr id="25" name="Text 19"/>
          <p:cNvSpPr txBox="1"/>
          <p:nvPr/>
        </p:nvSpPr>
        <p:spPr>
          <a:xfrm>
            <a:off x="800100" y="2491740"/>
            <a:ext cx="11278210" cy="219456"/>
          </a:xfrm>
          <a:prstGeom prst="rect">
            <a:avLst/>
          </a:prstGeom>
          <a:no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300+ in-house recruiters. 7,200+ professionals on J2W payroll. Zero subcontracting layer diluting quality, speed, or accountability.</a:t>
            </a:r>
            <a:endParaRPr lang="en-US" sz="1300"/>
          </a:p>
        </p:txBody>
      </p:sp>
      <p:pic>
        <p:nvPicPr>
          <p:cNvPr id="26" name="Image 4" descr="gen-dedup-928b248bf773cd1fca0141b5a5721735.png"/>
          <p:cNvPicPr>
            <a:picLocks noChangeAspect="1"/>
          </p:cNvPicPr>
          <p:nvPr/>
        </p:nvPicPr>
        <p:blipFill>
          <a:blip r:embed="rId7"/>
          <a:srcRect t="-6603" b="-6603"/>
          <a:stretch/>
        </p:blipFill>
        <p:spPr>
          <a:xfrm>
            <a:off x="800100" y="2211934"/>
            <a:ext cx="161849" cy="209398"/>
          </a:xfrm>
          <a:prstGeom prst="rect">
            <a:avLst/>
          </a:prstGeom>
        </p:spPr>
      </p:pic>
      <p:sp>
        <p:nvSpPr>
          <p:cNvPr id="27" name="Text 20"/>
          <p:cNvSpPr txBox="1"/>
          <p:nvPr/>
        </p:nvSpPr>
        <p:spPr>
          <a:xfrm>
            <a:off x="1037844" y="2991917"/>
            <a:ext cx="241493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GCC-Native Intelligence</a:t>
            </a:r>
            <a:endParaRPr lang="en-US" sz="1400"/>
          </a:p>
        </p:txBody>
      </p:sp>
      <p:sp>
        <p:nvSpPr>
          <p:cNvPr id="28" name="Text 21"/>
          <p:cNvSpPr txBox="1"/>
          <p:nvPr/>
        </p:nvSpPr>
        <p:spPr>
          <a:xfrm>
            <a:off x="800100" y="33348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Forged through 300+ active GCC deployments. We see the next problem before it shows up because we have already solved it somewhere else.</a:t>
            </a:r>
            <a:endParaRPr lang="en-US" sz="1300"/>
          </a:p>
        </p:txBody>
      </p:sp>
      <p:pic>
        <p:nvPicPr>
          <p:cNvPr id="29" name="Image 5" descr="gen-dedup-0c58ce2f3d3941653435c84e3cc91c65.png"/>
          <p:cNvPicPr>
            <a:picLocks noChangeAspect="1"/>
          </p:cNvPicPr>
          <p:nvPr/>
        </p:nvPicPr>
        <p:blipFill>
          <a:blip r:embed="rId8"/>
          <a:srcRect t="-14689" b="-14689"/>
          <a:stretch/>
        </p:blipFill>
        <p:spPr>
          <a:xfrm>
            <a:off x="800100" y="3055925"/>
            <a:ext cx="161849" cy="209398"/>
          </a:xfrm>
          <a:prstGeom prst="rect">
            <a:avLst/>
          </a:prstGeom>
        </p:spPr>
      </p:pic>
      <p:sp>
        <p:nvSpPr>
          <p:cNvPr id="30" name="Text 22"/>
          <p:cNvSpPr txBox="1"/>
          <p:nvPr/>
        </p:nvSpPr>
        <p:spPr>
          <a:xfrm>
            <a:off x="1037844" y="3944722"/>
            <a:ext cx="1633118"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AI at Every Step</a:t>
            </a:r>
            <a:endParaRPr lang="en-US" sz="1400"/>
          </a:p>
        </p:txBody>
      </p:sp>
      <p:sp>
        <p:nvSpPr>
          <p:cNvPr id="31" name="Text 23"/>
          <p:cNvSpPr txBox="1"/>
          <p:nvPr/>
        </p:nvSpPr>
        <p:spPr>
          <a:xfrm>
            <a:off x="800100" y="4287622"/>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TalentAI + TalentSphere: AI-ranked pools, voice-agent screening, skill graphs, predictive placement. Every tool passed our 40% improvement gate internally.</a:t>
            </a:r>
            <a:endParaRPr lang="en-US" sz="1300"/>
          </a:p>
        </p:txBody>
      </p:sp>
      <p:pic>
        <p:nvPicPr>
          <p:cNvPr id="32" name="Image 6" descr="gen-dedup-da669e206ac26c7983b1f8612c832ea6.png"/>
          <p:cNvPicPr>
            <a:picLocks noChangeAspect="1"/>
          </p:cNvPicPr>
          <p:nvPr/>
        </p:nvPicPr>
        <p:blipFill>
          <a:blip r:embed="rId9"/>
          <a:srcRect t="-30861" b="-30861"/>
          <a:stretch/>
        </p:blipFill>
        <p:spPr>
          <a:xfrm>
            <a:off x="800100" y="4008730"/>
            <a:ext cx="161849" cy="209398"/>
          </a:xfrm>
          <a:prstGeom prst="rect">
            <a:avLst/>
          </a:prstGeom>
        </p:spPr>
      </p:pic>
      <p:sp>
        <p:nvSpPr>
          <p:cNvPr id="33" name="Text 24"/>
          <p:cNvSpPr txBox="1"/>
          <p:nvPr/>
        </p:nvSpPr>
        <p:spPr>
          <a:xfrm>
            <a:off x="1037844" y="4897526"/>
            <a:ext cx="246065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Pod Governance Built In</a:t>
            </a:r>
            <a:endParaRPr lang="en-US" sz="1400"/>
          </a:p>
        </p:txBody>
      </p:sp>
      <p:sp>
        <p:nvSpPr>
          <p:cNvPr id="34" name="Text 25"/>
          <p:cNvSpPr txBox="1"/>
          <p:nvPr/>
        </p:nvSpPr>
        <p:spPr>
          <a:xfrm>
            <a:off x="800100" y="5240426"/>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 dedicated Pod Manager - not billed to client - owns sprint governance, performance tracking, and L&amp;D coordination. This is a pod, not a staffing drop.</a:t>
            </a:r>
            <a:endParaRPr lang="en-US" sz="1300"/>
          </a:p>
        </p:txBody>
      </p:sp>
      <p:pic>
        <p:nvPicPr>
          <p:cNvPr id="35" name="Image 7" descr="gen-dedup-5d8964838ee5ef7b6e1692b5297312cd.png"/>
          <p:cNvPicPr>
            <a:picLocks noChangeAspect="1"/>
          </p:cNvPicPr>
          <p:nvPr/>
        </p:nvPicPr>
        <p:blipFill>
          <a:blip r:embed="rId10"/>
          <a:srcRect t="-30861" b="-30861"/>
          <a:stretch/>
        </p:blipFill>
        <p:spPr>
          <a:xfrm>
            <a:off x="800100" y="4960620"/>
            <a:ext cx="161849" cy="209398"/>
          </a:xfrm>
          <a:prstGeom prst="rect">
            <a:avLst/>
          </a:prstGeom>
        </p:spPr>
      </p:pic>
      <p:sp>
        <p:nvSpPr>
          <p:cNvPr id="36" name="Text 26"/>
          <p:cNvSpPr txBox="1"/>
          <p:nvPr/>
        </p:nvSpPr>
        <p:spPr>
          <a:xfrm>
            <a:off x="1037844" y="5849417"/>
            <a:ext cx="2051914"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Validated Playbooks</a:t>
            </a:r>
            <a:endParaRPr lang="en-US" sz="1400"/>
          </a:p>
        </p:txBody>
      </p:sp>
      <p:sp>
        <p:nvSpPr>
          <p:cNvPr id="37" name="Text 27"/>
          <p:cNvSpPr txBox="1"/>
          <p:nvPr/>
        </p:nvSpPr>
        <p:spPr>
          <a:xfrm>
            <a:off x="800100" y="61923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Every tool, process, and accelerator has passed our internal 40% improvement gate. Clients benefit from completed learning - not our experimentation.</a:t>
            </a:r>
            <a:endParaRPr lang="en-US" sz="1300"/>
          </a:p>
        </p:txBody>
      </p:sp>
      <p:pic>
        <p:nvPicPr>
          <p:cNvPr id="38" name="Image 8" descr="gen-dedup-001fb79ce367df5df5f79805d3e188cd.png"/>
          <p:cNvPicPr>
            <a:picLocks noChangeAspect="1"/>
          </p:cNvPicPr>
          <p:nvPr/>
        </p:nvPicPr>
        <p:blipFill>
          <a:blip r:embed="rId11"/>
          <a:srcRect t="-22775" b="-22775"/>
          <a:stretch/>
        </p:blipFill>
        <p:spPr>
          <a:xfrm>
            <a:off x="800100" y="5913425"/>
            <a:ext cx="161849" cy="2093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CLOUD MIGRATION AND 24x7 INFRASTRUCTURE SUPPORT</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Healthcare Technology Enterprise  |  DOMAIN: Healthcare Technology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global healthcare SaaS provider faced performance issues and delays during migration of more than 140 workloads to a hybrid cloud environment. Fragmented visibility across the migration program and downtime events were impacting critical applications relied upon by healthcare customers.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certified DevOps and infrastructure team was deployed to execute phased migration using Infrastructure-as-Code best practices. A 24/7 managed services team with proactive monitoring and structured incident response was established simultaneously. All 140 or more workloads were migrated on schedule with post-migration uptime and P1 resolution targets defined and tracked from day one.</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Certified DevOps and Infrastructure Team</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Domain-certified engineers deployed specifically for hybrid cloud migration and managed services.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Phased Migration via IaC</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Infrastructure-as-Code best practices applied across all workload migrations ensuring repeatability and reducing risk.</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24/7 Managed Services</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Continuous proactive monitoring and incident response maintaining operations across all post-migration environments.</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Structured Incident Response Framework</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Defined escalation and resolution procedures for P1, P2, and P3 incidents with response SLA accountability.</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Migration Governance</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End-to-end program tracking across all 140 or more workloads with milestone-based delivery visibility.</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Hybrid Cloud Architecture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Multi-environment setup supporting cloud and on-premise workloads within a single managed operations layer.</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100%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on-time migration of 140 or more workloads</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99.95%</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uptime post-migration</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95%</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P1 incidents resolved within 4 hours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GREENFIELD TO APAC INNOVATION HUB - 15-YEAR BFSI EVOLUTION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Banking Institution  |  DOMAIN: Banking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global bank needed to build, evolve, and scale a multi-city APAC hub across more than a decade - from a lean greenfield foundation to a fully automated excellence hub supporting €1.3 trillion in assets across 15 countries. Each phase raised the bar with more complexity, tighter compliance, and deeper AI integration requirements.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3 phases of delivery were executed. Phase 1 established 120 professionals with a core BFSI Center of Excellence and compliance engine. Phase 2 scaled to 450 or more specialists with AI-driven risk automation and fraud detection at 98%. Phase 3 reached 700 or more professionals across APAC with automated KYC/AML, real-time reporting, and $1.2 billion in annual value generation.</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Phase 1 Banking GCC Foundation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120 professionals establishing core BFSI CoE operations with compliance engine and risk framework.</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Phase 2 Digital Transformation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450 or more specialists driving AI-powered risk accuracy improvement of 30% and retail banking automation of 45%.</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Phase 3 APAC Excellence Hub</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700 or more professionals across multi-city hub with automated KYC/AML and real-time reporting across 15 countries.</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AI-Powered Credit Risk Modelling</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92% accuracy in AI-driven credit risk modelling supporting enterprise-scale financial decision-making.</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Regulatory Compliance at Scale</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100% regulatory compliance maintained across all APAC jurisdictions throughout every phase.</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Continuous Innovation Engine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Sustainable innovation frameworks ensuring the hub remains at the forefront of BFSI operations.</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700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or more professionals across APAC supporting €1.3 trillion in assets</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92%</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AI credit-risk modeling accuracy</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$1.2</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billion annual value generation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GREENFIELD AI-READY GCC BUILD FOR MAJOR US AIRLINE</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Aviation Operator  |  DOMAIN: Aviation</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major US airline needed to build a greenfield GCC in Hyderabad targeting up to 1,000 technology professionals for AI leadership and global parity. The mandate required competing for scarce senior tech talent, building an employer brand from scratch in an aviation domain unfamiliar to India's engineering market, and meeting a compressed timeline with an AI-first mandate from leadership.</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Greenfield GCC Playbook was deployed covering sourcing, employer branding, and AI certification. Intelligence-led sourcing using open-source contribution signals, TalentAI, and TalentSphere semantic search was combined with a 5-stage technical screen. Every engineer was AI-certified before day 1, and a dedicated tech lead was embedded at no additional cost for sprint velocity and code quality governance.</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Greenfield GCC Playbook</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Operating model, governance, KPI architecture, and regulatory compliance delivered 60-70% faster than industry timelines.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Intelligence-Led Sourcing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Deep signal sourcing using open-source contributions and TalentAI semantic search with skill-graph scoring.</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5-Stage Technical Screen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LinkedIn triage, DSA assessment, architecture review, client panel, and structured onboarding in sequence.</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J2W AI Labs Certification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Every engineer AI-certified before day 1 with AI-assisted code review, LLM documentation, and automated test generation.</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AI-First Engineering Pod</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Embedded tech lead at no client cost with sprint velocity and code quality KPIs, engineers shipping from week 3.</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Employer Brand Architecture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Positioned as same role as US HQ with in-person AI mentorship, differentiating from standard GCC narrative.</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Time-to-shortlist</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reduced from weeks to days</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1</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engineer onboarded per hour at peak</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attrition at 6 months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FINANCE AND TECHNOLOGY COE BUILD</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Industrial Engineering Enterprise  |  DOMAIN: Industrial Engineering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global industrial engineering leader needed to build a 150-member India Center of Excellence across Finance and Technology functions within 6 months, covering niche roles including ServiceNow platform engineers, SAP architects, finance transformation specialists, and data engineering leads - requiring simultaneous rapid scaling, operational maturity, and strategic transformation.</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Build-Operate-Transfer model was implemented across 3 phases: full infrastructure, regulatory readiness, IT provisioning, governance framework, and 100% recruitment in months 1 to 2; knowledge transfer, process optimization, RPA rollout, and SLA validation in months 2 to 4; and operational maturity with controlled transfer in months 4 to 6. RPA was deployed across 4 Finance towers, and the Client Vantage dashboard was integrated for real-time leadership visibility.</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BOT Operating Model</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Build-Operate-Transfer structure with the client assuming control at month 6 and advisory continuing post-transfer.</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Finance Tower Excellence</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O2C, P2P, R2R, and FP&amp;A each built with embedded control frameworks, compliance standards, and efficiency benchmarks.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C2H for Critical Roles</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Contract-to-Hire at 45-50% of year-1 compensation with 85% mis-hire risk reduction and day-91 permanent conversion.</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RPA and AI Workflow Automation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SAP P2P, O2C, R2R automation targeting 25-30% manual effort reduction across all Finance towers.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Client Vantage Dashboard</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Real-time performance visibility and predictive pipeline analytics from day 1 for leadership oversight.</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ServiceNow and Cloud Enablement</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Full deployment and CRM optimization for the 50-person technology track.</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150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hires completed in 6 months</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25</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30% manual effort reduction</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15</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20% improvement in operational leverage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CORE BANKING TRANSFORMATION AND SUPPORT OPTIMIZATION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Banking Institution  |  DOMAIN: Banking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private bank operating across 600 or more branches suffered frequent SLA violations and escalating incident volumes caused by fragmented vendor management, non-uniform SOPs, and lack of support standardization across locations. The absence of a centralized support layer meant each branch operated with inconsistent processes and response quality.</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60-member L1 to L3 support team was deployed across India with ServiceNow integrated into the client's systems and centralized SLA monitoring enabled. Domain-aligned ITIL training was conducted across all support tiers, and SOPs were standardized across all branches. A single governance layer replaced the fragmented multi-vendor model.</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60-Member Multi-Tier Support Team</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L1 to L3 coverage deployed nationally across India, providing unified support across all branch locations.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ServiceNow Integration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End-to-end ITSM integration with centralized SLA monitoring replacing fragmented ticket management.</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Domain-Aligned ITIL Training</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All support tiers trained to banking-domain ITIL standards ensuring consistent incident resolution quality.</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Standardized SOPs Across 600+ Branches</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Uniform operating procedures deployed across the full branch network eliminating process inconsistency.</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Centralized SLA Monitoring</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Real-time visibility into SLA status across all tiers enabling proactive breach prevention.</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Vendor Consolidation Model</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Single delivery partner replacing fragmented vendor management and associated governance overhead.</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42%</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average ticket turnaround time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99.8%</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SLA compliance sustained</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25%</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cost savings from support consolidation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RPO FOR GLOBAL E-COMMERCE AND CLOUD COMPUTING LEADER</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Technology Enterprise  |  DOMAIN: Technology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global e-commerce and cloud computing giant needed to rapidly scale its engineering workforce in a highly competitive talent marketplace, hiring 350 engineers through 75 to 80 talent specialists while maintaining a compelling employer brand, upholding Diversity and Inclusion principles, and keeping core business operations uninterrupted.</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Recruitment Process Outsourcing model was deployed managing the entire recruitment lifecycle. Tech communities, university partnerships, boot camps, and online forums were used for sourcing alongside rigorous skill assessments, tech challenges, incentivized employee referrals, and advanced recruitment technologies for real-time insights.</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RPO Model Deployment</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End-to-end management of sourcing, screening, interviewing, and onboarding across the full recruitment lifecycle.</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Multi-Faceted Sourcing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Tech communities, universities, boot camps, and professional networks activated simultaneously for pipeline volume.</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Rigorous Skill Assessment</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Technical challenges and live coding assessments validating engineering competency before client interview.</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Diversity and Inclusion Alignment</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Broad sourcing strategies ensuring inclusive hiring across gender, background, and geography.</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Advanced Recruitment Technology</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Real-time insights dashboards and reporting systems providing transparency across the hiring pipeline.</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Employee Referral Program</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Incentivized internal referral mechanism integrated into the sourcing strategy for quality pipeline augmentation.</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300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software development engineers hired in a single month at peak</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85</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talent specialists deployed by J2W</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Significant</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increase in candidate satisfaction scores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SAP AND SUPPLY CHAIN CAPABILITY BUILD FOR LUXURY VEHICLE MANUFACTURER</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Automotive Engineering Enterprise  |  DOMAIN: Automotive Engineering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leading luxury and commercial vehicle manufacturer needed to enhance its SAP Warehousing and Supply Chain modules to optimize goods flow and information across its supply chain. Building a holistic customized solution, integrating native iOS and Android mobile development with SAP, managing complex integrations, and recruiting highly specialized SAP warehousing and supply chain experts - a rare talent profile - presented compounding challenges.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integrated SAP capability development program was delivered covering ongoing implementation and support for advanced inventory and order processing modules. Customized workflows, automated validations, predictive analytics, real-time dashboards, and native mobile applications on iOS and Android were delivered. 50 senior-level professionals were onboarded in the first year through a targeted high-performance talent acquisition engine.</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Integrated SAP Capability</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Implementation and support for advanced inventory and order processing modules across the supply chain.</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Predictive Analytics and Real-Time Dashboards</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Live visibility into supply chain operations enabling proactive decision-making.</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Native Mobile Development</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iOS and Android applications tightly integrated with SAP warehousing and supply chain modules.</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Workflow Automation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Custom workflows and automated validations reducing manual processing across supply chain touchpoints.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High-Performance Talent Acquisition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50 senior professionals onboarded in year 1 through targeted sourcing and assessment.</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Skill Development Programs</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Tailored training ensuring proficiency in new SAP technologies across the placed team.</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50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senior-level professionals onboarded in the first year</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Significantly</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improved supply chain operational efficiency</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Reduced lead</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times and eliminated supply chain bottlenecks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NETWORK AND INFRASTRUCTURE MODERNIZATION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Fortune 500 engineering and manufacturing company's legacy infrastructure was causing network outages and security lapses across 7 industrial sites. The internal IT team lacked certified personnel at all locations and had no centralized visibility into site-level uptime or incident patterns.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L2 to L3 certified infrastructure team was deployed across all 7 industrial sites, the core network was reconfigured, remote monitoring dashboards were enabled, and NOC governance was implemented. Security posture was rebuilt alongside network reliability, with site-level visibility established for the first time.</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L2-L3 Certified Infra Team Across 7 Sites</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Domain-certified infrastructure engineers deployed at every industrial location, replacing the gap in certified personnel.</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Core Network Reconfiguration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Full network architecture review and rebuild resolving the root causes of recurring outages.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Remote Monitoring Dashboards</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Centralized visibility into site-level uptime and incident patterns across all 7 locations in real time.</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NOC Governance Implementation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Network operations center governance establishing defined processes for incident detection, escalation, and resolution.</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Security Posture Rebuild</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Systematic remediation of security lapses identified during infrastructure assessment across all sites.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Compliance Score Improvement</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Tracked and reported compliance metrics across sites with structured remediation plans.</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67%</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network incidents</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35%</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improvement in compliance score</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98%</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uptime across all plant sites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CAIRO CUSTOMER ENGAGEMENT CENTER EXPANSION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Technology Enterprise  |  DOMAIN: Technology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leading global technology hardware company needed to stand up a scalable, high-performance Customer Engagement Center in Cairo to manage multilingual global support for EMEA, maintaining strict SLAs and high customer satisfaction at speed and scale. Replicating the success of a proven 900-seat India CEC in a new geography with zero execution risk and a fixed November 1st launch commitment presented the core challenge.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lift-and-scale of the proven India CEC model into Cairo was proposed and executed, applying the identical playbook, tools, workflows, and governance already delivering results for the client in India. A prime Cairo site was identified with phased capacity from 50 to 400 seats, a pre-trained bilingual talent pool of 50 resources was ready for day 1, and end-to-end IT infrastructure including CRM and CTI integration was established.</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Proven Delivery Model Lift-and-Scale</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Identical India CEC playbook applied to Cairo eliminating learning curve and minimizing execution risk.</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Pre-Trained Bilingual Talent Pipeline</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50 multilingual resources trained and ready for day 1 deployment with capacity to scale to 400.</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End-to-End IT and Infrastructure Setup</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Full workstation, connectivity, and telephony with seamless CRM and CTI integration.</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Joint Client-J2W Governance</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Shared governance board with real-time dashboards and daily health-check calls during launch.</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GDPR and ISO 27001 Compliance</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Data privacy, security compliance, dual ISP redundancy, and 24/7 SOC monitoring from go-live.</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Innovation Roadmap Integration</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AI-driven interaction monitoring, RPA for repetitive tasks, and predictive analytics dashboards planned from day one.</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98%</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or more SLA adherence sustained at the India CEC blueprint</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50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resources ready for day 1 deployment, scaling to 400 seats</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5</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year contractual partnership established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32819</Words>
  <Application>Microsoft Office PowerPoint</Application>
  <PresentationFormat>Widescreen</PresentationFormat>
  <Paragraphs>3575</Paragraphs>
  <Slides>138</Slides>
  <Notes>138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5</cp:revision>
  <dcterms:created xsi:type="dcterms:W3CDTF">2026-06-22T10:46:20Z</dcterms:created>
  <dcterms:modified xsi:type="dcterms:W3CDTF">2026-06-24T11:39:04Z</dcterms:modified>
</cp:coreProperties>
</file>