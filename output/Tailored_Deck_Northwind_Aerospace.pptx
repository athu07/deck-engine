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4"/>
  </p:notesMasterIdLst>
  <p:sldIdLst>
    <p:sldId id="2147483328" r:id="rId2"/>
    <p:sldId id="2147483329" r:id="rId3"/>
    <p:sldId id="2147483330" r:id="rId4"/>
    <p:sldId id="2147483327" r:id="rId5"/>
    <p:sldId id="2147483332" r:id="rId6"/>
    <p:sldId id="2147483331" r:id="rId7"/>
    <p:sldId id="2147483428" r:id="rId16"/>
    <p:sldId id="2147483429" r:id="rId17"/>
    <p:sldId id="2147483431" r:id="rId19"/>
    <p:sldId id="2147483432" r:id="rId20"/>
    <p:sldId id="288" r:id="rId53"/>
    <p:sldId id="302" r:id="rId66"/>
    <p:sldId id="2147483305" r:id="rId8"/>
    <p:sldId id="299" r:id="rId9"/>
    <p:sldId id="2147483439" r:id="rId1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3.xml"/><Relationship Id="rId9" Type="http://schemas.openxmlformats.org/officeDocument/2006/relationships/slide" Target="slides/slide14.xml"/><Relationship Id="rId16" Type="http://schemas.openxmlformats.org/officeDocument/2006/relationships/slide" Target="slides/slide7.xml"/><Relationship Id="rId17"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53" Type="http://schemas.openxmlformats.org/officeDocument/2006/relationships/slide" Target="slides/slide11.xml"/><Relationship Id="rId66" Type="http://schemas.openxmlformats.org/officeDocument/2006/relationships/slide" Target="slides/slide12.xml"/><Relationship Id="rId134" Type="http://schemas.openxmlformats.org/officeDocument/2006/relationships/notesMaster" Target="notesMasters/notesMaster1.xml"/><Relationship Id="rId135" Type="http://schemas.openxmlformats.org/officeDocument/2006/relationships/presProps" Target="presProps.xml"/><Relationship Id="rId136" Type="http://schemas.openxmlformats.org/officeDocument/2006/relationships/viewProps" Target="viewProps.xml"/><Relationship Id="rId137" Type="http://schemas.openxmlformats.org/officeDocument/2006/relationships/theme" Target="theme/theme1.xml"/><Relationship Id="rId138" Type="http://schemas.openxmlformats.org/officeDocument/2006/relationships/tableStyles" Target="tableStyles.xml"/><Relationship Id="rId139" Type="http://schemas.microsoft.com/office/2015/10/relationships/revisionInfo" Target="revisionInfo.xml"/><Relationship Id="rId14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CS52</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CS73</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J2W_ID: CS134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 Id="rId9" Type="http://schemas.openxmlformats.org/officeDocument/2006/relationships/image" Target="../media/image107.png"/><Relationship Id="rId10" Type="http://schemas.openxmlformats.org/officeDocument/2006/relationships/image" Target="../media/image108.png"/><Relationship Id="rId11" Type="http://schemas.openxmlformats.org/officeDocument/2006/relationships/image" Target="../media/image109.png"/><Relationship Id="rId12" Type="http://schemas.openxmlformats.org/officeDocument/2006/relationships/image" Target="../media/image1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119.png"/><Relationship Id="rId12" Type="http://schemas.openxmlformats.org/officeDocument/2006/relationships/image" Target="../media/image120.png"/><Relationship Id="rId13" Type="http://schemas.openxmlformats.org/officeDocument/2006/relationships/image" Target="../media/image1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9" Type="http://schemas.openxmlformats.org/officeDocument/2006/relationships/image" Target="../media/image1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image" Target="../media/image129.png"/><Relationship Id="rId8" Type="http://schemas.openxmlformats.org/officeDocument/2006/relationships/image" Target="../media/image130.png"/><Relationship Id="rId9" Type="http://schemas.openxmlformats.org/officeDocument/2006/relationships/image" Target="../media/image131.png"/><Relationship Id="rId10" Type="http://schemas.openxmlformats.org/officeDocument/2006/relationships/image" Target="../media/image132.png"/><Relationship Id="rId11" Type="http://schemas.openxmlformats.org/officeDocument/2006/relationships/image" Target="../media/image133.png"/><Relationship Id="rId12" Type="http://schemas.openxmlformats.org/officeDocument/2006/relationships/image" Target="../media/image134.png"/><Relationship Id="rId13" Type="http://schemas.openxmlformats.org/officeDocument/2006/relationships/image" Target="../media/image135.png"/><Relationship Id="rId14" Type="http://schemas.openxmlformats.org/officeDocument/2006/relationships/image" Target="../media/image34.png"/><Relationship Id="rId15"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36.png"/><Relationship Id="rId4" Type="http://schemas.openxmlformats.org/officeDocument/2006/relationships/image" Target="../media/image1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36.png"/><Relationship Id="rId4" Type="http://schemas.openxmlformats.org/officeDocument/2006/relationships/image" Target="../media/image1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 TECHNOLOGY ACCELERATORS | GAME CHANGERS</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52805"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7" name="Shape 3"/>
          <p:cNvSpPr/>
          <p:nvPr/>
        </p:nvSpPr>
        <p:spPr>
          <a:xfrm>
            <a:off x="9525305" y="4762195"/>
            <a:ext cx="2857500" cy="28575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400" r="-400"/>
          <a:stretch/>
        </p:blipFill>
        <p:spPr>
          <a:xfrm>
            <a:off x="609905" y="571500"/>
            <a:ext cx="57607" cy="571500"/>
          </a:xfrm>
          <a:prstGeom prst="rect">
            <a:avLst/>
          </a:prstGeom>
        </p:spPr>
      </p:pic>
      <p:sp>
        <p:nvSpPr>
          <p:cNvPr id="9" name="Shape 4"/>
          <p:cNvSpPr/>
          <p:nvPr/>
        </p:nvSpPr>
        <p:spPr>
          <a:xfrm>
            <a:off x="60990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5"/>
          <p:cNvSpPr/>
          <p:nvPr/>
        </p:nvSpPr>
        <p:spPr>
          <a:xfrm>
            <a:off x="60990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1" name="Shape 6"/>
          <p:cNvSpPr/>
          <p:nvPr/>
        </p:nvSpPr>
        <p:spPr>
          <a:xfrm>
            <a:off x="3372307"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3372307"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3" name="Shape 8"/>
          <p:cNvSpPr/>
          <p:nvPr/>
        </p:nvSpPr>
        <p:spPr>
          <a:xfrm>
            <a:off x="613379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9"/>
          <p:cNvSpPr/>
          <p:nvPr/>
        </p:nvSpPr>
        <p:spPr>
          <a:xfrm>
            <a:off x="613379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5" name="Shape 10"/>
          <p:cNvSpPr/>
          <p:nvPr/>
        </p:nvSpPr>
        <p:spPr>
          <a:xfrm>
            <a:off x="8896198"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1"/>
          <p:cNvSpPr/>
          <p:nvPr/>
        </p:nvSpPr>
        <p:spPr>
          <a:xfrm>
            <a:off x="8896198"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7" name="Shape 12"/>
          <p:cNvSpPr/>
          <p:nvPr/>
        </p:nvSpPr>
        <p:spPr>
          <a:xfrm>
            <a:off x="609905" y="3619195"/>
            <a:ext cx="10916107" cy="2876702"/>
          </a:xfrm>
          <a:prstGeom prst="roundRect">
            <a:avLst>
              <a:gd name="adj" fmla="val 168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pic>
        <p:nvPicPr>
          <p:cNvPr id="18" name="Image 3" descr="preencoded.png"/>
          <p:cNvPicPr>
            <a:picLocks noChangeAspect="1"/>
          </p:cNvPicPr>
          <p:nvPr/>
        </p:nvPicPr>
        <p:blipFill>
          <a:blip r:embed="rId6"/>
          <a:srcRect t="-29" b="-29"/>
          <a:stretch/>
        </p:blipFill>
        <p:spPr>
          <a:xfrm>
            <a:off x="609905" y="3619195"/>
            <a:ext cx="10896905" cy="495605"/>
          </a:xfrm>
          <a:prstGeom prst="rect">
            <a:avLst/>
          </a:prstGeom>
        </p:spPr>
      </p:pic>
      <p:sp>
        <p:nvSpPr>
          <p:cNvPr id="19" name="Shape 13"/>
          <p:cNvSpPr/>
          <p:nvPr/>
        </p:nvSpPr>
        <p:spPr>
          <a:xfrm>
            <a:off x="609905" y="4572000"/>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0" name="Shape 14"/>
          <p:cNvSpPr/>
          <p:nvPr/>
        </p:nvSpPr>
        <p:spPr>
          <a:xfrm>
            <a:off x="609905" y="4572000"/>
            <a:ext cx="10896905" cy="485546"/>
          </a:xfrm>
          <a:prstGeom prst="rect">
            <a:avLst/>
          </a:prstGeom>
          <a:solidFill>
            <a:srgbClr val="2A9D8F">
              <a:alpha val="2000"/>
            </a:srgbClr>
          </a:solidFill>
          <a:ln/>
        </p:spPr>
        <p:txBody>
          <a:bodyPr/>
          <a:lstStyle/>
          <a:p>
            <a:endParaRPr lang="en-US"/>
          </a:p>
        </p:txBody>
      </p:sp>
      <p:sp>
        <p:nvSpPr>
          <p:cNvPr id="21" name="Shape 15"/>
          <p:cNvSpPr/>
          <p:nvPr/>
        </p:nvSpPr>
        <p:spPr>
          <a:xfrm>
            <a:off x="609905" y="5048402"/>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2" name="Shape 16"/>
          <p:cNvSpPr/>
          <p:nvPr/>
        </p:nvSpPr>
        <p:spPr>
          <a:xfrm>
            <a:off x="609905" y="5524805"/>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3" name="Shape 17"/>
          <p:cNvSpPr/>
          <p:nvPr/>
        </p:nvSpPr>
        <p:spPr>
          <a:xfrm>
            <a:off x="609905" y="5524805"/>
            <a:ext cx="10896905" cy="485546"/>
          </a:xfrm>
          <a:prstGeom prst="rect">
            <a:avLst/>
          </a:prstGeom>
          <a:solidFill>
            <a:srgbClr val="2A9D8F">
              <a:alpha val="2000"/>
            </a:srgbClr>
          </a:solidFill>
          <a:ln/>
        </p:spPr>
        <p:txBody>
          <a:bodyPr/>
          <a:lstStyle/>
          <a:p>
            <a:endParaRPr lang="en-US"/>
          </a:p>
        </p:txBody>
      </p:sp>
      <p:sp>
        <p:nvSpPr>
          <p:cNvPr id="24" name="Shape 18"/>
          <p:cNvSpPr/>
          <p:nvPr/>
        </p:nvSpPr>
        <p:spPr>
          <a:xfrm>
            <a:off x="609905" y="6001207"/>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5" name="Text 19"/>
          <p:cNvSpPr txBox="1"/>
          <p:nvPr/>
        </p:nvSpPr>
        <p:spPr>
          <a:xfrm>
            <a:off x="857707" y="46634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Introducing the AI-First Pod Model</a:t>
            </a:r>
            <a:endParaRPr lang="en-US" sz="2700"/>
          </a:p>
        </p:txBody>
      </p:sp>
      <p:sp>
        <p:nvSpPr>
          <p:cNvPr id="26" name="Text 20"/>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D62839"/>
                </a:solidFill>
                <a:latin typeface="Roboto Condensed" pitchFamily="34" charset="0"/>
                <a:ea typeface="Roboto Condensed" pitchFamily="34" charset="-122"/>
                <a:cs typeface="Roboto Condensed" pitchFamily="34" charset="-120"/>
              </a:rPr>
              <a:t>A MANAGED, GOVERNED ENGINEERING UNIT - NOT JUST STAFFING WITH A WRAPPER.</a:t>
            </a:r>
            <a:endParaRPr lang="en-US" sz="1300"/>
          </a:p>
        </p:txBody>
      </p:sp>
      <p:pic>
        <p:nvPicPr>
          <p:cNvPr id="27" name="Image 4" descr="preencoded.png"/>
          <p:cNvPicPr>
            <a:picLocks noChangeAspect="1"/>
          </p:cNvPicPr>
          <p:nvPr/>
        </p:nvPicPr>
        <p:blipFill>
          <a:blip r:embed="rId7"/>
          <a:srcRect/>
          <a:stretch/>
        </p:blipFill>
        <p:spPr>
          <a:xfrm>
            <a:off x="823874" y="1772107"/>
            <a:ext cx="333756" cy="267005"/>
          </a:xfrm>
          <a:prstGeom prst="rect">
            <a:avLst/>
          </a:prstGeom>
        </p:spPr>
      </p:pic>
      <p:sp>
        <p:nvSpPr>
          <p:cNvPr id="28" name="Text 21"/>
          <p:cNvSpPr txBox="1"/>
          <p:nvPr/>
        </p:nvSpPr>
        <p:spPr>
          <a:xfrm>
            <a:off x="800100"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Engineering Team</a:t>
            </a:r>
            <a:endParaRPr lang="en-US" sz="1500"/>
          </a:p>
        </p:txBody>
      </p:sp>
      <p:sp>
        <p:nvSpPr>
          <p:cNvPr id="29" name="Text 22"/>
          <p:cNvSpPr txBox="1"/>
          <p:nvPr/>
        </p:nvSpPr>
        <p:spPr>
          <a:xfrm>
            <a:off x="800100"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Dedicated engineers (Java, Python, DevOps) - hired, vetted, and onboarded by J2W.</a:t>
            </a:r>
            <a:endParaRPr lang="en-US" sz="1000"/>
          </a:p>
        </p:txBody>
      </p:sp>
      <p:pic>
        <p:nvPicPr>
          <p:cNvPr id="30" name="Image 5" descr="preencoded.png"/>
          <p:cNvPicPr>
            <a:picLocks noChangeAspect="1"/>
          </p:cNvPicPr>
          <p:nvPr/>
        </p:nvPicPr>
        <p:blipFill>
          <a:blip r:embed="rId8"/>
          <a:srcRect l="-881" r="-881"/>
          <a:stretch/>
        </p:blipFill>
        <p:spPr>
          <a:xfrm>
            <a:off x="3633826" y="1772107"/>
            <a:ext cx="237744" cy="267005"/>
          </a:xfrm>
          <a:prstGeom prst="rect">
            <a:avLst/>
          </a:prstGeom>
        </p:spPr>
      </p:pic>
      <p:sp>
        <p:nvSpPr>
          <p:cNvPr id="31" name="Text 23"/>
          <p:cNvSpPr txBox="1"/>
          <p:nvPr/>
        </p:nvSpPr>
        <p:spPr>
          <a:xfrm>
            <a:off x="3562502"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Pod Lead</a:t>
            </a:r>
            <a:endParaRPr lang="en-US" sz="1500"/>
          </a:p>
        </p:txBody>
      </p:sp>
      <p:sp>
        <p:nvSpPr>
          <p:cNvPr id="32" name="Text 24"/>
          <p:cNvSpPr txBox="1"/>
          <p:nvPr/>
        </p:nvSpPr>
        <p:spPr>
          <a:xfrm>
            <a:off x="3562502"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A J2W program manager who owns delivery, sprint governance, and client alignment.</a:t>
            </a:r>
            <a:endParaRPr lang="en-US" sz="1000"/>
          </a:p>
        </p:txBody>
      </p:sp>
      <p:pic>
        <p:nvPicPr>
          <p:cNvPr id="33" name="Image 6" descr="preencoded.png"/>
          <p:cNvPicPr>
            <a:picLocks noChangeAspect="1"/>
          </p:cNvPicPr>
          <p:nvPr/>
        </p:nvPicPr>
        <p:blipFill>
          <a:blip r:embed="rId9"/>
          <a:srcRect/>
          <a:stretch/>
        </p:blipFill>
        <p:spPr>
          <a:xfrm>
            <a:off x="6381598" y="1772107"/>
            <a:ext cx="267005" cy="267005"/>
          </a:xfrm>
          <a:prstGeom prst="rect">
            <a:avLst/>
          </a:prstGeom>
        </p:spPr>
      </p:pic>
      <p:sp>
        <p:nvSpPr>
          <p:cNvPr id="34" name="Text 25"/>
          <p:cNvSpPr txBox="1"/>
          <p:nvPr/>
        </p:nvSpPr>
        <p:spPr>
          <a:xfrm>
            <a:off x="6324905" y="2190902"/>
            <a:ext cx="265267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Performance Governance</a:t>
            </a:r>
            <a:endParaRPr lang="en-US" sz="1500"/>
          </a:p>
        </p:txBody>
      </p:sp>
      <p:sp>
        <p:nvSpPr>
          <p:cNvPr id="35" name="Text 26"/>
          <p:cNvSpPr txBox="1"/>
          <p:nvPr/>
        </p:nvSpPr>
        <p:spPr>
          <a:xfrm>
            <a:off x="6324905" y="2514600"/>
            <a:ext cx="2305202" cy="543154"/>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Weekly performance tracking, SLA metrics, velocity monitoring, proactive resolution.</a:t>
            </a:r>
            <a:endParaRPr lang="en-US" sz="1000"/>
          </a:p>
        </p:txBody>
      </p:sp>
      <p:pic>
        <p:nvPicPr>
          <p:cNvPr id="36" name="Image 7" descr="preencoded.png"/>
          <p:cNvPicPr>
            <a:picLocks noChangeAspect="1"/>
          </p:cNvPicPr>
          <p:nvPr/>
        </p:nvPicPr>
        <p:blipFill>
          <a:blip r:embed="rId10"/>
          <a:srcRect/>
          <a:stretch/>
        </p:blipFill>
        <p:spPr>
          <a:xfrm>
            <a:off x="9144000" y="1772107"/>
            <a:ext cx="267005" cy="267005"/>
          </a:xfrm>
          <a:prstGeom prst="rect">
            <a:avLst/>
          </a:prstGeom>
        </p:spPr>
      </p:pic>
      <p:sp>
        <p:nvSpPr>
          <p:cNvPr id="37" name="Text 27"/>
          <p:cNvSpPr txBox="1"/>
          <p:nvPr/>
        </p:nvSpPr>
        <p:spPr>
          <a:xfrm>
            <a:off x="9087307" y="2190902"/>
            <a:ext cx="2451506"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AI-First L&amp;D Program</a:t>
            </a:r>
            <a:endParaRPr lang="en-US" sz="1500"/>
          </a:p>
        </p:txBody>
      </p:sp>
      <p:sp>
        <p:nvSpPr>
          <p:cNvPr id="38" name="Text 28"/>
          <p:cNvSpPr txBox="1"/>
          <p:nvPr/>
        </p:nvSpPr>
        <p:spPr>
          <a:xfrm>
            <a:off x="9087307"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Continuous AI training - hands-on, contextual upskilling powered by Research Wing.</a:t>
            </a:r>
            <a:endParaRPr lang="en-US" sz="1000"/>
          </a:p>
        </p:txBody>
      </p:sp>
      <p:sp>
        <p:nvSpPr>
          <p:cNvPr id="39" name="Text 29"/>
          <p:cNvSpPr txBox="1"/>
          <p:nvPr/>
        </p:nvSpPr>
        <p:spPr>
          <a:xfrm>
            <a:off x="800100" y="3762756"/>
            <a:ext cx="277429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Dimension</a:t>
            </a:r>
            <a:endParaRPr lang="en-US" sz="1200"/>
          </a:p>
        </p:txBody>
      </p:sp>
      <p:sp>
        <p:nvSpPr>
          <p:cNvPr id="40" name="Text 30"/>
          <p:cNvSpPr txBox="1"/>
          <p:nvPr/>
        </p:nvSpPr>
        <p:spPr>
          <a:xfrm>
            <a:off x="3657600" y="3762756"/>
            <a:ext cx="354330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Traditional Staffing</a:t>
            </a:r>
            <a:endParaRPr lang="en-US" sz="1200"/>
          </a:p>
        </p:txBody>
      </p:sp>
      <p:sp>
        <p:nvSpPr>
          <p:cNvPr id="41" name="Text 31"/>
          <p:cNvSpPr txBox="1"/>
          <p:nvPr/>
        </p:nvSpPr>
        <p:spPr>
          <a:xfrm>
            <a:off x="7276795" y="3762756"/>
            <a:ext cx="4114800" cy="228600"/>
          </a:xfrm>
          <a:prstGeom prst="rect">
            <a:avLst/>
          </a:prstGeom>
          <a:noFill/>
          <a:ln/>
        </p:spPr>
        <p:txBody>
          <a:bodyPr wrap="square" lIns="0" tIns="0" rIns="0" bIns="0" rtlCol="0" anchor="ctr"/>
          <a:lstStyle/>
          <a:p>
            <a:pPr marL="0" indent="0" algn="l">
              <a:buNone/>
            </a:pPr>
            <a:r>
              <a:rPr lang="en-US" sz="1200" b="1" kern="0" spc="75">
                <a:solidFill>
                  <a:srgbClr val="2A9D8F"/>
                </a:solidFill>
                <a:latin typeface="Oswald" pitchFamily="34" charset="0"/>
                <a:ea typeface="Oswald" pitchFamily="34" charset="-122"/>
                <a:cs typeface="Oswald" pitchFamily="34" charset="-120"/>
              </a:rPr>
              <a:t>AI-First Pod</a:t>
            </a:r>
            <a:endParaRPr lang="en-US" sz="1200"/>
          </a:p>
        </p:txBody>
      </p:sp>
      <p:sp>
        <p:nvSpPr>
          <p:cNvPr id="42" name="Text 32"/>
          <p:cNvSpPr txBox="1"/>
          <p:nvPr/>
        </p:nvSpPr>
        <p:spPr>
          <a:xfrm>
            <a:off x="800100" y="423824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Governance</a:t>
            </a:r>
            <a:endParaRPr lang="en-US" sz="1200"/>
          </a:p>
        </p:txBody>
      </p:sp>
      <p:sp>
        <p:nvSpPr>
          <p:cNvPr id="43" name="Text 33"/>
          <p:cNvSpPr txBox="1"/>
          <p:nvPr/>
        </p:nvSpPr>
        <p:spPr>
          <a:xfrm>
            <a:off x="3657600" y="423824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Client's burden</a:t>
            </a:r>
            <a:endParaRPr lang="en-US" sz="1100"/>
          </a:p>
        </p:txBody>
      </p:sp>
      <p:pic>
        <p:nvPicPr>
          <p:cNvPr id="44" name="Image 8" descr="preencoded.png"/>
          <p:cNvPicPr>
            <a:picLocks noChangeAspect="1"/>
          </p:cNvPicPr>
          <p:nvPr/>
        </p:nvPicPr>
        <p:blipFill>
          <a:blip r:embed="rId11"/>
          <a:srcRect t="-1100" b="-1100"/>
          <a:stretch/>
        </p:blipFill>
        <p:spPr>
          <a:xfrm>
            <a:off x="7276795" y="4257446"/>
            <a:ext cx="114300" cy="133502"/>
          </a:xfrm>
          <a:prstGeom prst="rect">
            <a:avLst/>
          </a:prstGeom>
        </p:spPr>
      </p:pic>
      <p:sp>
        <p:nvSpPr>
          <p:cNvPr id="45" name="Text 34"/>
          <p:cNvSpPr txBox="1"/>
          <p:nvPr/>
        </p:nvSpPr>
        <p:spPr>
          <a:xfrm>
            <a:off x="7524598" y="4238244"/>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J2W-owned</a:t>
            </a:r>
            <a:endParaRPr lang="en-US" sz="1100"/>
          </a:p>
        </p:txBody>
      </p:sp>
      <p:sp>
        <p:nvSpPr>
          <p:cNvPr id="46" name="Text 35"/>
          <p:cNvSpPr txBox="1"/>
          <p:nvPr/>
        </p:nvSpPr>
        <p:spPr>
          <a:xfrm>
            <a:off x="800100" y="4714646"/>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Upskilling</a:t>
            </a:r>
            <a:endParaRPr lang="en-US" sz="1200"/>
          </a:p>
        </p:txBody>
      </p:sp>
      <p:sp>
        <p:nvSpPr>
          <p:cNvPr id="47" name="Text 36"/>
          <p:cNvSpPr txBox="1"/>
          <p:nvPr/>
        </p:nvSpPr>
        <p:spPr>
          <a:xfrm>
            <a:off x="3657600" y="4714646"/>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Engineer's personal initiative</a:t>
            </a:r>
            <a:endParaRPr lang="en-US" sz="1100"/>
          </a:p>
        </p:txBody>
      </p:sp>
      <p:pic>
        <p:nvPicPr>
          <p:cNvPr id="48" name="Image 9" descr="preencoded.png"/>
          <p:cNvPicPr>
            <a:picLocks noChangeAspect="1"/>
          </p:cNvPicPr>
          <p:nvPr/>
        </p:nvPicPr>
        <p:blipFill>
          <a:blip r:embed="rId11"/>
          <a:srcRect t="-1100" b="-1100"/>
          <a:stretch/>
        </p:blipFill>
        <p:spPr>
          <a:xfrm>
            <a:off x="7276795" y="4733849"/>
            <a:ext cx="114300" cy="133502"/>
          </a:xfrm>
          <a:prstGeom prst="rect">
            <a:avLst/>
          </a:prstGeom>
        </p:spPr>
      </p:pic>
      <p:sp>
        <p:nvSpPr>
          <p:cNvPr id="49" name="Text 37"/>
          <p:cNvSpPr txBox="1"/>
          <p:nvPr/>
        </p:nvSpPr>
        <p:spPr>
          <a:xfrm>
            <a:off x="7524598" y="4714646"/>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Structured, continuous, AI-focused</a:t>
            </a:r>
            <a:endParaRPr lang="en-US" sz="1100"/>
          </a:p>
        </p:txBody>
      </p:sp>
      <p:sp>
        <p:nvSpPr>
          <p:cNvPr id="50" name="Text 38"/>
          <p:cNvSpPr txBox="1"/>
          <p:nvPr/>
        </p:nvSpPr>
        <p:spPr>
          <a:xfrm>
            <a:off x="800100" y="5191049"/>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Performance Issues</a:t>
            </a:r>
            <a:endParaRPr lang="en-US" sz="1200"/>
          </a:p>
        </p:txBody>
      </p:sp>
      <p:sp>
        <p:nvSpPr>
          <p:cNvPr id="51" name="Text 39"/>
          <p:cNvSpPr txBox="1"/>
          <p:nvPr/>
        </p:nvSpPr>
        <p:spPr>
          <a:xfrm>
            <a:off x="3657600" y="5191049"/>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Escalation after the fact</a:t>
            </a:r>
            <a:endParaRPr lang="en-US" sz="1100"/>
          </a:p>
        </p:txBody>
      </p:sp>
      <p:pic>
        <p:nvPicPr>
          <p:cNvPr id="52" name="Image 10" descr="preencoded.png"/>
          <p:cNvPicPr>
            <a:picLocks noChangeAspect="1"/>
          </p:cNvPicPr>
          <p:nvPr/>
        </p:nvPicPr>
        <p:blipFill>
          <a:blip r:embed="rId11"/>
          <a:srcRect t="-1100" b="-1100"/>
          <a:stretch/>
        </p:blipFill>
        <p:spPr>
          <a:xfrm>
            <a:off x="7276795" y="5210251"/>
            <a:ext cx="114300" cy="133502"/>
          </a:xfrm>
          <a:prstGeom prst="rect">
            <a:avLst/>
          </a:prstGeom>
        </p:spPr>
      </p:pic>
      <p:sp>
        <p:nvSpPr>
          <p:cNvPr id="53" name="Text 40"/>
          <p:cNvSpPr txBox="1"/>
          <p:nvPr/>
        </p:nvSpPr>
        <p:spPr>
          <a:xfrm>
            <a:off x="7524598" y="5191049"/>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Proactive monitoring &amp; intervention</a:t>
            </a:r>
            <a:endParaRPr lang="en-US" sz="1100"/>
          </a:p>
        </p:txBody>
      </p:sp>
      <p:sp>
        <p:nvSpPr>
          <p:cNvPr id="54" name="Text 41"/>
          <p:cNvSpPr txBox="1"/>
          <p:nvPr/>
        </p:nvSpPr>
        <p:spPr>
          <a:xfrm>
            <a:off x="800100" y="5667451"/>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Knowledge Retention</a:t>
            </a:r>
            <a:endParaRPr lang="en-US" sz="1200"/>
          </a:p>
        </p:txBody>
      </p:sp>
      <p:sp>
        <p:nvSpPr>
          <p:cNvPr id="55" name="Text 42"/>
          <p:cNvSpPr txBox="1"/>
          <p:nvPr/>
        </p:nvSpPr>
        <p:spPr>
          <a:xfrm>
            <a:off x="3657600" y="5667451"/>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Lost with attrition</a:t>
            </a:r>
            <a:endParaRPr lang="en-US" sz="1100"/>
          </a:p>
        </p:txBody>
      </p:sp>
      <p:pic>
        <p:nvPicPr>
          <p:cNvPr id="56" name="Image 11" descr="preencoded.png"/>
          <p:cNvPicPr>
            <a:picLocks noChangeAspect="1"/>
          </p:cNvPicPr>
          <p:nvPr/>
        </p:nvPicPr>
        <p:blipFill>
          <a:blip r:embed="rId11"/>
          <a:srcRect t="-1100" b="-1100"/>
          <a:stretch/>
        </p:blipFill>
        <p:spPr>
          <a:xfrm>
            <a:off x="7276795" y="5686654"/>
            <a:ext cx="114300" cy="133502"/>
          </a:xfrm>
          <a:prstGeom prst="rect">
            <a:avLst/>
          </a:prstGeom>
        </p:spPr>
      </p:pic>
      <p:sp>
        <p:nvSpPr>
          <p:cNvPr id="57" name="Text 43"/>
          <p:cNvSpPr txBox="1"/>
          <p:nvPr/>
        </p:nvSpPr>
        <p:spPr>
          <a:xfrm>
            <a:off x="7524598" y="5667451"/>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Captured in Knowledge Repository</a:t>
            </a:r>
            <a:endParaRPr lang="en-US" sz="1100"/>
          </a:p>
        </p:txBody>
      </p:sp>
      <p:sp>
        <p:nvSpPr>
          <p:cNvPr id="58" name="Text 44"/>
          <p:cNvSpPr txBox="1"/>
          <p:nvPr/>
        </p:nvSpPr>
        <p:spPr>
          <a:xfrm>
            <a:off x="800100" y="614385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AI Readiness</a:t>
            </a:r>
            <a:endParaRPr lang="en-US" sz="1200"/>
          </a:p>
        </p:txBody>
      </p:sp>
      <p:sp>
        <p:nvSpPr>
          <p:cNvPr id="59" name="Text 45"/>
          <p:cNvSpPr txBox="1"/>
          <p:nvPr/>
        </p:nvSpPr>
        <p:spPr>
          <a:xfrm>
            <a:off x="3657600" y="614385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Ad hoc</a:t>
            </a:r>
            <a:endParaRPr lang="en-US" sz="1100"/>
          </a:p>
        </p:txBody>
      </p:sp>
      <p:pic>
        <p:nvPicPr>
          <p:cNvPr id="60" name="Image 12" descr="preencoded.png"/>
          <p:cNvPicPr>
            <a:picLocks noChangeAspect="1"/>
          </p:cNvPicPr>
          <p:nvPr/>
        </p:nvPicPr>
        <p:blipFill>
          <a:blip r:embed="rId12"/>
          <a:srcRect t="-1100" b="-1100"/>
          <a:stretch/>
        </p:blipFill>
        <p:spPr>
          <a:xfrm>
            <a:off x="7276795" y="6163056"/>
            <a:ext cx="114300" cy="133502"/>
          </a:xfrm>
          <a:prstGeom prst="rect">
            <a:avLst/>
          </a:prstGeom>
        </p:spPr>
      </p:pic>
      <p:sp>
        <p:nvSpPr>
          <p:cNvPr id="61" name="Text 46"/>
          <p:cNvSpPr txBox="1"/>
          <p:nvPr/>
        </p:nvSpPr>
        <p:spPr>
          <a:xfrm>
            <a:off x="7524598" y="6143854"/>
            <a:ext cx="3829507" cy="171907"/>
          </a:xfrm>
          <a:prstGeom prst="rect">
            <a:avLst/>
          </a:prstGeom>
          <a:noFill/>
          <a:ln/>
        </p:spPr>
        <p:txBody>
          <a:bodyPr wrap="square" lIns="0" tIns="0" rIns="0" bIns="0" rtlCol="0" anchor="ctr"/>
          <a:lstStyle/>
          <a:p>
            <a:pPr marL="0" indent="0" algn="l">
              <a:buNone/>
            </a:pPr>
            <a:r>
              <a:rPr lang="en-US" sz="1100" b="1">
                <a:solidFill>
                  <a:srgbClr val="D62839"/>
                </a:solidFill>
                <a:latin typeface="Raleway" pitchFamily="34" charset="0"/>
                <a:ea typeface="Raleway" pitchFamily="34" charset="-122"/>
                <a:cs typeface="Raleway" pitchFamily="34" charset="-120"/>
              </a:rPr>
              <a:t>Embedded from Day 1</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334195"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preencoded.png"/>
          <p:cNvPicPr>
            <a:picLocks noChangeAspect="1"/>
          </p:cNvPicPr>
          <p:nvPr/>
        </p:nvPicPr>
        <p:blipFill>
          <a:blip r:embed="rId5">
            <a:alphaModFix amt="15000"/>
          </a:blip>
          <a:srcRect/>
          <a:stretch/>
        </p:blipFill>
        <p:spPr>
          <a:xfrm>
            <a:off x="571500" y="1143000"/>
            <a:ext cx="1429207" cy="1429207"/>
          </a:xfrm>
          <a:prstGeom prst="rect">
            <a:avLst/>
          </a:prstGeom>
        </p:spPr>
      </p:pic>
      <p:pic>
        <p:nvPicPr>
          <p:cNvPr id="8" name="Image 3" descr="preencoded.png"/>
          <p:cNvPicPr>
            <a:picLocks noChangeAspect="1"/>
          </p:cNvPicPr>
          <p:nvPr/>
        </p:nvPicPr>
        <p:blipFill>
          <a:blip r:embed="rId6"/>
          <a:srcRect l="-400" r="-400"/>
          <a:stretch/>
        </p:blipFill>
        <p:spPr>
          <a:xfrm>
            <a:off x="609905" y="571500"/>
            <a:ext cx="57607" cy="571500"/>
          </a:xfrm>
          <a:prstGeom prst="rect">
            <a:avLst/>
          </a:prstGeom>
        </p:spPr>
      </p:pic>
      <p:sp>
        <p:nvSpPr>
          <p:cNvPr id="9" name="Shape 3"/>
          <p:cNvSpPr/>
          <p:nvPr/>
        </p:nvSpPr>
        <p:spPr>
          <a:xfrm>
            <a:off x="609905" y="1524305"/>
            <a:ext cx="11039551" cy="1752905"/>
          </a:xfrm>
          <a:prstGeom prst="roundRect">
            <a:avLst>
              <a:gd name="adj" fmla="val 4536"/>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524305"/>
            <a:ext cx="57607" cy="1752905"/>
          </a:xfrm>
          <a:prstGeom prst="roundRect">
            <a:avLst>
              <a:gd name="adj" fmla="val 138027"/>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609905" y="3429000"/>
            <a:ext cx="11039551" cy="2305202"/>
          </a:xfrm>
          <a:prstGeom prst="roundRect">
            <a:avLst>
              <a:gd name="adj" fmla="val 2623"/>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609905" y="3429000"/>
            <a:ext cx="57607" cy="2305202"/>
          </a:xfrm>
          <a:prstGeom prst="roundRect">
            <a:avLst>
              <a:gd name="adj" fmla="val 104946"/>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609905" y="5905195"/>
            <a:ext cx="10972800" cy="609905"/>
          </a:xfrm>
          <a:prstGeom prst="roundRect">
            <a:avLst>
              <a:gd name="adj" fmla="val 37481"/>
            </a:avLst>
          </a:prstGeom>
          <a:solidFill>
            <a:srgbClr val="2A9D8F"/>
          </a:solidFill>
          <a:ln w="12700">
            <a:solidFill>
              <a:srgbClr val="FFFFFF">
                <a:alpha val="0"/>
              </a:srgbClr>
            </a:solidFill>
            <a:prstDash val="solid"/>
          </a:ln>
          <a:effectLst>
            <a:outerShdw blurRad="101600" dist="38100" dir="16200000" algn="bl" rotWithShape="0">
              <a:srgbClr val="2A9D8F">
                <a:alpha val="20000"/>
              </a:srgbClr>
            </a:outerShdw>
          </a:effectLst>
        </p:spPr>
        <p:txBody>
          <a:bodyPr/>
          <a:lstStyle/>
          <a:p>
            <a:endParaRPr lang="en-US"/>
          </a:p>
        </p:txBody>
      </p:sp>
      <p:sp>
        <p:nvSpPr>
          <p:cNvPr id="14" name="Text 8"/>
          <p:cNvSpPr txBox="1"/>
          <p:nvPr/>
        </p:nvSpPr>
        <p:spPr>
          <a:xfrm>
            <a:off x="857707" y="42885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The J2W AI Research Wing</a:t>
            </a:r>
            <a:endParaRPr lang="en-US" sz="2700"/>
          </a:p>
        </p:txBody>
      </p:sp>
      <p:sp>
        <p:nvSpPr>
          <p:cNvPr id="15" name="Text 9"/>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2A9D8F"/>
                </a:solidFill>
                <a:latin typeface="Roboto Condensed" pitchFamily="34" charset="0"/>
                <a:ea typeface="Roboto Condensed" pitchFamily="34" charset="-122"/>
                <a:cs typeface="Roboto Condensed" pitchFamily="34" charset="-120"/>
              </a:rPr>
              <a:t>YOUR POD'S SECRET WEAPON</a:t>
            </a:r>
            <a:endParaRPr lang="en-US" sz="1300"/>
          </a:p>
        </p:txBody>
      </p:sp>
      <p:sp>
        <p:nvSpPr>
          <p:cNvPr id="16" name="Shape 10"/>
          <p:cNvSpPr/>
          <p:nvPr/>
        </p:nvSpPr>
        <p:spPr>
          <a:xfrm>
            <a:off x="990295" y="2085746"/>
            <a:ext cx="4476902" cy="19202"/>
          </a:xfrm>
          <a:prstGeom prst="rect">
            <a:avLst/>
          </a:prstGeom>
          <a:solidFill>
            <a:srgbClr val="2A9D8F">
              <a:alpha val="20000"/>
            </a:srgbClr>
          </a:solidFill>
          <a:ln w="12700">
            <a:solidFill>
              <a:srgbClr val="2A9D8F">
                <a:alpha val="0"/>
              </a:srgbClr>
            </a:solidFill>
            <a:prstDash val="solid"/>
          </a:ln>
        </p:spPr>
        <p:txBody>
          <a:bodyPr/>
          <a:lstStyle/>
          <a:p>
            <a:endParaRPr lang="en-US"/>
          </a:p>
        </p:txBody>
      </p:sp>
      <p:sp>
        <p:nvSpPr>
          <p:cNvPr id="17" name="Text 11"/>
          <p:cNvSpPr txBox="1"/>
          <p:nvPr/>
        </p:nvSpPr>
        <p:spPr>
          <a:xfrm>
            <a:off x="990295" y="1666951"/>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What Is the AI Research Wing?</a:t>
            </a:r>
            <a:endParaRPr lang="en-US" sz="1800"/>
          </a:p>
        </p:txBody>
      </p:sp>
      <p:pic>
        <p:nvPicPr>
          <p:cNvPr id="18" name="Image 4" descr="preencoded.png"/>
          <p:cNvPicPr>
            <a:picLocks noChangeAspect="1"/>
          </p:cNvPicPr>
          <p:nvPr/>
        </p:nvPicPr>
        <p:blipFill>
          <a:blip r:embed="rId7"/>
          <a:srcRect/>
          <a:stretch/>
        </p:blipFill>
        <p:spPr>
          <a:xfrm>
            <a:off x="1019556" y="2221992"/>
            <a:ext cx="171907" cy="171907"/>
          </a:xfrm>
          <a:prstGeom prst="rect">
            <a:avLst/>
          </a:prstGeom>
        </p:spPr>
      </p:pic>
      <p:sp>
        <p:nvSpPr>
          <p:cNvPr id="19" name="Text 12"/>
          <p:cNvSpPr txBox="1"/>
          <p:nvPr/>
        </p:nvSpPr>
        <p:spPr>
          <a:xfrm>
            <a:off x="1314907" y="2190902"/>
            <a:ext cx="9982505"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A dedicated team of AI researchers and engineers working on cutting-edge enterprise AI - agentic AI systems, LLM orchestration, model governance, and applied ML</a:t>
            </a:r>
            <a:endParaRPr lang="en-US" sz="1100"/>
          </a:p>
        </p:txBody>
      </p:sp>
      <p:pic>
        <p:nvPicPr>
          <p:cNvPr id="20" name="Image 5" descr="preencoded.png"/>
          <p:cNvPicPr>
            <a:picLocks noChangeAspect="1"/>
          </p:cNvPicPr>
          <p:nvPr/>
        </p:nvPicPr>
        <p:blipFill>
          <a:blip r:embed="rId8"/>
          <a:srcRect/>
          <a:stretch/>
        </p:blipFill>
        <p:spPr>
          <a:xfrm>
            <a:off x="1019556" y="2602382"/>
            <a:ext cx="171907" cy="171907"/>
          </a:xfrm>
          <a:prstGeom prst="rect">
            <a:avLst/>
          </a:prstGeom>
        </p:spPr>
      </p:pic>
      <p:sp>
        <p:nvSpPr>
          <p:cNvPr id="21" name="Text 13"/>
          <p:cNvSpPr txBox="1"/>
          <p:nvPr/>
        </p:nvSpPr>
        <p:spPr>
          <a:xfrm>
            <a:off x="1314907" y="2572207"/>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Currently building and publishing research on agentic AI architectures, prompt engineering frameworks, and enterprise AI adoption strategies</a:t>
            </a:r>
            <a:endParaRPr lang="en-US" sz="1100"/>
          </a:p>
        </p:txBody>
      </p:sp>
      <p:pic>
        <p:nvPicPr>
          <p:cNvPr id="22" name="Image 6" descr="preencoded.png"/>
          <p:cNvPicPr>
            <a:picLocks noChangeAspect="1"/>
          </p:cNvPicPr>
          <p:nvPr/>
        </p:nvPicPr>
        <p:blipFill>
          <a:blip r:embed="rId9"/>
          <a:srcRect/>
          <a:stretch/>
        </p:blipFill>
        <p:spPr>
          <a:xfrm>
            <a:off x="1019556" y="2983687"/>
            <a:ext cx="171907" cy="171907"/>
          </a:xfrm>
          <a:prstGeom prst="rect">
            <a:avLst/>
          </a:prstGeom>
        </p:spPr>
      </p:pic>
      <p:sp>
        <p:nvSpPr>
          <p:cNvPr id="23" name="Text 14"/>
          <p:cNvSpPr txBox="1"/>
          <p:nvPr/>
        </p:nvSpPr>
        <p:spPr>
          <a:xfrm>
            <a:off x="1314907" y="2952598"/>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Powers J2W's proprietary platforms: the J2W Agentic Platform, Qualizen (GenAI-assisted quality engineering), and Talk2Data (conversational BI)</a:t>
            </a:r>
            <a:endParaRPr lang="en-US" sz="1100"/>
          </a:p>
        </p:txBody>
      </p:sp>
      <p:sp>
        <p:nvSpPr>
          <p:cNvPr id="24" name="Shape 15"/>
          <p:cNvSpPr/>
          <p:nvPr/>
        </p:nvSpPr>
        <p:spPr>
          <a:xfrm>
            <a:off x="990295" y="3990442"/>
            <a:ext cx="4476902" cy="19202"/>
          </a:xfrm>
          <a:prstGeom prst="rect">
            <a:avLst/>
          </a:prstGeom>
          <a:solidFill>
            <a:srgbClr val="D62839">
              <a:alpha val="20000"/>
            </a:srgbClr>
          </a:solidFill>
          <a:ln w="12700">
            <a:solidFill>
              <a:srgbClr val="D62839">
                <a:alpha val="0"/>
              </a:srgbClr>
            </a:solidFill>
            <a:prstDash val="solid"/>
          </a:ln>
        </p:spPr>
        <p:txBody>
          <a:bodyPr/>
          <a:lstStyle/>
          <a:p>
            <a:endParaRPr lang="en-US"/>
          </a:p>
        </p:txBody>
      </p:sp>
      <p:sp>
        <p:nvSpPr>
          <p:cNvPr id="25" name="Text 16"/>
          <p:cNvSpPr txBox="1"/>
          <p:nvPr/>
        </p:nvSpPr>
        <p:spPr>
          <a:xfrm>
            <a:off x="990295" y="3571646"/>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How Pod Members Benefit</a:t>
            </a:r>
            <a:endParaRPr lang="en-US" sz="1800"/>
          </a:p>
        </p:txBody>
      </p:sp>
      <p:pic>
        <p:nvPicPr>
          <p:cNvPr id="26" name="Image 7" descr="preencoded.png"/>
          <p:cNvPicPr>
            <a:picLocks noChangeAspect="1"/>
          </p:cNvPicPr>
          <p:nvPr/>
        </p:nvPicPr>
        <p:blipFill>
          <a:blip r:embed="rId10"/>
          <a:srcRect l="-1064" r="-1064"/>
          <a:stretch/>
        </p:blipFill>
        <p:spPr>
          <a:xfrm>
            <a:off x="995782" y="4126687"/>
            <a:ext cx="219456" cy="171907"/>
          </a:xfrm>
          <a:prstGeom prst="rect">
            <a:avLst/>
          </a:prstGeom>
        </p:spPr>
      </p:pic>
      <p:sp>
        <p:nvSpPr>
          <p:cNvPr id="27" name="Text 17"/>
          <p:cNvSpPr txBox="1"/>
          <p:nvPr/>
        </p:nvSpPr>
        <p:spPr>
          <a:xfrm>
            <a:off x="1314907" y="4095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Weekly AI workshops</a:t>
            </a:r>
            <a:r>
              <a:rPr lang="en-US" sz="1100">
                <a:solidFill>
                  <a:srgbClr val="4B5563"/>
                </a:solidFill>
                <a:latin typeface="Raleway" pitchFamily="34" charset="0"/>
                <a:ea typeface="Raleway" pitchFamily="34" charset="-122"/>
                <a:cs typeface="Raleway" pitchFamily="34" charset="-120"/>
              </a:rPr>
              <a:t> led by our research team - covering practical, project-applicable AI skills </a:t>
            </a:r>
            <a:endParaRPr lang="en-US" sz="1100"/>
          </a:p>
        </p:txBody>
      </p:sp>
      <p:pic>
        <p:nvPicPr>
          <p:cNvPr id="28" name="Image 8" descr="preencoded.png"/>
          <p:cNvPicPr>
            <a:picLocks noChangeAspect="1"/>
          </p:cNvPicPr>
          <p:nvPr/>
        </p:nvPicPr>
        <p:blipFill>
          <a:blip r:embed="rId11"/>
          <a:srcRect l="-1773" r="-1773"/>
          <a:stretch/>
        </p:blipFill>
        <p:spPr>
          <a:xfrm>
            <a:off x="1037844" y="4507992"/>
            <a:ext cx="133502" cy="171907"/>
          </a:xfrm>
          <a:prstGeom prst="rect">
            <a:avLst/>
          </a:prstGeom>
        </p:spPr>
      </p:pic>
      <p:sp>
        <p:nvSpPr>
          <p:cNvPr id="29" name="Text 18"/>
          <p:cNvSpPr txBox="1"/>
          <p:nvPr/>
        </p:nvSpPr>
        <p:spPr>
          <a:xfrm>
            <a:off x="1314907" y="4476902"/>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Access to the J2W </a:t>
            </a:r>
            <a:r>
              <a:rPr lang="en-US" sz="1100" b="1" err="1">
                <a:solidFill>
                  <a:srgbClr val="111827"/>
                </a:solidFill>
                <a:latin typeface="Raleway" pitchFamily="34" charset="0"/>
                <a:ea typeface="Raleway" pitchFamily="34" charset="-122"/>
                <a:cs typeface="Raleway" pitchFamily="34" charset="-120"/>
              </a:rPr>
              <a:t>iLAB</a:t>
            </a:r>
            <a:r>
              <a:rPr lang="en-US" sz="1100">
                <a:solidFill>
                  <a:srgbClr val="4B5563"/>
                </a:solidFill>
                <a:latin typeface="Raleway" pitchFamily="34" charset="0"/>
                <a:ea typeface="Raleway" pitchFamily="34" charset="-122"/>
                <a:cs typeface="Raleway" pitchFamily="34" charset="-120"/>
              </a:rPr>
              <a:t> - Innovation Points program for building PoCs, hackathons, and rapid prototyping </a:t>
            </a:r>
            <a:endParaRPr lang="en-US" sz="1100"/>
          </a:p>
        </p:txBody>
      </p:sp>
      <p:pic>
        <p:nvPicPr>
          <p:cNvPr id="30" name="Image 9" descr="preencoded.png"/>
          <p:cNvPicPr>
            <a:picLocks noChangeAspect="1"/>
          </p:cNvPicPr>
          <p:nvPr/>
        </p:nvPicPr>
        <p:blipFill>
          <a:blip r:embed="rId12"/>
          <a:srcRect l="-1064" r="-1064"/>
          <a:stretch/>
        </p:blipFill>
        <p:spPr>
          <a:xfrm>
            <a:off x="995782" y="4888382"/>
            <a:ext cx="219456" cy="171907"/>
          </a:xfrm>
          <a:prstGeom prst="rect">
            <a:avLst/>
          </a:prstGeom>
        </p:spPr>
      </p:pic>
      <p:sp>
        <p:nvSpPr>
          <p:cNvPr id="31" name="Text 19"/>
          <p:cNvSpPr txBox="1"/>
          <p:nvPr/>
        </p:nvSpPr>
        <p:spPr>
          <a:xfrm>
            <a:off x="1314907" y="4858207"/>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Contextual AI training</a:t>
            </a:r>
            <a:r>
              <a:rPr lang="en-US" sz="1100">
                <a:solidFill>
                  <a:srgbClr val="4B5563"/>
                </a:solidFill>
                <a:latin typeface="Raleway" pitchFamily="34" charset="0"/>
                <a:ea typeface="Raleway" pitchFamily="34" charset="-122"/>
                <a:cs typeface="Raleway" pitchFamily="34" charset="-120"/>
              </a:rPr>
              <a:t> - hands-on training tailored to the specific technology stack and domain </a:t>
            </a:r>
            <a:endParaRPr lang="en-US" sz="1100"/>
          </a:p>
        </p:txBody>
      </p:sp>
      <p:pic>
        <p:nvPicPr>
          <p:cNvPr id="32" name="Image 10" descr="preencoded.png"/>
          <p:cNvPicPr>
            <a:picLocks noChangeAspect="1"/>
          </p:cNvPicPr>
          <p:nvPr/>
        </p:nvPicPr>
        <p:blipFill>
          <a:blip r:embed="rId13"/>
          <a:srcRect/>
          <a:stretch/>
        </p:blipFill>
        <p:spPr>
          <a:xfrm>
            <a:off x="1019556" y="5269687"/>
            <a:ext cx="171907" cy="171907"/>
          </a:xfrm>
          <a:prstGeom prst="rect">
            <a:avLst/>
          </a:prstGeom>
        </p:spPr>
      </p:pic>
      <p:sp>
        <p:nvSpPr>
          <p:cNvPr id="33" name="Text 20"/>
          <p:cNvSpPr txBox="1"/>
          <p:nvPr/>
        </p:nvSpPr>
        <p:spPr>
          <a:xfrm>
            <a:off x="1314907" y="5238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Benchmarking against global best practices</a:t>
            </a:r>
            <a:r>
              <a:rPr lang="en-US" sz="1100">
                <a:solidFill>
                  <a:srgbClr val="4B5563"/>
                </a:solidFill>
                <a:latin typeface="Raleway" pitchFamily="34" charset="0"/>
                <a:ea typeface="Raleway" pitchFamily="34" charset="-122"/>
                <a:cs typeface="Raleway" pitchFamily="34" charset="-120"/>
              </a:rPr>
              <a:t> - continuous measurement against industry-leading standards </a:t>
            </a:r>
            <a:endParaRPr lang="en-US" sz="1100"/>
          </a:p>
        </p:txBody>
      </p:sp>
      <p:sp>
        <p:nvSpPr>
          <p:cNvPr id="34" name="Text 21"/>
          <p:cNvSpPr txBox="1"/>
          <p:nvPr/>
        </p:nvSpPr>
        <p:spPr>
          <a:xfrm>
            <a:off x="952805" y="6010351"/>
            <a:ext cx="10287000" cy="400507"/>
          </a:xfrm>
          <a:prstGeom prst="rect">
            <a:avLst/>
          </a:prstGeom>
          <a:noFill/>
          <a:ln/>
        </p:spPr>
        <p:txBody>
          <a:bodyPr wrap="square" lIns="0" tIns="0" rIns="0" bIns="0" rtlCol="0" anchor="ctr"/>
          <a:lstStyle/>
          <a:p>
            <a:pPr marL="0" indent="0" algn="ctr">
              <a:buNone/>
            </a:pPr>
            <a:r>
              <a:rPr lang="en-US" sz="1400" b="1">
                <a:solidFill>
                  <a:srgbClr val="FFFFFF"/>
                </a:solidFill>
                <a:latin typeface="Raleway" pitchFamily="34" charset="0"/>
                <a:ea typeface="Raleway" pitchFamily="34" charset="-122"/>
                <a:cs typeface="Raleway" pitchFamily="34" charset="-120"/>
              </a:rPr>
              <a:t>The result: Your engineers don't just work - they get better every week. And that compounding improvement is something no staffing model can deliver.</a:t>
            </a:r>
            <a:endParaRPr 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O&amp;M INTELLIGENCE FOR RENEWABLE ASSETS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Renewable Energy  ·  Drone Thermography  ·  Predictive Maintenance  ·  CMMS  ·  Solar  ·  Edge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Renewable Energy Operator   |   Domain: Energy   |   Function: Asset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Renewable energy operator managing distributed fleet relied on periodic inspections and reactive fault response, missing early degradation signals in inverter telemetry, thermal imaging, and generation data. No closed loop between field findings, maintenance records, and corrective action.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Integrated predictive O&amp;M platform deployed to continuously ingest SCADA, generation, drone, and sensor data across every asset. Combines AI-driven performance analytics, automated maintenance workflows, and edge intelligence. Automated drone thermography and ML-based defect detection deployed.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Digital Asset Management &amp; CMMS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Centralizes maintenance scheduling, auto-generates corrective tickets, and manages spare parts through mobile field workflows.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NOC Digital Monitoring &amp; Analytics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KPI monitoring and multi-plant condition-based alerting across the fleet.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Inverter Performance &amp; Anomaly Detection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AI-driven deviation analysis on daily generation data to detect underperformance across the inverter fleet.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Aerial Thermography via Drone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thermal and RGB imaging identifying over 10 defect types per site with automated report generation.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EL Image Analysis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defects across 9+ PV module defect classes in under 5 minutes using ML-based image analysis.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Edge AI for Safety &amp; Site Intelligence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Perimeter security, PPE compliance, bushfire monitoring, and wildlife alerts at the edge across distributed infrastructure.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Field Inspection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Energy Yield Recovery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Defect Reporting Time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MAINTENANCE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Predictive Maintenance  ·  SCADA  ·  MES  ·  MTBF  ·  CMMS  ·  Heavy Equipment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Heavy Equipment Manufacturer   |   Domain: Manufacturing   |   Function: Asset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Heavy equipment manufacturer was discovering equipment failures at the line, not in the control room. Maintenance teams worked off fixed schedules and manual inspections, missing early degradation signals in vibration, temperature, and runtime data. Unplanned stoppages idled shifts and steadily eroded MTBF benchmarks.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predictive maintenance layer deployed to continuously ingest sensor, SCADA, and MES data and detect early failure signatures across critical assets. Anomaly detection, RUL forecasting, and automated work order generation shifted maintenance from calendar-based routines to condition-driven intervention aligned with actual equipment health.</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monitors vibration, temperature, pressure, and runtime signals, flagging deviation patterns 7-14 days before failure.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RUL Forecasting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predict remaining useful life per asset, providing a quantified intervention window.</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Work Orders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Triggers prioritized maintenance work orders directly into CMMS/ERP when thresholds are crossed.</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SCADA and MES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to existing PLC and MES systems without rip-and-replace to ingest real-time telemetry.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MTBF Intelligence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mean time between failures, highlights degradation trends, and benchmarks performance.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Failure Mode and RCA Auto-Link</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detected failure modes to historical root cause records to accelerate diagnosis and prevent recurrence.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Unplanned Downtime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MTBF</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Maintenance Cost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005840"/>
          </a:xfrm>
          <a:prstGeom prst="rect">
            <a:avLst/>
          </a:prstGeom>
          <a:noFill/>
        </p:spPr>
        <p:txBody>
          <a:bodyPr wrap="none">
            <a:spAutoFit/>
          </a:bodyPr>
          <a:lstStyle/>
          <a:p>
            <a:r>
              <a:rPr sz="2800" b="1" i="0">
                <a:solidFill>
                  <a:srgbClr val="142850"/>
                </a:solidFill>
              </a:rPr>
              <a:t>AI-Pod Engagement Case Study: Northwind Aerospace</a:t>
            </a:r>
          </a:p>
        </p:txBody>
      </p:sp>
      <p:sp>
        <p:nvSpPr>
          <p:cNvPr id="3" name="TextBox 2"/>
          <p:cNvSpPr txBox="1"/>
          <p:nvPr/>
        </p:nvSpPr>
        <p:spPr>
          <a:xfrm>
            <a:off x="548640" y="1463040"/>
            <a:ext cx="10972800" cy="457200"/>
          </a:xfrm>
          <a:prstGeom prst="rect">
            <a:avLst/>
          </a:prstGeom>
          <a:noFill/>
        </p:spPr>
        <p:txBody>
          <a:bodyPr wrap="none">
            <a:spAutoFit/>
          </a:bodyPr>
          <a:lstStyle/>
          <a:p>
            <a:r>
              <a:rPr sz="1300" b="0" i="1">
                <a:solidFill>
                  <a:srgbClr val="0F6E56"/>
                </a:solidFill>
              </a:rPr>
              <a:t>Predictive Maintenance · Unplanned Downtime · Spare-Parts Forecasting · Managed Services</a:t>
            </a:r>
          </a:p>
        </p:txBody>
      </p:sp>
      <p:sp>
        <p:nvSpPr>
          <p:cNvPr id="4" name="TextBox 3"/>
          <p:cNvSpPr txBox="1"/>
          <p:nvPr/>
        </p:nvSpPr>
        <p:spPr>
          <a:xfrm>
            <a:off x="548640" y="2103120"/>
            <a:ext cx="10972800" cy="3657600"/>
          </a:xfrm>
          <a:prstGeom prst="rect">
            <a:avLst/>
          </a:prstGeom>
          <a:noFill/>
        </p:spPr>
        <p:txBody>
          <a:bodyPr wrap="none">
            <a:spAutoFit/>
          </a:bodyPr>
          <a:lstStyle/>
          <a:p>
            <a:r>
              <a:t>• Developed predictive maintenance models, reducing unplanned downtime by 30%.</a:t>
            </a:r>
          </a:p>
          <a:p>
            <a:r>
              <a:t>• Forecasted spare-parts demand with 95% accuracy, optimizing inventory management.</a:t>
            </a:r>
          </a:p>
          <a:p>
            <a:r>
              <a:t>• Implemented 24/7 managed services for analytics platform, ensuring continuous support and uptime.</a:t>
            </a:r>
          </a:p>
          <a:p>
            <a:r>
              <a:t>• Enhanced operational efficiency, leading to a 20% increase in overall productivity.</a:t>
            </a:r>
          </a:p>
        </p:txBody>
      </p:sp>
      <p:sp>
        <p:nvSpPr>
          <p:cNvPr id="5" name="TextBox 4"/>
          <p:cNvSpPr txBox="1"/>
          <p:nvPr/>
        </p:nvSpPr>
        <p:spPr>
          <a:xfrm>
            <a:off x="548640" y="6309360"/>
            <a:ext cx="10972800" cy="365760"/>
          </a:xfrm>
          <a:prstGeom prst="rect">
            <a:avLst/>
          </a:prstGeom>
          <a:noFill/>
        </p:spPr>
        <p:txBody>
          <a:bodyPr wrap="none">
            <a:spAutoFit/>
          </a:bodyPr>
          <a:lstStyle/>
          <a:p>
            <a:r>
              <a:rPr sz="1000" b="0" i="1">
                <a:solidFill>
                  <a:srgbClr val="AAAAAA"/>
                </a:solidFill>
              </a:rPr>
              <a:t>Generated slide — replace with the real J2W template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31952</Words>
  <Application>Microsoft Office PowerPoint</Application>
  <PresentationFormat>Widescreen</PresentationFormat>
  <Paragraphs>3438</Paragraphs>
  <Slides>132</Slides>
  <Notes>132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132</vt:i4>
      </vt:variant>
    </vt:vector>
  </HeadingPairs>
  <TitlesOfParts>
    <vt:vector size="139"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4</cp:revision>
  <dcterms:created xsi:type="dcterms:W3CDTF">2026-06-22T10:46:20Z</dcterms:created>
  <dcterms:modified xsi:type="dcterms:W3CDTF">2026-06-23T05:19:06Z</dcterms:modified>
</cp:coreProperties>
</file>