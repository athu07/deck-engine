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0"/>
  </p:notesMasterIdLst>
  <p:sldIdLst>
    <p:sldId id="2147483328" r:id="rId2"/>
    <p:sldId id="2147483329" r:id="rId3"/>
    <p:sldId id="2147483330" r:id="rId4"/>
    <p:sldId id="2147483327" r:id="rId5"/>
    <p:sldId id="2147483332" r:id="rId6"/>
    <p:sldId id="2147483331" r:id="rId7"/>
    <p:sldId id="2147483323" r:id="rId11"/>
    <p:sldId id="2147483416" r:id="rId12"/>
    <p:sldId id="2147483418" r:id="rId13"/>
    <p:sldId id="2147483320" r:id="rId16"/>
    <p:sldId id="2147483419" r:id="rId23"/>
    <p:sldId id="2147483420" r:id="rId24"/>
    <p:sldId id="2147483421" r:id="rId25"/>
    <p:sldId id="2147483422" r:id="rId26"/>
    <p:sldId id="2147483423" r:id="rId27"/>
    <p:sldId id="2147483424" r:id="rId28"/>
    <p:sldId id="274" r:id="rId41"/>
    <p:sldId id="275" r:id="rId42"/>
    <p:sldId id="277" r:id="rId44"/>
    <p:sldId id="2147483305" r:id="rId8"/>
    <p:sldId id="299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9984CD-E0AE-483E-8716-12DE2F9F24C4}" v="3" dt="2026-06-22T11:16:53.6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14.xml"/><Relationship Id="rId9" Type="http://schemas.openxmlformats.org/officeDocument/2006/relationships/slide" Target="slides/slide15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6" Type="http://schemas.openxmlformats.org/officeDocument/2006/relationships/slide" Target="slides/slide10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41" Type="http://schemas.openxmlformats.org/officeDocument/2006/relationships/slide" Target="slides/slide11.xml"/><Relationship Id="rId42" Type="http://schemas.openxmlformats.org/officeDocument/2006/relationships/slide" Target="slides/slide12.xml"/><Relationship Id="rId44" Type="http://schemas.openxmlformats.org/officeDocument/2006/relationships/slide" Target="slides/slide13.xml"/><Relationship Id="rId140" Type="http://schemas.openxmlformats.org/officeDocument/2006/relationships/notesMaster" Target="notesMasters/notesMaster1.xml"/><Relationship Id="rId141" Type="http://schemas.openxmlformats.org/officeDocument/2006/relationships/presProps" Target="presProps.xml"/><Relationship Id="rId142" Type="http://schemas.openxmlformats.org/officeDocument/2006/relationships/viewProps" Target="viewProps.xml"/><Relationship Id="rId143" Type="http://schemas.openxmlformats.org/officeDocument/2006/relationships/theme" Target="theme/theme1.xml"/><Relationship Id="rId144" Type="http://schemas.openxmlformats.org/officeDocument/2006/relationships/tableStyles" Target="tableStyles.xml"/><Relationship Id="rId145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Proficiency</c:v>
                </c:pt>
              </c:strCache>
            </c:strRef>
          </c:tx>
          <c:dPt>
            <c:idx val="0"/>
            <c:spPr>
              <a:solidFill>
                <a:srgbClr val="2C6E66"/>
              </a:solidFill>
            </c:spPr>
          </c:dPt>
          <c:dPt>
            <c:idx val="1"/>
            <c:spPr>
              <a:solidFill>
                <a:srgbClr val="7FB2A9"/>
              </a:solidFill>
            </c:spPr>
          </c:dPt>
          <c:dPt>
            <c:idx val="2"/>
            <c:spPr>
              <a:solidFill>
                <a:srgbClr val="CFE7E2"/>
              </a:solidFill>
            </c:spPr>
          </c:dPt>
          <c:cat>
            <c:strRef>
              <c:f>Sheet1!$A$2:$A$4</c:f>
              <c:strCache>
                <c:ptCount val="3"/>
                <c:pt idx="0">
                  <c:v>Expert</c:v>
                </c:pt>
                <c:pt idx="1">
                  <c:v>Intermediate</c:v>
                </c:pt>
                <c:pt idx="2">
                  <c:v>Junior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Proficiency</c:v>
                </c:pt>
              </c:strCache>
            </c:strRef>
          </c:tx>
          <c:dPt>
            <c:idx val="0"/>
            <c:spPr>
              <a:solidFill>
                <a:srgbClr val="2C6E66"/>
              </a:solidFill>
            </c:spPr>
          </c:dPt>
          <c:dPt>
            <c:idx val="1"/>
            <c:spPr>
              <a:solidFill>
                <a:srgbClr val="7FB2A9"/>
              </a:solidFill>
            </c:spPr>
          </c:dPt>
          <c:dPt>
            <c:idx val="2"/>
            <c:spPr>
              <a:solidFill>
                <a:srgbClr val="CFE7E2"/>
              </a:solidFill>
            </c:spPr>
          </c:dPt>
          <c:cat>
            <c:strRef>
              <c:f>Sheet1!$A$2:$A$4</c:f>
              <c:strCache>
                <c:ptCount val="3"/>
                <c:pt idx="0">
                  <c:v>Expert</c:v>
                </c:pt>
                <c:pt idx="1">
                  <c:v>Intermediate</c:v>
                </c:pt>
                <c:pt idx="2">
                  <c:v>Junior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11</c:v>
                </c:pt>
                <c:pt idx="2">
                  <c:v>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Proficiency</c:v>
                </c:pt>
              </c:strCache>
            </c:strRef>
          </c:tx>
          <c:dPt>
            <c:idx val="0"/>
            <c:spPr>
              <a:solidFill>
                <a:srgbClr val="2C6E66"/>
              </a:solidFill>
            </c:spPr>
          </c:dPt>
          <c:dPt>
            <c:idx val="1"/>
            <c:spPr>
              <a:solidFill>
                <a:srgbClr val="7FB2A9"/>
              </a:solidFill>
            </c:spPr>
          </c:dPt>
          <c:dPt>
            <c:idx val="2"/>
            <c:spPr>
              <a:solidFill>
                <a:srgbClr val="CFE7E2"/>
              </a:solidFill>
            </c:spPr>
          </c:dPt>
          <c:cat>
            <c:strRef>
              <c:f>Sheet1!$A$2:$A$4</c:f>
              <c:strCache>
                <c:ptCount val="3"/>
                <c:pt idx="0">
                  <c:v>Expert</c:v>
                </c:pt>
                <c:pt idx="1">
                  <c:v>Intermediate</c:v>
                </c:pt>
                <c:pt idx="2">
                  <c:v>Junior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14</c:v>
                </c:pt>
                <c:pt idx="2">
                  <c:v>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Proficiency</c:v>
                </c:pt>
              </c:strCache>
            </c:strRef>
          </c:tx>
          <c:dPt>
            <c:idx val="0"/>
            <c:spPr>
              <a:solidFill>
                <a:srgbClr val="2C6E66"/>
              </a:solidFill>
            </c:spPr>
          </c:dPt>
          <c:dPt>
            <c:idx val="1"/>
            <c:spPr>
              <a:solidFill>
                <a:srgbClr val="7FB2A9"/>
              </a:solidFill>
            </c:spPr>
          </c:dPt>
          <c:dPt>
            <c:idx val="2"/>
            <c:spPr>
              <a:solidFill>
                <a:srgbClr val="CFE7E2"/>
              </a:solidFill>
            </c:spPr>
          </c:dPt>
          <c:cat>
            <c:strRef>
              <c:f>Sheet1!$A$2:$A$4</c:f>
              <c:strCache>
                <c:ptCount val="3"/>
                <c:pt idx="0">
                  <c:v>Expert</c:v>
                </c:pt>
                <c:pt idx="1">
                  <c:v>Intermediate</c:v>
                </c:pt>
                <c:pt idx="2">
                  <c:v>Junior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19</c:v>
                </c:pt>
                <c:pt idx="2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Proficiency</c:v>
                </c:pt>
              </c:strCache>
            </c:strRef>
          </c:tx>
          <c:dPt>
            <c:idx val="0"/>
            <c:spPr>
              <a:solidFill>
                <a:srgbClr val="2C6E66"/>
              </a:solidFill>
            </c:spPr>
          </c:dPt>
          <c:dPt>
            <c:idx val="1"/>
            <c:spPr>
              <a:solidFill>
                <a:srgbClr val="7FB2A9"/>
              </a:solidFill>
            </c:spPr>
          </c:dPt>
          <c:dPt>
            <c:idx val="2"/>
            <c:spPr>
              <a:solidFill>
                <a:srgbClr val="CFE7E2"/>
              </a:solidFill>
            </c:spPr>
          </c:dPt>
          <c:cat>
            <c:strRef>
              <c:f>Sheet1!$A$2:$A$4</c:f>
              <c:strCache>
                <c:ptCount val="3"/>
                <c:pt idx="0">
                  <c:v>Expert</c:v>
                </c:pt>
                <c:pt idx="1">
                  <c:v>Intermediate</c:v>
                </c:pt>
                <c:pt idx="2">
                  <c:v>Junior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16</c:v>
                </c:pt>
                <c:pt idx="2">
                  <c:v>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83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58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0115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95518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58718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CS38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CS39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CS41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jpeg"/><Relationship Id="rId21" Type="http://schemas.openxmlformats.org/officeDocument/2006/relationships/image" Target="../media/image19.jpeg"/><Relationship Id="rId22" Type="http://schemas.openxmlformats.org/officeDocument/2006/relationships/image" Target="../media/image20.png"/><Relationship Id="rId23" Type="http://schemas.openxmlformats.org/officeDocument/2006/relationships/image" Target="../media/image21.png"/><Relationship Id="rId24" Type="http://schemas.openxmlformats.org/officeDocument/2006/relationships/image" Target="../media/image2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jpeg"/><Relationship Id="rId6" Type="http://schemas.openxmlformats.org/officeDocument/2006/relationships/image" Target="../media/image32.png"/><Relationship Id="rId7" Type="http://schemas.openxmlformats.org/officeDocument/2006/relationships/image" Target="../media/image33.jpeg"/><Relationship Id="rId8" Type="http://schemas.openxmlformats.org/officeDocument/2006/relationships/image" Target="../media/image34.png"/><Relationship Id="rId9" Type="http://schemas.openxmlformats.org/officeDocument/2006/relationships/image" Target="../media/image3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Relationship Id="rId11" Type="http://schemas.openxmlformats.org/officeDocument/2006/relationships/image" Target="../media/image45.png"/><Relationship Id="rId12" Type="http://schemas.openxmlformats.org/officeDocument/2006/relationships/image" Target="../media/image4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51.png"/><Relationship Id="rId12" Type="http://schemas.openxmlformats.org/officeDocument/2006/relationships/image" Target="../media/image5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7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88.png"/><Relationship Id="rId7" Type="http://schemas.openxmlformats.org/officeDocument/2006/relationships/image" Target="../media/image89.png"/><Relationship Id="rId8" Type="http://schemas.openxmlformats.org/officeDocument/2006/relationships/image" Target="../media/image9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69.png"/><Relationship Id="rId6" Type="http://schemas.openxmlformats.org/officeDocument/2006/relationships/image" Target="../media/image91.png"/><Relationship Id="rId7" Type="http://schemas.openxmlformats.org/officeDocument/2006/relationships/image" Target="../media/image92.png"/><Relationship Id="rId8" Type="http://schemas.openxmlformats.org/officeDocument/2006/relationships/image" Target="../media/image93.png"/><Relationship Id="rId9" Type="http://schemas.openxmlformats.org/officeDocument/2006/relationships/image" Target="../media/image94.png"/><Relationship Id="rId10" Type="http://schemas.openxmlformats.org/officeDocument/2006/relationships/image" Target="../media/image95.png"/><Relationship Id="rId11" Type="http://schemas.openxmlformats.org/officeDocument/2006/relationships/image" Target="../media/image9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7.png"/><Relationship Id="rId4" Type="http://schemas.openxmlformats.org/officeDocument/2006/relationships/image" Target="../media/image98.png"/><Relationship Id="rId5" Type="http://schemas.openxmlformats.org/officeDocument/2006/relationships/image" Target="../media/image109.png"/><Relationship Id="rId6" Type="http://schemas.openxmlformats.org/officeDocument/2006/relationships/image" Target="../media/image110.png"/><Relationship Id="rId7" Type="http://schemas.openxmlformats.org/officeDocument/2006/relationships/image" Target="../media/image53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46.png"/><Relationship Id="rId4" Type="http://schemas.openxmlformats.org/officeDocument/2006/relationships/image" Target="../media/image14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46.png"/><Relationship Id="rId4" Type="http://schemas.openxmlformats.org/officeDocument/2006/relationships/image" Target="../media/image14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46.png"/><Relationship Id="rId4" Type="http://schemas.openxmlformats.org/officeDocument/2006/relationships/image" Target="../media/image14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Relationship Id="rId13" Type="http://schemas.openxmlformats.org/officeDocument/2006/relationships/image" Target="../media/image61.png"/><Relationship Id="rId14" Type="http://schemas.openxmlformats.org/officeDocument/2006/relationships/image" Target="../media/image6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4.png"/><Relationship Id="rId6" Type="http://schemas.openxmlformats.org/officeDocument/2006/relationships/image" Target="../media/image63.png"/><Relationship Id="rId7" Type="http://schemas.openxmlformats.org/officeDocument/2006/relationships/image" Target="../media/image64.jpeg"/><Relationship Id="rId8" Type="http://schemas.openxmlformats.org/officeDocument/2006/relationships/image" Target="../media/image65.jpeg"/><Relationship Id="rId9" Type="http://schemas.openxmlformats.org/officeDocument/2006/relationships/image" Target="../media/image66.jpeg"/><Relationship Id="rId10" Type="http://schemas.openxmlformats.org/officeDocument/2006/relationships/image" Target="../media/image67.jpeg"/><Relationship Id="rId11" Type="http://schemas.openxmlformats.org/officeDocument/2006/relationships/image" Target="../media/image68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34195" y="0"/>
            <a:ext cx="2857500" cy="2857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05195"/>
            <a:ext cx="3810305" cy="952805"/>
          </a:xfrm>
          <a:custGeom>
            <a:avLst/>
            <a:gdLst/>
            <a:ahLst/>
            <a:cxnLst/>
            <a:rect l="l" t="t" r="r" b="b"/>
            <a:pathLst>
              <a:path w="3810305" h="952805">
                <a:moveTo>
                  <a:pt x="0" y="952805"/>
                </a:moveTo>
                <a:lnTo>
                  <a:pt x="3810305" y="952805"/>
                </a:lnTo>
                <a:lnTo>
                  <a:pt x="0" y="0"/>
                </a:lnTo>
                <a:close/>
              </a:path>
            </a:pathLst>
          </a:custGeom>
          <a:solidFill>
            <a:srgbClr val="D62839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202" r="-202"/>
          <a:stretch/>
        </p:blipFill>
        <p:spPr>
          <a:xfrm>
            <a:off x="0" y="0"/>
            <a:ext cx="8128102" cy="7589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l="-197" r="-197"/>
          <a:stretch/>
        </p:blipFill>
        <p:spPr>
          <a:xfrm>
            <a:off x="8128102" y="0"/>
            <a:ext cx="4063594" cy="7589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774290" y="3881628"/>
            <a:ext cx="66486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BUSINESS DRIVERS</a:t>
            </a:r>
            <a:r>
              <a:rPr lang="en-US" sz="12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TECHNOLOGY ACCELERATORS </a:t>
            </a:r>
            <a:r>
              <a:rPr lang="en-US" sz="12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GAME CHANGERS </a:t>
            </a:r>
            <a:endParaRPr lang="en-US" sz="1200"/>
          </a:p>
        </p:txBody>
      </p:sp>
      <p:sp>
        <p:nvSpPr>
          <p:cNvPr id="9" name="Text 4"/>
          <p:cNvSpPr txBox="1"/>
          <p:nvPr/>
        </p:nvSpPr>
        <p:spPr>
          <a:xfrm>
            <a:off x="4153205" y="4262933"/>
            <a:ext cx="389351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Energy. Excellence. Innovation.</a:t>
            </a:r>
            <a:endParaRPr lang="en-US" sz="180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141" r="141"/>
          <a:stretch/>
        </p:blipFill>
        <p:spPr>
          <a:xfrm>
            <a:off x="4629607" y="447142"/>
            <a:ext cx="2933395" cy="1419149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287018" y="2262226"/>
            <a:ext cx="947592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Building the Enterprise Operating Model​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for the Next Decade​</a:t>
            </a: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5639105" y="3596335"/>
            <a:ext cx="914400" cy="57607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0" y="5238598"/>
            <a:ext cx="12191695" cy="1619402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7"/>
          <p:cNvSpPr/>
          <p:nvPr/>
        </p:nvSpPr>
        <p:spPr>
          <a:xfrm>
            <a:off x="0" y="5238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8"/>
          <p:cNvSpPr/>
          <p:nvPr/>
        </p:nvSpPr>
        <p:spPr>
          <a:xfrm>
            <a:off x="10201961" y="5362956"/>
            <a:ext cx="9144" cy="13807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9"/>
          <p:cNvSpPr txBox="1"/>
          <p:nvPr/>
        </p:nvSpPr>
        <p:spPr>
          <a:xfrm>
            <a:off x="457200" y="5362956"/>
            <a:ext cx="9630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Trusted by:</a:t>
            </a:r>
            <a:endParaRPr lang="en-US" sz="1000"/>
          </a:p>
        </p:txBody>
      </p:sp>
      <p:sp>
        <p:nvSpPr>
          <p:cNvPr id="17" name="Shape 10"/>
          <p:cNvSpPr/>
          <p:nvPr/>
        </p:nvSpPr>
        <p:spPr>
          <a:xfrm>
            <a:off x="10362895" y="5605272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577779" y="5672023"/>
            <a:ext cx="114300" cy="1143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0767974" y="5605272"/>
            <a:ext cx="8101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ISO 9001:2015</a:t>
            </a:r>
            <a:endParaRPr lang="en-US" sz="900"/>
          </a:p>
        </p:txBody>
      </p:sp>
      <p:sp>
        <p:nvSpPr>
          <p:cNvPr id="20" name="Shape 12"/>
          <p:cNvSpPr/>
          <p:nvPr/>
        </p:nvSpPr>
        <p:spPr>
          <a:xfrm>
            <a:off x="10362895" y="5928970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554919" y="5995721"/>
            <a:ext cx="114300" cy="11430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0745114" y="5928970"/>
            <a:ext cx="857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CMMI Certified</a:t>
            </a:r>
            <a:endParaRPr lang="en-US" sz="900"/>
          </a:p>
        </p:txBody>
      </p:sp>
      <p:sp>
        <p:nvSpPr>
          <p:cNvPr id="23" name="Shape 14"/>
          <p:cNvSpPr/>
          <p:nvPr/>
        </p:nvSpPr>
        <p:spPr>
          <a:xfrm>
            <a:off x="10362895" y="6253582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10537546" y="6319418"/>
            <a:ext cx="85954" cy="11430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0699394" y="6253582"/>
            <a:ext cx="9244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Women-Owned</a:t>
            </a:r>
            <a:endParaRPr lang="en-US" sz="90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1">
            <a:alphaModFix amt="90000"/>
          </a:blip>
          <a:srcRect/>
          <a:stretch/>
        </p:blipFill>
        <p:spPr>
          <a:xfrm>
            <a:off x="457200" y="5700370"/>
            <a:ext cx="428854" cy="428854"/>
          </a:xfrm>
          <a:prstGeom prst="rect">
            <a:avLst/>
          </a:prstGeom>
        </p:spPr>
      </p:pic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2">
            <a:alphaModFix amt="90000"/>
          </a:blip>
          <a:srcRect l="2016" r="2016"/>
          <a:stretch/>
        </p:blipFill>
        <p:spPr>
          <a:xfrm>
            <a:off x="1578254" y="5805526"/>
            <a:ext cx="1143000" cy="228600"/>
          </a:xfrm>
          <a:prstGeom prst="rect">
            <a:avLst/>
          </a:prstGeom>
        </p:spPr>
      </p:pic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3">
            <a:alphaModFix amt="90000"/>
          </a:blip>
          <a:srcRect t="569" b="569"/>
          <a:stretch/>
        </p:blipFill>
        <p:spPr>
          <a:xfrm>
            <a:off x="3413455" y="5639105"/>
            <a:ext cx="838505" cy="552298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4">
            <a:alphaModFix amt="90000"/>
          </a:blip>
          <a:srcRect t="563" b="563"/>
          <a:stretch/>
        </p:blipFill>
        <p:spPr>
          <a:xfrm>
            <a:off x="4935017" y="5648249"/>
            <a:ext cx="809244" cy="533095"/>
          </a:xfrm>
          <a:prstGeom prst="rect">
            <a:avLst/>
          </a:prstGeom>
        </p:spPr>
      </p:pic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5">
            <a:alphaModFix amt="90000"/>
          </a:blip>
          <a:srcRect t="267" b="267"/>
          <a:stretch/>
        </p:blipFill>
        <p:spPr>
          <a:xfrm>
            <a:off x="6427318" y="5648249"/>
            <a:ext cx="952805" cy="533095"/>
          </a:xfrm>
          <a:prstGeom prst="rect">
            <a:avLst/>
          </a:prstGeom>
        </p:spPr>
      </p:pic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16">
            <a:alphaModFix amt="90000"/>
          </a:blip>
          <a:srcRect/>
          <a:stretch/>
        </p:blipFill>
        <p:spPr>
          <a:xfrm>
            <a:off x="8067751" y="5662879"/>
            <a:ext cx="504749" cy="504749"/>
          </a:xfrm>
          <a:prstGeom prst="rect">
            <a:avLst/>
          </a:prstGeom>
        </p:spPr>
      </p:pic>
      <p:pic>
        <p:nvPicPr>
          <p:cNvPr id="32" name="Image 14" descr="preencoded.png"/>
          <p:cNvPicPr>
            <a:picLocks noChangeAspect="1"/>
          </p:cNvPicPr>
          <p:nvPr/>
        </p:nvPicPr>
        <p:blipFill>
          <a:blip r:embed="rId17">
            <a:alphaModFix amt="90000"/>
          </a:blip>
          <a:srcRect t="525" b="525"/>
          <a:stretch/>
        </p:blipFill>
        <p:spPr>
          <a:xfrm>
            <a:off x="9265615" y="5662879"/>
            <a:ext cx="714146" cy="504749"/>
          </a:xfrm>
          <a:prstGeom prst="rect">
            <a:avLst/>
          </a:prstGeom>
        </p:spPr>
      </p:pic>
      <p:pic>
        <p:nvPicPr>
          <p:cNvPr id="33" name="Image 15" descr="preencoded.png"/>
          <p:cNvPicPr>
            <a:picLocks noChangeAspect="1"/>
          </p:cNvPicPr>
          <p:nvPr/>
        </p:nvPicPr>
        <p:blipFill>
          <a:blip r:embed="rId18">
            <a:alphaModFix amt="90000"/>
          </a:blip>
          <a:srcRect l="688" r="688"/>
          <a:stretch/>
        </p:blipFill>
        <p:spPr>
          <a:xfrm>
            <a:off x="457200" y="6445606"/>
            <a:ext cx="1067105" cy="190195"/>
          </a:xfrm>
          <a:prstGeom prst="rect">
            <a:avLst/>
          </a:prstGeom>
        </p:spPr>
      </p:pic>
      <p:pic>
        <p:nvPicPr>
          <p:cNvPr id="34" name="Image 16" descr="preencoded.png"/>
          <p:cNvPicPr>
            <a:picLocks noChangeAspect="1"/>
          </p:cNvPicPr>
          <p:nvPr/>
        </p:nvPicPr>
        <p:blipFill>
          <a:blip r:embed="rId19">
            <a:alphaModFix amt="90000"/>
          </a:blip>
          <a:srcRect l="960" r="960"/>
          <a:stretch/>
        </p:blipFill>
        <p:spPr>
          <a:xfrm>
            <a:off x="2056486" y="6390742"/>
            <a:ext cx="1466698" cy="304495"/>
          </a:xfrm>
          <a:prstGeom prst="rect">
            <a:avLst/>
          </a:prstGeom>
        </p:spPr>
      </p:pic>
      <p:pic>
        <p:nvPicPr>
          <p:cNvPr id="35" name="Image 17" descr="preencoded.png"/>
          <p:cNvPicPr>
            <a:picLocks noChangeAspect="1"/>
          </p:cNvPicPr>
          <p:nvPr/>
        </p:nvPicPr>
        <p:blipFill>
          <a:blip r:embed="rId20">
            <a:alphaModFix amt="90000"/>
          </a:blip>
          <a:srcRect t="311" b="311"/>
          <a:stretch/>
        </p:blipFill>
        <p:spPr>
          <a:xfrm>
            <a:off x="4055364" y="6325819"/>
            <a:ext cx="828446" cy="428854"/>
          </a:xfrm>
          <a:prstGeom prst="rect">
            <a:avLst/>
          </a:prstGeom>
        </p:spPr>
      </p:pic>
      <p:pic>
        <p:nvPicPr>
          <p:cNvPr id="36" name="Image 18" descr="preencoded.png"/>
          <p:cNvPicPr>
            <a:picLocks noChangeAspect="1"/>
          </p:cNvPicPr>
          <p:nvPr/>
        </p:nvPicPr>
        <p:blipFill>
          <a:blip r:embed="rId21">
            <a:alphaModFix amt="90000"/>
          </a:blip>
          <a:srcRect t="385" b="385"/>
          <a:stretch/>
        </p:blipFill>
        <p:spPr>
          <a:xfrm>
            <a:off x="5410505" y="6325819"/>
            <a:ext cx="771754" cy="428854"/>
          </a:xfrm>
          <a:prstGeom prst="rect">
            <a:avLst/>
          </a:prstGeom>
        </p:spPr>
      </p:pic>
      <p:pic>
        <p:nvPicPr>
          <p:cNvPr id="37" name="Image 19" descr="preencoded.png"/>
          <p:cNvPicPr>
            <a:picLocks noChangeAspect="1"/>
          </p:cNvPicPr>
          <p:nvPr/>
        </p:nvPicPr>
        <p:blipFill>
          <a:blip r:embed="rId22">
            <a:alphaModFix amt="90000"/>
          </a:blip>
          <a:srcRect/>
          <a:stretch/>
        </p:blipFill>
        <p:spPr>
          <a:xfrm>
            <a:off x="6708038" y="6325819"/>
            <a:ext cx="428854" cy="428854"/>
          </a:xfrm>
          <a:prstGeom prst="rect">
            <a:avLst/>
          </a:prstGeom>
        </p:spPr>
      </p:pic>
      <p:pic>
        <p:nvPicPr>
          <p:cNvPr id="38" name="Image 20" descr="preencoded.png"/>
          <p:cNvPicPr>
            <a:picLocks noChangeAspect="1"/>
          </p:cNvPicPr>
          <p:nvPr/>
        </p:nvPicPr>
        <p:blipFill>
          <a:blip r:embed="rId23">
            <a:alphaModFix amt="90000"/>
          </a:blip>
          <a:srcRect t="77" b="77"/>
          <a:stretch/>
        </p:blipFill>
        <p:spPr>
          <a:xfrm>
            <a:off x="7669073" y="6368796"/>
            <a:ext cx="629107" cy="342900"/>
          </a:xfrm>
          <a:prstGeom prst="rect">
            <a:avLst/>
          </a:prstGeom>
        </p:spPr>
      </p:pic>
      <p:pic>
        <p:nvPicPr>
          <p:cNvPr id="39" name="Image 21" descr="preencoded.png"/>
          <p:cNvPicPr>
            <a:picLocks noChangeAspect="1"/>
          </p:cNvPicPr>
          <p:nvPr/>
        </p:nvPicPr>
        <p:blipFill>
          <a:blip r:embed="rId24">
            <a:alphaModFix amt="90000"/>
          </a:blip>
          <a:srcRect l="1712" r="1712"/>
          <a:stretch/>
        </p:blipFill>
        <p:spPr>
          <a:xfrm>
            <a:off x="8829446" y="6420002"/>
            <a:ext cx="1143000" cy="2478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953805" y="-571500"/>
            <a:ext cx="3810305" cy="3810305"/>
          </a:xfrm>
          <a:prstGeom prst="ellipse">
            <a:avLst/>
          </a:prstGeom>
          <a:solidFill>
            <a:srgbClr val="2A9D8F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gen-dedup-5e765734fa6996e94526269805e72083.png"/>
          <p:cNvPicPr>
            <a:picLocks noChangeAspect="1"/>
          </p:cNvPicPr>
          <p:nvPr/>
        </p:nvPicPr>
        <p:blipFill>
          <a:blip r:embed="rId3">
            <a:alphaModFix amt="8000"/>
          </a:blip>
          <a:srcRect/>
          <a:stretch/>
        </p:blipFill>
        <p:spPr>
          <a:xfrm>
            <a:off x="-381305" y="3715207"/>
            <a:ext cx="2381098" cy="2381098"/>
          </a:xfrm>
          <a:prstGeom prst="rect">
            <a:avLst/>
          </a:prstGeom>
        </p:spPr>
      </p:pic>
      <p:pic>
        <p:nvPicPr>
          <p:cNvPr id="6" name="Image 1" descr="gen-dedup-323228122ff92d2332e711a84ca3b40c.png"/>
          <p:cNvPicPr>
            <a:picLocks noChangeAspect="1"/>
          </p:cNvPicPr>
          <p:nvPr/>
        </p:nvPicPr>
        <p:blipFill>
          <a:blip r:embed="rId4"/>
          <a:srcRect l="-198" r="-198"/>
          <a:stretch/>
        </p:blipFill>
        <p:spPr>
          <a:xfrm>
            <a:off x="0" y="0"/>
            <a:ext cx="8124444" cy="75895"/>
          </a:xfrm>
          <a:prstGeom prst="rect">
            <a:avLst/>
          </a:prstGeom>
        </p:spPr>
      </p:pic>
      <p:pic>
        <p:nvPicPr>
          <p:cNvPr id="7" name="Image 2" descr="gen-dedup-9663ecf744b06e35d4c2cebaab92a2ea.png"/>
          <p:cNvPicPr>
            <a:picLocks noChangeAspect="1"/>
          </p:cNvPicPr>
          <p:nvPr/>
        </p:nvPicPr>
        <p:blipFill>
          <a:blip r:embed="rId5"/>
          <a:srcRect l="-202" r="-202"/>
          <a:stretch/>
        </p:blipFill>
        <p:spPr>
          <a:xfrm>
            <a:off x="8124444" y="0"/>
            <a:ext cx="4067251" cy="75895"/>
          </a:xfrm>
          <a:prstGeom prst="rect">
            <a:avLst/>
          </a:prstGeom>
        </p:spPr>
      </p:pic>
      <p:pic>
        <p:nvPicPr>
          <p:cNvPr id="8" name="Image 3" descr="gen-dedup-ef527bea2207a14ec6e8d4c8ae9cdc45.png"/>
          <p:cNvPicPr>
            <a:picLocks noChangeAspect="1"/>
          </p:cNvPicPr>
          <p:nvPr/>
        </p:nvPicPr>
        <p:blipFill>
          <a:blip r:embed="rId6"/>
          <a:srcRect l="-384" r="-384"/>
          <a:stretch/>
        </p:blipFill>
        <p:spPr>
          <a:xfrm>
            <a:off x="609905" y="513893"/>
            <a:ext cx="57607" cy="476402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609905" y="1387090"/>
            <a:ext cx="10972190" cy="1450129"/>
          </a:xfrm>
          <a:prstGeom prst="roundRect">
            <a:avLst>
              <a:gd name="adj" fmla="val 28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4"/>
          <p:cNvSpPr/>
          <p:nvPr/>
        </p:nvSpPr>
        <p:spPr>
          <a:xfrm>
            <a:off x="609905" y="1387090"/>
            <a:ext cx="47549" cy="1450129"/>
          </a:xfrm>
          <a:prstGeom prst="roundRect">
            <a:avLst>
              <a:gd name="adj" fmla="val 132625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5"/>
          <p:cNvSpPr/>
          <p:nvPr/>
        </p:nvSpPr>
        <p:spPr>
          <a:xfrm>
            <a:off x="609905" y="3238805"/>
            <a:ext cx="3448202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6"/>
          <p:cNvSpPr/>
          <p:nvPr/>
        </p:nvSpPr>
        <p:spPr>
          <a:xfrm>
            <a:off x="4343400" y="3238805"/>
            <a:ext cx="3448202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/>
          <p:cNvSpPr/>
          <p:nvPr/>
        </p:nvSpPr>
        <p:spPr>
          <a:xfrm>
            <a:off x="8076895" y="3238805"/>
            <a:ext cx="3524098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8"/>
          <p:cNvSpPr/>
          <p:nvPr/>
        </p:nvSpPr>
        <p:spPr>
          <a:xfrm>
            <a:off x="609905" y="4953305"/>
            <a:ext cx="3448202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>
            <a:off x="4343400" y="4953305"/>
            <a:ext cx="3448202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8076895" y="4953305"/>
            <a:ext cx="3524098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 txBox="1"/>
          <p:nvPr/>
        </p:nvSpPr>
        <p:spPr>
          <a:xfrm>
            <a:off x="819302" y="466344"/>
            <a:ext cx="38103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WHO WE ARE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819302" y="858622"/>
            <a:ext cx="44961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52" dirty="0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AI-native GCC platform - a decade in the making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990295" y="1465380"/>
            <a:ext cx="696716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J2W is the AI-native GCC platform for the Fortune 1000 and beyond.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990294" y="1977901"/>
            <a:ext cx="91449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Ten years building nothing but GCCs - so we solve the next problem before it shows up, deliver ROI in weeks where the industry takes quarters, and turn the GCC from a cost line into an innovation engine.</a:t>
            </a:r>
            <a:endParaRPr lang="en-US" sz="1100" dirty="0"/>
          </a:p>
        </p:txBody>
      </p:sp>
      <p:pic>
        <p:nvPicPr>
          <p:cNvPr id="21" name="Image 4" descr="gen-dedup-3d17221e8cd76f10a3e0815681bf2023.png"/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800100" y="3476549"/>
            <a:ext cx="38405" cy="5715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90295" y="3476549"/>
            <a:ext cx="1552651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10+</a:t>
            </a:r>
            <a:endParaRPr lang="en-US" sz="3100" dirty="0"/>
          </a:p>
        </p:txBody>
      </p:sp>
      <p:sp>
        <p:nvSpPr>
          <p:cNvPr id="23" name="Text 16"/>
          <p:cNvSpPr txBox="1"/>
          <p:nvPr/>
        </p:nvSpPr>
        <p:spPr>
          <a:xfrm>
            <a:off x="990295" y="3993185"/>
            <a:ext cx="18480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Years GCC leadership</a:t>
            </a:r>
            <a:endParaRPr lang="en-US" sz="1200" dirty="0"/>
          </a:p>
        </p:txBody>
      </p:sp>
      <p:pic>
        <p:nvPicPr>
          <p:cNvPr id="24" name="Image 5" descr="gen-dedup-32cd67bc95385c5507b78533d3bab6e6.png"/>
          <p:cNvPicPr>
            <a:picLocks noChangeAspect="1"/>
          </p:cNvPicPr>
          <p:nvPr/>
        </p:nvPicPr>
        <p:blipFill>
          <a:blip r:embed="rId8"/>
          <a:srcRect l="-400" r="-400"/>
          <a:stretch/>
        </p:blipFill>
        <p:spPr>
          <a:xfrm>
            <a:off x="4533595" y="3476549"/>
            <a:ext cx="38405" cy="5715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4724705" y="3476549"/>
            <a:ext cx="17913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320+</a:t>
            </a:r>
            <a:endParaRPr lang="en-US" sz="3100" dirty="0"/>
          </a:p>
        </p:txBody>
      </p:sp>
      <p:sp>
        <p:nvSpPr>
          <p:cNvPr id="26" name="Text 18"/>
          <p:cNvSpPr txBox="1"/>
          <p:nvPr/>
        </p:nvSpPr>
        <p:spPr>
          <a:xfrm>
            <a:off x="4724705" y="3993185"/>
            <a:ext cx="2131466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Enterprise clients served</a:t>
            </a:r>
            <a:endParaRPr lang="en-US" sz="1200" dirty="0"/>
          </a:p>
        </p:txBody>
      </p:sp>
      <p:pic>
        <p:nvPicPr>
          <p:cNvPr id="27" name="Image 6" descr="gen-dedup-3d17221e8cd76f10a3e0815681bf2023.png"/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8268005" y="3476549"/>
            <a:ext cx="38405" cy="5715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458200" y="3476549"/>
            <a:ext cx="2524658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300+</a:t>
            </a:r>
            <a:endParaRPr lang="en-US" sz="3100" dirty="0"/>
          </a:p>
        </p:txBody>
      </p:sp>
      <p:sp>
        <p:nvSpPr>
          <p:cNvPr id="29" name="Text 20"/>
          <p:cNvSpPr txBox="1"/>
          <p:nvPr/>
        </p:nvSpPr>
        <p:spPr>
          <a:xfrm>
            <a:off x="8458200" y="3993185"/>
            <a:ext cx="300380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GCCs built: greenfield &amp; brownfield</a:t>
            </a:r>
            <a:endParaRPr lang="en-US" sz="1200" dirty="0"/>
          </a:p>
        </p:txBody>
      </p:sp>
      <p:pic>
        <p:nvPicPr>
          <p:cNvPr id="30" name="Image 7" descr="gen-dedup-32cd67bc95385c5507b78533d3bab6e6.png"/>
          <p:cNvPicPr>
            <a:picLocks noChangeAspect="1"/>
          </p:cNvPicPr>
          <p:nvPr/>
        </p:nvPicPr>
        <p:blipFill>
          <a:blip r:embed="rId8"/>
          <a:srcRect l="-400" r="-400"/>
          <a:stretch/>
        </p:blipFill>
        <p:spPr>
          <a:xfrm>
            <a:off x="800100" y="5191049"/>
            <a:ext cx="38405" cy="5715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990295" y="5191049"/>
            <a:ext cx="16770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5,500+</a:t>
            </a:r>
            <a:endParaRPr lang="en-US" sz="3100" dirty="0"/>
          </a:p>
        </p:txBody>
      </p:sp>
      <p:sp>
        <p:nvSpPr>
          <p:cNvPr id="32" name="Text 22"/>
          <p:cNvSpPr txBox="1"/>
          <p:nvPr/>
        </p:nvSpPr>
        <p:spPr>
          <a:xfrm>
            <a:off x="990295" y="5707685"/>
            <a:ext cx="199522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Industry &amp; tech experts</a:t>
            </a:r>
            <a:endParaRPr lang="en-US" sz="1200" dirty="0"/>
          </a:p>
        </p:txBody>
      </p:sp>
      <p:pic>
        <p:nvPicPr>
          <p:cNvPr id="33" name="Image 8" descr="gen-dedup-3d17221e8cd76f10a3e0815681bf2023.png"/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4533595" y="5191049"/>
            <a:ext cx="38405" cy="57150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4724705" y="5191049"/>
            <a:ext cx="1705356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8</a:t>
            </a:r>
            <a:endParaRPr lang="en-US" sz="3100" dirty="0"/>
          </a:p>
        </p:txBody>
      </p:sp>
      <p:sp>
        <p:nvSpPr>
          <p:cNvPr id="35" name="Text 24"/>
          <p:cNvSpPr txBox="1"/>
          <p:nvPr/>
        </p:nvSpPr>
        <p:spPr>
          <a:xfrm>
            <a:off x="4724705" y="5707685"/>
            <a:ext cx="202905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Countries with footprint</a:t>
            </a:r>
            <a:endParaRPr lang="en-US" sz="1200" dirty="0"/>
          </a:p>
        </p:txBody>
      </p:sp>
      <p:pic>
        <p:nvPicPr>
          <p:cNvPr id="36" name="Image 9" descr="gen-dedup-32cd67bc95385c5507b78533d3bab6e6.png"/>
          <p:cNvPicPr>
            <a:picLocks noChangeAspect="1"/>
          </p:cNvPicPr>
          <p:nvPr/>
        </p:nvPicPr>
        <p:blipFill>
          <a:blip r:embed="rId8"/>
          <a:srcRect l="-400" r="-400"/>
          <a:stretch/>
        </p:blipFill>
        <p:spPr>
          <a:xfrm>
            <a:off x="8268005" y="5191049"/>
            <a:ext cx="38405" cy="571500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8458200" y="5191049"/>
            <a:ext cx="16770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60+</a:t>
            </a:r>
            <a:endParaRPr lang="en-US" sz="3100" dirty="0"/>
          </a:p>
        </p:txBody>
      </p:sp>
      <p:sp>
        <p:nvSpPr>
          <p:cNvPr id="38" name="Text 26"/>
          <p:cNvSpPr txBox="1"/>
          <p:nvPr/>
        </p:nvSpPr>
        <p:spPr>
          <a:xfrm>
            <a:off x="8458200" y="5707685"/>
            <a:ext cx="199522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AI-enabled capabilities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430207" y="-571500"/>
            <a:ext cx="3333902" cy="3333902"/>
          </a:xfrm>
          <a:prstGeom prst="ellipse">
            <a:avLst/>
          </a:prstGeom>
          <a:solidFill>
            <a:srgbClr val="2A9D8F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360" r="-360"/>
          <a:stretch/>
        </p:blipFill>
        <p:spPr>
          <a:xfrm>
            <a:off x="609905" y="485546"/>
            <a:ext cx="57607" cy="3813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19302" y="342900"/>
            <a:ext cx="59125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Architects of Transformation</a:t>
            </a:r>
            <a:endParaRPr lang="en-US" sz="2700"/>
          </a:p>
        </p:txBody>
      </p:sp>
      <p:sp>
        <p:nvSpPr>
          <p:cNvPr id="7" name="Text 4"/>
          <p:cNvSpPr txBox="1"/>
          <p:nvPr/>
        </p:nvSpPr>
        <p:spPr>
          <a:xfrm>
            <a:off x="819302" y="743407"/>
            <a:ext cx="58110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VISIONARY LEADERSHIP DRIVING ENTERPRISE EXCELLENCE</a:t>
            </a:r>
            <a:endParaRPr lang="en-US" sz="150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6" b="-6"/>
          <a:stretch/>
        </p:blipFill>
        <p:spPr>
          <a:xfrm>
            <a:off x="609905" y="1123798"/>
            <a:ext cx="5372100" cy="371520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19886" y="1339596"/>
            <a:ext cx="809244" cy="809244"/>
          </a:xfrm>
          <a:prstGeom prst="ellipse">
            <a:avLst/>
          </a:prstGeom>
          <a:noFill/>
          <a:ln w="38100">
            <a:solidFill>
              <a:srgbClr val="FFFFFF"/>
            </a:solidFill>
            <a:prstDash val="solid"/>
          </a:ln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48233" y="1367942"/>
            <a:ext cx="752551" cy="75255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17474" y="2224735"/>
            <a:ext cx="1020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Priti Sawant</a:t>
            </a:r>
            <a:endParaRPr lang="en-US" sz="1300"/>
          </a:p>
        </p:txBody>
      </p:sp>
      <p:sp>
        <p:nvSpPr>
          <p:cNvPr id="12" name="Text 7"/>
          <p:cNvSpPr txBox="1"/>
          <p:nvPr/>
        </p:nvSpPr>
        <p:spPr>
          <a:xfrm>
            <a:off x="789127" y="2457907"/>
            <a:ext cx="10744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2" dirty="0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Founder &amp; CEO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2025396" y="1557311"/>
            <a:ext cx="3867912" cy="155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Priti Sawant is a serial entrepreneur, category creator, and a pioneer of India’s Global Capability Center (GCC) ecosystem. With 20+ years of experience, she has built and scaled businesses at the intersection of technology and enterprise transformation. She began her journey at Accenture and later led Magna Infotech-scaling it from pre-revenue to a market leader, creating India’s first GCC-focused model, and delivering a successful exit and public listing (IPO). She is a 2-time entrepreneur, having built two successful, leading companies solving for GCCs in India.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2025396" y="3527888"/>
            <a:ext cx="3867912" cy="138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She founded JoulestoWatts, backed by Manipal Global Education Services. Today, J2W operates across 8 countries, enabling 300+ GCCs, deploying 5,200+ professionals, and building 4 in-house products, with strong Fortune 500 partnerships. Recognised by Forbes Japan, she is also a TiE Charter Member, startup mentor, and a strong advocate of gender diversity, having built organisations with 40%+ women representation and 50% women-led leadership roles.</a:t>
            </a:r>
            <a:endParaRPr lang="en-US" sz="110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t="-6" b="-6"/>
          <a:stretch/>
        </p:blipFill>
        <p:spPr>
          <a:xfrm>
            <a:off x="6210605" y="1123798"/>
            <a:ext cx="5372100" cy="3715207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520586" y="1339596"/>
            <a:ext cx="809244" cy="809244"/>
          </a:xfrm>
          <a:prstGeom prst="ellipse">
            <a:avLst/>
          </a:prstGeom>
          <a:noFill/>
          <a:ln w="38100">
            <a:solidFill>
              <a:srgbClr val="FFFFFF"/>
            </a:solidFill>
            <a:prstDash val="solid"/>
          </a:ln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b="1042"/>
          <a:stretch/>
        </p:blipFill>
        <p:spPr>
          <a:xfrm>
            <a:off x="6548933" y="1367942"/>
            <a:ext cx="752551" cy="752551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411773" y="2224735"/>
            <a:ext cx="10323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Priya Mohan</a:t>
            </a:r>
            <a:endParaRPr lang="en-US" sz="1300"/>
          </a:p>
        </p:txBody>
      </p:sp>
      <p:sp>
        <p:nvSpPr>
          <p:cNvPr id="19" name="Text 12"/>
          <p:cNvSpPr txBox="1"/>
          <p:nvPr/>
        </p:nvSpPr>
        <p:spPr>
          <a:xfrm>
            <a:off x="6781190" y="2457907"/>
            <a:ext cx="2953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2" dirty="0">
                <a:solidFill>
                  <a:srgbClr val="D6283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coo</a:t>
            </a:r>
            <a:endParaRPr lang="en-US" sz="1100" dirty="0"/>
          </a:p>
        </p:txBody>
      </p:sp>
      <p:sp>
        <p:nvSpPr>
          <p:cNvPr id="20" name="Text 13"/>
          <p:cNvSpPr txBox="1"/>
          <p:nvPr/>
        </p:nvSpPr>
        <p:spPr>
          <a:xfrm>
            <a:off x="7626096" y="1557311"/>
            <a:ext cx="3867912" cy="155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Priya Mohan is a seasoned operator, investor, and entrepreneur with 20+ years spanning venture capital, high-growth startups, and investment banking. She was most recently a Partner at General Catalyst India, where she led India investments and co-creation opportunities across transformative, economy-shaping companies. Previously, as Managing Partner at Venture Highway, she held board seats across marquee portfolio companies in multiple sectors. Before investing, she co-founded Vidyartha, an EdTech platform which she successfully exited to Byju's.</a:t>
            </a:r>
            <a:endParaRPr lang="en-US" sz="1100"/>
          </a:p>
        </p:txBody>
      </p:sp>
      <p:sp>
        <p:nvSpPr>
          <p:cNvPr id="21" name="Text 14"/>
          <p:cNvSpPr txBox="1"/>
          <p:nvPr/>
        </p:nvSpPr>
        <p:spPr>
          <a:xfrm>
            <a:off x="7626096" y="3527888"/>
            <a:ext cx="3867912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Her earlier career included 9 years in investment banking and equity research - structuring and executing complex transactions across private equity raises, secondary sales, and buyouts. A Chartered Accountant and Management Graduate from the Indian School of Business (ISB), Priya was a state guest of the United States under the IVLP program and is a member of the Kamalnayan Bajaj Aspen Fellowship (Cohort X).</a:t>
            </a:r>
            <a:endParaRPr lang="en-US" sz="1100" dirty="0"/>
          </a:p>
        </p:txBody>
      </p:sp>
      <p:pic>
        <p:nvPicPr>
          <p:cNvPr id="54" name="Image 15" descr="preencoded.png"/>
          <p:cNvPicPr>
            <a:picLocks noChangeAspect="1"/>
          </p:cNvPicPr>
          <p:nvPr/>
        </p:nvPicPr>
        <p:blipFill>
          <a:blip r:embed="rId8"/>
          <a:srcRect l="-202" r="-202"/>
          <a:stretch/>
        </p:blipFill>
        <p:spPr>
          <a:xfrm>
            <a:off x="0" y="0"/>
            <a:ext cx="8128102" cy="75895"/>
          </a:xfrm>
          <a:prstGeom prst="rect">
            <a:avLst/>
          </a:prstGeom>
        </p:spPr>
      </p:pic>
      <p:pic>
        <p:nvPicPr>
          <p:cNvPr id="55" name="Image 16" descr="preencoded.png"/>
          <p:cNvPicPr>
            <a:picLocks noChangeAspect="1"/>
          </p:cNvPicPr>
          <p:nvPr/>
        </p:nvPicPr>
        <p:blipFill>
          <a:blip r:embed="rId9"/>
          <a:srcRect l="-197" r="-197"/>
          <a:stretch/>
        </p:blipFill>
        <p:spPr>
          <a:xfrm>
            <a:off x="8128102" y="0"/>
            <a:ext cx="4063594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gen-dedup-cad3a534ee2971c6a497c9faf59fb5cd.png"/>
          <p:cNvPicPr>
            <a:picLocks noChangeAspect="1"/>
          </p:cNvPicPr>
          <p:nvPr/>
        </p:nvPicPr>
        <p:blipFill>
          <a:blip r:embed="rId3"/>
          <a:srcRect l="-202" r="-202"/>
          <a:stretch/>
        </p:blipFill>
        <p:spPr>
          <a:xfrm>
            <a:off x="0" y="0"/>
            <a:ext cx="8128102" cy="75895"/>
          </a:xfrm>
          <a:prstGeom prst="rect">
            <a:avLst/>
          </a:prstGeom>
        </p:spPr>
      </p:pic>
      <p:pic>
        <p:nvPicPr>
          <p:cNvPr id="5" name="Image 1" descr="gen-dedup-64882feb7a832238af77b962fc7a8538.png"/>
          <p:cNvPicPr>
            <a:picLocks noChangeAspect="1"/>
          </p:cNvPicPr>
          <p:nvPr/>
        </p:nvPicPr>
        <p:blipFill>
          <a:blip r:embed="rId4"/>
          <a:srcRect l="-197" r="-197"/>
          <a:stretch/>
        </p:blipFill>
        <p:spPr>
          <a:xfrm>
            <a:off x="8128102" y="0"/>
            <a:ext cx="4063594" cy="758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905695" y="-571500"/>
            <a:ext cx="2857500" cy="2857500"/>
          </a:xfrm>
          <a:prstGeom prst="ellipse">
            <a:avLst/>
          </a:prstGeom>
          <a:solidFill>
            <a:srgbClr val="2A9D8F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2" descr="gen-dedup-6da70c599291e253314366a10c094ffa.png"/>
          <p:cNvPicPr>
            <a:picLocks noChangeAspect="1"/>
          </p:cNvPicPr>
          <p:nvPr/>
        </p:nvPicPr>
        <p:blipFill>
          <a:blip r:embed="rId5">
            <a:alphaModFix amt="15000"/>
          </a:blip>
          <a:srcRect/>
          <a:stretch/>
        </p:blipFill>
        <p:spPr>
          <a:xfrm>
            <a:off x="381305" y="1143000"/>
            <a:ext cx="1429207" cy="1429207"/>
          </a:xfrm>
          <a:prstGeom prst="rect">
            <a:avLst/>
          </a:prstGeom>
        </p:spPr>
      </p:pic>
      <p:pic>
        <p:nvPicPr>
          <p:cNvPr id="8" name="Image 3" descr="gen-dedup-b81d2082573e6d8de64df87af639bbf0.png"/>
          <p:cNvPicPr>
            <a:picLocks noChangeAspect="1"/>
          </p:cNvPicPr>
          <p:nvPr/>
        </p:nvPicPr>
        <p:blipFill>
          <a:blip r:embed="rId6"/>
          <a:srcRect l="-360" r="-360"/>
          <a:stretch/>
        </p:blipFill>
        <p:spPr>
          <a:xfrm>
            <a:off x="609905" y="533095"/>
            <a:ext cx="57607" cy="381305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819302" y="381305"/>
            <a:ext cx="387157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WE OFFER</a:t>
            </a:r>
            <a:endParaRPr lang="en-US" sz="2700" dirty="0"/>
          </a:p>
        </p:txBody>
      </p:sp>
      <p:sp>
        <p:nvSpPr>
          <p:cNvPr id="10" name="Text 4"/>
          <p:cNvSpPr txBox="1"/>
          <p:nvPr/>
        </p:nvSpPr>
        <p:spPr>
          <a:xfrm>
            <a:off x="819302" y="800100"/>
            <a:ext cx="418978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THREE INTERLOCKING REVENUE ENGINES</a:t>
            </a:r>
            <a:endParaRPr lang="en-US" sz="1500" dirty="0"/>
          </a:p>
        </p:txBody>
      </p:sp>
      <p:sp>
        <p:nvSpPr>
          <p:cNvPr id="11" name="Shape 5"/>
          <p:cNvSpPr/>
          <p:nvPr/>
        </p:nvSpPr>
        <p:spPr>
          <a:xfrm>
            <a:off x="609905" y="1524305"/>
            <a:ext cx="3333902" cy="4952390"/>
          </a:xfrm>
          <a:prstGeom prst="roundRect">
            <a:avLst>
              <a:gd name="adj" fmla="val 12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Shape 6"/>
          <p:cNvSpPr/>
          <p:nvPr/>
        </p:nvSpPr>
        <p:spPr>
          <a:xfrm>
            <a:off x="619049" y="1533449"/>
            <a:ext cx="3314700" cy="1047902"/>
          </a:xfrm>
          <a:prstGeom prst="rect">
            <a:avLst/>
          </a:prstGeom>
          <a:solidFill>
            <a:srgbClr val="2A9D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 txBox="1"/>
          <p:nvPr/>
        </p:nvSpPr>
        <p:spPr>
          <a:xfrm>
            <a:off x="1411834" y="2033626"/>
            <a:ext cx="1734617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Workforce Solutions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819302" y="2691079"/>
            <a:ext cx="2934310" cy="3001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Domain-deep engineers - not generic coders</a:t>
            </a:r>
          </a:p>
          <a:p>
            <a:pPr algn="l"/>
            <a:endParaRPr lang="en-US" sz="1400" dirty="0">
              <a:solidFill>
                <a:srgbClr val="4B5563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Verticals: IT and Cloud Computing · BFSI · more </a:t>
            </a:r>
          </a:p>
          <a:p>
            <a:pPr algn="l"/>
            <a:endParaRPr lang="en-US" sz="1400" dirty="0">
              <a:solidFill>
                <a:srgbClr val="4B5563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Deployed in 10 days or less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4B5563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Pod governance + sprint accountability</a:t>
            </a:r>
          </a:p>
          <a:p>
            <a:pPr algn="l"/>
            <a:endParaRPr lang="en-US" sz="1400" dirty="0">
              <a:solidFill>
                <a:srgbClr val="4B5563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Contract-to-hire flexibility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2116836" y="1652321"/>
            <a:ext cx="32918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>
                    <a:alpha val="90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1570025" y="2309774"/>
            <a:ext cx="142097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FFFFFF">
                    <a:alpha val="90000"/>
                  </a:srgbClr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Volume Engine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4419295" y="1524305"/>
            <a:ext cx="3333902" cy="4952390"/>
          </a:xfrm>
          <a:prstGeom prst="roundRect">
            <a:avLst>
              <a:gd name="adj" fmla="val 12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429354" y="1533449"/>
            <a:ext cx="3314700" cy="1047902"/>
          </a:xfrm>
          <a:prstGeom prst="rect">
            <a:avLst/>
          </a:prstGeom>
          <a:solidFill>
            <a:srgbClr val="D6283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5386730" y="2033626"/>
            <a:ext cx="1406347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AI Pods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4619549" y="4204760"/>
            <a:ext cx="293431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AI-first engineering pods, embedded tech lead</a:t>
            </a:r>
          </a:p>
          <a:p>
            <a:pPr algn="l"/>
            <a:endParaRPr lang="en-US" sz="1400" dirty="0">
              <a:solidFill>
                <a:srgbClr val="4B5563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Every engineer AI-certified before Day 1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4B5563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J2W AI Labs - continuous monthly upskilling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4B5563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AI-assisted code, test &amp; docs from Day 1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4B5563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Compounding productivity, not static seats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5905195" y="1652321"/>
            <a:ext cx="36301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>
                    <a:alpha val="90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2200" dirty="0"/>
          </a:p>
        </p:txBody>
      </p:sp>
      <p:sp>
        <p:nvSpPr>
          <p:cNvPr id="34" name="Text 28"/>
          <p:cNvSpPr txBox="1"/>
          <p:nvPr/>
        </p:nvSpPr>
        <p:spPr>
          <a:xfrm>
            <a:off x="5079492" y="2309774"/>
            <a:ext cx="201808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FFFFFF">
                    <a:alpha val="90000"/>
                  </a:srgbClr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Margin Expansion Engine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8229600" y="1524305"/>
            <a:ext cx="3333902" cy="4952390"/>
          </a:xfrm>
          <a:prstGeom prst="roundRect">
            <a:avLst>
              <a:gd name="adj" fmla="val 12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8238744" y="1533449"/>
            <a:ext cx="3314700" cy="1047902"/>
          </a:xfrm>
          <a:prstGeom prst="rect">
            <a:avLst/>
          </a:prstGeom>
          <a:solidFill>
            <a:srgbClr val="2A9D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 txBox="1"/>
          <p:nvPr/>
        </p:nvSpPr>
        <p:spPr>
          <a:xfrm>
            <a:off x="8685886" y="2033626"/>
            <a:ext cx="2425903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Managed Service Solutions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8429854" y="4158691"/>
            <a:ext cx="293431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Dedicated pods owning outcomes, not tasks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4B5563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Operate to outcome-bound SLOs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4B5563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60+ pre-built solution accelerators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4B5563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 SAP, ServiceNow &amp; industry stacks</a:t>
            </a:r>
          </a:p>
          <a:p>
            <a:pPr algn="l"/>
            <a:endParaRPr lang="en-US" sz="1400" dirty="0">
              <a:solidFill>
                <a:srgbClr val="4B5563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40% improvement threshold - our standard</a:t>
            </a:r>
            <a:endParaRPr lang="en-US" sz="1400" dirty="0"/>
          </a:p>
        </p:txBody>
      </p:sp>
      <p:sp>
        <p:nvSpPr>
          <p:cNvPr id="45" name="Text 39"/>
          <p:cNvSpPr txBox="1"/>
          <p:nvPr/>
        </p:nvSpPr>
        <p:spPr>
          <a:xfrm>
            <a:off x="9715500" y="1652321"/>
            <a:ext cx="36301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>
                    <a:alpha val="90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2200" dirty="0"/>
          </a:p>
        </p:txBody>
      </p:sp>
      <p:sp>
        <p:nvSpPr>
          <p:cNvPr id="46" name="Text 40"/>
          <p:cNvSpPr txBox="1"/>
          <p:nvPr/>
        </p:nvSpPr>
        <p:spPr>
          <a:xfrm>
            <a:off x="8956548" y="2309774"/>
            <a:ext cx="188183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FFFFFF">
                    <a:alpha val="90000"/>
                  </a:srgbClr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Strategic Value Engine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gen-dedup-323228122ff92d2332e711a84ca3b40c.png"/>
          <p:cNvPicPr>
            <a:picLocks noChangeAspect="1"/>
          </p:cNvPicPr>
          <p:nvPr/>
        </p:nvPicPr>
        <p:blipFill>
          <a:blip r:embed="rId3"/>
          <a:srcRect l="-198" r="-198"/>
          <a:stretch/>
        </p:blipFill>
        <p:spPr>
          <a:xfrm>
            <a:off x="0" y="0"/>
            <a:ext cx="8124444" cy="75895"/>
          </a:xfrm>
          <a:prstGeom prst="rect">
            <a:avLst/>
          </a:prstGeom>
        </p:spPr>
      </p:pic>
      <p:pic>
        <p:nvPicPr>
          <p:cNvPr id="5" name="Image 1" descr="gen-dedup-9663ecf744b06e35d4c2cebaab92a2ea.png"/>
          <p:cNvPicPr>
            <a:picLocks noChangeAspect="1"/>
          </p:cNvPicPr>
          <p:nvPr/>
        </p:nvPicPr>
        <p:blipFill>
          <a:blip r:embed="rId4"/>
          <a:srcRect l="-202" r="-202"/>
          <a:stretch/>
        </p:blipFill>
        <p:spPr>
          <a:xfrm>
            <a:off x="8124444" y="0"/>
            <a:ext cx="4067251" cy="758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525305" y="4762195"/>
            <a:ext cx="3810305" cy="3810305"/>
          </a:xfrm>
          <a:prstGeom prst="ellipse">
            <a:avLst/>
          </a:prstGeom>
          <a:noFill/>
          <a:ln w="508000">
            <a:solidFill>
              <a:srgbClr val="D62839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2" descr="gen-dedup-b81d2082573e6d8de64df87af639bbf0.png"/>
          <p:cNvPicPr>
            <a:picLocks noChangeAspect="1"/>
          </p:cNvPicPr>
          <p:nvPr/>
        </p:nvPicPr>
        <p:blipFill>
          <a:blip r:embed="rId5"/>
          <a:srcRect l="-360" r="-360"/>
          <a:stretch/>
        </p:blipFill>
        <p:spPr>
          <a:xfrm>
            <a:off x="609905" y="381305"/>
            <a:ext cx="57607" cy="381305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09905" y="1524305"/>
            <a:ext cx="2609698" cy="3877056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4"/>
          <p:cNvSpPr/>
          <p:nvPr/>
        </p:nvSpPr>
        <p:spPr>
          <a:xfrm>
            <a:off x="609905" y="1524305"/>
            <a:ext cx="2609698" cy="57607"/>
          </a:xfrm>
          <a:prstGeom prst="roundRect">
            <a:avLst>
              <a:gd name="adj" fmla="val 139034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5"/>
          <p:cNvSpPr/>
          <p:nvPr/>
        </p:nvSpPr>
        <p:spPr>
          <a:xfrm>
            <a:off x="3429000" y="1524305"/>
            <a:ext cx="2609698" cy="3877056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6"/>
          <p:cNvSpPr/>
          <p:nvPr/>
        </p:nvSpPr>
        <p:spPr>
          <a:xfrm>
            <a:off x="3429000" y="1524305"/>
            <a:ext cx="2609698" cy="57607"/>
          </a:xfrm>
          <a:prstGeom prst="roundRect">
            <a:avLst>
              <a:gd name="adj" fmla="val 139034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7"/>
          <p:cNvSpPr/>
          <p:nvPr/>
        </p:nvSpPr>
        <p:spPr>
          <a:xfrm>
            <a:off x="6248095" y="1524305"/>
            <a:ext cx="2609698" cy="3877056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6248095" y="1524305"/>
            <a:ext cx="2609698" cy="57607"/>
          </a:xfrm>
          <a:prstGeom prst="roundRect">
            <a:avLst>
              <a:gd name="adj" fmla="val 139034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9068105" y="1524305"/>
            <a:ext cx="2609698" cy="3877056"/>
          </a:xfrm>
          <a:prstGeom prst="roundRect">
            <a:avLst>
              <a:gd name="adj" fmla="val 3069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9068105" y="1524305"/>
            <a:ext cx="2609698" cy="57607"/>
          </a:xfrm>
          <a:prstGeom prst="roundRect">
            <a:avLst>
              <a:gd name="adj" fmla="val 139034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gen-dedup-c79c8869390c39dd2ec5734755e72ead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609905" y="5715000"/>
            <a:ext cx="11011205" cy="91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09905" y="5905195"/>
            <a:ext cx="11058754" cy="685800"/>
          </a:xfrm>
          <a:prstGeom prst="roundRect">
            <a:avLst>
              <a:gd name="adj" fmla="val 29630"/>
            </a:avLst>
          </a:prstGeom>
          <a:solidFill>
            <a:srgbClr val="2A9D8F">
              <a:alpha val="5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609905" y="5905195"/>
            <a:ext cx="38405" cy="685800"/>
          </a:xfrm>
          <a:prstGeom prst="roundRect">
            <a:avLst>
              <a:gd name="adj" fmla="val 529098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4" descr="gen-dedup-1bf8b7c2ed0132a588bc6493359d36f7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157460" y="3543605"/>
            <a:ext cx="323698" cy="323698"/>
          </a:xfrm>
          <a:prstGeom prst="rect">
            <a:avLst/>
          </a:prstGeom>
        </p:spPr>
      </p:pic>
      <p:pic>
        <p:nvPicPr>
          <p:cNvPr id="20" name="Image 5" descr="gen-dedup-4f3b576989a6b43ea9ecd09ca0f289b1.png"/>
          <p:cNvPicPr>
            <a:picLocks noChangeAspect="1"/>
          </p:cNvPicPr>
          <p:nvPr/>
        </p:nvPicPr>
        <p:blipFill>
          <a:blip r:embed="rId8"/>
          <a:srcRect t="-5544" b="-5544"/>
          <a:stretch/>
        </p:blipFill>
        <p:spPr>
          <a:xfrm>
            <a:off x="3266274" y="3638702"/>
            <a:ext cx="105156" cy="133502"/>
          </a:xfrm>
          <a:prstGeom prst="rect">
            <a:avLst/>
          </a:prstGeom>
        </p:spPr>
      </p:pic>
      <p:pic>
        <p:nvPicPr>
          <p:cNvPr id="21" name="Image 6" descr="gen-dedup-1bf8b7c2ed0132a588bc6493359d36f7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976555" y="3543605"/>
            <a:ext cx="323698" cy="323698"/>
          </a:xfrm>
          <a:prstGeom prst="rect">
            <a:avLst/>
          </a:prstGeom>
        </p:spPr>
      </p:pic>
      <p:pic>
        <p:nvPicPr>
          <p:cNvPr id="22" name="Image 7" descr="gen-dedup-4f3b576989a6b43ea9ecd09ca0f289b1.png"/>
          <p:cNvPicPr>
            <a:picLocks noChangeAspect="1"/>
          </p:cNvPicPr>
          <p:nvPr/>
        </p:nvPicPr>
        <p:blipFill>
          <a:blip r:embed="rId8"/>
          <a:srcRect t="-5544" b="-5544"/>
          <a:stretch/>
        </p:blipFill>
        <p:spPr>
          <a:xfrm>
            <a:off x="6086283" y="3638702"/>
            <a:ext cx="105156" cy="133502"/>
          </a:xfrm>
          <a:prstGeom prst="rect">
            <a:avLst/>
          </a:prstGeom>
        </p:spPr>
      </p:pic>
      <p:pic>
        <p:nvPicPr>
          <p:cNvPr id="23" name="Image 8" descr="gen-dedup-1bf8b7c2ed0132a588bc6493359d36f7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795651" y="3543605"/>
            <a:ext cx="323698" cy="323698"/>
          </a:xfrm>
          <a:prstGeom prst="rect">
            <a:avLst/>
          </a:prstGeom>
        </p:spPr>
      </p:pic>
      <p:pic>
        <p:nvPicPr>
          <p:cNvPr id="24" name="Image 9" descr="gen-dedup-4f3b576989a6b43ea9ecd09ca0f289b1.png"/>
          <p:cNvPicPr>
            <a:picLocks noChangeAspect="1"/>
          </p:cNvPicPr>
          <p:nvPr/>
        </p:nvPicPr>
        <p:blipFill>
          <a:blip r:embed="rId8"/>
          <a:srcRect t="-5544" b="-5544"/>
          <a:stretch/>
        </p:blipFill>
        <p:spPr>
          <a:xfrm>
            <a:off x="8905379" y="3638702"/>
            <a:ext cx="105156" cy="133502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819302" y="304495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J2W OPERATING MODEL</a:t>
            </a:r>
            <a:endParaRPr lang="en-US" sz="2700" dirty="0"/>
          </a:p>
        </p:txBody>
      </p:sp>
      <p:sp>
        <p:nvSpPr>
          <p:cNvPr id="26" name="Text 14"/>
          <p:cNvSpPr txBox="1"/>
          <p:nvPr/>
        </p:nvSpPr>
        <p:spPr>
          <a:xfrm>
            <a:off x="819302" y="792785"/>
            <a:ext cx="10478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 don't just deploy - we embed, align, and deliver measurable outcomes.</a:t>
            </a:r>
            <a:endParaRPr lang="en-US" sz="1500" dirty="0"/>
          </a:p>
        </p:txBody>
      </p:sp>
      <p:sp>
        <p:nvSpPr>
          <p:cNvPr id="27" name="Shape 15"/>
          <p:cNvSpPr/>
          <p:nvPr/>
        </p:nvSpPr>
        <p:spPr>
          <a:xfrm>
            <a:off x="1638605" y="1819656"/>
            <a:ext cx="533095" cy="533095"/>
          </a:xfrm>
          <a:prstGeom prst="ellipse">
            <a:avLst/>
          </a:prstGeom>
          <a:solidFill>
            <a:srgbClr val="2A9D8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10" descr="gen-dedup-ac1977dfe20a87d93b03eab8a85600aa.png"/>
          <p:cNvPicPr>
            <a:picLocks noChangeAspect="1"/>
          </p:cNvPicPr>
          <p:nvPr/>
        </p:nvPicPr>
        <p:blipFill>
          <a:blip r:embed="rId9"/>
          <a:srcRect t="-13131" b="-13131"/>
          <a:stretch/>
        </p:blipFill>
        <p:spPr>
          <a:xfrm>
            <a:off x="1814170" y="1971446"/>
            <a:ext cx="181051" cy="228600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705002" y="2505456"/>
            <a:ext cx="24003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Embed.</a:t>
            </a:r>
            <a:endParaRPr lang="en-US" sz="2000" dirty="0"/>
          </a:p>
        </p:txBody>
      </p:sp>
      <p:sp>
        <p:nvSpPr>
          <p:cNvPr id="30" name="Text 17"/>
          <p:cNvSpPr txBox="1"/>
          <p:nvPr/>
        </p:nvSpPr>
        <p:spPr>
          <a:xfrm>
            <a:off x="705002" y="2968854"/>
            <a:ext cx="24003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Days 1–14</a:t>
            </a:r>
            <a:endParaRPr lang="en-US" sz="1300" dirty="0"/>
          </a:p>
        </p:txBody>
      </p:sp>
      <p:sp>
        <p:nvSpPr>
          <p:cNvPr id="31" name="Text 18"/>
          <p:cNvSpPr txBox="1"/>
          <p:nvPr/>
        </p:nvSpPr>
        <p:spPr>
          <a:xfrm>
            <a:off x="705002" y="3018434"/>
            <a:ext cx="2309775" cy="1743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 map your stakeholder reality before touching a single workflow — identifying the 80% we move within and the 20% that unlocks transformation.</a:t>
            </a:r>
            <a:endParaRPr lang="en-US" sz="1200" dirty="0"/>
          </a:p>
        </p:txBody>
      </p:sp>
      <p:sp>
        <p:nvSpPr>
          <p:cNvPr id="32" name="Text 19"/>
          <p:cNvSpPr txBox="1"/>
          <p:nvPr/>
        </p:nvSpPr>
        <p:spPr>
          <a:xfrm>
            <a:off x="2409444" y="1687137"/>
            <a:ext cx="60167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2A9D8F">
                    <a:alpha val="8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3600" dirty="0"/>
          </a:p>
        </p:txBody>
      </p:sp>
      <p:sp>
        <p:nvSpPr>
          <p:cNvPr id="33" name="Shape 20"/>
          <p:cNvSpPr/>
          <p:nvPr/>
        </p:nvSpPr>
        <p:spPr>
          <a:xfrm>
            <a:off x="4457700" y="1819656"/>
            <a:ext cx="533095" cy="533095"/>
          </a:xfrm>
          <a:prstGeom prst="ellipse">
            <a:avLst/>
          </a:prstGeom>
          <a:solidFill>
            <a:srgbClr val="D6283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11" descr="gen-dedup-bb65f8a83efde23cd45884ce4e632f2a.png"/>
          <p:cNvPicPr>
            <a:picLocks noChangeAspect="1"/>
          </p:cNvPicPr>
          <p:nvPr/>
        </p:nvPicPr>
        <p:blipFill>
          <a:blip r:embed="rId10"/>
          <a:srcRect t="-13131" b="-13131"/>
          <a:stretch/>
        </p:blipFill>
        <p:spPr>
          <a:xfrm>
            <a:off x="4634179" y="1971446"/>
            <a:ext cx="181051" cy="228600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3524098" y="2505456"/>
            <a:ext cx="24003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Build.</a:t>
            </a:r>
            <a:endParaRPr lang="en-US" sz="2000" dirty="0"/>
          </a:p>
        </p:txBody>
      </p:sp>
      <p:sp>
        <p:nvSpPr>
          <p:cNvPr id="36" name="Text 22"/>
          <p:cNvSpPr txBox="1"/>
          <p:nvPr/>
        </p:nvSpPr>
        <p:spPr>
          <a:xfrm>
            <a:off x="3524098" y="2968854"/>
            <a:ext cx="24003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283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Weeks 2–6</a:t>
            </a:r>
            <a:endParaRPr lang="en-US" sz="1300" dirty="0"/>
          </a:p>
        </p:txBody>
      </p:sp>
      <p:sp>
        <p:nvSpPr>
          <p:cNvPr id="37" name="Text 23"/>
          <p:cNvSpPr txBox="1"/>
          <p:nvPr/>
        </p:nvSpPr>
        <p:spPr>
          <a:xfrm>
            <a:off x="3524098" y="3297935"/>
            <a:ext cx="2309775" cy="139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 deploy the closest-fit accelerator and customize where needed. Hundreds of prior engagements mean you inherit a head start, not a blank slate.</a:t>
            </a:r>
            <a:endParaRPr lang="en-US" sz="1200" dirty="0"/>
          </a:p>
        </p:txBody>
      </p:sp>
      <p:sp>
        <p:nvSpPr>
          <p:cNvPr id="38" name="Text 24"/>
          <p:cNvSpPr txBox="1"/>
          <p:nvPr/>
        </p:nvSpPr>
        <p:spPr>
          <a:xfrm>
            <a:off x="5231282" y="1687137"/>
            <a:ext cx="60716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D62839">
                    <a:alpha val="8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3600" dirty="0"/>
          </a:p>
        </p:txBody>
      </p:sp>
      <p:sp>
        <p:nvSpPr>
          <p:cNvPr id="39" name="Shape 25"/>
          <p:cNvSpPr/>
          <p:nvPr/>
        </p:nvSpPr>
        <p:spPr>
          <a:xfrm>
            <a:off x="7276795" y="1819656"/>
            <a:ext cx="533095" cy="533095"/>
          </a:xfrm>
          <a:prstGeom prst="ellipse">
            <a:avLst/>
          </a:prstGeom>
          <a:solidFill>
            <a:srgbClr val="2A9D8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12" descr="gen-dedup-ec7913c77fa2db42f3e898c22d604bf4.png"/>
          <p:cNvPicPr>
            <a:picLocks noChangeAspect="1"/>
          </p:cNvPicPr>
          <p:nvPr/>
        </p:nvPicPr>
        <p:blipFill>
          <a:blip r:embed="rId11"/>
          <a:srcRect t="-28914" b="-28914"/>
          <a:stretch/>
        </p:blipFill>
        <p:spPr>
          <a:xfrm>
            <a:off x="7398844" y="1895244"/>
            <a:ext cx="289681" cy="365760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6344107" y="2505456"/>
            <a:ext cx="24003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Operate.</a:t>
            </a:r>
            <a:endParaRPr lang="en-US" sz="2000" dirty="0"/>
          </a:p>
        </p:txBody>
      </p:sp>
      <p:sp>
        <p:nvSpPr>
          <p:cNvPr id="42" name="Text 27"/>
          <p:cNvSpPr txBox="1"/>
          <p:nvPr/>
        </p:nvSpPr>
        <p:spPr>
          <a:xfrm>
            <a:off x="6344107" y="2968854"/>
            <a:ext cx="24003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Month 2 onward</a:t>
            </a:r>
            <a:endParaRPr lang="en-US" sz="1300" dirty="0"/>
          </a:p>
        </p:txBody>
      </p:sp>
      <p:sp>
        <p:nvSpPr>
          <p:cNvPr id="43" name="Text 28"/>
          <p:cNvSpPr txBox="1"/>
          <p:nvPr/>
        </p:nvSpPr>
        <p:spPr>
          <a:xfrm>
            <a:off x="6344107" y="3195725"/>
            <a:ext cx="2309775" cy="139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Forward-deployed engineers run AI inside your enterprise and don't rotate off. The context, accountability, and institutional memory stay with you.</a:t>
            </a:r>
            <a:endParaRPr lang="en-US" sz="1200" dirty="0"/>
          </a:p>
        </p:txBody>
      </p:sp>
      <p:sp>
        <p:nvSpPr>
          <p:cNvPr id="44" name="Text 29"/>
          <p:cNvSpPr txBox="1"/>
          <p:nvPr/>
        </p:nvSpPr>
        <p:spPr>
          <a:xfrm>
            <a:off x="8051292" y="1687137"/>
            <a:ext cx="60716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2A9D8F">
                    <a:alpha val="8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3600" dirty="0"/>
          </a:p>
        </p:txBody>
      </p:sp>
      <p:sp>
        <p:nvSpPr>
          <p:cNvPr id="45" name="Shape 30"/>
          <p:cNvSpPr/>
          <p:nvPr/>
        </p:nvSpPr>
        <p:spPr>
          <a:xfrm>
            <a:off x="10096805" y="1819656"/>
            <a:ext cx="533095" cy="533095"/>
          </a:xfrm>
          <a:prstGeom prst="ellipse">
            <a:avLst/>
          </a:prstGeom>
          <a:solidFill>
            <a:srgbClr val="D6283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13" descr="gen-dedup-9fd551ffaf14ed4b68fb6cf808d818cf.png"/>
          <p:cNvPicPr>
            <a:picLocks noChangeAspect="1"/>
          </p:cNvPicPr>
          <p:nvPr/>
        </p:nvPicPr>
        <p:blipFill>
          <a:blip r:embed="rId12"/>
          <a:srcRect t="-13131" b="-13131"/>
          <a:stretch/>
        </p:blipFill>
        <p:spPr>
          <a:xfrm>
            <a:off x="10272370" y="1971446"/>
            <a:ext cx="181051" cy="228600"/>
          </a:xfrm>
          <a:prstGeom prst="rect">
            <a:avLst/>
          </a:prstGeom>
        </p:spPr>
      </p:pic>
      <p:sp>
        <p:nvSpPr>
          <p:cNvPr id="47" name="Text 31"/>
          <p:cNvSpPr txBox="1"/>
          <p:nvPr/>
        </p:nvSpPr>
        <p:spPr>
          <a:xfrm>
            <a:off x="9163202" y="2505456"/>
            <a:ext cx="24003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Compound.</a:t>
            </a:r>
            <a:endParaRPr lang="en-US" sz="2000" dirty="0"/>
          </a:p>
        </p:txBody>
      </p:sp>
      <p:sp>
        <p:nvSpPr>
          <p:cNvPr id="48" name="Text 32"/>
          <p:cNvSpPr txBox="1"/>
          <p:nvPr/>
        </p:nvSpPr>
        <p:spPr>
          <a:xfrm>
            <a:off x="9163202" y="2968854"/>
            <a:ext cx="24003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283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Year one &amp; beyond</a:t>
            </a:r>
            <a:endParaRPr lang="en-US" sz="1300" dirty="0"/>
          </a:p>
        </p:txBody>
      </p:sp>
      <p:sp>
        <p:nvSpPr>
          <p:cNvPr id="49" name="Text 33"/>
          <p:cNvSpPr txBox="1"/>
          <p:nvPr/>
        </p:nvSpPr>
        <p:spPr>
          <a:xfrm>
            <a:off x="9163202" y="3285235"/>
            <a:ext cx="2309775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Every problem solved sharpens the platform. The system gets smarter as you scale — outcomes that compound while you sleep.</a:t>
            </a:r>
            <a:endParaRPr lang="en-US" sz="1200" dirty="0"/>
          </a:p>
        </p:txBody>
      </p:sp>
      <p:sp>
        <p:nvSpPr>
          <p:cNvPr id="50" name="Text 34"/>
          <p:cNvSpPr txBox="1"/>
          <p:nvPr/>
        </p:nvSpPr>
        <p:spPr>
          <a:xfrm>
            <a:off x="10865815" y="1687137"/>
            <a:ext cx="60716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D62839">
                    <a:alpha val="8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</a:t>
            </a:r>
            <a:endParaRPr lang="en-US" sz="3600" dirty="0"/>
          </a:p>
        </p:txBody>
      </p:sp>
      <p:sp>
        <p:nvSpPr>
          <p:cNvPr id="51" name="Text 35"/>
          <p:cNvSpPr txBox="1"/>
          <p:nvPr/>
        </p:nvSpPr>
        <p:spPr>
          <a:xfrm>
            <a:off x="914400" y="6048756"/>
            <a:ext cx="104013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9D8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Your business is our GTM.</a:t>
            </a:r>
            <a:r>
              <a:rPr lang="en-US" sz="1300" b="1" dirty="0">
                <a:solidFill>
                  <a:srgbClr val="1F293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We build with you, so your teams actually adopt, use, and grow everything we create together - not just receive it.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77576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53805" y="-571500"/>
            <a:ext cx="3810305" cy="3810305"/>
          </a:xfrm>
          <a:prstGeom prst="ellipse">
            <a:avLst/>
          </a:prstGeom>
          <a:solidFill>
            <a:srgbClr val="2A9D8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gen-dedup-5e765734fa6996e94526269805e72083.png"/>
          <p:cNvPicPr>
            <a:picLocks noChangeAspect="1"/>
          </p:cNvPicPr>
          <p:nvPr/>
        </p:nvPicPr>
        <p:blipFill>
          <a:blip r:embed="rId3">
            <a:alphaModFix amt="5000"/>
          </a:blip>
          <a:srcRect/>
          <a:stretch/>
        </p:blipFill>
        <p:spPr>
          <a:xfrm>
            <a:off x="-381305" y="4095598"/>
            <a:ext cx="2381098" cy="2381098"/>
          </a:xfrm>
          <a:prstGeom prst="rect">
            <a:avLst/>
          </a:prstGeom>
        </p:spPr>
      </p:pic>
      <p:pic>
        <p:nvPicPr>
          <p:cNvPr id="6" name="Image 1" descr="gen-dedup-323228122ff92d2332e711a84ca3b40c.png"/>
          <p:cNvPicPr>
            <a:picLocks noChangeAspect="1"/>
          </p:cNvPicPr>
          <p:nvPr/>
        </p:nvPicPr>
        <p:blipFill>
          <a:blip r:embed="rId4"/>
          <a:srcRect l="-198" r="-198"/>
          <a:stretch/>
        </p:blipFill>
        <p:spPr>
          <a:xfrm>
            <a:off x="0" y="0"/>
            <a:ext cx="8124444" cy="75895"/>
          </a:xfrm>
          <a:prstGeom prst="rect">
            <a:avLst/>
          </a:prstGeom>
        </p:spPr>
      </p:pic>
      <p:pic>
        <p:nvPicPr>
          <p:cNvPr id="7" name="Image 2" descr="gen-dedup-9663ecf744b06e35d4c2cebaab92a2ea.png"/>
          <p:cNvPicPr>
            <a:picLocks noChangeAspect="1"/>
          </p:cNvPicPr>
          <p:nvPr/>
        </p:nvPicPr>
        <p:blipFill>
          <a:blip r:embed="rId5"/>
          <a:srcRect l="-202" r="-202"/>
          <a:stretch/>
        </p:blipFill>
        <p:spPr>
          <a:xfrm>
            <a:off x="8124444" y="0"/>
            <a:ext cx="4067251" cy="75895"/>
          </a:xfrm>
          <a:prstGeom prst="rect">
            <a:avLst/>
          </a:prstGeom>
        </p:spPr>
      </p:pic>
      <p:pic>
        <p:nvPicPr>
          <p:cNvPr id="8" name="Image 3" descr="gen-dedup-ef527bea2207a14ec6e8d4c8ae9cdc45.png"/>
          <p:cNvPicPr>
            <a:picLocks noChangeAspect="1"/>
          </p:cNvPicPr>
          <p:nvPr/>
        </p:nvPicPr>
        <p:blipFill>
          <a:blip r:embed="rId6"/>
          <a:srcRect l="-384" r="-384"/>
          <a:stretch/>
        </p:blipFill>
        <p:spPr>
          <a:xfrm>
            <a:off x="609905" y="743407"/>
            <a:ext cx="57607" cy="476402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609905" y="1714500"/>
            <a:ext cx="3448202" cy="1772107"/>
          </a:xfrm>
          <a:prstGeom prst="roundRect">
            <a:avLst>
              <a:gd name="adj" fmla="val 4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4"/>
          <p:cNvSpPr/>
          <p:nvPr/>
        </p:nvSpPr>
        <p:spPr>
          <a:xfrm>
            <a:off x="609905" y="1714500"/>
            <a:ext cx="3448202" cy="47549"/>
          </a:xfrm>
          <a:prstGeom prst="roundRect">
            <a:avLst>
              <a:gd name="adj" fmla="val 165425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5"/>
          <p:cNvSpPr/>
          <p:nvPr/>
        </p:nvSpPr>
        <p:spPr>
          <a:xfrm>
            <a:off x="4381805" y="1714500"/>
            <a:ext cx="3448202" cy="1772107"/>
          </a:xfrm>
          <a:prstGeom prst="roundRect">
            <a:avLst>
              <a:gd name="adj" fmla="val 4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6"/>
          <p:cNvSpPr/>
          <p:nvPr/>
        </p:nvSpPr>
        <p:spPr>
          <a:xfrm>
            <a:off x="4381805" y="1714500"/>
            <a:ext cx="3448202" cy="47549"/>
          </a:xfrm>
          <a:prstGeom prst="roundRect">
            <a:avLst>
              <a:gd name="adj" fmla="val 165425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/>
          <p:cNvSpPr/>
          <p:nvPr/>
        </p:nvSpPr>
        <p:spPr>
          <a:xfrm>
            <a:off x="8153705" y="1714500"/>
            <a:ext cx="3448202" cy="1772107"/>
          </a:xfrm>
          <a:prstGeom prst="roundRect">
            <a:avLst>
              <a:gd name="adj" fmla="val 4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8"/>
          <p:cNvSpPr/>
          <p:nvPr/>
        </p:nvSpPr>
        <p:spPr>
          <a:xfrm>
            <a:off x="8153705" y="1714500"/>
            <a:ext cx="3448202" cy="47549"/>
          </a:xfrm>
          <a:prstGeom prst="roundRect">
            <a:avLst>
              <a:gd name="adj" fmla="val 165425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>
            <a:off x="2495398" y="3619195"/>
            <a:ext cx="3448202" cy="1772107"/>
          </a:xfrm>
          <a:prstGeom prst="roundRect">
            <a:avLst>
              <a:gd name="adj" fmla="val 4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2495398" y="3619195"/>
            <a:ext cx="3448202" cy="47549"/>
          </a:xfrm>
          <a:prstGeom prst="roundRect">
            <a:avLst>
              <a:gd name="adj" fmla="val 165425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6267298" y="3619195"/>
            <a:ext cx="3448202" cy="1772107"/>
          </a:xfrm>
          <a:prstGeom prst="roundRect">
            <a:avLst>
              <a:gd name="adj" fmla="val 4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6267298" y="3619195"/>
            <a:ext cx="3448202" cy="47549"/>
          </a:xfrm>
          <a:prstGeom prst="roundRect">
            <a:avLst>
              <a:gd name="adj" fmla="val 165425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609905" y="5572354"/>
            <a:ext cx="10972800" cy="571500"/>
          </a:xfrm>
          <a:prstGeom prst="roundRect">
            <a:avLst>
              <a:gd name="adj" fmla="val 42667"/>
            </a:avLst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4" descr="gen-dedup-fcfcca745fa5c1c832fd66175382f504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609905" y="6286500"/>
            <a:ext cx="10972800" cy="91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19302" y="666598"/>
            <a:ext cx="57150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WE OWN</a:t>
            </a:r>
            <a:endParaRPr lang="en-US" sz="2700" dirty="0"/>
          </a:p>
        </p:txBody>
      </p:sp>
      <p:sp>
        <p:nvSpPr>
          <p:cNvPr id="22" name="Text 15"/>
          <p:cNvSpPr txBox="1"/>
          <p:nvPr/>
        </p:nvSpPr>
        <p:spPr>
          <a:xfrm>
            <a:off x="819302" y="1100938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68" dirty="0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proprietary stack - our moat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800100" y="1952244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0FD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5" descr="gen-dedup-354148c7dfe2ece024d9587c6b984377.png"/>
          <p:cNvPicPr>
            <a:picLocks noChangeAspect="1"/>
          </p:cNvPicPr>
          <p:nvPr/>
        </p:nvPicPr>
        <p:blipFill>
          <a:blip r:embed="rId8"/>
          <a:srcRect t="-16800" b="-16800"/>
          <a:stretch/>
        </p:blipFill>
        <p:spPr>
          <a:xfrm>
            <a:off x="895198" y="2029054"/>
            <a:ext cx="114300" cy="1527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238098" y="1952244"/>
            <a:ext cx="257220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J2W Premier Lounge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800100" y="2428646"/>
            <a:ext cx="3048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Curated network of vetted experts - instant access to scarce skills.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4572000" y="1952244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6" descr="gen-dedup-8653d22c8fc2d1668da8a16f36629000.png"/>
          <p:cNvPicPr>
            <a:picLocks noChangeAspect="1"/>
          </p:cNvPicPr>
          <p:nvPr/>
        </p:nvPicPr>
        <p:blipFill>
          <a:blip r:embed="rId9"/>
          <a:srcRect t="-25150" b="-25150"/>
          <a:stretch/>
        </p:blipFill>
        <p:spPr>
          <a:xfrm>
            <a:off x="4667098" y="2029054"/>
            <a:ext cx="114300" cy="152705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009998" y="1952244"/>
            <a:ext cx="257220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J2W OfferLetter</a:t>
            </a:r>
            <a:endParaRPr lang="en-US" sz="1500" dirty="0"/>
          </a:p>
        </p:txBody>
      </p:sp>
      <p:sp>
        <p:nvSpPr>
          <p:cNvPr id="30" name="Text 21"/>
          <p:cNvSpPr txBox="1"/>
          <p:nvPr/>
        </p:nvSpPr>
        <p:spPr>
          <a:xfrm>
            <a:off x="4572000" y="2428646"/>
            <a:ext cx="3048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AI-driven sourcing &amp; resume parsing - onboard one engineer an hour.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8343900" y="1952244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0FD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7" descr="gen-dedup-fe8b3fc2b54c6cb2835c9e1123b7a343.png"/>
          <p:cNvPicPr>
            <a:picLocks noChangeAspect="1"/>
          </p:cNvPicPr>
          <p:nvPr/>
        </p:nvPicPr>
        <p:blipFill>
          <a:blip r:embed="rId10"/>
          <a:srcRect t="-25150" b="-25150"/>
          <a:stretch/>
        </p:blipFill>
        <p:spPr>
          <a:xfrm>
            <a:off x="8438998" y="2029054"/>
            <a:ext cx="114300" cy="152705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8781898" y="1952244"/>
            <a:ext cx="270205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Data Abstraction Layer</a:t>
            </a:r>
            <a:endParaRPr lang="en-US" sz="1500" dirty="0"/>
          </a:p>
        </p:txBody>
      </p:sp>
      <p:sp>
        <p:nvSpPr>
          <p:cNvPr id="34" name="Text 24"/>
          <p:cNvSpPr txBox="1"/>
          <p:nvPr/>
        </p:nvSpPr>
        <p:spPr>
          <a:xfrm>
            <a:off x="8343900" y="2428646"/>
            <a:ext cx="3048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Unified API gateway + real-time ETL - a single pane of glass.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2686507" y="3857854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8" descr="gen-dedup-e7d7166718140d8159b1663599725aa5.png"/>
          <p:cNvPicPr>
            <a:picLocks noChangeAspect="1"/>
          </p:cNvPicPr>
          <p:nvPr/>
        </p:nvPicPr>
        <p:blipFill>
          <a:blip r:embed="rId11"/>
          <a:srcRect t="-8450" b="-8450"/>
          <a:stretch/>
        </p:blipFill>
        <p:spPr>
          <a:xfrm>
            <a:off x="2781605" y="3933749"/>
            <a:ext cx="114300" cy="152705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3124505" y="3857854"/>
            <a:ext cx="257220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J2W AI Labs</a:t>
            </a:r>
            <a:endParaRPr lang="en-US" sz="1500" dirty="0"/>
          </a:p>
        </p:txBody>
      </p:sp>
      <p:sp>
        <p:nvSpPr>
          <p:cNvPr id="38" name="Text 27"/>
          <p:cNvSpPr txBox="1"/>
          <p:nvPr/>
        </p:nvSpPr>
        <p:spPr>
          <a:xfrm>
            <a:off x="2686507" y="4334256"/>
            <a:ext cx="3048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Internal AI engine - every engineer AI-certified before Day 1.</a:t>
            </a:r>
            <a:endParaRPr lang="en-US" sz="1200" dirty="0"/>
          </a:p>
        </p:txBody>
      </p:sp>
      <p:sp>
        <p:nvSpPr>
          <p:cNvPr id="39" name="Shape 28"/>
          <p:cNvSpPr/>
          <p:nvPr/>
        </p:nvSpPr>
        <p:spPr>
          <a:xfrm>
            <a:off x="6458407" y="3857854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0FD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9" descr="gen-dedup-a3d9bb31ae14fa9101e3246a3a64819e.png"/>
          <p:cNvPicPr>
            <a:picLocks noChangeAspect="1"/>
          </p:cNvPicPr>
          <p:nvPr/>
        </p:nvPicPr>
        <p:blipFill>
          <a:blip r:embed="rId12"/>
          <a:srcRect t="-8450" b="-8450"/>
          <a:stretch/>
        </p:blipFill>
        <p:spPr>
          <a:xfrm>
            <a:off x="6553505" y="3933749"/>
            <a:ext cx="114300" cy="152705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6896405" y="3857854"/>
            <a:ext cx="257220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60+ Accelerators</a:t>
            </a:r>
            <a:endParaRPr lang="en-US" sz="1500" dirty="0"/>
          </a:p>
        </p:txBody>
      </p:sp>
      <p:sp>
        <p:nvSpPr>
          <p:cNvPr id="42" name="Text 30"/>
          <p:cNvSpPr txBox="1"/>
          <p:nvPr/>
        </p:nvSpPr>
        <p:spPr>
          <a:xfrm>
            <a:off x="6458407" y="4334256"/>
            <a:ext cx="3048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Pre-built solutions on SAP, ServiceNow &amp; industry stacks.</a:t>
            </a:r>
            <a:endParaRPr lang="en-US" sz="1200" dirty="0"/>
          </a:p>
        </p:txBody>
      </p:sp>
      <p:sp>
        <p:nvSpPr>
          <p:cNvPr id="43" name="Text 31"/>
          <p:cNvSpPr txBox="1"/>
          <p:nvPr/>
        </p:nvSpPr>
        <p:spPr>
          <a:xfrm>
            <a:off x="800100" y="5715000"/>
            <a:ext cx="105924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75" dirty="0">
                <a:solidFill>
                  <a:srgbClr val="9CA3A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ARC FRAMEWORK</a:t>
            </a:r>
            <a:r>
              <a:rPr lang="en-US" sz="1500" b="1" kern="0" spc="75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Adaptive</a:t>
            </a:r>
            <a:r>
              <a:rPr lang="en-US" sz="1200" b="1" kern="0" spc="75" dirty="0">
                <a:solidFill>
                  <a:srgbClr val="CBD5E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(Grow)</a:t>
            </a:r>
            <a:r>
              <a:rPr lang="en-US" sz="1500" b="1" kern="0" spc="75" dirty="0">
                <a:solidFill>
                  <a:srgbClr val="6B728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→</a:t>
            </a:r>
            <a:r>
              <a:rPr lang="en-US" sz="1500" b="1" kern="0" spc="75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Resilient</a:t>
            </a:r>
            <a:r>
              <a:rPr lang="en-US" sz="1200" b="1" kern="0" spc="75" dirty="0">
                <a:solidFill>
                  <a:srgbClr val="CBD5E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(Mature)</a:t>
            </a:r>
            <a:r>
              <a:rPr lang="en-US" sz="1500" b="1" kern="0" spc="75" dirty="0">
                <a:solidFill>
                  <a:srgbClr val="6B728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→</a:t>
            </a:r>
            <a:r>
              <a:rPr lang="en-US" sz="1500" b="1" kern="0" spc="75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Cognitive</a:t>
            </a:r>
            <a:r>
              <a:rPr lang="en-US" sz="1200" b="1" kern="0" spc="75" dirty="0">
                <a:solidFill>
                  <a:srgbClr val="CBD5E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(Transform)</a:t>
            </a:r>
            <a:endParaRPr lang="en-US" sz="1500" dirty="0"/>
          </a:p>
        </p:txBody>
      </p:sp>
      <p:sp>
        <p:nvSpPr>
          <p:cNvPr id="44" name="Text 32"/>
          <p:cNvSpPr txBox="1"/>
          <p:nvPr/>
        </p:nvSpPr>
        <p:spPr>
          <a:xfrm>
            <a:off x="609905" y="6429146"/>
            <a:ext cx="109728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15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Transparent, scalable, and owned by us - </a:t>
            </a:r>
            <a:r>
              <a:rPr lang="en-US" sz="1200" b="1" dirty="0">
                <a:solidFill>
                  <a:srgbClr val="2A9D8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your competitive moat, not a black box.</a:t>
            </a:r>
            <a:endParaRPr lang="en-US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DD6EC7-8F41-58C5-8FE6-D76C9E660C2A}"/>
              </a:ext>
            </a:extLst>
          </p:cNvPr>
          <p:cNvSpPr txBox="1"/>
          <p:nvPr/>
        </p:nvSpPr>
        <p:spPr>
          <a:xfrm>
            <a:off x="3048000" y="3429000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239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219456" y="1182624"/>
            <a:ext cx="2779776" cy="60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219456" y="1243584"/>
            <a:ext cx="2779776" cy="1889760"/>
          </a:xfrm>
          <a:prstGeom prst="rect">
            <a:avLst/>
          </a:prstGeom>
          <a:solidFill>
            <a:srgbClr val="F9FFFE"/>
          </a:solidFill>
          <a:ln w="6350">
            <a:solidFill>
              <a:srgbClr val="D0EC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44" y="1341120"/>
            <a:ext cx="414528" cy="4145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1376" y="1840992"/>
            <a:ext cx="2535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1A1A2E"/>
                </a:solidFill>
                <a:latin typeface="Oswald" panose="00000500000000000000" pitchFamily="2" charset="0"/>
                <a:ea typeface="Calibri" pitchFamily="34" charset="-122"/>
                <a:cs typeface="Calibri" pitchFamily="34" charset="-120"/>
              </a:rPr>
              <a:t>Sourcing Engine</a:t>
            </a:r>
            <a:endParaRPr lang="en-US" sz="1467">
              <a:latin typeface="Oswald" panose="000005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41376" y="2182368"/>
            <a:ext cx="253593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133">
                <a:solidFill>
                  <a:srgbClr val="555555"/>
                </a:solidFill>
                <a:latin typeface="Raleway" pitchFamily="2" charset="0"/>
                <a:ea typeface="Calibri" pitchFamily="34" charset="-122"/>
                <a:cs typeface="Calibri" pitchFamily="34" charset="-120"/>
              </a:rPr>
              <a:t>AI-driven talent matching across 8,500+ active consultants and 1,250+ skills - niche to mainstream.</a:t>
            </a:r>
            <a:endParaRPr lang="en-US" sz="1133">
              <a:latin typeface="Raleway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108960" y="1182624"/>
            <a:ext cx="2779776" cy="60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Shape 9"/>
          <p:cNvSpPr/>
          <p:nvPr/>
        </p:nvSpPr>
        <p:spPr>
          <a:xfrm>
            <a:off x="3108960" y="1243584"/>
            <a:ext cx="2779776" cy="1889760"/>
          </a:xfrm>
          <a:prstGeom prst="rect">
            <a:avLst/>
          </a:prstGeom>
          <a:solidFill>
            <a:srgbClr val="F9FFFE"/>
          </a:solidFill>
          <a:ln w="6350">
            <a:solidFill>
              <a:srgbClr val="D0EC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9648" y="1341120"/>
            <a:ext cx="414528" cy="4145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30880" y="1840992"/>
            <a:ext cx="2535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1A1A2E"/>
                </a:solidFill>
                <a:latin typeface="Oswald" panose="00000500000000000000" pitchFamily="2" charset="0"/>
                <a:ea typeface="Calibri" pitchFamily="34" charset="-122"/>
                <a:cs typeface="Calibri" pitchFamily="34" charset="-120"/>
              </a:rPr>
              <a:t>Human + AI Teams</a:t>
            </a:r>
            <a:endParaRPr lang="en-US" sz="1467">
              <a:latin typeface="Oswald" panose="00000500000000000000" pitchFamily="2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230880" y="2182368"/>
            <a:ext cx="253593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133">
                <a:solidFill>
                  <a:srgbClr val="555555"/>
                </a:solidFill>
                <a:latin typeface="Raleway" pitchFamily="2" charset="0"/>
                <a:ea typeface="Calibri" pitchFamily="34" charset="-122"/>
                <a:cs typeface="Calibri" pitchFamily="34" charset="-120"/>
              </a:rPr>
              <a:t>Blended delivery with AI productivity tools embedded from Day 1. Capability stacks over role pyramids.</a:t>
            </a:r>
            <a:endParaRPr lang="en-US" sz="1133">
              <a:latin typeface="Raleway" pitchFamily="2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5998464" y="1182624"/>
            <a:ext cx="2779776" cy="60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Shape 13"/>
          <p:cNvSpPr/>
          <p:nvPr/>
        </p:nvSpPr>
        <p:spPr>
          <a:xfrm>
            <a:off x="5998464" y="1243584"/>
            <a:ext cx="2779776" cy="1889760"/>
          </a:xfrm>
          <a:prstGeom prst="rect">
            <a:avLst/>
          </a:prstGeom>
          <a:solidFill>
            <a:srgbClr val="F9FFFE"/>
          </a:solidFill>
          <a:ln w="6350">
            <a:solidFill>
              <a:srgbClr val="D0EC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9152" y="1341120"/>
            <a:ext cx="414528" cy="4145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0384" y="1840992"/>
            <a:ext cx="2535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1A1A2E"/>
                </a:solidFill>
                <a:latin typeface="Oswald" panose="00000500000000000000" pitchFamily="2" charset="0"/>
                <a:ea typeface="Calibri" pitchFamily="34" charset="-122"/>
                <a:cs typeface="Calibri" pitchFamily="34" charset="-120"/>
              </a:rPr>
              <a:t>Fully Managed</a:t>
            </a:r>
            <a:endParaRPr lang="en-US" sz="1467">
              <a:latin typeface="Oswald" panose="00000500000000000000" pitchFamily="2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6120384" y="2182368"/>
            <a:ext cx="253593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133">
                <a:solidFill>
                  <a:srgbClr val="555555"/>
                </a:solidFill>
                <a:latin typeface="Raleway" pitchFamily="2" charset="0"/>
                <a:ea typeface="Calibri" pitchFamily="34" charset="-122"/>
                <a:cs typeface="Calibri" pitchFamily="34" charset="-120"/>
              </a:rPr>
              <a:t>J2W owns payroll, compliance, onboarding and HR. Zero admin burden on the client side.</a:t>
            </a:r>
            <a:endParaRPr lang="en-US" sz="1133">
              <a:latin typeface="Raleway" pitchFamily="2" charset="0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8887968" y="1182624"/>
            <a:ext cx="2779776" cy="60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Shape 17"/>
          <p:cNvSpPr/>
          <p:nvPr/>
        </p:nvSpPr>
        <p:spPr>
          <a:xfrm>
            <a:off x="8887968" y="1243584"/>
            <a:ext cx="2779776" cy="1889760"/>
          </a:xfrm>
          <a:prstGeom prst="rect">
            <a:avLst/>
          </a:prstGeom>
          <a:solidFill>
            <a:srgbClr val="F9FFFE"/>
          </a:solidFill>
          <a:ln w="6350">
            <a:solidFill>
              <a:srgbClr val="D0EC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8656" y="1341120"/>
            <a:ext cx="414528" cy="41452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009888" y="1840992"/>
            <a:ext cx="2535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rgbClr val="1A1A2E"/>
                </a:solidFill>
                <a:latin typeface="Oswald" panose="00000500000000000000" pitchFamily="2" charset="0"/>
                <a:ea typeface="Calibri" pitchFamily="34" charset="-122"/>
                <a:cs typeface="Calibri" pitchFamily="34" charset="-120"/>
              </a:rPr>
              <a:t>AI-First L&amp;D</a:t>
            </a:r>
            <a:endParaRPr lang="en-US" sz="1467">
              <a:latin typeface="Oswald" panose="00000500000000000000" pitchFamily="2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9009888" y="2182368"/>
            <a:ext cx="253593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133">
                <a:solidFill>
                  <a:srgbClr val="555555"/>
                </a:solidFill>
                <a:latin typeface="Raleway" pitchFamily="2" charset="0"/>
                <a:ea typeface="Calibri" pitchFamily="34" charset="-122"/>
                <a:cs typeface="Calibri" pitchFamily="34" charset="-120"/>
              </a:rPr>
              <a:t>Continuous upskilling via J2W </a:t>
            </a:r>
            <a:r>
              <a:rPr lang="en-US" sz="1133" err="1">
                <a:solidFill>
                  <a:srgbClr val="555555"/>
                </a:solidFill>
                <a:latin typeface="Raleway" pitchFamily="2" charset="0"/>
                <a:ea typeface="Calibri" pitchFamily="34" charset="-122"/>
                <a:cs typeface="Calibri" pitchFamily="34" charset="-120"/>
              </a:rPr>
              <a:t>CoE</a:t>
            </a:r>
            <a:r>
              <a:rPr lang="en-US" sz="1133">
                <a:solidFill>
                  <a:srgbClr val="555555"/>
                </a:solidFill>
                <a:latin typeface="Raleway" pitchFamily="2" charset="0"/>
                <a:ea typeface="Calibri" pitchFamily="34" charset="-122"/>
                <a:cs typeface="Calibri" pitchFamily="34" charset="-120"/>
              </a:rPr>
              <a:t> - contextual, hands-on AI training powered by Research Wing.</a:t>
            </a:r>
            <a:endParaRPr lang="en-US" sz="1133">
              <a:latin typeface="Raleway" pitchFamily="2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341376" y="3291840"/>
            <a:ext cx="25603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>
                <a:solidFill>
                  <a:srgbClr val="0D9488"/>
                </a:solidFill>
                <a:latin typeface="Raleway" pitchFamily="2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267">
              <a:latin typeface="Raleway" pitchFamily="2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2901696" y="3291840"/>
            <a:ext cx="40233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>
                <a:solidFill>
                  <a:srgbClr val="0D9488"/>
                </a:solidFill>
                <a:latin typeface="Raleway" pitchFamily="2" charset="0"/>
                <a:ea typeface="Calibri" pitchFamily="34" charset="-122"/>
                <a:cs typeface="Calibri" pitchFamily="34" charset="-120"/>
              </a:rPr>
              <a:t>Traditional Staffing</a:t>
            </a:r>
            <a:endParaRPr lang="en-US" sz="1267">
              <a:latin typeface="Raleway" pitchFamily="2" charset="0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6925056" y="3291840"/>
            <a:ext cx="494995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>
                <a:solidFill>
                  <a:srgbClr val="0D9488"/>
                </a:solidFill>
                <a:latin typeface="Raleway" pitchFamily="2" charset="0"/>
                <a:ea typeface="Calibri" pitchFamily="34" charset="-122"/>
                <a:cs typeface="Calibri" pitchFamily="34" charset="-120"/>
              </a:rPr>
              <a:t>J2W Workforce</a:t>
            </a:r>
            <a:endParaRPr lang="en-US" sz="1267">
              <a:latin typeface="Raleway" pitchFamily="2" charset="0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219456" y="3681984"/>
            <a:ext cx="11533632" cy="0"/>
          </a:xfrm>
          <a:prstGeom prst="line">
            <a:avLst/>
          </a:prstGeom>
          <a:noFill/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Shape 24"/>
          <p:cNvSpPr/>
          <p:nvPr/>
        </p:nvSpPr>
        <p:spPr>
          <a:xfrm>
            <a:off x="219456" y="3681984"/>
            <a:ext cx="11533632" cy="432816"/>
          </a:xfrm>
          <a:prstGeom prst="rect">
            <a:avLst/>
          </a:prstGeom>
          <a:solidFill>
            <a:srgbClr val="FFFFFF"/>
          </a:solidFill>
          <a:ln w="6350">
            <a:solidFill>
              <a:srgbClr val="E2F0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5"/>
          <p:cNvSpPr/>
          <p:nvPr/>
        </p:nvSpPr>
        <p:spPr>
          <a:xfrm>
            <a:off x="341376" y="3730752"/>
            <a:ext cx="23774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>
                <a:solidFill>
                  <a:srgbClr val="1A1A2E"/>
                </a:solidFill>
                <a:latin typeface="Raleway" pitchFamily="2" charset="0"/>
                <a:ea typeface="Calibri" pitchFamily="34" charset="-122"/>
                <a:cs typeface="Calibri" pitchFamily="34" charset="-120"/>
              </a:rPr>
              <a:t>Speed to Deploy</a:t>
            </a:r>
            <a:endParaRPr lang="en-US" sz="1267">
              <a:latin typeface="Raleway" pitchFamily="2" charset="0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2901696" y="3730752"/>
            <a:ext cx="38404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888888"/>
                </a:solidFill>
                <a:latin typeface="Raleway" pitchFamily="2" charset="0"/>
                <a:ea typeface="Calibri" pitchFamily="34" charset="-122"/>
                <a:cs typeface="Calibri" pitchFamily="34" charset="-120"/>
              </a:rPr>
              <a:t>Weeks to months</a:t>
            </a:r>
            <a:endParaRPr lang="en-US" sz="1267">
              <a:latin typeface="Raleway" pitchFamily="2" charset="0"/>
            </a:endParaRPr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0672" y="3791712"/>
            <a:ext cx="219456" cy="21945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193280" y="3730752"/>
            <a:ext cx="443788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>
                <a:solidFill>
                  <a:srgbClr val="0D9488"/>
                </a:solidFill>
                <a:latin typeface="Raleway" pitchFamily="2" charset="0"/>
                <a:ea typeface="Calibri" pitchFamily="34" charset="-122"/>
                <a:cs typeface="Calibri" pitchFamily="34" charset="-120"/>
              </a:rPr>
              <a:t>1 engineer onboarded per hour</a:t>
            </a:r>
            <a:endParaRPr lang="en-US" sz="1267">
              <a:latin typeface="Raleway" pitchFamily="2" charset="0"/>
            </a:endParaRPr>
          </a:p>
        </p:txBody>
      </p:sp>
      <p:sp>
        <p:nvSpPr>
          <p:cNvPr id="35" name="Shape 28"/>
          <p:cNvSpPr/>
          <p:nvPr/>
        </p:nvSpPr>
        <p:spPr>
          <a:xfrm>
            <a:off x="219456" y="4114800"/>
            <a:ext cx="11533632" cy="432816"/>
          </a:xfrm>
          <a:prstGeom prst="rect">
            <a:avLst/>
          </a:prstGeom>
          <a:solidFill>
            <a:srgbClr val="F0FAFA"/>
          </a:solidFill>
          <a:ln w="6350">
            <a:solidFill>
              <a:srgbClr val="E2F0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Text 29"/>
          <p:cNvSpPr/>
          <p:nvPr/>
        </p:nvSpPr>
        <p:spPr>
          <a:xfrm>
            <a:off x="341376" y="4163568"/>
            <a:ext cx="23774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>
                <a:solidFill>
                  <a:srgbClr val="1A1A2E"/>
                </a:solidFill>
                <a:latin typeface="Raleway" pitchFamily="2" charset="0"/>
                <a:ea typeface="Calibri" pitchFamily="34" charset="-122"/>
                <a:cs typeface="Calibri" pitchFamily="34" charset="-120"/>
              </a:rPr>
              <a:t>Team Composition</a:t>
            </a:r>
            <a:endParaRPr lang="en-US" sz="1267">
              <a:latin typeface="Raleway" pitchFamily="2" charset="0"/>
            </a:endParaRPr>
          </a:p>
        </p:txBody>
      </p:sp>
      <p:sp>
        <p:nvSpPr>
          <p:cNvPr id="37" name="Text 30"/>
          <p:cNvSpPr/>
          <p:nvPr/>
        </p:nvSpPr>
        <p:spPr>
          <a:xfrm>
            <a:off x="2901696" y="4163568"/>
            <a:ext cx="38404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888888"/>
                </a:solidFill>
                <a:latin typeface="Raleway" pitchFamily="2" charset="0"/>
                <a:ea typeface="Calibri" pitchFamily="34" charset="-122"/>
                <a:cs typeface="Calibri" pitchFamily="34" charset="-120"/>
              </a:rPr>
              <a:t>Single-role profile deployments</a:t>
            </a:r>
            <a:endParaRPr lang="en-US" sz="1267">
              <a:latin typeface="Raleway" pitchFamily="2" charset="0"/>
            </a:endParaRPr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0672" y="4224528"/>
            <a:ext cx="219456" cy="21945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193280" y="4163568"/>
            <a:ext cx="443788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>
                <a:solidFill>
                  <a:srgbClr val="0D9488"/>
                </a:solidFill>
                <a:latin typeface="Raleway" pitchFamily="2" charset="0"/>
                <a:ea typeface="Calibri" pitchFamily="34" charset="-122"/>
                <a:cs typeface="Calibri" pitchFamily="34" charset="-120"/>
              </a:rPr>
              <a:t>Human + AI blended capability stacks</a:t>
            </a:r>
            <a:endParaRPr lang="en-US" sz="1267">
              <a:latin typeface="Raleway" pitchFamily="2" charset="0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219456" y="4547616"/>
            <a:ext cx="11533632" cy="432816"/>
          </a:xfrm>
          <a:prstGeom prst="rect">
            <a:avLst/>
          </a:prstGeom>
          <a:solidFill>
            <a:srgbClr val="FFFFFF"/>
          </a:solidFill>
          <a:ln w="6350">
            <a:solidFill>
              <a:srgbClr val="E2F0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1" name="Text 33"/>
          <p:cNvSpPr/>
          <p:nvPr/>
        </p:nvSpPr>
        <p:spPr>
          <a:xfrm>
            <a:off x="341376" y="4596384"/>
            <a:ext cx="23774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>
                <a:solidFill>
                  <a:srgbClr val="1A1A2E"/>
                </a:solidFill>
                <a:latin typeface="Raleway" pitchFamily="2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67">
              <a:latin typeface="Raleway" pitchFamily="2" charset="0"/>
            </a:endParaRPr>
          </a:p>
        </p:txBody>
      </p:sp>
      <p:sp>
        <p:nvSpPr>
          <p:cNvPr id="42" name="Text 34"/>
          <p:cNvSpPr/>
          <p:nvPr/>
        </p:nvSpPr>
        <p:spPr>
          <a:xfrm>
            <a:off x="2901696" y="4596384"/>
            <a:ext cx="38404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888888"/>
                </a:solidFill>
                <a:latin typeface="Raleway" pitchFamily="2" charset="0"/>
                <a:ea typeface="Calibri" pitchFamily="34" charset="-122"/>
                <a:cs typeface="Calibri" pitchFamily="34" charset="-120"/>
              </a:rPr>
              <a:t>Client's burden</a:t>
            </a:r>
            <a:endParaRPr lang="en-US" sz="1267">
              <a:latin typeface="Raleway" pitchFamily="2" charset="0"/>
            </a:endParaRPr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0672" y="4657344"/>
            <a:ext cx="219456" cy="219456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7193280" y="4596384"/>
            <a:ext cx="443788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>
                <a:solidFill>
                  <a:srgbClr val="0D9488"/>
                </a:solidFill>
                <a:latin typeface="Raleway" pitchFamily="2" charset="0"/>
                <a:ea typeface="Calibri" pitchFamily="34" charset="-122"/>
                <a:cs typeface="Calibri" pitchFamily="34" charset="-120"/>
              </a:rPr>
              <a:t>J2W-owned - HRBP implant at every site</a:t>
            </a:r>
            <a:endParaRPr lang="en-US" sz="1267">
              <a:latin typeface="Raleway" pitchFamily="2" charset="0"/>
            </a:endParaRPr>
          </a:p>
        </p:txBody>
      </p:sp>
      <p:sp>
        <p:nvSpPr>
          <p:cNvPr id="45" name="Shape 36"/>
          <p:cNvSpPr/>
          <p:nvPr/>
        </p:nvSpPr>
        <p:spPr>
          <a:xfrm>
            <a:off x="219456" y="4980432"/>
            <a:ext cx="11533632" cy="432816"/>
          </a:xfrm>
          <a:prstGeom prst="rect">
            <a:avLst/>
          </a:prstGeom>
          <a:solidFill>
            <a:srgbClr val="F0FAFA"/>
          </a:solidFill>
          <a:ln w="6350">
            <a:solidFill>
              <a:srgbClr val="E2F0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6" name="Text 37"/>
          <p:cNvSpPr/>
          <p:nvPr/>
        </p:nvSpPr>
        <p:spPr>
          <a:xfrm>
            <a:off x="341376" y="5029200"/>
            <a:ext cx="23774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>
                <a:solidFill>
                  <a:srgbClr val="1A1A2E"/>
                </a:solidFill>
                <a:latin typeface="Raleway" pitchFamily="2" charset="0"/>
                <a:ea typeface="Calibri" pitchFamily="34" charset="-122"/>
                <a:cs typeface="Calibri" pitchFamily="34" charset="-120"/>
              </a:rPr>
              <a:t>Performance Issues</a:t>
            </a:r>
            <a:endParaRPr lang="en-US" sz="1267">
              <a:latin typeface="Raleway" pitchFamily="2" charset="0"/>
            </a:endParaRPr>
          </a:p>
        </p:txBody>
      </p:sp>
      <p:sp>
        <p:nvSpPr>
          <p:cNvPr id="47" name="Text 38"/>
          <p:cNvSpPr/>
          <p:nvPr/>
        </p:nvSpPr>
        <p:spPr>
          <a:xfrm>
            <a:off x="2901696" y="5029200"/>
            <a:ext cx="38404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888888"/>
                </a:solidFill>
                <a:latin typeface="Raleway" pitchFamily="2" charset="0"/>
                <a:ea typeface="Calibri" pitchFamily="34" charset="-122"/>
                <a:cs typeface="Calibri" pitchFamily="34" charset="-120"/>
              </a:rPr>
              <a:t>Escalation after the fact</a:t>
            </a:r>
            <a:endParaRPr lang="en-US" sz="1267">
              <a:latin typeface="Raleway" pitchFamily="2" charset="0"/>
            </a:endParaRPr>
          </a:p>
        </p:txBody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0672" y="5090160"/>
            <a:ext cx="219456" cy="219456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7193280" y="5029200"/>
            <a:ext cx="443788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>
                <a:solidFill>
                  <a:srgbClr val="0D9488"/>
                </a:solidFill>
                <a:latin typeface="Raleway" pitchFamily="2" charset="0"/>
                <a:ea typeface="Calibri" pitchFamily="34" charset="-122"/>
                <a:cs typeface="Calibri" pitchFamily="34" charset="-120"/>
              </a:rPr>
              <a:t>Proactive monitoring &amp; intervention</a:t>
            </a:r>
            <a:endParaRPr lang="en-US" sz="1267">
              <a:latin typeface="Raleway" pitchFamily="2" charset="0"/>
            </a:endParaRPr>
          </a:p>
        </p:txBody>
      </p:sp>
      <p:sp>
        <p:nvSpPr>
          <p:cNvPr id="50" name="Shape 40"/>
          <p:cNvSpPr/>
          <p:nvPr/>
        </p:nvSpPr>
        <p:spPr>
          <a:xfrm>
            <a:off x="219456" y="5413248"/>
            <a:ext cx="11533632" cy="432816"/>
          </a:xfrm>
          <a:prstGeom prst="rect">
            <a:avLst/>
          </a:prstGeom>
          <a:solidFill>
            <a:srgbClr val="FFFFFF"/>
          </a:solidFill>
          <a:ln w="6350">
            <a:solidFill>
              <a:srgbClr val="E2F0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1" name="Text 41"/>
          <p:cNvSpPr/>
          <p:nvPr/>
        </p:nvSpPr>
        <p:spPr>
          <a:xfrm>
            <a:off x="341376" y="5462016"/>
            <a:ext cx="23774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>
                <a:solidFill>
                  <a:srgbClr val="1A1A2E"/>
                </a:solidFill>
                <a:latin typeface="Raleway" pitchFamily="2" charset="0"/>
                <a:ea typeface="Calibri" pitchFamily="34" charset="-122"/>
                <a:cs typeface="Calibri" pitchFamily="34" charset="-120"/>
              </a:rPr>
              <a:t>Knowledge Retention</a:t>
            </a:r>
            <a:endParaRPr lang="en-US" sz="1267">
              <a:latin typeface="Raleway" pitchFamily="2" charset="0"/>
            </a:endParaRPr>
          </a:p>
        </p:txBody>
      </p:sp>
      <p:sp>
        <p:nvSpPr>
          <p:cNvPr id="52" name="Text 42"/>
          <p:cNvSpPr/>
          <p:nvPr/>
        </p:nvSpPr>
        <p:spPr>
          <a:xfrm>
            <a:off x="2901696" y="5462016"/>
            <a:ext cx="38404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888888"/>
                </a:solidFill>
                <a:latin typeface="Raleway" pitchFamily="2" charset="0"/>
                <a:ea typeface="Calibri" pitchFamily="34" charset="-122"/>
                <a:cs typeface="Calibri" pitchFamily="34" charset="-120"/>
              </a:rPr>
              <a:t>Lost with attrition</a:t>
            </a:r>
            <a:endParaRPr lang="en-US" sz="1267">
              <a:latin typeface="Raleway" pitchFamily="2" charset="0"/>
            </a:endParaRPr>
          </a:p>
        </p:txBody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0672" y="5522976"/>
            <a:ext cx="219456" cy="219456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7193280" y="5462016"/>
            <a:ext cx="443788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>
                <a:solidFill>
                  <a:srgbClr val="0D9488"/>
                </a:solidFill>
                <a:latin typeface="Raleway" pitchFamily="2" charset="0"/>
                <a:ea typeface="Calibri" pitchFamily="34" charset="-122"/>
                <a:cs typeface="Calibri" pitchFamily="34" charset="-120"/>
              </a:rPr>
              <a:t>Captured in J2W Knowledge Repository</a:t>
            </a:r>
            <a:endParaRPr lang="en-US" sz="1267">
              <a:latin typeface="Raleway" pitchFamily="2" charset="0"/>
            </a:endParaRPr>
          </a:p>
        </p:txBody>
      </p:sp>
      <p:sp>
        <p:nvSpPr>
          <p:cNvPr id="55" name="Shape 44"/>
          <p:cNvSpPr/>
          <p:nvPr/>
        </p:nvSpPr>
        <p:spPr>
          <a:xfrm>
            <a:off x="219456" y="5846064"/>
            <a:ext cx="11533632" cy="432816"/>
          </a:xfrm>
          <a:prstGeom prst="rect">
            <a:avLst/>
          </a:prstGeom>
          <a:solidFill>
            <a:srgbClr val="F0FAFA"/>
          </a:solidFill>
          <a:ln w="6350">
            <a:solidFill>
              <a:srgbClr val="E2F0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6" name="Text 45"/>
          <p:cNvSpPr/>
          <p:nvPr/>
        </p:nvSpPr>
        <p:spPr>
          <a:xfrm>
            <a:off x="341376" y="5894832"/>
            <a:ext cx="23774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</a:t>
            </a:r>
            <a:endParaRPr lang="en-US" sz="1267"/>
          </a:p>
        </p:txBody>
      </p:sp>
      <p:sp>
        <p:nvSpPr>
          <p:cNvPr id="57" name="Text 46"/>
          <p:cNvSpPr/>
          <p:nvPr/>
        </p:nvSpPr>
        <p:spPr>
          <a:xfrm>
            <a:off x="2901696" y="5894832"/>
            <a:ext cx="38404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</a:t>
            </a:r>
            <a:endParaRPr lang="en-US" sz="1267"/>
          </a:p>
        </p:txBody>
      </p:sp>
      <p:pic>
        <p:nvPicPr>
          <p:cNvPr id="58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0672" y="5955792"/>
            <a:ext cx="219456" cy="219456"/>
          </a:xfrm>
          <a:prstGeom prst="rect">
            <a:avLst/>
          </a:prstGeom>
        </p:spPr>
      </p:pic>
      <p:sp>
        <p:nvSpPr>
          <p:cNvPr id="59" name="Text 47"/>
          <p:cNvSpPr/>
          <p:nvPr/>
        </p:nvSpPr>
        <p:spPr>
          <a:xfrm>
            <a:off x="7193280" y="5894832"/>
            <a:ext cx="443788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>
                <a:solidFill>
                  <a:srgbClr val="C0392B"/>
                </a:solidFill>
                <a:latin typeface="Raleway" pitchFamily="2" charset="0"/>
                <a:ea typeface="Calibri" pitchFamily="34" charset="-122"/>
                <a:cs typeface="Calibri" pitchFamily="34" charset="-120"/>
              </a:rPr>
              <a:t>Embedded from Day 1</a:t>
            </a:r>
            <a:endParaRPr lang="en-US" sz="1267">
              <a:latin typeface="Raleway" pitchFamily="2" charset="0"/>
            </a:endParaRPr>
          </a:p>
        </p:txBody>
      </p:sp>
      <p:sp>
        <p:nvSpPr>
          <p:cNvPr id="60" name="Shape 48"/>
          <p:cNvSpPr/>
          <p:nvPr/>
        </p:nvSpPr>
        <p:spPr>
          <a:xfrm>
            <a:off x="0" y="6352032"/>
            <a:ext cx="12192000" cy="5059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1" name="Text 49"/>
          <p:cNvSpPr/>
          <p:nvPr/>
        </p:nvSpPr>
        <p:spPr>
          <a:xfrm>
            <a:off x="60960" y="6364224"/>
            <a:ext cx="23164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5,500+</a:t>
            </a:r>
            <a:endParaRPr lang="en-US" sz="1600"/>
          </a:p>
        </p:txBody>
      </p:sp>
      <p:sp>
        <p:nvSpPr>
          <p:cNvPr id="62" name="Text 50"/>
          <p:cNvSpPr/>
          <p:nvPr/>
        </p:nvSpPr>
        <p:spPr>
          <a:xfrm>
            <a:off x="60960" y="6620256"/>
            <a:ext cx="231648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>
                <a:solidFill>
                  <a:srgbClr val="D0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Consultants</a:t>
            </a:r>
            <a:endParaRPr lang="en-US" sz="1000"/>
          </a:p>
        </p:txBody>
      </p:sp>
      <p:sp>
        <p:nvSpPr>
          <p:cNvPr id="63" name="Shape 51"/>
          <p:cNvSpPr/>
          <p:nvPr/>
        </p:nvSpPr>
        <p:spPr>
          <a:xfrm>
            <a:off x="2438400" y="6400800"/>
            <a:ext cx="0" cy="402336"/>
          </a:xfrm>
          <a:prstGeom prst="line">
            <a:avLst/>
          </a:prstGeom>
          <a:noFill/>
          <a:ln w="635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4" name="Text 52"/>
          <p:cNvSpPr/>
          <p:nvPr/>
        </p:nvSpPr>
        <p:spPr>
          <a:xfrm>
            <a:off x="2499360" y="6364224"/>
            <a:ext cx="23164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1,250+</a:t>
            </a:r>
            <a:endParaRPr lang="en-US" sz="1600"/>
          </a:p>
        </p:txBody>
      </p:sp>
      <p:sp>
        <p:nvSpPr>
          <p:cNvPr id="65" name="Text 53"/>
          <p:cNvSpPr/>
          <p:nvPr/>
        </p:nvSpPr>
        <p:spPr>
          <a:xfrm>
            <a:off x="2499360" y="6620256"/>
            <a:ext cx="231648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>
                <a:solidFill>
                  <a:srgbClr val="D0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Covered</a:t>
            </a:r>
            <a:endParaRPr lang="en-US" sz="1000"/>
          </a:p>
        </p:txBody>
      </p:sp>
      <p:sp>
        <p:nvSpPr>
          <p:cNvPr id="66" name="Shape 54"/>
          <p:cNvSpPr/>
          <p:nvPr/>
        </p:nvSpPr>
        <p:spPr>
          <a:xfrm>
            <a:off x="4876800" y="6400800"/>
            <a:ext cx="0" cy="402336"/>
          </a:xfrm>
          <a:prstGeom prst="line">
            <a:avLst/>
          </a:prstGeom>
          <a:noFill/>
          <a:ln w="635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7" name="Text 55"/>
          <p:cNvSpPr/>
          <p:nvPr/>
        </p:nvSpPr>
        <p:spPr>
          <a:xfrm>
            <a:off x="4937760" y="6364224"/>
            <a:ext cx="23164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320+</a:t>
            </a:r>
            <a:endParaRPr lang="en-US" sz="1600"/>
          </a:p>
        </p:txBody>
      </p:sp>
      <p:sp>
        <p:nvSpPr>
          <p:cNvPr id="68" name="Text 56"/>
          <p:cNvSpPr/>
          <p:nvPr/>
        </p:nvSpPr>
        <p:spPr>
          <a:xfrm>
            <a:off x="4937760" y="6620256"/>
            <a:ext cx="231648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>
                <a:solidFill>
                  <a:srgbClr val="D0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Clients</a:t>
            </a:r>
            <a:endParaRPr lang="en-US" sz="1000"/>
          </a:p>
        </p:txBody>
      </p:sp>
      <p:sp>
        <p:nvSpPr>
          <p:cNvPr id="69" name="Shape 57"/>
          <p:cNvSpPr/>
          <p:nvPr/>
        </p:nvSpPr>
        <p:spPr>
          <a:xfrm>
            <a:off x="7315200" y="6400800"/>
            <a:ext cx="0" cy="402336"/>
          </a:xfrm>
          <a:prstGeom prst="line">
            <a:avLst/>
          </a:prstGeom>
          <a:noFill/>
          <a:ln w="635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0" name="Text 58"/>
          <p:cNvSpPr/>
          <p:nvPr/>
        </p:nvSpPr>
        <p:spPr>
          <a:xfrm>
            <a:off x="7376160" y="6364224"/>
            <a:ext cx="23164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600"/>
          </a:p>
        </p:txBody>
      </p:sp>
      <p:sp>
        <p:nvSpPr>
          <p:cNvPr id="71" name="Text 59"/>
          <p:cNvSpPr/>
          <p:nvPr/>
        </p:nvSpPr>
        <p:spPr>
          <a:xfrm>
            <a:off x="7376160" y="6620256"/>
            <a:ext cx="231648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>
                <a:solidFill>
                  <a:srgbClr val="D0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(6-Mo Pilot)</a:t>
            </a:r>
            <a:endParaRPr lang="en-US" sz="1000"/>
          </a:p>
        </p:txBody>
      </p:sp>
      <p:sp>
        <p:nvSpPr>
          <p:cNvPr id="72" name="Shape 60"/>
          <p:cNvSpPr/>
          <p:nvPr/>
        </p:nvSpPr>
        <p:spPr>
          <a:xfrm>
            <a:off x="9753600" y="6400800"/>
            <a:ext cx="0" cy="402336"/>
          </a:xfrm>
          <a:prstGeom prst="line">
            <a:avLst/>
          </a:prstGeom>
          <a:noFill/>
          <a:ln w="635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3" name="Text 61"/>
          <p:cNvSpPr/>
          <p:nvPr/>
        </p:nvSpPr>
        <p:spPr>
          <a:xfrm>
            <a:off x="9814560" y="6364224"/>
            <a:ext cx="23164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1/hr</a:t>
            </a:r>
            <a:endParaRPr lang="en-US" sz="1600"/>
          </a:p>
        </p:txBody>
      </p:sp>
      <p:sp>
        <p:nvSpPr>
          <p:cNvPr id="74" name="Text 62"/>
          <p:cNvSpPr/>
          <p:nvPr/>
        </p:nvSpPr>
        <p:spPr>
          <a:xfrm>
            <a:off x="9814560" y="6620256"/>
            <a:ext cx="231648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>
                <a:solidFill>
                  <a:srgbClr val="D0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Onboarded</a:t>
            </a:r>
            <a:endParaRPr lang="en-US" sz="1000"/>
          </a:p>
        </p:txBody>
      </p:sp>
      <p:pic>
        <p:nvPicPr>
          <p:cNvPr id="75" name="Image 0" descr="preencoded.png">
            <a:extLst>
              <a:ext uri="{FF2B5EF4-FFF2-40B4-BE49-F238E27FC236}">
                <a16:creationId xmlns:a16="http://schemas.microsoft.com/office/drawing/2014/main" id="{FAFFF64B-DC76-00D4-DDA1-C1845924782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207" r="-207"/>
          <a:stretch/>
        </p:blipFill>
        <p:spPr>
          <a:xfrm>
            <a:off x="0" y="0"/>
            <a:ext cx="4058107" cy="75895"/>
          </a:xfrm>
          <a:prstGeom prst="rect">
            <a:avLst/>
          </a:prstGeom>
        </p:spPr>
      </p:pic>
      <p:pic>
        <p:nvPicPr>
          <p:cNvPr id="76" name="Image 1" descr="preencoded.png">
            <a:extLst>
              <a:ext uri="{FF2B5EF4-FFF2-40B4-BE49-F238E27FC236}">
                <a16:creationId xmlns:a16="http://schemas.microsoft.com/office/drawing/2014/main" id="{F02F145E-4174-DB5B-12FC-B946B2BEFC2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202" r="-202"/>
          <a:stretch/>
        </p:blipFill>
        <p:spPr>
          <a:xfrm>
            <a:off x="4058107" y="0"/>
            <a:ext cx="8134502" cy="75895"/>
          </a:xfrm>
          <a:prstGeom prst="rect">
            <a:avLst/>
          </a:prstGeom>
        </p:spPr>
      </p:pic>
      <p:sp>
        <p:nvSpPr>
          <p:cNvPr id="77" name="Shape 2">
            <a:extLst>
              <a:ext uri="{FF2B5EF4-FFF2-40B4-BE49-F238E27FC236}">
                <a16:creationId xmlns:a16="http://schemas.microsoft.com/office/drawing/2014/main" id="{C1C503D5-DE04-F879-CDE8-91C26E3173B8}"/>
              </a:ext>
            </a:extLst>
          </p:cNvPr>
          <p:cNvSpPr/>
          <p:nvPr/>
        </p:nvSpPr>
        <p:spPr>
          <a:xfrm>
            <a:off x="-1380897" y="-1256081"/>
            <a:ext cx="3810305" cy="3810305"/>
          </a:xfrm>
          <a:prstGeom prst="ellipse">
            <a:avLst/>
          </a:prstGeom>
          <a:solidFill>
            <a:srgbClr val="2A9D8F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8" name="Image 4" descr="preencoded.png">
            <a:extLst>
              <a:ext uri="{FF2B5EF4-FFF2-40B4-BE49-F238E27FC236}">
                <a16:creationId xmlns:a16="http://schemas.microsoft.com/office/drawing/2014/main" id="{3FB3B60C-A4FF-CE53-9131-90677B3706C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400" r="-400"/>
          <a:stretch/>
        </p:blipFill>
        <p:spPr>
          <a:xfrm>
            <a:off x="609905" y="457200"/>
            <a:ext cx="57607" cy="457200"/>
          </a:xfrm>
          <a:prstGeom prst="rect">
            <a:avLst/>
          </a:prstGeom>
        </p:spPr>
      </p:pic>
      <p:sp>
        <p:nvSpPr>
          <p:cNvPr id="79" name="Text 11">
            <a:extLst>
              <a:ext uri="{FF2B5EF4-FFF2-40B4-BE49-F238E27FC236}">
                <a16:creationId xmlns:a16="http://schemas.microsoft.com/office/drawing/2014/main" id="{65F3FFE0-7460-C049-BC83-7BC32616A4C0}"/>
              </a:ext>
            </a:extLst>
          </p:cNvPr>
          <p:cNvSpPr txBox="1"/>
          <p:nvPr/>
        </p:nvSpPr>
        <p:spPr>
          <a:xfrm>
            <a:off x="819302" y="228600"/>
            <a:ext cx="97155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>
                <a:solidFill>
                  <a:srgbClr val="1A1A2E"/>
                </a:solidFill>
                <a:latin typeface="Oswald" panose="00000500000000000000" pitchFamily="2" charset="0"/>
                <a:ea typeface="Calibri" pitchFamily="34" charset="-122"/>
                <a:cs typeface="Calibri" pitchFamily="34" charset="-120"/>
              </a:rPr>
              <a:t>Workforce &amp; Talent Solutions</a:t>
            </a:r>
            <a:endParaRPr lang="en-US" sz="3200">
              <a:latin typeface="Oswald" panose="00000500000000000000" pitchFamily="2" charset="0"/>
            </a:endParaRPr>
          </a:p>
        </p:txBody>
      </p:sp>
      <p:sp>
        <p:nvSpPr>
          <p:cNvPr id="80" name="Text 12">
            <a:extLst>
              <a:ext uri="{FF2B5EF4-FFF2-40B4-BE49-F238E27FC236}">
                <a16:creationId xmlns:a16="http://schemas.microsoft.com/office/drawing/2014/main" id="{830CE162-47E2-FB62-8B99-806E90C454F1}"/>
              </a:ext>
            </a:extLst>
          </p:cNvPr>
          <p:cNvSpPr txBox="1"/>
          <p:nvPr/>
        </p:nvSpPr>
        <p:spPr>
          <a:xfrm>
            <a:off x="819302" y="758952"/>
            <a:ext cx="96396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68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 MANAGED, AI-DRIVEN WORKFORCE UNIT - NOT JUST STAFFING WITH A WRAPPER.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858707" y="-952805"/>
            <a:ext cx="3810305" cy="3810305"/>
          </a:xfrm>
          <a:prstGeom prst="ellipse">
            <a:avLst/>
          </a:prstGeom>
          <a:solidFill>
            <a:srgbClr val="2A9D8F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gen-dedup-debd4e3596836e8640379be3057665ef.png"/>
          <p:cNvPicPr>
            <a:picLocks noChangeAspect="1"/>
          </p:cNvPicPr>
          <p:nvPr/>
        </p:nvPicPr>
        <p:blipFill>
          <a:blip r:embed="rId3">
            <a:alphaModFix amt="6000"/>
          </a:blip>
          <a:srcRect/>
          <a:stretch/>
        </p:blipFill>
        <p:spPr>
          <a:xfrm>
            <a:off x="-761695" y="4762195"/>
            <a:ext cx="2857500" cy="2857500"/>
          </a:xfrm>
          <a:prstGeom prst="rect">
            <a:avLst/>
          </a:prstGeom>
        </p:spPr>
      </p:pic>
      <p:pic>
        <p:nvPicPr>
          <p:cNvPr id="6" name="Image 1" descr="gen-dedup-323228122ff92d2332e711a84ca3b40c.png"/>
          <p:cNvPicPr>
            <a:picLocks noChangeAspect="1"/>
          </p:cNvPicPr>
          <p:nvPr/>
        </p:nvPicPr>
        <p:blipFill>
          <a:blip r:embed="rId4"/>
          <a:srcRect l="-198" r="-198"/>
          <a:stretch/>
        </p:blipFill>
        <p:spPr>
          <a:xfrm>
            <a:off x="0" y="0"/>
            <a:ext cx="8124444" cy="75895"/>
          </a:xfrm>
          <a:prstGeom prst="rect">
            <a:avLst/>
          </a:prstGeom>
        </p:spPr>
      </p:pic>
      <p:pic>
        <p:nvPicPr>
          <p:cNvPr id="7" name="Image 2" descr="gen-dedup-9663ecf744b06e35d4c2cebaab92a2ea.png"/>
          <p:cNvPicPr>
            <a:picLocks noChangeAspect="1"/>
          </p:cNvPicPr>
          <p:nvPr/>
        </p:nvPicPr>
        <p:blipFill>
          <a:blip r:embed="rId5"/>
          <a:srcRect l="-202" r="-202"/>
          <a:stretch/>
        </p:blipFill>
        <p:spPr>
          <a:xfrm>
            <a:off x="8124444" y="0"/>
            <a:ext cx="4067251" cy="75895"/>
          </a:xfrm>
          <a:prstGeom prst="rect">
            <a:avLst/>
          </a:prstGeom>
        </p:spPr>
      </p:pic>
      <p:pic>
        <p:nvPicPr>
          <p:cNvPr id="8" name="Image 3" descr="gen-dedup-b359e3fa59182a7dfb1cf9bffd3421a2.png"/>
          <p:cNvPicPr>
            <a:picLocks noChangeAspect="1"/>
          </p:cNvPicPr>
          <p:nvPr/>
        </p:nvPicPr>
        <p:blipFill>
          <a:blip r:embed="rId6"/>
          <a:srcRect l="-375" r="-375"/>
          <a:stretch/>
        </p:blipFill>
        <p:spPr>
          <a:xfrm>
            <a:off x="609905" y="457200"/>
            <a:ext cx="57607" cy="609905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609905" y="1714500"/>
            <a:ext cx="3258007" cy="2143354"/>
          </a:xfrm>
          <a:prstGeom prst="roundRect">
            <a:avLst>
              <a:gd name="adj" fmla="val 35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4"/>
          <p:cNvSpPr/>
          <p:nvPr/>
        </p:nvSpPr>
        <p:spPr>
          <a:xfrm>
            <a:off x="609905" y="1714500"/>
            <a:ext cx="3258007" cy="38405"/>
          </a:xfrm>
          <a:prstGeom prst="roundRect">
            <a:avLst>
              <a:gd name="adj" fmla="val 197618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5"/>
          <p:cNvSpPr/>
          <p:nvPr/>
        </p:nvSpPr>
        <p:spPr>
          <a:xfrm>
            <a:off x="4476902" y="1714500"/>
            <a:ext cx="3258007" cy="2143354"/>
          </a:xfrm>
          <a:prstGeom prst="roundRect">
            <a:avLst>
              <a:gd name="adj" fmla="val 35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6"/>
          <p:cNvSpPr/>
          <p:nvPr/>
        </p:nvSpPr>
        <p:spPr>
          <a:xfrm>
            <a:off x="4476902" y="1714500"/>
            <a:ext cx="3258007" cy="38405"/>
          </a:xfrm>
          <a:prstGeom prst="roundRect">
            <a:avLst>
              <a:gd name="adj" fmla="val 197618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/>
          <p:cNvSpPr/>
          <p:nvPr/>
        </p:nvSpPr>
        <p:spPr>
          <a:xfrm>
            <a:off x="8343900" y="1714500"/>
            <a:ext cx="3258007" cy="2143354"/>
          </a:xfrm>
          <a:prstGeom prst="roundRect">
            <a:avLst>
              <a:gd name="adj" fmla="val 35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8"/>
          <p:cNvSpPr/>
          <p:nvPr/>
        </p:nvSpPr>
        <p:spPr>
          <a:xfrm>
            <a:off x="8343900" y="1714500"/>
            <a:ext cx="3258007" cy="38405"/>
          </a:xfrm>
          <a:prstGeom prst="roundRect">
            <a:avLst>
              <a:gd name="adj" fmla="val 197618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>
            <a:off x="609905" y="4190695"/>
            <a:ext cx="3258007" cy="2143354"/>
          </a:xfrm>
          <a:prstGeom prst="roundRect">
            <a:avLst>
              <a:gd name="adj" fmla="val 35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609905" y="4190695"/>
            <a:ext cx="3258007" cy="38405"/>
          </a:xfrm>
          <a:prstGeom prst="roundRect">
            <a:avLst>
              <a:gd name="adj" fmla="val 197618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4476902" y="4190695"/>
            <a:ext cx="3258007" cy="2143354"/>
          </a:xfrm>
          <a:prstGeom prst="roundRect">
            <a:avLst>
              <a:gd name="adj" fmla="val 35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4476902" y="4190695"/>
            <a:ext cx="3258007" cy="38405"/>
          </a:xfrm>
          <a:prstGeom prst="roundRect">
            <a:avLst>
              <a:gd name="adj" fmla="val 197618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8343900" y="4190695"/>
            <a:ext cx="3258007" cy="2143354"/>
          </a:xfrm>
          <a:prstGeom prst="roundRect">
            <a:avLst>
              <a:gd name="adj" fmla="val 35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8343900" y="4190695"/>
            <a:ext cx="3258007" cy="38405"/>
          </a:xfrm>
          <a:prstGeom prst="roundRect">
            <a:avLst>
              <a:gd name="adj" fmla="val 197618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 txBox="1"/>
          <p:nvPr/>
        </p:nvSpPr>
        <p:spPr>
          <a:xfrm>
            <a:off x="760780" y="577088"/>
            <a:ext cx="8438998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WORKFORCE SOLUTIONS - HOW WE DELIVER</a:t>
            </a:r>
          </a:p>
          <a:p>
            <a:pPr marL="0" indent="0" algn="l">
              <a:buNone/>
            </a:pPr>
            <a:endParaRPr lang="en-US" sz="2500"/>
          </a:p>
        </p:txBody>
      </p:sp>
      <p:sp>
        <p:nvSpPr>
          <p:cNvPr id="24" name="Text 18"/>
          <p:cNvSpPr txBox="1"/>
          <p:nvPr/>
        </p:nvSpPr>
        <p:spPr>
          <a:xfrm>
            <a:off x="819302" y="822960"/>
            <a:ext cx="80970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0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From sourcing to sprint governance - a structured operating model, not a staffing drop.</a:t>
            </a:r>
          </a:p>
        </p:txBody>
      </p:sp>
      <p:sp>
        <p:nvSpPr>
          <p:cNvPr id="25" name="Text 19"/>
          <p:cNvSpPr txBox="1"/>
          <p:nvPr/>
        </p:nvSpPr>
        <p:spPr>
          <a:xfrm>
            <a:off x="819302" y="1079906"/>
            <a:ext cx="80970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000"/>
          </a:p>
        </p:txBody>
      </p:sp>
      <p:sp>
        <p:nvSpPr>
          <p:cNvPr id="26" name="Text 20"/>
          <p:cNvSpPr txBox="1"/>
          <p:nvPr/>
        </p:nvSpPr>
        <p:spPr>
          <a:xfrm>
            <a:off x="838505" y="1981505"/>
            <a:ext cx="34015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2400"/>
          </a:p>
        </p:txBody>
      </p:sp>
      <p:sp>
        <p:nvSpPr>
          <p:cNvPr id="27" name="Text 21"/>
          <p:cNvSpPr txBox="1"/>
          <p:nvPr/>
        </p:nvSpPr>
        <p:spPr>
          <a:xfrm>
            <a:off x="1237183" y="1995424"/>
            <a:ext cx="141732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Scope &amp; Source</a:t>
            </a:r>
            <a:endParaRPr lang="en-US" sz="1600"/>
          </a:p>
        </p:txBody>
      </p:sp>
      <p:sp>
        <p:nvSpPr>
          <p:cNvPr id="28" name="Text 22"/>
          <p:cNvSpPr txBox="1"/>
          <p:nvPr/>
        </p:nvSpPr>
        <p:spPr>
          <a:xfrm>
            <a:off x="838505" y="2428646"/>
            <a:ext cx="27816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Role definition + domain-specific talent pool activation. TalentAI matching + voice-agent pre-screen. Shortlist in 72 hrs.</a:t>
            </a:r>
            <a:endParaRPr lang="en-US" sz="1000"/>
          </a:p>
        </p:txBody>
      </p:sp>
      <p:pic>
        <p:nvPicPr>
          <p:cNvPr id="29" name="Image 4" descr="gen-dedup-68afaceb726e7c14c8688760b973252d.png"/>
          <p:cNvPicPr>
            <a:picLocks noChangeAspect="1"/>
          </p:cNvPicPr>
          <p:nvPr/>
        </p:nvPicPr>
        <p:blipFill>
          <a:blip r:embed="rId7"/>
          <a:srcRect l="-13360" r="-13360"/>
          <a:stretch/>
        </p:blipFill>
        <p:spPr>
          <a:xfrm>
            <a:off x="4062679" y="2648102"/>
            <a:ext cx="181051" cy="2286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705502" y="1981505"/>
            <a:ext cx="391363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2400"/>
          </a:p>
        </p:txBody>
      </p:sp>
      <p:sp>
        <p:nvSpPr>
          <p:cNvPr id="31" name="Text 24"/>
          <p:cNvSpPr txBox="1"/>
          <p:nvPr/>
        </p:nvSpPr>
        <p:spPr>
          <a:xfrm>
            <a:off x="5144414" y="1995424"/>
            <a:ext cx="83941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AI-Assess</a:t>
            </a:r>
            <a:endParaRPr lang="en-US" sz="1600"/>
          </a:p>
        </p:txBody>
      </p:sp>
      <p:sp>
        <p:nvSpPr>
          <p:cNvPr id="32" name="Text 25"/>
          <p:cNvSpPr txBox="1"/>
          <p:nvPr/>
        </p:nvSpPr>
        <p:spPr>
          <a:xfrm>
            <a:off x="4705502" y="2428646"/>
            <a:ext cx="27816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Live coding + domain scenario assessment via TalentSphere. Technical bar validated by J2W before client interview.</a:t>
            </a:r>
            <a:endParaRPr lang="en-US" sz="1000"/>
          </a:p>
        </p:txBody>
      </p:sp>
      <p:pic>
        <p:nvPicPr>
          <p:cNvPr id="33" name="Image 5" descr="gen-dedup-68afaceb726e7c14c8688760b973252d.png"/>
          <p:cNvPicPr>
            <a:picLocks noChangeAspect="1"/>
          </p:cNvPicPr>
          <p:nvPr/>
        </p:nvPicPr>
        <p:blipFill>
          <a:blip r:embed="rId7"/>
          <a:srcRect l="-13360" r="-13360"/>
          <a:stretch/>
        </p:blipFill>
        <p:spPr>
          <a:xfrm>
            <a:off x="7929677" y="2648102"/>
            <a:ext cx="181051" cy="2286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572500" y="1981505"/>
            <a:ext cx="391363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2400"/>
          </a:p>
        </p:txBody>
      </p:sp>
      <p:sp>
        <p:nvSpPr>
          <p:cNvPr id="35" name="Text 27"/>
          <p:cNvSpPr txBox="1"/>
          <p:nvPr/>
        </p:nvSpPr>
        <p:spPr>
          <a:xfrm>
            <a:off x="9011412" y="1995424"/>
            <a:ext cx="155356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Deploy in 10 Days</a:t>
            </a:r>
            <a:endParaRPr lang="en-US" sz="1600"/>
          </a:p>
        </p:txBody>
      </p:sp>
      <p:sp>
        <p:nvSpPr>
          <p:cNvPr id="36" name="Text 28"/>
          <p:cNvSpPr txBox="1"/>
          <p:nvPr/>
        </p:nvSpPr>
        <p:spPr>
          <a:xfrm>
            <a:off x="8572500" y="2428646"/>
            <a:ext cx="27816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Offer → onboarding → Day-1 productivity. J2W payroll, compliance, IT provisioning - fully managed.</a:t>
            </a:r>
            <a:endParaRPr lang="en-US" sz="1000"/>
          </a:p>
        </p:txBody>
      </p:sp>
      <p:pic>
        <p:nvPicPr>
          <p:cNvPr id="37" name="Image 6" descr="gen-dedup-ff9a716cc6b1850cd75acb20aeb0dc17.png"/>
          <p:cNvPicPr>
            <a:picLocks noChangeAspect="1"/>
          </p:cNvPicPr>
          <p:nvPr/>
        </p:nvPicPr>
        <p:blipFill>
          <a:blip r:embed="rId8"/>
          <a:srcRect t="-13131" b="-13131"/>
          <a:stretch/>
        </p:blipFill>
        <p:spPr>
          <a:xfrm>
            <a:off x="9872777" y="3895344"/>
            <a:ext cx="181051" cy="2286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838505" y="4457700"/>
            <a:ext cx="391363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</a:t>
            </a:r>
            <a:endParaRPr lang="en-US" sz="2400"/>
          </a:p>
        </p:txBody>
      </p:sp>
      <p:sp>
        <p:nvSpPr>
          <p:cNvPr id="39" name="Text 30"/>
          <p:cNvSpPr txBox="1"/>
          <p:nvPr/>
        </p:nvSpPr>
        <p:spPr>
          <a:xfrm>
            <a:off x="1280160" y="4472534"/>
            <a:ext cx="15645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Govern &amp; Upskill</a:t>
            </a:r>
            <a:endParaRPr lang="en-US" sz="1600"/>
          </a:p>
        </p:txBody>
      </p:sp>
      <p:sp>
        <p:nvSpPr>
          <p:cNvPr id="40" name="Text 31"/>
          <p:cNvSpPr txBox="1"/>
          <p:nvPr/>
        </p:nvSpPr>
        <p:spPr>
          <a:xfrm>
            <a:off x="838505" y="4905756"/>
            <a:ext cx="27816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Sprint accountability via Pod Manager. Monthly AI upskilling in J2W Labs. Weekly performance telemetry.</a:t>
            </a:r>
            <a:endParaRPr lang="en-US" sz="1000"/>
          </a:p>
        </p:txBody>
      </p:sp>
      <p:pic>
        <p:nvPicPr>
          <p:cNvPr id="41" name="Image 7" descr="gen-dedup-68afaceb726e7c14c8688760b973252d.png"/>
          <p:cNvPicPr>
            <a:picLocks noChangeAspect="1"/>
          </p:cNvPicPr>
          <p:nvPr/>
        </p:nvPicPr>
        <p:blipFill>
          <a:blip r:embed="rId7"/>
          <a:srcRect l="-13360" r="-13360"/>
          <a:stretch/>
        </p:blipFill>
        <p:spPr>
          <a:xfrm>
            <a:off x="4062679" y="5124298"/>
            <a:ext cx="181051" cy="22860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4705502" y="4457700"/>
            <a:ext cx="38587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05</a:t>
            </a:r>
            <a:endParaRPr lang="en-US" sz="2400"/>
          </a:p>
        </p:txBody>
      </p:sp>
      <p:sp>
        <p:nvSpPr>
          <p:cNvPr id="43" name="Text 33"/>
          <p:cNvSpPr txBox="1"/>
          <p:nvPr/>
        </p:nvSpPr>
        <p:spPr>
          <a:xfrm>
            <a:off x="5142586" y="4472534"/>
            <a:ext cx="201808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POFU - 90-Day Funnel</a:t>
            </a:r>
            <a:endParaRPr lang="en-US" sz="1600"/>
          </a:p>
        </p:txBody>
      </p:sp>
      <p:sp>
        <p:nvSpPr>
          <p:cNvPr id="44" name="Text 34"/>
          <p:cNvSpPr txBox="1"/>
          <p:nvPr/>
        </p:nvSpPr>
        <p:spPr>
          <a:xfrm>
            <a:off x="4705502" y="4905756"/>
            <a:ext cx="27816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Post-Offer Follow-Up: milestone touchpoints, counter-offer inoculation, manager connects. Dropout rate → single digits.</a:t>
            </a:r>
            <a:endParaRPr lang="en-US" sz="1000"/>
          </a:p>
        </p:txBody>
      </p:sp>
      <p:pic>
        <p:nvPicPr>
          <p:cNvPr id="45" name="Image 8" descr="gen-dedup-68afaceb726e7c14c8688760b973252d.png"/>
          <p:cNvPicPr>
            <a:picLocks noChangeAspect="1"/>
          </p:cNvPicPr>
          <p:nvPr/>
        </p:nvPicPr>
        <p:blipFill>
          <a:blip r:embed="rId7"/>
          <a:srcRect l="-13360" r="-13360"/>
          <a:stretch/>
        </p:blipFill>
        <p:spPr>
          <a:xfrm>
            <a:off x="7929677" y="5124298"/>
            <a:ext cx="181051" cy="228600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8572500" y="4457700"/>
            <a:ext cx="391363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06</a:t>
            </a:r>
            <a:endParaRPr lang="en-US" sz="2400"/>
          </a:p>
        </p:txBody>
      </p:sp>
      <p:sp>
        <p:nvSpPr>
          <p:cNvPr id="47" name="Text 36"/>
          <p:cNvSpPr txBox="1"/>
          <p:nvPr/>
        </p:nvSpPr>
        <p:spPr>
          <a:xfrm>
            <a:off x="9018727" y="4472534"/>
            <a:ext cx="159837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Scale or Convert</a:t>
            </a:r>
            <a:endParaRPr lang="en-US" sz="1600"/>
          </a:p>
        </p:txBody>
      </p:sp>
      <p:sp>
        <p:nvSpPr>
          <p:cNvPr id="48" name="Text 37"/>
          <p:cNvSpPr txBox="1"/>
          <p:nvPr/>
        </p:nvSpPr>
        <p:spPr>
          <a:xfrm>
            <a:off x="8572500" y="4905756"/>
            <a:ext cx="27816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C2H → permanent conversion on Day 91. Scale the pod up or down. Quarterly Business Review with ROI data.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gen-dedup-cad3a534ee2971c6a497c9faf59fb5cd.png"/>
          <p:cNvPicPr>
            <a:picLocks noChangeAspect="1"/>
          </p:cNvPicPr>
          <p:nvPr/>
        </p:nvPicPr>
        <p:blipFill>
          <a:blip r:embed="rId3"/>
          <a:srcRect l="-202" r="-202"/>
          <a:stretch/>
        </p:blipFill>
        <p:spPr>
          <a:xfrm>
            <a:off x="0" y="0"/>
            <a:ext cx="8128102" cy="75895"/>
          </a:xfrm>
          <a:prstGeom prst="rect">
            <a:avLst/>
          </a:prstGeom>
        </p:spPr>
      </p:pic>
      <p:pic>
        <p:nvPicPr>
          <p:cNvPr id="5" name="Image 1" descr="gen-dedup-64882feb7a832238af77b962fc7a8538.png"/>
          <p:cNvPicPr>
            <a:picLocks noChangeAspect="1"/>
          </p:cNvPicPr>
          <p:nvPr/>
        </p:nvPicPr>
        <p:blipFill>
          <a:blip r:embed="rId4"/>
          <a:srcRect l="-197" r="-197"/>
          <a:stretch/>
        </p:blipFill>
        <p:spPr>
          <a:xfrm>
            <a:off x="8128102" y="0"/>
            <a:ext cx="4063594" cy="758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905695" y="-571500"/>
            <a:ext cx="2857500" cy="2857500"/>
          </a:xfrm>
          <a:prstGeom prst="ellipse">
            <a:avLst/>
          </a:prstGeom>
          <a:solidFill>
            <a:srgbClr val="2A9D8F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2" descr="gen-dedup-4ab2116e971fbb9400d0e99205bd0390.png"/>
          <p:cNvPicPr>
            <a:picLocks noChangeAspect="1"/>
          </p:cNvPicPr>
          <p:nvPr/>
        </p:nvPicPr>
        <p:blipFill>
          <a:blip r:embed="rId5">
            <a:alphaModFix amt="8000"/>
          </a:blip>
          <a:srcRect/>
          <a:stretch/>
        </p:blipFill>
        <p:spPr>
          <a:xfrm>
            <a:off x="-381305" y="4190695"/>
            <a:ext cx="1904695" cy="1904695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09905" y="2000707"/>
            <a:ext cx="11030407" cy="857707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4"/>
          <p:cNvSpPr/>
          <p:nvPr/>
        </p:nvSpPr>
        <p:spPr>
          <a:xfrm>
            <a:off x="609905" y="2000707"/>
            <a:ext cx="57607" cy="857707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5"/>
          <p:cNvSpPr/>
          <p:nvPr/>
        </p:nvSpPr>
        <p:spPr>
          <a:xfrm>
            <a:off x="609905" y="2952598"/>
            <a:ext cx="11030407" cy="857707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6"/>
          <p:cNvSpPr/>
          <p:nvPr/>
        </p:nvSpPr>
        <p:spPr>
          <a:xfrm>
            <a:off x="609905" y="2952598"/>
            <a:ext cx="57607" cy="857707"/>
          </a:xfrm>
          <a:prstGeom prst="roundRect">
            <a:avLst>
              <a:gd name="adj" fmla="val 66667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7"/>
          <p:cNvSpPr/>
          <p:nvPr/>
        </p:nvSpPr>
        <p:spPr>
          <a:xfrm>
            <a:off x="609905" y="3905402"/>
            <a:ext cx="11030407" cy="857707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609905" y="3905402"/>
            <a:ext cx="57607" cy="857707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609905" y="4858207"/>
            <a:ext cx="11030407" cy="857707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609905" y="4858207"/>
            <a:ext cx="57607" cy="857707"/>
          </a:xfrm>
          <a:prstGeom prst="roundRect">
            <a:avLst>
              <a:gd name="adj" fmla="val 66667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609905" y="5810098"/>
            <a:ext cx="11030407" cy="857707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609905" y="5810098"/>
            <a:ext cx="57607" cy="857707"/>
          </a:xfrm>
          <a:prstGeom prst="roundRect">
            <a:avLst>
              <a:gd name="adj" fmla="val 66667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gen-dedup-f40e183725d285eac3acdddf8d8f823b.png"/>
          <p:cNvPicPr>
            <a:picLocks noChangeAspect="1"/>
          </p:cNvPicPr>
          <p:nvPr/>
        </p:nvPicPr>
        <p:blipFill>
          <a:blip r:embed="rId6"/>
          <a:srcRect l="-369" r="-369"/>
          <a:stretch/>
        </p:blipFill>
        <p:spPr>
          <a:xfrm>
            <a:off x="609905" y="448970"/>
            <a:ext cx="57607" cy="4956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19302" y="381305"/>
            <a:ext cx="4499762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STRUCTURAL DIFFERENTIATION</a:t>
            </a:r>
            <a:endParaRPr lang="en-US" sz="2800"/>
          </a:p>
        </p:txBody>
      </p:sp>
      <p:sp>
        <p:nvSpPr>
          <p:cNvPr id="22" name="Text 16"/>
          <p:cNvSpPr txBox="1"/>
          <p:nvPr/>
        </p:nvSpPr>
        <p:spPr>
          <a:xfrm>
            <a:off x="819302" y="821131"/>
            <a:ext cx="361005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66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WORKFORCE SOLUTIONS</a:t>
            </a:r>
          </a:p>
        </p:txBody>
      </p:sp>
      <p:sp>
        <p:nvSpPr>
          <p:cNvPr id="23" name="Text 17"/>
          <p:cNvSpPr txBox="1"/>
          <p:nvPr/>
        </p:nvSpPr>
        <p:spPr>
          <a:xfrm>
            <a:off x="609905" y="1380744"/>
            <a:ext cx="109728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Five structural differences that change the engagement from transactional to transformational.</a:t>
            </a:r>
            <a:endParaRPr lang="en-US" sz="1500"/>
          </a:p>
        </p:txBody>
      </p:sp>
      <p:sp>
        <p:nvSpPr>
          <p:cNvPr id="24" name="Text 18"/>
          <p:cNvSpPr txBox="1"/>
          <p:nvPr/>
        </p:nvSpPr>
        <p:spPr>
          <a:xfrm>
            <a:off x="1037844" y="2148840"/>
            <a:ext cx="190469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No Subcontracting</a:t>
            </a:r>
            <a:endParaRPr lang="en-US" sz="1400"/>
          </a:p>
        </p:txBody>
      </p:sp>
      <p:sp>
        <p:nvSpPr>
          <p:cNvPr id="25" name="Text 19"/>
          <p:cNvSpPr txBox="1"/>
          <p:nvPr/>
        </p:nvSpPr>
        <p:spPr>
          <a:xfrm>
            <a:off x="800100" y="2491740"/>
            <a:ext cx="112782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300+ in-house recruiters. 7,200+ professionals on J2W payroll. Zero subcontracting layer diluting quality, speed, or accountability.</a:t>
            </a:r>
            <a:endParaRPr lang="en-US" sz="1300"/>
          </a:p>
        </p:txBody>
      </p:sp>
      <p:pic>
        <p:nvPicPr>
          <p:cNvPr id="26" name="Image 4" descr="gen-dedup-928b248bf773cd1fca0141b5a5721735.png"/>
          <p:cNvPicPr>
            <a:picLocks noChangeAspect="1"/>
          </p:cNvPicPr>
          <p:nvPr/>
        </p:nvPicPr>
        <p:blipFill>
          <a:blip r:embed="rId7"/>
          <a:srcRect t="-6603" b="-6603"/>
          <a:stretch/>
        </p:blipFill>
        <p:spPr>
          <a:xfrm>
            <a:off x="800100" y="2211934"/>
            <a:ext cx="161849" cy="20939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37844" y="2991917"/>
            <a:ext cx="241493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GCC-Native Intelligence</a:t>
            </a:r>
            <a:endParaRPr lang="en-US" sz="1400"/>
          </a:p>
        </p:txBody>
      </p:sp>
      <p:sp>
        <p:nvSpPr>
          <p:cNvPr id="28" name="Text 21"/>
          <p:cNvSpPr txBox="1"/>
          <p:nvPr/>
        </p:nvSpPr>
        <p:spPr>
          <a:xfrm>
            <a:off x="800100" y="3334817"/>
            <a:ext cx="105924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Forged through 300+ active GCC deployments. We see the next problem before it shows up because we have already solved it somewhere else.</a:t>
            </a:r>
            <a:endParaRPr lang="en-US" sz="1300"/>
          </a:p>
        </p:txBody>
      </p:sp>
      <p:pic>
        <p:nvPicPr>
          <p:cNvPr id="29" name="Image 5" descr="gen-dedup-0c58ce2f3d3941653435c84e3cc91c65.png"/>
          <p:cNvPicPr>
            <a:picLocks noChangeAspect="1"/>
          </p:cNvPicPr>
          <p:nvPr/>
        </p:nvPicPr>
        <p:blipFill>
          <a:blip r:embed="rId8"/>
          <a:srcRect t="-14689" b="-14689"/>
          <a:stretch/>
        </p:blipFill>
        <p:spPr>
          <a:xfrm>
            <a:off x="800100" y="3055925"/>
            <a:ext cx="161849" cy="20939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037844" y="3944722"/>
            <a:ext cx="1633118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AI at Every Step</a:t>
            </a:r>
            <a:endParaRPr lang="en-US" sz="1400"/>
          </a:p>
        </p:txBody>
      </p:sp>
      <p:sp>
        <p:nvSpPr>
          <p:cNvPr id="31" name="Text 23"/>
          <p:cNvSpPr txBox="1"/>
          <p:nvPr/>
        </p:nvSpPr>
        <p:spPr>
          <a:xfrm>
            <a:off x="800100" y="4287622"/>
            <a:ext cx="105924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TalentAI + TalentSphere: AI-ranked pools, voice-agent screening, skill graphs, predictive placement. Every tool passed our 40% improvement gate internally.</a:t>
            </a:r>
            <a:endParaRPr lang="en-US" sz="1300"/>
          </a:p>
        </p:txBody>
      </p:sp>
      <p:pic>
        <p:nvPicPr>
          <p:cNvPr id="32" name="Image 6" descr="gen-dedup-da669e206ac26c7983b1f8612c832ea6.png"/>
          <p:cNvPicPr>
            <a:picLocks noChangeAspect="1"/>
          </p:cNvPicPr>
          <p:nvPr/>
        </p:nvPicPr>
        <p:blipFill>
          <a:blip r:embed="rId9"/>
          <a:srcRect t="-30861" b="-30861"/>
          <a:stretch/>
        </p:blipFill>
        <p:spPr>
          <a:xfrm>
            <a:off x="800100" y="4008730"/>
            <a:ext cx="161849" cy="209398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037844" y="4897526"/>
            <a:ext cx="246065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Pod Governance Built In</a:t>
            </a:r>
            <a:endParaRPr lang="en-US" sz="1400"/>
          </a:p>
        </p:txBody>
      </p:sp>
      <p:sp>
        <p:nvSpPr>
          <p:cNvPr id="34" name="Text 25"/>
          <p:cNvSpPr txBox="1"/>
          <p:nvPr/>
        </p:nvSpPr>
        <p:spPr>
          <a:xfrm>
            <a:off x="800100" y="5240426"/>
            <a:ext cx="105924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dedicated Pod Manager - not billed to client - owns sprint governance, performance tracking, and L&amp;D coordination. This is a pod, not a staffing drop.</a:t>
            </a:r>
            <a:endParaRPr lang="en-US" sz="1300"/>
          </a:p>
        </p:txBody>
      </p:sp>
      <p:pic>
        <p:nvPicPr>
          <p:cNvPr id="35" name="Image 7" descr="gen-dedup-5d8964838ee5ef7b6e1692b5297312cd.png"/>
          <p:cNvPicPr>
            <a:picLocks noChangeAspect="1"/>
          </p:cNvPicPr>
          <p:nvPr/>
        </p:nvPicPr>
        <p:blipFill>
          <a:blip r:embed="rId10"/>
          <a:srcRect t="-30861" b="-30861"/>
          <a:stretch/>
        </p:blipFill>
        <p:spPr>
          <a:xfrm>
            <a:off x="800100" y="4960620"/>
            <a:ext cx="161849" cy="209398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1037844" y="5849417"/>
            <a:ext cx="205191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Validated Playbooks</a:t>
            </a:r>
            <a:endParaRPr lang="en-US" sz="1400"/>
          </a:p>
        </p:txBody>
      </p:sp>
      <p:sp>
        <p:nvSpPr>
          <p:cNvPr id="37" name="Text 27"/>
          <p:cNvSpPr txBox="1"/>
          <p:nvPr/>
        </p:nvSpPr>
        <p:spPr>
          <a:xfrm>
            <a:off x="800100" y="6192317"/>
            <a:ext cx="105924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Every tool, process, and accelerator has passed our internal 40% improvement gate. Clients benefit from completed learning - not our experimentation.</a:t>
            </a:r>
            <a:endParaRPr lang="en-US" sz="1300"/>
          </a:p>
        </p:txBody>
      </p:sp>
      <p:pic>
        <p:nvPicPr>
          <p:cNvPr id="38" name="Image 8" descr="gen-dedup-001fb79ce367df5df5f79805d3e188cd.png"/>
          <p:cNvPicPr>
            <a:picLocks noChangeAspect="1"/>
          </p:cNvPicPr>
          <p:nvPr/>
        </p:nvPicPr>
        <p:blipFill>
          <a:blip r:embed="rId11"/>
          <a:srcRect t="-22775" b="-22775"/>
          <a:stretch/>
        </p:blipFill>
        <p:spPr>
          <a:xfrm>
            <a:off x="800100" y="5913425"/>
            <a:ext cx="161849" cy="2093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382305" y="0"/>
            <a:ext cx="3810305" cy="3810305"/>
          </a:xfrm>
          <a:prstGeom prst="ellipse">
            <a:avLst/>
          </a:prstGeom>
          <a:solidFill>
            <a:srgbClr val="2A9D8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476402" y="3524098"/>
            <a:ext cx="2381098" cy="2381098"/>
          </a:xfrm>
          <a:prstGeom prst="ellipse">
            <a:avLst/>
          </a:prstGeom>
          <a:solidFill>
            <a:srgbClr val="D62839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gen-dedup-37abb9d8cc081a24feb608c288538026.png"/>
          <p:cNvPicPr>
            <a:picLocks noChangeAspect="1"/>
          </p:cNvPicPr>
          <p:nvPr/>
        </p:nvPicPr>
        <p:blipFill>
          <a:blip r:embed="rId3"/>
          <a:srcRect l="-198" r="-198"/>
          <a:stretch/>
        </p:blipFill>
        <p:spPr>
          <a:xfrm>
            <a:off x="0" y="0"/>
            <a:ext cx="8124444" cy="75895"/>
          </a:xfrm>
          <a:prstGeom prst="rect">
            <a:avLst/>
          </a:prstGeom>
        </p:spPr>
      </p:pic>
      <p:pic>
        <p:nvPicPr>
          <p:cNvPr id="7" name="Image 1" descr="gen-dedup-c2c9136402f20c216bf7cbcc052ad1a0.png"/>
          <p:cNvPicPr>
            <a:picLocks noChangeAspect="1"/>
          </p:cNvPicPr>
          <p:nvPr/>
        </p:nvPicPr>
        <p:blipFill>
          <a:blip r:embed="rId4"/>
          <a:srcRect l="-202" r="-202"/>
          <a:stretch/>
        </p:blipFill>
        <p:spPr>
          <a:xfrm>
            <a:off x="8124444" y="0"/>
            <a:ext cx="4067251" cy="75895"/>
          </a:xfrm>
          <a:prstGeom prst="rect">
            <a:avLst/>
          </a:prstGeom>
        </p:spPr>
      </p:pic>
      <p:pic>
        <p:nvPicPr>
          <p:cNvPr id="8" name="Image 2" descr="gen-dedup-50f81f9bdcb5400074144f35c0ecb91c.png"/>
          <p:cNvPicPr>
            <a:picLocks noChangeAspect="1"/>
          </p:cNvPicPr>
          <p:nvPr/>
        </p:nvPicPr>
        <p:blipFill>
          <a:blip r:embed="rId5"/>
          <a:srcRect l="-7" r="-7"/>
          <a:stretch/>
        </p:blipFill>
        <p:spPr>
          <a:xfrm>
            <a:off x="2704795" y="1238098"/>
            <a:ext cx="3143707" cy="44577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09905" y="5762549"/>
            <a:ext cx="10992002" cy="847649"/>
          </a:xfrm>
          <a:prstGeom prst="roundRect">
            <a:avLst>
              <a:gd name="adj" fmla="val 193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3" descr="gen-dedup-1004aa64a550a79a04cd74d7f57c96c1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609905" y="2467051"/>
            <a:ext cx="10972800" cy="9144"/>
          </a:xfrm>
          <a:prstGeom prst="rect">
            <a:avLst/>
          </a:prstGeom>
        </p:spPr>
      </p:pic>
      <p:pic>
        <p:nvPicPr>
          <p:cNvPr id="11" name="Image 4" descr="gen-dedup-1004aa64a550a79a04cd74d7f57c96c1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609905" y="3267151"/>
            <a:ext cx="10972800" cy="9144"/>
          </a:xfrm>
          <a:prstGeom prst="rect">
            <a:avLst/>
          </a:prstGeom>
        </p:spPr>
      </p:pic>
      <p:pic>
        <p:nvPicPr>
          <p:cNvPr id="12" name="Image 5" descr="gen-dedup-1004aa64a550a79a04cd74d7f57c96c1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609905" y="4067251"/>
            <a:ext cx="10972800" cy="9144"/>
          </a:xfrm>
          <a:prstGeom prst="rect">
            <a:avLst/>
          </a:prstGeom>
        </p:spPr>
      </p:pic>
      <p:pic>
        <p:nvPicPr>
          <p:cNvPr id="13" name="Image 6" descr="gen-dedup-1004aa64a550a79a04cd74d7f57c96c1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609905" y="4867351"/>
            <a:ext cx="10972800" cy="9144"/>
          </a:xfrm>
          <a:prstGeom prst="rect">
            <a:avLst/>
          </a:prstGeom>
        </p:spPr>
      </p:pic>
      <p:pic>
        <p:nvPicPr>
          <p:cNvPr id="14" name="Image 7" descr="gen-dedup-06e3d16aa0e9246458a784af17ea21a8.png"/>
          <p:cNvPicPr>
            <a:picLocks noChangeAspect="1"/>
          </p:cNvPicPr>
          <p:nvPr/>
        </p:nvPicPr>
        <p:blipFill>
          <a:blip r:embed="rId7"/>
          <a:srcRect l="-437" r="-437"/>
          <a:stretch/>
        </p:blipFill>
        <p:spPr>
          <a:xfrm>
            <a:off x="609905" y="390449"/>
            <a:ext cx="57607" cy="418795"/>
          </a:xfrm>
          <a:prstGeom prst="rect">
            <a:avLst/>
          </a:prstGeom>
        </p:spPr>
      </p:pic>
      <p:sp>
        <p:nvSpPr>
          <p:cNvPr id="15" name="Text 5"/>
          <p:cNvSpPr txBox="1"/>
          <p:nvPr/>
        </p:nvSpPr>
        <p:spPr>
          <a:xfrm>
            <a:off x="819302" y="390449"/>
            <a:ext cx="10478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WHY J2W - NOT THE BIG 4 OR LARGE SIs</a:t>
            </a:r>
            <a:endParaRPr lang="en-US" sz="2700"/>
          </a:p>
        </p:txBody>
      </p:sp>
      <p:sp>
        <p:nvSpPr>
          <p:cNvPr id="16" name="Text 6"/>
          <p:cNvSpPr txBox="1"/>
          <p:nvPr/>
        </p:nvSpPr>
        <p:spPr>
          <a:xfrm>
            <a:off x="819302" y="824789"/>
            <a:ext cx="10478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0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SMARTER CHOICE FOR AI &amp; DIGITAL TRANSFORMATION AT SCALE</a:t>
            </a:r>
            <a:endParaRPr lang="en-US" sz="1200"/>
          </a:p>
        </p:txBody>
      </p:sp>
      <p:sp>
        <p:nvSpPr>
          <p:cNvPr id="17" name="Text 7"/>
          <p:cNvSpPr txBox="1"/>
          <p:nvPr/>
        </p:nvSpPr>
        <p:spPr>
          <a:xfrm>
            <a:off x="2704795" y="1333195"/>
            <a:ext cx="3143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JoulesToWatts + J2W</a:t>
            </a:r>
            <a:endParaRPr lang="en-US" sz="1500"/>
          </a:p>
        </p:txBody>
      </p:sp>
      <p:sp>
        <p:nvSpPr>
          <p:cNvPr id="18" name="Text 8"/>
          <p:cNvSpPr txBox="1"/>
          <p:nvPr/>
        </p:nvSpPr>
        <p:spPr>
          <a:xfrm>
            <a:off x="5848502" y="1333195"/>
            <a:ext cx="2857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64748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Big 4 / Top IT SIs</a:t>
            </a:r>
            <a:endParaRPr lang="en-US" sz="1500"/>
          </a:p>
        </p:txBody>
      </p:sp>
      <p:sp>
        <p:nvSpPr>
          <p:cNvPr id="19" name="Text 9"/>
          <p:cNvSpPr txBox="1"/>
          <p:nvPr/>
        </p:nvSpPr>
        <p:spPr>
          <a:xfrm>
            <a:off x="8706002" y="1333195"/>
            <a:ext cx="28767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64748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Staffing Agencies</a:t>
            </a:r>
            <a:endParaRPr lang="en-US" sz="1500"/>
          </a:p>
        </p:txBody>
      </p:sp>
      <p:sp>
        <p:nvSpPr>
          <p:cNvPr id="20" name="Text 10"/>
          <p:cNvSpPr txBox="1"/>
          <p:nvPr/>
        </p:nvSpPr>
        <p:spPr>
          <a:xfrm>
            <a:off x="609905" y="1990649"/>
            <a:ext cx="1905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34155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ROI &amp; Outcome Model</a:t>
            </a:r>
            <a:endParaRPr lang="en-US" sz="1000"/>
          </a:p>
        </p:txBody>
      </p:sp>
      <p:sp>
        <p:nvSpPr>
          <p:cNvPr id="21" name="Text 11"/>
          <p:cNvSpPr txBox="1"/>
          <p:nvPr/>
        </p:nvSpPr>
        <p:spPr>
          <a:xfrm>
            <a:off x="2895905" y="1806854"/>
            <a:ext cx="276240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Outcome-driven from Day 1 - aligned to your milestones, CXO ROI expectations &amp; project KPIs</a:t>
            </a:r>
            <a:endParaRPr lang="en-US" sz="1000"/>
          </a:p>
        </p:txBody>
      </p:sp>
      <p:sp>
        <p:nvSpPr>
          <p:cNvPr id="22" name="Text 12"/>
          <p:cNvSpPr txBox="1"/>
          <p:nvPr/>
        </p:nvSpPr>
        <p:spPr>
          <a:xfrm>
            <a:off x="6038698" y="1806854"/>
            <a:ext cx="2477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Heavy retainers + longer payback cycles. High technical debt risk on failed transformations</a:t>
            </a:r>
            <a:endParaRPr lang="en-US" sz="1000"/>
          </a:p>
        </p:txBody>
      </p:sp>
      <p:sp>
        <p:nvSpPr>
          <p:cNvPr id="23" name="Text 13"/>
          <p:cNvSpPr txBox="1"/>
          <p:nvPr/>
        </p:nvSpPr>
        <p:spPr>
          <a:xfrm>
            <a:off x="8896198" y="1893722"/>
            <a:ext cx="24963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Headcount model only. Zero delivery ownership or outcome accountability</a:t>
            </a:r>
            <a:endParaRPr lang="en-US" sz="1000"/>
          </a:p>
        </p:txBody>
      </p:sp>
      <p:sp>
        <p:nvSpPr>
          <p:cNvPr id="24" name="Text 14"/>
          <p:cNvSpPr txBox="1"/>
          <p:nvPr/>
        </p:nvSpPr>
        <p:spPr>
          <a:xfrm>
            <a:off x="609905" y="2790749"/>
            <a:ext cx="1905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34155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Time-To-Value</a:t>
            </a:r>
            <a:endParaRPr lang="en-US" sz="1000"/>
          </a:p>
        </p:txBody>
      </p:sp>
      <p:sp>
        <p:nvSpPr>
          <p:cNvPr id="25" name="Text 15"/>
          <p:cNvSpPr txBox="1"/>
          <p:nvPr/>
        </p:nvSpPr>
        <p:spPr>
          <a:xfrm>
            <a:off x="2895905" y="2606954"/>
            <a:ext cx="276240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Production-ready Gen &amp; Agentic AI PoCs in weeks via 50+ accelerators across SAP, Oracle, ServiceNow &amp; more</a:t>
            </a:r>
            <a:endParaRPr lang="en-US" sz="1000"/>
          </a:p>
        </p:txBody>
      </p:sp>
      <p:sp>
        <p:nvSpPr>
          <p:cNvPr id="26" name="Text 16"/>
          <p:cNvSpPr txBox="1"/>
          <p:nvPr/>
        </p:nvSpPr>
        <p:spPr>
          <a:xfrm>
            <a:off x="6038698" y="2606954"/>
            <a:ext cx="2477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Lengthy consulting cycles with SI-driven models - higher costs &amp; slower results</a:t>
            </a:r>
            <a:endParaRPr lang="en-US" sz="1000"/>
          </a:p>
        </p:txBody>
      </p:sp>
      <p:sp>
        <p:nvSpPr>
          <p:cNvPr id="27" name="Text 17"/>
          <p:cNvSpPr txBox="1"/>
          <p:nvPr/>
        </p:nvSpPr>
        <p:spPr>
          <a:xfrm>
            <a:off x="8896198" y="2780690"/>
            <a:ext cx="24963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>
                <a:solidFill>
                  <a:srgbClr val="94A3B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Not offered</a:t>
            </a:r>
            <a:endParaRPr lang="en-US" sz="1000"/>
          </a:p>
        </p:txBody>
      </p:sp>
      <p:sp>
        <p:nvSpPr>
          <p:cNvPr id="28" name="Text 18"/>
          <p:cNvSpPr txBox="1"/>
          <p:nvPr/>
        </p:nvSpPr>
        <p:spPr>
          <a:xfrm>
            <a:off x="609905" y="3590849"/>
            <a:ext cx="1905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34155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AI / Data Governance</a:t>
            </a:r>
            <a:endParaRPr lang="en-US" sz="1000"/>
          </a:p>
        </p:txBody>
      </p:sp>
      <p:sp>
        <p:nvSpPr>
          <p:cNvPr id="29" name="Text 19"/>
          <p:cNvSpPr txBox="1"/>
          <p:nvPr/>
        </p:nvSpPr>
        <p:spPr>
          <a:xfrm>
            <a:off x="2895905" y="3321101"/>
            <a:ext cx="276240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Pre-built guardrails. Mission-critical delivery in regulated industries (Fortune 500 MedTech). Data stays in your environment</a:t>
            </a:r>
            <a:endParaRPr lang="en-US" sz="1000"/>
          </a:p>
        </p:txBody>
      </p:sp>
      <p:sp>
        <p:nvSpPr>
          <p:cNvPr id="30" name="Text 20"/>
          <p:cNvSpPr txBox="1"/>
          <p:nvPr/>
        </p:nvSpPr>
        <p:spPr>
          <a:xfrm>
            <a:off x="6038698" y="3407054"/>
            <a:ext cx="2477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Claims excellence, but multiple public incidents (e.g. Deloitte AU govt penalties) undermine credibility</a:t>
            </a:r>
            <a:endParaRPr lang="en-US" sz="1000"/>
          </a:p>
        </p:txBody>
      </p:sp>
      <p:sp>
        <p:nvSpPr>
          <p:cNvPr id="31" name="Text 21"/>
          <p:cNvSpPr txBox="1"/>
          <p:nvPr/>
        </p:nvSpPr>
        <p:spPr>
          <a:xfrm>
            <a:off x="8896198" y="3580790"/>
            <a:ext cx="24963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>
                <a:solidFill>
                  <a:srgbClr val="94A3B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Not offered</a:t>
            </a:r>
            <a:endParaRPr lang="en-US" sz="1000"/>
          </a:p>
        </p:txBody>
      </p:sp>
      <p:sp>
        <p:nvSpPr>
          <p:cNvPr id="32" name="Text 22"/>
          <p:cNvSpPr txBox="1"/>
          <p:nvPr/>
        </p:nvSpPr>
        <p:spPr>
          <a:xfrm>
            <a:off x="609905" y="4390949"/>
            <a:ext cx="1905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34155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AI OPEX Optimisation</a:t>
            </a:r>
            <a:endParaRPr lang="en-US" sz="1000"/>
          </a:p>
        </p:txBody>
      </p:sp>
      <p:sp>
        <p:nvSpPr>
          <p:cNvPr id="33" name="Text 23"/>
          <p:cNvSpPr txBox="1"/>
          <p:nvPr/>
        </p:nvSpPr>
        <p:spPr>
          <a:xfrm>
            <a:off x="2895905" y="4207154"/>
            <a:ext cx="276240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30-40% reduction in AI OPEX via Query Routing, Semantic Caching, Precision RAG &amp; in-house SLMs</a:t>
            </a:r>
            <a:endParaRPr lang="en-US" sz="1000"/>
          </a:p>
        </p:txBody>
      </p:sp>
      <p:sp>
        <p:nvSpPr>
          <p:cNvPr id="34" name="Text 24"/>
          <p:cNvSpPr txBox="1"/>
          <p:nvPr/>
        </p:nvSpPr>
        <p:spPr>
          <a:xfrm>
            <a:off x="6038698" y="4294022"/>
            <a:ext cx="24771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 </a:t>
            </a:r>
            <a:r>
              <a:rPr lang="en-US" sz="1000" err="1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incentivised</a:t>
            </a: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to </a:t>
            </a:r>
            <a:r>
              <a:rPr lang="en-US" sz="1000" err="1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maximise</a:t>
            </a: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r>
              <a:rPr lang="en-US" sz="1000" err="1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licences</a:t>
            </a: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&amp; tokens - not to </a:t>
            </a:r>
            <a:r>
              <a:rPr lang="en-US" sz="1000" err="1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optimise</a:t>
            </a: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your cost</a:t>
            </a:r>
            <a:endParaRPr lang="en-US" sz="1000"/>
          </a:p>
        </p:txBody>
      </p:sp>
      <p:sp>
        <p:nvSpPr>
          <p:cNvPr id="35" name="Text 25"/>
          <p:cNvSpPr txBox="1"/>
          <p:nvPr/>
        </p:nvSpPr>
        <p:spPr>
          <a:xfrm>
            <a:off x="8896198" y="4380890"/>
            <a:ext cx="24963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>
                <a:solidFill>
                  <a:srgbClr val="94A3B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Not offered</a:t>
            </a:r>
            <a:endParaRPr lang="en-US" sz="1000"/>
          </a:p>
        </p:txBody>
      </p:sp>
      <p:sp>
        <p:nvSpPr>
          <p:cNvPr id="36" name="Text 26"/>
          <p:cNvSpPr txBox="1"/>
          <p:nvPr/>
        </p:nvSpPr>
        <p:spPr>
          <a:xfrm>
            <a:off x="609905" y="5191049"/>
            <a:ext cx="21433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34155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Talent &amp; Managed Services</a:t>
            </a:r>
            <a:endParaRPr lang="en-US" sz="1000"/>
          </a:p>
        </p:txBody>
      </p:sp>
      <p:sp>
        <p:nvSpPr>
          <p:cNvPr id="37" name="Text 27"/>
          <p:cNvSpPr txBox="1"/>
          <p:nvPr/>
        </p:nvSpPr>
        <p:spPr>
          <a:xfrm>
            <a:off x="2895905" y="5007254"/>
            <a:ext cx="276240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7,200+ in-house consultants · 300+ recruiters · 2 proprietary hiring platforms · No subcontracting</a:t>
            </a:r>
            <a:endParaRPr lang="en-US" sz="1000"/>
          </a:p>
        </p:txBody>
      </p:sp>
      <p:sp>
        <p:nvSpPr>
          <p:cNvPr id="38" name="Text 28"/>
          <p:cNvSpPr txBox="1"/>
          <p:nvPr/>
        </p:nvSpPr>
        <p:spPr>
          <a:xfrm>
            <a:off x="6038698" y="5094122"/>
            <a:ext cx="24771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Frequently subcontract. No proprietary hiring platforms</a:t>
            </a:r>
            <a:endParaRPr lang="en-US" sz="1000"/>
          </a:p>
        </p:txBody>
      </p:sp>
      <p:sp>
        <p:nvSpPr>
          <p:cNvPr id="39" name="Text 29"/>
          <p:cNvSpPr txBox="1"/>
          <p:nvPr/>
        </p:nvSpPr>
        <p:spPr>
          <a:xfrm>
            <a:off x="8896198" y="5094122"/>
            <a:ext cx="24963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Lacks SME depth &amp; governance. Outcome ownership absent</a:t>
            </a:r>
            <a:endParaRPr lang="en-US" sz="1000"/>
          </a:p>
        </p:txBody>
      </p:sp>
      <p:sp>
        <p:nvSpPr>
          <p:cNvPr id="40" name="Shape 30"/>
          <p:cNvSpPr/>
          <p:nvPr/>
        </p:nvSpPr>
        <p:spPr>
          <a:xfrm>
            <a:off x="2315261" y="5762549"/>
            <a:ext cx="9144" cy="82844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1"/>
          <p:cNvSpPr txBox="1"/>
          <p:nvPr/>
        </p:nvSpPr>
        <p:spPr>
          <a:xfrm>
            <a:off x="1185062" y="6072530"/>
            <a:ext cx="104333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6">
                <a:solidFill>
                  <a:srgbClr val="64748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KEY METRICS</a:t>
            </a:r>
            <a:endParaRPr lang="en-US" sz="1100"/>
          </a:p>
        </p:txBody>
      </p:sp>
      <p:pic>
        <p:nvPicPr>
          <p:cNvPr id="42" name="Image 8" descr="gen-dedup-0bed6a635fcb1d23b7a23c5aaedf5133.png"/>
          <p:cNvPicPr>
            <a:picLocks noChangeAspect="1"/>
          </p:cNvPicPr>
          <p:nvPr/>
        </p:nvPicPr>
        <p:blipFill>
          <a:blip r:embed="rId8"/>
          <a:srcRect l="-3526" r="-3526"/>
          <a:stretch/>
        </p:blipFill>
        <p:spPr>
          <a:xfrm>
            <a:off x="913486" y="6118250"/>
            <a:ext cx="152705" cy="142646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2506370" y="5981090"/>
            <a:ext cx="1638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5,500</a:t>
            </a:r>
            <a:endParaRPr lang="en-US" sz="1800"/>
          </a:p>
        </p:txBody>
      </p:sp>
      <p:sp>
        <p:nvSpPr>
          <p:cNvPr id="44" name="Text 33"/>
          <p:cNvSpPr txBox="1"/>
          <p:nvPr/>
        </p:nvSpPr>
        <p:spPr>
          <a:xfrm>
            <a:off x="2506370" y="6247181"/>
            <a:ext cx="16386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In-house Consultants</a:t>
            </a:r>
            <a:endParaRPr lang="en-US" sz="800"/>
          </a:p>
        </p:txBody>
      </p:sp>
      <p:pic>
        <p:nvPicPr>
          <p:cNvPr id="45" name="Image 9" descr="gen-dedup-bc499f386c10f37c45470adccc65c0cd.png"/>
          <p:cNvPicPr>
            <a:picLocks noChangeAspect="1"/>
          </p:cNvPicPr>
          <p:nvPr/>
        </p:nvPicPr>
        <p:blipFill>
          <a:blip r:embed="rId9"/>
          <a:srcRect t="-2165" b="-2165"/>
          <a:stretch/>
        </p:blipFill>
        <p:spPr>
          <a:xfrm>
            <a:off x="4225442" y="6034126"/>
            <a:ext cx="9144" cy="286207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4321454" y="5981090"/>
            <a:ext cx="1638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</a:t>
            </a:r>
            <a:r>
              <a:rPr lang="en-US" sz="1800" b="1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0+</a:t>
            </a:r>
            <a:endParaRPr lang="en-US" sz="1800"/>
          </a:p>
        </p:txBody>
      </p:sp>
      <p:sp>
        <p:nvSpPr>
          <p:cNvPr id="47" name="Text 35"/>
          <p:cNvSpPr txBox="1"/>
          <p:nvPr/>
        </p:nvSpPr>
        <p:spPr>
          <a:xfrm>
            <a:off x="4321454" y="6247181"/>
            <a:ext cx="16386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Accelerators</a:t>
            </a:r>
            <a:endParaRPr lang="en-US" sz="800"/>
          </a:p>
        </p:txBody>
      </p:sp>
      <p:pic>
        <p:nvPicPr>
          <p:cNvPr id="48" name="Image 10" descr="gen-dedup-bc499f386c10f37c45470adccc65c0cd.png"/>
          <p:cNvPicPr>
            <a:picLocks noChangeAspect="1"/>
          </p:cNvPicPr>
          <p:nvPr/>
        </p:nvPicPr>
        <p:blipFill>
          <a:blip r:embed="rId9"/>
          <a:srcRect t="-2165" b="-2165"/>
          <a:stretch/>
        </p:blipFill>
        <p:spPr>
          <a:xfrm>
            <a:off x="6040526" y="6034126"/>
            <a:ext cx="9144" cy="286207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6137453" y="5981090"/>
            <a:ext cx="1638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30-40%</a:t>
            </a:r>
            <a:endParaRPr lang="en-US" sz="1800"/>
          </a:p>
        </p:txBody>
      </p:sp>
      <p:sp>
        <p:nvSpPr>
          <p:cNvPr id="50" name="Text 37"/>
          <p:cNvSpPr txBox="1"/>
          <p:nvPr/>
        </p:nvSpPr>
        <p:spPr>
          <a:xfrm>
            <a:off x="6137453" y="6247181"/>
            <a:ext cx="16386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OPEX Reduction</a:t>
            </a:r>
            <a:endParaRPr lang="en-US" sz="800"/>
          </a:p>
        </p:txBody>
      </p:sp>
      <p:pic>
        <p:nvPicPr>
          <p:cNvPr id="51" name="Image 11" descr="gen-dedup-bc499f386c10f37c45470adccc65c0cd.png"/>
          <p:cNvPicPr>
            <a:picLocks noChangeAspect="1"/>
          </p:cNvPicPr>
          <p:nvPr/>
        </p:nvPicPr>
        <p:blipFill>
          <a:blip r:embed="rId9"/>
          <a:srcRect t="-2165" b="-2165"/>
          <a:stretch/>
        </p:blipFill>
        <p:spPr>
          <a:xfrm>
            <a:off x="7856525" y="6034126"/>
            <a:ext cx="9144" cy="286207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7952537" y="5981090"/>
            <a:ext cx="1638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Weeks</a:t>
            </a:r>
            <a:endParaRPr lang="en-US" sz="1800"/>
          </a:p>
        </p:txBody>
      </p:sp>
      <p:sp>
        <p:nvSpPr>
          <p:cNvPr id="53" name="Text 39"/>
          <p:cNvSpPr txBox="1"/>
          <p:nvPr/>
        </p:nvSpPr>
        <p:spPr>
          <a:xfrm>
            <a:off x="7952537" y="6247181"/>
            <a:ext cx="16386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PoC to Production</a:t>
            </a:r>
            <a:endParaRPr lang="en-US" sz="800"/>
          </a:p>
        </p:txBody>
      </p:sp>
      <p:pic>
        <p:nvPicPr>
          <p:cNvPr id="54" name="Image 12" descr="gen-dedup-bc499f386c10f37c45470adccc65c0cd.png"/>
          <p:cNvPicPr>
            <a:picLocks noChangeAspect="1"/>
          </p:cNvPicPr>
          <p:nvPr/>
        </p:nvPicPr>
        <p:blipFill>
          <a:blip r:embed="rId9"/>
          <a:srcRect t="-2165" b="-2165"/>
          <a:stretch/>
        </p:blipFill>
        <p:spPr>
          <a:xfrm>
            <a:off x="9671609" y="6034126"/>
            <a:ext cx="9144" cy="286207"/>
          </a:xfrm>
          <a:prstGeom prst="rect">
            <a:avLst/>
          </a:prstGeom>
        </p:spPr>
      </p:pic>
      <p:sp>
        <p:nvSpPr>
          <p:cNvPr id="55" name="Text 40"/>
          <p:cNvSpPr txBox="1"/>
          <p:nvPr/>
        </p:nvSpPr>
        <p:spPr>
          <a:xfrm>
            <a:off x="9767621" y="5981090"/>
            <a:ext cx="1638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</a:t>
            </a:r>
            <a:endParaRPr lang="en-US" sz="1800"/>
          </a:p>
        </p:txBody>
      </p:sp>
      <p:sp>
        <p:nvSpPr>
          <p:cNvPr id="56" name="Text 41"/>
          <p:cNvSpPr txBox="1"/>
          <p:nvPr/>
        </p:nvSpPr>
        <p:spPr>
          <a:xfrm>
            <a:off x="9767621" y="6247181"/>
            <a:ext cx="16386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Subcontracting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3072768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109728" cy="1417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11430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TO APAC INNOVATION HUB — 15-YEAR BFSI EVOLUTION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01168" y="82296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 ·  APAC  ·  Banking  ·  AI Credit Risk  ·  KYC/AML  ·  Multi-City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1143000"/>
            <a:ext cx="12188952" cy="228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1168" y="117043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Global Banking Leader, APAC   |   Domain: Banking &amp; Financial Services   |   Function: GCC &amp; ODC Setup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37160" y="1508760"/>
            <a:ext cx="5865876" cy="1371600"/>
          </a:xfrm>
          <a:prstGeom prst="rect">
            <a:avLst/>
          </a:prstGeom>
          <a:solidFill>
            <a:srgbClr val="F7F9F9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600200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" y="1581912"/>
            <a:ext cx="536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56032" y="1892808"/>
            <a:ext cx="56647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bank needed to build, evolve, and scale a multi-city APAC hub across 15+ years — from lean greenfield foundation to fully automated excellence hub supporting €1.3 trillion in assets across 15 countries, with increasing compliance and AI integration requirements.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5916" y="1508760"/>
            <a:ext cx="5865876" cy="1371600"/>
          </a:xfrm>
          <a:prstGeom prst="rect">
            <a:avLst/>
          </a:prstGeom>
          <a:solidFill>
            <a:srgbClr val="E6F4F4"/>
          </a:solidFill>
          <a:ln w="6350">
            <a:solidFill>
              <a:srgbClr val="00808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788" y="160020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15684" y="1581912"/>
            <a:ext cx="536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04788" y="1892808"/>
            <a:ext cx="56647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120 professionals, core BFSI CoE. Phase 2: 450+ specialists, AI-driven risk automation, 98% fraud detection. Phase 3: 700+ professionals across APAC with automated KYC/AML, real-time reporting, $1.2B annual value generation.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37160" y="3017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KEY CAPABILITIES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137160" y="3273552"/>
            <a:ext cx="381914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137160" y="3273552"/>
            <a:ext cx="3819144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210312" y="3337560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Banking GCC Foundation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210312" y="3547872"/>
            <a:ext cx="365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professionals establishing core BFSI CoE operations with compliance engine and risk framework.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4047744" y="3273552"/>
            <a:ext cx="381914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047744" y="3273552"/>
            <a:ext cx="3819144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120896" y="3337560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Digital Transformation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4120896" y="3547872"/>
            <a:ext cx="365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450+ specialists driving AI-powered risk accuracy improvement of 30% and retail banking automation of 45%.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7958328" y="3273552"/>
            <a:ext cx="381914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7958328" y="3273552"/>
            <a:ext cx="3819144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8031480" y="3337560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APAC Excellence Hub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8031480" y="3547872"/>
            <a:ext cx="365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700+ professionals across multi-city hub with automated KYC/AML and real-time reporting across 15 countries.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137160" y="4078224"/>
            <a:ext cx="381914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137160" y="4078224"/>
            <a:ext cx="3819144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210312" y="4142232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Credit Risk Modelling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210312" y="4352544"/>
            <a:ext cx="365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accuracy in AI-driven credit risk modelling supporting enterprise-scale financial decision-making.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4047744" y="4078224"/>
            <a:ext cx="381914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4047744" y="4078224"/>
            <a:ext cx="3819144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4120896" y="4142232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 at Scale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4120896" y="4352544"/>
            <a:ext cx="365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regulatory compliance maintained across all APAC jurisdictions throughout every phase.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7958328" y="4078224"/>
            <a:ext cx="381914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7958328" y="4078224"/>
            <a:ext cx="3819144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8031480" y="4142232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Innovation Engine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8031480" y="4352544"/>
            <a:ext cx="365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innovation frameworks ensuring the hub remains at the forefront of BFSI operations.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0" y="5943600"/>
            <a:ext cx="4062984" cy="91440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91440" y="5989320"/>
            <a:ext cx="3880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700+</a:t>
            </a:r>
            <a:endParaRPr lang="en-US" sz="2000" dirty="0"/>
          </a:p>
        </p:txBody>
      </p:sp>
      <p:sp>
        <p:nvSpPr>
          <p:cNvPr id="43" name="Text 39"/>
          <p:cNvSpPr/>
          <p:nvPr/>
        </p:nvSpPr>
        <p:spPr>
          <a:xfrm>
            <a:off x="91440" y="6419088"/>
            <a:ext cx="3880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Across APAC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4062984" y="5943600"/>
            <a:ext cx="4062984" cy="914400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4154424" y="5989320"/>
            <a:ext cx="3880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2000" dirty="0"/>
          </a:p>
        </p:txBody>
      </p:sp>
      <p:sp>
        <p:nvSpPr>
          <p:cNvPr id="46" name="Text 42"/>
          <p:cNvSpPr/>
          <p:nvPr/>
        </p:nvSpPr>
        <p:spPr>
          <a:xfrm>
            <a:off x="4154424" y="6419088"/>
            <a:ext cx="3880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Credit-Risk Modeling Accuracy</a:t>
            </a:r>
            <a:endParaRPr lang="en-US" sz="850" dirty="0"/>
          </a:p>
        </p:txBody>
      </p:sp>
      <p:sp>
        <p:nvSpPr>
          <p:cNvPr id="47" name="Shape 43"/>
          <p:cNvSpPr/>
          <p:nvPr/>
        </p:nvSpPr>
        <p:spPr>
          <a:xfrm>
            <a:off x="8125968" y="5943600"/>
            <a:ext cx="4062984" cy="91440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/>
          <p:nvPr/>
        </p:nvSpPr>
        <p:spPr>
          <a:xfrm>
            <a:off x="8217408" y="5989320"/>
            <a:ext cx="3880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$1.2B</a:t>
            </a:r>
            <a:endParaRPr lang="en-US" sz="2000" dirty="0"/>
          </a:p>
        </p:txBody>
      </p:sp>
      <p:sp>
        <p:nvSpPr>
          <p:cNvPr id="49" name="Text 45"/>
          <p:cNvSpPr/>
          <p:nvPr/>
        </p:nvSpPr>
        <p:spPr>
          <a:xfrm>
            <a:off x="8217408" y="6419088"/>
            <a:ext cx="3880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Value Generation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109728" cy="1417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11430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TECHNOLOGY COE BUILD — GLOBAL INDUSTRIAL LEADER (SULZER)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01168" y="82296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Model  ·  150 Hires  ·  RPA  ·  Finance  ·  ServiceNow  ·  GCC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1143000"/>
            <a:ext cx="12188952" cy="228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1168" y="117043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Global Industrial Engineering Leader (Sulzer)   |   Domain: Industrial Engineering   |   Function: GCC &amp; ODC Setup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37160" y="1508760"/>
            <a:ext cx="5865876" cy="1371600"/>
          </a:xfrm>
          <a:prstGeom prst="rect">
            <a:avLst/>
          </a:prstGeom>
          <a:solidFill>
            <a:srgbClr val="F7F9F9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600200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" y="1581912"/>
            <a:ext cx="536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56032" y="1892808"/>
            <a:ext cx="56647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industrial leader needed 150-member India CoE across Finance and Technology within 6 months — niche roles including ServiceNow engineers, SAP architects, finance transformation specialists, and data engineering leads requiring rapid scaling and operational maturity.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5916" y="1508760"/>
            <a:ext cx="5865876" cy="1371600"/>
          </a:xfrm>
          <a:prstGeom prst="rect">
            <a:avLst/>
          </a:prstGeom>
          <a:solidFill>
            <a:srgbClr val="E6F4F4"/>
          </a:solidFill>
          <a:ln w="6350">
            <a:solidFill>
              <a:srgbClr val="00808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788" y="160020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15684" y="1581912"/>
            <a:ext cx="536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04788" y="1892808"/>
            <a:ext cx="56647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Build-Operate-Transfer model across 3 phases: infrastructure + 100% recruitment (months 1-2), knowledge transfer + RPA rollout (months 2-4), operational maturity with controlled transfer (months 4-6). Client Vantage dashboard integrated for real-time visibility.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37160" y="3017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KEY CAPABILITIES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137160" y="3273552"/>
            <a:ext cx="381914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137160" y="3273552"/>
            <a:ext cx="3819144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210312" y="3337560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Operating Model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210312" y="3547872"/>
            <a:ext cx="365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Build-Operate-Transfer structure with Sulzer assuming control at month 6 and advisory continuing post-transfer.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4047744" y="3273552"/>
            <a:ext cx="381914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047744" y="3273552"/>
            <a:ext cx="3819144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120896" y="3337560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Tower Excellence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4120896" y="3547872"/>
            <a:ext cx="365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O2C, P2P, R2R, and FP&amp;A each built with embedded control frameworks, compliance, and efficiency benchmarks.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7958328" y="3273552"/>
            <a:ext cx="381914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7958328" y="3273552"/>
            <a:ext cx="3819144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8031480" y="3337560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C2H for Critical Roles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8031480" y="3547872"/>
            <a:ext cx="365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Contract-to-Hire at 45-50% of year-1 compensation with 85% mis-hire risk reduction and day-91 permanent conversion.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137160" y="4078224"/>
            <a:ext cx="381914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137160" y="4078224"/>
            <a:ext cx="3819144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210312" y="4142232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&amp; AI Workflow Automation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210312" y="4352544"/>
            <a:ext cx="365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P2P, O2C, R2R automation targeting 25-30% manual effort reduction across all Finance towers.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4047744" y="4078224"/>
            <a:ext cx="381914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4047744" y="4078224"/>
            <a:ext cx="3819144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4120896" y="4142232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Vantage Dashboard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4120896" y="4352544"/>
            <a:ext cx="365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performance visibility and predictive pipeline analytics from day 1 for leadership oversight.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7958328" y="4078224"/>
            <a:ext cx="381914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7958328" y="4078224"/>
            <a:ext cx="3819144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8031480" y="4142232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&amp; Cloud Enablement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8031480" y="4352544"/>
            <a:ext cx="365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 and CRM optimization for the 50-person technology track.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0" y="5943600"/>
            <a:ext cx="4062984" cy="91440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91440" y="5989320"/>
            <a:ext cx="3880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2000" dirty="0"/>
          </a:p>
        </p:txBody>
      </p:sp>
      <p:sp>
        <p:nvSpPr>
          <p:cNvPr id="43" name="Text 39"/>
          <p:cNvSpPr/>
          <p:nvPr/>
        </p:nvSpPr>
        <p:spPr>
          <a:xfrm>
            <a:off x="91440" y="6419088"/>
            <a:ext cx="3880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 Completed in 6 Months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4062984" y="5943600"/>
            <a:ext cx="4062984" cy="914400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4154424" y="5989320"/>
            <a:ext cx="3880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25-30%</a:t>
            </a:r>
            <a:endParaRPr lang="en-US" sz="2000" dirty="0"/>
          </a:p>
        </p:txBody>
      </p:sp>
      <p:sp>
        <p:nvSpPr>
          <p:cNvPr id="46" name="Text 42"/>
          <p:cNvSpPr/>
          <p:nvPr/>
        </p:nvSpPr>
        <p:spPr>
          <a:xfrm>
            <a:off x="4154424" y="6419088"/>
            <a:ext cx="3880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 Reduction</a:t>
            </a:r>
            <a:endParaRPr lang="en-US" sz="850" dirty="0"/>
          </a:p>
        </p:txBody>
      </p:sp>
      <p:sp>
        <p:nvSpPr>
          <p:cNvPr id="47" name="Shape 43"/>
          <p:cNvSpPr/>
          <p:nvPr/>
        </p:nvSpPr>
        <p:spPr>
          <a:xfrm>
            <a:off x="8125968" y="5943600"/>
            <a:ext cx="4062984" cy="91440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/>
          <p:nvPr/>
        </p:nvSpPr>
        <p:spPr>
          <a:xfrm>
            <a:off x="8217408" y="5989320"/>
            <a:ext cx="3880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15-20%</a:t>
            </a:r>
            <a:endParaRPr lang="en-US" sz="2000" dirty="0"/>
          </a:p>
        </p:txBody>
      </p:sp>
      <p:sp>
        <p:nvSpPr>
          <p:cNvPr id="49" name="Text 45"/>
          <p:cNvSpPr/>
          <p:nvPr/>
        </p:nvSpPr>
        <p:spPr>
          <a:xfrm>
            <a:off x="8217408" y="6419088"/>
            <a:ext cx="3880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 Operational Leverage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109728" cy="1417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11430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&amp; FINANCE TALENT PIPELINE — GLOBAL ALTERNATIVE ASSET MANAGER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01168" y="82296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Hiring  ·  RPO  ·  TalentAI  ·  POFU  ·  GCC  ·  Finance Talent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1143000"/>
            <a:ext cx="12188952" cy="228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1168" y="117043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Leading Global Alternative Asset Manager   |   Domain: Banking &amp; Financial Services   |   Function: Talent Acquisition &amp; Deployment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37160" y="1508760"/>
            <a:ext cx="5865876" cy="1371600"/>
          </a:xfrm>
          <a:prstGeom prst="rect">
            <a:avLst/>
          </a:prstGeom>
          <a:solidFill>
            <a:srgbClr val="F7F9F9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600200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" y="1581912"/>
            <a:ext cx="536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56032" y="1892808"/>
            <a:ext cx="56647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GCC faced 17-18% offer dropout rate from long notice periods, mandatory WFO, competition from Big 4, and fragmented hiring demand. Traditional partners couldn't address structural causes of dropout at required scale.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5916" y="1508760"/>
            <a:ext cx="5865876" cy="1371600"/>
          </a:xfrm>
          <a:prstGeom prst="rect">
            <a:avLst/>
          </a:prstGeom>
          <a:solidFill>
            <a:srgbClr val="E6F4F4"/>
          </a:solidFill>
          <a:ln w="6350">
            <a:solidFill>
              <a:srgbClr val="00808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788" y="160020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15684" y="1581912"/>
            <a:ext cx="536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04788" y="1892808"/>
            <a:ext cx="56647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4-pillar talent engine: pre-mapped CA warm bench, structured 90-day POFU rhythm, WFO employer brand strategy, and Managed RPO consolidating recruitment across all business units. TalentAI and TalentSphere for AI-ranked sourcing.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37160" y="3017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KEY CAPABILITIES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137160" y="3273552"/>
            <a:ext cx="381914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137160" y="3273552"/>
            <a:ext cx="3819144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210312" y="3337560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Pre-Vetted Immediate Joiners Pipeline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210312" y="3547872"/>
            <a:ext cx="365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bench of CAs mapped and ready before demand hits, drawn from campus, Big 4, and competitor pools.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4047744" y="3273552"/>
            <a:ext cx="381914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047744" y="3273552"/>
            <a:ext cx="3819144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120896" y="3337560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POFU Rhythm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4120896" y="3547872"/>
            <a:ext cx="365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post-offer follow-up with milestone touchpoints, manager connects, and counter-offer inoculation.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7958328" y="3273552"/>
            <a:ext cx="381914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7958328" y="3273552"/>
            <a:ext cx="3819144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8031480" y="3337560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WFO Employer Brand Strategy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8031480" y="3547872"/>
            <a:ext cx="365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Repositioned 5-day office as career accelerator with same-role-as-HQ messaging.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137160" y="4078224"/>
            <a:ext cx="381914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137160" y="4078224"/>
            <a:ext cx="3819144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210312" y="4142232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RPO Partnership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210312" y="4352544"/>
            <a:ext cx="365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recruitment across all business units with dedicated team eliminating vendor fragmentation.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4047744" y="4078224"/>
            <a:ext cx="381914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4047744" y="4078224"/>
            <a:ext cx="3819144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4120896" y="4142232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TalentAI &amp; TalentSphere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4120896" y="4352544"/>
            <a:ext cx="365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AI-ranked candidate pools with skill-graph matching and voice-agent pre-screening for faster, higher-quality shortlisting.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7958328" y="4078224"/>
            <a:ext cx="381914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7958328" y="4078224"/>
            <a:ext cx="3819144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8031480" y="4142232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Subcontracting Policy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8031480" y="4352544"/>
            <a:ext cx="365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in-house recruiters handling all sourcing with no subcontracting layer diluting quality.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0" y="5943600"/>
            <a:ext cx="4062984" cy="91440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91440" y="5989320"/>
            <a:ext cx="3880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&lt;5%</a:t>
            </a:r>
            <a:endParaRPr lang="en-US" sz="2000" dirty="0"/>
          </a:p>
        </p:txBody>
      </p:sp>
      <p:sp>
        <p:nvSpPr>
          <p:cNvPr id="43" name="Text 39"/>
          <p:cNvSpPr/>
          <p:nvPr/>
        </p:nvSpPr>
        <p:spPr>
          <a:xfrm>
            <a:off x="91440" y="6419088"/>
            <a:ext cx="3880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Dropout (Down from 17-18%)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4062984" y="5943600"/>
            <a:ext cx="4062984" cy="914400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4154424" y="5989320"/>
            <a:ext cx="3880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Hrs</a:t>
            </a:r>
            <a:endParaRPr lang="en-US" sz="2000" dirty="0"/>
          </a:p>
        </p:txBody>
      </p:sp>
      <p:sp>
        <p:nvSpPr>
          <p:cNvPr id="46" name="Text 42"/>
          <p:cNvSpPr/>
          <p:nvPr/>
        </p:nvSpPr>
        <p:spPr>
          <a:xfrm>
            <a:off x="4154424" y="6419088"/>
            <a:ext cx="3880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Shortlist</a:t>
            </a:r>
            <a:endParaRPr lang="en-US" sz="850" dirty="0"/>
          </a:p>
        </p:txBody>
      </p:sp>
      <p:sp>
        <p:nvSpPr>
          <p:cNvPr id="47" name="Shape 43"/>
          <p:cNvSpPr/>
          <p:nvPr/>
        </p:nvSpPr>
        <p:spPr>
          <a:xfrm>
            <a:off x="8125968" y="5943600"/>
            <a:ext cx="4062984" cy="91440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/>
          <p:nvPr/>
        </p:nvSpPr>
        <p:spPr>
          <a:xfrm>
            <a:off x="8217408" y="5989320"/>
            <a:ext cx="3880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49" name="Text 45"/>
          <p:cNvSpPr/>
          <p:nvPr/>
        </p:nvSpPr>
        <p:spPr>
          <a:xfrm>
            <a:off x="8217408" y="6419088"/>
            <a:ext cx="3880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Double-Screened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gen-dedup-9663ecf744b06e35d4c2cebaab92a2ea.png"/>
          <p:cNvPicPr>
            <a:picLocks noChangeAspect="1"/>
          </p:cNvPicPr>
          <p:nvPr/>
        </p:nvPicPr>
        <p:blipFill>
          <a:blip r:embed="rId3"/>
          <a:srcRect l="-202" r="-202"/>
          <a:stretch/>
        </p:blipFill>
        <p:spPr>
          <a:xfrm>
            <a:off x="0" y="0"/>
            <a:ext cx="4067251" cy="75895"/>
          </a:xfrm>
          <a:prstGeom prst="rect">
            <a:avLst/>
          </a:prstGeom>
        </p:spPr>
      </p:pic>
      <p:pic>
        <p:nvPicPr>
          <p:cNvPr id="5" name="Image 1" descr="gen-dedup-323228122ff92d2332e711a84ca3b40c.png"/>
          <p:cNvPicPr>
            <a:picLocks noChangeAspect="1"/>
          </p:cNvPicPr>
          <p:nvPr/>
        </p:nvPicPr>
        <p:blipFill>
          <a:blip r:embed="rId4"/>
          <a:srcRect l="-198" r="-198"/>
          <a:stretch/>
        </p:blipFill>
        <p:spPr>
          <a:xfrm>
            <a:off x="4067251" y="0"/>
            <a:ext cx="8124444" cy="758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334195" y="-476402"/>
            <a:ext cx="3810305" cy="3810305"/>
          </a:xfrm>
          <a:prstGeom prst="ellipse">
            <a:avLst/>
          </a:prstGeom>
          <a:solidFill>
            <a:srgbClr val="2A9D8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-1429207" y="3047695"/>
            <a:ext cx="3333902" cy="3333902"/>
          </a:xfrm>
          <a:prstGeom prst="ellipse">
            <a:avLst/>
          </a:prstGeom>
          <a:solidFill>
            <a:srgbClr val="D62839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647395" y="4619549"/>
            <a:ext cx="10916107" cy="1781251"/>
          </a:xfrm>
          <a:prstGeom prst="roundRect">
            <a:avLst>
              <a:gd name="adj" fmla="val 43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647395" y="1571854"/>
            <a:ext cx="3524098" cy="2809951"/>
          </a:xfrm>
          <a:prstGeom prst="roundRect">
            <a:avLst>
              <a:gd name="adj" fmla="val 1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47395" y="1571854"/>
            <a:ext cx="3524098" cy="38405"/>
          </a:xfrm>
          <a:prstGeom prst="roundRect">
            <a:avLst>
              <a:gd name="adj" fmla="val 96852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343400" y="1571854"/>
            <a:ext cx="3524098" cy="2809951"/>
          </a:xfrm>
          <a:prstGeom prst="roundRect">
            <a:avLst>
              <a:gd name="adj" fmla="val 1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343400" y="1571854"/>
            <a:ext cx="3524098" cy="38405"/>
          </a:xfrm>
          <a:prstGeom prst="roundRect">
            <a:avLst>
              <a:gd name="adj" fmla="val 96852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8039405" y="1571854"/>
            <a:ext cx="3524098" cy="2809951"/>
          </a:xfrm>
          <a:prstGeom prst="roundRect">
            <a:avLst>
              <a:gd name="adj" fmla="val 1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039405" y="1571854"/>
            <a:ext cx="3524098" cy="38405"/>
          </a:xfrm>
          <a:prstGeom prst="roundRect">
            <a:avLst>
              <a:gd name="adj" fmla="val 96852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05256" y="5143500"/>
            <a:ext cx="2467051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666744" y="5143500"/>
            <a:ext cx="2467051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29146" y="5143500"/>
            <a:ext cx="2467051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191549" y="5143500"/>
            <a:ext cx="2180844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gen-dedup-06e3d16aa0e9246458a784af17ea21a8.png"/>
          <p:cNvPicPr>
            <a:picLocks noChangeAspect="1"/>
          </p:cNvPicPr>
          <p:nvPr/>
        </p:nvPicPr>
        <p:blipFill>
          <a:blip r:embed="rId5"/>
          <a:srcRect l="-437" r="-437"/>
          <a:stretch/>
        </p:blipFill>
        <p:spPr>
          <a:xfrm>
            <a:off x="647395" y="743407"/>
            <a:ext cx="57607" cy="4187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57707" y="685800"/>
            <a:ext cx="10478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21" name="Text 16"/>
          <p:cNvSpPr txBox="1"/>
          <p:nvPr/>
        </p:nvSpPr>
        <p:spPr>
          <a:xfrm>
            <a:off x="857707" y="1143000"/>
            <a:ext cx="10478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FLEXIBLE ENGAGEMENT MODELS TAILORED TO YOUR THREE-YEAR ROADMAP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38505" y="1762049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E6F3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gen-dedup-fa5d0b435e79f3035aaec6593bf7cfb3.png"/>
          <p:cNvPicPr>
            <a:picLocks noChangeAspect="1"/>
          </p:cNvPicPr>
          <p:nvPr/>
        </p:nvPicPr>
        <p:blipFill>
          <a:blip r:embed="rId6"/>
          <a:srcRect l="-3526" r="-3526"/>
          <a:stretch/>
        </p:blipFill>
        <p:spPr>
          <a:xfrm>
            <a:off x="990295" y="1895551"/>
            <a:ext cx="152705" cy="1901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47495" y="1794967"/>
            <a:ext cx="199522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Discovery Workshop</a:t>
            </a:r>
            <a:endParaRPr lang="en-US" sz="1600"/>
          </a:p>
        </p:txBody>
      </p:sp>
      <p:sp>
        <p:nvSpPr>
          <p:cNvPr id="25" name="Text 19"/>
          <p:cNvSpPr txBox="1"/>
          <p:nvPr/>
        </p:nvSpPr>
        <p:spPr>
          <a:xfrm>
            <a:off x="1447495" y="2043684"/>
            <a:ext cx="1677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Duration: ~90 Minutes</a:t>
            </a:r>
            <a:endParaRPr lang="en-US" sz="900"/>
          </a:p>
        </p:txBody>
      </p:sp>
      <p:sp>
        <p:nvSpPr>
          <p:cNvPr id="26" name="Shape 20"/>
          <p:cNvSpPr/>
          <p:nvPr/>
        </p:nvSpPr>
        <p:spPr>
          <a:xfrm>
            <a:off x="3259836" y="1762049"/>
            <a:ext cx="705002" cy="256946"/>
          </a:xfrm>
          <a:prstGeom prst="roundRect">
            <a:avLst>
              <a:gd name="adj" fmla="val 316331"/>
            </a:avLst>
          </a:prstGeom>
          <a:solidFill>
            <a:srgbClr val="E6F3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838505" y="2447849"/>
            <a:ext cx="31245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>
                <a:solidFill>
                  <a:srgbClr val="94A3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DELIVERABLES</a:t>
            </a:r>
            <a:endParaRPr lang="en-US" sz="900"/>
          </a:p>
        </p:txBody>
      </p:sp>
      <p:pic>
        <p:nvPicPr>
          <p:cNvPr id="28" name="Image 4" descr="gen-dedup-2910efa1624004b251a6644ba5a6ae47.png"/>
          <p:cNvPicPr>
            <a:picLocks noChangeAspect="1"/>
          </p:cNvPicPr>
          <p:nvPr/>
        </p:nvPicPr>
        <p:blipFill>
          <a:blip r:embed="rId7"/>
          <a:srcRect t="-27726" b="-27726"/>
          <a:stretch/>
        </p:blipFill>
        <p:spPr>
          <a:xfrm>
            <a:off x="838505" y="2734056"/>
            <a:ext cx="85954" cy="15270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19556" y="2695651"/>
            <a:ext cx="273222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 case identification &amp; prioritization</a:t>
            </a:r>
            <a:endParaRPr lang="en-US" sz="1000"/>
          </a:p>
        </p:txBody>
      </p:sp>
      <p:pic>
        <p:nvPicPr>
          <p:cNvPr id="30" name="Image 5" descr="gen-dedup-2910efa1624004b251a6644ba5a6ae47.png"/>
          <p:cNvPicPr>
            <a:picLocks noChangeAspect="1"/>
          </p:cNvPicPr>
          <p:nvPr/>
        </p:nvPicPr>
        <p:blipFill>
          <a:blip r:embed="rId7"/>
          <a:srcRect t="-27726" b="-27726"/>
          <a:stretch/>
        </p:blipFill>
        <p:spPr>
          <a:xfrm>
            <a:off x="838505" y="3019349"/>
            <a:ext cx="85954" cy="15270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019556" y="2980944"/>
            <a:ext cx="19723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Value hypothesis definition</a:t>
            </a:r>
            <a:endParaRPr lang="en-US" sz="1000"/>
          </a:p>
        </p:txBody>
      </p:sp>
      <p:pic>
        <p:nvPicPr>
          <p:cNvPr id="32" name="Image 6" descr="gen-dedup-2910efa1624004b251a6644ba5a6ae47.png"/>
          <p:cNvPicPr>
            <a:picLocks noChangeAspect="1"/>
          </p:cNvPicPr>
          <p:nvPr/>
        </p:nvPicPr>
        <p:blipFill>
          <a:blip r:embed="rId7"/>
          <a:srcRect t="-27726" b="-27726"/>
          <a:stretch/>
        </p:blipFill>
        <p:spPr>
          <a:xfrm>
            <a:off x="838505" y="3305556"/>
            <a:ext cx="85954" cy="152705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019556" y="3267151"/>
            <a:ext cx="33777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High-level roadmap aligned to 70/30 strategy</a:t>
            </a:r>
            <a:endParaRPr lang="en-US" sz="1000"/>
          </a:p>
        </p:txBody>
      </p:sp>
      <p:sp>
        <p:nvSpPr>
          <p:cNvPr id="34" name="Text 25"/>
          <p:cNvSpPr txBox="1"/>
          <p:nvPr/>
        </p:nvSpPr>
        <p:spPr>
          <a:xfrm>
            <a:off x="3354934" y="1848002"/>
            <a:ext cx="662026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LOW TOUCH</a:t>
            </a:r>
            <a:endParaRPr lang="en-US" sz="800"/>
          </a:p>
        </p:txBody>
      </p:sp>
      <p:sp>
        <p:nvSpPr>
          <p:cNvPr id="35" name="Shape 26"/>
          <p:cNvSpPr/>
          <p:nvPr/>
        </p:nvSpPr>
        <p:spPr>
          <a:xfrm>
            <a:off x="4533595" y="1762049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BE6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7" descr="gen-dedup-302cf04975ca72dffec5134ed5b99fbe.png"/>
          <p:cNvPicPr>
            <a:picLocks noChangeAspect="1"/>
          </p:cNvPicPr>
          <p:nvPr/>
        </p:nvPicPr>
        <p:blipFill>
          <a:blip r:embed="rId8"/>
          <a:srcRect t="-4491" b="-4491"/>
          <a:stretch/>
        </p:blipFill>
        <p:spPr>
          <a:xfrm>
            <a:off x="4686300" y="1895551"/>
            <a:ext cx="152705" cy="19019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5143500" y="1794967"/>
            <a:ext cx="182514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Assessment &amp; PoC</a:t>
            </a:r>
            <a:endParaRPr lang="en-US" sz="1600"/>
          </a:p>
        </p:txBody>
      </p:sp>
      <p:sp>
        <p:nvSpPr>
          <p:cNvPr id="38" name="Text 28"/>
          <p:cNvSpPr txBox="1"/>
          <p:nvPr/>
        </p:nvSpPr>
        <p:spPr>
          <a:xfrm>
            <a:off x="5143500" y="2043684"/>
            <a:ext cx="15343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Duration: 4 Weeks</a:t>
            </a:r>
            <a:endParaRPr lang="en-US" sz="900"/>
          </a:p>
        </p:txBody>
      </p:sp>
      <p:sp>
        <p:nvSpPr>
          <p:cNvPr id="39" name="Shape 29"/>
          <p:cNvSpPr/>
          <p:nvPr/>
        </p:nvSpPr>
        <p:spPr>
          <a:xfrm>
            <a:off x="6982358" y="1762049"/>
            <a:ext cx="676656" cy="256946"/>
          </a:xfrm>
          <a:prstGeom prst="roundRect">
            <a:avLst>
              <a:gd name="adj" fmla="val 316331"/>
            </a:avLst>
          </a:prstGeom>
          <a:solidFill>
            <a:srgbClr val="FBE6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0"/>
          <p:cNvSpPr txBox="1"/>
          <p:nvPr/>
        </p:nvSpPr>
        <p:spPr>
          <a:xfrm>
            <a:off x="4533595" y="2447849"/>
            <a:ext cx="31245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>
                <a:solidFill>
                  <a:srgbClr val="94A3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DELIVERABLES</a:t>
            </a:r>
            <a:endParaRPr lang="en-US" sz="900"/>
          </a:p>
        </p:txBody>
      </p:sp>
      <p:pic>
        <p:nvPicPr>
          <p:cNvPr id="41" name="Image 8" descr="gen-dedup-3f480c66afa147b2245dea2610bb3896.png"/>
          <p:cNvPicPr>
            <a:picLocks noChangeAspect="1"/>
          </p:cNvPicPr>
          <p:nvPr/>
        </p:nvPicPr>
        <p:blipFill>
          <a:blip r:embed="rId9"/>
          <a:srcRect t="-12832" b="-12832"/>
          <a:stretch/>
        </p:blipFill>
        <p:spPr>
          <a:xfrm>
            <a:off x="4533595" y="2734056"/>
            <a:ext cx="85954" cy="123444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4714646" y="2695651"/>
            <a:ext cx="21543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Target state architecture design</a:t>
            </a:r>
            <a:endParaRPr lang="en-US" sz="900"/>
          </a:p>
        </p:txBody>
      </p:sp>
      <p:pic>
        <p:nvPicPr>
          <p:cNvPr id="43" name="Image 9" descr="gen-dedup-3f480c66afa147b2245dea2610bb3896.png"/>
          <p:cNvPicPr>
            <a:picLocks noChangeAspect="1"/>
          </p:cNvPicPr>
          <p:nvPr/>
        </p:nvPicPr>
        <p:blipFill>
          <a:blip r:embed="rId9"/>
          <a:srcRect t="-12832" b="-12832"/>
          <a:stretch/>
        </p:blipFill>
        <p:spPr>
          <a:xfrm>
            <a:off x="4533595" y="2971800"/>
            <a:ext cx="85954" cy="123444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4714646" y="2933395"/>
            <a:ext cx="25054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Working pilot / MVP implementation</a:t>
            </a:r>
            <a:endParaRPr lang="en-US" sz="900"/>
          </a:p>
        </p:txBody>
      </p:sp>
      <p:pic>
        <p:nvPicPr>
          <p:cNvPr id="45" name="Image 10" descr="gen-dedup-3f480c66afa147b2245dea2610bb3896.png"/>
          <p:cNvPicPr>
            <a:picLocks noChangeAspect="1"/>
          </p:cNvPicPr>
          <p:nvPr/>
        </p:nvPicPr>
        <p:blipFill>
          <a:blip r:embed="rId9"/>
          <a:srcRect t="-12832" b="-12832"/>
          <a:stretch/>
        </p:blipFill>
        <p:spPr>
          <a:xfrm>
            <a:off x="4533595" y="3209544"/>
            <a:ext cx="85954" cy="123444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4714646" y="3172054"/>
            <a:ext cx="227868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Detailed ROI model &amp; rollout plan</a:t>
            </a:r>
            <a:endParaRPr lang="en-US" sz="900"/>
          </a:p>
        </p:txBody>
      </p:sp>
      <p:pic>
        <p:nvPicPr>
          <p:cNvPr id="47" name="Image 11" descr="gen-dedup-3f480c66afa147b2245dea2610bb3896.png"/>
          <p:cNvPicPr>
            <a:picLocks noChangeAspect="1"/>
          </p:cNvPicPr>
          <p:nvPr/>
        </p:nvPicPr>
        <p:blipFill>
          <a:blip r:embed="rId9"/>
          <a:srcRect t="-12832" b="-12832"/>
          <a:stretch/>
        </p:blipFill>
        <p:spPr>
          <a:xfrm>
            <a:off x="4533595" y="3448202"/>
            <a:ext cx="85954" cy="123444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4714646" y="3409798"/>
            <a:ext cx="210860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Vendor integration assessment</a:t>
            </a:r>
            <a:endParaRPr lang="en-US" sz="900"/>
          </a:p>
        </p:txBody>
      </p:sp>
      <p:sp>
        <p:nvSpPr>
          <p:cNvPr id="49" name="Text 35"/>
          <p:cNvSpPr txBox="1"/>
          <p:nvPr/>
        </p:nvSpPr>
        <p:spPr>
          <a:xfrm>
            <a:off x="7077456" y="1848002"/>
            <a:ext cx="65836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D6283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STRATEGIC</a:t>
            </a:r>
            <a:endParaRPr lang="en-US" sz="800"/>
          </a:p>
        </p:txBody>
      </p:sp>
      <p:sp>
        <p:nvSpPr>
          <p:cNvPr id="50" name="Shape 36"/>
          <p:cNvSpPr/>
          <p:nvPr/>
        </p:nvSpPr>
        <p:spPr>
          <a:xfrm>
            <a:off x="8229600" y="1762049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Image 12" descr="gen-dedup-e104b6e838315a11dc2d3bf260faf00b.png"/>
          <p:cNvPicPr>
            <a:picLocks noChangeAspect="1"/>
          </p:cNvPicPr>
          <p:nvPr/>
        </p:nvPicPr>
        <p:blipFill>
          <a:blip r:embed="rId10"/>
          <a:srcRect t="-27844" b="-27844"/>
          <a:stretch/>
        </p:blipFill>
        <p:spPr>
          <a:xfrm>
            <a:off x="8382305" y="1895551"/>
            <a:ext cx="152705" cy="190195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8839505" y="1794967"/>
            <a:ext cx="193852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Build &amp; Run Models</a:t>
            </a:r>
            <a:endParaRPr lang="en-US" sz="1600"/>
          </a:p>
        </p:txBody>
      </p:sp>
      <p:sp>
        <p:nvSpPr>
          <p:cNvPr id="53" name="Text 38"/>
          <p:cNvSpPr txBox="1"/>
          <p:nvPr/>
        </p:nvSpPr>
        <p:spPr>
          <a:xfrm>
            <a:off x="8839505" y="2043684"/>
            <a:ext cx="16294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Duration: Multi-Year</a:t>
            </a:r>
            <a:endParaRPr lang="en-US" sz="900"/>
          </a:p>
        </p:txBody>
      </p:sp>
      <p:sp>
        <p:nvSpPr>
          <p:cNvPr id="54" name="Shape 39"/>
          <p:cNvSpPr/>
          <p:nvPr/>
        </p:nvSpPr>
        <p:spPr>
          <a:xfrm>
            <a:off x="10555834" y="1762049"/>
            <a:ext cx="800100" cy="256946"/>
          </a:xfrm>
          <a:prstGeom prst="roundRect">
            <a:avLst>
              <a:gd name="adj" fmla="val 31633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0"/>
          <p:cNvSpPr txBox="1"/>
          <p:nvPr/>
        </p:nvSpPr>
        <p:spPr>
          <a:xfrm>
            <a:off x="8229600" y="2447849"/>
            <a:ext cx="31245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>
                <a:solidFill>
                  <a:srgbClr val="94A3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COMMERCIAL MODELS</a:t>
            </a:r>
            <a:endParaRPr lang="en-US" sz="900"/>
          </a:p>
        </p:txBody>
      </p:sp>
      <p:pic>
        <p:nvPicPr>
          <p:cNvPr id="56" name="Image 13" descr="gen-dedup-06c19e2f143b52e69c4653630769d291.png"/>
          <p:cNvPicPr>
            <a:picLocks noChangeAspect="1"/>
          </p:cNvPicPr>
          <p:nvPr/>
        </p:nvPicPr>
        <p:blipFill>
          <a:blip r:embed="rId11"/>
          <a:srcRect t="-27726" b="-27726"/>
          <a:stretch/>
        </p:blipFill>
        <p:spPr>
          <a:xfrm>
            <a:off x="8229600" y="2734056"/>
            <a:ext cx="85954" cy="152705"/>
          </a:xfrm>
          <a:prstGeom prst="rect">
            <a:avLst/>
          </a:prstGeom>
        </p:spPr>
      </p:pic>
      <p:sp>
        <p:nvSpPr>
          <p:cNvPr id="57" name="Text 41"/>
          <p:cNvSpPr txBox="1"/>
          <p:nvPr/>
        </p:nvSpPr>
        <p:spPr>
          <a:xfrm>
            <a:off x="8410651" y="2695651"/>
            <a:ext cx="28794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Fixed Scope:</a:t>
            </a: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For defined project builds</a:t>
            </a:r>
            <a:endParaRPr lang="en-US" sz="1000"/>
          </a:p>
        </p:txBody>
      </p:sp>
      <p:pic>
        <p:nvPicPr>
          <p:cNvPr id="58" name="Image 14" descr="gen-dedup-06c19e2f143b52e69c4653630769d291.png"/>
          <p:cNvPicPr>
            <a:picLocks noChangeAspect="1"/>
          </p:cNvPicPr>
          <p:nvPr/>
        </p:nvPicPr>
        <p:blipFill>
          <a:blip r:embed="rId11"/>
          <a:srcRect t="-27726" b="-27726"/>
          <a:stretch/>
        </p:blipFill>
        <p:spPr>
          <a:xfrm>
            <a:off x="8229600" y="3038551"/>
            <a:ext cx="85954" cy="152705"/>
          </a:xfrm>
          <a:prstGeom prst="rect">
            <a:avLst/>
          </a:prstGeom>
        </p:spPr>
      </p:pic>
      <p:sp>
        <p:nvSpPr>
          <p:cNvPr id="59" name="Text 42"/>
          <p:cNvSpPr txBox="1"/>
          <p:nvPr/>
        </p:nvSpPr>
        <p:spPr>
          <a:xfrm>
            <a:off x="8410651" y="3000146"/>
            <a:ext cx="30385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Managed Service:</a:t>
            </a: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SLA-driven operations</a:t>
            </a:r>
            <a:endParaRPr lang="en-US" sz="1000"/>
          </a:p>
        </p:txBody>
      </p:sp>
      <p:pic>
        <p:nvPicPr>
          <p:cNvPr id="60" name="Image 15" descr="gen-dedup-3678629b4a5ad6139a7cc5dcf1ee97ee.png"/>
          <p:cNvPicPr>
            <a:picLocks noChangeAspect="1"/>
          </p:cNvPicPr>
          <p:nvPr/>
        </p:nvPicPr>
        <p:blipFill>
          <a:blip r:embed="rId12"/>
          <a:srcRect t="-119879" b="-119879"/>
          <a:stretch/>
        </p:blipFill>
        <p:spPr>
          <a:xfrm>
            <a:off x="8229600" y="3343046"/>
            <a:ext cx="85954" cy="333756"/>
          </a:xfrm>
          <a:prstGeom prst="rect">
            <a:avLst/>
          </a:prstGeom>
        </p:spPr>
      </p:pic>
      <p:sp>
        <p:nvSpPr>
          <p:cNvPr id="61" name="Text 43"/>
          <p:cNvSpPr txBox="1"/>
          <p:nvPr/>
        </p:nvSpPr>
        <p:spPr>
          <a:xfrm>
            <a:off x="8410651" y="3305556"/>
            <a:ext cx="29434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Outcome-Based:</a:t>
            </a: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Gain-share pricing tied to value</a:t>
            </a:r>
            <a:endParaRPr lang="en-US" sz="1000"/>
          </a:p>
        </p:txBody>
      </p:sp>
      <p:sp>
        <p:nvSpPr>
          <p:cNvPr id="62" name="Text 44"/>
          <p:cNvSpPr txBox="1"/>
          <p:nvPr/>
        </p:nvSpPr>
        <p:spPr>
          <a:xfrm>
            <a:off x="10650931" y="1848002"/>
            <a:ext cx="80650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334155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PARTNERSHIP</a:t>
            </a:r>
            <a:endParaRPr lang="en-US" sz="800"/>
          </a:p>
        </p:txBody>
      </p:sp>
      <p:pic>
        <p:nvPicPr>
          <p:cNvPr id="63" name="Image 16" descr="gen-dedup-a2699a036d9634824b4953ceddf6835e.png"/>
          <p:cNvPicPr>
            <a:picLocks noChangeAspect="1"/>
          </p:cNvPicPr>
          <p:nvPr/>
        </p:nvPicPr>
        <p:blipFill>
          <a:blip r:embed="rId13"/>
          <a:srcRect t="-16800" b="-16800"/>
          <a:stretch/>
        </p:blipFill>
        <p:spPr>
          <a:xfrm>
            <a:off x="905256" y="4809744"/>
            <a:ext cx="114300" cy="152705"/>
          </a:xfrm>
          <a:prstGeom prst="rect">
            <a:avLst/>
          </a:prstGeom>
        </p:spPr>
      </p:pic>
      <p:sp>
        <p:nvSpPr>
          <p:cNvPr id="64" name="Text 45"/>
          <p:cNvSpPr txBox="1"/>
          <p:nvPr/>
        </p:nvSpPr>
        <p:spPr>
          <a:xfrm>
            <a:off x="1114654" y="4762195"/>
            <a:ext cx="315193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7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SAMPLE IMPLEMENTATION ROADMAP</a:t>
            </a:r>
            <a:endParaRPr lang="en-US" sz="1300"/>
          </a:p>
        </p:txBody>
      </p:sp>
      <p:sp>
        <p:nvSpPr>
          <p:cNvPr id="65" name="Text 46"/>
          <p:cNvSpPr txBox="1"/>
          <p:nvPr/>
        </p:nvSpPr>
        <p:spPr>
          <a:xfrm>
            <a:off x="1047902" y="5315407"/>
            <a:ext cx="71963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DISCOVERY</a:t>
            </a:r>
            <a:endParaRPr lang="en-US" sz="900"/>
          </a:p>
        </p:txBody>
      </p:sp>
      <p:sp>
        <p:nvSpPr>
          <p:cNvPr id="66" name="Text 47"/>
          <p:cNvSpPr txBox="1"/>
          <p:nvPr/>
        </p:nvSpPr>
        <p:spPr>
          <a:xfrm>
            <a:off x="3063240" y="5238598"/>
            <a:ext cx="1819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CBD5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Q1</a:t>
            </a:r>
            <a:endParaRPr lang="en-US" sz="1200"/>
          </a:p>
        </p:txBody>
      </p:sp>
      <p:sp>
        <p:nvSpPr>
          <p:cNvPr id="67" name="Text 48"/>
          <p:cNvSpPr txBox="1"/>
          <p:nvPr/>
        </p:nvSpPr>
        <p:spPr>
          <a:xfrm>
            <a:off x="1047902" y="5505602"/>
            <a:ext cx="21625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Assess readiness, define scope, select initial use cases</a:t>
            </a:r>
            <a:endParaRPr lang="en-US" sz="900"/>
          </a:p>
        </p:txBody>
      </p:sp>
      <p:sp>
        <p:nvSpPr>
          <p:cNvPr id="68" name="Shape 49"/>
          <p:cNvSpPr/>
          <p:nvPr/>
        </p:nvSpPr>
        <p:spPr>
          <a:xfrm>
            <a:off x="1047902" y="6117336"/>
            <a:ext cx="562356" cy="9144"/>
          </a:xfrm>
          <a:prstGeom prst="rect">
            <a:avLst/>
          </a:prstGeom>
          <a:solidFill>
            <a:srgbClr val="E6F3F1"/>
          </a:solidFill>
          <a:ln w="12700">
            <a:solidFill>
              <a:srgbClr val="E6F3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50"/>
          <p:cNvSpPr txBox="1"/>
          <p:nvPr/>
        </p:nvSpPr>
        <p:spPr>
          <a:xfrm>
            <a:off x="1104595" y="5964631"/>
            <a:ext cx="71689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2A9D8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Initiation</a:t>
            </a:r>
            <a:endParaRPr lang="en-US" sz="800"/>
          </a:p>
        </p:txBody>
      </p:sp>
      <p:pic>
        <p:nvPicPr>
          <p:cNvPr id="70" name="Image 17" descr="gen-dedup-6bab9f986820d248c4d42c53288c0e5d.png"/>
          <p:cNvPicPr>
            <a:picLocks noChangeAspect="1"/>
          </p:cNvPicPr>
          <p:nvPr/>
        </p:nvPicPr>
        <p:blipFill>
          <a:blip r:embed="rId14"/>
          <a:srcRect t="-5544" b="-5544"/>
          <a:stretch/>
        </p:blipFill>
        <p:spPr>
          <a:xfrm>
            <a:off x="3452774" y="5627218"/>
            <a:ext cx="105156" cy="133502"/>
          </a:xfrm>
          <a:prstGeom prst="rect">
            <a:avLst/>
          </a:prstGeom>
        </p:spPr>
      </p:pic>
      <p:sp>
        <p:nvSpPr>
          <p:cNvPr id="71" name="Text 51"/>
          <p:cNvSpPr txBox="1"/>
          <p:nvPr/>
        </p:nvSpPr>
        <p:spPr>
          <a:xfrm>
            <a:off x="3810305" y="5315407"/>
            <a:ext cx="86410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D6283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PILOT / POC</a:t>
            </a:r>
            <a:endParaRPr lang="en-US" sz="900"/>
          </a:p>
        </p:txBody>
      </p:sp>
      <p:sp>
        <p:nvSpPr>
          <p:cNvPr id="72" name="Text 52"/>
          <p:cNvSpPr txBox="1"/>
          <p:nvPr/>
        </p:nvSpPr>
        <p:spPr>
          <a:xfrm>
            <a:off x="5807354" y="5238598"/>
            <a:ext cx="196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CBD5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Q2</a:t>
            </a:r>
            <a:endParaRPr lang="en-US" sz="1200"/>
          </a:p>
        </p:txBody>
      </p:sp>
      <p:sp>
        <p:nvSpPr>
          <p:cNvPr id="73" name="Text 53"/>
          <p:cNvSpPr txBox="1"/>
          <p:nvPr/>
        </p:nvSpPr>
        <p:spPr>
          <a:xfrm>
            <a:off x="3810305" y="5505602"/>
            <a:ext cx="21625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MVP build, user testing, architecture validation</a:t>
            </a:r>
            <a:endParaRPr lang="en-US" sz="900"/>
          </a:p>
        </p:txBody>
      </p:sp>
      <p:sp>
        <p:nvSpPr>
          <p:cNvPr id="74" name="Shape 54"/>
          <p:cNvSpPr/>
          <p:nvPr/>
        </p:nvSpPr>
        <p:spPr>
          <a:xfrm>
            <a:off x="3810305" y="5897880"/>
            <a:ext cx="629107" cy="219456"/>
          </a:xfrm>
          <a:prstGeom prst="roundRect">
            <a:avLst>
              <a:gd name="adj" fmla="val 144928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55"/>
          <p:cNvSpPr txBox="1"/>
          <p:nvPr/>
        </p:nvSpPr>
        <p:spPr>
          <a:xfrm>
            <a:off x="3866998" y="5964631"/>
            <a:ext cx="7269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Validation</a:t>
            </a:r>
            <a:endParaRPr lang="en-US" sz="800"/>
          </a:p>
        </p:txBody>
      </p:sp>
      <p:pic>
        <p:nvPicPr>
          <p:cNvPr id="76" name="Image 18" descr="gen-dedup-6bab9f986820d248c4d42c53288c0e5d.png"/>
          <p:cNvPicPr>
            <a:picLocks noChangeAspect="1"/>
          </p:cNvPicPr>
          <p:nvPr/>
        </p:nvPicPr>
        <p:blipFill>
          <a:blip r:embed="rId14"/>
          <a:srcRect t="-5544" b="-5544"/>
          <a:stretch/>
        </p:blipFill>
        <p:spPr>
          <a:xfrm>
            <a:off x="6215177" y="5627218"/>
            <a:ext cx="105156" cy="133502"/>
          </a:xfrm>
          <a:prstGeom prst="rect">
            <a:avLst/>
          </a:prstGeom>
        </p:spPr>
      </p:pic>
      <p:sp>
        <p:nvSpPr>
          <p:cNvPr id="77" name="Text 56"/>
          <p:cNvSpPr txBox="1"/>
          <p:nvPr/>
        </p:nvSpPr>
        <p:spPr>
          <a:xfrm>
            <a:off x="6572707" y="5315407"/>
            <a:ext cx="40233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E293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SCALE</a:t>
            </a:r>
            <a:endParaRPr lang="en-US" sz="900"/>
          </a:p>
        </p:txBody>
      </p:sp>
      <p:sp>
        <p:nvSpPr>
          <p:cNvPr id="78" name="Text 57"/>
          <p:cNvSpPr txBox="1"/>
          <p:nvPr/>
        </p:nvSpPr>
        <p:spPr>
          <a:xfrm>
            <a:off x="8569757" y="5238598"/>
            <a:ext cx="196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CBD5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Q3</a:t>
            </a:r>
            <a:endParaRPr lang="en-US" sz="1200"/>
          </a:p>
        </p:txBody>
      </p:sp>
      <p:sp>
        <p:nvSpPr>
          <p:cNvPr id="79" name="Text 58"/>
          <p:cNvSpPr txBox="1"/>
          <p:nvPr/>
        </p:nvSpPr>
        <p:spPr>
          <a:xfrm>
            <a:off x="6572707" y="5505602"/>
            <a:ext cx="21625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Production deployment, integration, vendor onboarding</a:t>
            </a:r>
            <a:endParaRPr lang="en-US" sz="900"/>
          </a:p>
        </p:txBody>
      </p:sp>
      <p:sp>
        <p:nvSpPr>
          <p:cNvPr id="80" name="Shape 59"/>
          <p:cNvSpPr/>
          <p:nvPr/>
        </p:nvSpPr>
        <p:spPr>
          <a:xfrm>
            <a:off x="6572707" y="5897880"/>
            <a:ext cx="619049" cy="219456"/>
          </a:xfrm>
          <a:prstGeom prst="roundRect">
            <a:avLst>
              <a:gd name="adj" fmla="val 144928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60"/>
          <p:cNvSpPr txBox="1"/>
          <p:nvPr/>
        </p:nvSpPr>
        <p:spPr>
          <a:xfrm>
            <a:off x="6629400" y="5964631"/>
            <a:ext cx="66111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Execution</a:t>
            </a:r>
            <a:endParaRPr lang="en-US" sz="800"/>
          </a:p>
        </p:txBody>
      </p:sp>
      <p:pic>
        <p:nvPicPr>
          <p:cNvPr id="82" name="Image 19" descr="gen-dedup-6bab9f986820d248c4d42c53288c0e5d.png"/>
          <p:cNvPicPr>
            <a:picLocks noChangeAspect="1"/>
          </p:cNvPicPr>
          <p:nvPr/>
        </p:nvPicPr>
        <p:blipFill>
          <a:blip r:embed="rId14"/>
          <a:srcRect t="-5544" b="-5544"/>
          <a:stretch/>
        </p:blipFill>
        <p:spPr>
          <a:xfrm>
            <a:off x="8977579" y="5627218"/>
            <a:ext cx="105156" cy="133502"/>
          </a:xfrm>
          <a:prstGeom prst="rect">
            <a:avLst/>
          </a:prstGeom>
        </p:spPr>
      </p:pic>
      <p:sp>
        <p:nvSpPr>
          <p:cNvPr id="83" name="Text 61"/>
          <p:cNvSpPr txBox="1"/>
          <p:nvPr/>
        </p:nvSpPr>
        <p:spPr>
          <a:xfrm>
            <a:off x="9334195" y="5315407"/>
            <a:ext cx="63733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E293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OPTIMIZE</a:t>
            </a:r>
            <a:endParaRPr lang="en-US" sz="900"/>
          </a:p>
        </p:txBody>
      </p:sp>
      <p:sp>
        <p:nvSpPr>
          <p:cNvPr id="84" name="Text 62"/>
          <p:cNvSpPr txBox="1"/>
          <p:nvPr/>
        </p:nvSpPr>
        <p:spPr>
          <a:xfrm>
            <a:off x="11044123" y="5238598"/>
            <a:ext cx="196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CBD5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Q4</a:t>
            </a:r>
            <a:endParaRPr lang="en-US" sz="1200"/>
          </a:p>
        </p:txBody>
      </p:sp>
      <p:sp>
        <p:nvSpPr>
          <p:cNvPr id="85" name="Text 63"/>
          <p:cNvSpPr txBox="1"/>
          <p:nvPr/>
        </p:nvSpPr>
        <p:spPr>
          <a:xfrm>
            <a:off x="9334195" y="5505602"/>
            <a:ext cx="18772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Run ops, process tuning, continuous improvement</a:t>
            </a:r>
            <a:endParaRPr lang="en-US" sz="900"/>
          </a:p>
        </p:txBody>
      </p:sp>
      <p:sp>
        <p:nvSpPr>
          <p:cNvPr id="86" name="Text 64"/>
          <p:cNvSpPr txBox="1"/>
          <p:nvPr/>
        </p:nvSpPr>
        <p:spPr>
          <a:xfrm>
            <a:off x="9391802" y="5964631"/>
            <a:ext cx="737006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Refinement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15305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382305" y="-1429207"/>
            <a:ext cx="4762195" cy="4762195"/>
          </a:xfrm>
          <a:prstGeom prst="ellipse">
            <a:avLst/>
          </a:prstGeom>
          <a:solidFill>
            <a:srgbClr val="2A9D8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-952805" y="4476902"/>
            <a:ext cx="3810305" cy="3810305"/>
          </a:xfrm>
          <a:prstGeom prst="ellipse">
            <a:avLst/>
          </a:prstGeom>
          <a:solidFill>
            <a:srgbClr val="D62839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202" r="-202"/>
          <a:stretch/>
        </p:blipFill>
        <p:spPr>
          <a:xfrm>
            <a:off x="0" y="6782105"/>
            <a:ext cx="8128102" cy="7589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197" r="-197"/>
          <a:stretch/>
        </p:blipFill>
        <p:spPr>
          <a:xfrm>
            <a:off x="8128102" y="6782105"/>
            <a:ext cx="4063594" cy="7589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t="60" b="60"/>
          <a:stretch/>
        </p:blipFill>
        <p:spPr>
          <a:xfrm>
            <a:off x="4121201" y="914400"/>
            <a:ext cx="3952951" cy="1904695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 t="-420" b="-420"/>
          <a:stretch/>
        </p:blipFill>
        <p:spPr>
          <a:xfrm>
            <a:off x="5715000" y="3276295"/>
            <a:ext cx="761695" cy="38405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536899" y="3619195"/>
            <a:ext cx="51252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1" u="none" strike="noStrike" kern="0" cap="none" spc="15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"Let's win together"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1695" y="5410505"/>
            <a:ext cx="761695" cy="761695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rcRect l="81" r="81"/>
          <a:stretch/>
        </p:blipFill>
        <p:spPr>
          <a:xfrm>
            <a:off x="3189427" y="5658307"/>
            <a:ext cx="809244" cy="267005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9"/>
          <a:srcRect l="7" r="7"/>
          <a:stretch/>
        </p:blipFill>
        <p:spPr>
          <a:xfrm>
            <a:off x="5665622" y="5453482"/>
            <a:ext cx="724205" cy="676656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10"/>
          <a:srcRect t="236" b="236"/>
          <a:stretch/>
        </p:blipFill>
        <p:spPr>
          <a:xfrm>
            <a:off x="8054950" y="5410505"/>
            <a:ext cx="1257300" cy="761695"/>
          </a:xfrm>
          <a:prstGeom prst="rect">
            <a:avLst/>
          </a:prstGeom>
        </p:spPr>
      </p:pic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1"/>
          <a:srcRect t="23" b="24"/>
          <a:stretch/>
        </p:blipFill>
        <p:spPr>
          <a:xfrm>
            <a:off x="10972800" y="5548579"/>
            <a:ext cx="457200" cy="485546"/>
          </a:xfrm>
          <a:prstGeom prst="rect">
            <a:avLst/>
          </a:prstGeom>
        </p:spPr>
      </p:pic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4"/>
          <a:srcRect l="-197" r="-197"/>
          <a:stretch/>
        </p:blipFill>
        <p:spPr>
          <a:xfrm>
            <a:off x="0" y="0"/>
            <a:ext cx="4063594" cy="75895"/>
          </a:xfrm>
          <a:prstGeom prst="rect">
            <a:avLst/>
          </a:prstGeom>
        </p:spPr>
      </p:pic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3"/>
          <a:srcRect l="-202" r="-202"/>
          <a:stretch/>
        </p:blipFill>
        <p:spPr>
          <a:xfrm>
            <a:off x="4063594" y="0"/>
            <a:ext cx="8128102" cy="7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474755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611002" y="1429207"/>
            <a:ext cx="3211738" cy="1714500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611002" y="1429207"/>
            <a:ext cx="3211738" cy="38405"/>
          </a:xfrm>
          <a:prstGeom prst="roundRect">
            <a:avLst>
              <a:gd name="adj" fmla="val 197618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3993916" y="1429207"/>
            <a:ext cx="3211738" cy="1714500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5"/>
          <p:cNvSpPr/>
          <p:nvPr/>
        </p:nvSpPr>
        <p:spPr>
          <a:xfrm>
            <a:off x="3993916" y="1429207"/>
            <a:ext cx="3211738" cy="38405"/>
          </a:xfrm>
          <a:prstGeom prst="roundRect">
            <a:avLst>
              <a:gd name="adj" fmla="val 197618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1002" y="3286354"/>
            <a:ext cx="3211738" cy="1714500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611002" y="3286354"/>
            <a:ext cx="3211738" cy="38405"/>
          </a:xfrm>
          <a:prstGeom prst="roundRect">
            <a:avLst>
              <a:gd name="adj" fmla="val 197618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3993916" y="3286354"/>
            <a:ext cx="3211738" cy="1714500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3993916" y="3286354"/>
            <a:ext cx="3211738" cy="38405"/>
          </a:xfrm>
          <a:prstGeom prst="roundRect">
            <a:avLst>
              <a:gd name="adj" fmla="val 197618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609905" y="5143500"/>
            <a:ext cx="10992002" cy="1209751"/>
          </a:xfrm>
          <a:prstGeom prst="roundRect">
            <a:avLst>
              <a:gd name="adj" fmla="val 62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0" y="6524244"/>
            <a:ext cx="12191695" cy="333756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2"/>
          <p:cNvSpPr txBox="1"/>
          <p:nvPr/>
        </p:nvSpPr>
        <p:spPr>
          <a:xfrm>
            <a:off x="819302" y="295351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OUR STRENGTH IN Test Automation</a:t>
            </a:r>
            <a:endParaRPr lang="en-US" sz="2700" dirty="0"/>
          </a:p>
        </p:txBody>
      </p:sp>
      <p:sp>
        <p:nvSpPr>
          <p:cNvPr id="22" name="Text 13"/>
          <p:cNvSpPr txBox="1"/>
          <p:nvPr/>
        </p:nvSpPr>
        <p:spPr>
          <a:xfrm>
            <a:off x="819302" y="744322"/>
            <a:ext cx="10478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Proven Test Automation capability, ready to deploy</a:t>
            </a:r>
            <a:endParaRPr lang="en-US" sz="1300" dirty="0"/>
          </a:p>
        </p:txBody>
      </p:sp>
      <p:sp>
        <p:nvSpPr>
          <p:cNvPr id="23" name="Text 14"/>
          <p:cNvSpPr txBox="1"/>
          <p:nvPr/>
        </p:nvSpPr>
        <p:spPr>
          <a:xfrm>
            <a:off x="782178" y="1571854"/>
            <a:ext cx="3924421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39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38</a:t>
            </a:r>
            <a:endParaRPr lang="en-US" sz="3900" dirty="0"/>
          </a:p>
        </p:txBody>
      </p:sp>
      <p:sp>
        <p:nvSpPr>
          <p:cNvPr id="24" name="Text 15"/>
          <p:cNvSpPr txBox="1"/>
          <p:nvPr/>
        </p:nvSpPr>
        <p:spPr>
          <a:xfrm>
            <a:off x="782178" y="2192731"/>
            <a:ext cx="28578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71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Specialists Across J2W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4165640" y="1571854"/>
            <a:ext cx="3018068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39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12</a:t>
            </a:r>
            <a:endParaRPr lang="en-US" sz="3900" dirty="0"/>
          </a:p>
        </p:txBody>
      </p:sp>
      <p:sp>
        <p:nvSpPr>
          <p:cNvPr id="26" name="Text 17"/>
          <p:cNvSpPr txBox="1"/>
          <p:nvPr/>
        </p:nvSpPr>
        <p:spPr>
          <a:xfrm>
            <a:off x="4165640" y="2192731"/>
            <a:ext cx="28578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71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Senior / Expert-Level</a:t>
            </a:r>
            <a:endParaRPr lang="en-US" sz="1400" dirty="0"/>
          </a:p>
        </p:txBody>
      </p:sp>
      <p:sp>
        <p:nvSpPr>
          <p:cNvPr id="27" name="Text 18"/>
          <p:cNvSpPr txBox="1"/>
          <p:nvPr/>
        </p:nvSpPr>
        <p:spPr>
          <a:xfrm>
            <a:off x="782178" y="3429000"/>
            <a:ext cx="3924421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39" dirty="0">
                <a:solidFill>
                  <a:srgbClr val="0F172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 WEEKS</a:t>
            </a:r>
            <a:r>
              <a:rPr lang="en-US" sz="2100" b="1" kern="0" spc="-39" dirty="0">
                <a:solidFill>
                  <a:srgbClr val="64748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/>
            </a:r>
            <a:endParaRPr lang="en-US" sz="3900" dirty="0"/>
          </a:p>
        </p:txBody>
      </p:sp>
      <p:sp>
        <p:nvSpPr>
          <p:cNvPr id="28" name="Text 19"/>
          <p:cNvSpPr txBox="1"/>
          <p:nvPr/>
        </p:nvSpPr>
        <p:spPr>
          <a:xfrm>
            <a:off x="782178" y="4049878"/>
            <a:ext cx="28578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71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Average Ramp-Up Time</a:t>
            </a:r>
            <a:endParaRPr lang="en-US" sz="1400" dirty="0"/>
          </a:p>
        </p:txBody>
      </p:sp>
      <p:sp>
        <p:nvSpPr>
          <p:cNvPr id="29" name="Text 20"/>
          <p:cNvSpPr txBox="1"/>
          <p:nvPr/>
        </p:nvSpPr>
        <p:spPr>
          <a:xfrm>
            <a:off x="4165640" y="3429000"/>
            <a:ext cx="3199119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39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9</a:t>
            </a:r>
            <a:endParaRPr lang="en-US" sz="3900" dirty="0"/>
          </a:p>
        </p:txBody>
      </p:sp>
      <p:sp>
        <p:nvSpPr>
          <p:cNvPr id="30" name="Text 21"/>
          <p:cNvSpPr txBox="1"/>
          <p:nvPr/>
        </p:nvSpPr>
        <p:spPr>
          <a:xfrm>
            <a:off x="4165640" y="4049878"/>
            <a:ext cx="28578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71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Available to Deploy Now</a:t>
            </a:r>
            <a:endParaRPr lang="en-US" sz="1400" dirty="0"/>
          </a:p>
        </p:txBody>
      </p:sp>
      <p:sp>
        <p:nvSpPr>
          <p:cNvPr id="32" name="Text 22"/>
          <p:cNvSpPr txBox="1"/>
          <p:nvPr/>
        </p:nvSpPr>
        <p:spPr>
          <a:xfrm>
            <a:off x="1200607" y="5315407"/>
            <a:ext cx="1780337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4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INDUSTRIES SERVED:</a:t>
            </a:r>
            <a:endParaRPr lang="en-US" sz="1200" dirty="0"/>
          </a:p>
        </p:txBody>
      </p:sp>
      <p:sp>
        <p:nvSpPr>
          <p:cNvPr id="33" name="Text 23"/>
          <p:cNvSpPr txBox="1"/>
          <p:nvPr/>
        </p:nvSpPr>
        <p:spPr>
          <a:xfrm>
            <a:off x="4206240" y="5315407"/>
            <a:ext cx="7498079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BFSI · Manufacturing · Healthcare</a:t>
            </a:r>
            <a:endParaRPr lang="en-US" sz="1200" dirty="0"/>
          </a:p>
        </p:txBody>
      </p:sp>
      <p:sp>
        <p:nvSpPr>
          <p:cNvPr id="36" name="Text 24"/>
          <p:cNvSpPr txBox="1"/>
          <p:nvPr/>
        </p:nvSpPr>
        <p:spPr>
          <a:xfrm>
            <a:off x="1190549" y="5829300"/>
            <a:ext cx="2097634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4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EXAMPLE ENGAGEMENTS:</a:t>
            </a:r>
            <a:endParaRPr lang="en-US" sz="1200" dirty="0"/>
          </a:p>
        </p:txBody>
      </p:sp>
      <p:sp>
        <p:nvSpPr>
          <p:cNvPr id="37" name="Text 25"/>
          <p:cNvSpPr txBox="1"/>
          <p:nvPr/>
        </p:nvSpPr>
        <p:spPr>
          <a:xfrm>
            <a:off x="4206240" y="5829300"/>
            <a:ext cx="7498079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Carrier · Koch · SocGen</a:t>
            </a:r>
            <a:endParaRPr lang="en-US" sz="1200" dirty="0"/>
          </a:p>
        </p:txBody>
      </p:sp>
      <p:sp>
        <p:nvSpPr>
          <p:cNvPr id="38" name="Text 26"/>
          <p:cNvSpPr txBox="1"/>
          <p:nvPr/>
        </p:nvSpPr>
        <p:spPr>
          <a:xfrm>
            <a:off x="609905" y="6610198"/>
            <a:ext cx="109728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94A3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Capability snapshot </a:t>
            </a:r>
            <a:r>
              <a:rPr lang="en-US" sz="900" kern="0" spc="45" dirty="0">
                <a:solidFill>
                  <a:srgbClr val="4FD1C5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—</a:t>
            </a:r>
            <a:r>
              <a:rPr lang="en-US" sz="900" kern="0" spc="45" dirty="0">
                <a:solidFill>
                  <a:srgbClr val="94A3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figures reflect current J2W capacity.</a:t>
            </a:r>
            <a:endParaRPr lang="en-US" sz="900" dirty="0"/>
          </a:p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7589520" y="1554480"/>
          <a:ext cx="402336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611002" y="1429207"/>
            <a:ext cx="3211738" cy="1714500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611002" y="1429207"/>
            <a:ext cx="3211738" cy="38405"/>
          </a:xfrm>
          <a:prstGeom prst="roundRect">
            <a:avLst>
              <a:gd name="adj" fmla="val 197618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3993916" y="1429207"/>
            <a:ext cx="3211738" cy="1714500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5"/>
          <p:cNvSpPr/>
          <p:nvPr/>
        </p:nvSpPr>
        <p:spPr>
          <a:xfrm>
            <a:off x="3993916" y="1429207"/>
            <a:ext cx="3211738" cy="38405"/>
          </a:xfrm>
          <a:prstGeom prst="roundRect">
            <a:avLst>
              <a:gd name="adj" fmla="val 197618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1002" y="3286354"/>
            <a:ext cx="3211738" cy="1714500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611002" y="3286354"/>
            <a:ext cx="3211738" cy="38405"/>
          </a:xfrm>
          <a:prstGeom prst="roundRect">
            <a:avLst>
              <a:gd name="adj" fmla="val 197618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3993916" y="3286354"/>
            <a:ext cx="3211738" cy="1714500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3993916" y="3286354"/>
            <a:ext cx="3211738" cy="38405"/>
          </a:xfrm>
          <a:prstGeom prst="roundRect">
            <a:avLst>
              <a:gd name="adj" fmla="val 197618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609905" y="5143500"/>
            <a:ext cx="10992002" cy="1209751"/>
          </a:xfrm>
          <a:prstGeom prst="roundRect">
            <a:avLst>
              <a:gd name="adj" fmla="val 62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0" y="6524244"/>
            <a:ext cx="12191695" cy="333756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2"/>
          <p:cNvSpPr txBox="1"/>
          <p:nvPr/>
        </p:nvSpPr>
        <p:spPr>
          <a:xfrm>
            <a:off x="819302" y="295351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OUR STRENGTH IN Performance Engineering</a:t>
            </a:r>
            <a:endParaRPr lang="en-US" sz="2700" dirty="0"/>
          </a:p>
        </p:txBody>
      </p:sp>
      <p:sp>
        <p:nvSpPr>
          <p:cNvPr id="22" name="Text 13"/>
          <p:cNvSpPr txBox="1"/>
          <p:nvPr/>
        </p:nvSpPr>
        <p:spPr>
          <a:xfrm>
            <a:off x="819302" y="744322"/>
            <a:ext cx="10478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Proven Performance Engineering capability, ready to deploy</a:t>
            </a:r>
            <a:endParaRPr lang="en-US" sz="1300" dirty="0"/>
          </a:p>
        </p:txBody>
      </p:sp>
      <p:sp>
        <p:nvSpPr>
          <p:cNvPr id="23" name="Text 14"/>
          <p:cNvSpPr txBox="1"/>
          <p:nvPr/>
        </p:nvSpPr>
        <p:spPr>
          <a:xfrm>
            <a:off x="782178" y="1571854"/>
            <a:ext cx="3924421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39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22</a:t>
            </a:r>
            <a:endParaRPr lang="en-US" sz="3900" dirty="0"/>
          </a:p>
        </p:txBody>
      </p:sp>
      <p:sp>
        <p:nvSpPr>
          <p:cNvPr id="24" name="Text 15"/>
          <p:cNvSpPr txBox="1"/>
          <p:nvPr/>
        </p:nvSpPr>
        <p:spPr>
          <a:xfrm>
            <a:off x="782178" y="2192731"/>
            <a:ext cx="28578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71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Specialists Across J2W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4165640" y="1571854"/>
            <a:ext cx="3018068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39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7</a:t>
            </a:r>
            <a:endParaRPr lang="en-US" sz="3900" dirty="0"/>
          </a:p>
        </p:txBody>
      </p:sp>
      <p:sp>
        <p:nvSpPr>
          <p:cNvPr id="26" name="Text 17"/>
          <p:cNvSpPr txBox="1"/>
          <p:nvPr/>
        </p:nvSpPr>
        <p:spPr>
          <a:xfrm>
            <a:off x="4165640" y="2192731"/>
            <a:ext cx="28578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71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Senior / Expert-Level</a:t>
            </a:r>
            <a:endParaRPr lang="en-US" sz="1400" dirty="0"/>
          </a:p>
        </p:txBody>
      </p:sp>
      <p:sp>
        <p:nvSpPr>
          <p:cNvPr id="27" name="Text 18"/>
          <p:cNvSpPr txBox="1"/>
          <p:nvPr/>
        </p:nvSpPr>
        <p:spPr>
          <a:xfrm>
            <a:off x="782178" y="3429000"/>
            <a:ext cx="3924421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39" dirty="0">
                <a:solidFill>
                  <a:srgbClr val="0F172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 WEEKS</a:t>
            </a:r>
            <a:r>
              <a:rPr lang="en-US" sz="2100" b="1" kern="0" spc="-39" dirty="0">
                <a:solidFill>
                  <a:srgbClr val="64748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/>
            </a:r>
            <a:endParaRPr lang="en-US" sz="3900" dirty="0"/>
          </a:p>
        </p:txBody>
      </p:sp>
      <p:sp>
        <p:nvSpPr>
          <p:cNvPr id="28" name="Text 19"/>
          <p:cNvSpPr txBox="1"/>
          <p:nvPr/>
        </p:nvSpPr>
        <p:spPr>
          <a:xfrm>
            <a:off x="782178" y="4049878"/>
            <a:ext cx="28578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71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Average Ramp-Up Time</a:t>
            </a:r>
            <a:endParaRPr lang="en-US" sz="1400" dirty="0"/>
          </a:p>
        </p:txBody>
      </p:sp>
      <p:sp>
        <p:nvSpPr>
          <p:cNvPr id="29" name="Text 20"/>
          <p:cNvSpPr txBox="1"/>
          <p:nvPr/>
        </p:nvSpPr>
        <p:spPr>
          <a:xfrm>
            <a:off x="4165640" y="3429000"/>
            <a:ext cx="3199119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39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</a:t>
            </a:r>
            <a:endParaRPr lang="en-US" sz="3900" dirty="0"/>
          </a:p>
        </p:txBody>
      </p:sp>
      <p:sp>
        <p:nvSpPr>
          <p:cNvPr id="30" name="Text 21"/>
          <p:cNvSpPr txBox="1"/>
          <p:nvPr/>
        </p:nvSpPr>
        <p:spPr>
          <a:xfrm>
            <a:off x="4165640" y="4049878"/>
            <a:ext cx="28578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71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Available to Deploy Now</a:t>
            </a:r>
            <a:endParaRPr lang="en-US" sz="1400" dirty="0"/>
          </a:p>
        </p:txBody>
      </p:sp>
      <p:sp>
        <p:nvSpPr>
          <p:cNvPr id="32" name="Text 22"/>
          <p:cNvSpPr txBox="1"/>
          <p:nvPr/>
        </p:nvSpPr>
        <p:spPr>
          <a:xfrm>
            <a:off x="1200607" y="5315407"/>
            <a:ext cx="1780337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4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INDUSTRIES SERVED:</a:t>
            </a:r>
            <a:endParaRPr lang="en-US" sz="1200" dirty="0"/>
          </a:p>
        </p:txBody>
      </p:sp>
      <p:sp>
        <p:nvSpPr>
          <p:cNvPr id="33" name="Text 23"/>
          <p:cNvSpPr txBox="1"/>
          <p:nvPr/>
        </p:nvSpPr>
        <p:spPr>
          <a:xfrm>
            <a:off x="4206240" y="5315407"/>
            <a:ext cx="7498079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BFSI · Telecom · Retail</a:t>
            </a:r>
            <a:endParaRPr lang="en-US" sz="1200" dirty="0"/>
          </a:p>
        </p:txBody>
      </p:sp>
      <p:sp>
        <p:nvSpPr>
          <p:cNvPr id="36" name="Text 24"/>
          <p:cNvSpPr txBox="1"/>
          <p:nvPr/>
        </p:nvSpPr>
        <p:spPr>
          <a:xfrm>
            <a:off x="1190549" y="5829300"/>
            <a:ext cx="2097634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4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EXAMPLE ENGAGEMENTS:</a:t>
            </a:r>
            <a:endParaRPr lang="en-US" sz="1200" dirty="0"/>
          </a:p>
        </p:txBody>
      </p:sp>
      <p:sp>
        <p:nvSpPr>
          <p:cNvPr id="37" name="Text 25"/>
          <p:cNvSpPr txBox="1"/>
          <p:nvPr/>
        </p:nvSpPr>
        <p:spPr>
          <a:xfrm>
            <a:off x="4206240" y="5829300"/>
            <a:ext cx="7498079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SocGen · AB InBev</a:t>
            </a:r>
            <a:endParaRPr lang="en-US" sz="1200" dirty="0"/>
          </a:p>
        </p:txBody>
      </p:sp>
      <p:sp>
        <p:nvSpPr>
          <p:cNvPr id="38" name="Text 26"/>
          <p:cNvSpPr txBox="1"/>
          <p:nvPr/>
        </p:nvSpPr>
        <p:spPr>
          <a:xfrm>
            <a:off x="609905" y="6610198"/>
            <a:ext cx="109728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94A3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Capability snapshot </a:t>
            </a:r>
            <a:r>
              <a:rPr lang="en-US" sz="900" kern="0" spc="45" dirty="0">
                <a:solidFill>
                  <a:srgbClr val="4FD1C5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—</a:t>
            </a:r>
            <a:r>
              <a:rPr lang="en-US" sz="900" kern="0" spc="45" dirty="0">
                <a:solidFill>
                  <a:srgbClr val="94A3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figures reflect current J2W capacity.</a:t>
            </a:r>
            <a:endParaRPr lang="en-US" sz="900" dirty="0"/>
          </a:p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7589520" y="1554480"/>
          <a:ext cx="402336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611002" y="1429207"/>
            <a:ext cx="3211738" cy="1714500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611002" y="1429207"/>
            <a:ext cx="3211738" cy="38405"/>
          </a:xfrm>
          <a:prstGeom prst="roundRect">
            <a:avLst>
              <a:gd name="adj" fmla="val 197618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3993916" y="1429207"/>
            <a:ext cx="3211738" cy="1714500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5"/>
          <p:cNvSpPr/>
          <p:nvPr/>
        </p:nvSpPr>
        <p:spPr>
          <a:xfrm>
            <a:off x="3993916" y="1429207"/>
            <a:ext cx="3211738" cy="38405"/>
          </a:xfrm>
          <a:prstGeom prst="roundRect">
            <a:avLst>
              <a:gd name="adj" fmla="val 197618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1002" y="3286354"/>
            <a:ext cx="3211738" cy="1714500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611002" y="3286354"/>
            <a:ext cx="3211738" cy="38405"/>
          </a:xfrm>
          <a:prstGeom prst="roundRect">
            <a:avLst>
              <a:gd name="adj" fmla="val 197618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3993916" y="3286354"/>
            <a:ext cx="3211738" cy="1714500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3993916" y="3286354"/>
            <a:ext cx="3211738" cy="38405"/>
          </a:xfrm>
          <a:prstGeom prst="roundRect">
            <a:avLst>
              <a:gd name="adj" fmla="val 197618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609905" y="5143500"/>
            <a:ext cx="10992002" cy="1209751"/>
          </a:xfrm>
          <a:prstGeom prst="roundRect">
            <a:avLst>
              <a:gd name="adj" fmla="val 62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0" y="6524244"/>
            <a:ext cx="12191695" cy="333756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2"/>
          <p:cNvSpPr txBox="1"/>
          <p:nvPr/>
        </p:nvSpPr>
        <p:spPr>
          <a:xfrm>
            <a:off x="819302" y="295351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OUR STRENGTH IN DevSecOps / CI-CD</a:t>
            </a:r>
            <a:endParaRPr lang="en-US" sz="2700" dirty="0"/>
          </a:p>
        </p:txBody>
      </p:sp>
      <p:sp>
        <p:nvSpPr>
          <p:cNvPr id="22" name="Text 13"/>
          <p:cNvSpPr txBox="1"/>
          <p:nvPr/>
        </p:nvSpPr>
        <p:spPr>
          <a:xfrm>
            <a:off x="819302" y="744322"/>
            <a:ext cx="10478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Proven DevSecOps / CI-CD capability, ready to deploy</a:t>
            </a:r>
            <a:endParaRPr lang="en-US" sz="1300" dirty="0"/>
          </a:p>
        </p:txBody>
      </p:sp>
      <p:sp>
        <p:nvSpPr>
          <p:cNvPr id="23" name="Text 14"/>
          <p:cNvSpPr txBox="1"/>
          <p:nvPr/>
        </p:nvSpPr>
        <p:spPr>
          <a:xfrm>
            <a:off x="782178" y="1571854"/>
            <a:ext cx="3924421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39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29</a:t>
            </a:r>
            <a:endParaRPr lang="en-US" sz="3900" dirty="0"/>
          </a:p>
        </p:txBody>
      </p:sp>
      <p:sp>
        <p:nvSpPr>
          <p:cNvPr id="24" name="Text 15"/>
          <p:cNvSpPr txBox="1"/>
          <p:nvPr/>
        </p:nvSpPr>
        <p:spPr>
          <a:xfrm>
            <a:off x="782178" y="2192731"/>
            <a:ext cx="28578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71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Specialists Across J2W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4165640" y="1571854"/>
            <a:ext cx="3018068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39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9</a:t>
            </a:r>
            <a:endParaRPr lang="en-US" sz="3900" dirty="0"/>
          </a:p>
        </p:txBody>
      </p:sp>
      <p:sp>
        <p:nvSpPr>
          <p:cNvPr id="26" name="Text 17"/>
          <p:cNvSpPr txBox="1"/>
          <p:nvPr/>
        </p:nvSpPr>
        <p:spPr>
          <a:xfrm>
            <a:off x="4165640" y="2192731"/>
            <a:ext cx="28578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71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Senior / Expert-Level</a:t>
            </a:r>
            <a:endParaRPr lang="en-US" sz="1400" dirty="0"/>
          </a:p>
        </p:txBody>
      </p:sp>
      <p:sp>
        <p:nvSpPr>
          <p:cNvPr id="27" name="Text 18"/>
          <p:cNvSpPr txBox="1"/>
          <p:nvPr/>
        </p:nvSpPr>
        <p:spPr>
          <a:xfrm>
            <a:off x="782178" y="3429000"/>
            <a:ext cx="3924421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39" dirty="0">
                <a:solidFill>
                  <a:srgbClr val="0F172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 WEEKS</a:t>
            </a:r>
            <a:r>
              <a:rPr lang="en-US" sz="2100" b="1" kern="0" spc="-39" dirty="0">
                <a:solidFill>
                  <a:srgbClr val="64748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/>
            </a:r>
            <a:endParaRPr lang="en-US" sz="3900" dirty="0"/>
          </a:p>
        </p:txBody>
      </p:sp>
      <p:sp>
        <p:nvSpPr>
          <p:cNvPr id="28" name="Text 19"/>
          <p:cNvSpPr txBox="1"/>
          <p:nvPr/>
        </p:nvSpPr>
        <p:spPr>
          <a:xfrm>
            <a:off x="782178" y="4049878"/>
            <a:ext cx="28578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71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Average Ramp-Up Time</a:t>
            </a:r>
            <a:endParaRPr lang="en-US" sz="1400" dirty="0"/>
          </a:p>
        </p:txBody>
      </p:sp>
      <p:sp>
        <p:nvSpPr>
          <p:cNvPr id="29" name="Text 20"/>
          <p:cNvSpPr txBox="1"/>
          <p:nvPr/>
        </p:nvSpPr>
        <p:spPr>
          <a:xfrm>
            <a:off x="4165640" y="3429000"/>
            <a:ext cx="3199119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39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7</a:t>
            </a:r>
            <a:endParaRPr lang="en-US" sz="3900" dirty="0"/>
          </a:p>
        </p:txBody>
      </p:sp>
      <p:sp>
        <p:nvSpPr>
          <p:cNvPr id="30" name="Text 21"/>
          <p:cNvSpPr txBox="1"/>
          <p:nvPr/>
        </p:nvSpPr>
        <p:spPr>
          <a:xfrm>
            <a:off x="4165640" y="4049878"/>
            <a:ext cx="28578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71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Available to Deploy Now</a:t>
            </a:r>
            <a:endParaRPr lang="en-US" sz="1400" dirty="0"/>
          </a:p>
        </p:txBody>
      </p:sp>
      <p:sp>
        <p:nvSpPr>
          <p:cNvPr id="32" name="Text 22"/>
          <p:cNvSpPr txBox="1"/>
          <p:nvPr/>
        </p:nvSpPr>
        <p:spPr>
          <a:xfrm>
            <a:off x="1200607" y="5315407"/>
            <a:ext cx="1780337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4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INDUSTRIES SERVED:</a:t>
            </a:r>
            <a:endParaRPr lang="en-US" sz="1200" dirty="0"/>
          </a:p>
        </p:txBody>
      </p:sp>
      <p:sp>
        <p:nvSpPr>
          <p:cNvPr id="33" name="Text 23"/>
          <p:cNvSpPr txBox="1"/>
          <p:nvPr/>
        </p:nvSpPr>
        <p:spPr>
          <a:xfrm>
            <a:off x="4206240" y="5315407"/>
            <a:ext cx="7498079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Technology · BFSI · Automotive</a:t>
            </a:r>
            <a:endParaRPr lang="en-US" sz="1200" dirty="0"/>
          </a:p>
        </p:txBody>
      </p:sp>
      <p:sp>
        <p:nvSpPr>
          <p:cNvPr id="36" name="Text 24"/>
          <p:cNvSpPr txBox="1"/>
          <p:nvPr/>
        </p:nvSpPr>
        <p:spPr>
          <a:xfrm>
            <a:off x="1190549" y="5829300"/>
            <a:ext cx="2097634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4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EXAMPLE ENGAGEMENTS:</a:t>
            </a:r>
            <a:endParaRPr lang="en-US" sz="1200" dirty="0"/>
          </a:p>
        </p:txBody>
      </p:sp>
      <p:sp>
        <p:nvSpPr>
          <p:cNvPr id="37" name="Text 25"/>
          <p:cNvSpPr txBox="1"/>
          <p:nvPr/>
        </p:nvSpPr>
        <p:spPr>
          <a:xfrm>
            <a:off x="4206240" y="5829300"/>
            <a:ext cx="7498079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Qualizen · Verifone</a:t>
            </a:r>
            <a:endParaRPr lang="en-US" sz="1200" dirty="0"/>
          </a:p>
        </p:txBody>
      </p:sp>
      <p:sp>
        <p:nvSpPr>
          <p:cNvPr id="38" name="Text 26"/>
          <p:cNvSpPr txBox="1"/>
          <p:nvPr/>
        </p:nvSpPr>
        <p:spPr>
          <a:xfrm>
            <a:off x="609905" y="6610198"/>
            <a:ext cx="109728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94A3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Capability snapshot </a:t>
            </a:r>
            <a:r>
              <a:rPr lang="en-US" sz="900" kern="0" spc="45" dirty="0">
                <a:solidFill>
                  <a:srgbClr val="4FD1C5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—</a:t>
            </a:r>
            <a:r>
              <a:rPr lang="en-US" sz="900" kern="0" spc="45" dirty="0">
                <a:solidFill>
                  <a:srgbClr val="94A3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figures reflect current J2W capacity.</a:t>
            </a:r>
            <a:endParaRPr lang="en-US" sz="900" dirty="0"/>
          </a:p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7589520" y="1554480"/>
          <a:ext cx="402336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611002" y="1429207"/>
            <a:ext cx="3211738" cy="1714500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611002" y="1429207"/>
            <a:ext cx="3211738" cy="38405"/>
          </a:xfrm>
          <a:prstGeom prst="roundRect">
            <a:avLst>
              <a:gd name="adj" fmla="val 197618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3993916" y="1429207"/>
            <a:ext cx="3211738" cy="1714500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5"/>
          <p:cNvSpPr/>
          <p:nvPr/>
        </p:nvSpPr>
        <p:spPr>
          <a:xfrm>
            <a:off x="3993916" y="1429207"/>
            <a:ext cx="3211738" cy="38405"/>
          </a:xfrm>
          <a:prstGeom prst="roundRect">
            <a:avLst>
              <a:gd name="adj" fmla="val 197618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1002" y="3286354"/>
            <a:ext cx="3211738" cy="1714500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611002" y="3286354"/>
            <a:ext cx="3211738" cy="38405"/>
          </a:xfrm>
          <a:prstGeom prst="roundRect">
            <a:avLst>
              <a:gd name="adj" fmla="val 197618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3993916" y="3286354"/>
            <a:ext cx="3211738" cy="1714500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3993916" y="3286354"/>
            <a:ext cx="3211738" cy="38405"/>
          </a:xfrm>
          <a:prstGeom prst="roundRect">
            <a:avLst>
              <a:gd name="adj" fmla="val 197618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609905" y="5143500"/>
            <a:ext cx="10992002" cy="1209751"/>
          </a:xfrm>
          <a:prstGeom prst="roundRect">
            <a:avLst>
              <a:gd name="adj" fmla="val 62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0" y="6524244"/>
            <a:ext cx="12191695" cy="333756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2"/>
          <p:cNvSpPr txBox="1"/>
          <p:nvPr/>
        </p:nvSpPr>
        <p:spPr>
          <a:xfrm>
            <a:off x="819302" y="295351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OUR STRENGTH IN Cloud Migration (AWS/Azure)</a:t>
            </a:r>
            <a:endParaRPr lang="en-US" sz="2700" dirty="0"/>
          </a:p>
        </p:txBody>
      </p:sp>
      <p:sp>
        <p:nvSpPr>
          <p:cNvPr id="22" name="Text 13"/>
          <p:cNvSpPr txBox="1"/>
          <p:nvPr/>
        </p:nvSpPr>
        <p:spPr>
          <a:xfrm>
            <a:off x="819302" y="744322"/>
            <a:ext cx="10478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Proven Cloud Migration (AWS/Azure) capability, ready to deploy</a:t>
            </a:r>
            <a:endParaRPr lang="en-US" sz="1300" dirty="0"/>
          </a:p>
        </p:txBody>
      </p:sp>
      <p:sp>
        <p:nvSpPr>
          <p:cNvPr id="23" name="Text 14"/>
          <p:cNvSpPr txBox="1"/>
          <p:nvPr/>
        </p:nvSpPr>
        <p:spPr>
          <a:xfrm>
            <a:off x="782178" y="1571854"/>
            <a:ext cx="3924421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39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41</a:t>
            </a:r>
            <a:endParaRPr lang="en-US" sz="3900" dirty="0"/>
          </a:p>
        </p:txBody>
      </p:sp>
      <p:sp>
        <p:nvSpPr>
          <p:cNvPr id="24" name="Text 15"/>
          <p:cNvSpPr txBox="1"/>
          <p:nvPr/>
        </p:nvSpPr>
        <p:spPr>
          <a:xfrm>
            <a:off x="782178" y="2192731"/>
            <a:ext cx="28578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71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Specialists Across J2W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4165640" y="1571854"/>
            <a:ext cx="3018068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39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14</a:t>
            </a:r>
            <a:endParaRPr lang="en-US" sz="3900" dirty="0"/>
          </a:p>
        </p:txBody>
      </p:sp>
      <p:sp>
        <p:nvSpPr>
          <p:cNvPr id="26" name="Text 17"/>
          <p:cNvSpPr txBox="1"/>
          <p:nvPr/>
        </p:nvSpPr>
        <p:spPr>
          <a:xfrm>
            <a:off x="4165640" y="2192731"/>
            <a:ext cx="28578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71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Senior / Expert-Level</a:t>
            </a:r>
            <a:endParaRPr lang="en-US" sz="1400" dirty="0"/>
          </a:p>
        </p:txBody>
      </p:sp>
      <p:sp>
        <p:nvSpPr>
          <p:cNvPr id="27" name="Text 18"/>
          <p:cNvSpPr txBox="1"/>
          <p:nvPr/>
        </p:nvSpPr>
        <p:spPr>
          <a:xfrm>
            <a:off x="782178" y="3429000"/>
            <a:ext cx="3924421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39" dirty="0">
                <a:solidFill>
                  <a:srgbClr val="0F172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 WEEKS</a:t>
            </a:r>
            <a:r>
              <a:rPr lang="en-US" sz="2100" b="1" kern="0" spc="-39" dirty="0">
                <a:solidFill>
                  <a:srgbClr val="64748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/>
            </a:r>
            <a:endParaRPr lang="en-US" sz="3900" dirty="0"/>
          </a:p>
        </p:txBody>
      </p:sp>
      <p:sp>
        <p:nvSpPr>
          <p:cNvPr id="28" name="Text 19"/>
          <p:cNvSpPr txBox="1"/>
          <p:nvPr/>
        </p:nvSpPr>
        <p:spPr>
          <a:xfrm>
            <a:off x="782178" y="4049878"/>
            <a:ext cx="28578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71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Average Ramp-Up Time</a:t>
            </a:r>
            <a:endParaRPr lang="en-US" sz="1400" dirty="0"/>
          </a:p>
        </p:txBody>
      </p:sp>
      <p:sp>
        <p:nvSpPr>
          <p:cNvPr id="29" name="Text 20"/>
          <p:cNvSpPr txBox="1"/>
          <p:nvPr/>
        </p:nvSpPr>
        <p:spPr>
          <a:xfrm>
            <a:off x="4165640" y="3429000"/>
            <a:ext cx="3199119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39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11</a:t>
            </a:r>
            <a:endParaRPr lang="en-US" sz="3900" dirty="0"/>
          </a:p>
        </p:txBody>
      </p:sp>
      <p:sp>
        <p:nvSpPr>
          <p:cNvPr id="30" name="Text 21"/>
          <p:cNvSpPr txBox="1"/>
          <p:nvPr/>
        </p:nvSpPr>
        <p:spPr>
          <a:xfrm>
            <a:off x="4165640" y="4049878"/>
            <a:ext cx="28578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71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Available to Deploy Now</a:t>
            </a:r>
            <a:endParaRPr lang="en-US" sz="1400" dirty="0"/>
          </a:p>
        </p:txBody>
      </p:sp>
      <p:sp>
        <p:nvSpPr>
          <p:cNvPr id="32" name="Text 22"/>
          <p:cNvSpPr txBox="1"/>
          <p:nvPr/>
        </p:nvSpPr>
        <p:spPr>
          <a:xfrm>
            <a:off x="1200607" y="5315407"/>
            <a:ext cx="1780337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4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INDUSTRIES SERVED:</a:t>
            </a:r>
            <a:endParaRPr lang="en-US" sz="1200" dirty="0"/>
          </a:p>
        </p:txBody>
      </p:sp>
      <p:sp>
        <p:nvSpPr>
          <p:cNvPr id="33" name="Text 23"/>
          <p:cNvSpPr txBox="1"/>
          <p:nvPr/>
        </p:nvSpPr>
        <p:spPr>
          <a:xfrm>
            <a:off x="4206240" y="5315407"/>
            <a:ext cx="7498079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BFSI · Energy · Manufacturing</a:t>
            </a:r>
            <a:endParaRPr lang="en-US" sz="1200" dirty="0"/>
          </a:p>
        </p:txBody>
      </p:sp>
      <p:sp>
        <p:nvSpPr>
          <p:cNvPr id="36" name="Text 24"/>
          <p:cNvSpPr txBox="1"/>
          <p:nvPr/>
        </p:nvSpPr>
        <p:spPr>
          <a:xfrm>
            <a:off x="1190549" y="5829300"/>
            <a:ext cx="2097634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4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EXAMPLE ENGAGEMENTS:</a:t>
            </a:r>
            <a:endParaRPr lang="en-US" sz="1200" dirty="0"/>
          </a:p>
        </p:txBody>
      </p:sp>
      <p:sp>
        <p:nvSpPr>
          <p:cNvPr id="37" name="Text 25"/>
          <p:cNvSpPr txBox="1"/>
          <p:nvPr/>
        </p:nvSpPr>
        <p:spPr>
          <a:xfrm>
            <a:off x="4206240" y="5829300"/>
            <a:ext cx="7498079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Lumen · Koch</a:t>
            </a:r>
            <a:endParaRPr lang="en-US" sz="1200" dirty="0"/>
          </a:p>
        </p:txBody>
      </p:sp>
      <p:sp>
        <p:nvSpPr>
          <p:cNvPr id="38" name="Text 26"/>
          <p:cNvSpPr txBox="1"/>
          <p:nvPr/>
        </p:nvSpPr>
        <p:spPr>
          <a:xfrm>
            <a:off x="609905" y="6610198"/>
            <a:ext cx="109728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94A3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Capability snapshot </a:t>
            </a:r>
            <a:r>
              <a:rPr lang="en-US" sz="900" kern="0" spc="45" dirty="0">
                <a:solidFill>
                  <a:srgbClr val="4FD1C5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—</a:t>
            </a:r>
            <a:r>
              <a:rPr lang="en-US" sz="900" kern="0" spc="45" dirty="0">
                <a:solidFill>
                  <a:srgbClr val="94A3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figures reflect current J2W capacity.</a:t>
            </a:r>
            <a:endParaRPr lang="en-US" sz="900" dirty="0"/>
          </a:p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7589520" y="1554480"/>
          <a:ext cx="402336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611002" y="1429207"/>
            <a:ext cx="3211738" cy="1714500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611002" y="1429207"/>
            <a:ext cx="3211738" cy="38405"/>
          </a:xfrm>
          <a:prstGeom prst="roundRect">
            <a:avLst>
              <a:gd name="adj" fmla="val 197618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3993916" y="1429207"/>
            <a:ext cx="3211738" cy="1714500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5"/>
          <p:cNvSpPr/>
          <p:nvPr/>
        </p:nvSpPr>
        <p:spPr>
          <a:xfrm>
            <a:off x="3993916" y="1429207"/>
            <a:ext cx="3211738" cy="38405"/>
          </a:xfrm>
          <a:prstGeom prst="roundRect">
            <a:avLst>
              <a:gd name="adj" fmla="val 197618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11002" y="3286354"/>
            <a:ext cx="3211738" cy="1714500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611002" y="3286354"/>
            <a:ext cx="3211738" cy="38405"/>
          </a:xfrm>
          <a:prstGeom prst="roundRect">
            <a:avLst>
              <a:gd name="adj" fmla="val 197618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3993916" y="3286354"/>
            <a:ext cx="3211738" cy="1714500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3993916" y="3286354"/>
            <a:ext cx="3211738" cy="38405"/>
          </a:xfrm>
          <a:prstGeom prst="roundRect">
            <a:avLst>
              <a:gd name="adj" fmla="val 197618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609905" y="5143500"/>
            <a:ext cx="10992002" cy="1209751"/>
          </a:xfrm>
          <a:prstGeom prst="roundRect">
            <a:avLst>
              <a:gd name="adj" fmla="val 62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0" y="6524244"/>
            <a:ext cx="12191695" cy="333756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2"/>
          <p:cNvSpPr txBox="1"/>
          <p:nvPr/>
        </p:nvSpPr>
        <p:spPr>
          <a:xfrm>
            <a:off x="819302" y="295351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OUR STRENGTH IN Data Engineering / Platforms</a:t>
            </a:r>
            <a:endParaRPr lang="en-US" sz="2700" dirty="0"/>
          </a:p>
        </p:txBody>
      </p:sp>
      <p:sp>
        <p:nvSpPr>
          <p:cNvPr id="22" name="Text 13"/>
          <p:cNvSpPr txBox="1"/>
          <p:nvPr/>
        </p:nvSpPr>
        <p:spPr>
          <a:xfrm>
            <a:off x="819302" y="744322"/>
            <a:ext cx="10478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Proven Data Engineering / Platforms capability, ready to deploy</a:t>
            </a:r>
            <a:endParaRPr lang="en-US" sz="1300" dirty="0"/>
          </a:p>
        </p:txBody>
      </p:sp>
      <p:sp>
        <p:nvSpPr>
          <p:cNvPr id="23" name="Text 14"/>
          <p:cNvSpPr txBox="1"/>
          <p:nvPr/>
        </p:nvSpPr>
        <p:spPr>
          <a:xfrm>
            <a:off x="782178" y="1571854"/>
            <a:ext cx="3924421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39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34</a:t>
            </a:r>
            <a:endParaRPr lang="en-US" sz="3900" dirty="0"/>
          </a:p>
        </p:txBody>
      </p:sp>
      <p:sp>
        <p:nvSpPr>
          <p:cNvPr id="24" name="Text 15"/>
          <p:cNvSpPr txBox="1"/>
          <p:nvPr/>
        </p:nvSpPr>
        <p:spPr>
          <a:xfrm>
            <a:off x="782178" y="2192731"/>
            <a:ext cx="28578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71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Specialists Across J2W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4165640" y="1571854"/>
            <a:ext cx="3018068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39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11</a:t>
            </a:r>
            <a:endParaRPr lang="en-US" sz="3900" dirty="0"/>
          </a:p>
        </p:txBody>
      </p:sp>
      <p:sp>
        <p:nvSpPr>
          <p:cNvPr id="26" name="Text 17"/>
          <p:cNvSpPr txBox="1"/>
          <p:nvPr/>
        </p:nvSpPr>
        <p:spPr>
          <a:xfrm>
            <a:off x="4165640" y="2192731"/>
            <a:ext cx="28578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71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Senior / Expert-Level</a:t>
            </a:r>
            <a:endParaRPr lang="en-US" sz="1400" dirty="0"/>
          </a:p>
        </p:txBody>
      </p:sp>
      <p:sp>
        <p:nvSpPr>
          <p:cNvPr id="27" name="Text 18"/>
          <p:cNvSpPr txBox="1"/>
          <p:nvPr/>
        </p:nvSpPr>
        <p:spPr>
          <a:xfrm>
            <a:off x="782178" y="3429000"/>
            <a:ext cx="3924421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39" dirty="0">
                <a:solidFill>
                  <a:srgbClr val="0F172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 WEEKS</a:t>
            </a:r>
            <a:r>
              <a:rPr lang="en-US" sz="2100" b="1" kern="0" spc="-39" dirty="0">
                <a:solidFill>
                  <a:srgbClr val="64748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/>
            </a:r>
            <a:endParaRPr lang="en-US" sz="3900" dirty="0"/>
          </a:p>
        </p:txBody>
      </p:sp>
      <p:sp>
        <p:nvSpPr>
          <p:cNvPr id="28" name="Text 19"/>
          <p:cNvSpPr txBox="1"/>
          <p:nvPr/>
        </p:nvSpPr>
        <p:spPr>
          <a:xfrm>
            <a:off x="782178" y="4049878"/>
            <a:ext cx="28578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71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Average Ramp-Up Time</a:t>
            </a:r>
            <a:endParaRPr lang="en-US" sz="1400" dirty="0"/>
          </a:p>
        </p:txBody>
      </p:sp>
      <p:sp>
        <p:nvSpPr>
          <p:cNvPr id="29" name="Text 20"/>
          <p:cNvSpPr txBox="1"/>
          <p:nvPr/>
        </p:nvSpPr>
        <p:spPr>
          <a:xfrm>
            <a:off x="4165640" y="3429000"/>
            <a:ext cx="3199119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39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8</a:t>
            </a:r>
            <a:endParaRPr lang="en-US" sz="3900" dirty="0"/>
          </a:p>
        </p:txBody>
      </p:sp>
      <p:sp>
        <p:nvSpPr>
          <p:cNvPr id="30" name="Text 21"/>
          <p:cNvSpPr txBox="1"/>
          <p:nvPr/>
        </p:nvSpPr>
        <p:spPr>
          <a:xfrm>
            <a:off x="4165640" y="4049878"/>
            <a:ext cx="285786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71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Available to Deploy Now</a:t>
            </a:r>
            <a:endParaRPr lang="en-US" sz="1400" dirty="0"/>
          </a:p>
        </p:txBody>
      </p:sp>
      <p:sp>
        <p:nvSpPr>
          <p:cNvPr id="32" name="Text 22"/>
          <p:cNvSpPr txBox="1"/>
          <p:nvPr/>
        </p:nvSpPr>
        <p:spPr>
          <a:xfrm>
            <a:off x="1200607" y="5315407"/>
            <a:ext cx="1780337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4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INDUSTRIES SERVED:</a:t>
            </a:r>
            <a:endParaRPr lang="en-US" sz="1200" dirty="0"/>
          </a:p>
        </p:txBody>
      </p:sp>
      <p:sp>
        <p:nvSpPr>
          <p:cNvPr id="33" name="Text 23"/>
          <p:cNvSpPr txBox="1"/>
          <p:nvPr/>
        </p:nvSpPr>
        <p:spPr>
          <a:xfrm>
            <a:off x="4206240" y="5315407"/>
            <a:ext cx="7498079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BFSI · Retail · Healthcare</a:t>
            </a:r>
            <a:endParaRPr lang="en-US" sz="1200" dirty="0"/>
          </a:p>
        </p:txBody>
      </p:sp>
      <p:sp>
        <p:nvSpPr>
          <p:cNvPr id="36" name="Text 24"/>
          <p:cNvSpPr txBox="1"/>
          <p:nvPr/>
        </p:nvSpPr>
        <p:spPr>
          <a:xfrm>
            <a:off x="1190549" y="5829300"/>
            <a:ext cx="2097634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4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EXAMPLE ENGAGEMENTS:</a:t>
            </a:r>
            <a:endParaRPr lang="en-US" sz="1200" dirty="0"/>
          </a:p>
        </p:txBody>
      </p:sp>
      <p:sp>
        <p:nvSpPr>
          <p:cNvPr id="37" name="Text 25"/>
          <p:cNvSpPr txBox="1"/>
          <p:nvPr/>
        </p:nvSpPr>
        <p:spPr>
          <a:xfrm>
            <a:off x="4206240" y="5829300"/>
            <a:ext cx="7498079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 InBev · HCA</a:t>
            </a:r>
            <a:endParaRPr lang="en-US" sz="1200" dirty="0"/>
          </a:p>
        </p:txBody>
      </p:sp>
      <p:sp>
        <p:nvSpPr>
          <p:cNvPr id="38" name="Text 26"/>
          <p:cNvSpPr txBox="1"/>
          <p:nvPr/>
        </p:nvSpPr>
        <p:spPr>
          <a:xfrm>
            <a:off x="609905" y="6610198"/>
            <a:ext cx="109728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94A3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Capability snapshot </a:t>
            </a:r>
            <a:r>
              <a:rPr lang="en-US" sz="900" kern="0" spc="45" dirty="0">
                <a:solidFill>
                  <a:srgbClr val="4FD1C5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—</a:t>
            </a:r>
            <a:r>
              <a:rPr lang="en-US" sz="900" kern="0" spc="45" dirty="0">
                <a:solidFill>
                  <a:srgbClr val="94A3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figures reflect current J2W capacity.</a:t>
            </a:r>
            <a:endParaRPr lang="en-US" sz="900" dirty="0"/>
          </a:p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7589520" y="1554480"/>
          <a:ext cx="402336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609905" y="1333195"/>
            <a:ext cx="2590495" cy="1619402"/>
          </a:xfrm>
          <a:prstGeom prst="roundRect">
            <a:avLst>
              <a:gd name="adj" fmla="val 46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609905" y="1333195"/>
            <a:ext cx="2590495" cy="38405"/>
          </a:xfrm>
          <a:prstGeom prst="roundRect">
            <a:avLst>
              <a:gd name="adj" fmla="val 197618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3372307" y="1333195"/>
            <a:ext cx="2590495" cy="1619402"/>
          </a:xfrm>
          <a:prstGeom prst="roundRect">
            <a:avLst>
              <a:gd name="adj" fmla="val 46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5"/>
          <p:cNvSpPr/>
          <p:nvPr/>
        </p:nvSpPr>
        <p:spPr>
          <a:xfrm>
            <a:off x="3372307" y="1333195"/>
            <a:ext cx="2590495" cy="38405"/>
          </a:xfrm>
          <a:prstGeom prst="roundRect">
            <a:avLst>
              <a:gd name="adj" fmla="val 197618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609905" y="3095244"/>
            <a:ext cx="2590495" cy="1619402"/>
          </a:xfrm>
          <a:prstGeom prst="roundRect">
            <a:avLst>
              <a:gd name="adj" fmla="val 46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609905" y="3095244"/>
            <a:ext cx="2590495" cy="38405"/>
          </a:xfrm>
          <a:prstGeom prst="roundRect">
            <a:avLst>
              <a:gd name="adj" fmla="val 197618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3372307" y="3095244"/>
            <a:ext cx="2590495" cy="1619402"/>
          </a:xfrm>
          <a:prstGeom prst="roundRect">
            <a:avLst>
              <a:gd name="adj" fmla="val 46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3372307" y="3095244"/>
            <a:ext cx="2590495" cy="38405"/>
          </a:xfrm>
          <a:prstGeom prst="roundRect">
            <a:avLst>
              <a:gd name="adj" fmla="val 197618"/>
            </a:avLst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6286500" y="1333195"/>
            <a:ext cx="5315407" cy="3353105"/>
          </a:xfrm>
          <a:prstGeom prst="roundRect">
            <a:avLst>
              <a:gd name="adj" fmla="val 2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09905" y="4953305"/>
            <a:ext cx="11011205" cy="1143000"/>
          </a:xfrm>
          <a:prstGeom prst="roundRect">
            <a:avLst>
              <a:gd name="adj" fmla="val 6640"/>
            </a:avLst>
          </a:prstGeom>
          <a:solidFill>
            <a:srgbClr val="0F172A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09905" y="4953305"/>
            <a:ext cx="38405" cy="1143000"/>
          </a:xfrm>
          <a:prstGeom prst="roundRect">
            <a:avLst>
              <a:gd name="adj" fmla="val 197618"/>
            </a:avLst>
          </a:prstGeom>
          <a:solidFill>
            <a:srgbClr val="4FD1C5"/>
          </a:solidFill>
          <a:ln w="12700">
            <a:solidFill>
              <a:srgbClr val="4FD1C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0" y="6476695"/>
            <a:ext cx="12191695" cy="390449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5"/>
          <p:cNvSpPr txBox="1"/>
          <p:nvPr/>
        </p:nvSpPr>
        <p:spPr>
          <a:xfrm>
            <a:off x="819302" y="390449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OUR FOOTPRINT WITH SocGen</a:t>
            </a:r>
            <a:endParaRPr lang="en-US" sz="2800" dirty="0"/>
          </a:p>
        </p:txBody>
      </p:sp>
      <p:sp>
        <p:nvSpPr>
          <p:cNvPr id="21" name="Text 16"/>
          <p:cNvSpPr txBox="1"/>
          <p:nvPr/>
        </p:nvSpPr>
        <p:spPr>
          <a:xfrm>
            <a:off x="819302" y="845820"/>
            <a:ext cx="10478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snapshot of what we're delivering together today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14630" y="1524305"/>
            <a:ext cx="37627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47</a:t>
            </a:r>
            <a:endParaRPr lang="en-US" sz="2700" dirty="0"/>
          </a:p>
        </p:txBody>
      </p:sp>
      <p:sp>
        <p:nvSpPr>
          <p:cNvPr id="23" name="Text 18"/>
          <p:cNvSpPr txBox="1"/>
          <p:nvPr/>
        </p:nvSpPr>
        <p:spPr>
          <a:xfrm>
            <a:off x="705002" y="1981505"/>
            <a:ext cx="23820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kern="0" spc="68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Specialists Deployed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705002" y="2266798"/>
            <a:ext cx="23820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with you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2776118" y="1524305"/>
            <a:ext cx="37627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</a:t>
            </a:r>
            <a:endParaRPr lang="en-US" sz="2700" dirty="0"/>
          </a:p>
        </p:txBody>
      </p:sp>
      <p:sp>
        <p:nvSpPr>
          <p:cNvPr id="26" name="Text 21"/>
          <p:cNvSpPr txBox="1"/>
          <p:nvPr/>
        </p:nvSpPr>
        <p:spPr>
          <a:xfrm>
            <a:off x="3467405" y="1981505"/>
            <a:ext cx="23820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kern="0" spc="68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Active Engagements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3467405" y="2266798"/>
            <a:ext cx="23820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divisions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14630" y="3286354"/>
            <a:ext cx="37627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F172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9</a:t>
            </a:r>
            <a:endParaRPr lang="en-US" sz="2700" dirty="0"/>
          </a:p>
        </p:txBody>
      </p:sp>
      <p:sp>
        <p:nvSpPr>
          <p:cNvPr id="29" name="Text 24"/>
          <p:cNvSpPr txBox="1"/>
          <p:nvPr/>
        </p:nvSpPr>
        <p:spPr>
          <a:xfrm>
            <a:off x="705002" y="3743554"/>
            <a:ext cx="23820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kern="0" spc="68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Skill Areas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705002" y="4028846"/>
            <a:ext cx="23820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 play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2776118" y="3286354"/>
            <a:ext cx="37627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47556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 years</a:t>
            </a:r>
            <a:endParaRPr lang="en-US" sz="2700" dirty="0"/>
          </a:p>
        </p:txBody>
      </p:sp>
      <p:sp>
        <p:nvSpPr>
          <p:cNvPr id="32" name="Text 27"/>
          <p:cNvSpPr txBox="1"/>
          <p:nvPr/>
        </p:nvSpPr>
        <p:spPr>
          <a:xfrm>
            <a:off x="3467405" y="3743554"/>
            <a:ext cx="23820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kern="0" spc="68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Partnering</a:t>
            </a:r>
            <a:endParaRPr lang="en-US" sz="1300" dirty="0"/>
          </a:p>
        </p:txBody>
      </p:sp>
      <p:sp>
        <p:nvSpPr>
          <p:cNvPr id="33" name="Text 28"/>
          <p:cNvSpPr txBox="1"/>
          <p:nvPr/>
        </p:nvSpPr>
        <p:spPr>
          <a:xfrm>
            <a:off x="3467405" y="4028846"/>
            <a:ext cx="23820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with you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6829654" y="1524305"/>
            <a:ext cx="4506163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Breakdown</a:t>
            </a:r>
            <a:endParaRPr lang="en-US" sz="1500" dirty="0"/>
          </a:p>
        </p:txBody>
      </p:sp>
      <p:sp>
        <p:nvSpPr>
          <p:cNvPr id="36" name="Text 30"/>
          <p:cNvSpPr txBox="1"/>
          <p:nvPr/>
        </p:nvSpPr>
        <p:spPr>
          <a:xfrm>
            <a:off x="6572707" y="2000707"/>
            <a:ext cx="4763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Skills deployed with SocGen</a:t>
            </a:r>
            <a:endParaRPr lang="en-US" sz="1200" dirty="0"/>
          </a:p>
        </p:txBody>
      </p:sp>
      <p:sp>
        <p:nvSpPr>
          <p:cNvPr id="37" name="Text 31"/>
          <p:cNvSpPr txBox="1"/>
          <p:nvPr/>
        </p:nvSpPr>
        <p:spPr>
          <a:xfrm>
            <a:off x="6572707" y="2305202"/>
            <a:ext cx="4763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Java · COBOL · Test Automation · Cloud Migration · Cybersecurity · Mainframe Modernization</a:t>
            </a:r>
            <a:endParaRPr 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6572707" y="3286354"/>
            <a:ext cx="4763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Divisions / teams we support</a:t>
            </a:r>
            <a:endParaRPr lang="en-US" sz="1200" dirty="0"/>
          </a:p>
        </p:txBody>
      </p:sp>
      <p:sp>
        <p:nvSpPr>
          <p:cNvPr id="39" name="Text 33"/>
          <p:cNvSpPr txBox="1"/>
          <p:nvPr/>
        </p:nvSpPr>
        <p:spPr>
          <a:xfrm>
            <a:off x="6572707" y="3590849"/>
            <a:ext cx="4763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Retail Banking IT · Risk Tech · Global Markets · Ops</a:t>
            </a:r>
            <a:endParaRPr lang="en-US" sz="1100" dirty="0"/>
          </a:p>
        </p:txBody>
      </p:sp>
      <p:sp>
        <p:nvSpPr>
          <p:cNvPr id="41" name="Text 34"/>
          <p:cNvSpPr txBox="1"/>
          <p:nvPr/>
        </p:nvSpPr>
        <p:spPr>
          <a:xfrm>
            <a:off x="1429207" y="5191049"/>
            <a:ext cx="9906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94A3B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Where we're expanding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1429207" y="5477256"/>
            <a:ext cx="9906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Wealth Management division · 2 new GenAI pods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609905" y="6590995"/>
            <a:ext cx="109728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64748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Account snapshot as of 2026-06-20. Figures reflect current deployment.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32819</Words>
  <Application>Microsoft Office PowerPoint</Application>
  <PresentationFormat>Widescreen</PresentationFormat>
  <Paragraphs>3575</Paragraphs>
  <Slides>138</Slides>
  <Notes>138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138</vt:i4>
      </vt:variant>
    </vt:vector>
  </HeadingPairs>
  <TitlesOfParts>
    <vt:vector size="145" baseType="lpstr">
      <vt:lpstr>Aptos</vt:lpstr>
      <vt:lpstr>Arial</vt:lpstr>
      <vt:lpstr>Calibri</vt:lpstr>
      <vt:lpstr>Oswald</vt:lpstr>
      <vt:lpstr>Raleway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Case Study Portfolio</dc:title>
  <dc:subject>PptxGenJS Presentation</dc:subject>
  <dc:creator>J2W</dc:creator>
  <cp:lastModifiedBy>Athithia Krishna</cp:lastModifiedBy>
  <cp:revision>5</cp:revision>
  <dcterms:created xsi:type="dcterms:W3CDTF">2026-06-22T10:46:20Z</dcterms:created>
  <dcterms:modified xsi:type="dcterms:W3CDTF">2026-06-24T11:39:04Z</dcterms:modified>
</cp:coreProperties>
</file>