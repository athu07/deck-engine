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J2W_TEMPLATE: case_study_v2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7315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310896"/>
            <a:ext cx="11384280" cy="731520"/>
          </a:xfrm>
          <a:prstGeom prst="rect">
            <a:avLst/>
          </a:prstGeom>
          <a:noFill/>
        </p:spPr>
        <p:txBody>
          <a:bodyPr wrap="square" tIns="0" bIns="0" lIns="0" rIns="0">
            <a:spAutoFit/>
          </a:bodyPr>
          <a:lstStyle/>
          <a:p>
            <a:pPr algn="l"/>
            <a:r>
              <a:rPr sz="2400" b="1">
                <a:solidFill>
                  <a:srgbClr val="C02026"/>
                </a:solidFill>
                <a:latin typeface="Oswald"/>
              </a:rPr>
              <a:t>CASE STUDY: </a:t>
            </a:r>
            <a:r>
              <a:rPr sz="2400" b="1">
                <a:solidFill>
                  <a:srgbClr val="111110"/>
                </a:solidFill>
                <a:latin typeface="Oswald"/>
              </a:rPr>
              <a:t>COA PARAMETER EFFICIENCY TRACKER</a:t>
            </a:r>
          </a:p>
        </p:txBody>
      </p:sp>
      <p:sp>
        <p:nvSpPr>
          <p:cNvPr id="6" name="TextBox 5"/>
          <p:cNvSpPr txBox="1"/>
          <p:nvPr/>
        </p:nvSpPr>
        <p:spPr>
          <a:xfrm>
            <a:off x="402336" y="804672"/>
            <a:ext cx="11384280" cy="274320"/>
          </a:xfrm>
          <a:prstGeom prst="rect">
            <a:avLst/>
          </a:prstGeom>
          <a:noFill/>
        </p:spPr>
        <p:txBody>
          <a:bodyPr wrap="square" tIns="0" bIns="0" lIns="0" rIns="0">
            <a:spAutoFit/>
          </a:bodyPr>
          <a:lstStyle/>
          <a:p>
            <a:pPr algn="l"/>
            <a:r>
              <a:rPr sz="1500" b="1">
                <a:solidFill>
                  <a:srgbClr val="3A8B82"/>
                </a:solidFill>
                <a:latin typeface="Oswald"/>
              </a:rPr>
              <a:t>CLIENT: Leading Life Sciences Enterprise  |  DOMAIN: Life Sciences</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Helvetica"/>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Helvetica"/>
              </a:rPr>
              <a:t>Quality teams at this pharmaceutical manufacturer investigated out-of-specification failures one batch at a time, with no systematic way to identify whether the same parameter was drifting across multiple products or whether a pattern of near-misses was accumulating toward a future failure. The investigation process was intensive, manual, and reactive - consuming significant analyst hours on each event while leaving the next one just as unpredictable as the last. Parameters drifting toward specification limits went undetected because the data lived in COA records, LIMS, and ERP systems that were never analyzed together. Batch release delays, rework cycles, and customer escalations were absorbed as the cost of doing business in a complex quality environment, when the signals to prevent them had been there all along.</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Helvetica"/>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Helvetica"/>
              </a:rPr>
              <a:t>An AI-powered analytics platform was deployed continuously analyzing COA, LIMS, ERP, and supplier data together to surface quality risk before it materialized as a failure. Parameter behavior was tracked across the entire product portfolio, with near-miss detection flagging parameters drifting toward specification limits before they triggered an out-of-specification event. Dynamic product risk scores were generated from process capability, trend stability, and historical failure data, and failure correlations with suppliers, equipment, shifts, and process conditions were surfaced automatically for quality team review. Automated SPC monitoring and one-click audit reporting replaced the manual assembly of trend data that had previously consumed analyst time before every customer audit or regulatory review.</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Helvetica"/>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Helvetica"/>
              </a:rPr>
              <a:t>Parameter Failure Analytics</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Helvetica"/>
              </a:rPr>
              <a:t>Tracks out-of-specification frequency across products and parameters, identifying recurring failure patterns and high-risk areas continuously.</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Helvetica"/>
              </a:rPr>
              <a:t>Near-Miss Detection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Helvetica"/>
              </a:rPr>
              <a:t>Flags parameters drifting toward specification limits before an out-of-specification event occurs, enabling intervention before failure.</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Helvetica"/>
              </a:rPr>
              <a:t>Product Risk Scoring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Helvetica"/>
              </a:rPr>
              <a:t>Generates dynamic risk scores from process capability, trend stability, and historical failure data across the full product portfolio.</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Helvetica"/>
              </a:rPr>
              <a:t>Root Cause Correlation Engine</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Helvetica"/>
              </a:rPr>
              <a:t>Correlates failures with suppliers, equipment, shifts, and process conditions, surfacing probable root-cause hypotheses automatically.</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Helvetica"/>
              </a:rPr>
              <a:t>Automated SPC and Process Monitoring</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Helvetica"/>
              </a:rPr>
              <a:t>Real-time SPC charts and continuous Cpk and Ppk monitoring for every critical quality parameter across all products.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Helvetica"/>
              </a:rPr>
              <a:t>Audit and Compliance Reporting</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Helvetica"/>
              </a:rPr>
              <a:t>One-click generation of comprehensive trend reports for customer audits, regulatory reviews, and internal quality assessments.</a:t>
            </a:r>
          </a:p>
        </p:txBody>
      </p:sp>
      <p:sp>
        <p:nvSpPr>
          <p:cNvPr id="34" name="Rectangle 33"/>
          <p:cNvSpPr/>
          <p:nvPr/>
        </p:nvSpPr>
        <p:spPr>
          <a:xfrm>
            <a:off x="0" y="5669280"/>
            <a:ext cx="12188952" cy="1188719"/>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815584"/>
            <a:ext cx="3697223" cy="475488"/>
          </a:xfrm>
          <a:prstGeom prst="rect">
            <a:avLst/>
          </a:prstGeom>
          <a:noFill/>
        </p:spPr>
        <p:txBody>
          <a:bodyPr wrap="square" tIns="0" bIns="0" lIns="0" rIns="0">
            <a:spAutoFit/>
          </a:bodyPr>
          <a:lstStyle/>
          <a:p>
            <a:pPr algn="ctr"/>
            <a:r>
              <a:rPr sz="2500" b="1">
                <a:solidFill>
                  <a:srgbClr val="FFFFFF"/>
                </a:solidFill>
                <a:latin typeface="Helvetica"/>
              </a:rPr>
              <a:t>Rs 1.0-2.5 crore</a:t>
            </a:r>
          </a:p>
        </p:txBody>
      </p:sp>
      <p:sp>
        <p:nvSpPr>
          <p:cNvPr id="36" name="TextBox 35"/>
          <p:cNvSpPr txBox="1"/>
          <p:nvPr/>
        </p:nvSpPr>
        <p:spPr>
          <a:xfrm>
            <a:off x="137160" y="6272784"/>
            <a:ext cx="3788664" cy="548640"/>
          </a:xfrm>
          <a:prstGeom prst="rect">
            <a:avLst/>
          </a:prstGeom>
          <a:noFill/>
        </p:spPr>
        <p:txBody>
          <a:bodyPr wrap="square" tIns="0" bIns="0" lIns="0" rIns="0">
            <a:spAutoFit/>
          </a:bodyPr>
          <a:lstStyle/>
          <a:p>
            <a:pPr algn="ctr"/>
            <a:r>
              <a:rPr sz="1200" b="0">
                <a:solidFill>
                  <a:srgbClr val="FFFFFF"/>
                </a:solidFill>
                <a:latin typeface="Helvetica"/>
              </a:rPr>
              <a:t>reduction in out-of-specification investigation cost</a:t>
            </a:r>
          </a:p>
        </p:txBody>
      </p:sp>
      <p:sp>
        <p:nvSpPr>
          <p:cNvPr id="37" name="TextBox 36"/>
          <p:cNvSpPr txBox="1"/>
          <p:nvPr/>
        </p:nvSpPr>
        <p:spPr>
          <a:xfrm>
            <a:off x="4245864" y="5815584"/>
            <a:ext cx="3697223" cy="475488"/>
          </a:xfrm>
          <a:prstGeom prst="rect">
            <a:avLst/>
          </a:prstGeom>
          <a:noFill/>
        </p:spPr>
        <p:txBody>
          <a:bodyPr wrap="square" tIns="0" bIns="0" lIns="0" rIns="0">
            <a:spAutoFit/>
          </a:bodyPr>
          <a:lstStyle/>
          <a:p>
            <a:pPr algn="ctr"/>
            <a:r>
              <a:rPr sz="2500" b="1">
                <a:solidFill>
                  <a:srgbClr val="FFFFFF"/>
                </a:solidFill>
                <a:latin typeface="Helvetica"/>
              </a:rPr>
              <a:t>1-2 days</a:t>
            </a:r>
          </a:p>
        </p:txBody>
      </p:sp>
      <p:sp>
        <p:nvSpPr>
          <p:cNvPr id="38" name="TextBox 37"/>
          <p:cNvSpPr txBox="1"/>
          <p:nvPr/>
        </p:nvSpPr>
        <p:spPr>
          <a:xfrm>
            <a:off x="4200144" y="6272784"/>
            <a:ext cx="3788664" cy="548640"/>
          </a:xfrm>
          <a:prstGeom prst="rect">
            <a:avLst/>
          </a:prstGeom>
          <a:noFill/>
        </p:spPr>
        <p:txBody>
          <a:bodyPr wrap="square" tIns="0" bIns="0" lIns="0" rIns="0">
            <a:spAutoFit/>
          </a:bodyPr>
          <a:lstStyle/>
          <a:p>
            <a:pPr algn="ctr"/>
            <a:r>
              <a:rPr sz="1200" b="0">
                <a:solidFill>
                  <a:srgbClr val="FFFFFF"/>
                </a:solidFill>
                <a:latin typeface="Helvetica"/>
              </a:rPr>
              <a:t>Batch release cycles accelerated through proactive risk detection replacing reactive investigation</a:t>
            </a:r>
          </a:p>
        </p:txBody>
      </p:sp>
      <p:sp>
        <p:nvSpPr>
          <p:cNvPr id="39" name="TextBox 38"/>
          <p:cNvSpPr txBox="1"/>
          <p:nvPr/>
        </p:nvSpPr>
        <p:spPr>
          <a:xfrm>
            <a:off x="8308847" y="5815584"/>
            <a:ext cx="3697223" cy="475488"/>
          </a:xfrm>
          <a:prstGeom prst="rect">
            <a:avLst/>
          </a:prstGeom>
          <a:noFill/>
        </p:spPr>
        <p:txBody>
          <a:bodyPr wrap="square" tIns="0" bIns="0" lIns="0" rIns="0">
            <a:spAutoFit/>
          </a:bodyPr>
          <a:lstStyle/>
          <a:p>
            <a:pPr algn="ctr"/>
            <a:r>
              <a:rPr sz="2500" b="1">
                <a:solidFill>
                  <a:srgbClr val="FFFFFF"/>
                </a:solidFill>
                <a:latin typeface="Helvetica"/>
              </a:rPr>
              <a:t>Quality management</a:t>
            </a:r>
          </a:p>
        </p:txBody>
      </p:sp>
      <p:sp>
        <p:nvSpPr>
          <p:cNvPr id="40" name="TextBox 39"/>
          <p:cNvSpPr txBox="1"/>
          <p:nvPr/>
        </p:nvSpPr>
        <p:spPr>
          <a:xfrm>
            <a:off x="8263128" y="6272784"/>
            <a:ext cx="3788664" cy="548640"/>
          </a:xfrm>
          <a:prstGeom prst="rect">
            <a:avLst/>
          </a:prstGeom>
          <a:noFill/>
        </p:spPr>
        <p:txBody>
          <a:bodyPr wrap="square" tIns="0" bIns="0" lIns="0" rIns="0">
            <a:spAutoFit/>
          </a:bodyPr>
          <a:lstStyle/>
          <a:p>
            <a:pPr algn="ctr"/>
            <a:r>
              <a:rPr sz="1200" b="0">
                <a:solidFill>
                  <a:srgbClr val="FFFFFF"/>
                </a:solidFill>
                <a:latin typeface="Helvetica"/>
              </a:rPr>
              <a:t>shifted from batch-by-batch reactive investigation to continuous, portfolio-wide predictive intelligence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