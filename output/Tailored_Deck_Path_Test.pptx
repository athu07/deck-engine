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0"/>
  </p:notesMasterIdLst>
  <p:sldIdLst>
    <p:sldId id="2147483328" r:id="rId2"/>
    <p:sldId id="2147483329" r:id="rId3"/>
    <p:sldId id="2147483330" r:id="rId12"/>
    <p:sldId id="2147483331" r:id="rId13"/>
    <p:sldId id="2147483332" r:id="rId14"/>
    <p:sldId id="2147483333" r:id="rId15"/>
    <p:sldId id="2147483334" r:id="rId16"/>
    <p:sldId id="2147483305" r:id="rId8"/>
    <p:sldId id="299"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984CD-E0AE-483E-8716-12DE2F9F24C4}" v="3" dt="2026-06-22T11:16:53.6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40" Type="http://schemas.openxmlformats.org/officeDocument/2006/relationships/notesMaster" Target="notesMasters/notesMaster1.xml"/><Relationship Id="rId141" Type="http://schemas.openxmlformats.org/officeDocument/2006/relationships/presProps" Target="presProps.xml"/><Relationship Id="rId142" Type="http://schemas.openxmlformats.org/officeDocument/2006/relationships/viewProps" Target="viewProps.xml"/><Relationship Id="rId143" Type="http://schemas.openxmlformats.org/officeDocument/2006/relationships/theme" Target="theme/theme1.xml"/><Relationship Id="rId144" Type="http://schemas.openxmlformats.org/officeDocument/2006/relationships/tableStyles" Target="tableStyles.xml"/><Relationship Id="rId14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1831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J2W_ID: CS01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CS08</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95518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png"/><Relationship Id="rId19" Type="http://schemas.openxmlformats.org/officeDocument/2006/relationships/image" Target="../media/image17.png"/><Relationship Id="rId20" Type="http://schemas.openxmlformats.org/officeDocument/2006/relationships/image" Target="../media/image18.jpeg"/><Relationship Id="rId21" Type="http://schemas.openxmlformats.org/officeDocument/2006/relationships/image" Target="../media/image19.jpeg"/><Relationship Id="rId22" Type="http://schemas.openxmlformats.org/officeDocument/2006/relationships/image" Target="../media/image20.png"/><Relationship Id="rId23" Type="http://schemas.openxmlformats.org/officeDocument/2006/relationships/image" Target="../media/image21.png"/><Relationship Id="rId24"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60.png"/><Relationship Id="rId13" Type="http://schemas.openxmlformats.org/officeDocument/2006/relationships/image" Target="../media/image61.png"/><Relationship Id="rId14" Type="http://schemas.openxmlformats.org/officeDocument/2006/relationships/image" Target="../media/image6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4.png"/><Relationship Id="rId6" Type="http://schemas.openxmlformats.org/officeDocument/2006/relationships/image" Target="../media/image63.png"/><Relationship Id="rId7" Type="http://schemas.openxmlformats.org/officeDocument/2006/relationships/image" Target="../media/image64.jpeg"/><Relationship Id="rId8" Type="http://schemas.openxmlformats.org/officeDocument/2006/relationships/image" Target="../media/image65.jpeg"/><Relationship Id="rId9" Type="http://schemas.openxmlformats.org/officeDocument/2006/relationships/image" Target="../media/image66.jpeg"/><Relationship Id="rId10" Type="http://schemas.openxmlformats.org/officeDocument/2006/relationships/image" Target="../media/image67.jpeg"/><Relationship Id="rId11" Type="http://schemas.openxmlformats.org/officeDocument/2006/relationships/image" Target="../media/image68.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w="12700">
            <a:solidFill>
              <a:srgbClr val="FFFFFF">
                <a:alpha val="0"/>
              </a:srgbClr>
            </a:solidFill>
            <a:prstDash val="solid"/>
          </a:ln>
        </p:spPr>
        <p:txBody>
          <a:bodyPr/>
          <a:lstStyle/>
          <a:p>
            <a:endParaRPr lang="en-US"/>
          </a:p>
        </p:txBody>
      </p:sp>
      <p:sp>
        <p:nvSpPr>
          <p:cNvPr id="3" name="Shape 1"/>
          <p:cNvSpPr/>
          <p:nvPr/>
        </p:nvSpPr>
        <p:spPr>
          <a:xfrm>
            <a:off x="305" y="0"/>
            <a:ext cx="12191695" cy="6858000"/>
          </a:xfrm>
          <a:prstGeom prst="rect">
            <a:avLst/>
          </a:prstGeom>
          <a:solidFill>
            <a:srgbClr val="FFFFFF"/>
          </a:solidFill>
          <a:ln w="12700">
            <a:solidFill>
              <a:srgbClr val="FFFFFF">
                <a:alpha val="0"/>
              </a:srgbClr>
            </a:solidFill>
            <a:prstDash val="solid"/>
          </a:ln>
        </p:spPr>
        <p:txBody>
          <a:bodyPr/>
          <a:lstStyle/>
          <a:p>
            <a:pPr algn="ctr"/>
            <a:endParaRPr lang="en-US"/>
          </a:p>
        </p:txBody>
      </p:sp>
      <p:pic>
        <p:nvPicPr>
          <p:cNvPr id="4" name="Image 0" descr="preencoded.png"/>
          <p:cNvPicPr>
            <a:picLocks noChangeAspect="1"/>
          </p:cNvPicPr>
          <p:nvPr/>
        </p:nvPicPr>
        <p:blipFill>
          <a:blip r:embed="rId3"/>
          <a:srcRect/>
          <a:stretch/>
        </p:blipFill>
        <p:spPr>
          <a:xfrm>
            <a:off x="9334195" y="0"/>
            <a:ext cx="2857500" cy="2857500"/>
          </a:xfrm>
          <a:prstGeom prst="rect">
            <a:avLst/>
          </a:prstGeom>
        </p:spPr>
      </p:pic>
      <p:sp>
        <p:nvSpPr>
          <p:cNvPr id="5" name="Shape 2"/>
          <p:cNvSpPr/>
          <p:nvPr/>
        </p:nvSpPr>
        <p:spPr>
          <a:xfrm>
            <a:off x="0" y="5905195"/>
            <a:ext cx="3810305" cy="952805"/>
          </a:xfrm>
          <a:custGeom>
            <a:avLst/>
            <a:gdLst/>
            <a:ahLst/>
            <a:cxnLst/>
            <a:rect l="l" t="t" r="r" b="b"/>
            <a:pathLst>
              <a:path w="3810305" h="952805">
                <a:moveTo>
                  <a:pt x="0" y="952805"/>
                </a:moveTo>
                <a:lnTo>
                  <a:pt x="3810305" y="952805"/>
                </a:lnTo>
                <a:lnTo>
                  <a:pt x="0" y="0"/>
                </a:lnTo>
                <a:close/>
              </a:path>
            </a:pathLst>
          </a:custGeom>
          <a:solidFill>
            <a:srgbClr val="D62839">
              <a:alpha val="3000"/>
            </a:srgbClr>
          </a:solidFill>
          <a:ln/>
        </p:spPr>
        <p:txBody>
          <a:bodyPr/>
          <a:lstStyle/>
          <a:p>
            <a:endParaRPr lang="en-US"/>
          </a:p>
        </p:txBody>
      </p:sp>
      <p:pic>
        <p:nvPicPr>
          <p:cNvPr id="6" name="Image 1" descr="preencoded.png"/>
          <p:cNvPicPr>
            <a:picLocks noChangeAspect="1"/>
          </p:cNvPicPr>
          <p:nvPr/>
        </p:nvPicPr>
        <p:blipFill>
          <a:blip r:embed="rId4"/>
          <a:srcRect l="-202" r="-202"/>
          <a:stretch/>
        </p:blipFill>
        <p:spPr>
          <a:xfrm>
            <a:off x="0" y="0"/>
            <a:ext cx="8128102" cy="75895"/>
          </a:xfrm>
          <a:prstGeom prst="rect">
            <a:avLst/>
          </a:prstGeom>
        </p:spPr>
      </p:pic>
      <p:pic>
        <p:nvPicPr>
          <p:cNvPr id="7" name="Image 2" descr="preencoded.png"/>
          <p:cNvPicPr>
            <a:picLocks noChangeAspect="1"/>
          </p:cNvPicPr>
          <p:nvPr/>
        </p:nvPicPr>
        <p:blipFill>
          <a:blip r:embed="rId5"/>
          <a:srcRect l="-197" r="-197"/>
          <a:stretch/>
        </p:blipFill>
        <p:spPr>
          <a:xfrm>
            <a:off x="8128102" y="0"/>
            <a:ext cx="4063594" cy="75895"/>
          </a:xfrm>
          <a:prstGeom prst="rect">
            <a:avLst/>
          </a:prstGeom>
        </p:spPr>
      </p:pic>
      <p:sp>
        <p:nvSpPr>
          <p:cNvPr id="8" name="Text 3"/>
          <p:cNvSpPr txBox="1"/>
          <p:nvPr/>
        </p:nvSpPr>
        <p:spPr>
          <a:xfrm>
            <a:off x="2774290" y="3881628"/>
            <a:ext cx="6648602" cy="267005"/>
          </a:xfrm>
          <a:prstGeom prst="rect">
            <a:avLst/>
          </a:prstGeom>
          <a:noFill/>
          <a:ln/>
        </p:spPr>
        <p:txBody>
          <a:bodyPr wrap="square" lIns="0" tIns="0" rIns="0" bIns="0" rtlCol="0" anchor="ctr"/>
          <a:lstStyle/>
          <a:p>
            <a:pPr marL="0" indent="0" algn="ctr">
              <a:buNone/>
            </a:pPr>
            <a:r>
              <a:rPr lang="en-US" sz="1500" b="1">
                <a:solidFill>
                  <a:srgbClr val="4B5563"/>
                </a:solidFill>
                <a:latin typeface="Roboto Condensed" pitchFamily="34" charset="0"/>
                <a:ea typeface="Roboto Condensed" pitchFamily="34" charset="-122"/>
                <a:cs typeface="Roboto Condensed" pitchFamily="34" charset="-120"/>
              </a:rPr>
              <a:t>BUSINESS DRIVERS</a:t>
            </a:r>
            <a:r>
              <a:rPr lang="en-US" sz="1200" b="1">
                <a:solidFill>
                  <a:srgbClr val="D62839"/>
                </a:solidFill>
                <a:latin typeface="Raleway" pitchFamily="34" charset="0"/>
                <a:ea typeface="Raleway" pitchFamily="34" charset="-122"/>
                <a:cs typeface="Raleway" pitchFamily="34" charset="-120"/>
              </a:rPr>
              <a:t>|</a:t>
            </a:r>
            <a:r>
              <a:rPr lang="en-US" sz="1500" b="1">
                <a:solidFill>
                  <a:srgbClr val="4B5563"/>
                </a:solidFill>
                <a:latin typeface="Roboto Condensed" pitchFamily="34" charset="0"/>
                <a:ea typeface="Roboto Condensed" pitchFamily="34" charset="-122"/>
                <a:cs typeface="Roboto Condensed" pitchFamily="34" charset="-120"/>
              </a:rPr>
              <a:t> TECHNOLOGY ACCELERATORS </a:t>
            </a:r>
            <a:r>
              <a:rPr lang="en-US" sz="1200" b="1">
                <a:solidFill>
                  <a:srgbClr val="D62839"/>
                </a:solidFill>
                <a:latin typeface="Raleway" pitchFamily="34" charset="0"/>
                <a:ea typeface="Raleway" pitchFamily="34" charset="-122"/>
                <a:cs typeface="Raleway" pitchFamily="34" charset="-120"/>
              </a:rPr>
              <a:t>|</a:t>
            </a:r>
            <a:r>
              <a:rPr lang="en-US" sz="1500" b="1">
                <a:solidFill>
                  <a:srgbClr val="4B5563"/>
                </a:solidFill>
                <a:latin typeface="Roboto Condensed" pitchFamily="34" charset="0"/>
                <a:ea typeface="Roboto Condensed" pitchFamily="34" charset="-122"/>
                <a:cs typeface="Roboto Condensed" pitchFamily="34" charset="-120"/>
              </a:rPr>
              <a:t> GAME CHANGERS </a:t>
            </a:r>
            <a:endParaRPr lang="en-US" sz="1200"/>
          </a:p>
        </p:txBody>
      </p:sp>
      <p:sp>
        <p:nvSpPr>
          <p:cNvPr id="9" name="Text 4"/>
          <p:cNvSpPr txBox="1"/>
          <p:nvPr/>
        </p:nvSpPr>
        <p:spPr>
          <a:xfrm>
            <a:off x="4153205" y="4262933"/>
            <a:ext cx="3893515" cy="305410"/>
          </a:xfrm>
          <a:prstGeom prst="rect">
            <a:avLst/>
          </a:prstGeom>
          <a:noFill/>
          <a:ln/>
        </p:spPr>
        <p:txBody>
          <a:bodyPr wrap="square" lIns="0" tIns="0" rIns="0" bIns="0" rtlCol="0" anchor="ctr"/>
          <a:lstStyle/>
          <a:p>
            <a:pPr marL="0" indent="0" algn="ctr">
              <a:buNone/>
            </a:pPr>
            <a:r>
              <a:rPr lang="en-US" sz="1800" i="1">
                <a:solidFill>
                  <a:srgbClr val="D62839"/>
                </a:solidFill>
                <a:latin typeface="Raleway" pitchFamily="34" charset="0"/>
                <a:ea typeface="Raleway" pitchFamily="34" charset="-122"/>
                <a:cs typeface="Raleway" pitchFamily="34" charset="-120"/>
              </a:rPr>
              <a:t>Energy. Excellence. Innovation.</a:t>
            </a:r>
            <a:endParaRPr lang="en-US" sz="1800"/>
          </a:p>
        </p:txBody>
      </p:sp>
      <p:pic>
        <p:nvPicPr>
          <p:cNvPr id="10" name="Image 3" descr="preencoded.png"/>
          <p:cNvPicPr>
            <a:picLocks noChangeAspect="1"/>
          </p:cNvPicPr>
          <p:nvPr/>
        </p:nvPicPr>
        <p:blipFill>
          <a:blip r:embed="rId6"/>
          <a:srcRect l="141" r="141"/>
          <a:stretch/>
        </p:blipFill>
        <p:spPr>
          <a:xfrm>
            <a:off x="4629607" y="447142"/>
            <a:ext cx="2933395" cy="1419149"/>
          </a:xfrm>
          <a:prstGeom prst="rect">
            <a:avLst/>
          </a:prstGeom>
        </p:spPr>
      </p:pic>
      <p:sp>
        <p:nvSpPr>
          <p:cNvPr id="11" name="Text 5"/>
          <p:cNvSpPr txBox="1"/>
          <p:nvPr/>
        </p:nvSpPr>
        <p:spPr>
          <a:xfrm>
            <a:off x="1287018" y="2262226"/>
            <a:ext cx="9475927" cy="1143000"/>
          </a:xfrm>
          <a:prstGeom prst="rect">
            <a:avLst/>
          </a:prstGeom>
          <a:noFill/>
          <a:ln/>
        </p:spPr>
        <p:txBody>
          <a:bodyPr wrap="square" lIns="0" tIns="0" rIns="0" bIns="0" rtlCol="0" anchor="ctr"/>
          <a:lstStyle/>
          <a:p>
            <a:pPr marL="0" indent="0" algn="ctr">
              <a:buNone/>
            </a:pPr>
            <a:r>
              <a:rPr lang="en-US" sz="3600" b="1" dirty="0">
                <a:solidFill>
                  <a:srgbClr val="1F2937"/>
                </a:solidFill>
                <a:latin typeface="Oswald" pitchFamily="34" charset="0"/>
                <a:ea typeface="Oswald" pitchFamily="34" charset="-122"/>
                <a:cs typeface="Oswald" pitchFamily="34" charset="-120"/>
              </a:rPr>
              <a:t> Building the Enterprise Operating Model​</a:t>
            </a:r>
          </a:p>
          <a:p>
            <a:pPr marL="0" indent="0" algn="ctr">
              <a:buNone/>
            </a:pPr>
            <a:r>
              <a:rPr lang="en-US" sz="3600" b="1" dirty="0">
                <a:solidFill>
                  <a:srgbClr val="1F2937"/>
                </a:solidFill>
                <a:latin typeface="Oswald" pitchFamily="34" charset="0"/>
                <a:ea typeface="Oswald" pitchFamily="34" charset="-122"/>
                <a:cs typeface="Oswald" pitchFamily="34" charset="-120"/>
              </a:rPr>
              <a:t>for the Next Decade​</a:t>
            </a:r>
          </a:p>
        </p:txBody>
      </p:sp>
      <p:pic>
        <p:nvPicPr>
          <p:cNvPr id="12" name="Image 4" descr="preencoded.png"/>
          <p:cNvPicPr>
            <a:picLocks noChangeAspect="1"/>
          </p:cNvPicPr>
          <p:nvPr/>
        </p:nvPicPr>
        <p:blipFill>
          <a:blip r:embed="rId7"/>
          <a:srcRect t="-400" b="-400"/>
          <a:stretch/>
        </p:blipFill>
        <p:spPr>
          <a:xfrm>
            <a:off x="5639105" y="3596335"/>
            <a:ext cx="914400" cy="57607"/>
          </a:xfrm>
          <a:prstGeom prst="rect">
            <a:avLst/>
          </a:prstGeom>
        </p:spPr>
      </p:pic>
      <p:sp>
        <p:nvSpPr>
          <p:cNvPr id="13" name="Shape 6"/>
          <p:cNvSpPr/>
          <p:nvPr/>
        </p:nvSpPr>
        <p:spPr>
          <a:xfrm>
            <a:off x="0" y="5238598"/>
            <a:ext cx="12191695" cy="1619402"/>
          </a:xfrm>
          <a:prstGeom prst="rect">
            <a:avLst/>
          </a:prstGeom>
          <a:solidFill>
            <a:srgbClr val="F9FAFB"/>
          </a:solidFill>
          <a:ln/>
        </p:spPr>
        <p:txBody>
          <a:bodyPr/>
          <a:lstStyle/>
          <a:p>
            <a:endParaRPr lang="en-US"/>
          </a:p>
        </p:txBody>
      </p:sp>
      <p:sp>
        <p:nvSpPr>
          <p:cNvPr id="14" name="Shape 7"/>
          <p:cNvSpPr/>
          <p:nvPr/>
        </p:nvSpPr>
        <p:spPr>
          <a:xfrm>
            <a:off x="0" y="5238598"/>
            <a:ext cx="12191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15" name="Shape 8"/>
          <p:cNvSpPr/>
          <p:nvPr/>
        </p:nvSpPr>
        <p:spPr>
          <a:xfrm>
            <a:off x="10201961" y="5362956"/>
            <a:ext cx="9144" cy="1380744"/>
          </a:xfrm>
          <a:prstGeom prst="rect">
            <a:avLst/>
          </a:prstGeom>
          <a:solidFill>
            <a:srgbClr val="D1D5DB"/>
          </a:solidFill>
          <a:ln w="12700">
            <a:solidFill>
              <a:srgbClr val="D1D5DB">
                <a:alpha val="0"/>
              </a:srgbClr>
            </a:solidFill>
            <a:prstDash val="solid"/>
          </a:ln>
        </p:spPr>
        <p:txBody>
          <a:bodyPr/>
          <a:lstStyle/>
          <a:p>
            <a:endParaRPr lang="en-US"/>
          </a:p>
        </p:txBody>
      </p:sp>
      <p:sp>
        <p:nvSpPr>
          <p:cNvPr id="16" name="Text 9"/>
          <p:cNvSpPr txBox="1"/>
          <p:nvPr/>
        </p:nvSpPr>
        <p:spPr>
          <a:xfrm>
            <a:off x="457200" y="5362956"/>
            <a:ext cx="9630461" cy="191110"/>
          </a:xfrm>
          <a:prstGeom prst="rect">
            <a:avLst/>
          </a:prstGeom>
          <a:noFill/>
          <a:ln/>
        </p:spPr>
        <p:txBody>
          <a:bodyPr wrap="squar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Trusted by:</a:t>
            </a:r>
            <a:endParaRPr lang="en-US" sz="1000"/>
          </a:p>
        </p:txBody>
      </p:sp>
      <p:sp>
        <p:nvSpPr>
          <p:cNvPr id="17" name="Shape 10"/>
          <p:cNvSpPr/>
          <p:nvPr/>
        </p:nvSpPr>
        <p:spPr>
          <a:xfrm>
            <a:off x="10362895" y="560527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18" name="Image 5" descr="preencoded.png"/>
          <p:cNvPicPr>
            <a:picLocks noChangeAspect="1"/>
          </p:cNvPicPr>
          <p:nvPr/>
        </p:nvPicPr>
        <p:blipFill>
          <a:blip r:embed="rId8"/>
          <a:srcRect/>
          <a:stretch/>
        </p:blipFill>
        <p:spPr>
          <a:xfrm>
            <a:off x="10577779" y="5672023"/>
            <a:ext cx="114300" cy="114300"/>
          </a:xfrm>
          <a:prstGeom prst="rect">
            <a:avLst/>
          </a:prstGeom>
        </p:spPr>
      </p:pic>
      <p:sp>
        <p:nvSpPr>
          <p:cNvPr id="19" name="Text 11"/>
          <p:cNvSpPr txBox="1"/>
          <p:nvPr/>
        </p:nvSpPr>
        <p:spPr>
          <a:xfrm>
            <a:off x="10767974" y="5605272"/>
            <a:ext cx="8101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ISO 9001:2015</a:t>
            </a:r>
            <a:endParaRPr lang="en-US" sz="900"/>
          </a:p>
        </p:txBody>
      </p:sp>
      <p:sp>
        <p:nvSpPr>
          <p:cNvPr id="20" name="Shape 12"/>
          <p:cNvSpPr/>
          <p:nvPr/>
        </p:nvSpPr>
        <p:spPr>
          <a:xfrm>
            <a:off x="10362895" y="5928970"/>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1" name="Image 6" descr="preencoded.png"/>
          <p:cNvPicPr>
            <a:picLocks noChangeAspect="1"/>
          </p:cNvPicPr>
          <p:nvPr/>
        </p:nvPicPr>
        <p:blipFill>
          <a:blip r:embed="rId9"/>
          <a:srcRect/>
          <a:stretch/>
        </p:blipFill>
        <p:spPr>
          <a:xfrm>
            <a:off x="10554919" y="5995721"/>
            <a:ext cx="114300" cy="114300"/>
          </a:xfrm>
          <a:prstGeom prst="rect">
            <a:avLst/>
          </a:prstGeom>
        </p:spPr>
      </p:pic>
      <p:sp>
        <p:nvSpPr>
          <p:cNvPr id="22" name="Text 13"/>
          <p:cNvSpPr txBox="1"/>
          <p:nvPr/>
        </p:nvSpPr>
        <p:spPr>
          <a:xfrm>
            <a:off x="10745114" y="5928970"/>
            <a:ext cx="857707"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CMMI Certified</a:t>
            </a:r>
            <a:endParaRPr lang="en-US" sz="900"/>
          </a:p>
        </p:txBody>
      </p:sp>
      <p:sp>
        <p:nvSpPr>
          <p:cNvPr id="23" name="Shape 14"/>
          <p:cNvSpPr/>
          <p:nvPr/>
        </p:nvSpPr>
        <p:spPr>
          <a:xfrm>
            <a:off x="10362895" y="625358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4" name="Image 7" descr="preencoded.png"/>
          <p:cNvPicPr>
            <a:picLocks noChangeAspect="1"/>
          </p:cNvPicPr>
          <p:nvPr/>
        </p:nvPicPr>
        <p:blipFill>
          <a:blip r:embed="rId10"/>
          <a:srcRect l="-133" r="-133"/>
          <a:stretch/>
        </p:blipFill>
        <p:spPr>
          <a:xfrm>
            <a:off x="10537546" y="6319418"/>
            <a:ext cx="85954" cy="114300"/>
          </a:xfrm>
          <a:prstGeom prst="rect">
            <a:avLst/>
          </a:prstGeom>
        </p:spPr>
      </p:pic>
      <p:sp>
        <p:nvSpPr>
          <p:cNvPr id="25" name="Text 15"/>
          <p:cNvSpPr txBox="1"/>
          <p:nvPr/>
        </p:nvSpPr>
        <p:spPr>
          <a:xfrm>
            <a:off x="10699394" y="6253582"/>
            <a:ext cx="9244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Women-Owned</a:t>
            </a:r>
            <a:endParaRPr lang="en-US" sz="900"/>
          </a:p>
        </p:txBody>
      </p:sp>
      <p:pic>
        <p:nvPicPr>
          <p:cNvPr id="26" name="Image 8" descr="preencoded.png"/>
          <p:cNvPicPr>
            <a:picLocks noChangeAspect="1"/>
          </p:cNvPicPr>
          <p:nvPr/>
        </p:nvPicPr>
        <p:blipFill>
          <a:blip r:embed="rId11">
            <a:alphaModFix amt="90000"/>
          </a:blip>
          <a:srcRect/>
          <a:stretch/>
        </p:blipFill>
        <p:spPr>
          <a:xfrm>
            <a:off x="457200" y="5700370"/>
            <a:ext cx="428854" cy="428854"/>
          </a:xfrm>
          <a:prstGeom prst="rect">
            <a:avLst/>
          </a:prstGeom>
        </p:spPr>
      </p:pic>
      <p:pic>
        <p:nvPicPr>
          <p:cNvPr id="27" name="Image 9" descr="preencoded.png"/>
          <p:cNvPicPr>
            <a:picLocks noChangeAspect="1"/>
          </p:cNvPicPr>
          <p:nvPr/>
        </p:nvPicPr>
        <p:blipFill>
          <a:blip r:embed="rId12">
            <a:alphaModFix amt="90000"/>
          </a:blip>
          <a:srcRect l="2016" r="2016"/>
          <a:stretch/>
        </p:blipFill>
        <p:spPr>
          <a:xfrm>
            <a:off x="1578254" y="5805526"/>
            <a:ext cx="1143000" cy="228600"/>
          </a:xfrm>
          <a:prstGeom prst="rect">
            <a:avLst/>
          </a:prstGeom>
        </p:spPr>
      </p:pic>
      <p:pic>
        <p:nvPicPr>
          <p:cNvPr id="28" name="Image 10" descr="preencoded.png"/>
          <p:cNvPicPr>
            <a:picLocks noChangeAspect="1"/>
          </p:cNvPicPr>
          <p:nvPr/>
        </p:nvPicPr>
        <p:blipFill>
          <a:blip r:embed="rId13">
            <a:alphaModFix amt="90000"/>
          </a:blip>
          <a:srcRect t="569" b="569"/>
          <a:stretch/>
        </p:blipFill>
        <p:spPr>
          <a:xfrm>
            <a:off x="3413455" y="5639105"/>
            <a:ext cx="838505" cy="552298"/>
          </a:xfrm>
          <a:prstGeom prst="rect">
            <a:avLst/>
          </a:prstGeom>
        </p:spPr>
      </p:pic>
      <p:pic>
        <p:nvPicPr>
          <p:cNvPr id="29" name="Image 11" descr="preencoded.png"/>
          <p:cNvPicPr>
            <a:picLocks noChangeAspect="1"/>
          </p:cNvPicPr>
          <p:nvPr/>
        </p:nvPicPr>
        <p:blipFill>
          <a:blip r:embed="rId14">
            <a:alphaModFix amt="90000"/>
          </a:blip>
          <a:srcRect t="563" b="563"/>
          <a:stretch/>
        </p:blipFill>
        <p:spPr>
          <a:xfrm>
            <a:off x="4935017" y="5648249"/>
            <a:ext cx="809244" cy="533095"/>
          </a:xfrm>
          <a:prstGeom prst="rect">
            <a:avLst/>
          </a:prstGeom>
        </p:spPr>
      </p:pic>
      <p:pic>
        <p:nvPicPr>
          <p:cNvPr id="30" name="Image 12" descr="preencoded.png"/>
          <p:cNvPicPr>
            <a:picLocks noChangeAspect="1"/>
          </p:cNvPicPr>
          <p:nvPr/>
        </p:nvPicPr>
        <p:blipFill>
          <a:blip r:embed="rId15">
            <a:alphaModFix amt="90000"/>
          </a:blip>
          <a:srcRect t="267" b="267"/>
          <a:stretch/>
        </p:blipFill>
        <p:spPr>
          <a:xfrm>
            <a:off x="6427318" y="5648249"/>
            <a:ext cx="952805" cy="533095"/>
          </a:xfrm>
          <a:prstGeom prst="rect">
            <a:avLst/>
          </a:prstGeom>
        </p:spPr>
      </p:pic>
      <p:pic>
        <p:nvPicPr>
          <p:cNvPr id="31" name="Image 13" descr="preencoded.png"/>
          <p:cNvPicPr>
            <a:picLocks noChangeAspect="1"/>
          </p:cNvPicPr>
          <p:nvPr/>
        </p:nvPicPr>
        <p:blipFill>
          <a:blip r:embed="rId16">
            <a:alphaModFix amt="90000"/>
          </a:blip>
          <a:srcRect/>
          <a:stretch/>
        </p:blipFill>
        <p:spPr>
          <a:xfrm>
            <a:off x="8067751" y="5662879"/>
            <a:ext cx="504749" cy="504749"/>
          </a:xfrm>
          <a:prstGeom prst="rect">
            <a:avLst/>
          </a:prstGeom>
        </p:spPr>
      </p:pic>
      <p:pic>
        <p:nvPicPr>
          <p:cNvPr id="32" name="Image 14" descr="preencoded.png"/>
          <p:cNvPicPr>
            <a:picLocks noChangeAspect="1"/>
          </p:cNvPicPr>
          <p:nvPr/>
        </p:nvPicPr>
        <p:blipFill>
          <a:blip r:embed="rId17">
            <a:alphaModFix amt="90000"/>
          </a:blip>
          <a:srcRect t="525" b="525"/>
          <a:stretch/>
        </p:blipFill>
        <p:spPr>
          <a:xfrm>
            <a:off x="9265615" y="5662879"/>
            <a:ext cx="714146" cy="504749"/>
          </a:xfrm>
          <a:prstGeom prst="rect">
            <a:avLst/>
          </a:prstGeom>
        </p:spPr>
      </p:pic>
      <p:pic>
        <p:nvPicPr>
          <p:cNvPr id="33" name="Image 15" descr="preencoded.png"/>
          <p:cNvPicPr>
            <a:picLocks noChangeAspect="1"/>
          </p:cNvPicPr>
          <p:nvPr/>
        </p:nvPicPr>
        <p:blipFill>
          <a:blip r:embed="rId18">
            <a:alphaModFix amt="90000"/>
          </a:blip>
          <a:srcRect l="688" r="688"/>
          <a:stretch/>
        </p:blipFill>
        <p:spPr>
          <a:xfrm>
            <a:off x="457200" y="6445606"/>
            <a:ext cx="1067105" cy="190195"/>
          </a:xfrm>
          <a:prstGeom prst="rect">
            <a:avLst/>
          </a:prstGeom>
        </p:spPr>
      </p:pic>
      <p:pic>
        <p:nvPicPr>
          <p:cNvPr id="34" name="Image 16" descr="preencoded.png"/>
          <p:cNvPicPr>
            <a:picLocks noChangeAspect="1"/>
          </p:cNvPicPr>
          <p:nvPr/>
        </p:nvPicPr>
        <p:blipFill>
          <a:blip r:embed="rId19">
            <a:alphaModFix amt="90000"/>
          </a:blip>
          <a:srcRect l="960" r="960"/>
          <a:stretch/>
        </p:blipFill>
        <p:spPr>
          <a:xfrm>
            <a:off x="2056486" y="6390742"/>
            <a:ext cx="1466698" cy="304495"/>
          </a:xfrm>
          <a:prstGeom prst="rect">
            <a:avLst/>
          </a:prstGeom>
        </p:spPr>
      </p:pic>
      <p:pic>
        <p:nvPicPr>
          <p:cNvPr id="35" name="Image 17" descr="preencoded.png"/>
          <p:cNvPicPr>
            <a:picLocks noChangeAspect="1"/>
          </p:cNvPicPr>
          <p:nvPr/>
        </p:nvPicPr>
        <p:blipFill>
          <a:blip r:embed="rId20">
            <a:alphaModFix amt="90000"/>
          </a:blip>
          <a:srcRect t="311" b="311"/>
          <a:stretch/>
        </p:blipFill>
        <p:spPr>
          <a:xfrm>
            <a:off x="4055364" y="6325819"/>
            <a:ext cx="828446" cy="428854"/>
          </a:xfrm>
          <a:prstGeom prst="rect">
            <a:avLst/>
          </a:prstGeom>
        </p:spPr>
      </p:pic>
      <p:pic>
        <p:nvPicPr>
          <p:cNvPr id="36" name="Image 18" descr="preencoded.png"/>
          <p:cNvPicPr>
            <a:picLocks noChangeAspect="1"/>
          </p:cNvPicPr>
          <p:nvPr/>
        </p:nvPicPr>
        <p:blipFill>
          <a:blip r:embed="rId21">
            <a:alphaModFix amt="90000"/>
          </a:blip>
          <a:srcRect t="385" b="385"/>
          <a:stretch/>
        </p:blipFill>
        <p:spPr>
          <a:xfrm>
            <a:off x="5410505" y="6325819"/>
            <a:ext cx="771754" cy="428854"/>
          </a:xfrm>
          <a:prstGeom prst="rect">
            <a:avLst/>
          </a:prstGeom>
        </p:spPr>
      </p:pic>
      <p:pic>
        <p:nvPicPr>
          <p:cNvPr id="37" name="Image 19" descr="preencoded.png"/>
          <p:cNvPicPr>
            <a:picLocks noChangeAspect="1"/>
          </p:cNvPicPr>
          <p:nvPr/>
        </p:nvPicPr>
        <p:blipFill>
          <a:blip r:embed="rId22">
            <a:alphaModFix amt="90000"/>
          </a:blip>
          <a:srcRect/>
          <a:stretch/>
        </p:blipFill>
        <p:spPr>
          <a:xfrm>
            <a:off x="6708038" y="6325819"/>
            <a:ext cx="428854" cy="428854"/>
          </a:xfrm>
          <a:prstGeom prst="rect">
            <a:avLst/>
          </a:prstGeom>
        </p:spPr>
      </p:pic>
      <p:pic>
        <p:nvPicPr>
          <p:cNvPr id="38" name="Image 20" descr="preencoded.png"/>
          <p:cNvPicPr>
            <a:picLocks noChangeAspect="1"/>
          </p:cNvPicPr>
          <p:nvPr/>
        </p:nvPicPr>
        <p:blipFill>
          <a:blip r:embed="rId23">
            <a:alphaModFix amt="90000"/>
          </a:blip>
          <a:srcRect t="77" b="77"/>
          <a:stretch/>
        </p:blipFill>
        <p:spPr>
          <a:xfrm>
            <a:off x="7669073" y="6368796"/>
            <a:ext cx="629107" cy="342900"/>
          </a:xfrm>
          <a:prstGeom prst="rect">
            <a:avLst/>
          </a:prstGeom>
        </p:spPr>
      </p:pic>
      <p:pic>
        <p:nvPicPr>
          <p:cNvPr id="39" name="Image 21" descr="preencoded.png"/>
          <p:cNvPicPr>
            <a:picLocks noChangeAspect="1"/>
          </p:cNvPicPr>
          <p:nvPr/>
        </p:nvPicPr>
        <p:blipFill>
          <a:blip r:embed="rId24">
            <a:alphaModFix amt="90000"/>
          </a:blip>
          <a:srcRect l="1712" r="1712"/>
          <a:stretch/>
        </p:blipFill>
        <p:spPr>
          <a:xfrm>
            <a:off x="8829446" y="6420002"/>
            <a:ext cx="1143000" cy="2478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8953805" y="-571500"/>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8000"/>
          </a:blip>
          <a:srcRect/>
          <a:stretch/>
        </p:blipFill>
        <p:spPr>
          <a:xfrm>
            <a:off x="-381305" y="3715207"/>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513893"/>
            <a:ext cx="57607" cy="476402"/>
          </a:xfrm>
          <a:prstGeom prst="rect">
            <a:avLst/>
          </a:prstGeom>
        </p:spPr>
      </p:pic>
      <p:sp>
        <p:nvSpPr>
          <p:cNvPr id="9" name="Shape 3"/>
          <p:cNvSpPr/>
          <p:nvPr/>
        </p:nvSpPr>
        <p:spPr>
          <a:xfrm>
            <a:off x="609905" y="1387090"/>
            <a:ext cx="10972190" cy="1450129"/>
          </a:xfrm>
          <a:prstGeom prst="roundRect">
            <a:avLst>
              <a:gd name="adj" fmla="val 2853"/>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387090"/>
            <a:ext cx="47549" cy="1450129"/>
          </a:xfrm>
          <a:prstGeom prst="roundRect">
            <a:avLst>
              <a:gd name="adj" fmla="val 132625"/>
            </a:avLst>
          </a:prstGeom>
          <a:solidFill>
            <a:srgbClr val="111827"/>
          </a:solidFill>
          <a:ln w="12700">
            <a:solidFill>
              <a:srgbClr val="111827">
                <a:alpha val="0"/>
              </a:srgbClr>
            </a:solidFill>
            <a:prstDash val="solid"/>
          </a:ln>
        </p:spPr>
        <p:txBody>
          <a:bodyPr/>
          <a:lstStyle/>
          <a:p>
            <a:endParaRPr lang="en-US"/>
          </a:p>
        </p:txBody>
      </p:sp>
      <p:sp>
        <p:nvSpPr>
          <p:cNvPr id="11" name="Shape 5"/>
          <p:cNvSpPr/>
          <p:nvPr/>
        </p:nvSpPr>
        <p:spPr>
          <a:xfrm>
            <a:off x="609905"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2" name="Shape 6"/>
          <p:cNvSpPr/>
          <p:nvPr/>
        </p:nvSpPr>
        <p:spPr>
          <a:xfrm>
            <a:off x="4343400"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3" name="Shape 7"/>
          <p:cNvSpPr/>
          <p:nvPr/>
        </p:nvSpPr>
        <p:spPr>
          <a:xfrm>
            <a:off x="8076895" y="32388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4" name="Shape 8"/>
          <p:cNvSpPr/>
          <p:nvPr/>
        </p:nvSpPr>
        <p:spPr>
          <a:xfrm>
            <a:off x="609905"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5" name="Shape 9"/>
          <p:cNvSpPr/>
          <p:nvPr/>
        </p:nvSpPr>
        <p:spPr>
          <a:xfrm>
            <a:off x="4343400"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6" name="Shape 10"/>
          <p:cNvSpPr/>
          <p:nvPr/>
        </p:nvSpPr>
        <p:spPr>
          <a:xfrm>
            <a:off x="8076895" y="49533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7" name="Text 11"/>
          <p:cNvSpPr txBox="1"/>
          <p:nvPr/>
        </p:nvSpPr>
        <p:spPr>
          <a:xfrm>
            <a:off x="819302" y="466344"/>
            <a:ext cx="3810305" cy="342900"/>
          </a:xfrm>
          <a:prstGeom prst="rect">
            <a:avLst/>
          </a:prstGeom>
          <a:noFill/>
          <a:ln/>
        </p:spPr>
        <p:txBody>
          <a:bodyPr wrap="none" lIns="0" tIns="0" rIns="0" bIns="0" rtlCol="0" anchor="ctr"/>
          <a:lstStyle/>
          <a:p>
            <a:pPr marL="0" indent="0" algn="l">
              <a:buNone/>
            </a:pPr>
            <a:r>
              <a:rPr lang="en-US" sz="2400" b="1" dirty="0">
                <a:solidFill>
                  <a:srgbClr val="111827"/>
                </a:solidFill>
                <a:latin typeface="Oswald" pitchFamily="34" charset="0"/>
                <a:ea typeface="Oswald" pitchFamily="34" charset="-122"/>
                <a:cs typeface="Oswald" pitchFamily="34" charset="-120"/>
              </a:rPr>
              <a:t>WHO WE ARE</a:t>
            </a:r>
            <a:endParaRPr lang="en-US" sz="2400" dirty="0"/>
          </a:p>
        </p:txBody>
      </p:sp>
      <p:sp>
        <p:nvSpPr>
          <p:cNvPr id="18" name="Text 12"/>
          <p:cNvSpPr txBox="1"/>
          <p:nvPr/>
        </p:nvSpPr>
        <p:spPr>
          <a:xfrm>
            <a:off x="819302" y="858622"/>
            <a:ext cx="4496105" cy="152705"/>
          </a:xfrm>
          <a:prstGeom prst="rect">
            <a:avLst/>
          </a:prstGeom>
          <a:noFill/>
          <a:ln/>
        </p:spPr>
        <p:txBody>
          <a:bodyPr wrap="none" lIns="0" tIns="0" rIns="0" bIns="0" rtlCol="0" anchor="ctr"/>
          <a:lstStyle/>
          <a:p>
            <a:pPr marL="0" indent="0" algn="l">
              <a:buNone/>
            </a:pPr>
            <a:r>
              <a:rPr lang="en-US" sz="1500" b="1" kern="0" spc="52" dirty="0">
                <a:solidFill>
                  <a:srgbClr val="2A9D8F"/>
                </a:solidFill>
                <a:latin typeface="Roboto Condensed" pitchFamily="34" charset="0"/>
                <a:ea typeface="Roboto Condensed" pitchFamily="34" charset="-122"/>
                <a:cs typeface="Roboto Condensed" pitchFamily="34" charset="-120"/>
              </a:rPr>
              <a:t>The AI-native GCC platform - a decade in the making</a:t>
            </a:r>
            <a:endParaRPr lang="en-US" sz="1500" dirty="0"/>
          </a:p>
        </p:txBody>
      </p:sp>
      <p:sp>
        <p:nvSpPr>
          <p:cNvPr id="19" name="Text 13"/>
          <p:cNvSpPr txBox="1"/>
          <p:nvPr/>
        </p:nvSpPr>
        <p:spPr>
          <a:xfrm>
            <a:off x="990295" y="1465380"/>
            <a:ext cx="6967162" cy="648310"/>
          </a:xfrm>
          <a:prstGeom prst="rect">
            <a:avLst/>
          </a:prstGeom>
          <a:noFill/>
          <a:ln/>
        </p:spPr>
        <p:txBody>
          <a:bodyPr wrap="square" lIns="0" tIns="0" rIns="0" bIns="0" rtlCol="0" anchor="ctr"/>
          <a:lstStyle/>
          <a:p>
            <a:pPr marL="0" indent="0" algn="l">
              <a:buNone/>
            </a:pPr>
            <a:r>
              <a:rPr lang="en-US" sz="1900" b="1" dirty="0">
                <a:solidFill>
                  <a:srgbClr val="111827"/>
                </a:solidFill>
                <a:latin typeface="Oswald" pitchFamily="34" charset="0"/>
                <a:ea typeface="Oswald" pitchFamily="34" charset="-122"/>
                <a:cs typeface="Oswald" pitchFamily="34" charset="-120"/>
              </a:rPr>
              <a:t>J2W is the AI-native GCC platform for the Fortune 1000 and beyond.</a:t>
            </a:r>
            <a:endParaRPr lang="en-US" sz="1900" dirty="0"/>
          </a:p>
        </p:txBody>
      </p:sp>
      <p:sp>
        <p:nvSpPr>
          <p:cNvPr id="20" name="Text 14"/>
          <p:cNvSpPr txBox="1"/>
          <p:nvPr/>
        </p:nvSpPr>
        <p:spPr>
          <a:xfrm>
            <a:off x="990294" y="1977901"/>
            <a:ext cx="9144915" cy="685800"/>
          </a:xfrm>
          <a:prstGeom prst="rect">
            <a:avLst/>
          </a:prstGeom>
          <a:noFill/>
          <a:ln/>
        </p:spPr>
        <p:txBody>
          <a:bodyPr wrap="square" lIns="0" tIns="0" rIns="0" bIns="0" rtlCol="0" anchor="ctr"/>
          <a:lstStyle/>
          <a:p>
            <a:pPr marL="0" indent="0" algn="l">
              <a:buNone/>
            </a:pPr>
            <a:r>
              <a:rPr lang="en-US" sz="1100" dirty="0">
                <a:solidFill>
                  <a:srgbClr val="4B5563"/>
                </a:solidFill>
                <a:latin typeface="Raleway" pitchFamily="34" charset="0"/>
                <a:ea typeface="Raleway" pitchFamily="34" charset="-122"/>
                <a:cs typeface="Raleway" pitchFamily="34" charset="-120"/>
              </a:rPr>
              <a:t>Ten years building nothing but GCCs - so we solve the next problem before it shows up, deliver ROI in weeks where the industry takes quarters, and turn the GCC from a cost line into an innovation engine.</a:t>
            </a:r>
            <a:endParaRPr lang="en-US" sz="1100" dirty="0"/>
          </a:p>
        </p:txBody>
      </p:sp>
      <p:pic>
        <p:nvPicPr>
          <p:cNvPr id="21" name="Image 4" descr="gen-dedup-3d17221e8cd76f10a3e0815681bf2023.png"/>
          <p:cNvPicPr>
            <a:picLocks noChangeAspect="1"/>
          </p:cNvPicPr>
          <p:nvPr/>
        </p:nvPicPr>
        <p:blipFill>
          <a:blip r:embed="rId7"/>
          <a:srcRect l="-400" r="-400"/>
          <a:stretch/>
        </p:blipFill>
        <p:spPr>
          <a:xfrm>
            <a:off x="800100" y="3476549"/>
            <a:ext cx="38405" cy="571500"/>
          </a:xfrm>
          <a:prstGeom prst="rect">
            <a:avLst/>
          </a:prstGeom>
        </p:spPr>
      </p:pic>
      <p:sp>
        <p:nvSpPr>
          <p:cNvPr id="22" name="Text 15"/>
          <p:cNvSpPr txBox="1"/>
          <p:nvPr/>
        </p:nvSpPr>
        <p:spPr>
          <a:xfrm>
            <a:off x="990295" y="3476549"/>
            <a:ext cx="1552651"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10+</a:t>
            </a:r>
            <a:endParaRPr lang="en-US" sz="3100" dirty="0"/>
          </a:p>
        </p:txBody>
      </p:sp>
      <p:sp>
        <p:nvSpPr>
          <p:cNvPr id="23" name="Text 16"/>
          <p:cNvSpPr txBox="1"/>
          <p:nvPr/>
        </p:nvSpPr>
        <p:spPr>
          <a:xfrm>
            <a:off x="990295" y="3993185"/>
            <a:ext cx="1848002"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Years GCC leadership</a:t>
            </a:r>
            <a:endParaRPr lang="en-US" sz="1200" dirty="0"/>
          </a:p>
        </p:txBody>
      </p:sp>
      <p:pic>
        <p:nvPicPr>
          <p:cNvPr id="24" name="Image 5" descr="gen-dedup-32cd67bc95385c5507b78533d3bab6e6.png"/>
          <p:cNvPicPr>
            <a:picLocks noChangeAspect="1"/>
          </p:cNvPicPr>
          <p:nvPr/>
        </p:nvPicPr>
        <p:blipFill>
          <a:blip r:embed="rId8"/>
          <a:srcRect l="-400" r="-400"/>
          <a:stretch/>
        </p:blipFill>
        <p:spPr>
          <a:xfrm>
            <a:off x="4533595" y="3476549"/>
            <a:ext cx="38405" cy="571500"/>
          </a:xfrm>
          <a:prstGeom prst="rect">
            <a:avLst/>
          </a:prstGeom>
        </p:spPr>
      </p:pic>
      <p:sp>
        <p:nvSpPr>
          <p:cNvPr id="25" name="Text 17"/>
          <p:cNvSpPr txBox="1"/>
          <p:nvPr/>
        </p:nvSpPr>
        <p:spPr>
          <a:xfrm>
            <a:off x="4724705" y="3476549"/>
            <a:ext cx="17913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320+</a:t>
            </a:r>
            <a:endParaRPr lang="en-US" sz="3100" dirty="0"/>
          </a:p>
        </p:txBody>
      </p:sp>
      <p:sp>
        <p:nvSpPr>
          <p:cNvPr id="26" name="Text 18"/>
          <p:cNvSpPr txBox="1"/>
          <p:nvPr/>
        </p:nvSpPr>
        <p:spPr>
          <a:xfrm>
            <a:off x="4724705" y="3993185"/>
            <a:ext cx="2131466"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Enterprise clients served</a:t>
            </a:r>
            <a:endParaRPr lang="en-US" sz="1200" dirty="0"/>
          </a:p>
        </p:txBody>
      </p:sp>
      <p:pic>
        <p:nvPicPr>
          <p:cNvPr id="27" name="Image 6" descr="gen-dedup-3d17221e8cd76f10a3e0815681bf2023.png"/>
          <p:cNvPicPr>
            <a:picLocks noChangeAspect="1"/>
          </p:cNvPicPr>
          <p:nvPr/>
        </p:nvPicPr>
        <p:blipFill>
          <a:blip r:embed="rId7"/>
          <a:srcRect l="-400" r="-400"/>
          <a:stretch/>
        </p:blipFill>
        <p:spPr>
          <a:xfrm>
            <a:off x="8268005" y="3476549"/>
            <a:ext cx="38405" cy="571500"/>
          </a:xfrm>
          <a:prstGeom prst="rect">
            <a:avLst/>
          </a:prstGeom>
        </p:spPr>
      </p:pic>
      <p:sp>
        <p:nvSpPr>
          <p:cNvPr id="28" name="Text 19"/>
          <p:cNvSpPr txBox="1"/>
          <p:nvPr/>
        </p:nvSpPr>
        <p:spPr>
          <a:xfrm>
            <a:off x="8458200" y="3476549"/>
            <a:ext cx="2524658"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300+</a:t>
            </a:r>
            <a:endParaRPr lang="en-US" sz="3100" dirty="0"/>
          </a:p>
        </p:txBody>
      </p:sp>
      <p:sp>
        <p:nvSpPr>
          <p:cNvPr id="29" name="Text 20"/>
          <p:cNvSpPr txBox="1"/>
          <p:nvPr/>
        </p:nvSpPr>
        <p:spPr>
          <a:xfrm>
            <a:off x="8458200" y="3993185"/>
            <a:ext cx="300380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GCCs built: greenfield &amp; brownfield</a:t>
            </a:r>
            <a:endParaRPr lang="en-US" sz="1200" dirty="0"/>
          </a:p>
        </p:txBody>
      </p:sp>
      <p:pic>
        <p:nvPicPr>
          <p:cNvPr id="30" name="Image 7" descr="gen-dedup-32cd67bc95385c5507b78533d3bab6e6.png"/>
          <p:cNvPicPr>
            <a:picLocks noChangeAspect="1"/>
          </p:cNvPicPr>
          <p:nvPr/>
        </p:nvPicPr>
        <p:blipFill>
          <a:blip r:embed="rId8"/>
          <a:srcRect l="-400" r="-400"/>
          <a:stretch/>
        </p:blipFill>
        <p:spPr>
          <a:xfrm>
            <a:off x="800100" y="5191049"/>
            <a:ext cx="38405" cy="571500"/>
          </a:xfrm>
          <a:prstGeom prst="rect">
            <a:avLst/>
          </a:prstGeom>
        </p:spPr>
      </p:pic>
      <p:sp>
        <p:nvSpPr>
          <p:cNvPr id="31" name="Text 21"/>
          <p:cNvSpPr txBox="1"/>
          <p:nvPr/>
        </p:nvSpPr>
        <p:spPr>
          <a:xfrm>
            <a:off x="990295"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5,500+</a:t>
            </a:r>
            <a:endParaRPr lang="en-US" sz="3100" dirty="0"/>
          </a:p>
        </p:txBody>
      </p:sp>
      <p:sp>
        <p:nvSpPr>
          <p:cNvPr id="32" name="Text 22"/>
          <p:cNvSpPr txBox="1"/>
          <p:nvPr/>
        </p:nvSpPr>
        <p:spPr>
          <a:xfrm>
            <a:off x="990295"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Industry &amp; tech experts</a:t>
            </a:r>
            <a:endParaRPr lang="en-US" sz="1200" dirty="0"/>
          </a:p>
        </p:txBody>
      </p:sp>
      <p:pic>
        <p:nvPicPr>
          <p:cNvPr id="33" name="Image 8" descr="gen-dedup-3d17221e8cd76f10a3e0815681bf2023.png"/>
          <p:cNvPicPr>
            <a:picLocks noChangeAspect="1"/>
          </p:cNvPicPr>
          <p:nvPr/>
        </p:nvPicPr>
        <p:blipFill>
          <a:blip r:embed="rId7"/>
          <a:srcRect l="-400" r="-400"/>
          <a:stretch/>
        </p:blipFill>
        <p:spPr>
          <a:xfrm>
            <a:off x="4533595" y="5191049"/>
            <a:ext cx="38405" cy="571500"/>
          </a:xfrm>
          <a:prstGeom prst="rect">
            <a:avLst/>
          </a:prstGeom>
        </p:spPr>
      </p:pic>
      <p:sp>
        <p:nvSpPr>
          <p:cNvPr id="34" name="Text 23"/>
          <p:cNvSpPr txBox="1"/>
          <p:nvPr/>
        </p:nvSpPr>
        <p:spPr>
          <a:xfrm>
            <a:off x="4724705" y="5191049"/>
            <a:ext cx="1705356"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8</a:t>
            </a:r>
            <a:endParaRPr lang="en-US" sz="3100" dirty="0"/>
          </a:p>
        </p:txBody>
      </p:sp>
      <p:sp>
        <p:nvSpPr>
          <p:cNvPr id="35" name="Text 24"/>
          <p:cNvSpPr txBox="1"/>
          <p:nvPr/>
        </p:nvSpPr>
        <p:spPr>
          <a:xfrm>
            <a:off x="4724705" y="5707685"/>
            <a:ext cx="202905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Countries with footprint</a:t>
            </a:r>
            <a:endParaRPr lang="en-US" sz="1200" dirty="0"/>
          </a:p>
        </p:txBody>
      </p:sp>
      <p:pic>
        <p:nvPicPr>
          <p:cNvPr id="36" name="Image 9" descr="gen-dedup-32cd67bc95385c5507b78533d3bab6e6.png"/>
          <p:cNvPicPr>
            <a:picLocks noChangeAspect="1"/>
          </p:cNvPicPr>
          <p:nvPr/>
        </p:nvPicPr>
        <p:blipFill>
          <a:blip r:embed="rId8"/>
          <a:srcRect l="-400" r="-400"/>
          <a:stretch/>
        </p:blipFill>
        <p:spPr>
          <a:xfrm>
            <a:off x="8268005" y="5191049"/>
            <a:ext cx="38405" cy="571500"/>
          </a:xfrm>
          <a:prstGeom prst="rect">
            <a:avLst/>
          </a:prstGeom>
        </p:spPr>
      </p:pic>
      <p:sp>
        <p:nvSpPr>
          <p:cNvPr id="37" name="Text 25"/>
          <p:cNvSpPr txBox="1"/>
          <p:nvPr/>
        </p:nvSpPr>
        <p:spPr>
          <a:xfrm>
            <a:off x="8458200"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60+</a:t>
            </a:r>
            <a:endParaRPr lang="en-US" sz="3100" dirty="0"/>
          </a:p>
        </p:txBody>
      </p:sp>
      <p:sp>
        <p:nvSpPr>
          <p:cNvPr id="38" name="Text 26"/>
          <p:cNvSpPr txBox="1"/>
          <p:nvPr/>
        </p:nvSpPr>
        <p:spPr>
          <a:xfrm>
            <a:off x="8458200"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AI-enabled capabilities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9663ecf744b06e35d4c2cebaab92a2ea.png"/>
          <p:cNvPicPr>
            <a:picLocks noChangeAspect="1"/>
          </p:cNvPicPr>
          <p:nvPr/>
        </p:nvPicPr>
        <p:blipFill>
          <a:blip r:embed="rId3"/>
          <a:srcRect l="-202" r="-202"/>
          <a:stretch/>
        </p:blipFill>
        <p:spPr>
          <a:xfrm>
            <a:off x="0" y="0"/>
            <a:ext cx="4067251" cy="75895"/>
          </a:xfrm>
          <a:prstGeom prst="rect">
            <a:avLst/>
          </a:prstGeom>
        </p:spPr>
      </p:pic>
      <p:pic>
        <p:nvPicPr>
          <p:cNvPr id="5" name="Image 1" descr="gen-dedup-323228122ff92d2332e711a84ca3b40c.png"/>
          <p:cNvPicPr>
            <a:picLocks noChangeAspect="1"/>
          </p:cNvPicPr>
          <p:nvPr/>
        </p:nvPicPr>
        <p:blipFill>
          <a:blip r:embed="rId4"/>
          <a:srcRect l="-198" r="-198"/>
          <a:stretch/>
        </p:blipFill>
        <p:spPr>
          <a:xfrm>
            <a:off x="4067251" y="0"/>
            <a:ext cx="8124444" cy="75895"/>
          </a:xfrm>
          <a:prstGeom prst="rect">
            <a:avLst/>
          </a:prstGeom>
        </p:spPr>
      </p:pic>
      <p:sp>
        <p:nvSpPr>
          <p:cNvPr id="6" name="Shape 2"/>
          <p:cNvSpPr/>
          <p:nvPr/>
        </p:nvSpPr>
        <p:spPr>
          <a:xfrm>
            <a:off x="9334195" y="-476402"/>
            <a:ext cx="3810305" cy="3810305"/>
          </a:xfrm>
          <a:prstGeom prst="ellipse">
            <a:avLst/>
          </a:prstGeom>
          <a:solidFill>
            <a:srgbClr val="2A9D8F">
              <a:alpha val="2000"/>
            </a:srgbClr>
          </a:solidFill>
          <a:ln w="12700">
            <a:solidFill>
              <a:srgbClr val="FFFFFF">
                <a:alpha val="0"/>
              </a:srgbClr>
            </a:solidFill>
            <a:prstDash val="solid"/>
          </a:ln>
        </p:spPr>
        <p:txBody>
          <a:bodyPr/>
          <a:lstStyle/>
          <a:p>
            <a:endParaRPr lang="en-US"/>
          </a:p>
        </p:txBody>
      </p:sp>
      <p:sp>
        <p:nvSpPr>
          <p:cNvPr id="7" name="Shape 3"/>
          <p:cNvSpPr/>
          <p:nvPr/>
        </p:nvSpPr>
        <p:spPr>
          <a:xfrm>
            <a:off x="-1429207" y="3047695"/>
            <a:ext cx="3333902" cy="3333902"/>
          </a:xfrm>
          <a:prstGeom prst="ellipse">
            <a:avLst/>
          </a:prstGeom>
          <a:solidFill>
            <a:srgbClr val="D62839">
              <a:alpha val="2000"/>
            </a:srgbClr>
          </a:solidFill>
          <a:ln w="12700">
            <a:solidFill>
              <a:srgbClr val="FFFFFF">
                <a:alpha val="0"/>
              </a:srgbClr>
            </a:solidFill>
            <a:prstDash val="solid"/>
          </a:ln>
        </p:spPr>
        <p:txBody>
          <a:bodyPr/>
          <a:lstStyle/>
          <a:p>
            <a:endParaRPr lang="en-US"/>
          </a:p>
        </p:txBody>
      </p:sp>
      <p:sp>
        <p:nvSpPr>
          <p:cNvPr id="8" name="Shape 4"/>
          <p:cNvSpPr/>
          <p:nvPr/>
        </p:nvSpPr>
        <p:spPr>
          <a:xfrm>
            <a:off x="647395" y="4619549"/>
            <a:ext cx="10916107" cy="1781251"/>
          </a:xfrm>
          <a:prstGeom prst="roundRect">
            <a:avLst>
              <a:gd name="adj" fmla="val 4392"/>
            </a:avLst>
          </a:prstGeom>
          <a:solidFill>
            <a:srgbClr val="F8FAFC"/>
          </a:solidFill>
          <a:ln w="12700">
            <a:solidFill>
              <a:srgbClr val="E2E8F0"/>
            </a:solidFill>
            <a:prstDash val="solid"/>
          </a:ln>
        </p:spPr>
        <p:txBody>
          <a:bodyPr/>
          <a:lstStyle/>
          <a:p>
            <a:endParaRPr lang="en-US"/>
          </a:p>
        </p:txBody>
      </p:sp>
      <p:sp>
        <p:nvSpPr>
          <p:cNvPr id="9" name="Shape 5"/>
          <p:cNvSpPr/>
          <p:nvPr/>
        </p:nvSpPr>
        <p:spPr>
          <a:xfrm>
            <a:off x="64739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0" name="Shape 6"/>
          <p:cNvSpPr/>
          <p:nvPr/>
        </p:nvSpPr>
        <p:spPr>
          <a:xfrm>
            <a:off x="647395" y="1571854"/>
            <a:ext cx="3524098" cy="38405"/>
          </a:xfrm>
          <a:prstGeom prst="roundRect">
            <a:avLst>
              <a:gd name="adj" fmla="val 96852"/>
            </a:avLst>
          </a:prstGeom>
          <a:solidFill>
            <a:srgbClr val="2A9D8F"/>
          </a:solidFill>
          <a:ln w="12700">
            <a:solidFill>
              <a:srgbClr val="2A9D8F">
                <a:alpha val="0"/>
              </a:srgbClr>
            </a:solidFill>
            <a:prstDash val="solid"/>
          </a:ln>
        </p:spPr>
        <p:txBody>
          <a:bodyPr/>
          <a:lstStyle/>
          <a:p>
            <a:endParaRPr lang="en-US"/>
          </a:p>
        </p:txBody>
      </p:sp>
      <p:sp>
        <p:nvSpPr>
          <p:cNvPr id="11" name="Shape 7"/>
          <p:cNvSpPr/>
          <p:nvPr/>
        </p:nvSpPr>
        <p:spPr>
          <a:xfrm>
            <a:off x="4343400"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2" name="Shape 8"/>
          <p:cNvSpPr/>
          <p:nvPr/>
        </p:nvSpPr>
        <p:spPr>
          <a:xfrm>
            <a:off x="4343400" y="1571854"/>
            <a:ext cx="3524098" cy="38405"/>
          </a:xfrm>
          <a:prstGeom prst="roundRect">
            <a:avLst>
              <a:gd name="adj" fmla="val 96852"/>
            </a:avLst>
          </a:prstGeom>
          <a:solidFill>
            <a:srgbClr val="D62839"/>
          </a:solidFill>
          <a:ln w="12700">
            <a:solidFill>
              <a:srgbClr val="D62839">
                <a:alpha val="0"/>
              </a:srgbClr>
            </a:solidFill>
            <a:prstDash val="solid"/>
          </a:ln>
        </p:spPr>
        <p:txBody>
          <a:bodyPr/>
          <a:lstStyle/>
          <a:p>
            <a:endParaRPr lang="en-US"/>
          </a:p>
        </p:txBody>
      </p:sp>
      <p:sp>
        <p:nvSpPr>
          <p:cNvPr id="13" name="Shape 9"/>
          <p:cNvSpPr/>
          <p:nvPr/>
        </p:nvSpPr>
        <p:spPr>
          <a:xfrm>
            <a:off x="803940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4" name="Shape 10"/>
          <p:cNvSpPr/>
          <p:nvPr/>
        </p:nvSpPr>
        <p:spPr>
          <a:xfrm>
            <a:off x="8039405" y="1571854"/>
            <a:ext cx="3524098" cy="38405"/>
          </a:xfrm>
          <a:prstGeom prst="roundRect">
            <a:avLst>
              <a:gd name="adj" fmla="val 96852"/>
            </a:avLst>
          </a:prstGeom>
          <a:solidFill>
            <a:srgbClr val="111827"/>
          </a:solidFill>
          <a:ln w="12700">
            <a:solidFill>
              <a:srgbClr val="111827">
                <a:alpha val="0"/>
              </a:srgbClr>
            </a:solidFill>
            <a:prstDash val="solid"/>
          </a:ln>
        </p:spPr>
        <p:txBody>
          <a:bodyPr/>
          <a:lstStyle/>
          <a:p>
            <a:endParaRPr lang="en-US"/>
          </a:p>
        </p:txBody>
      </p:sp>
      <p:sp>
        <p:nvSpPr>
          <p:cNvPr id="15" name="Shape 11"/>
          <p:cNvSpPr/>
          <p:nvPr/>
        </p:nvSpPr>
        <p:spPr>
          <a:xfrm>
            <a:off x="90525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6" name="Shape 12"/>
          <p:cNvSpPr/>
          <p:nvPr/>
        </p:nvSpPr>
        <p:spPr>
          <a:xfrm>
            <a:off x="3666744"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7" name="Shape 13"/>
          <p:cNvSpPr/>
          <p:nvPr/>
        </p:nvSpPr>
        <p:spPr>
          <a:xfrm>
            <a:off x="642914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8" name="Shape 14"/>
          <p:cNvSpPr/>
          <p:nvPr/>
        </p:nvSpPr>
        <p:spPr>
          <a:xfrm>
            <a:off x="9191549" y="5143500"/>
            <a:ext cx="2180844"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pic>
        <p:nvPicPr>
          <p:cNvPr id="19" name="Image 2" descr="gen-dedup-06e3d16aa0e9246458a784af17ea21a8.png"/>
          <p:cNvPicPr>
            <a:picLocks noChangeAspect="1"/>
          </p:cNvPicPr>
          <p:nvPr/>
        </p:nvPicPr>
        <p:blipFill>
          <a:blip r:embed="rId5"/>
          <a:srcRect l="-437" r="-437"/>
          <a:stretch/>
        </p:blipFill>
        <p:spPr>
          <a:xfrm>
            <a:off x="647395" y="743407"/>
            <a:ext cx="57607" cy="418795"/>
          </a:xfrm>
          <a:prstGeom prst="rect">
            <a:avLst/>
          </a:prstGeom>
        </p:spPr>
      </p:pic>
      <p:sp>
        <p:nvSpPr>
          <p:cNvPr id="20" name="Text 15"/>
          <p:cNvSpPr txBox="1"/>
          <p:nvPr/>
        </p:nvSpPr>
        <p:spPr>
          <a:xfrm>
            <a:off x="857707" y="685800"/>
            <a:ext cx="10478110" cy="419710"/>
          </a:xfrm>
          <a:prstGeom prst="rect">
            <a:avLst/>
          </a:prstGeom>
          <a:noFill/>
          <a:ln/>
        </p:spPr>
        <p:txBody>
          <a:bodyPr wrap="square" lIns="0" tIns="0" rIns="0" bIns="0" rtlCol="0" anchor="ctr"/>
          <a:lstStyle/>
          <a:p>
            <a:pPr marL="0" indent="0" algn="l">
              <a:buNone/>
            </a:pPr>
            <a:r>
              <a:rPr lang="en-US" sz="3000" b="1" dirty="0">
                <a:solidFill>
                  <a:srgbClr val="111827"/>
                </a:solidFill>
                <a:latin typeface="Oswald" pitchFamily="34" charset="0"/>
                <a:ea typeface="Oswald" pitchFamily="34" charset="-122"/>
                <a:cs typeface="Oswald" pitchFamily="34" charset="-120"/>
              </a:rPr>
              <a:t>NEXT STEPS</a:t>
            </a:r>
            <a:endParaRPr lang="en-US" sz="3000" dirty="0"/>
          </a:p>
        </p:txBody>
      </p:sp>
      <p:sp>
        <p:nvSpPr>
          <p:cNvPr id="21" name="Text 16"/>
          <p:cNvSpPr txBox="1"/>
          <p:nvPr/>
        </p:nvSpPr>
        <p:spPr>
          <a:xfrm>
            <a:off x="857707" y="1143000"/>
            <a:ext cx="10478110" cy="181051"/>
          </a:xfrm>
          <a:prstGeom prst="rect">
            <a:avLst/>
          </a:prstGeom>
          <a:noFill/>
          <a:ln/>
        </p:spPr>
        <p:txBody>
          <a:bodyPr wrap="square" lIns="0" tIns="0" rIns="0" bIns="0" rtlCol="0" anchor="ctr"/>
          <a:lstStyle/>
          <a:p>
            <a:pPr marL="0" indent="0" algn="l">
              <a:buNone/>
            </a:pPr>
            <a:r>
              <a:rPr lang="en-US" sz="1200" b="1" kern="0" spc="60" dirty="0">
                <a:solidFill>
                  <a:srgbClr val="2A9D8F"/>
                </a:solidFill>
                <a:latin typeface="Roboto Condensed" pitchFamily="34" charset="0"/>
                <a:ea typeface="Roboto Condensed" pitchFamily="34" charset="-122"/>
                <a:cs typeface="Roboto Condensed" pitchFamily="34" charset="-120"/>
              </a:rPr>
              <a:t>FLEXIBLE ENGAGEMENT MODELS TAILORED TO YOUR THREE-YEAR ROADMAP</a:t>
            </a:r>
            <a:endParaRPr lang="en-US" sz="1200" dirty="0"/>
          </a:p>
        </p:txBody>
      </p:sp>
      <p:sp>
        <p:nvSpPr>
          <p:cNvPr id="22" name="Shape 17"/>
          <p:cNvSpPr/>
          <p:nvPr/>
        </p:nvSpPr>
        <p:spPr>
          <a:xfrm>
            <a:off x="838505" y="1762049"/>
            <a:ext cx="457200" cy="457200"/>
          </a:xfrm>
          <a:prstGeom prst="roundRect">
            <a:avLst>
              <a:gd name="adj" fmla="val 66667"/>
            </a:avLst>
          </a:prstGeom>
          <a:solidFill>
            <a:srgbClr val="E6F3F1"/>
          </a:solidFill>
          <a:ln w="12700">
            <a:solidFill>
              <a:srgbClr val="FFFFFF">
                <a:alpha val="0"/>
              </a:srgbClr>
            </a:solidFill>
            <a:prstDash val="solid"/>
          </a:ln>
        </p:spPr>
        <p:txBody>
          <a:bodyPr/>
          <a:lstStyle/>
          <a:p>
            <a:endParaRPr lang="en-US"/>
          </a:p>
        </p:txBody>
      </p:sp>
      <p:pic>
        <p:nvPicPr>
          <p:cNvPr id="23" name="Image 3" descr="gen-dedup-fa5d0b435e79f3035aaec6593bf7cfb3.png"/>
          <p:cNvPicPr>
            <a:picLocks noChangeAspect="1"/>
          </p:cNvPicPr>
          <p:nvPr/>
        </p:nvPicPr>
        <p:blipFill>
          <a:blip r:embed="rId6"/>
          <a:srcRect l="-3526" r="-3526"/>
          <a:stretch/>
        </p:blipFill>
        <p:spPr>
          <a:xfrm>
            <a:off x="990295" y="1895551"/>
            <a:ext cx="152705" cy="190195"/>
          </a:xfrm>
          <a:prstGeom prst="rect">
            <a:avLst/>
          </a:prstGeom>
        </p:spPr>
      </p:pic>
      <p:sp>
        <p:nvSpPr>
          <p:cNvPr id="24" name="Text 18"/>
          <p:cNvSpPr txBox="1"/>
          <p:nvPr/>
        </p:nvSpPr>
        <p:spPr>
          <a:xfrm>
            <a:off x="1447495" y="1794967"/>
            <a:ext cx="1995221"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Discovery Workshop</a:t>
            </a:r>
            <a:endParaRPr lang="en-US" sz="1600"/>
          </a:p>
        </p:txBody>
      </p:sp>
      <p:sp>
        <p:nvSpPr>
          <p:cNvPr id="25" name="Text 19"/>
          <p:cNvSpPr txBox="1"/>
          <p:nvPr/>
        </p:nvSpPr>
        <p:spPr>
          <a:xfrm>
            <a:off x="1447495" y="2043684"/>
            <a:ext cx="1677010"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~90 Minutes</a:t>
            </a:r>
            <a:endParaRPr lang="en-US" sz="900"/>
          </a:p>
        </p:txBody>
      </p:sp>
      <p:sp>
        <p:nvSpPr>
          <p:cNvPr id="26" name="Shape 20"/>
          <p:cNvSpPr/>
          <p:nvPr/>
        </p:nvSpPr>
        <p:spPr>
          <a:xfrm>
            <a:off x="3259836" y="1762049"/>
            <a:ext cx="705002" cy="256946"/>
          </a:xfrm>
          <a:prstGeom prst="roundRect">
            <a:avLst>
              <a:gd name="adj" fmla="val 316331"/>
            </a:avLst>
          </a:prstGeom>
          <a:solidFill>
            <a:srgbClr val="E6F3F1"/>
          </a:solidFill>
          <a:ln w="12700">
            <a:solidFill>
              <a:srgbClr val="FFFFFF">
                <a:alpha val="0"/>
              </a:srgbClr>
            </a:solidFill>
            <a:prstDash val="solid"/>
          </a:ln>
        </p:spPr>
        <p:txBody>
          <a:bodyPr/>
          <a:lstStyle/>
          <a:p>
            <a:endParaRPr lang="en-US"/>
          </a:p>
        </p:txBody>
      </p:sp>
      <p:sp>
        <p:nvSpPr>
          <p:cNvPr id="27" name="Text 21"/>
          <p:cNvSpPr txBox="1"/>
          <p:nvPr/>
        </p:nvSpPr>
        <p:spPr>
          <a:xfrm>
            <a:off x="83850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28" name="Image 4" descr="gen-dedup-2910efa1624004b251a6644ba5a6ae47.png"/>
          <p:cNvPicPr>
            <a:picLocks noChangeAspect="1"/>
          </p:cNvPicPr>
          <p:nvPr/>
        </p:nvPicPr>
        <p:blipFill>
          <a:blip r:embed="rId7"/>
          <a:srcRect t="-27726" b="-27726"/>
          <a:stretch/>
        </p:blipFill>
        <p:spPr>
          <a:xfrm>
            <a:off x="838505" y="2734056"/>
            <a:ext cx="85954" cy="152705"/>
          </a:xfrm>
          <a:prstGeom prst="rect">
            <a:avLst/>
          </a:prstGeom>
        </p:spPr>
      </p:pic>
      <p:sp>
        <p:nvSpPr>
          <p:cNvPr id="29" name="Text 22"/>
          <p:cNvSpPr txBox="1"/>
          <p:nvPr/>
        </p:nvSpPr>
        <p:spPr>
          <a:xfrm>
            <a:off x="1019556" y="2695651"/>
            <a:ext cx="2732227"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Use case identification &amp; prioritization</a:t>
            </a:r>
            <a:endParaRPr lang="en-US" sz="1000"/>
          </a:p>
        </p:txBody>
      </p:sp>
      <p:pic>
        <p:nvPicPr>
          <p:cNvPr id="30" name="Image 5" descr="gen-dedup-2910efa1624004b251a6644ba5a6ae47.png"/>
          <p:cNvPicPr>
            <a:picLocks noChangeAspect="1"/>
          </p:cNvPicPr>
          <p:nvPr/>
        </p:nvPicPr>
        <p:blipFill>
          <a:blip r:embed="rId7"/>
          <a:srcRect t="-27726" b="-27726"/>
          <a:stretch/>
        </p:blipFill>
        <p:spPr>
          <a:xfrm>
            <a:off x="838505" y="3019349"/>
            <a:ext cx="85954" cy="152705"/>
          </a:xfrm>
          <a:prstGeom prst="rect">
            <a:avLst/>
          </a:prstGeom>
        </p:spPr>
      </p:pic>
      <p:sp>
        <p:nvSpPr>
          <p:cNvPr id="31" name="Text 23"/>
          <p:cNvSpPr txBox="1"/>
          <p:nvPr/>
        </p:nvSpPr>
        <p:spPr>
          <a:xfrm>
            <a:off x="1019556" y="2980944"/>
            <a:ext cx="1972361"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Value hypothesis definition</a:t>
            </a:r>
            <a:endParaRPr lang="en-US" sz="1000"/>
          </a:p>
        </p:txBody>
      </p:sp>
      <p:pic>
        <p:nvPicPr>
          <p:cNvPr id="32" name="Image 6" descr="gen-dedup-2910efa1624004b251a6644ba5a6ae47.png"/>
          <p:cNvPicPr>
            <a:picLocks noChangeAspect="1"/>
          </p:cNvPicPr>
          <p:nvPr/>
        </p:nvPicPr>
        <p:blipFill>
          <a:blip r:embed="rId7"/>
          <a:srcRect t="-27726" b="-27726"/>
          <a:stretch/>
        </p:blipFill>
        <p:spPr>
          <a:xfrm>
            <a:off x="838505" y="3305556"/>
            <a:ext cx="85954" cy="152705"/>
          </a:xfrm>
          <a:prstGeom prst="rect">
            <a:avLst/>
          </a:prstGeom>
        </p:spPr>
      </p:pic>
      <p:sp>
        <p:nvSpPr>
          <p:cNvPr id="33" name="Text 24"/>
          <p:cNvSpPr txBox="1"/>
          <p:nvPr/>
        </p:nvSpPr>
        <p:spPr>
          <a:xfrm>
            <a:off x="1019556" y="3267151"/>
            <a:ext cx="3377794"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High-level roadmap aligned to 70/30 strategy</a:t>
            </a:r>
            <a:endParaRPr lang="en-US" sz="1000"/>
          </a:p>
        </p:txBody>
      </p:sp>
      <p:sp>
        <p:nvSpPr>
          <p:cNvPr id="34" name="Text 25"/>
          <p:cNvSpPr txBox="1"/>
          <p:nvPr/>
        </p:nvSpPr>
        <p:spPr>
          <a:xfrm>
            <a:off x="3354934" y="1848002"/>
            <a:ext cx="662026" cy="124358"/>
          </a:xfrm>
          <a:prstGeom prst="rect">
            <a:avLst/>
          </a:prstGeom>
          <a:noFill/>
          <a:ln/>
        </p:spPr>
        <p:txBody>
          <a:bodyPr wrap="square" lIns="0" tIns="0" rIns="0" bIns="0" rtlCol="0" anchor="ctr"/>
          <a:lstStyle/>
          <a:p>
            <a:pPr marL="0" indent="0" algn="l">
              <a:buNone/>
            </a:pPr>
            <a:r>
              <a:rPr lang="en-US" sz="800" b="1">
                <a:solidFill>
                  <a:srgbClr val="2A9D8F"/>
                </a:solidFill>
                <a:latin typeface="Roboto Condensed" pitchFamily="34" charset="0"/>
                <a:ea typeface="Roboto Condensed" pitchFamily="34" charset="-122"/>
                <a:cs typeface="Roboto Condensed" pitchFamily="34" charset="-120"/>
              </a:rPr>
              <a:t>LOW TOUCH</a:t>
            </a:r>
            <a:endParaRPr lang="en-US" sz="800"/>
          </a:p>
        </p:txBody>
      </p:sp>
      <p:sp>
        <p:nvSpPr>
          <p:cNvPr id="35" name="Shape 26"/>
          <p:cNvSpPr/>
          <p:nvPr/>
        </p:nvSpPr>
        <p:spPr>
          <a:xfrm>
            <a:off x="4533595" y="1762049"/>
            <a:ext cx="457200" cy="457200"/>
          </a:xfrm>
          <a:prstGeom prst="roundRect">
            <a:avLst>
              <a:gd name="adj" fmla="val 66667"/>
            </a:avLst>
          </a:prstGeom>
          <a:solidFill>
            <a:srgbClr val="FBE6E8"/>
          </a:solidFill>
          <a:ln w="12700">
            <a:solidFill>
              <a:srgbClr val="FFFFFF">
                <a:alpha val="0"/>
              </a:srgbClr>
            </a:solidFill>
            <a:prstDash val="solid"/>
          </a:ln>
        </p:spPr>
        <p:txBody>
          <a:bodyPr/>
          <a:lstStyle/>
          <a:p>
            <a:endParaRPr lang="en-US"/>
          </a:p>
        </p:txBody>
      </p:sp>
      <p:pic>
        <p:nvPicPr>
          <p:cNvPr id="36" name="Image 7" descr="gen-dedup-302cf04975ca72dffec5134ed5b99fbe.png"/>
          <p:cNvPicPr>
            <a:picLocks noChangeAspect="1"/>
          </p:cNvPicPr>
          <p:nvPr/>
        </p:nvPicPr>
        <p:blipFill>
          <a:blip r:embed="rId8"/>
          <a:srcRect t="-4491" b="-4491"/>
          <a:stretch/>
        </p:blipFill>
        <p:spPr>
          <a:xfrm>
            <a:off x="4686300" y="1895551"/>
            <a:ext cx="152705" cy="190195"/>
          </a:xfrm>
          <a:prstGeom prst="rect">
            <a:avLst/>
          </a:prstGeom>
        </p:spPr>
      </p:pic>
      <p:sp>
        <p:nvSpPr>
          <p:cNvPr id="37" name="Text 27"/>
          <p:cNvSpPr txBox="1"/>
          <p:nvPr/>
        </p:nvSpPr>
        <p:spPr>
          <a:xfrm>
            <a:off x="5143500" y="1794967"/>
            <a:ext cx="1825142"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Assessment &amp; PoC</a:t>
            </a:r>
            <a:endParaRPr lang="en-US" sz="1600"/>
          </a:p>
        </p:txBody>
      </p:sp>
      <p:sp>
        <p:nvSpPr>
          <p:cNvPr id="38" name="Text 28"/>
          <p:cNvSpPr txBox="1"/>
          <p:nvPr/>
        </p:nvSpPr>
        <p:spPr>
          <a:xfrm>
            <a:off x="5143500" y="2043684"/>
            <a:ext cx="1534363"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4 Weeks</a:t>
            </a:r>
            <a:endParaRPr lang="en-US" sz="900"/>
          </a:p>
        </p:txBody>
      </p:sp>
      <p:sp>
        <p:nvSpPr>
          <p:cNvPr id="39" name="Shape 29"/>
          <p:cNvSpPr/>
          <p:nvPr/>
        </p:nvSpPr>
        <p:spPr>
          <a:xfrm>
            <a:off x="6982358" y="1762049"/>
            <a:ext cx="676656" cy="256946"/>
          </a:xfrm>
          <a:prstGeom prst="roundRect">
            <a:avLst>
              <a:gd name="adj" fmla="val 316331"/>
            </a:avLst>
          </a:prstGeom>
          <a:solidFill>
            <a:srgbClr val="FBE6E8"/>
          </a:solidFill>
          <a:ln w="12700">
            <a:solidFill>
              <a:srgbClr val="FFFFFF">
                <a:alpha val="0"/>
              </a:srgbClr>
            </a:solidFill>
            <a:prstDash val="solid"/>
          </a:ln>
        </p:spPr>
        <p:txBody>
          <a:bodyPr/>
          <a:lstStyle/>
          <a:p>
            <a:endParaRPr lang="en-US"/>
          </a:p>
        </p:txBody>
      </p:sp>
      <p:sp>
        <p:nvSpPr>
          <p:cNvPr id="40" name="Text 30"/>
          <p:cNvSpPr txBox="1"/>
          <p:nvPr/>
        </p:nvSpPr>
        <p:spPr>
          <a:xfrm>
            <a:off x="453359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41" name="Image 8" descr="gen-dedup-3f480c66afa147b2245dea2610bb3896.png"/>
          <p:cNvPicPr>
            <a:picLocks noChangeAspect="1"/>
          </p:cNvPicPr>
          <p:nvPr/>
        </p:nvPicPr>
        <p:blipFill>
          <a:blip r:embed="rId9"/>
          <a:srcRect t="-12832" b="-12832"/>
          <a:stretch/>
        </p:blipFill>
        <p:spPr>
          <a:xfrm>
            <a:off x="4533595" y="2734056"/>
            <a:ext cx="85954" cy="123444"/>
          </a:xfrm>
          <a:prstGeom prst="rect">
            <a:avLst/>
          </a:prstGeom>
        </p:spPr>
      </p:pic>
      <p:sp>
        <p:nvSpPr>
          <p:cNvPr id="42" name="Text 31"/>
          <p:cNvSpPr txBox="1"/>
          <p:nvPr/>
        </p:nvSpPr>
        <p:spPr>
          <a:xfrm>
            <a:off x="4714646" y="2695651"/>
            <a:ext cx="215432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Target state architecture design</a:t>
            </a:r>
            <a:endParaRPr lang="en-US" sz="900"/>
          </a:p>
        </p:txBody>
      </p:sp>
      <p:pic>
        <p:nvPicPr>
          <p:cNvPr id="43" name="Image 9" descr="gen-dedup-3f480c66afa147b2245dea2610bb3896.png"/>
          <p:cNvPicPr>
            <a:picLocks noChangeAspect="1"/>
          </p:cNvPicPr>
          <p:nvPr/>
        </p:nvPicPr>
        <p:blipFill>
          <a:blip r:embed="rId9"/>
          <a:srcRect t="-12832" b="-12832"/>
          <a:stretch/>
        </p:blipFill>
        <p:spPr>
          <a:xfrm>
            <a:off x="4533595" y="2971800"/>
            <a:ext cx="85954" cy="123444"/>
          </a:xfrm>
          <a:prstGeom prst="rect">
            <a:avLst/>
          </a:prstGeom>
        </p:spPr>
      </p:pic>
      <p:sp>
        <p:nvSpPr>
          <p:cNvPr id="44" name="Text 32"/>
          <p:cNvSpPr txBox="1"/>
          <p:nvPr/>
        </p:nvSpPr>
        <p:spPr>
          <a:xfrm>
            <a:off x="4714646" y="2933395"/>
            <a:ext cx="250545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Working pilot / MVP implementation</a:t>
            </a:r>
            <a:endParaRPr lang="en-US" sz="900"/>
          </a:p>
        </p:txBody>
      </p:sp>
      <p:pic>
        <p:nvPicPr>
          <p:cNvPr id="45" name="Image 10" descr="gen-dedup-3f480c66afa147b2245dea2610bb3896.png"/>
          <p:cNvPicPr>
            <a:picLocks noChangeAspect="1"/>
          </p:cNvPicPr>
          <p:nvPr/>
        </p:nvPicPr>
        <p:blipFill>
          <a:blip r:embed="rId9"/>
          <a:srcRect t="-12832" b="-12832"/>
          <a:stretch/>
        </p:blipFill>
        <p:spPr>
          <a:xfrm>
            <a:off x="4533595" y="3209544"/>
            <a:ext cx="85954" cy="123444"/>
          </a:xfrm>
          <a:prstGeom prst="rect">
            <a:avLst/>
          </a:prstGeom>
        </p:spPr>
      </p:pic>
      <p:sp>
        <p:nvSpPr>
          <p:cNvPr id="46" name="Text 33"/>
          <p:cNvSpPr txBox="1"/>
          <p:nvPr/>
        </p:nvSpPr>
        <p:spPr>
          <a:xfrm>
            <a:off x="4714646" y="3172054"/>
            <a:ext cx="2278685"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Detailed ROI model &amp; rollout plan</a:t>
            </a:r>
            <a:endParaRPr lang="en-US" sz="900"/>
          </a:p>
        </p:txBody>
      </p:sp>
      <p:pic>
        <p:nvPicPr>
          <p:cNvPr id="47" name="Image 11" descr="gen-dedup-3f480c66afa147b2245dea2610bb3896.png"/>
          <p:cNvPicPr>
            <a:picLocks noChangeAspect="1"/>
          </p:cNvPicPr>
          <p:nvPr/>
        </p:nvPicPr>
        <p:blipFill>
          <a:blip r:embed="rId9"/>
          <a:srcRect t="-12832" b="-12832"/>
          <a:stretch/>
        </p:blipFill>
        <p:spPr>
          <a:xfrm>
            <a:off x="4533595" y="3448202"/>
            <a:ext cx="85954" cy="123444"/>
          </a:xfrm>
          <a:prstGeom prst="rect">
            <a:avLst/>
          </a:prstGeom>
        </p:spPr>
      </p:pic>
      <p:sp>
        <p:nvSpPr>
          <p:cNvPr id="48" name="Text 34"/>
          <p:cNvSpPr txBox="1"/>
          <p:nvPr/>
        </p:nvSpPr>
        <p:spPr>
          <a:xfrm>
            <a:off x="4714646" y="3409798"/>
            <a:ext cx="210860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Vendor integration assessment</a:t>
            </a:r>
            <a:endParaRPr lang="en-US" sz="900"/>
          </a:p>
        </p:txBody>
      </p:sp>
      <p:sp>
        <p:nvSpPr>
          <p:cNvPr id="49" name="Text 35"/>
          <p:cNvSpPr txBox="1"/>
          <p:nvPr/>
        </p:nvSpPr>
        <p:spPr>
          <a:xfrm>
            <a:off x="7077456" y="1848002"/>
            <a:ext cx="658368" cy="124358"/>
          </a:xfrm>
          <a:prstGeom prst="rect">
            <a:avLst/>
          </a:prstGeom>
          <a:noFill/>
          <a:ln/>
        </p:spPr>
        <p:txBody>
          <a:bodyPr wrap="square" lIns="0" tIns="0" rIns="0" bIns="0" rtlCol="0" anchor="ctr"/>
          <a:lstStyle/>
          <a:p>
            <a:pPr marL="0" indent="0" algn="l">
              <a:buNone/>
            </a:pPr>
            <a:r>
              <a:rPr lang="en-US" sz="800" b="1">
                <a:solidFill>
                  <a:srgbClr val="D62839"/>
                </a:solidFill>
                <a:latin typeface="Roboto Condensed" pitchFamily="34" charset="0"/>
                <a:ea typeface="Roboto Condensed" pitchFamily="34" charset="-122"/>
                <a:cs typeface="Roboto Condensed" pitchFamily="34" charset="-120"/>
              </a:rPr>
              <a:t>STRATEGIC</a:t>
            </a:r>
            <a:endParaRPr lang="en-US" sz="800"/>
          </a:p>
        </p:txBody>
      </p:sp>
      <p:sp>
        <p:nvSpPr>
          <p:cNvPr id="50" name="Shape 36"/>
          <p:cNvSpPr/>
          <p:nvPr/>
        </p:nvSpPr>
        <p:spPr>
          <a:xfrm>
            <a:off x="8229600" y="1762049"/>
            <a:ext cx="457200" cy="457200"/>
          </a:xfrm>
          <a:prstGeom prst="roundRect">
            <a:avLst>
              <a:gd name="adj" fmla="val 66667"/>
            </a:avLst>
          </a:prstGeom>
          <a:solidFill>
            <a:srgbClr val="F1F5F9"/>
          </a:solidFill>
          <a:ln w="12700">
            <a:solidFill>
              <a:srgbClr val="FFFFFF">
                <a:alpha val="0"/>
              </a:srgbClr>
            </a:solidFill>
            <a:prstDash val="solid"/>
          </a:ln>
        </p:spPr>
        <p:txBody>
          <a:bodyPr/>
          <a:lstStyle/>
          <a:p>
            <a:endParaRPr lang="en-US"/>
          </a:p>
        </p:txBody>
      </p:sp>
      <p:pic>
        <p:nvPicPr>
          <p:cNvPr id="51" name="Image 12" descr="gen-dedup-e104b6e838315a11dc2d3bf260faf00b.png"/>
          <p:cNvPicPr>
            <a:picLocks noChangeAspect="1"/>
          </p:cNvPicPr>
          <p:nvPr/>
        </p:nvPicPr>
        <p:blipFill>
          <a:blip r:embed="rId10"/>
          <a:srcRect t="-27844" b="-27844"/>
          <a:stretch/>
        </p:blipFill>
        <p:spPr>
          <a:xfrm>
            <a:off x="8382305" y="1895551"/>
            <a:ext cx="152705" cy="190195"/>
          </a:xfrm>
          <a:prstGeom prst="rect">
            <a:avLst/>
          </a:prstGeom>
        </p:spPr>
      </p:pic>
      <p:sp>
        <p:nvSpPr>
          <p:cNvPr id="52" name="Text 37"/>
          <p:cNvSpPr txBox="1"/>
          <p:nvPr/>
        </p:nvSpPr>
        <p:spPr>
          <a:xfrm>
            <a:off x="8839505" y="1794967"/>
            <a:ext cx="1938528"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Build &amp; Run Models</a:t>
            </a:r>
            <a:endParaRPr lang="en-US" sz="1600"/>
          </a:p>
        </p:txBody>
      </p:sp>
      <p:sp>
        <p:nvSpPr>
          <p:cNvPr id="53" name="Text 38"/>
          <p:cNvSpPr txBox="1"/>
          <p:nvPr/>
        </p:nvSpPr>
        <p:spPr>
          <a:xfrm>
            <a:off x="8839505" y="2043684"/>
            <a:ext cx="1629461"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Multi-Year</a:t>
            </a:r>
            <a:endParaRPr lang="en-US" sz="900"/>
          </a:p>
        </p:txBody>
      </p:sp>
      <p:sp>
        <p:nvSpPr>
          <p:cNvPr id="54" name="Shape 39"/>
          <p:cNvSpPr/>
          <p:nvPr/>
        </p:nvSpPr>
        <p:spPr>
          <a:xfrm>
            <a:off x="10555834" y="1762049"/>
            <a:ext cx="800100" cy="256946"/>
          </a:xfrm>
          <a:prstGeom prst="roundRect">
            <a:avLst>
              <a:gd name="adj" fmla="val 316331"/>
            </a:avLst>
          </a:prstGeom>
          <a:solidFill>
            <a:srgbClr val="F1F5F9"/>
          </a:solidFill>
          <a:ln w="12700">
            <a:solidFill>
              <a:srgbClr val="FFFFFF">
                <a:alpha val="0"/>
              </a:srgbClr>
            </a:solidFill>
            <a:prstDash val="solid"/>
          </a:ln>
        </p:spPr>
        <p:txBody>
          <a:bodyPr/>
          <a:lstStyle/>
          <a:p>
            <a:endParaRPr lang="en-US"/>
          </a:p>
        </p:txBody>
      </p:sp>
      <p:sp>
        <p:nvSpPr>
          <p:cNvPr id="55" name="Text 40"/>
          <p:cNvSpPr txBox="1"/>
          <p:nvPr/>
        </p:nvSpPr>
        <p:spPr>
          <a:xfrm>
            <a:off x="8229600"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COMMERCIAL MODELS</a:t>
            </a:r>
            <a:endParaRPr lang="en-US" sz="900"/>
          </a:p>
        </p:txBody>
      </p:sp>
      <p:pic>
        <p:nvPicPr>
          <p:cNvPr id="56" name="Image 13" descr="gen-dedup-06c19e2f143b52e69c4653630769d291.png"/>
          <p:cNvPicPr>
            <a:picLocks noChangeAspect="1"/>
          </p:cNvPicPr>
          <p:nvPr/>
        </p:nvPicPr>
        <p:blipFill>
          <a:blip r:embed="rId11"/>
          <a:srcRect t="-27726" b="-27726"/>
          <a:stretch/>
        </p:blipFill>
        <p:spPr>
          <a:xfrm>
            <a:off x="8229600" y="2734056"/>
            <a:ext cx="85954" cy="152705"/>
          </a:xfrm>
          <a:prstGeom prst="rect">
            <a:avLst/>
          </a:prstGeom>
        </p:spPr>
      </p:pic>
      <p:sp>
        <p:nvSpPr>
          <p:cNvPr id="57" name="Text 41"/>
          <p:cNvSpPr txBox="1"/>
          <p:nvPr/>
        </p:nvSpPr>
        <p:spPr>
          <a:xfrm>
            <a:off x="8410651" y="2695651"/>
            <a:ext cx="2879446"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Fixed Scope:</a:t>
            </a:r>
            <a:r>
              <a:rPr lang="en-US" sz="1000">
                <a:solidFill>
                  <a:srgbClr val="475569"/>
                </a:solidFill>
                <a:latin typeface="Raleway" pitchFamily="34" charset="0"/>
                <a:ea typeface="Raleway" pitchFamily="34" charset="-122"/>
                <a:cs typeface="Raleway" pitchFamily="34" charset="-120"/>
              </a:rPr>
              <a:t> For defined project builds</a:t>
            </a:r>
            <a:endParaRPr lang="en-US" sz="1000"/>
          </a:p>
        </p:txBody>
      </p:sp>
      <p:pic>
        <p:nvPicPr>
          <p:cNvPr id="58" name="Image 14" descr="gen-dedup-06c19e2f143b52e69c4653630769d291.png"/>
          <p:cNvPicPr>
            <a:picLocks noChangeAspect="1"/>
          </p:cNvPicPr>
          <p:nvPr/>
        </p:nvPicPr>
        <p:blipFill>
          <a:blip r:embed="rId11"/>
          <a:srcRect t="-27726" b="-27726"/>
          <a:stretch/>
        </p:blipFill>
        <p:spPr>
          <a:xfrm>
            <a:off x="8229600" y="3038551"/>
            <a:ext cx="85954" cy="152705"/>
          </a:xfrm>
          <a:prstGeom prst="rect">
            <a:avLst/>
          </a:prstGeom>
        </p:spPr>
      </p:pic>
      <p:sp>
        <p:nvSpPr>
          <p:cNvPr id="59" name="Text 42"/>
          <p:cNvSpPr txBox="1"/>
          <p:nvPr/>
        </p:nvSpPr>
        <p:spPr>
          <a:xfrm>
            <a:off x="8410651" y="3000146"/>
            <a:ext cx="3038551"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Managed Service:</a:t>
            </a:r>
            <a:r>
              <a:rPr lang="en-US" sz="1000">
                <a:solidFill>
                  <a:srgbClr val="475569"/>
                </a:solidFill>
                <a:latin typeface="Raleway" pitchFamily="34" charset="0"/>
                <a:ea typeface="Raleway" pitchFamily="34" charset="-122"/>
                <a:cs typeface="Raleway" pitchFamily="34" charset="-120"/>
              </a:rPr>
              <a:t> SLA-driven operations</a:t>
            </a:r>
            <a:endParaRPr lang="en-US" sz="1000"/>
          </a:p>
        </p:txBody>
      </p:sp>
      <p:pic>
        <p:nvPicPr>
          <p:cNvPr id="60" name="Image 15" descr="gen-dedup-3678629b4a5ad6139a7cc5dcf1ee97ee.png"/>
          <p:cNvPicPr>
            <a:picLocks noChangeAspect="1"/>
          </p:cNvPicPr>
          <p:nvPr/>
        </p:nvPicPr>
        <p:blipFill>
          <a:blip r:embed="rId12"/>
          <a:srcRect t="-119879" b="-119879"/>
          <a:stretch/>
        </p:blipFill>
        <p:spPr>
          <a:xfrm>
            <a:off x="8229600" y="3343046"/>
            <a:ext cx="85954" cy="333756"/>
          </a:xfrm>
          <a:prstGeom prst="rect">
            <a:avLst/>
          </a:prstGeom>
        </p:spPr>
      </p:pic>
      <p:sp>
        <p:nvSpPr>
          <p:cNvPr id="61" name="Text 43"/>
          <p:cNvSpPr txBox="1"/>
          <p:nvPr/>
        </p:nvSpPr>
        <p:spPr>
          <a:xfrm>
            <a:off x="8410651" y="3305556"/>
            <a:ext cx="2943454" cy="381305"/>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Outcome-Based:</a:t>
            </a:r>
            <a:r>
              <a:rPr lang="en-US" sz="1000">
                <a:solidFill>
                  <a:srgbClr val="475569"/>
                </a:solidFill>
                <a:latin typeface="Raleway" pitchFamily="34" charset="0"/>
                <a:ea typeface="Raleway" pitchFamily="34" charset="-122"/>
                <a:cs typeface="Raleway" pitchFamily="34" charset="-120"/>
              </a:rPr>
              <a:t> Gain-share pricing tied to value</a:t>
            </a:r>
            <a:endParaRPr lang="en-US" sz="1000"/>
          </a:p>
        </p:txBody>
      </p:sp>
      <p:sp>
        <p:nvSpPr>
          <p:cNvPr id="62" name="Text 44"/>
          <p:cNvSpPr txBox="1"/>
          <p:nvPr/>
        </p:nvSpPr>
        <p:spPr>
          <a:xfrm>
            <a:off x="10650931" y="1848002"/>
            <a:ext cx="806501" cy="124358"/>
          </a:xfrm>
          <a:prstGeom prst="rect">
            <a:avLst/>
          </a:prstGeom>
          <a:noFill/>
          <a:ln/>
        </p:spPr>
        <p:txBody>
          <a:bodyPr wrap="square" lIns="0" tIns="0" rIns="0" bIns="0" rtlCol="0" anchor="ctr"/>
          <a:lstStyle/>
          <a:p>
            <a:pPr marL="0" indent="0" algn="l">
              <a:buNone/>
            </a:pPr>
            <a:r>
              <a:rPr lang="en-US" sz="800" b="1">
                <a:solidFill>
                  <a:srgbClr val="334155"/>
                </a:solidFill>
                <a:latin typeface="Roboto Condensed" pitchFamily="34" charset="0"/>
                <a:ea typeface="Roboto Condensed" pitchFamily="34" charset="-122"/>
                <a:cs typeface="Roboto Condensed" pitchFamily="34" charset="-120"/>
              </a:rPr>
              <a:t>PARTNERSHIP</a:t>
            </a:r>
            <a:endParaRPr lang="en-US" sz="800"/>
          </a:p>
        </p:txBody>
      </p:sp>
      <p:pic>
        <p:nvPicPr>
          <p:cNvPr id="63" name="Image 16" descr="gen-dedup-a2699a036d9634824b4953ceddf6835e.png"/>
          <p:cNvPicPr>
            <a:picLocks noChangeAspect="1"/>
          </p:cNvPicPr>
          <p:nvPr/>
        </p:nvPicPr>
        <p:blipFill>
          <a:blip r:embed="rId13"/>
          <a:srcRect t="-16800" b="-16800"/>
          <a:stretch/>
        </p:blipFill>
        <p:spPr>
          <a:xfrm>
            <a:off x="905256" y="4809744"/>
            <a:ext cx="114300" cy="152705"/>
          </a:xfrm>
          <a:prstGeom prst="rect">
            <a:avLst/>
          </a:prstGeom>
        </p:spPr>
      </p:pic>
      <p:sp>
        <p:nvSpPr>
          <p:cNvPr id="64" name="Text 45"/>
          <p:cNvSpPr txBox="1"/>
          <p:nvPr/>
        </p:nvSpPr>
        <p:spPr>
          <a:xfrm>
            <a:off x="1114654" y="4762195"/>
            <a:ext cx="3151937" cy="247802"/>
          </a:xfrm>
          <a:prstGeom prst="rect">
            <a:avLst/>
          </a:prstGeom>
          <a:noFill/>
          <a:ln/>
        </p:spPr>
        <p:txBody>
          <a:bodyPr wrap="square" lIns="0" tIns="0" rIns="0" bIns="0" rtlCol="0" anchor="ctr"/>
          <a:lstStyle/>
          <a:p>
            <a:pPr marL="0" indent="0" algn="l">
              <a:buNone/>
            </a:pPr>
            <a:r>
              <a:rPr lang="en-US" sz="1300" b="1" kern="0" spc="27">
                <a:solidFill>
                  <a:srgbClr val="1E293B"/>
                </a:solidFill>
                <a:latin typeface="Oswald" pitchFamily="34" charset="0"/>
                <a:ea typeface="Oswald" pitchFamily="34" charset="-122"/>
                <a:cs typeface="Oswald" pitchFamily="34" charset="-120"/>
              </a:rPr>
              <a:t>SAMPLE IMPLEMENTATION ROADMAP</a:t>
            </a:r>
            <a:endParaRPr lang="en-US" sz="1300"/>
          </a:p>
        </p:txBody>
      </p:sp>
      <p:sp>
        <p:nvSpPr>
          <p:cNvPr id="65" name="Text 46"/>
          <p:cNvSpPr txBox="1"/>
          <p:nvPr/>
        </p:nvSpPr>
        <p:spPr>
          <a:xfrm>
            <a:off x="1047902" y="5315407"/>
            <a:ext cx="719633" cy="133502"/>
          </a:xfrm>
          <a:prstGeom prst="rect">
            <a:avLst/>
          </a:prstGeom>
          <a:noFill/>
          <a:ln/>
        </p:spPr>
        <p:txBody>
          <a:bodyPr wrap="square" lIns="0" tIns="0" rIns="0" bIns="0" rtlCol="0" anchor="ctr"/>
          <a:lstStyle/>
          <a:p>
            <a:pPr marL="0" indent="0" algn="l">
              <a:buNone/>
            </a:pPr>
            <a:r>
              <a:rPr lang="en-US" sz="900" b="1">
                <a:solidFill>
                  <a:srgbClr val="2A9D8F"/>
                </a:solidFill>
                <a:latin typeface="Roboto Condensed" pitchFamily="34" charset="0"/>
                <a:ea typeface="Roboto Condensed" pitchFamily="34" charset="-122"/>
                <a:cs typeface="Roboto Condensed" pitchFamily="34" charset="-120"/>
              </a:rPr>
              <a:t>DISCOVERY</a:t>
            </a:r>
            <a:endParaRPr lang="en-US" sz="900"/>
          </a:p>
        </p:txBody>
      </p:sp>
      <p:sp>
        <p:nvSpPr>
          <p:cNvPr id="66" name="Text 47"/>
          <p:cNvSpPr txBox="1"/>
          <p:nvPr/>
        </p:nvSpPr>
        <p:spPr>
          <a:xfrm>
            <a:off x="3063240" y="5238598"/>
            <a:ext cx="18196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Q1</a:t>
            </a:r>
            <a:endParaRPr lang="en-US" sz="1200"/>
          </a:p>
        </p:txBody>
      </p:sp>
      <p:sp>
        <p:nvSpPr>
          <p:cNvPr id="67" name="Text 48"/>
          <p:cNvSpPr txBox="1"/>
          <p:nvPr/>
        </p:nvSpPr>
        <p:spPr>
          <a:xfrm>
            <a:off x="1047902"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Assess readiness, define scope, select initial use cases</a:t>
            </a:r>
            <a:endParaRPr lang="en-US" sz="900"/>
          </a:p>
        </p:txBody>
      </p:sp>
      <p:sp>
        <p:nvSpPr>
          <p:cNvPr id="68" name="Shape 49"/>
          <p:cNvSpPr/>
          <p:nvPr/>
        </p:nvSpPr>
        <p:spPr>
          <a:xfrm>
            <a:off x="1047902" y="6117336"/>
            <a:ext cx="562356" cy="9144"/>
          </a:xfrm>
          <a:prstGeom prst="rect">
            <a:avLst/>
          </a:prstGeom>
          <a:solidFill>
            <a:srgbClr val="E6F3F1"/>
          </a:solidFill>
          <a:ln w="12700">
            <a:solidFill>
              <a:srgbClr val="E6F3F1">
                <a:alpha val="0"/>
              </a:srgbClr>
            </a:solidFill>
            <a:prstDash val="solid"/>
          </a:ln>
        </p:spPr>
        <p:txBody>
          <a:bodyPr/>
          <a:lstStyle/>
          <a:p>
            <a:endParaRPr lang="en-US"/>
          </a:p>
        </p:txBody>
      </p:sp>
      <p:sp>
        <p:nvSpPr>
          <p:cNvPr id="69" name="Text 50"/>
          <p:cNvSpPr txBox="1"/>
          <p:nvPr/>
        </p:nvSpPr>
        <p:spPr>
          <a:xfrm>
            <a:off x="1104595" y="5964631"/>
            <a:ext cx="716890" cy="124358"/>
          </a:xfrm>
          <a:prstGeom prst="rect">
            <a:avLst/>
          </a:prstGeom>
          <a:noFill/>
          <a:ln/>
        </p:spPr>
        <p:txBody>
          <a:bodyPr wrap="squar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Initiation</a:t>
            </a:r>
            <a:endParaRPr lang="en-US" sz="800"/>
          </a:p>
        </p:txBody>
      </p:sp>
      <p:pic>
        <p:nvPicPr>
          <p:cNvPr id="70" name="Image 17" descr="gen-dedup-6bab9f986820d248c4d42c53288c0e5d.png"/>
          <p:cNvPicPr>
            <a:picLocks noChangeAspect="1"/>
          </p:cNvPicPr>
          <p:nvPr/>
        </p:nvPicPr>
        <p:blipFill>
          <a:blip r:embed="rId14"/>
          <a:srcRect t="-5544" b="-5544"/>
          <a:stretch/>
        </p:blipFill>
        <p:spPr>
          <a:xfrm>
            <a:off x="3452774" y="5627218"/>
            <a:ext cx="105156" cy="133502"/>
          </a:xfrm>
          <a:prstGeom prst="rect">
            <a:avLst/>
          </a:prstGeom>
        </p:spPr>
      </p:pic>
      <p:sp>
        <p:nvSpPr>
          <p:cNvPr id="71" name="Text 51"/>
          <p:cNvSpPr txBox="1"/>
          <p:nvPr/>
        </p:nvSpPr>
        <p:spPr>
          <a:xfrm>
            <a:off x="3810305" y="5315407"/>
            <a:ext cx="864108" cy="133502"/>
          </a:xfrm>
          <a:prstGeom prst="rect">
            <a:avLst/>
          </a:prstGeom>
          <a:noFill/>
          <a:ln/>
        </p:spPr>
        <p:txBody>
          <a:bodyPr wrap="square" lIns="0" tIns="0" rIns="0" bIns="0" rtlCol="0" anchor="ctr"/>
          <a:lstStyle/>
          <a:p>
            <a:pPr marL="0" indent="0" algn="l">
              <a:buNone/>
            </a:pPr>
            <a:r>
              <a:rPr lang="en-US" sz="900" b="1">
                <a:solidFill>
                  <a:srgbClr val="D62839"/>
                </a:solidFill>
                <a:latin typeface="Roboto Condensed" pitchFamily="34" charset="0"/>
                <a:ea typeface="Roboto Condensed" pitchFamily="34" charset="-122"/>
                <a:cs typeface="Roboto Condensed" pitchFamily="34" charset="-120"/>
              </a:rPr>
              <a:t>PILOT / POC</a:t>
            </a:r>
            <a:endParaRPr lang="en-US" sz="900"/>
          </a:p>
        </p:txBody>
      </p:sp>
      <p:sp>
        <p:nvSpPr>
          <p:cNvPr id="72" name="Text 52"/>
          <p:cNvSpPr txBox="1"/>
          <p:nvPr/>
        </p:nvSpPr>
        <p:spPr>
          <a:xfrm>
            <a:off x="5807354"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Q2</a:t>
            </a:r>
            <a:endParaRPr lang="en-US" sz="1200"/>
          </a:p>
        </p:txBody>
      </p:sp>
      <p:sp>
        <p:nvSpPr>
          <p:cNvPr id="73" name="Text 53"/>
          <p:cNvSpPr txBox="1"/>
          <p:nvPr/>
        </p:nvSpPr>
        <p:spPr>
          <a:xfrm>
            <a:off x="3810305"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MVP build, user testing, architecture validation</a:t>
            </a:r>
            <a:endParaRPr lang="en-US" sz="900"/>
          </a:p>
        </p:txBody>
      </p:sp>
      <p:sp>
        <p:nvSpPr>
          <p:cNvPr id="74" name="Shape 54"/>
          <p:cNvSpPr/>
          <p:nvPr/>
        </p:nvSpPr>
        <p:spPr>
          <a:xfrm>
            <a:off x="3810305" y="5897880"/>
            <a:ext cx="629107" cy="219456"/>
          </a:xfrm>
          <a:prstGeom prst="roundRect">
            <a:avLst>
              <a:gd name="adj" fmla="val 144928"/>
            </a:avLst>
          </a:prstGeom>
          <a:solidFill>
            <a:srgbClr val="FEF2F2"/>
          </a:solidFill>
          <a:ln w="12700">
            <a:solidFill>
              <a:srgbClr val="FFFFFF">
                <a:alpha val="0"/>
              </a:srgbClr>
            </a:solidFill>
            <a:prstDash val="solid"/>
          </a:ln>
        </p:spPr>
        <p:txBody>
          <a:bodyPr/>
          <a:lstStyle/>
          <a:p>
            <a:endParaRPr lang="en-US"/>
          </a:p>
        </p:txBody>
      </p:sp>
      <p:sp>
        <p:nvSpPr>
          <p:cNvPr id="75" name="Text 55"/>
          <p:cNvSpPr txBox="1"/>
          <p:nvPr/>
        </p:nvSpPr>
        <p:spPr>
          <a:xfrm>
            <a:off x="3866998" y="5964631"/>
            <a:ext cx="726948" cy="124358"/>
          </a:xfrm>
          <a:prstGeom prst="rect">
            <a:avLst/>
          </a:prstGeom>
          <a:noFill/>
          <a:ln/>
        </p:spPr>
        <p:txBody>
          <a:bodyPr wrap="square" lIns="0" tIns="0" rIns="0" bIns="0" rtlCol="0" anchor="ctr"/>
          <a:lstStyle/>
          <a:p>
            <a:pPr marL="0" indent="0" algn="l">
              <a:buNone/>
            </a:pPr>
            <a:r>
              <a:rPr lang="en-US" sz="800" b="1">
                <a:solidFill>
                  <a:srgbClr val="D62839"/>
                </a:solidFill>
                <a:latin typeface="Raleway" pitchFamily="34" charset="0"/>
                <a:ea typeface="Raleway" pitchFamily="34" charset="-122"/>
                <a:cs typeface="Raleway" pitchFamily="34" charset="-120"/>
              </a:rPr>
              <a:t>Validation</a:t>
            </a:r>
            <a:endParaRPr lang="en-US" sz="800"/>
          </a:p>
        </p:txBody>
      </p:sp>
      <p:pic>
        <p:nvPicPr>
          <p:cNvPr id="76" name="Image 18" descr="gen-dedup-6bab9f986820d248c4d42c53288c0e5d.png"/>
          <p:cNvPicPr>
            <a:picLocks noChangeAspect="1"/>
          </p:cNvPicPr>
          <p:nvPr/>
        </p:nvPicPr>
        <p:blipFill>
          <a:blip r:embed="rId14"/>
          <a:srcRect t="-5544" b="-5544"/>
          <a:stretch/>
        </p:blipFill>
        <p:spPr>
          <a:xfrm>
            <a:off x="6215177" y="5627218"/>
            <a:ext cx="105156" cy="133502"/>
          </a:xfrm>
          <a:prstGeom prst="rect">
            <a:avLst/>
          </a:prstGeom>
        </p:spPr>
      </p:pic>
      <p:sp>
        <p:nvSpPr>
          <p:cNvPr id="77" name="Text 56"/>
          <p:cNvSpPr txBox="1"/>
          <p:nvPr/>
        </p:nvSpPr>
        <p:spPr>
          <a:xfrm>
            <a:off x="6572707" y="5315407"/>
            <a:ext cx="402336"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SCALE</a:t>
            </a:r>
            <a:endParaRPr lang="en-US" sz="900"/>
          </a:p>
        </p:txBody>
      </p:sp>
      <p:sp>
        <p:nvSpPr>
          <p:cNvPr id="78" name="Text 57"/>
          <p:cNvSpPr txBox="1"/>
          <p:nvPr/>
        </p:nvSpPr>
        <p:spPr>
          <a:xfrm>
            <a:off x="8569757"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Q3</a:t>
            </a:r>
            <a:endParaRPr lang="en-US" sz="1200"/>
          </a:p>
        </p:txBody>
      </p:sp>
      <p:sp>
        <p:nvSpPr>
          <p:cNvPr id="79" name="Text 58"/>
          <p:cNvSpPr txBox="1"/>
          <p:nvPr/>
        </p:nvSpPr>
        <p:spPr>
          <a:xfrm>
            <a:off x="6572707"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Production deployment, integration, vendor onboarding</a:t>
            </a:r>
            <a:endParaRPr lang="en-US" sz="900"/>
          </a:p>
        </p:txBody>
      </p:sp>
      <p:sp>
        <p:nvSpPr>
          <p:cNvPr id="80" name="Shape 59"/>
          <p:cNvSpPr/>
          <p:nvPr/>
        </p:nvSpPr>
        <p:spPr>
          <a:xfrm>
            <a:off x="6572707" y="5897880"/>
            <a:ext cx="619049" cy="219456"/>
          </a:xfrm>
          <a:prstGeom prst="roundRect">
            <a:avLst>
              <a:gd name="adj" fmla="val 144928"/>
            </a:avLst>
          </a:prstGeom>
          <a:solidFill>
            <a:srgbClr val="F1F5F9"/>
          </a:solidFill>
          <a:ln w="12700">
            <a:solidFill>
              <a:srgbClr val="FFFFFF">
                <a:alpha val="0"/>
              </a:srgbClr>
            </a:solidFill>
            <a:prstDash val="solid"/>
          </a:ln>
        </p:spPr>
        <p:txBody>
          <a:bodyPr/>
          <a:lstStyle/>
          <a:p>
            <a:endParaRPr lang="en-US"/>
          </a:p>
        </p:txBody>
      </p:sp>
      <p:sp>
        <p:nvSpPr>
          <p:cNvPr id="81" name="Text 60"/>
          <p:cNvSpPr txBox="1"/>
          <p:nvPr/>
        </p:nvSpPr>
        <p:spPr>
          <a:xfrm>
            <a:off x="6629400" y="5964631"/>
            <a:ext cx="661111" cy="124358"/>
          </a:xfrm>
          <a:prstGeom prst="rect">
            <a:avLst/>
          </a:prstGeom>
          <a:noFill/>
          <a:ln/>
        </p:spPr>
        <p:txBody>
          <a:bodyPr wrap="square" lIns="0" tIns="0" rIns="0" bIns="0" rtlCol="0" anchor="ctr"/>
          <a:lstStyle/>
          <a:p>
            <a:pPr marL="0" indent="0" algn="l">
              <a:buNone/>
            </a:pPr>
            <a:r>
              <a:rPr lang="en-US" sz="800" b="1">
                <a:solidFill>
                  <a:srgbClr val="475569"/>
                </a:solidFill>
                <a:latin typeface="Raleway" pitchFamily="34" charset="0"/>
                <a:ea typeface="Raleway" pitchFamily="34" charset="-122"/>
                <a:cs typeface="Raleway" pitchFamily="34" charset="-120"/>
              </a:rPr>
              <a:t>Execution</a:t>
            </a:r>
            <a:endParaRPr lang="en-US" sz="800"/>
          </a:p>
        </p:txBody>
      </p:sp>
      <p:pic>
        <p:nvPicPr>
          <p:cNvPr id="82" name="Image 19" descr="gen-dedup-6bab9f986820d248c4d42c53288c0e5d.png"/>
          <p:cNvPicPr>
            <a:picLocks noChangeAspect="1"/>
          </p:cNvPicPr>
          <p:nvPr/>
        </p:nvPicPr>
        <p:blipFill>
          <a:blip r:embed="rId14"/>
          <a:srcRect t="-5544" b="-5544"/>
          <a:stretch/>
        </p:blipFill>
        <p:spPr>
          <a:xfrm>
            <a:off x="8977579" y="5627218"/>
            <a:ext cx="105156" cy="133502"/>
          </a:xfrm>
          <a:prstGeom prst="rect">
            <a:avLst/>
          </a:prstGeom>
        </p:spPr>
      </p:pic>
      <p:sp>
        <p:nvSpPr>
          <p:cNvPr id="83" name="Text 61"/>
          <p:cNvSpPr txBox="1"/>
          <p:nvPr/>
        </p:nvSpPr>
        <p:spPr>
          <a:xfrm>
            <a:off x="9334195" y="5315407"/>
            <a:ext cx="637337"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OPTIMIZE</a:t>
            </a:r>
            <a:endParaRPr lang="en-US" sz="900"/>
          </a:p>
        </p:txBody>
      </p:sp>
      <p:sp>
        <p:nvSpPr>
          <p:cNvPr id="84" name="Text 62"/>
          <p:cNvSpPr txBox="1"/>
          <p:nvPr/>
        </p:nvSpPr>
        <p:spPr>
          <a:xfrm>
            <a:off x="11044123"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Q4</a:t>
            </a:r>
            <a:endParaRPr lang="en-US" sz="1200"/>
          </a:p>
        </p:txBody>
      </p:sp>
      <p:sp>
        <p:nvSpPr>
          <p:cNvPr id="85" name="Text 63"/>
          <p:cNvSpPr txBox="1"/>
          <p:nvPr/>
        </p:nvSpPr>
        <p:spPr>
          <a:xfrm>
            <a:off x="9334195" y="5505602"/>
            <a:ext cx="1877263"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Run ops, process tuning, continuous improvement</a:t>
            </a:r>
            <a:endParaRPr lang="en-US" sz="900"/>
          </a:p>
        </p:txBody>
      </p:sp>
      <p:sp>
        <p:nvSpPr>
          <p:cNvPr id="86" name="Text 64"/>
          <p:cNvSpPr txBox="1"/>
          <p:nvPr/>
        </p:nvSpPr>
        <p:spPr>
          <a:xfrm>
            <a:off x="9391802" y="5964631"/>
            <a:ext cx="737006" cy="124358"/>
          </a:xfrm>
          <a:prstGeom prst="rect">
            <a:avLst/>
          </a:prstGeom>
          <a:noFill/>
          <a:ln/>
        </p:spPr>
        <p:txBody>
          <a:bodyPr wrap="square" lIns="0" tIns="0" rIns="0" bIns="0" rtlCol="0" anchor="ctr"/>
          <a:lstStyle/>
          <a:p>
            <a:pPr marL="0" indent="0" algn="l">
              <a:buNone/>
            </a:pPr>
            <a:r>
              <a:rPr lang="en-US" sz="800" b="1">
                <a:solidFill>
                  <a:srgbClr val="64748B"/>
                </a:solidFill>
                <a:latin typeface="Raleway" pitchFamily="34" charset="0"/>
                <a:ea typeface="Raleway" pitchFamily="34" charset="-122"/>
                <a:cs typeface="Raleway" pitchFamily="34" charset="-120"/>
              </a:rPr>
              <a:t>Refinement</a:t>
            </a:r>
            <a:endParaRPr lang="en-US" sz="800"/>
          </a:p>
        </p:txBody>
      </p:sp>
    </p:spTree>
    <p:extLst>
      <p:ext uri="{BB962C8B-B14F-4D97-AF65-F5344CB8AC3E}">
        <p14:creationId xmlns:p14="http://schemas.microsoft.com/office/powerpoint/2010/main" val="115305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solidFill>
            <a:srgbClr val="2A9D8F">
              <a:alpha val="3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52805" y="4476902"/>
            <a:ext cx="3810305" cy="3810305"/>
          </a:xfrm>
          <a:prstGeom prst="ellipse">
            <a:avLst/>
          </a:prstGeom>
          <a:solidFill>
            <a:srgbClr val="D62839">
              <a:alpha val="2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rcRect l="-202" r="-202"/>
          <a:stretch/>
        </p:blipFill>
        <p:spPr>
          <a:xfrm>
            <a:off x="0" y="6782105"/>
            <a:ext cx="8128102" cy="75895"/>
          </a:xfrm>
          <a:prstGeom prst="rect">
            <a:avLst/>
          </a:prstGeom>
        </p:spPr>
      </p:pic>
      <p:pic>
        <p:nvPicPr>
          <p:cNvPr id="7" name="Image 1" descr="preencoded.png"/>
          <p:cNvPicPr>
            <a:picLocks noChangeAspect="1"/>
          </p:cNvPicPr>
          <p:nvPr/>
        </p:nvPicPr>
        <p:blipFill>
          <a:blip r:embed="rId4"/>
          <a:srcRect l="-197" r="-197"/>
          <a:stretch/>
        </p:blipFill>
        <p:spPr>
          <a:xfrm>
            <a:off x="8128102" y="6782105"/>
            <a:ext cx="4063594" cy="75895"/>
          </a:xfrm>
          <a:prstGeom prst="rect">
            <a:avLst/>
          </a:prstGeom>
        </p:spPr>
      </p:pic>
      <p:pic>
        <p:nvPicPr>
          <p:cNvPr id="8" name="Image 2" descr="preencoded.png"/>
          <p:cNvPicPr>
            <a:picLocks noChangeAspect="1"/>
          </p:cNvPicPr>
          <p:nvPr/>
        </p:nvPicPr>
        <p:blipFill>
          <a:blip r:embed="rId5"/>
          <a:srcRect t="60" b="60"/>
          <a:stretch/>
        </p:blipFill>
        <p:spPr>
          <a:xfrm>
            <a:off x="4121201" y="914400"/>
            <a:ext cx="3952951" cy="1904695"/>
          </a:xfrm>
          <a:prstGeom prst="rect">
            <a:avLst/>
          </a:prstGeom>
        </p:spPr>
      </p:pic>
      <p:pic>
        <p:nvPicPr>
          <p:cNvPr id="9" name="Image 3" descr="preencoded.png"/>
          <p:cNvPicPr>
            <a:picLocks noChangeAspect="1"/>
          </p:cNvPicPr>
          <p:nvPr/>
        </p:nvPicPr>
        <p:blipFill>
          <a:blip r:embed="rId6"/>
          <a:srcRect t="-420" b="-420"/>
          <a:stretch/>
        </p:blipFill>
        <p:spPr>
          <a:xfrm>
            <a:off x="5715000" y="3276295"/>
            <a:ext cx="761695" cy="38405"/>
          </a:xfrm>
          <a:prstGeom prst="rect">
            <a:avLst/>
          </a:prstGeom>
        </p:spPr>
      </p:pic>
      <p:sp>
        <p:nvSpPr>
          <p:cNvPr id="10" name="Text 4"/>
          <p:cNvSpPr txBox="1"/>
          <p:nvPr/>
        </p:nvSpPr>
        <p:spPr>
          <a:xfrm>
            <a:off x="3536899" y="3619195"/>
            <a:ext cx="5125212" cy="5715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1" u="none" strike="noStrike" kern="0" cap="none" spc="150" normalizeH="0" baseline="0" noProof="0">
                <a:ln>
                  <a:noFill/>
                </a:ln>
                <a:solidFill>
                  <a:srgbClr val="4B5563"/>
                </a:solidFill>
                <a:effectLst/>
                <a:uLnTx/>
                <a:uFillTx/>
                <a:latin typeface="Raleway" pitchFamily="34" charset="0"/>
                <a:ea typeface="Raleway" pitchFamily="34" charset="-122"/>
                <a:cs typeface="Raleway" pitchFamily="34" charset="-120"/>
              </a:rPr>
              <a:t>"Let's win together"</a:t>
            </a:r>
            <a:endParaRPr kumimoji="0" lang="en-US" sz="30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4" descr="preencoded.png"/>
          <p:cNvPicPr>
            <a:picLocks noChangeAspect="1"/>
          </p:cNvPicPr>
          <p:nvPr/>
        </p:nvPicPr>
        <p:blipFill>
          <a:blip r:embed="rId7"/>
          <a:srcRect/>
          <a:stretch/>
        </p:blipFill>
        <p:spPr>
          <a:xfrm>
            <a:off x="761695" y="5410505"/>
            <a:ext cx="761695" cy="761695"/>
          </a:xfrm>
          <a:prstGeom prst="rect">
            <a:avLst/>
          </a:prstGeom>
        </p:spPr>
      </p:pic>
      <p:pic>
        <p:nvPicPr>
          <p:cNvPr id="12" name="Image 5" descr="preencoded.png"/>
          <p:cNvPicPr>
            <a:picLocks noChangeAspect="1"/>
          </p:cNvPicPr>
          <p:nvPr/>
        </p:nvPicPr>
        <p:blipFill>
          <a:blip r:embed="rId8"/>
          <a:srcRect l="81" r="81"/>
          <a:stretch/>
        </p:blipFill>
        <p:spPr>
          <a:xfrm>
            <a:off x="3189427" y="5658307"/>
            <a:ext cx="809244" cy="267005"/>
          </a:xfrm>
          <a:prstGeom prst="rect">
            <a:avLst/>
          </a:prstGeom>
        </p:spPr>
      </p:pic>
      <p:pic>
        <p:nvPicPr>
          <p:cNvPr id="13" name="Image 6" descr="preencoded.png"/>
          <p:cNvPicPr>
            <a:picLocks noChangeAspect="1"/>
          </p:cNvPicPr>
          <p:nvPr/>
        </p:nvPicPr>
        <p:blipFill>
          <a:blip r:embed="rId9"/>
          <a:srcRect l="7" r="7"/>
          <a:stretch/>
        </p:blipFill>
        <p:spPr>
          <a:xfrm>
            <a:off x="5665622" y="5453482"/>
            <a:ext cx="724205" cy="676656"/>
          </a:xfrm>
          <a:prstGeom prst="rect">
            <a:avLst/>
          </a:prstGeom>
        </p:spPr>
      </p:pic>
      <p:pic>
        <p:nvPicPr>
          <p:cNvPr id="14" name="Image 7" descr="preencoded.png"/>
          <p:cNvPicPr>
            <a:picLocks noChangeAspect="1"/>
          </p:cNvPicPr>
          <p:nvPr/>
        </p:nvPicPr>
        <p:blipFill>
          <a:blip r:embed="rId10"/>
          <a:srcRect t="236" b="236"/>
          <a:stretch/>
        </p:blipFill>
        <p:spPr>
          <a:xfrm>
            <a:off x="8054950" y="5410505"/>
            <a:ext cx="1257300" cy="761695"/>
          </a:xfrm>
          <a:prstGeom prst="rect">
            <a:avLst/>
          </a:prstGeom>
        </p:spPr>
      </p:pic>
      <p:pic>
        <p:nvPicPr>
          <p:cNvPr id="15" name="Image 8" descr="preencoded.png"/>
          <p:cNvPicPr>
            <a:picLocks noChangeAspect="1"/>
          </p:cNvPicPr>
          <p:nvPr/>
        </p:nvPicPr>
        <p:blipFill>
          <a:blip r:embed="rId11"/>
          <a:srcRect t="23" b="24"/>
          <a:stretch/>
        </p:blipFill>
        <p:spPr>
          <a:xfrm>
            <a:off x="10972800" y="5548579"/>
            <a:ext cx="457200" cy="485546"/>
          </a:xfrm>
          <a:prstGeom prst="rect">
            <a:avLst/>
          </a:prstGeom>
        </p:spPr>
      </p:pic>
      <p:pic>
        <p:nvPicPr>
          <p:cNvPr id="16" name="Image 9" descr="preencoded.png"/>
          <p:cNvPicPr>
            <a:picLocks noChangeAspect="1"/>
          </p:cNvPicPr>
          <p:nvPr/>
        </p:nvPicPr>
        <p:blipFill>
          <a:blip r:embed="rId4"/>
          <a:srcRect l="-197" r="-197"/>
          <a:stretch/>
        </p:blipFill>
        <p:spPr>
          <a:xfrm>
            <a:off x="0" y="0"/>
            <a:ext cx="4063594" cy="75895"/>
          </a:xfrm>
          <a:prstGeom prst="rect">
            <a:avLst/>
          </a:prstGeom>
        </p:spPr>
      </p:pic>
      <p:pic>
        <p:nvPicPr>
          <p:cNvPr id="17" name="Image 10" descr="preencoded.png"/>
          <p:cNvPicPr>
            <a:picLocks noChangeAspect="1"/>
          </p:cNvPicPr>
          <p:nvPr/>
        </p:nvPicPr>
        <p:blipFill>
          <a:blip r:embed="rId3"/>
          <a:srcRect l="-202" r="-202"/>
          <a:stretch/>
        </p:blipFill>
        <p:spPr>
          <a:xfrm>
            <a:off x="4063594" y="0"/>
            <a:ext cx="8128102" cy="75895"/>
          </a:xfrm>
          <a:prstGeom prst="rect">
            <a:avLst/>
          </a:prstGeom>
        </p:spPr>
      </p:pic>
    </p:spTree>
    <p:extLst>
      <p:ext uri="{BB962C8B-B14F-4D97-AF65-F5344CB8AC3E}">
        <p14:creationId xmlns:p14="http://schemas.microsoft.com/office/powerpoint/2010/main" val="2467474755"/>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AGENTIC SDLC TRANSFORMATION</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Software Enterprise  |  DOMAIN: Software</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3,000-engineer organization delivering across multiple regions operated with no AI-assisted continuity between planning, development, testing, and deployment. Requirements were translated into test cases manually. Full regression suites ran for every code change regardless of what actually changed, and defects were routinely discovered late in the cycle. Automation scripts broke with every system update and required manual repair, and no feedback loop connected delivery outcomes back into the pipeline to improve the next cycle.</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An end-to-end agentic SDLC framework was deployed, embedding AI across every stage of the software lifecycle. AI agents autonomously generate test cases from requirements, perform impact-aware test selection on every commit, and self-heal broken automation scripts without manual intervention. Engineering shifted from reactive execution, where every change triggered a full manual cycle, to insight-driven delivery where the pipeline adapts to what actually changed.</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AI Test Generation</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Automatically generates test cases from requirements with 95% coverage accuracy.</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Self-Healing Automation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Repairs broken test scripts automatically, reducing maintenance overhead.</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Intelligent Test Selection</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Impact-aware selection targets only affected modules per commit instead of running full regression.</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Defect Prediction Engine</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Predicts defects before they occur using ML pattern recognition.</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Agentic CI/CD Orchestration</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AI-driven pipeline orchestration for optimized deployment flow.</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Release Risk Analytics</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Provides real-time risk assessment to support release go/no-go decisions.</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40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60% reduction in automation maintenance</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50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80% faster regression cycles</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35%</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Approximately earlier defect detection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MANAGED TESTING FOR OTT PLATFORM LAUNCH</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Telecom Operator  |  DOMAIN: Telecom</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major US telecom company launching its OTT platform needed end-to-end managed quality engineering to reduce go-to-market time, covering test automation, functional and non-functional testing, device compatibility, and API testing while significantly cutting manual effort.</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multi-layer testing strategy was implemented using OTT UTAF for E2E automation, cross-browser and cross-device testing across Android and iOS, content and subscription validation, and comprehensive non-functional testing including load, performance, QoE, ad-validation, analytics, and security.</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E2E User Journey Automation</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Automated user flows using OTT Unified Test Automation Framework accelerating deployment cycles.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Content and Subscription Validation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Rigorous testing across playback, subscription management, and content management systems.</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Cross-Device and Cross-Browser Testing</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Multi-browser and smartphone testing including seamless OTT application integration validation.</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Non-Functional Testing Suite</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In-depth load, performance, quality of experience, ad-validation, analytics, and security testing.</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Continuous Automation Framework</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Systematically reducing manual testing effort while ensuring consistent quality and stability.</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Managed Test House</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Comprehensive, integrated QA oversight across the entire OTT platform ecosystem.</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50%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or more reduction in release timeframe</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11</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.4 million user base grown post-launch</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60%</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reduction in manual testing effort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INDUSTRY 4.0 INTELLIGENCE</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Process Manufacturing Enterprise  |  DOMAIN: Process Manufacturing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specialty chemicals manufacturer running continuous-process plants had spent 2 years evaluating industrial AI without a single deployment reaching the floor. Every vendor solution required displacing the existing DCS and historian, infrastructure the plant had spent a decade calibrating, and moving operational data outside the OT environment, which security would not clear. A catalyst reactor ran outside optimal temperature bands for 6 hours, causing a batch loss of £340,000. The cause was visible in the historian after the fact; the capability to catch it in real time existed on the market, but no deployment path existed inside the plant's security constraints.</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suite of modular industrial AI capabilities was deployed directly against the plant's existing DCS, historian, and MES, connected via OPC UA and MQTT, no new platform license, no data leaving the environment. Each module runs as a containerized microservice alongside existing infrastructure, validated on real plant data within 2 to 4 weeks. The manufacturer started with energy optimization and predictive maintenance on the reactor line and extended module by module as each proved value on the floor.</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Plant Energy Intelligence</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GenAI-driven recommendations targeting peak demand costs, deployed against existing metering with no new hardware.</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Predictive Maintenance</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ML models on existing telemetry predict failure windows before they become unplanned downtime.</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AI Vision Quality Gates</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Inline inspection compares live output to golden references with no line speed impact.</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Production Digital Twin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Real-time simulation of temperature, pressure, and feed-rate scenarios without touching live production.</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Operator GenAI Copilot</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Conversational assistant drawing on live tags, manuals, and SOPs, runs on edge, on the floor.</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Modular Deployment Architecture</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Each module deploys independently, so the plant starts where risk is highest and expands without a platform migration.</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2</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4 weeks POC per module on real plant data</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Zero new</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platform licenses required</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4</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Accelerates Industry .0 maturity roadmap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WELD VISION AND JOINT INTEGRITY ANALYTICS</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Manufacturing Enterprise  |  DOMAIN: Manufacturing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heavy equipment OEM verified weld joint integrity through sampled inspection, leaving subsurface defects, porosity, and incomplete fusion undetected until they surfaced as rework, structural failures, or audit escapes. At production line speeds, manual 100% inspection was not feasible. Quality teams were structurally positioned to manage defects after the fact rather than catch them at the joint.</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An AI vision layer was deployed at the weld station to capture and analyze every joint in real time, classifying geometry, detecting surface anomalies, and correlating findings with process parameters to isolate root cause at the joint level. Full traceability is generated automatically across every weld, operator, and production run without disrupting line speed. Inspection moved from a sample to 100% coverage at no cost to throughput.</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100% Inline Weld Vision Inspection</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AI cameras capture every joint at line speed, classifying weld geometry and surface condition without sampling or line interruption.</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Porosity and Fusion Defect Detection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Detects porosity, incomplete fusion, undercut, and spattering, flagging defects before parts advance to downstream assembly.</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Process Parameter Correlation</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Correlates visual defects with welding parameters to isolate root cause across wire feed, voltage, and travel speed.</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Joint Traceability and Run Logging</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Links every weld to operator, shift, and material batch, generating audit-ready traceability records.</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Defect Trend and Heatmap Analytics</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Maps defect frequency across stations and shifts, surfacing systemic quality patterns before batch escapes occur.</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Closed-Loop Quality Feedback</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Routes verified defect data back to process engineering, turning every detected issue into a parameter adjustment rather than a one-off fix.</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40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60% reduction in weld defect escapes to downstream assembly</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30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45% improvement in root cause identification speed</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Audit-ready</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full joint-level traceability across production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OPERATIONAL DIGITAL TWIN</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Energy Utility  |  DOMAIN: Energy</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An offshore oil and gas operator running aging platforms across the North Sea managed asset health through scheduled inspections, manual technician readings, and calendar-based maintenance. A compressor on one platform showed irregular vibration signatures for 11 days before a bearing failure took it offline, a £2.1 million unplanned shutdown requiring weather-dependent crew mobilization and 14 days off-production. The data that would have predicted it was being collected; nobody was watching it, and no engineer held a view across the full platform fleet at any given moment.</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An AI-embedded operational digital twin was deployed across the platform fleet, ingesting live sensor, PLC, and SCADA streams into a continuously maintained digital replica of every critical asset. Operational health scoring runs continuously against equipment performance and system interdependencies, surfacing degradation before it reaches the production threshold. Engineers now work from a unified dashboard across all platforms, seeing asset condition, trend, and warranted intervention, without leaving the control room.</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Live Asset Mirroring</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Real-time sensor, PLC, and SCADA streams maintain a continuously updated digital replica across platforms and asset classes.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Operational Health Scoring</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Flags degradation trajectories and failure probability before output is affected, across interdependent systems.</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Predictive Maintenance</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Anticipates failures and optimal intervention windows from telemetry and load history, replacing calendar-based scheduling.</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Anomaly Detection and Root Cause Isolation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Triggers corrective workflows before cascading failures develop.</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Scenario Simulation</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Tests load changes and equipment swaps against the live twin without touching real systems.</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Unified Operations Dashboard</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Consolidates asset health, performance, and risk scores with drill-down visibility across platforms.</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30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40% reduction in unplanned downtime</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20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30% improvement in asset utilisation</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25</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35% faster fault detection and resolution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32819</Words>
  <Application>Microsoft Office PowerPoint</Application>
  <PresentationFormat>Widescreen</PresentationFormat>
  <Paragraphs>3575</Paragraphs>
  <Slides>138</Slides>
  <Notes>138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138</vt:i4>
      </vt:variant>
    </vt:vector>
  </HeadingPairs>
  <TitlesOfParts>
    <vt:vector size="145" baseType="lpstr">
      <vt:lpstr>Aptos</vt:lpstr>
      <vt:lpstr>Arial</vt:lpstr>
      <vt:lpstr>Calibri</vt:lpstr>
      <vt:lpstr>Oswald</vt:lpstr>
      <vt:lpstr>Raleway</vt:lpstr>
      <vt:lpstr>Roboto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Case Study Portfolio</dc:title>
  <dc:subject>PptxGenJS Presentation</dc:subject>
  <dc:creator>J2W</dc:creator>
  <cp:lastModifiedBy>Athithia Krishna</cp:lastModifiedBy>
  <cp:revision>5</cp:revision>
  <dcterms:created xsi:type="dcterms:W3CDTF">2026-06-22T10:46:20Z</dcterms:created>
  <dcterms:modified xsi:type="dcterms:W3CDTF">2026-06-24T11:39:04Z</dcterms:modified>
</cp:coreProperties>
</file>