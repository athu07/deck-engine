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323" r:id="rId11"/>
    <p:sldId id="2147483416" r:id="rId12"/>
    <p:sldId id="2147483418" r:id="rId13"/>
    <p:sldId id="2147483320" r:id="rId16"/>
    <p:sldId id="2147483428" r:id="rId18"/>
    <p:sldId id="2147483429" r:id="rId19"/>
    <p:sldId id="2147483431" r:id="rId21"/>
    <p:sldId id="2147483432" r:id="rId22"/>
    <p:sldId id="2147483433" r:id="rId24"/>
    <p:sldId id="2147483434" r:id="rId25"/>
    <p:sldId id="2147483435" r:id="rId26"/>
    <p:sldId id="2147483436" r:id="rId27"/>
    <p:sldId id="2147483437" r:id="rId28"/>
    <p:sldId id="2147483438" r:id="rId29"/>
    <p:sldId id="2147483439" r:id="rId30"/>
    <p:sldId id="2147483440" r:id="rId31"/>
    <p:sldId id="2147483441" r:id="rId32"/>
    <p:sldId id="2147483442" r:id="rId33"/>
    <p:sldId id="2147483443" r:id="rId34"/>
    <p:sldId id="2147483444" r:id="rId35"/>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5.xml"/><Relationship Id="rId9" Type="http://schemas.openxmlformats.org/officeDocument/2006/relationships/slide" Target="slides/slide1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6"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 Id="rId14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53.png"/><Relationship Id="rId8" Type="http://schemas.openxmlformats.org/officeDocument/2006/relationships/image" Target="../media/image111.png"/><Relationship Id="rId9" Type="http://schemas.openxmlformats.org/officeDocument/2006/relationships/image" Target="../media/image1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image" Target="../media/image128.png"/><Relationship Id="rId11" Type="http://schemas.openxmlformats.org/officeDocument/2006/relationships/image" Target="../media/image129.png"/><Relationship Id="rId12" Type="http://schemas.openxmlformats.org/officeDocument/2006/relationships/image" Target="../media/image130.png"/><Relationship Id="rId13" Type="http://schemas.openxmlformats.org/officeDocument/2006/relationships/image" Target="../media/image1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image" Target="../media/image139.png"/><Relationship Id="rId8" Type="http://schemas.openxmlformats.org/officeDocument/2006/relationships/image" Target="../media/image140.png"/><Relationship Id="rId9" Type="http://schemas.openxmlformats.org/officeDocument/2006/relationships/image" Target="../media/image141.png"/><Relationship Id="rId10" Type="http://schemas.openxmlformats.org/officeDocument/2006/relationships/image" Target="../media/image142.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image" Target="../media/image145.png"/><Relationship Id="rId14" Type="http://schemas.openxmlformats.org/officeDocument/2006/relationships/image" Target="../media/image34.png"/><Relationship Id="rId1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PARTNER INTEGRATION TESTING FOR TELECOM MVNO ECOSYSTEM</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Telecom Operator  |  DOMAIN: Telecom</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Rolling out new features across a complex MVNO, MVNE, and MNA partner ecosystem risked disrupting 80 or more partners with unique tariff plans, pricing models, and customer data systems, where even minor disruptions to shared MNO services could trigger widespread outages or partner dissatisfaction.</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risk-based regression testing approach was deployed with independent validation cycles across 500 or more business flows covering 80 or more client APIs. The production push was coordinated with precise feedback loops and validation gates ensuring zero business-as-usual impact across the entire partner ecosystem.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Risk-Based Regression Testing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Structured framework validating all feature enhancements ensuring critical partner functions remain unaffected.</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Independent Validation Cycles</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500 or more business flows across 80 or more client APIs independently validated for isolated issue detection.</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Zero BAU Impact Coordination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Production push coordinated with precise validation gates protecting partner business-as-usual operations.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Multi-Partner Coverage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Testing adapted to each partner's unique systems, tariff plans, and customer data models.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Regression Acceleration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100% risk mitigation achieved before UAT through optimized testing cycle design.</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Flawless Production Push</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Zero complaints or tickets post-release confirming robust pre-deployment validation quality.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500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business flows validated</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partner</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complaints post-release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risk mitigation with zero downtime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MANAGED TESTING FOR OTT PLATFORM LAUNCH</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Telecom Operator  |  DOMAIN: Telecom</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major US telecom company launching its OTT platform needed end-to-end managed quality engineering to reduce go-to-market time, covering test automation, functional and non-functional testing, device compatibility, and API testing while significantly cutting manual effort.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multi-layer testing strategy was implemented using OTT UTAF for E2E automation, cross-browser and cross-device testing across Android and iOS, content and subscription validation, and comprehensive non-functional testing including load, performance, QoE, ad-validation, analytics, and security.</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E2E User Journey Automation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Automated user flows using OTT Unified Test Automation Framework accelerating deployment cycles.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Content and Subscription Validation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Rigorous testing across playback, subscription management, and content management systems.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Cross-Device and Cross-Browser Testing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Multi-browser and smartphone testing including seamless OTT application integration validation.</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Non-Functional Testing Suite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In-depth load, performance, quality of experience, ad-validation, analytics, and security testing.</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Continuous Automation Framework</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Systematically reducing manual testing effort while ensuring consistent quality and stability.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Managed Test House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Comprehensive, integrated QA oversight across the entire OTT platform ecosystem.</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reduction in release timeframe</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11</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 million user base grown post-launch</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manual testing effort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NETWORK PROVISIONING ENGINE MIGRATION TESTING</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Telecom Operator  |  DOMAIN: Telecom</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Migrating from a legacy Switch Control to a modernized Network Provisioning Engine supporting 500,000 or more partners required safeguarding data integrity, validating complex API orchestration upgrades, and baselining all revenue-critical user flows while ensuring zero downtime and no revenue leakage during the transition.</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2-pronged manual and automated testing approach was deployed. Revenue-critical flows were prioritized, complex edge-case journeys validated, automated pre- and post-migration baseline comparisons with screenshot capture executed for every critical interaction, and a swift seamless production push enabled with zero partner disruption.</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Revenue-Critical Flow Prioritization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Critical business journeys tested comprehensively first to safeguard revenue-generating operations.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Baseline Integrity Validation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Pre- and post-migration comparison ensuring no financial discrepancies or data corruption.</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Edge-Case Journey Validation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Manual and automated testing for complex, high-risk, and infeasible scenario edge cases.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Automated Baseline Comparison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Screenshot-based automation enabling rapid discrepancy detection across all critical interfaces.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Zero-Downtime Migration Execution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All 500,000 or more partners and third-party systems remained fully functional throughout.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100% Future Regression Automation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Full automation established for all future regression testing requirements post-migration.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revenue</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leakage during migration</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partner</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downtime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future regression automated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CAAS GLOBAL AUTOMOTIVE OEM ENGINEERING</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Automotive Engineering Enterprise  |  DOMAIN: Automotive Engineering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automotive OEM engineering engagement delivered through an engineering services partner required capabilities-as-a-service across cloud modernization, analytics, enterprise migration, and AI-enabled domain workflows. Domain-certified engineering teams were needed with flexible billing and long-horizon engagement continuity across multiple concurrent workstreams.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Domain-certified engineering teams were delivered through governed AI pod structures with flexible billing and long-horizon engagement continuity. ADAS video streaming analytics, Truck BOM Connect cloud migration, a Warranty Fault AI NLP engine, S/4HANA migration, and AI pod governance were deployed across the engagement.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ADAS Video Streaming Analytics</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AI-enabled video analytics for advanced driver assistance system processing and real-time data streaming.</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Truck BOM Connect Cloud Migration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Cloud migration of truck bill-of-materials connectivity systems to scalable cloud infrastructure.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Warranty Fault AI NLP Engine</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Natural language processing engine automatically classifying and routing warranty fault reports without manual coding.</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S/4HANA Migration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Enterprise SAP S/4HANA migration delivered within governed pod structures with domain-certified engineers.</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Domain-Certified Engineering Teams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Engineers vetted on automotive-specific standards, systems, and software engineering requirements.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AI Pod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Unified sprint reviews, scorecards, and cadences maintaining delivery accountability across all workstreams.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memory optimization achieved</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9</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billing models deployed across the engagement</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or more year active partnership sustained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PLANFORGE AI - AGENTIC PRODUCTION PLANNING</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manufacturer's planners spent 6 to 10 hours per disruption event stitching ERP, MRP, supplier, and material data into spreadsheets just to assess the situation. A 2 to 4 day gap separated a real-world signal from a revised plan, meaning cascades were discovered days late through email and spreadsheet chains. Compound disruption scenarios were rarely modelled before the plan changed, so recovery choices were made on instinct and revenue at risk only became visible after orders ran late.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agentic production planning engine was deployed connecting order books, factory capacity, supplier reliability, and material readiness in a unified model. The system simulates disruption scenarios before the plan changes and compares recovery options side by side, replacing instinct with evidence-based choices. Every plan change is logged with the reasoning behind it, giving planners a complete decision trail and giving management full audit of what was known and when.</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Unified Planning View</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Brings order books, capacity, supplier reliability, and material readiness into one model so a cascade is visible as it starts.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Scenario Simulation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Models compound disruptions before the plan changes and compares recovery options side by side, replacing instinct with evidence-based decisions.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Disruption Response and Audit</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Surfaces revenue at risk within the response window, enables cross-plant rebalancing on signal, and logs why each plan changed.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Signal-to-Plan Automation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Connects real-world signals directly to plan updates, reducing the lag between disruption and revised schedule.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Cross-Plant Rebalancing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Evaluates rebalancing options across plants simultaneously when a disruption hits, rather than sequentially per plant.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Revenue-at-Risk Quantification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Calculates the financial exposure of each disruption scenario so planners prioritize by commercial impact, not just operational urgency.</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6</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10 hours of planner time freed per disruption event through automated data stitching</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2</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4 day signal-to-plan lag reduced toward real time</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decision trail with every plan change logged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AGENTIC AI GOVERNANCE IMPLEMENTATION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Software Enterprise  |  DOMAIN: Software</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enterprise deploying autonomous AI agents had no standardized approval policies, human-in-the-loop controls, or audit mechanisms governing agent behavior. Agent decisions had no visible trail, and cost accountability across agentic use cases was entirely absent, leaving compliance and finance teams with no way to verify what agents had done or what it had cost.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governance layer was deployed to operationalize autonomous agent oversight, designing approval policies, building behavior monitoring dashboards, and establishing token-level cost tracking and ROI measurement per use case across existing cloud infrastructure. Every agent action now carries a visible decision trail and a cost attribution back to its specific use case.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Approval Policy Design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Establishes standardized approval workflows for autonomous agent actions.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Human-in-the-Loop Controls</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Embeds review gates for sensitive or high-impact agent decisions.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Behavior Monitoring Dashboards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Tracks agent behavior continuously across all deployed use cases.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Token-Level Cost Tracking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Attributes AI spend down to the token level per use case.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ROI Measurement</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Measures return on investment per agentic use case against defined business outcomes.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Audit Trail Generation</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Maintains full decision trail visibility across every autonomous workflow for compliance review.</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3x</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faster agent audit and compliance reviews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100%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decision trail visibility across every autonomous workflow</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30%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Approximately reduction in ungoverned agent spend through token-level cost tracking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LLMOPS AND GENAI OBSERVABILITY</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Software Enterprise  |  DOMAIN: Software</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An enterprise running GenAI applications in production had no meaningful observability into how those applications actually behaved. Prompt traces were lost, RAG retrieval quality went unmeasured, and cost attribution per use case remained unclear. Standard APM tooling captured infrastructure metrics but missed AI-specific operational signals entirely, leaving teams blind to the behavior that actually mattered.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purpose-built observability layer was deployed to deliver prompt-level tracing, retrieval quality scoring, semantic drift detection, and cost attribution. The system correlates user intent through agent action to business outcome, giving end-to-end production traceability that standard infrastructure monitoring could not provide. Teams moved from reacting to incidents after the fact to continuous, telemetry-driven model performance management.</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Prompt-Level Tracing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Captures and traces every prompt through the full GenAI pipeline.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Retrieval Quality Scoring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Measures RAG retrieval quality continuously rather than assuming correctness.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Semantic Drift Detection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Detects when model outputs drift semantically from expected behavior.</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Cost Attribution per Use Case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Tracks GenAI spend by specific use case rather than aggregated infrastructure cost.</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Intent-to-Outcome Correlation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Correlates user intent through agent action to business outcome for full traceability.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Continuous Performance Telemetry</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Provides ongoing, telemetry-driven visibility instead of reactive incident response.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50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70% improvement in GenAI operational visibility</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55% faster root cause identification for model performance issues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Shift from</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reactive incident response to continuous, telemetry-driven performance management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AI-DRIVEN PRODUCTION SCHEDULING ACROSS 60+ PLANTS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manufacturer running more than 60 plants faced a problem that worsened with every unit of scale added: when a supply disruption hit, calculating downstream impact required planners to manually trace dependencies across work orders, material flows, and plant capacity, a process that took hours, sometimes days. By the time a response plan was ready, the window to act without cost had already closed. The disruptions were manageable; the lag between disruption and decision was not.</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ERP-connected production planning system was deployed to compress the time from disruption to decision. It builds and maintains a live dependency graph across all plants, mapping materials, work orders, supplier schedules, and capacity constraints in real time. When a disruption occurs, the system calculates cascading effects instantly, ranks affected plants by delivery exposure, and surfaces 2 to 3 response options with projected cost and impact. The planner approves; the system writes the decision back into ERP as updated work orders.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Live Dependency Mapping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Maintains a real-time graph of work orders, material flows, and plant capacity across the network, so disruption impact is calculable instantly.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Disruption Cascade Analysis</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Calculates downstream effects across all plants, ranked by delivery commitment exposure and production priority.</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AI Response Recommendations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Generates 2 to 3 options per disruption, deprioritize, transfer, or expedite, with projected cost and impact, so planners choose rather than calculate.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ERP Write-Back</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Pushes approved decisions directly into ERP as updated work orders, eliminating manual re-entry.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Multi-Plant Scale Architecture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Replicates the planning model across 60+ plants with localized parameters, scale adds coverage without adding headcount.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Confidence Scoring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Attaches confidence levels to each recommendation so planners know where the system is certain and where human judgment should lead.</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25</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40% reduction in time from disruption to action</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15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25% reduction in production stoppages</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80 plants scalable with no headcount increase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INTELLIGENT ENTERPRISE ORCHESTRATION</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Software Enterprise  |  DOMAIN: Software</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global enterprise's AI deployments were fragmented across monolithic systems that were rigid to change, complex to integrate, and disconnected from each other. A typical enterprise AI rollout took 6 to 9 months and cost over $300,000, with no unified intelligence or shared context between systems like ServiceNow, Workday, and Concur. Each new automation effort effectively started from zero.</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modular agent-as-a-tool orchestration layer was deployed, connecting systems like ServiceNow, Workday, and Concur through a central orchestrator. Each agent operates independently while sharing context with the others, enabling incremental deployment, cross-system intelligence, and secure automation governed by role-based access control. New automation use cases now deploy in weeks instead of months, without vendor lock-in to any single platform.</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Agent-as-a-Tool Orchestration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Connects enterprise systems through a central orchestrator while each agent operates independently.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Cross-System Context Sharing</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Shares context between agents across connected systems for coordinated decisioning.</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Incremental Deployment Model</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Enables new use cases to be added without rebuilding the underlying integration layer.</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RBAC-Governed Automation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Secures every automated action with role-based access control.</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Vendor-Agnostic Architecture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Avoids lock-in to any single platform vendor as the system scales.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Rapid Use-Case Onboarding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Reduces the time to stand up a new automation use case from months to weeks.</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85%</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faster deployment (6-9 months to approximately 5 weeks)</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85%</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cost reduction ($300K-$400K to approximately $50K)</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50% faster resolution via cross-system orchestration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DEMAND-DRIVEN MATERIAL PLANNING</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manufacturer running hundreds of SKUs across multiple grades and regions had outgrown human demand planning. Forecasts built from experience and spreadsheets were good enough in stable periods, wrong in ways that compounded fast. Excess inventory locked up capital; stockouts halted lines while procurement scrambled. No human planner could hold the full picture across SKUs, geographies, and shifting market conditions simultaneously. Planning was always a step behind.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ML-based demand forecasting engine was deployed alongside an automated MRP system, both running from the same data and the same dashboard. The forecasting layer ingests historical sales, seasonal patterns, and external market signals to produce SKU-level predictions, and flags anomalies before they distort the plan. Those forecasts feed directly into an MRP engine that translates production schedules into precise material needs, calculates reorder points dynamically, and generates procurement recommendations. Planners set the parameters; the system does the arithmetic and raises the exceptions.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ML-Based Demand Forecasting</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Analyzes sales history, seasonal variation, and market signals to produce SKU-level predictions at a scale no human planner can match.</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Anomaly Detection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Identifies demand anomalies in real time and flags them before they distort procurement or production plans.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Dynamic Reorder and Safety Stock Calculation</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Computes optimal reorder points and safety stock levels per SKU continuously, replacing static rules with live parameters.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Automated MRP Generation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Converts production schedules directly into material requirements, eliminating the lag between plan and procurement trigger.</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Procurement Guidance</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Recommends what to buy, in what quantity, and by when, based on live forecasts and current inventory positions.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End-to-End Planning Visibility</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Single dashboard spanning demand signal, inventory position, and purchase order status across the full chain.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stockouts</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through predictive planning</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Optimized</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storage costs with just-in-time arrival</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End-to-end</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visibility from demand signal to procurement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AI/ML AND INTELLIGENT AUTOMATION FOR FINANCIAL INSTITUTIONS</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Banking Institution  |  DOMAIN: Banking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financial institution needed to operationalize GenAI and machine learning across credit research, deal processing, and portfolio surveillance, but lacked an enterprise framework for governance, security, and auditability strict enough for regulated use. Analyst time went into manual credit research summarization, deal memo drafting, and document checklist work across deals, with no systematic way to monitor portfolio risk or covenant compliance at scale across the institution's full book.</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An enterprise-grade GenAI and machine learning platform was deployed covering AI assistants for credit research and deal memo drafting, intelligent document processing for deal checklists, and predictive surveillance for portfolio monitoring and covenant tracking. Delivery follows a structured framework: use-case discovery, data preparation through vectorization and knowledge graphs, RAG and LLM engineering with enterprise guardrails, and MLOps governance with model monitoring and audit-trail integration. Analysts now work from AI-assisted drafts and flagged portfolio signals instead of building both from raw source documents.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AI Credit Research Summarization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Assembles and summarizes credit research from source documents and filings automatically.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Deal Memo Drafting Assistant</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Drafts deal memos and advisor engagement materials for analyst review.</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Intelligent Document Processing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Automates document extraction, data verification, and checklist workflows for deals.</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ML-Driven Portfolio Monitoring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Tracks portfolio performance and surfaces risk signals continuously.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Covenant Tracking Alerts</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Flags covenant breaches and market trend deviations automatically.</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MLOps and Audit Governance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Provides model monitoring, drift detection, and audit-trail integration for regulatory compliance.</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40%</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Approximately increase in analyst productivity</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90%</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Over precision and recall</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60%</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reduction in cycle time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5029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274320"/>
            <a:ext cx="8686800" cy="548640"/>
          </a:xfrm>
          <a:prstGeom prst="rect">
            <a:avLst/>
          </a:prstGeom>
          <a:noFill/>
        </p:spPr>
        <p:txBody>
          <a:bodyPr wrap="square" tIns="0" bIns="0" lIns="0" rIns="0">
            <a:spAutoFit/>
          </a:bodyPr>
          <a:lstStyle/>
          <a:p>
            <a:pPr algn="l"/>
            <a:r>
              <a:rPr sz="2400" b="1">
                <a:solidFill>
                  <a:srgbClr val="111110"/>
                </a:solidFill>
                <a:latin typeface="Calibri"/>
              </a:rPr>
              <a:t>INDUSTRY 4.0 INTELLIGENCE</a:t>
            </a:r>
          </a:p>
        </p:txBody>
      </p:sp>
      <p:sp>
        <p:nvSpPr>
          <p:cNvPr id="6" name="TextBox 5"/>
          <p:cNvSpPr txBox="1"/>
          <p:nvPr/>
        </p:nvSpPr>
        <p:spPr>
          <a:xfrm>
            <a:off x="402336" y="676656"/>
            <a:ext cx="11430000" cy="310896"/>
          </a:xfrm>
          <a:prstGeom prst="rect">
            <a:avLst/>
          </a:prstGeom>
          <a:noFill/>
        </p:spPr>
        <p:txBody>
          <a:bodyPr wrap="square" tIns="0" bIns="0" lIns="0" rIns="0">
            <a:spAutoFit/>
          </a:bodyPr>
          <a:lstStyle/>
          <a:p>
            <a:pPr algn="l"/>
            <a:r>
              <a:rPr sz="1500" b="1">
                <a:solidFill>
                  <a:srgbClr val="3A8B82"/>
                </a:solidFill>
                <a:latin typeface="Calibri"/>
              </a:rPr>
              <a:t>CLIENT: Leading Process Manufacturing Enterprise  |  DOMAIN: Process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Calibri"/>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Calibri"/>
              </a:rPr>
              <a:t>A specialty chemicals manufacturer running continuous-process plants had spent 2 years evaluating industrial AI without a single deployment reaching the floor. Every vendor solution required displacing the existing DCS and historian, infrastructure the plant had spent a decade calibrating, and moving operational data outside the OT environment, which security would not clear. A catalyst reactor ran outside optimal temperature bands for 6 hours, causing a batch loss of £340,000. The cause was visible in the historian after the fact; the capability to catch it in real time existed on the market, but no deployment path existed inside the plant's security constraints.</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Calibri"/>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Calibri"/>
              </a:rPr>
              <a:t>A suite of modular industrial AI capabilities was deployed directly against the plant's existing DCS, historian, and MES, connected via OPC UA and MQTT, no new platform license, no data leaving the environment. Each module runs as a containerized microservice alongside existing infrastructure, validated on real plant data within 2 to 4 weeks. The manufacturer started with energy optimization and predictive maintenance on the reactor line and extended module by module as each proved value on the floor.</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Calibri"/>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Calibri"/>
              </a:rPr>
              <a:t>Plant Energy Intelligence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Calibri"/>
              </a:rPr>
              <a:t>GenAI-driven recommendations targeting peak demand costs, deployed against existing metering with no new hardware.</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Calibri"/>
              </a:rPr>
              <a:t>Predictive Maintenance</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Calibri"/>
              </a:rPr>
              <a:t>ML models on existing telemetry predict failure windows before they become unplanned downtime.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Calibri"/>
              </a:rPr>
              <a:t>AI Vision Quality Gates</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Calibri"/>
              </a:rPr>
              <a:t>Inline inspection compares live output to golden references with no line speed impact.</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Calibri"/>
              </a:rPr>
              <a:t>Production Digital Twin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Calibri"/>
              </a:rPr>
              <a:t>Real-time simulation of temperature, pressure, and feed-rate scenarios without touching live production.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Calibri"/>
              </a:rPr>
              <a:t>Operator GenAI Copilot</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Calibri"/>
              </a:rPr>
              <a:t>Conversational assistant drawing on live tags, manuals, and SOPs, runs on edge, on the floor.</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Calibri"/>
              </a:rPr>
              <a:t>Modular Deployment Architecture</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Calibri"/>
              </a:rPr>
              <a:t>Each module deploys independently, so the plant starts where risk is highest and expands without a platform migration.</a:t>
            </a:r>
          </a:p>
        </p:txBody>
      </p:sp>
      <p:sp>
        <p:nvSpPr>
          <p:cNvPr id="34" name="Rectangle 33"/>
          <p:cNvSpPr/>
          <p:nvPr/>
        </p:nvSpPr>
        <p:spPr>
          <a:xfrm>
            <a:off x="0" y="5486400"/>
            <a:ext cx="12188952" cy="13716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614416"/>
            <a:ext cx="3697223" cy="603504"/>
          </a:xfrm>
          <a:prstGeom prst="rect">
            <a:avLst/>
          </a:prstGeom>
          <a:noFill/>
        </p:spPr>
        <p:txBody>
          <a:bodyPr wrap="square" tIns="0" bIns="0" lIns="0" rIns="0">
            <a:spAutoFit/>
          </a:bodyPr>
          <a:lstStyle/>
          <a:p>
            <a:pPr algn="ctr"/>
            <a:r>
              <a:rPr sz="3400" b="1">
                <a:solidFill>
                  <a:srgbClr val="FFFFFF"/>
                </a:solidFill>
                <a:latin typeface="Calibri"/>
              </a:rPr>
              <a:t>2</a:t>
            </a:r>
          </a:p>
        </p:txBody>
      </p:sp>
      <p:sp>
        <p:nvSpPr>
          <p:cNvPr id="36" name="TextBox 35"/>
          <p:cNvSpPr txBox="1"/>
          <p:nvPr/>
        </p:nvSpPr>
        <p:spPr>
          <a:xfrm>
            <a:off x="137160" y="6272784"/>
            <a:ext cx="3788664" cy="502920"/>
          </a:xfrm>
          <a:prstGeom prst="rect">
            <a:avLst/>
          </a:prstGeom>
          <a:noFill/>
        </p:spPr>
        <p:txBody>
          <a:bodyPr wrap="square" tIns="0" bIns="0" lIns="0" rIns="0">
            <a:spAutoFit/>
          </a:bodyPr>
          <a:lstStyle/>
          <a:p>
            <a:pPr algn="ctr"/>
            <a:r>
              <a:rPr sz="900" b="0">
                <a:solidFill>
                  <a:srgbClr val="FFFFFF"/>
                </a:solidFill>
                <a:latin typeface="Calibri"/>
              </a:rPr>
              <a:t>4 weeks POC per module on real plant data</a:t>
            </a:r>
          </a:p>
        </p:txBody>
      </p:sp>
      <p:sp>
        <p:nvSpPr>
          <p:cNvPr id="37" name="TextBox 36"/>
          <p:cNvSpPr txBox="1"/>
          <p:nvPr/>
        </p:nvSpPr>
        <p:spPr>
          <a:xfrm>
            <a:off x="4245864" y="5614416"/>
            <a:ext cx="3697223" cy="603504"/>
          </a:xfrm>
          <a:prstGeom prst="rect">
            <a:avLst/>
          </a:prstGeom>
          <a:noFill/>
        </p:spPr>
        <p:txBody>
          <a:bodyPr wrap="square" tIns="0" bIns="0" lIns="0" rIns="0">
            <a:spAutoFit/>
          </a:bodyPr>
          <a:lstStyle/>
          <a:p>
            <a:pPr algn="ctr"/>
            <a:r>
              <a:rPr sz="3400" b="1">
                <a:solidFill>
                  <a:srgbClr val="FFFFFF"/>
                </a:solidFill>
                <a:latin typeface="Calibri"/>
              </a:rPr>
              <a:t>Zero new</a:t>
            </a:r>
          </a:p>
        </p:txBody>
      </p:sp>
      <p:sp>
        <p:nvSpPr>
          <p:cNvPr id="38" name="TextBox 37"/>
          <p:cNvSpPr txBox="1"/>
          <p:nvPr/>
        </p:nvSpPr>
        <p:spPr>
          <a:xfrm>
            <a:off x="4200144" y="6272784"/>
            <a:ext cx="3788664" cy="502920"/>
          </a:xfrm>
          <a:prstGeom prst="rect">
            <a:avLst/>
          </a:prstGeom>
          <a:noFill/>
        </p:spPr>
        <p:txBody>
          <a:bodyPr wrap="square" tIns="0" bIns="0" lIns="0" rIns="0">
            <a:spAutoFit/>
          </a:bodyPr>
          <a:lstStyle/>
          <a:p>
            <a:pPr algn="ctr"/>
            <a:r>
              <a:rPr sz="900" b="0">
                <a:solidFill>
                  <a:srgbClr val="FFFFFF"/>
                </a:solidFill>
                <a:latin typeface="Calibri"/>
              </a:rPr>
              <a:t>platform licenses required</a:t>
            </a:r>
          </a:p>
        </p:txBody>
      </p:sp>
      <p:sp>
        <p:nvSpPr>
          <p:cNvPr id="39" name="TextBox 38"/>
          <p:cNvSpPr txBox="1"/>
          <p:nvPr/>
        </p:nvSpPr>
        <p:spPr>
          <a:xfrm>
            <a:off x="8308847" y="5614416"/>
            <a:ext cx="3697223" cy="603504"/>
          </a:xfrm>
          <a:prstGeom prst="rect">
            <a:avLst/>
          </a:prstGeom>
          <a:noFill/>
        </p:spPr>
        <p:txBody>
          <a:bodyPr wrap="square" tIns="0" bIns="0" lIns="0" rIns="0">
            <a:spAutoFit/>
          </a:bodyPr>
          <a:lstStyle/>
          <a:p>
            <a:pPr algn="ctr"/>
            <a:r>
              <a:rPr sz="3400" b="1">
                <a:solidFill>
                  <a:srgbClr val="FFFFFF"/>
                </a:solidFill>
                <a:latin typeface="Calibri"/>
              </a:rPr>
              <a:t>4</a:t>
            </a:r>
          </a:p>
        </p:txBody>
      </p:sp>
      <p:sp>
        <p:nvSpPr>
          <p:cNvPr id="40" name="TextBox 39"/>
          <p:cNvSpPr txBox="1"/>
          <p:nvPr/>
        </p:nvSpPr>
        <p:spPr>
          <a:xfrm>
            <a:off x="8263128" y="6272784"/>
            <a:ext cx="3788664" cy="502920"/>
          </a:xfrm>
          <a:prstGeom prst="rect">
            <a:avLst/>
          </a:prstGeom>
          <a:noFill/>
        </p:spPr>
        <p:txBody>
          <a:bodyPr wrap="square" tIns="0" bIns="0" lIns="0" rIns="0">
            <a:spAutoFit/>
          </a:bodyPr>
          <a:lstStyle/>
          <a:p>
            <a:pPr algn="ctr"/>
            <a:r>
              <a:rPr sz="900" b="0">
                <a:solidFill>
                  <a:srgbClr val="FFFFFF"/>
                </a:solidFill>
                <a:latin typeface="Calibri"/>
              </a:rPr>
              <a:t>Accelerates Industry .0 maturity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