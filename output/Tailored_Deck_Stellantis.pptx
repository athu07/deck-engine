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46.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4"/>
  </p:notesMasterIdLst>
  <p:sldIdLst>
    <p:sldId id="2147483328" r:id="rId2"/>
    <p:sldId id="2147483329" r:id="rId3"/>
    <p:sldId id="2147483330" r:id="rId4"/>
    <p:sldId id="2147483327" r:id="rId5"/>
    <p:sldId id="2147483332" r:id="rId6"/>
    <p:sldId id="2147483331" r:id="rId7"/>
    <p:sldId id="2147483431" r:id="rId19"/>
    <p:sldId id="2147483432" r:id="rId20"/>
    <p:sldId id="282" r:id="rId47"/>
    <p:sldId id="284" r:id="rId49"/>
    <p:sldId id="285" r:id="rId50"/>
    <p:sldId id="2147483305" r:id="rId8"/>
    <p:sldId id="299"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9984CD-E0AE-483E-8716-12DE2F9F24C4}" v="3" dt="2026-06-22T11:16:53.6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12.xml"/><Relationship Id="rId9" Type="http://schemas.openxmlformats.org/officeDocument/2006/relationships/slide" Target="slides/slide13.xml"/><Relationship Id="rId19" Type="http://schemas.openxmlformats.org/officeDocument/2006/relationships/slide" Target="slides/slide7.xml"/><Relationship Id="rId20" Type="http://schemas.openxmlformats.org/officeDocument/2006/relationships/slide" Target="slides/slide8.xml"/><Relationship Id="rId47" Type="http://schemas.openxmlformats.org/officeDocument/2006/relationships/slide" Target="slides/slide9.xml"/><Relationship Id="rId49" Type="http://schemas.openxmlformats.org/officeDocument/2006/relationships/slide" Target="slides/slide10.xml"/><Relationship Id="rId50" Type="http://schemas.openxmlformats.org/officeDocument/2006/relationships/slide" Target="slides/slide11.xml"/><Relationship Id="rId134" Type="http://schemas.openxmlformats.org/officeDocument/2006/relationships/notesMaster" Target="notesMasters/notesMaster1.xml"/><Relationship Id="rId135" Type="http://schemas.openxmlformats.org/officeDocument/2006/relationships/presProps" Target="presProps.xml"/><Relationship Id="rId136" Type="http://schemas.openxmlformats.org/officeDocument/2006/relationships/viewProps" Target="viewProps.xml"/><Relationship Id="rId137" Type="http://schemas.openxmlformats.org/officeDocument/2006/relationships/theme" Target="theme/theme1.xml"/><Relationship Id="rId138" Type="http://schemas.openxmlformats.org/officeDocument/2006/relationships/tableStyles" Target="tableStyles.xml"/><Relationship Id="rId139"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18319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J2W_ID: CS01</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CS02</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CS03</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CS04</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CS05</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9887589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CS06</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5710115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CS07</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CS08</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695518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CS18</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37733899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CS19</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2290097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CS46</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CS48</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CS49</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 Id="rId9" Type="http://schemas.openxmlformats.org/officeDocument/2006/relationships/image" Target="../media/image7.png"/><Relationship Id="rId10" Type="http://schemas.openxmlformats.org/officeDocument/2006/relationships/image" Target="../media/image8.png"/><Relationship Id="rId11" Type="http://schemas.openxmlformats.org/officeDocument/2006/relationships/image" Target="../media/image9.png"/><Relationship Id="rId12" Type="http://schemas.openxmlformats.org/officeDocument/2006/relationships/image" Target="../media/image10.png"/><Relationship Id="rId13" Type="http://schemas.openxmlformats.org/officeDocument/2006/relationships/image" Target="../media/image11.png"/><Relationship Id="rId14" Type="http://schemas.openxmlformats.org/officeDocument/2006/relationships/image" Target="../media/image12.png"/><Relationship Id="rId15" Type="http://schemas.openxmlformats.org/officeDocument/2006/relationships/image" Target="../media/image13.png"/><Relationship Id="rId16" Type="http://schemas.openxmlformats.org/officeDocument/2006/relationships/image" Target="../media/image14.png"/><Relationship Id="rId17" Type="http://schemas.openxmlformats.org/officeDocument/2006/relationships/image" Target="../media/image15.png"/><Relationship Id="rId18" Type="http://schemas.openxmlformats.org/officeDocument/2006/relationships/image" Target="../media/image16.png"/><Relationship Id="rId19" Type="http://schemas.openxmlformats.org/officeDocument/2006/relationships/image" Target="../media/image17.png"/><Relationship Id="rId20" Type="http://schemas.openxmlformats.org/officeDocument/2006/relationships/image" Target="../media/image18.jpeg"/><Relationship Id="rId21" Type="http://schemas.openxmlformats.org/officeDocument/2006/relationships/image" Target="../media/image19.jpeg"/><Relationship Id="rId22" Type="http://schemas.openxmlformats.org/officeDocument/2006/relationships/image" Target="../media/image20.png"/><Relationship Id="rId23" Type="http://schemas.openxmlformats.org/officeDocument/2006/relationships/image" Target="../media/image21.png"/><Relationship Id="rId24" Type="http://schemas.openxmlformats.org/officeDocument/2006/relationships/image" Target="../media/image2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jpeg"/><Relationship Id="rId6" Type="http://schemas.openxmlformats.org/officeDocument/2006/relationships/image" Target="../media/image32.png"/><Relationship Id="rId7" Type="http://schemas.openxmlformats.org/officeDocument/2006/relationships/image" Target="../media/image33.jpeg"/><Relationship Id="rId8" Type="http://schemas.openxmlformats.org/officeDocument/2006/relationships/image" Target="../media/image34.png"/><Relationship Id="rId9" Type="http://schemas.openxmlformats.org/officeDocument/2006/relationships/image" Target="../media/image3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3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39.png"/><Relationship Id="rId6" Type="http://schemas.openxmlformats.org/officeDocument/2006/relationships/image" Target="../media/image40.png"/><Relationship Id="rId7" Type="http://schemas.openxmlformats.org/officeDocument/2006/relationships/image" Target="../media/image41.png"/><Relationship Id="rId8" Type="http://schemas.openxmlformats.org/officeDocument/2006/relationships/image" Target="../media/image42.png"/><Relationship Id="rId9" Type="http://schemas.openxmlformats.org/officeDocument/2006/relationships/image" Target="../media/image43.png"/><Relationship Id="rId10" Type="http://schemas.openxmlformats.org/officeDocument/2006/relationships/image" Target="../media/image44.png"/><Relationship Id="rId11" Type="http://schemas.openxmlformats.org/officeDocument/2006/relationships/image" Target="../media/image45.png"/><Relationship Id="rId12" Type="http://schemas.openxmlformats.org/officeDocument/2006/relationships/image" Target="../media/image4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50.png"/><Relationship Id="rId11" Type="http://schemas.openxmlformats.org/officeDocument/2006/relationships/image" Target="../media/image51.png"/><Relationship Id="rId12" Type="http://schemas.openxmlformats.org/officeDocument/2006/relationships/image" Target="../media/image5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4.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122.png"/><Relationship Id="rId7" Type="http://schemas.openxmlformats.org/officeDocument/2006/relationships/image" Target="../media/image123.png"/><Relationship Id="rId8" Type="http://schemas.openxmlformats.org/officeDocument/2006/relationships/image" Target="../media/image124.png"/><Relationship Id="rId9" Type="http://schemas.openxmlformats.org/officeDocument/2006/relationships/image" Target="../media/image12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9.png"/><Relationship Id="rId4" Type="http://schemas.openxmlformats.org/officeDocument/2006/relationships/image" Target="../media/image126.png"/><Relationship Id="rId5" Type="http://schemas.openxmlformats.org/officeDocument/2006/relationships/image" Target="../media/image127.png"/><Relationship Id="rId6" Type="http://schemas.openxmlformats.org/officeDocument/2006/relationships/image" Target="../media/image128.png"/><Relationship Id="rId7" Type="http://schemas.openxmlformats.org/officeDocument/2006/relationships/image" Target="../media/image129.png"/><Relationship Id="rId8" Type="http://schemas.openxmlformats.org/officeDocument/2006/relationships/image" Target="../media/image130.png"/><Relationship Id="rId9" Type="http://schemas.openxmlformats.org/officeDocument/2006/relationships/image" Target="../media/image131.png"/><Relationship Id="rId10" Type="http://schemas.openxmlformats.org/officeDocument/2006/relationships/image" Target="../media/image132.png"/><Relationship Id="rId11" Type="http://schemas.openxmlformats.org/officeDocument/2006/relationships/image" Target="../media/image133.png"/><Relationship Id="rId12" Type="http://schemas.openxmlformats.org/officeDocument/2006/relationships/image" Target="../media/image134.png"/><Relationship Id="rId13" Type="http://schemas.openxmlformats.org/officeDocument/2006/relationships/image" Target="../media/image135.png"/><Relationship Id="rId14" Type="http://schemas.openxmlformats.org/officeDocument/2006/relationships/image" Target="../media/image34.png"/><Relationship Id="rId15" Type="http://schemas.openxmlformats.org/officeDocument/2006/relationships/image" Target="../media/image3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136.png"/><Relationship Id="rId4" Type="http://schemas.openxmlformats.org/officeDocument/2006/relationships/image" Target="../media/image13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136.png"/><Relationship Id="rId4" Type="http://schemas.openxmlformats.org/officeDocument/2006/relationships/image" Target="../media/image13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136.png"/><Relationship Id="rId4" Type="http://schemas.openxmlformats.org/officeDocument/2006/relationships/image" Target="../media/image13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5.png"/><Relationship Id="rId4" Type="http://schemas.openxmlformats.org/officeDocument/2006/relationships/image" Target="../media/image24.png"/><Relationship Id="rId5" Type="http://schemas.openxmlformats.org/officeDocument/2006/relationships/image" Target="../media/image53.png"/><Relationship Id="rId6" Type="http://schemas.openxmlformats.org/officeDocument/2006/relationships/image" Target="../media/image54.png"/><Relationship Id="rId7" Type="http://schemas.openxmlformats.org/officeDocument/2006/relationships/image" Target="../media/image55.png"/><Relationship Id="rId8" Type="http://schemas.openxmlformats.org/officeDocument/2006/relationships/image" Target="../media/image56.png"/><Relationship Id="rId9" Type="http://schemas.openxmlformats.org/officeDocument/2006/relationships/image" Target="../media/image57.png"/><Relationship Id="rId10" Type="http://schemas.openxmlformats.org/officeDocument/2006/relationships/image" Target="../media/image58.png"/><Relationship Id="rId11" Type="http://schemas.openxmlformats.org/officeDocument/2006/relationships/image" Target="../media/image59.png"/><Relationship Id="rId12" Type="http://schemas.openxmlformats.org/officeDocument/2006/relationships/image" Target="../media/image60.png"/><Relationship Id="rId13" Type="http://schemas.openxmlformats.org/officeDocument/2006/relationships/image" Target="../media/image61.png"/><Relationship Id="rId14" Type="http://schemas.openxmlformats.org/officeDocument/2006/relationships/image" Target="../media/image6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4.png"/><Relationship Id="rId6" Type="http://schemas.openxmlformats.org/officeDocument/2006/relationships/image" Target="../media/image63.png"/><Relationship Id="rId7" Type="http://schemas.openxmlformats.org/officeDocument/2006/relationships/image" Target="../media/image64.jpeg"/><Relationship Id="rId8" Type="http://schemas.openxmlformats.org/officeDocument/2006/relationships/image" Target="../media/image65.jpeg"/><Relationship Id="rId9" Type="http://schemas.openxmlformats.org/officeDocument/2006/relationships/image" Target="../media/image66.jpeg"/><Relationship Id="rId10" Type="http://schemas.openxmlformats.org/officeDocument/2006/relationships/image" Target="../media/image67.jpeg"/><Relationship Id="rId11" Type="http://schemas.openxmlformats.org/officeDocument/2006/relationships/image" Target="../media/image6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0F0"/>
          </a:solidFill>
          <a:ln w="12700">
            <a:solidFill>
              <a:srgbClr val="FFFFFF">
                <a:alpha val="0"/>
              </a:srgbClr>
            </a:solidFill>
            <a:prstDash val="solid"/>
          </a:ln>
        </p:spPr>
        <p:txBody>
          <a:bodyPr/>
          <a:lstStyle/>
          <a:p>
            <a:endParaRPr lang="en-US"/>
          </a:p>
        </p:txBody>
      </p:sp>
      <p:sp>
        <p:nvSpPr>
          <p:cNvPr id="3" name="Shape 1"/>
          <p:cNvSpPr/>
          <p:nvPr/>
        </p:nvSpPr>
        <p:spPr>
          <a:xfrm>
            <a:off x="305" y="0"/>
            <a:ext cx="12191695" cy="6858000"/>
          </a:xfrm>
          <a:prstGeom prst="rect">
            <a:avLst/>
          </a:prstGeom>
          <a:solidFill>
            <a:srgbClr val="FFFFFF"/>
          </a:solidFill>
          <a:ln w="12700">
            <a:solidFill>
              <a:srgbClr val="FFFFFF">
                <a:alpha val="0"/>
              </a:srgbClr>
            </a:solidFill>
            <a:prstDash val="solid"/>
          </a:ln>
        </p:spPr>
        <p:txBody>
          <a:bodyPr/>
          <a:lstStyle/>
          <a:p>
            <a:pPr algn="ctr"/>
            <a:endParaRPr lang="en-US"/>
          </a:p>
        </p:txBody>
      </p:sp>
      <p:pic>
        <p:nvPicPr>
          <p:cNvPr id="4" name="Image 0" descr="preencoded.png"/>
          <p:cNvPicPr>
            <a:picLocks noChangeAspect="1"/>
          </p:cNvPicPr>
          <p:nvPr/>
        </p:nvPicPr>
        <p:blipFill>
          <a:blip r:embed="rId3"/>
          <a:srcRect/>
          <a:stretch/>
        </p:blipFill>
        <p:spPr>
          <a:xfrm>
            <a:off x="9334195" y="0"/>
            <a:ext cx="2857500" cy="2857500"/>
          </a:xfrm>
          <a:prstGeom prst="rect">
            <a:avLst/>
          </a:prstGeom>
        </p:spPr>
      </p:pic>
      <p:sp>
        <p:nvSpPr>
          <p:cNvPr id="5" name="Shape 2"/>
          <p:cNvSpPr/>
          <p:nvPr/>
        </p:nvSpPr>
        <p:spPr>
          <a:xfrm>
            <a:off x="0" y="5905195"/>
            <a:ext cx="3810305" cy="952805"/>
          </a:xfrm>
          <a:custGeom>
            <a:avLst/>
            <a:gdLst/>
            <a:ahLst/>
            <a:cxnLst/>
            <a:rect l="l" t="t" r="r" b="b"/>
            <a:pathLst>
              <a:path w="3810305" h="952805">
                <a:moveTo>
                  <a:pt x="0" y="952805"/>
                </a:moveTo>
                <a:lnTo>
                  <a:pt x="3810305" y="952805"/>
                </a:lnTo>
                <a:lnTo>
                  <a:pt x="0" y="0"/>
                </a:lnTo>
                <a:close/>
              </a:path>
            </a:pathLst>
          </a:custGeom>
          <a:solidFill>
            <a:srgbClr val="D62839">
              <a:alpha val="3000"/>
            </a:srgbClr>
          </a:solidFill>
          <a:ln/>
        </p:spPr>
        <p:txBody>
          <a:bodyPr/>
          <a:lstStyle/>
          <a:p>
            <a:endParaRPr lang="en-US"/>
          </a:p>
        </p:txBody>
      </p:sp>
      <p:pic>
        <p:nvPicPr>
          <p:cNvPr id="6" name="Image 1" descr="preencoded.png"/>
          <p:cNvPicPr>
            <a:picLocks noChangeAspect="1"/>
          </p:cNvPicPr>
          <p:nvPr/>
        </p:nvPicPr>
        <p:blipFill>
          <a:blip r:embed="rId4"/>
          <a:srcRect l="-202" r="-202"/>
          <a:stretch/>
        </p:blipFill>
        <p:spPr>
          <a:xfrm>
            <a:off x="0" y="0"/>
            <a:ext cx="8128102" cy="75895"/>
          </a:xfrm>
          <a:prstGeom prst="rect">
            <a:avLst/>
          </a:prstGeom>
        </p:spPr>
      </p:pic>
      <p:pic>
        <p:nvPicPr>
          <p:cNvPr id="7" name="Image 2" descr="preencoded.png"/>
          <p:cNvPicPr>
            <a:picLocks noChangeAspect="1"/>
          </p:cNvPicPr>
          <p:nvPr/>
        </p:nvPicPr>
        <p:blipFill>
          <a:blip r:embed="rId5"/>
          <a:srcRect l="-197" r="-197"/>
          <a:stretch/>
        </p:blipFill>
        <p:spPr>
          <a:xfrm>
            <a:off x="8128102" y="0"/>
            <a:ext cx="4063594" cy="75895"/>
          </a:xfrm>
          <a:prstGeom prst="rect">
            <a:avLst/>
          </a:prstGeom>
        </p:spPr>
      </p:pic>
      <p:sp>
        <p:nvSpPr>
          <p:cNvPr id="8" name="Text 3"/>
          <p:cNvSpPr txBox="1"/>
          <p:nvPr/>
        </p:nvSpPr>
        <p:spPr>
          <a:xfrm>
            <a:off x="2774290" y="3881628"/>
            <a:ext cx="6648602" cy="267005"/>
          </a:xfrm>
          <a:prstGeom prst="rect">
            <a:avLst/>
          </a:prstGeom>
          <a:noFill/>
          <a:ln/>
        </p:spPr>
        <p:txBody>
          <a:bodyPr wrap="square" lIns="0" tIns="0" rIns="0" bIns="0" rtlCol="0" anchor="ctr"/>
          <a:lstStyle/>
          <a:p>
            <a:pPr marL="0" indent="0" algn="ctr">
              <a:buNone/>
            </a:pPr>
            <a:r>
              <a:rPr lang="en-US" sz="1500" b="1">
                <a:solidFill>
                  <a:srgbClr val="4B5563"/>
                </a:solidFill>
                <a:latin typeface="Roboto Condensed" pitchFamily="34" charset="0"/>
                <a:ea typeface="Roboto Condensed" pitchFamily="34" charset="-122"/>
                <a:cs typeface="Roboto Condensed" pitchFamily="34" charset="-120"/>
              </a:rPr>
              <a:t>BUSINESS DRIVERS| TECHNOLOGY ACCELERATORS | GAME CHANGERS</a:t>
            </a:r>
            <a:endParaRPr lang="en-US" sz="1200"/>
          </a:p>
        </p:txBody>
      </p:sp>
      <p:sp>
        <p:nvSpPr>
          <p:cNvPr id="9" name="Text 4"/>
          <p:cNvSpPr txBox="1"/>
          <p:nvPr/>
        </p:nvSpPr>
        <p:spPr>
          <a:xfrm>
            <a:off x="4153205" y="4262933"/>
            <a:ext cx="3893515" cy="305410"/>
          </a:xfrm>
          <a:prstGeom prst="rect">
            <a:avLst/>
          </a:prstGeom>
          <a:noFill/>
          <a:ln/>
        </p:spPr>
        <p:txBody>
          <a:bodyPr wrap="square" lIns="0" tIns="0" rIns="0" bIns="0" rtlCol="0" anchor="ctr"/>
          <a:lstStyle/>
          <a:p>
            <a:pPr marL="0" indent="0" algn="ctr">
              <a:buNone/>
            </a:pPr>
            <a:r>
              <a:rPr lang="en-US" sz="1800" i="1">
                <a:solidFill>
                  <a:srgbClr val="D62839"/>
                </a:solidFill>
                <a:latin typeface="Raleway" pitchFamily="34" charset="0"/>
                <a:ea typeface="Raleway" pitchFamily="34" charset="-122"/>
                <a:cs typeface="Raleway" pitchFamily="34" charset="-120"/>
              </a:rPr>
              <a:t>Energy. Excellence. Innovation.</a:t>
            </a:r>
            <a:endParaRPr lang="en-US" sz="1800"/>
          </a:p>
        </p:txBody>
      </p:sp>
      <p:pic>
        <p:nvPicPr>
          <p:cNvPr id="10" name="Image 3" descr="preencoded.png"/>
          <p:cNvPicPr>
            <a:picLocks noChangeAspect="1"/>
          </p:cNvPicPr>
          <p:nvPr/>
        </p:nvPicPr>
        <p:blipFill>
          <a:blip r:embed="rId6"/>
          <a:srcRect l="141" r="141"/>
          <a:stretch/>
        </p:blipFill>
        <p:spPr>
          <a:xfrm>
            <a:off x="4629607" y="447142"/>
            <a:ext cx="2933395" cy="1419149"/>
          </a:xfrm>
          <a:prstGeom prst="rect">
            <a:avLst/>
          </a:prstGeom>
        </p:spPr>
      </p:pic>
      <p:sp>
        <p:nvSpPr>
          <p:cNvPr id="11" name="Text 5"/>
          <p:cNvSpPr txBox="1"/>
          <p:nvPr/>
        </p:nvSpPr>
        <p:spPr>
          <a:xfrm>
            <a:off x="1287018" y="2262226"/>
            <a:ext cx="9475927" cy="1143000"/>
          </a:xfrm>
          <a:prstGeom prst="rect">
            <a:avLst/>
          </a:prstGeom>
          <a:noFill/>
          <a:ln/>
        </p:spPr>
        <p:txBody>
          <a:bodyPr wrap="square" lIns="0" tIns="0" rIns="0" bIns="0" rtlCol="0" anchor="ctr"/>
          <a:lstStyle/>
          <a:p>
            <a:pPr marL="0" indent="0" algn="ctr">
              <a:buNone/>
            </a:pPr>
            <a:r>
              <a:rPr lang="en-US" sz="3600" b="1" dirty="0">
                <a:solidFill>
                  <a:srgbClr val="1F2937"/>
                </a:solidFill>
                <a:latin typeface="Oswald" pitchFamily="34" charset="0"/>
                <a:ea typeface="Oswald" pitchFamily="34" charset="-122"/>
                <a:cs typeface="Oswald" pitchFamily="34" charset="-120"/>
              </a:rPr>
              <a:t> Building the Enterprise Operating Model​</a:t>
            </a:r>
          </a:p>
          <a:p>
            <a:pPr marL="0" indent="0" algn="ctr">
              <a:buNone/>
            </a:pPr>
            <a:r>
              <a:rPr lang="en-US" sz="3600" b="1" dirty="0">
                <a:solidFill>
                  <a:srgbClr val="1F2937"/>
                </a:solidFill>
                <a:latin typeface="Oswald" pitchFamily="34" charset="0"/>
                <a:ea typeface="Oswald" pitchFamily="34" charset="-122"/>
                <a:cs typeface="Oswald" pitchFamily="34" charset="-120"/>
              </a:rPr>
              <a:t>for the Next Decade​</a:t>
            </a:r>
          </a:p>
        </p:txBody>
      </p:sp>
      <p:pic>
        <p:nvPicPr>
          <p:cNvPr id="12" name="Image 4" descr="preencoded.png"/>
          <p:cNvPicPr>
            <a:picLocks noChangeAspect="1"/>
          </p:cNvPicPr>
          <p:nvPr/>
        </p:nvPicPr>
        <p:blipFill>
          <a:blip r:embed="rId7"/>
          <a:srcRect t="-400" b="-400"/>
          <a:stretch/>
        </p:blipFill>
        <p:spPr>
          <a:xfrm>
            <a:off x="5639105" y="3596335"/>
            <a:ext cx="914400" cy="57607"/>
          </a:xfrm>
          <a:prstGeom prst="rect">
            <a:avLst/>
          </a:prstGeom>
        </p:spPr>
      </p:pic>
      <p:sp>
        <p:nvSpPr>
          <p:cNvPr id="13" name="Shape 6"/>
          <p:cNvSpPr/>
          <p:nvPr/>
        </p:nvSpPr>
        <p:spPr>
          <a:xfrm>
            <a:off x="0" y="5238598"/>
            <a:ext cx="12191695" cy="1619402"/>
          </a:xfrm>
          <a:prstGeom prst="rect">
            <a:avLst/>
          </a:prstGeom>
          <a:solidFill>
            <a:srgbClr val="F9FAFB"/>
          </a:solidFill>
          <a:ln/>
        </p:spPr>
        <p:txBody>
          <a:bodyPr/>
          <a:lstStyle/>
          <a:p>
            <a:endParaRPr lang="en-US"/>
          </a:p>
        </p:txBody>
      </p:sp>
      <p:sp>
        <p:nvSpPr>
          <p:cNvPr id="14" name="Shape 7"/>
          <p:cNvSpPr/>
          <p:nvPr/>
        </p:nvSpPr>
        <p:spPr>
          <a:xfrm>
            <a:off x="0" y="5238598"/>
            <a:ext cx="12191695" cy="9144"/>
          </a:xfrm>
          <a:prstGeom prst="rect">
            <a:avLst/>
          </a:prstGeom>
          <a:solidFill>
            <a:srgbClr val="E5E7EB"/>
          </a:solidFill>
          <a:ln w="12700">
            <a:solidFill>
              <a:srgbClr val="E5E7EB">
                <a:alpha val="0"/>
              </a:srgbClr>
            </a:solidFill>
            <a:prstDash val="solid"/>
          </a:ln>
        </p:spPr>
        <p:txBody>
          <a:bodyPr/>
          <a:lstStyle/>
          <a:p>
            <a:endParaRPr lang="en-US"/>
          </a:p>
        </p:txBody>
      </p:sp>
      <p:sp>
        <p:nvSpPr>
          <p:cNvPr id="15" name="Shape 8"/>
          <p:cNvSpPr/>
          <p:nvPr/>
        </p:nvSpPr>
        <p:spPr>
          <a:xfrm>
            <a:off x="10201961" y="5362956"/>
            <a:ext cx="9144" cy="1380744"/>
          </a:xfrm>
          <a:prstGeom prst="rect">
            <a:avLst/>
          </a:prstGeom>
          <a:solidFill>
            <a:srgbClr val="D1D5DB"/>
          </a:solidFill>
          <a:ln w="12700">
            <a:solidFill>
              <a:srgbClr val="D1D5DB">
                <a:alpha val="0"/>
              </a:srgbClr>
            </a:solidFill>
            <a:prstDash val="solid"/>
          </a:ln>
        </p:spPr>
        <p:txBody>
          <a:bodyPr/>
          <a:lstStyle/>
          <a:p>
            <a:endParaRPr lang="en-US"/>
          </a:p>
        </p:txBody>
      </p:sp>
      <p:sp>
        <p:nvSpPr>
          <p:cNvPr id="16" name="Text 9"/>
          <p:cNvSpPr txBox="1"/>
          <p:nvPr/>
        </p:nvSpPr>
        <p:spPr>
          <a:xfrm>
            <a:off x="457200" y="5362956"/>
            <a:ext cx="9630461" cy="191110"/>
          </a:xfrm>
          <a:prstGeom prst="rect">
            <a:avLst/>
          </a:prstGeom>
          <a:noFill/>
          <a:ln/>
        </p:spPr>
        <p:txBody>
          <a:bodyPr wrap="square" lIns="0" tIns="0" rIns="0" bIns="0" rtlCol="0" anchor="ctr"/>
          <a:lstStyle/>
          <a:p>
            <a:pPr marL="0" indent="0" algn="l">
              <a:buNone/>
            </a:pPr>
            <a:r>
              <a:rPr lang="en-US" sz="1000" b="1" kern="0" spc="52">
                <a:solidFill>
                  <a:srgbClr val="2A9D8F"/>
                </a:solidFill>
                <a:latin typeface="Roboto Condensed" pitchFamily="34" charset="0"/>
                <a:ea typeface="Roboto Condensed" pitchFamily="34" charset="-122"/>
                <a:cs typeface="Roboto Condensed" pitchFamily="34" charset="-120"/>
              </a:rPr>
              <a:t>Trusted by:</a:t>
            </a:r>
            <a:endParaRPr lang="en-US" sz="1000"/>
          </a:p>
        </p:txBody>
      </p:sp>
      <p:sp>
        <p:nvSpPr>
          <p:cNvPr id="17" name="Shape 10"/>
          <p:cNvSpPr/>
          <p:nvPr/>
        </p:nvSpPr>
        <p:spPr>
          <a:xfrm>
            <a:off x="10362895" y="5605272"/>
            <a:ext cx="1371600" cy="247802"/>
          </a:xfrm>
          <a:prstGeom prst="roundRect">
            <a:avLst>
              <a:gd name="adj" fmla="val 369004"/>
            </a:avLst>
          </a:prstGeom>
          <a:solidFill>
            <a:srgbClr val="FFFFFF"/>
          </a:solidFill>
          <a:ln w="12700">
            <a:solidFill>
              <a:srgbClr val="E5E7EB"/>
            </a:solidFill>
            <a:prstDash val="solid"/>
          </a:ln>
        </p:spPr>
        <p:txBody>
          <a:bodyPr/>
          <a:lstStyle/>
          <a:p>
            <a:endParaRPr lang="en-US"/>
          </a:p>
        </p:txBody>
      </p:sp>
      <p:pic>
        <p:nvPicPr>
          <p:cNvPr id="18" name="Image 5" descr="preencoded.png"/>
          <p:cNvPicPr>
            <a:picLocks noChangeAspect="1"/>
          </p:cNvPicPr>
          <p:nvPr/>
        </p:nvPicPr>
        <p:blipFill>
          <a:blip r:embed="rId8"/>
          <a:srcRect/>
          <a:stretch/>
        </p:blipFill>
        <p:spPr>
          <a:xfrm>
            <a:off x="10577779" y="5672023"/>
            <a:ext cx="114300" cy="114300"/>
          </a:xfrm>
          <a:prstGeom prst="rect">
            <a:avLst/>
          </a:prstGeom>
        </p:spPr>
      </p:pic>
      <p:sp>
        <p:nvSpPr>
          <p:cNvPr id="19" name="Text 11"/>
          <p:cNvSpPr txBox="1"/>
          <p:nvPr/>
        </p:nvSpPr>
        <p:spPr>
          <a:xfrm>
            <a:off x="10767974" y="5605272"/>
            <a:ext cx="810158" cy="247802"/>
          </a:xfrm>
          <a:prstGeom prst="rect">
            <a:avLst/>
          </a:prstGeom>
          <a:noFill/>
          <a:ln/>
        </p:spPr>
        <p:txBody>
          <a:bodyPr wrap="square" lIns="0" tIns="0" rIns="0" bIns="0" rtlCol="0" anchor="ctr"/>
          <a:lstStyle/>
          <a:p>
            <a:pPr marL="0" indent="0" algn="l">
              <a:buNone/>
            </a:pPr>
            <a:r>
              <a:rPr lang="en-US" sz="900" b="1">
                <a:solidFill>
                  <a:srgbClr val="4B5563"/>
                </a:solidFill>
                <a:latin typeface="Raleway" pitchFamily="34" charset="0"/>
                <a:ea typeface="Raleway" pitchFamily="34" charset="-122"/>
                <a:cs typeface="Raleway" pitchFamily="34" charset="-120"/>
              </a:rPr>
              <a:t>ISO 9001:2015</a:t>
            </a:r>
            <a:endParaRPr lang="en-US" sz="900"/>
          </a:p>
        </p:txBody>
      </p:sp>
      <p:sp>
        <p:nvSpPr>
          <p:cNvPr id="20" name="Shape 12"/>
          <p:cNvSpPr/>
          <p:nvPr/>
        </p:nvSpPr>
        <p:spPr>
          <a:xfrm>
            <a:off x="10362895" y="5928970"/>
            <a:ext cx="1371600" cy="247802"/>
          </a:xfrm>
          <a:prstGeom prst="roundRect">
            <a:avLst>
              <a:gd name="adj" fmla="val 369004"/>
            </a:avLst>
          </a:prstGeom>
          <a:solidFill>
            <a:srgbClr val="FFFFFF"/>
          </a:solidFill>
          <a:ln w="12700">
            <a:solidFill>
              <a:srgbClr val="E5E7EB"/>
            </a:solidFill>
            <a:prstDash val="solid"/>
          </a:ln>
        </p:spPr>
        <p:txBody>
          <a:bodyPr/>
          <a:lstStyle/>
          <a:p>
            <a:endParaRPr lang="en-US"/>
          </a:p>
        </p:txBody>
      </p:sp>
      <p:pic>
        <p:nvPicPr>
          <p:cNvPr id="21" name="Image 6" descr="preencoded.png"/>
          <p:cNvPicPr>
            <a:picLocks noChangeAspect="1"/>
          </p:cNvPicPr>
          <p:nvPr/>
        </p:nvPicPr>
        <p:blipFill>
          <a:blip r:embed="rId9"/>
          <a:srcRect/>
          <a:stretch/>
        </p:blipFill>
        <p:spPr>
          <a:xfrm>
            <a:off x="10554919" y="5995721"/>
            <a:ext cx="114300" cy="114300"/>
          </a:xfrm>
          <a:prstGeom prst="rect">
            <a:avLst/>
          </a:prstGeom>
        </p:spPr>
      </p:pic>
      <p:sp>
        <p:nvSpPr>
          <p:cNvPr id="22" name="Text 13"/>
          <p:cNvSpPr txBox="1"/>
          <p:nvPr/>
        </p:nvSpPr>
        <p:spPr>
          <a:xfrm>
            <a:off x="10745114" y="5928970"/>
            <a:ext cx="857707" cy="247802"/>
          </a:xfrm>
          <a:prstGeom prst="rect">
            <a:avLst/>
          </a:prstGeom>
          <a:noFill/>
          <a:ln/>
        </p:spPr>
        <p:txBody>
          <a:bodyPr wrap="square" lIns="0" tIns="0" rIns="0" bIns="0" rtlCol="0" anchor="ctr"/>
          <a:lstStyle/>
          <a:p>
            <a:pPr marL="0" indent="0" algn="l">
              <a:buNone/>
            </a:pPr>
            <a:r>
              <a:rPr lang="en-US" sz="900" b="1">
                <a:solidFill>
                  <a:srgbClr val="4B5563"/>
                </a:solidFill>
                <a:latin typeface="Raleway" pitchFamily="34" charset="0"/>
                <a:ea typeface="Raleway" pitchFamily="34" charset="-122"/>
                <a:cs typeface="Raleway" pitchFamily="34" charset="-120"/>
              </a:rPr>
              <a:t>CMMI Certified</a:t>
            </a:r>
            <a:endParaRPr lang="en-US" sz="900"/>
          </a:p>
        </p:txBody>
      </p:sp>
      <p:sp>
        <p:nvSpPr>
          <p:cNvPr id="23" name="Shape 14"/>
          <p:cNvSpPr/>
          <p:nvPr/>
        </p:nvSpPr>
        <p:spPr>
          <a:xfrm>
            <a:off x="10362895" y="6253582"/>
            <a:ext cx="1371600" cy="247802"/>
          </a:xfrm>
          <a:prstGeom prst="roundRect">
            <a:avLst>
              <a:gd name="adj" fmla="val 369004"/>
            </a:avLst>
          </a:prstGeom>
          <a:solidFill>
            <a:srgbClr val="FFFFFF"/>
          </a:solidFill>
          <a:ln w="12700">
            <a:solidFill>
              <a:srgbClr val="E5E7EB"/>
            </a:solidFill>
            <a:prstDash val="solid"/>
          </a:ln>
        </p:spPr>
        <p:txBody>
          <a:bodyPr/>
          <a:lstStyle/>
          <a:p>
            <a:endParaRPr lang="en-US"/>
          </a:p>
        </p:txBody>
      </p:sp>
      <p:pic>
        <p:nvPicPr>
          <p:cNvPr id="24" name="Image 7" descr="preencoded.png"/>
          <p:cNvPicPr>
            <a:picLocks noChangeAspect="1"/>
          </p:cNvPicPr>
          <p:nvPr/>
        </p:nvPicPr>
        <p:blipFill>
          <a:blip r:embed="rId10"/>
          <a:srcRect l="-133" r="-133"/>
          <a:stretch/>
        </p:blipFill>
        <p:spPr>
          <a:xfrm>
            <a:off x="10537546" y="6319418"/>
            <a:ext cx="85954" cy="114300"/>
          </a:xfrm>
          <a:prstGeom prst="rect">
            <a:avLst/>
          </a:prstGeom>
        </p:spPr>
      </p:pic>
      <p:sp>
        <p:nvSpPr>
          <p:cNvPr id="25" name="Text 15"/>
          <p:cNvSpPr txBox="1"/>
          <p:nvPr/>
        </p:nvSpPr>
        <p:spPr>
          <a:xfrm>
            <a:off x="10699394" y="6253582"/>
            <a:ext cx="924458" cy="247802"/>
          </a:xfrm>
          <a:prstGeom prst="rect">
            <a:avLst/>
          </a:prstGeom>
          <a:noFill/>
          <a:ln/>
        </p:spPr>
        <p:txBody>
          <a:bodyPr wrap="square" lIns="0" tIns="0" rIns="0" bIns="0" rtlCol="0" anchor="ctr"/>
          <a:lstStyle/>
          <a:p>
            <a:pPr marL="0" indent="0" algn="l">
              <a:buNone/>
            </a:pPr>
            <a:r>
              <a:rPr lang="en-US" sz="900" b="1">
                <a:solidFill>
                  <a:srgbClr val="4B5563"/>
                </a:solidFill>
                <a:latin typeface="Raleway" pitchFamily="34" charset="0"/>
                <a:ea typeface="Raleway" pitchFamily="34" charset="-122"/>
                <a:cs typeface="Raleway" pitchFamily="34" charset="-120"/>
              </a:rPr>
              <a:t>Women-Owned</a:t>
            </a:r>
            <a:endParaRPr lang="en-US" sz="900"/>
          </a:p>
        </p:txBody>
      </p:sp>
      <p:pic>
        <p:nvPicPr>
          <p:cNvPr id="26" name="Image 8" descr="preencoded.png"/>
          <p:cNvPicPr>
            <a:picLocks noChangeAspect="1"/>
          </p:cNvPicPr>
          <p:nvPr/>
        </p:nvPicPr>
        <p:blipFill>
          <a:blip r:embed="rId11">
            <a:alphaModFix amt="90000"/>
          </a:blip>
          <a:srcRect/>
          <a:stretch/>
        </p:blipFill>
        <p:spPr>
          <a:xfrm>
            <a:off x="457200" y="5700370"/>
            <a:ext cx="428854" cy="428854"/>
          </a:xfrm>
          <a:prstGeom prst="rect">
            <a:avLst/>
          </a:prstGeom>
        </p:spPr>
      </p:pic>
      <p:pic>
        <p:nvPicPr>
          <p:cNvPr id="27" name="Image 9" descr="preencoded.png"/>
          <p:cNvPicPr>
            <a:picLocks noChangeAspect="1"/>
          </p:cNvPicPr>
          <p:nvPr/>
        </p:nvPicPr>
        <p:blipFill>
          <a:blip r:embed="rId12">
            <a:alphaModFix amt="90000"/>
          </a:blip>
          <a:srcRect l="2016" r="2016"/>
          <a:stretch/>
        </p:blipFill>
        <p:spPr>
          <a:xfrm>
            <a:off x="1578254" y="5805526"/>
            <a:ext cx="1143000" cy="228600"/>
          </a:xfrm>
          <a:prstGeom prst="rect">
            <a:avLst/>
          </a:prstGeom>
        </p:spPr>
      </p:pic>
      <p:pic>
        <p:nvPicPr>
          <p:cNvPr id="28" name="Image 10" descr="preencoded.png"/>
          <p:cNvPicPr>
            <a:picLocks noChangeAspect="1"/>
          </p:cNvPicPr>
          <p:nvPr/>
        </p:nvPicPr>
        <p:blipFill>
          <a:blip r:embed="rId13">
            <a:alphaModFix amt="90000"/>
          </a:blip>
          <a:srcRect t="569" b="569"/>
          <a:stretch/>
        </p:blipFill>
        <p:spPr>
          <a:xfrm>
            <a:off x="3413455" y="5639105"/>
            <a:ext cx="838505" cy="552298"/>
          </a:xfrm>
          <a:prstGeom prst="rect">
            <a:avLst/>
          </a:prstGeom>
        </p:spPr>
      </p:pic>
      <p:pic>
        <p:nvPicPr>
          <p:cNvPr id="29" name="Image 11" descr="preencoded.png"/>
          <p:cNvPicPr>
            <a:picLocks noChangeAspect="1"/>
          </p:cNvPicPr>
          <p:nvPr/>
        </p:nvPicPr>
        <p:blipFill>
          <a:blip r:embed="rId14">
            <a:alphaModFix amt="90000"/>
          </a:blip>
          <a:srcRect t="563" b="563"/>
          <a:stretch/>
        </p:blipFill>
        <p:spPr>
          <a:xfrm>
            <a:off x="4935017" y="5648249"/>
            <a:ext cx="809244" cy="533095"/>
          </a:xfrm>
          <a:prstGeom prst="rect">
            <a:avLst/>
          </a:prstGeom>
        </p:spPr>
      </p:pic>
      <p:pic>
        <p:nvPicPr>
          <p:cNvPr id="30" name="Image 12" descr="preencoded.png"/>
          <p:cNvPicPr>
            <a:picLocks noChangeAspect="1"/>
          </p:cNvPicPr>
          <p:nvPr/>
        </p:nvPicPr>
        <p:blipFill>
          <a:blip r:embed="rId15">
            <a:alphaModFix amt="90000"/>
          </a:blip>
          <a:srcRect t="267" b="267"/>
          <a:stretch/>
        </p:blipFill>
        <p:spPr>
          <a:xfrm>
            <a:off x="6427318" y="5648249"/>
            <a:ext cx="952805" cy="533095"/>
          </a:xfrm>
          <a:prstGeom prst="rect">
            <a:avLst/>
          </a:prstGeom>
        </p:spPr>
      </p:pic>
      <p:pic>
        <p:nvPicPr>
          <p:cNvPr id="31" name="Image 13" descr="preencoded.png"/>
          <p:cNvPicPr>
            <a:picLocks noChangeAspect="1"/>
          </p:cNvPicPr>
          <p:nvPr/>
        </p:nvPicPr>
        <p:blipFill>
          <a:blip r:embed="rId16">
            <a:alphaModFix amt="90000"/>
          </a:blip>
          <a:srcRect/>
          <a:stretch/>
        </p:blipFill>
        <p:spPr>
          <a:xfrm>
            <a:off x="8067751" y="5662879"/>
            <a:ext cx="504749" cy="504749"/>
          </a:xfrm>
          <a:prstGeom prst="rect">
            <a:avLst/>
          </a:prstGeom>
        </p:spPr>
      </p:pic>
      <p:pic>
        <p:nvPicPr>
          <p:cNvPr id="32" name="Image 14" descr="preencoded.png"/>
          <p:cNvPicPr>
            <a:picLocks noChangeAspect="1"/>
          </p:cNvPicPr>
          <p:nvPr/>
        </p:nvPicPr>
        <p:blipFill>
          <a:blip r:embed="rId17">
            <a:alphaModFix amt="90000"/>
          </a:blip>
          <a:srcRect t="525" b="525"/>
          <a:stretch/>
        </p:blipFill>
        <p:spPr>
          <a:xfrm>
            <a:off x="9265615" y="5662879"/>
            <a:ext cx="714146" cy="504749"/>
          </a:xfrm>
          <a:prstGeom prst="rect">
            <a:avLst/>
          </a:prstGeom>
        </p:spPr>
      </p:pic>
      <p:pic>
        <p:nvPicPr>
          <p:cNvPr id="33" name="Image 15" descr="preencoded.png"/>
          <p:cNvPicPr>
            <a:picLocks noChangeAspect="1"/>
          </p:cNvPicPr>
          <p:nvPr/>
        </p:nvPicPr>
        <p:blipFill>
          <a:blip r:embed="rId18">
            <a:alphaModFix amt="90000"/>
          </a:blip>
          <a:srcRect l="688" r="688"/>
          <a:stretch/>
        </p:blipFill>
        <p:spPr>
          <a:xfrm>
            <a:off x="457200" y="6445606"/>
            <a:ext cx="1067105" cy="190195"/>
          </a:xfrm>
          <a:prstGeom prst="rect">
            <a:avLst/>
          </a:prstGeom>
        </p:spPr>
      </p:pic>
      <p:pic>
        <p:nvPicPr>
          <p:cNvPr id="34" name="Image 16" descr="preencoded.png"/>
          <p:cNvPicPr>
            <a:picLocks noChangeAspect="1"/>
          </p:cNvPicPr>
          <p:nvPr/>
        </p:nvPicPr>
        <p:blipFill>
          <a:blip r:embed="rId19">
            <a:alphaModFix amt="90000"/>
          </a:blip>
          <a:srcRect l="960" r="960"/>
          <a:stretch/>
        </p:blipFill>
        <p:spPr>
          <a:xfrm>
            <a:off x="2056486" y="6390742"/>
            <a:ext cx="1466698" cy="304495"/>
          </a:xfrm>
          <a:prstGeom prst="rect">
            <a:avLst/>
          </a:prstGeom>
        </p:spPr>
      </p:pic>
      <p:pic>
        <p:nvPicPr>
          <p:cNvPr id="35" name="Image 17" descr="preencoded.png"/>
          <p:cNvPicPr>
            <a:picLocks noChangeAspect="1"/>
          </p:cNvPicPr>
          <p:nvPr/>
        </p:nvPicPr>
        <p:blipFill>
          <a:blip r:embed="rId20">
            <a:alphaModFix amt="90000"/>
          </a:blip>
          <a:srcRect t="311" b="311"/>
          <a:stretch/>
        </p:blipFill>
        <p:spPr>
          <a:xfrm>
            <a:off x="4055364" y="6325819"/>
            <a:ext cx="828446" cy="428854"/>
          </a:xfrm>
          <a:prstGeom prst="rect">
            <a:avLst/>
          </a:prstGeom>
        </p:spPr>
      </p:pic>
      <p:pic>
        <p:nvPicPr>
          <p:cNvPr id="36" name="Image 18" descr="preencoded.png"/>
          <p:cNvPicPr>
            <a:picLocks noChangeAspect="1"/>
          </p:cNvPicPr>
          <p:nvPr/>
        </p:nvPicPr>
        <p:blipFill>
          <a:blip r:embed="rId21">
            <a:alphaModFix amt="90000"/>
          </a:blip>
          <a:srcRect t="385" b="385"/>
          <a:stretch/>
        </p:blipFill>
        <p:spPr>
          <a:xfrm>
            <a:off x="5410505" y="6325819"/>
            <a:ext cx="771754" cy="428854"/>
          </a:xfrm>
          <a:prstGeom prst="rect">
            <a:avLst/>
          </a:prstGeom>
        </p:spPr>
      </p:pic>
      <p:pic>
        <p:nvPicPr>
          <p:cNvPr id="37" name="Image 19" descr="preencoded.png"/>
          <p:cNvPicPr>
            <a:picLocks noChangeAspect="1"/>
          </p:cNvPicPr>
          <p:nvPr/>
        </p:nvPicPr>
        <p:blipFill>
          <a:blip r:embed="rId22">
            <a:alphaModFix amt="90000"/>
          </a:blip>
          <a:srcRect/>
          <a:stretch/>
        </p:blipFill>
        <p:spPr>
          <a:xfrm>
            <a:off x="6708038" y="6325819"/>
            <a:ext cx="428854" cy="428854"/>
          </a:xfrm>
          <a:prstGeom prst="rect">
            <a:avLst/>
          </a:prstGeom>
        </p:spPr>
      </p:pic>
      <p:pic>
        <p:nvPicPr>
          <p:cNvPr id="38" name="Image 20" descr="preencoded.png"/>
          <p:cNvPicPr>
            <a:picLocks noChangeAspect="1"/>
          </p:cNvPicPr>
          <p:nvPr/>
        </p:nvPicPr>
        <p:blipFill>
          <a:blip r:embed="rId23">
            <a:alphaModFix amt="90000"/>
          </a:blip>
          <a:srcRect t="77" b="77"/>
          <a:stretch/>
        </p:blipFill>
        <p:spPr>
          <a:xfrm>
            <a:off x="7669073" y="6368796"/>
            <a:ext cx="629107" cy="342900"/>
          </a:xfrm>
          <a:prstGeom prst="rect">
            <a:avLst/>
          </a:prstGeom>
        </p:spPr>
      </p:pic>
      <p:pic>
        <p:nvPicPr>
          <p:cNvPr id="39" name="Image 21" descr="preencoded.png"/>
          <p:cNvPicPr>
            <a:picLocks noChangeAspect="1"/>
          </p:cNvPicPr>
          <p:nvPr/>
        </p:nvPicPr>
        <p:blipFill>
          <a:blip r:embed="rId24">
            <a:alphaModFix amt="90000"/>
          </a:blip>
          <a:srcRect l="1712" r="1712"/>
          <a:stretch/>
        </p:blipFill>
        <p:spPr>
          <a:xfrm>
            <a:off x="8829446" y="6420002"/>
            <a:ext cx="1143000" cy="24780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2"/>
          <p:cNvSpPr/>
          <p:nvPr/>
        </p:nvSpPr>
        <p:spPr>
          <a:xfrm>
            <a:off x="8953805" y="-571500"/>
            <a:ext cx="3810305" cy="3810305"/>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5" name="Image 0" descr="gen-dedup-5e765734fa6996e94526269805e72083.png"/>
          <p:cNvPicPr>
            <a:picLocks noChangeAspect="1"/>
          </p:cNvPicPr>
          <p:nvPr/>
        </p:nvPicPr>
        <p:blipFill>
          <a:blip r:embed="rId3">
            <a:alphaModFix amt="8000"/>
          </a:blip>
          <a:srcRect/>
          <a:stretch/>
        </p:blipFill>
        <p:spPr>
          <a:xfrm>
            <a:off x="-381305" y="3715207"/>
            <a:ext cx="2381098" cy="2381098"/>
          </a:xfrm>
          <a:prstGeom prst="rect">
            <a:avLst/>
          </a:prstGeom>
        </p:spPr>
      </p:pic>
      <p:pic>
        <p:nvPicPr>
          <p:cNvPr id="6" name="Image 1" descr="gen-dedup-323228122ff92d2332e711a84ca3b40c.png"/>
          <p:cNvPicPr>
            <a:picLocks noChangeAspect="1"/>
          </p:cNvPicPr>
          <p:nvPr/>
        </p:nvPicPr>
        <p:blipFill>
          <a:blip r:embed="rId4"/>
          <a:srcRect l="-198" r="-198"/>
          <a:stretch/>
        </p:blipFill>
        <p:spPr>
          <a:xfrm>
            <a:off x="0" y="0"/>
            <a:ext cx="8124444" cy="75895"/>
          </a:xfrm>
          <a:prstGeom prst="rect">
            <a:avLst/>
          </a:prstGeom>
        </p:spPr>
      </p:pic>
      <p:pic>
        <p:nvPicPr>
          <p:cNvPr id="7" name="Image 2" descr="gen-dedup-9663ecf744b06e35d4c2cebaab92a2ea.png"/>
          <p:cNvPicPr>
            <a:picLocks noChangeAspect="1"/>
          </p:cNvPicPr>
          <p:nvPr/>
        </p:nvPicPr>
        <p:blipFill>
          <a:blip r:embed="rId5"/>
          <a:srcRect l="-202" r="-202"/>
          <a:stretch/>
        </p:blipFill>
        <p:spPr>
          <a:xfrm>
            <a:off x="8124444" y="0"/>
            <a:ext cx="4067251" cy="75895"/>
          </a:xfrm>
          <a:prstGeom prst="rect">
            <a:avLst/>
          </a:prstGeom>
        </p:spPr>
      </p:pic>
      <p:pic>
        <p:nvPicPr>
          <p:cNvPr id="8" name="Image 3" descr="gen-dedup-ef527bea2207a14ec6e8d4c8ae9cdc45.png"/>
          <p:cNvPicPr>
            <a:picLocks noChangeAspect="1"/>
          </p:cNvPicPr>
          <p:nvPr/>
        </p:nvPicPr>
        <p:blipFill>
          <a:blip r:embed="rId6"/>
          <a:srcRect l="-384" r="-384"/>
          <a:stretch/>
        </p:blipFill>
        <p:spPr>
          <a:xfrm>
            <a:off x="609905" y="513893"/>
            <a:ext cx="57607" cy="476402"/>
          </a:xfrm>
          <a:prstGeom prst="rect">
            <a:avLst/>
          </a:prstGeom>
        </p:spPr>
      </p:pic>
      <p:sp>
        <p:nvSpPr>
          <p:cNvPr id="9" name="Shape 3"/>
          <p:cNvSpPr/>
          <p:nvPr/>
        </p:nvSpPr>
        <p:spPr>
          <a:xfrm>
            <a:off x="609905" y="1387090"/>
            <a:ext cx="10972190" cy="1450129"/>
          </a:xfrm>
          <a:prstGeom prst="roundRect">
            <a:avLst>
              <a:gd name="adj" fmla="val 2853"/>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0" name="Shape 4"/>
          <p:cNvSpPr/>
          <p:nvPr/>
        </p:nvSpPr>
        <p:spPr>
          <a:xfrm>
            <a:off x="609905" y="1387090"/>
            <a:ext cx="47549" cy="1450129"/>
          </a:xfrm>
          <a:prstGeom prst="roundRect">
            <a:avLst>
              <a:gd name="adj" fmla="val 132625"/>
            </a:avLst>
          </a:prstGeom>
          <a:solidFill>
            <a:srgbClr val="111827"/>
          </a:solidFill>
          <a:ln w="12700">
            <a:solidFill>
              <a:srgbClr val="111827">
                <a:alpha val="0"/>
              </a:srgbClr>
            </a:solidFill>
            <a:prstDash val="solid"/>
          </a:ln>
        </p:spPr>
        <p:txBody>
          <a:bodyPr/>
          <a:lstStyle/>
          <a:p>
            <a:endParaRPr lang="en-US"/>
          </a:p>
        </p:txBody>
      </p:sp>
      <p:sp>
        <p:nvSpPr>
          <p:cNvPr id="11" name="Shape 5"/>
          <p:cNvSpPr/>
          <p:nvPr/>
        </p:nvSpPr>
        <p:spPr>
          <a:xfrm>
            <a:off x="609905" y="3238805"/>
            <a:ext cx="3448202"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2" name="Shape 6"/>
          <p:cNvSpPr/>
          <p:nvPr/>
        </p:nvSpPr>
        <p:spPr>
          <a:xfrm>
            <a:off x="4343400" y="3238805"/>
            <a:ext cx="3448202"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3" name="Shape 7"/>
          <p:cNvSpPr/>
          <p:nvPr/>
        </p:nvSpPr>
        <p:spPr>
          <a:xfrm>
            <a:off x="8076895" y="3238805"/>
            <a:ext cx="3524098"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4" name="Shape 8"/>
          <p:cNvSpPr/>
          <p:nvPr/>
        </p:nvSpPr>
        <p:spPr>
          <a:xfrm>
            <a:off x="609905" y="4953305"/>
            <a:ext cx="3448202"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5" name="Shape 9"/>
          <p:cNvSpPr/>
          <p:nvPr/>
        </p:nvSpPr>
        <p:spPr>
          <a:xfrm>
            <a:off x="4343400" y="4953305"/>
            <a:ext cx="3448202"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6" name="Shape 10"/>
          <p:cNvSpPr/>
          <p:nvPr/>
        </p:nvSpPr>
        <p:spPr>
          <a:xfrm>
            <a:off x="8076895" y="4953305"/>
            <a:ext cx="3524098"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7" name="Text 11"/>
          <p:cNvSpPr txBox="1"/>
          <p:nvPr/>
        </p:nvSpPr>
        <p:spPr>
          <a:xfrm>
            <a:off x="819302" y="466344"/>
            <a:ext cx="3810305" cy="342900"/>
          </a:xfrm>
          <a:prstGeom prst="rect">
            <a:avLst/>
          </a:prstGeom>
          <a:noFill/>
          <a:ln/>
        </p:spPr>
        <p:txBody>
          <a:bodyPr wrap="none" lIns="0" tIns="0" rIns="0" bIns="0" rtlCol="0" anchor="ctr"/>
          <a:lstStyle/>
          <a:p>
            <a:pPr marL="0" indent="0" algn="l">
              <a:buNone/>
            </a:pPr>
            <a:r>
              <a:rPr lang="en-US" sz="2400" b="1" dirty="0">
                <a:solidFill>
                  <a:srgbClr val="111827"/>
                </a:solidFill>
                <a:latin typeface="Oswald" pitchFamily="34" charset="0"/>
                <a:ea typeface="Oswald" pitchFamily="34" charset="-122"/>
                <a:cs typeface="Oswald" pitchFamily="34" charset="-120"/>
              </a:rPr>
              <a:t>WHO WE ARE</a:t>
            </a:r>
            <a:endParaRPr lang="en-US" sz="2400" dirty="0"/>
          </a:p>
        </p:txBody>
      </p:sp>
      <p:sp>
        <p:nvSpPr>
          <p:cNvPr id="18" name="Text 12"/>
          <p:cNvSpPr txBox="1"/>
          <p:nvPr/>
        </p:nvSpPr>
        <p:spPr>
          <a:xfrm>
            <a:off x="819302" y="858622"/>
            <a:ext cx="4496105" cy="152705"/>
          </a:xfrm>
          <a:prstGeom prst="rect">
            <a:avLst/>
          </a:prstGeom>
          <a:noFill/>
          <a:ln/>
        </p:spPr>
        <p:txBody>
          <a:bodyPr wrap="none" lIns="0" tIns="0" rIns="0" bIns="0" rtlCol="0" anchor="ctr"/>
          <a:lstStyle/>
          <a:p>
            <a:pPr marL="0" indent="0" algn="l">
              <a:buNone/>
            </a:pPr>
            <a:r>
              <a:rPr lang="en-US" sz="1500" b="1" kern="0" spc="52" dirty="0">
                <a:solidFill>
                  <a:srgbClr val="2A9D8F"/>
                </a:solidFill>
                <a:latin typeface="Roboto Condensed" pitchFamily="34" charset="0"/>
                <a:ea typeface="Roboto Condensed" pitchFamily="34" charset="-122"/>
                <a:cs typeface="Roboto Condensed" pitchFamily="34" charset="-120"/>
              </a:rPr>
              <a:t>The AI-native GCC platform - a decade in the making</a:t>
            </a:r>
            <a:endParaRPr lang="en-US" sz="1500" dirty="0"/>
          </a:p>
        </p:txBody>
      </p:sp>
      <p:sp>
        <p:nvSpPr>
          <p:cNvPr id="19" name="Text 13"/>
          <p:cNvSpPr txBox="1"/>
          <p:nvPr/>
        </p:nvSpPr>
        <p:spPr>
          <a:xfrm>
            <a:off x="990295" y="1465380"/>
            <a:ext cx="6967162" cy="648310"/>
          </a:xfrm>
          <a:prstGeom prst="rect">
            <a:avLst/>
          </a:prstGeom>
          <a:noFill/>
          <a:ln/>
        </p:spPr>
        <p:txBody>
          <a:bodyPr wrap="square" lIns="0" tIns="0" rIns="0" bIns="0" rtlCol="0" anchor="ctr"/>
          <a:lstStyle/>
          <a:p>
            <a:pPr marL="0" indent="0" algn="l">
              <a:buNone/>
            </a:pPr>
            <a:r>
              <a:rPr lang="en-US" sz="1900" b="1" dirty="0">
                <a:solidFill>
                  <a:srgbClr val="111827"/>
                </a:solidFill>
                <a:latin typeface="Oswald" pitchFamily="34" charset="0"/>
                <a:ea typeface="Oswald" pitchFamily="34" charset="-122"/>
                <a:cs typeface="Oswald" pitchFamily="34" charset="-120"/>
              </a:rPr>
              <a:t>J2W is the AI-native GCC platform for the Fortune 1000 and beyond.</a:t>
            </a:r>
            <a:endParaRPr lang="en-US" sz="1900" dirty="0"/>
          </a:p>
        </p:txBody>
      </p:sp>
      <p:sp>
        <p:nvSpPr>
          <p:cNvPr id="20" name="Text 14"/>
          <p:cNvSpPr txBox="1"/>
          <p:nvPr/>
        </p:nvSpPr>
        <p:spPr>
          <a:xfrm>
            <a:off x="990294" y="1977901"/>
            <a:ext cx="9144915" cy="685800"/>
          </a:xfrm>
          <a:prstGeom prst="rect">
            <a:avLst/>
          </a:prstGeom>
          <a:noFill/>
          <a:ln/>
        </p:spPr>
        <p:txBody>
          <a:bodyPr wrap="square" lIns="0" tIns="0" rIns="0" bIns="0" rtlCol="0" anchor="ctr"/>
          <a:lstStyle/>
          <a:p>
            <a:pPr marL="0" indent="0" algn="l">
              <a:buNone/>
            </a:pPr>
            <a:r>
              <a:rPr lang="en-US" sz="1100" dirty="0">
                <a:solidFill>
                  <a:srgbClr val="4B5563"/>
                </a:solidFill>
                <a:latin typeface="Raleway" pitchFamily="34" charset="0"/>
                <a:ea typeface="Raleway" pitchFamily="34" charset="-122"/>
                <a:cs typeface="Raleway" pitchFamily="34" charset="-120"/>
              </a:rPr>
              <a:t>Ten years building nothing but GCCs - so we solve the next problem before it shows up, deliver ROI in weeks where the industry takes quarters, and turn the GCC from a cost line into an innovation engine.</a:t>
            </a:r>
            <a:endParaRPr lang="en-US" sz="1100" dirty="0"/>
          </a:p>
        </p:txBody>
      </p:sp>
      <p:pic>
        <p:nvPicPr>
          <p:cNvPr id="21" name="Image 4" descr="gen-dedup-3d17221e8cd76f10a3e0815681bf2023.png"/>
          <p:cNvPicPr>
            <a:picLocks noChangeAspect="1"/>
          </p:cNvPicPr>
          <p:nvPr/>
        </p:nvPicPr>
        <p:blipFill>
          <a:blip r:embed="rId7"/>
          <a:srcRect l="-400" r="-400"/>
          <a:stretch/>
        </p:blipFill>
        <p:spPr>
          <a:xfrm>
            <a:off x="800100" y="3476549"/>
            <a:ext cx="38405" cy="571500"/>
          </a:xfrm>
          <a:prstGeom prst="rect">
            <a:avLst/>
          </a:prstGeom>
        </p:spPr>
      </p:pic>
      <p:sp>
        <p:nvSpPr>
          <p:cNvPr id="22" name="Text 15"/>
          <p:cNvSpPr txBox="1"/>
          <p:nvPr/>
        </p:nvSpPr>
        <p:spPr>
          <a:xfrm>
            <a:off x="990295" y="3476549"/>
            <a:ext cx="1552651" cy="448056"/>
          </a:xfrm>
          <a:prstGeom prst="rect">
            <a:avLst/>
          </a:prstGeom>
          <a:noFill/>
          <a:ln/>
        </p:spPr>
        <p:txBody>
          <a:bodyPr wrap="none" lIns="0" tIns="0" rIns="0" bIns="0" rtlCol="0" anchor="ctr"/>
          <a:lstStyle/>
          <a:p>
            <a:pPr marL="0" indent="0" algn="l">
              <a:buNone/>
            </a:pPr>
            <a:r>
              <a:rPr lang="en-US" sz="3100" b="1" dirty="0">
                <a:solidFill>
                  <a:srgbClr val="2A9D8F"/>
                </a:solidFill>
                <a:latin typeface="Oswald" pitchFamily="34" charset="0"/>
                <a:ea typeface="Oswald" pitchFamily="34" charset="-122"/>
                <a:cs typeface="Oswald" pitchFamily="34" charset="-120"/>
              </a:rPr>
              <a:t>10+</a:t>
            </a:r>
            <a:endParaRPr lang="en-US" sz="3100" dirty="0"/>
          </a:p>
        </p:txBody>
      </p:sp>
      <p:sp>
        <p:nvSpPr>
          <p:cNvPr id="23" name="Text 16"/>
          <p:cNvSpPr txBox="1"/>
          <p:nvPr/>
        </p:nvSpPr>
        <p:spPr>
          <a:xfrm>
            <a:off x="990295" y="3993185"/>
            <a:ext cx="1848002"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Years GCC leadership</a:t>
            </a:r>
            <a:endParaRPr lang="en-US" sz="1200" dirty="0"/>
          </a:p>
        </p:txBody>
      </p:sp>
      <p:pic>
        <p:nvPicPr>
          <p:cNvPr id="24" name="Image 5" descr="gen-dedup-32cd67bc95385c5507b78533d3bab6e6.png"/>
          <p:cNvPicPr>
            <a:picLocks noChangeAspect="1"/>
          </p:cNvPicPr>
          <p:nvPr/>
        </p:nvPicPr>
        <p:blipFill>
          <a:blip r:embed="rId8"/>
          <a:srcRect l="-400" r="-400"/>
          <a:stretch/>
        </p:blipFill>
        <p:spPr>
          <a:xfrm>
            <a:off x="4533595" y="3476549"/>
            <a:ext cx="38405" cy="571500"/>
          </a:xfrm>
          <a:prstGeom prst="rect">
            <a:avLst/>
          </a:prstGeom>
        </p:spPr>
      </p:pic>
      <p:sp>
        <p:nvSpPr>
          <p:cNvPr id="25" name="Text 17"/>
          <p:cNvSpPr txBox="1"/>
          <p:nvPr/>
        </p:nvSpPr>
        <p:spPr>
          <a:xfrm>
            <a:off x="4724705" y="3476549"/>
            <a:ext cx="1791310" cy="448056"/>
          </a:xfrm>
          <a:prstGeom prst="rect">
            <a:avLst/>
          </a:prstGeom>
          <a:noFill/>
          <a:ln/>
        </p:spPr>
        <p:txBody>
          <a:bodyPr wrap="none" lIns="0" tIns="0" rIns="0" bIns="0" rtlCol="0" anchor="ctr"/>
          <a:lstStyle/>
          <a:p>
            <a:pPr marL="0" indent="0" algn="l">
              <a:buNone/>
            </a:pPr>
            <a:r>
              <a:rPr lang="en-US" sz="3100" b="1" dirty="0">
                <a:solidFill>
                  <a:srgbClr val="D62839"/>
                </a:solidFill>
                <a:latin typeface="Oswald" pitchFamily="34" charset="0"/>
                <a:ea typeface="Oswald" pitchFamily="34" charset="-122"/>
                <a:cs typeface="Oswald" pitchFamily="34" charset="-120"/>
              </a:rPr>
              <a:t>320+</a:t>
            </a:r>
            <a:endParaRPr lang="en-US" sz="3100" dirty="0"/>
          </a:p>
        </p:txBody>
      </p:sp>
      <p:sp>
        <p:nvSpPr>
          <p:cNvPr id="26" name="Text 18"/>
          <p:cNvSpPr txBox="1"/>
          <p:nvPr/>
        </p:nvSpPr>
        <p:spPr>
          <a:xfrm>
            <a:off x="4724705" y="3993185"/>
            <a:ext cx="2131466"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Enterprise clients served</a:t>
            </a:r>
            <a:endParaRPr lang="en-US" sz="1200" dirty="0"/>
          </a:p>
        </p:txBody>
      </p:sp>
      <p:pic>
        <p:nvPicPr>
          <p:cNvPr id="27" name="Image 6" descr="gen-dedup-3d17221e8cd76f10a3e0815681bf2023.png"/>
          <p:cNvPicPr>
            <a:picLocks noChangeAspect="1"/>
          </p:cNvPicPr>
          <p:nvPr/>
        </p:nvPicPr>
        <p:blipFill>
          <a:blip r:embed="rId7"/>
          <a:srcRect l="-400" r="-400"/>
          <a:stretch/>
        </p:blipFill>
        <p:spPr>
          <a:xfrm>
            <a:off x="8268005" y="3476549"/>
            <a:ext cx="38405" cy="571500"/>
          </a:xfrm>
          <a:prstGeom prst="rect">
            <a:avLst/>
          </a:prstGeom>
        </p:spPr>
      </p:pic>
      <p:sp>
        <p:nvSpPr>
          <p:cNvPr id="28" name="Text 19"/>
          <p:cNvSpPr txBox="1"/>
          <p:nvPr/>
        </p:nvSpPr>
        <p:spPr>
          <a:xfrm>
            <a:off x="8458200" y="3476549"/>
            <a:ext cx="2524658" cy="448056"/>
          </a:xfrm>
          <a:prstGeom prst="rect">
            <a:avLst/>
          </a:prstGeom>
          <a:noFill/>
          <a:ln/>
        </p:spPr>
        <p:txBody>
          <a:bodyPr wrap="none" lIns="0" tIns="0" rIns="0" bIns="0" rtlCol="0" anchor="ctr"/>
          <a:lstStyle/>
          <a:p>
            <a:pPr marL="0" indent="0" algn="l">
              <a:buNone/>
            </a:pPr>
            <a:r>
              <a:rPr lang="en-US" sz="3100" b="1" dirty="0">
                <a:solidFill>
                  <a:srgbClr val="2A9D8F"/>
                </a:solidFill>
                <a:latin typeface="Oswald" pitchFamily="34" charset="0"/>
                <a:ea typeface="Oswald" pitchFamily="34" charset="-122"/>
                <a:cs typeface="Oswald" pitchFamily="34" charset="-120"/>
              </a:rPr>
              <a:t>300+</a:t>
            </a:r>
            <a:endParaRPr lang="en-US" sz="3100" dirty="0"/>
          </a:p>
        </p:txBody>
      </p:sp>
      <p:sp>
        <p:nvSpPr>
          <p:cNvPr id="29" name="Text 20"/>
          <p:cNvSpPr txBox="1"/>
          <p:nvPr/>
        </p:nvSpPr>
        <p:spPr>
          <a:xfrm>
            <a:off x="8458200" y="3993185"/>
            <a:ext cx="3003804"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GCCs built: greenfield &amp; brownfield</a:t>
            </a:r>
            <a:endParaRPr lang="en-US" sz="1200" dirty="0"/>
          </a:p>
        </p:txBody>
      </p:sp>
      <p:pic>
        <p:nvPicPr>
          <p:cNvPr id="30" name="Image 7" descr="gen-dedup-32cd67bc95385c5507b78533d3bab6e6.png"/>
          <p:cNvPicPr>
            <a:picLocks noChangeAspect="1"/>
          </p:cNvPicPr>
          <p:nvPr/>
        </p:nvPicPr>
        <p:blipFill>
          <a:blip r:embed="rId8"/>
          <a:srcRect l="-400" r="-400"/>
          <a:stretch/>
        </p:blipFill>
        <p:spPr>
          <a:xfrm>
            <a:off x="800100" y="5191049"/>
            <a:ext cx="38405" cy="571500"/>
          </a:xfrm>
          <a:prstGeom prst="rect">
            <a:avLst/>
          </a:prstGeom>
        </p:spPr>
      </p:pic>
      <p:sp>
        <p:nvSpPr>
          <p:cNvPr id="31" name="Text 21"/>
          <p:cNvSpPr txBox="1"/>
          <p:nvPr/>
        </p:nvSpPr>
        <p:spPr>
          <a:xfrm>
            <a:off x="990295" y="5191049"/>
            <a:ext cx="1677010" cy="448056"/>
          </a:xfrm>
          <a:prstGeom prst="rect">
            <a:avLst/>
          </a:prstGeom>
          <a:noFill/>
          <a:ln/>
        </p:spPr>
        <p:txBody>
          <a:bodyPr wrap="none" lIns="0" tIns="0" rIns="0" bIns="0" rtlCol="0" anchor="ctr"/>
          <a:lstStyle/>
          <a:p>
            <a:pPr marL="0" indent="0" algn="l">
              <a:buNone/>
            </a:pPr>
            <a:r>
              <a:rPr lang="en-US" sz="3100" b="1" dirty="0">
                <a:solidFill>
                  <a:srgbClr val="D62839"/>
                </a:solidFill>
                <a:latin typeface="Oswald" pitchFamily="34" charset="0"/>
                <a:ea typeface="Oswald" pitchFamily="34" charset="-122"/>
                <a:cs typeface="Oswald" pitchFamily="34" charset="-120"/>
              </a:rPr>
              <a:t>5,500+</a:t>
            </a:r>
            <a:endParaRPr lang="en-US" sz="3100" dirty="0"/>
          </a:p>
        </p:txBody>
      </p:sp>
      <p:sp>
        <p:nvSpPr>
          <p:cNvPr id="32" name="Text 22"/>
          <p:cNvSpPr txBox="1"/>
          <p:nvPr/>
        </p:nvSpPr>
        <p:spPr>
          <a:xfrm>
            <a:off x="990295" y="5707685"/>
            <a:ext cx="1995221"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Industry &amp; tech experts</a:t>
            </a:r>
            <a:endParaRPr lang="en-US" sz="1200" dirty="0"/>
          </a:p>
        </p:txBody>
      </p:sp>
      <p:pic>
        <p:nvPicPr>
          <p:cNvPr id="33" name="Image 8" descr="gen-dedup-3d17221e8cd76f10a3e0815681bf2023.png"/>
          <p:cNvPicPr>
            <a:picLocks noChangeAspect="1"/>
          </p:cNvPicPr>
          <p:nvPr/>
        </p:nvPicPr>
        <p:blipFill>
          <a:blip r:embed="rId7"/>
          <a:srcRect l="-400" r="-400"/>
          <a:stretch/>
        </p:blipFill>
        <p:spPr>
          <a:xfrm>
            <a:off x="4533595" y="5191049"/>
            <a:ext cx="38405" cy="571500"/>
          </a:xfrm>
          <a:prstGeom prst="rect">
            <a:avLst/>
          </a:prstGeom>
        </p:spPr>
      </p:pic>
      <p:sp>
        <p:nvSpPr>
          <p:cNvPr id="34" name="Text 23"/>
          <p:cNvSpPr txBox="1"/>
          <p:nvPr/>
        </p:nvSpPr>
        <p:spPr>
          <a:xfrm>
            <a:off x="4724705" y="5191049"/>
            <a:ext cx="1705356" cy="448056"/>
          </a:xfrm>
          <a:prstGeom prst="rect">
            <a:avLst/>
          </a:prstGeom>
          <a:noFill/>
          <a:ln/>
        </p:spPr>
        <p:txBody>
          <a:bodyPr wrap="none" lIns="0" tIns="0" rIns="0" bIns="0" rtlCol="0" anchor="ctr"/>
          <a:lstStyle/>
          <a:p>
            <a:pPr marL="0" indent="0" algn="l">
              <a:buNone/>
            </a:pPr>
            <a:r>
              <a:rPr lang="en-US" sz="3100" b="1" dirty="0">
                <a:solidFill>
                  <a:srgbClr val="2A9D8F"/>
                </a:solidFill>
                <a:latin typeface="Oswald" pitchFamily="34" charset="0"/>
                <a:ea typeface="Oswald" pitchFamily="34" charset="-122"/>
                <a:cs typeface="Oswald" pitchFamily="34" charset="-120"/>
              </a:rPr>
              <a:t>8</a:t>
            </a:r>
            <a:endParaRPr lang="en-US" sz="3100" dirty="0"/>
          </a:p>
        </p:txBody>
      </p:sp>
      <p:sp>
        <p:nvSpPr>
          <p:cNvPr id="35" name="Text 24"/>
          <p:cNvSpPr txBox="1"/>
          <p:nvPr/>
        </p:nvSpPr>
        <p:spPr>
          <a:xfrm>
            <a:off x="4724705" y="5707685"/>
            <a:ext cx="2029054"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Countries with footprint</a:t>
            </a:r>
            <a:endParaRPr lang="en-US" sz="1200" dirty="0"/>
          </a:p>
        </p:txBody>
      </p:sp>
      <p:pic>
        <p:nvPicPr>
          <p:cNvPr id="36" name="Image 9" descr="gen-dedup-32cd67bc95385c5507b78533d3bab6e6.png"/>
          <p:cNvPicPr>
            <a:picLocks noChangeAspect="1"/>
          </p:cNvPicPr>
          <p:nvPr/>
        </p:nvPicPr>
        <p:blipFill>
          <a:blip r:embed="rId8"/>
          <a:srcRect l="-400" r="-400"/>
          <a:stretch/>
        </p:blipFill>
        <p:spPr>
          <a:xfrm>
            <a:off x="8268005" y="5191049"/>
            <a:ext cx="38405" cy="571500"/>
          </a:xfrm>
          <a:prstGeom prst="rect">
            <a:avLst/>
          </a:prstGeom>
        </p:spPr>
      </p:pic>
      <p:sp>
        <p:nvSpPr>
          <p:cNvPr id="37" name="Text 25"/>
          <p:cNvSpPr txBox="1"/>
          <p:nvPr/>
        </p:nvSpPr>
        <p:spPr>
          <a:xfrm>
            <a:off x="8458200" y="5191049"/>
            <a:ext cx="1677010" cy="448056"/>
          </a:xfrm>
          <a:prstGeom prst="rect">
            <a:avLst/>
          </a:prstGeom>
          <a:noFill/>
          <a:ln/>
        </p:spPr>
        <p:txBody>
          <a:bodyPr wrap="none" lIns="0" tIns="0" rIns="0" bIns="0" rtlCol="0" anchor="ctr"/>
          <a:lstStyle/>
          <a:p>
            <a:pPr marL="0" indent="0" algn="l">
              <a:buNone/>
            </a:pPr>
            <a:r>
              <a:rPr lang="en-US" sz="3100" b="1" dirty="0">
                <a:solidFill>
                  <a:srgbClr val="D62839"/>
                </a:solidFill>
                <a:latin typeface="Oswald" pitchFamily="34" charset="0"/>
                <a:ea typeface="Oswald" pitchFamily="34" charset="-122"/>
                <a:cs typeface="Oswald" pitchFamily="34" charset="-120"/>
              </a:rPr>
              <a:t>60+</a:t>
            </a:r>
            <a:endParaRPr lang="en-US" sz="3100" dirty="0"/>
          </a:p>
        </p:txBody>
      </p:sp>
      <p:sp>
        <p:nvSpPr>
          <p:cNvPr id="38" name="Text 26"/>
          <p:cNvSpPr txBox="1"/>
          <p:nvPr/>
        </p:nvSpPr>
        <p:spPr>
          <a:xfrm>
            <a:off x="8458200" y="5707685"/>
            <a:ext cx="1995221"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AI-enabled capabilities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9430207" y="-571500"/>
            <a:ext cx="3333902" cy="3333902"/>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5" name="Image 0" descr="preencoded.png"/>
          <p:cNvPicPr>
            <a:picLocks noChangeAspect="1"/>
          </p:cNvPicPr>
          <p:nvPr/>
        </p:nvPicPr>
        <p:blipFill>
          <a:blip r:embed="rId3"/>
          <a:srcRect l="-360" r="-360"/>
          <a:stretch/>
        </p:blipFill>
        <p:spPr>
          <a:xfrm>
            <a:off x="609905" y="485546"/>
            <a:ext cx="57607" cy="381305"/>
          </a:xfrm>
          <a:prstGeom prst="rect">
            <a:avLst/>
          </a:prstGeom>
        </p:spPr>
      </p:pic>
      <p:sp>
        <p:nvSpPr>
          <p:cNvPr id="6" name="Text 3"/>
          <p:cNvSpPr txBox="1"/>
          <p:nvPr/>
        </p:nvSpPr>
        <p:spPr>
          <a:xfrm>
            <a:off x="819302" y="342900"/>
            <a:ext cx="5912510" cy="381305"/>
          </a:xfrm>
          <a:prstGeom prst="rect">
            <a:avLst/>
          </a:prstGeom>
          <a:noFill/>
          <a:ln/>
        </p:spPr>
        <p:txBody>
          <a:bodyPr wrap="square" lIns="0" tIns="0" rIns="0" bIns="0" rtlCol="0" anchor="ctr"/>
          <a:lstStyle/>
          <a:p>
            <a:pPr marL="0" indent="0" algn="l">
              <a:buNone/>
            </a:pPr>
            <a:r>
              <a:rPr lang="en-US" sz="2700" b="1" kern="0" spc="-67">
                <a:solidFill>
                  <a:srgbClr val="111827"/>
                </a:solidFill>
                <a:latin typeface="Oswald" pitchFamily="34" charset="0"/>
                <a:ea typeface="Oswald" pitchFamily="34" charset="-122"/>
                <a:cs typeface="Oswald" pitchFamily="34" charset="-120"/>
              </a:rPr>
              <a:t>Architects of Transformation</a:t>
            </a:r>
            <a:endParaRPr lang="en-US" sz="2700"/>
          </a:p>
        </p:txBody>
      </p:sp>
      <p:sp>
        <p:nvSpPr>
          <p:cNvPr id="7" name="Text 4"/>
          <p:cNvSpPr txBox="1"/>
          <p:nvPr/>
        </p:nvSpPr>
        <p:spPr>
          <a:xfrm>
            <a:off x="819302" y="743407"/>
            <a:ext cx="5811012" cy="267005"/>
          </a:xfrm>
          <a:prstGeom prst="rect">
            <a:avLst/>
          </a:prstGeom>
          <a:noFill/>
          <a:ln/>
        </p:spPr>
        <p:txBody>
          <a:bodyPr wrap="square" lIns="0" tIns="0" rIns="0" bIns="0" rtlCol="0" anchor="ctr"/>
          <a:lstStyle/>
          <a:p>
            <a:pPr marL="0" indent="0" algn="l">
              <a:buNone/>
            </a:pPr>
            <a:r>
              <a:rPr lang="en-US" sz="1500" b="1" kern="0" spc="75">
                <a:solidFill>
                  <a:srgbClr val="2A9D8F"/>
                </a:solidFill>
                <a:latin typeface="Roboto Condensed" pitchFamily="34" charset="0"/>
                <a:ea typeface="Roboto Condensed" pitchFamily="34" charset="-122"/>
                <a:cs typeface="Roboto Condensed" pitchFamily="34" charset="-120"/>
              </a:rPr>
              <a:t>VISIONARY LEADERSHIP DRIVING ENTERPRISE EXCELLENCE</a:t>
            </a:r>
            <a:endParaRPr lang="en-US" sz="1500"/>
          </a:p>
        </p:txBody>
      </p:sp>
      <p:pic>
        <p:nvPicPr>
          <p:cNvPr id="8" name="Image 1" descr="preencoded.png"/>
          <p:cNvPicPr>
            <a:picLocks noChangeAspect="1"/>
          </p:cNvPicPr>
          <p:nvPr/>
        </p:nvPicPr>
        <p:blipFill>
          <a:blip r:embed="rId4"/>
          <a:srcRect t="-6" b="-6"/>
          <a:stretch/>
        </p:blipFill>
        <p:spPr>
          <a:xfrm>
            <a:off x="609905" y="1123798"/>
            <a:ext cx="5372100" cy="3715207"/>
          </a:xfrm>
          <a:prstGeom prst="rect">
            <a:avLst/>
          </a:prstGeom>
        </p:spPr>
      </p:pic>
      <p:sp>
        <p:nvSpPr>
          <p:cNvPr id="9" name="Shape 5"/>
          <p:cNvSpPr/>
          <p:nvPr/>
        </p:nvSpPr>
        <p:spPr>
          <a:xfrm>
            <a:off x="919886" y="1339596"/>
            <a:ext cx="809244" cy="809244"/>
          </a:xfrm>
          <a:prstGeom prst="ellipse">
            <a:avLst/>
          </a:prstGeom>
          <a:noFill/>
          <a:ln w="38100">
            <a:solidFill>
              <a:srgbClr val="FFFFFF"/>
            </a:solidFill>
            <a:prstDash val="solid"/>
          </a:ln>
          <a:effectLst>
            <a:outerShdw blurRad="101600" dist="38100" dir="16200000" algn="bl" rotWithShape="0">
              <a:srgbClr val="000000">
                <a:alpha val="10000"/>
              </a:srgbClr>
            </a:outerShdw>
          </a:effectLst>
        </p:spPr>
        <p:txBody>
          <a:bodyPr/>
          <a:lstStyle/>
          <a:p>
            <a:endParaRPr lang="en-US"/>
          </a:p>
        </p:txBody>
      </p:sp>
      <p:pic>
        <p:nvPicPr>
          <p:cNvPr id="10" name="Image 2" descr="preencoded.png"/>
          <p:cNvPicPr>
            <a:picLocks noChangeAspect="1"/>
          </p:cNvPicPr>
          <p:nvPr/>
        </p:nvPicPr>
        <p:blipFill>
          <a:blip r:embed="rId5"/>
          <a:srcRect/>
          <a:stretch/>
        </p:blipFill>
        <p:spPr>
          <a:xfrm>
            <a:off x="948233" y="1367942"/>
            <a:ext cx="752551" cy="752551"/>
          </a:xfrm>
          <a:prstGeom prst="rect">
            <a:avLst/>
          </a:prstGeom>
        </p:spPr>
      </p:pic>
      <p:sp>
        <p:nvSpPr>
          <p:cNvPr id="11" name="Text 6"/>
          <p:cNvSpPr txBox="1"/>
          <p:nvPr/>
        </p:nvSpPr>
        <p:spPr>
          <a:xfrm>
            <a:off x="817474" y="2224735"/>
            <a:ext cx="1020470" cy="219456"/>
          </a:xfrm>
          <a:prstGeom prst="rect">
            <a:avLst/>
          </a:prstGeom>
          <a:noFill/>
          <a:ln/>
        </p:spPr>
        <p:txBody>
          <a:bodyPr wrap="square" lIns="0" tIns="0" rIns="0" bIns="0" rtlCol="0" anchor="ctr"/>
          <a:lstStyle/>
          <a:p>
            <a:pPr marL="0" indent="0" algn="ctr">
              <a:buNone/>
            </a:pPr>
            <a:r>
              <a:rPr lang="en-US" sz="1300" b="1">
                <a:solidFill>
                  <a:srgbClr val="1F2937"/>
                </a:solidFill>
                <a:latin typeface="Oswald" pitchFamily="34" charset="0"/>
                <a:ea typeface="Oswald" pitchFamily="34" charset="-122"/>
                <a:cs typeface="Oswald" pitchFamily="34" charset="-120"/>
              </a:rPr>
              <a:t>Priti Sawant</a:t>
            </a:r>
            <a:endParaRPr lang="en-US" sz="1300"/>
          </a:p>
        </p:txBody>
      </p:sp>
      <p:sp>
        <p:nvSpPr>
          <p:cNvPr id="12" name="Text 7"/>
          <p:cNvSpPr txBox="1"/>
          <p:nvPr/>
        </p:nvSpPr>
        <p:spPr>
          <a:xfrm>
            <a:off x="789127" y="2457907"/>
            <a:ext cx="1074420" cy="152705"/>
          </a:xfrm>
          <a:prstGeom prst="rect">
            <a:avLst/>
          </a:prstGeom>
          <a:noFill/>
          <a:ln/>
        </p:spPr>
        <p:txBody>
          <a:bodyPr wrap="square" lIns="0" tIns="0" rIns="0" bIns="0" rtlCol="0" anchor="ctr"/>
          <a:lstStyle/>
          <a:p>
            <a:pPr marL="0" indent="0" algn="ctr">
              <a:buNone/>
            </a:pPr>
            <a:r>
              <a:rPr lang="en-US" sz="900" b="1" kern="0" spc="22" dirty="0">
                <a:solidFill>
                  <a:srgbClr val="2A9D8F"/>
                </a:solidFill>
                <a:latin typeface="Roboto Condensed" pitchFamily="34" charset="0"/>
                <a:ea typeface="Roboto Condensed" pitchFamily="34" charset="-122"/>
                <a:cs typeface="Roboto Condensed" pitchFamily="34" charset="-120"/>
              </a:rPr>
              <a:t>Founder &amp; CEO</a:t>
            </a:r>
            <a:endParaRPr lang="en-US" sz="900" dirty="0"/>
          </a:p>
        </p:txBody>
      </p:sp>
      <p:sp>
        <p:nvSpPr>
          <p:cNvPr id="13" name="Text 8"/>
          <p:cNvSpPr txBox="1"/>
          <p:nvPr/>
        </p:nvSpPr>
        <p:spPr>
          <a:xfrm>
            <a:off x="2025396" y="1557311"/>
            <a:ext cx="3867912" cy="1552651"/>
          </a:xfrm>
          <a:prstGeom prst="rect">
            <a:avLst/>
          </a:prstGeom>
          <a:noFill/>
          <a:ln/>
        </p:spPr>
        <p:txBody>
          <a:bodyPr wrap="square" lIns="0" tIns="0" rIns="0" bIns="0" rtlCol="0" anchor="ctr"/>
          <a:lstStyle/>
          <a:p>
            <a:pPr marL="0" indent="0" algn="just">
              <a:buNone/>
            </a:pPr>
            <a:r>
              <a:rPr lang="en-US" sz="1100" dirty="0">
                <a:solidFill>
                  <a:srgbClr val="4B5563"/>
                </a:solidFill>
                <a:latin typeface="Raleway" pitchFamily="34" charset="0"/>
                <a:ea typeface="Raleway" pitchFamily="34" charset="-122"/>
                <a:cs typeface="Raleway" pitchFamily="34" charset="-120"/>
              </a:rPr>
              <a:t>Priti Sawant is a serial entrepreneur, category creator, and a pioneer of India’s Global Capability Center (GCC) ecosystem. With 20+ years of experience, she has built and scaled businesses at the intersection of technology and enterprise transformation. She began her journey at Accenture and later led Magna Infotech-scaling it from pre-revenue to a market leader, creating India’s first GCC-focused model, and delivering a successful exit and public listing (IPO). She is a 2-time entrepreneur, having built two successful, leading companies solving for GCCs in India.</a:t>
            </a:r>
            <a:endParaRPr lang="en-US" sz="1100" dirty="0"/>
          </a:p>
        </p:txBody>
      </p:sp>
      <p:sp>
        <p:nvSpPr>
          <p:cNvPr id="14" name="Text 9"/>
          <p:cNvSpPr txBox="1"/>
          <p:nvPr/>
        </p:nvSpPr>
        <p:spPr>
          <a:xfrm>
            <a:off x="2025396" y="3527888"/>
            <a:ext cx="3867912" cy="1381658"/>
          </a:xfrm>
          <a:prstGeom prst="rect">
            <a:avLst/>
          </a:prstGeom>
          <a:noFill/>
          <a:ln/>
        </p:spPr>
        <p:txBody>
          <a:bodyPr wrap="square" lIns="0" tIns="0" rIns="0" bIns="0" rtlCol="0" anchor="ctr"/>
          <a:lstStyle/>
          <a:p>
            <a:pPr marL="0" indent="0" algn="just">
              <a:buNone/>
            </a:pPr>
            <a:r>
              <a:rPr lang="en-US" sz="1100">
                <a:solidFill>
                  <a:srgbClr val="4B5563"/>
                </a:solidFill>
                <a:latin typeface="Raleway" pitchFamily="34" charset="0"/>
                <a:ea typeface="Raleway" pitchFamily="34" charset="-122"/>
                <a:cs typeface="Raleway" pitchFamily="34" charset="-120"/>
              </a:rPr>
              <a:t>She founded JoulestoWatts, backed by Manipal Global Education Services. Today, J2W operates across 8 countries, enabling 300+ GCCs, deploying 5,200+ professionals, and building 4 in-house products, with strong Fortune 500 partnerships. Recognised by Forbes Japan, she is also a TiE Charter Member, startup mentor, and a strong advocate of gender diversity, having built organisations with 40%+ women representation and 50% women-led leadership roles.</a:t>
            </a:r>
            <a:endParaRPr lang="en-US" sz="1100"/>
          </a:p>
        </p:txBody>
      </p:sp>
      <p:pic>
        <p:nvPicPr>
          <p:cNvPr id="15" name="Image 3" descr="preencoded.png"/>
          <p:cNvPicPr>
            <a:picLocks noChangeAspect="1"/>
          </p:cNvPicPr>
          <p:nvPr/>
        </p:nvPicPr>
        <p:blipFill>
          <a:blip r:embed="rId6"/>
          <a:srcRect t="-6" b="-6"/>
          <a:stretch/>
        </p:blipFill>
        <p:spPr>
          <a:xfrm>
            <a:off x="6210605" y="1123798"/>
            <a:ext cx="5372100" cy="3715207"/>
          </a:xfrm>
          <a:prstGeom prst="rect">
            <a:avLst/>
          </a:prstGeom>
        </p:spPr>
      </p:pic>
      <p:sp>
        <p:nvSpPr>
          <p:cNvPr id="16" name="Shape 10"/>
          <p:cNvSpPr/>
          <p:nvPr/>
        </p:nvSpPr>
        <p:spPr>
          <a:xfrm>
            <a:off x="6520586" y="1339596"/>
            <a:ext cx="809244" cy="809244"/>
          </a:xfrm>
          <a:prstGeom prst="ellipse">
            <a:avLst/>
          </a:prstGeom>
          <a:noFill/>
          <a:ln w="38100">
            <a:solidFill>
              <a:srgbClr val="FFFFFF"/>
            </a:solidFill>
            <a:prstDash val="solid"/>
          </a:ln>
          <a:effectLst>
            <a:outerShdw blurRad="101600" dist="38100" dir="16200000" algn="bl" rotWithShape="0">
              <a:srgbClr val="000000">
                <a:alpha val="10000"/>
              </a:srgbClr>
            </a:outerShdw>
          </a:effectLst>
        </p:spPr>
        <p:txBody>
          <a:bodyPr/>
          <a:lstStyle/>
          <a:p>
            <a:endParaRPr lang="en-US"/>
          </a:p>
        </p:txBody>
      </p:sp>
      <p:pic>
        <p:nvPicPr>
          <p:cNvPr id="17" name="Image 4" descr="preencoded.png"/>
          <p:cNvPicPr>
            <a:picLocks noChangeAspect="1"/>
          </p:cNvPicPr>
          <p:nvPr/>
        </p:nvPicPr>
        <p:blipFill>
          <a:blip r:embed="rId7"/>
          <a:srcRect b="1042"/>
          <a:stretch/>
        </p:blipFill>
        <p:spPr>
          <a:xfrm>
            <a:off x="6548933" y="1367942"/>
            <a:ext cx="752551" cy="752551"/>
          </a:xfrm>
          <a:prstGeom prst="rect">
            <a:avLst/>
          </a:prstGeom>
        </p:spPr>
      </p:pic>
      <p:sp>
        <p:nvSpPr>
          <p:cNvPr id="18" name="Text 11"/>
          <p:cNvSpPr txBox="1"/>
          <p:nvPr/>
        </p:nvSpPr>
        <p:spPr>
          <a:xfrm>
            <a:off x="6411773" y="2224735"/>
            <a:ext cx="1032358" cy="219456"/>
          </a:xfrm>
          <a:prstGeom prst="rect">
            <a:avLst/>
          </a:prstGeom>
          <a:noFill/>
          <a:ln/>
        </p:spPr>
        <p:txBody>
          <a:bodyPr wrap="square" lIns="0" tIns="0" rIns="0" bIns="0" rtlCol="0" anchor="ctr"/>
          <a:lstStyle/>
          <a:p>
            <a:pPr marL="0" indent="0" algn="ctr">
              <a:buNone/>
            </a:pPr>
            <a:r>
              <a:rPr lang="en-US" sz="1300" b="1">
                <a:solidFill>
                  <a:srgbClr val="1F2937"/>
                </a:solidFill>
                <a:latin typeface="Oswald" pitchFamily="34" charset="0"/>
                <a:ea typeface="Oswald" pitchFamily="34" charset="-122"/>
                <a:cs typeface="Oswald" pitchFamily="34" charset="-120"/>
              </a:rPr>
              <a:t>Priya Mohan</a:t>
            </a:r>
            <a:endParaRPr lang="en-US" sz="1300"/>
          </a:p>
        </p:txBody>
      </p:sp>
      <p:sp>
        <p:nvSpPr>
          <p:cNvPr id="19" name="Text 12"/>
          <p:cNvSpPr txBox="1"/>
          <p:nvPr/>
        </p:nvSpPr>
        <p:spPr>
          <a:xfrm>
            <a:off x="6781190" y="2457907"/>
            <a:ext cx="295351" cy="152705"/>
          </a:xfrm>
          <a:prstGeom prst="rect">
            <a:avLst/>
          </a:prstGeom>
          <a:noFill/>
          <a:ln/>
        </p:spPr>
        <p:txBody>
          <a:bodyPr wrap="square" lIns="0" tIns="0" rIns="0" bIns="0" rtlCol="0" anchor="ctr"/>
          <a:lstStyle/>
          <a:p>
            <a:pPr marL="0" indent="0" algn="ctr">
              <a:buNone/>
            </a:pPr>
            <a:r>
              <a:rPr lang="en-US" sz="1100" b="1" kern="0" spc="22" dirty="0">
                <a:solidFill>
                  <a:srgbClr val="D62839"/>
                </a:solidFill>
                <a:latin typeface="Roboto Condensed" pitchFamily="34" charset="0"/>
                <a:ea typeface="Roboto Condensed" pitchFamily="34" charset="-122"/>
                <a:cs typeface="Roboto Condensed" pitchFamily="34" charset="-120"/>
              </a:rPr>
              <a:t>coo</a:t>
            </a:r>
            <a:endParaRPr lang="en-US" sz="1100" dirty="0"/>
          </a:p>
        </p:txBody>
      </p:sp>
      <p:sp>
        <p:nvSpPr>
          <p:cNvPr id="20" name="Text 13"/>
          <p:cNvSpPr txBox="1"/>
          <p:nvPr/>
        </p:nvSpPr>
        <p:spPr>
          <a:xfrm>
            <a:off x="7626096" y="1557311"/>
            <a:ext cx="3867912" cy="1552651"/>
          </a:xfrm>
          <a:prstGeom prst="rect">
            <a:avLst/>
          </a:prstGeom>
          <a:noFill/>
          <a:ln/>
        </p:spPr>
        <p:txBody>
          <a:bodyPr wrap="square" lIns="0" tIns="0" rIns="0" bIns="0" rtlCol="0" anchor="ctr"/>
          <a:lstStyle/>
          <a:p>
            <a:pPr marL="0" indent="0" algn="just">
              <a:buNone/>
            </a:pPr>
            <a:r>
              <a:rPr lang="en-US" sz="1100">
                <a:solidFill>
                  <a:srgbClr val="4B5563"/>
                </a:solidFill>
                <a:latin typeface="Raleway" pitchFamily="34" charset="0"/>
                <a:ea typeface="Raleway" pitchFamily="34" charset="-122"/>
                <a:cs typeface="Raleway" pitchFamily="34" charset="-120"/>
              </a:rPr>
              <a:t>Priya Mohan is a seasoned operator, investor, and entrepreneur with 20+ years spanning venture capital, high-growth startups, and investment banking. She was most recently a Partner at General Catalyst India, where she led India investments and co-creation opportunities across transformative, economy-shaping companies. Previously, as Managing Partner at Venture Highway, she held board seats across marquee portfolio companies in multiple sectors. Before investing, she co-founded Vidyartha, an EdTech platform which she successfully exited to Byju's.</a:t>
            </a:r>
            <a:endParaRPr lang="en-US" sz="1100"/>
          </a:p>
        </p:txBody>
      </p:sp>
      <p:sp>
        <p:nvSpPr>
          <p:cNvPr id="21" name="Text 14"/>
          <p:cNvSpPr txBox="1"/>
          <p:nvPr/>
        </p:nvSpPr>
        <p:spPr>
          <a:xfrm>
            <a:off x="7626096" y="3527888"/>
            <a:ext cx="3867912" cy="1209751"/>
          </a:xfrm>
          <a:prstGeom prst="rect">
            <a:avLst/>
          </a:prstGeom>
          <a:noFill/>
          <a:ln/>
        </p:spPr>
        <p:txBody>
          <a:bodyPr wrap="square" lIns="0" tIns="0" rIns="0" bIns="0" rtlCol="0" anchor="ctr"/>
          <a:lstStyle/>
          <a:p>
            <a:pPr marL="0" indent="0" algn="just">
              <a:buNone/>
            </a:pPr>
            <a:r>
              <a:rPr lang="en-US" sz="1100" dirty="0">
                <a:solidFill>
                  <a:srgbClr val="4B5563"/>
                </a:solidFill>
                <a:latin typeface="Raleway" pitchFamily="34" charset="0"/>
                <a:ea typeface="Raleway" pitchFamily="34" charset="-122"/>
                <a:cs typeface="Raleway" pitchFamily="34" charset="-120"/>
              </a:rPr>
              <a:t>Her earlier career included 9 years in investment banking and equity research - structuring and executing complex transactions across private equity raises, secondary sales, and buyouts. A Chartered Accountant and Management Graduate from the Indian School of Business (ISB), Priya was a state guest of the United States under the IVLP program and is a member of the Kamalnayan Bajaj Aspen Fellowship (Cohort X).</a:t>
            </a:r>
            <a:endParaRPr lang="en-US" sz="1100" dirty="0"/>
          </a:p>
        </p:txBody>
      </p:sp>
      <p:pic>
        <p:nvPicPr>
          <p:cNvPr id="54" name="Image 15" descr="preencoded.png"/>
          <p:cNvPicPr>
            <a:picLocks noChangeAspect="1"/>
          </p:cNvPicPr>
          <p:nvPr/>
        </p:nvPicPr>
        <p:blipFill>
          <a:blip r:embed="rId8"/>
          <a:srcRect l="-202" r="-202"/>
          <a:stretch/>
        </p:blipFill>
        <p:spPr>
          <a:xfrm>
            <a:off x="0" y="0"/>
            <a:ext cx="8128102" cy="75895"/>
          </a:xfrm>
          <a:prstGeom prst="rect">
            <a:avLst/>
          </a:prstGeom>
        </p:spPr>
      </p:pic>
      <p:pic>
        <p:nvPicPr>
          <p:cNvPr id="55" name="Image 16" descr="preencoded.png"/>
          <p:cNvPicPr>
            <a:picLocks noChangeAspect="1"/>
          </p:cNvPicPr>
          <p:nvPr/>
        </p:nvPicPr>
        <p:blipFill>
          <a:blip r:embed="rId9"/>
          <a:srcRect l="-197" r="-197"/>
          <a:stretch/>
        </p:blipFill>
        <p:spPr>
          <a:xfrm>
            <a:off x="8128102" y="0"/>
            <a:ext cx="4063594" cy="7589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cad3a534ee2971c6a497c9faf59fb5cd.png"/>
          <p:cNvPicPr>
            <a:picLocks noChangeAspect="1"/>
          </p:cNvPicPr>
          <p:nvPr/>
        </p:nvPicPr>
        <p:blipFill>
          <a:blip r:embed="rId3"/>
          <a:srcRect l="-202" r="-202"/>
          <a:stretch/>
        </p:blipFill>
        <p:spPr>
          <a:xfrm>
            <a:off x="0" y="0"/>
            <a:ext cx="8128102" cy="75895"/>
          </a:xfrm>
          <a:prstGeom prst="rect">
            <a:avLst/>
          </a:prstGeom>
        </p:spPr>
      </p:pic>
      <p:pic>
        <p:nvPicPr>
          <p:cNvPr id="5" name="Image 1" descr="gen-dedup-64882feb7a832238af77b962fc7a8538.png"/>
          <p:cNvPicPr>
            <a:picLocks noChangeAspect="1"/>
          </p:cNvPicPr>
          <p:nvPr/>
        </p:nvPicPr>
        <p:blipFill>
          <a:blip r:embed="rId4"/>
          <a:srcRect l="-197" r="-197"/>
          <a:stretch/>
        </p:blipFill>
        <p:spPr>
          <a:xfrm>
            <a:off x="8128102" y="0"/>
            <a:ext cx="4063594" cy="75895"/>
          </a:xfrm>
          <a:prstGeom prst="rect">
            <a:avLst/>
          </a:prstGeom>
        </p:spPr>
      </p:pic>
      <p:sp>
        <p:nvSpPr>
          <p:cNvPr id="6" name="Shape 2"/>
          <p:cNvSpPr/>
          <p:nvPr/>
        </p:nvSpPr>
        <p:spPr>
          <a:xfrm>
            <a:off x="9905695" y="-571500"/>
            <a:ext cx="2857500" cy="2857500"/>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7" name="Image 2" descr="gen-dedup-6da70c599291e253314366a10c094ffa.png"/>
          <p:cNvPicPr>
            <a:picLocks noChangeAspect="1"/>
          </p:cNvPicPr>
          <p:nvPr/>
        </p:nvPicPr>
        <p:blipFill>
          <a:blip r:embed="rId5">
            <a:alphaModFix amt="15000"/>
          </a:blip>
          <a:srcRect/>
          <a:stretch/>
        </p:blipFill>
        <p:spPr>
          <a:xfrm>
            <a:off x="381305" y="1143000"/>
            <a:ext cx="1429207" cy="1429207"/>
          </a:xfrm>
          <a:prstGeom prst="rect">
            <a:avLst/>
          </a:prstGeom>
        </p:spPr>
      </p:pic>
      <p:pic>
        <p:nvPicPr>
          <p:cNvPr id="8" name="Image 3" descr="gen-dedup-b81d2082573e6d8de64df87af639bbf0.png"/>
          <p:cNvPicPr>
            <a:picLocks noChangeAspect="1"/>
          </p:cNvPicPr>
          <p:nvPr/>
        </p:nvPicPr>
        <p:blipFill>
          <a:blip r:embed="rId6"/>
          <a:srcRect l="-360" r="-360"/>
          <a:stretch/>
        </p:blipFill>
        <p:spPr>
          <a:xfrm>
            <a:off x="609905" y="533095"/>
            <a:ext cx="57607" cy="381305"/>
          </a:xfrm>
          <a:prstGeom prst="rect">
            <a:avLst/>
          </a:prstGeom>
        </p:spPr>
      </p:pic>
      <p:sp>
        <p:nvSpPr>
          <p:cNvPr id="9" name="Text 3"/>
          <p:cNvSpPr txBox="1"/>
          <p:nvPr/>
        </p:nvSpPr>
        <p:spPr>
          <a:xfrm>
            <a:off x="819302" y="381305"/>
            <a:ext cx="3871570" cy="381305"/>
          </a:xfrm>
          <a:prstGeom prst="rect">
            <a:avLst/>
          </a:prstGeom>
          <a:noFill/>
          <a:ln/>
        </p:spPr>
        <p:txBody>
          <a:bodyPr wrap="none" lIns="0" tIns="0" rIns="0" bIns="0" rtlCol="0" anchor="ctr"/>
          <a:lstStyle/>
          <a:p>
            <a:pPr marL="0" indent="0" algn="l">
              <a:buNone/>
            </a:pPr>
            <a:r>
              <a:rPr lang="en-US" sz="2700" b="1" kern="0" spc="-67" dirty="0">
                <a:solidFill>
                  <a:srgbClr val="111827"/>
                </a:solidFill>
                <a:latin typeface="Oswald" pitchFamily="34" charset="0"/>
                <a:ea typeface="Oswald" pitchFamily="34" charset="-122"/>
                <a:cs typeface="Oswald" pitchFamily="34" charset="-120"/>
              </a:rPr>
              <a:t>WHAT WE OFFER</a:t>
            </a:r>
            <a:endParaRPr lang="en-US" sz="2700" dirty="0"/>
          </a:p>
        </p:txBody>
      </p:sp>
      <p:sp>
        <p:nvSpPr>
          <p:cNvPr id="10" name="Text 4"/>
          <p:cNvSpPr txBox="1"/>
          <p:nvPr/>
        </p:nvSpPr>
        <p:spPr>
          <a:xfrm>
            <a:off x="819302" y="800100"/>
            <a:ext cx="4189781" cy="267005"/>
          </a:xfrm>
          <a:prstGeom prst="rect">
            <a:avLst/>
          </a:prstGeom>
          <a:noFill/>
          <a:ln/>
        </p:spPr>
        <p:txBody>
          <a:bodyPr wrap="none" lIns="0" tIns="0" rIns="0" bIns="0" rtlCol="0" anchor="ctr"/>
          <a:lstStyle/>
          <a:p>
            <a:pPr marL="0" indent="0" algn="l">
              <a:buNone/>
            </a:pPr>
            <a:r>
              <a:rPr lang="en-US" sz="1500" b="1" kern="0" spc="75" dirty="0">
                <a:solidFill>
                  <a:srgbClr val="2A9D8F"/>
                </a:solidFill>
                <a:latin typeface="Roboto Condensed" pitchFamily="34" charset="0"/>
                <a:ea typeface="Roboto Condensed" pitchFamily="34" charset="-122"/>
                <a:cs typeface="Roboto Condensed" pitchFamily="34" charset="-120"/>
              </a:rPr>
              <a:t>THREE INTERLOCKING REVENUE ENGINES</a:t>
            </a:r>
            <a:endParaRPr lang="en-US" sz="1500" dirty="0"/>
          </a:p>
        </p:txBody>
      </p:sp>
      <p:sp>
        <p:nvSpPr>
          <p:cNvPr id="11" name="Shape 5"/>
          <p:cNvSpPr/>
          <p:nvPr/>
        </p:nvSpPr>
        <p:spPr>
          <a:xfrm>
            <a:off x="609905" y="1524305"/>
            <a:ext cx="3333902" cy="4952390"/>
          </a:xfrm>
          <a:prstGeom prst="roundRect">
            <a:avLst>
              <a:gd name="adj" fmla="val 1254"/>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dirty="0"/>
          </a:p>
        </p:txBody>
      </p:sp>
      <p:sp>
        <p:nvSpPr>
          <p:cNvPr id="12" name="Shape 6"/>
          <p:cNvSpPr/>
          <p:nvPr/>
        </p:nvSpPr>
        <p:spPr>
          <a:xfrm>
            <a:off x="619049" y="1533449"/>
            <a:ext cx="3314700" cy="1047902"/>
          </a:xfrm>
          <a:prstGeom prst="rect">
            <a:avLst/>
          </a:prstGeom>
          <a:solidFill>
            <a:srgbClr val="2A9D8F"/>
          </a:solidFill>
          <a:ln w="12700">
            <a:solidFill>
              <a:srgbClr val="FFFFFF">
                <a:alpha val="0"/>
              </a:srgbClr>
            </a:solidFill>
            <a:prstDash val="solid"/>
          </a:ln>
        </p:spPr>
        <p:txBody>
          <a:bodyPr/>
          <a:lstStyle/>
          <a:p>
            <a:endParaRPr lang="en-US"/>
          </a:p>
        </p:txBody>
      </p:sp>
      <p:sp>
        <p:nvSpPr>
          <p:cNvPr id="13" name="Text 7"/>
          <p:cNvSpPr txBox="1"/>
          <p:nvPr/>
        </p:nvSpPr>
        <p:spPr>
          <a:xfrm>
            <a:off x="1411834" y="2033626"/>
            <a:ext cx="1734617" cy="238658"/>
          </a:xfrm>
          <a:prstGeom prst="rect">
            <a:avLst/>
          </a:prstGeom>
          <a:noFill/>
          <a:ln/>
        </p:spPr>
        <p:txBody>
          <a:bodyPr wrap="none" lIns="0" tIns="0" rIns="0" bIns="0" rtlCol="0" anchor="ctr"/>
          <a:lstStyle/>
          <a:p>
            <a:pPr marL="0" indent="0" algn="ctr">
              <a:buNone/>
            </a:pPr>
            <a:r>
              <a:rPr lang="en-US" sz="1500" b="1" dirty="0">
                <a:solidFill>
                  <a:srgbClr val="FFFFFF"/>
                </a:solidFill>
                <a:latin typeface="Oswald" pitchFamily="34" charset="0"/>
                <a:ea typeface="Oswald" pitchFamily="34" charset="-122"/>
                <a:cs typeface="Oswald" pitchFamily="34" charset="-120"/>
              </a:rPr>
              <a:t>Workforce Solutions</a:t>
            </a:r>
            <a:endParaRPr lang="en-US" sz="1500" dirty="0"/>
          </a:p>
        </p:txBody>
      </p:sp>
      <p:sp>
        <p:nvSpPr>
          <p:cNvPr id="14" name="Text 8"/>
          <p:cNvSpPr txBox="1"/>
          <p:nvPr/>
        </p:nvSpPr>
        <p:spPr>
          <a:xfrm>
            <a:off x="819302" y="2691079"/>
            <a:ext cx="2934310" cy="3001061"/>
          </a:xfrm>
          <a:prstGeom prst="rect">
            <a:avLst/>
          </a:prstGeom>
          <a:noFill/>
          <a:ln/>
        </p:spPr>
        <p:txBody>
          <a:bodyPr wrap="square" lIns="0" tIns="0" rIns="0" bIns="0" rtlCol="0" anchor="ctr"/>
          <a:lstStyle/>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Domain-deep engineers - not generic coders</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Verticals: IT and Cloud Computing · BFSI · more </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Deployed in 10 days or less </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Pod governance + sprint accountability</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Contract-to-hire flexibility</a:t>
            </a:r>
            <a:endParaRPr lang="en-US" sz="1400" dirty="0"/>
          </a:p>
        </p:txBody>
      </p:sp>
      <p:sp>
        <p:nvSpPr>
          <p:cNvPr id="21" name="Text 15"/>
          <p:cNvSpPr txBox="1"/>
          <p:nvPr/>
        </p:nvSpPr>
        <p:spPr>
          <a:xfrm>
            <a:off x="2116836" y="1652321"/>
            <a:ext cx="329184" cy="342900"/>
          </a:xfrm>
          <a:prstGeom prst="rect">
            <a:avLst/>
          </a:prstGeom>
          <a:noFill/>
          <a:ln/>
        </p:spPr>
        <p:txBody>
          <a:bodyPr wrap="none" lIns="0" tIns="0" rIns="0" bIns="0" rtlCol="0" anchor="ctr"/>
          <a:lstStyle/>
          <a:p>
            <a:pPr marL="0" indent="0" algn="ctr">
              <a:buNone/>
            </a:pPr>
            <a:r>
              <a:rPr lang="en-US" sz="2200" b="1" dirty="0">
                <a:solidFill>
                  <a:srgbClr val="FFFFFF">
                    <a:alpha val="90000"/>
                  </a:srgbClr>
                </a:solidFill>
                <a:latin typeface="Oswald" pitchFamily="34" charset="0"/>
                <a:ea typeface="Oswald" pitchFamily="34" charset="-122"/>
                <a:cs typeface="Oswald" pitchFamily="34" charset="-120"/>
              </a:rPr>
              <a:t>01</a:t>
            </a:r>
            <a:endParaRPr lang="en-US" sz="2200" dirty="0"/>
          </a:p>
        </p:txBody>
      </p:sp>
      <p:sp>
        <p:nvSpPr>
          <p:cNvPr id="22" name="Text 16"/>
          <p:cNvSpPr txBox="1"/>
          <p:nvPr/>
        </p:nvSpPr>
        <p:spPr>
          <a:xfrm>
            <a:off x="1570025" y="2309774"/>
            <a:ext cx="1420978" cy="152705"/>
          </a:xfrm>
          <a:prstGeom prst="rect">
            <a:avLst/>
          </a:prstGeom>
          <a:noFill/>
          <a:ln/>
        </p:spPr>
        <p:txBody>
          <a:bodyPr wrap="none" lIns="0" tIns="0" rIns="0" bIns="0" rtlCol="0" anchor="ctr"/>
          <a:lstStyle/>
          <a:p>
            <a:pPr marL="0" indent="0" algn="ctr">
              <a:buNone/>
            </a:pPr>
            <a:r>
              <a:rPr lang="en-US" sz="900" kern="0" spc="45" dirty="0">
                <a:solidFill>
                  <a:srgbClr val="FFFFFF">
                    <a:alpha val="90000"/>
                  </a:srgbClr>
                </a:solidFill>
                <a:latin typeface="Roboto Condensed" pitchFamily="34" charset="0"/>
                <a:ea typeface="Roboto Condensed" pitchFamily="34" charset="-122"/>
                <a:cs typeface="Roboto Condensed" pitchFamily="34" charset="-120"/>
              </a:rPr>
              <a:t>The Volume Engine</a:t>
            </a:r>
            <a:endParaRPr lang="en-US" sz="900" dirty="0"/>
          </a:p>
        </p:txBody>
      </p:sp>
      <p:sp>
        <p:nvSpPr>
          <p:cNvPr id="23" name="Shape 17"/>
          <p:cNvSpPr/>
          <p:nvPr/>
        </p:nvSpPr>
        <p:spPr>
          <a:xfrm>
            <a:off x="4419295" y="1524305"/>
            <a:ext cx="3333902" cy="4952390"/>
          </a:xfrm>
          <a:prstGeom prst="roundRect">
            <a:avLst>
              <a:gd name="adj" fmla="val 1254"/>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24" name="Shape 18"/>
          <p:cNvSpPr/>
          <p:nvPr/>
        </p:nvSpPr>
        <p:spPr>
          <a:xfrm>
            <a:off x="4429354" y="1533449"/>
            <a:ext cx="3314700" cy="1047902"/>
          </a:xfrm>
          <a:prstGeom prst="rect">
            <a:avLst/>
          </a:prstGeom>
          <a:solidFill>
            <a:srgbClr val="D62839"/>
          </a:solidFill>
          <a:ln w="12700">
            <a:solidFill>
              <a:srgbClr val="FFFFFF">
                <a:alpha val="0"/>
              </a:srgbClr>
            </a:solidFill>
            <a:prstDash val="solid"/>
          </a:ln>
        </p:spPr>
        <p:txBody>
          <a:bodyPr/>
          <a:lstStyle/>
          <a:p>
            <a:endParaRPr lang="en-US"/>
          </a:p>
        </p:txBody>
      </p:sp>
      <p:sp>
        <p:nvSpPr>
          <p:cNvPr id="25" name="Text 19"/>
          <p:cNvSpPr txBox="1"/>
          <p:nvPr/>
        </p:nvSpPr>
        <p:spPr>
          <a:xfrm>
            <a:off x="5386730" y="2033626"/>
            <a:ext cx="1406347" cy="238658"/>
          </a:xfrm>
          <a:prstGeom prst="rect">
            <a:avLst/>
          </a:prstGeom>
          <a:noFill/>
          <a:ln/>
        </p:spPr>
        <p:txBody>
          <a:bodyPr wrap="none" lIns="0" tIns="0" rIns="0" bIns="0" rtlCol="0" anchor="ctr"/>
          <a:lstStyle/>
          <a:p>
            <a:pPr marL="0" indent="0" algn="ctr">
              <a:buNone/>
            </a:pPr>
            <a:r>
              <a:rPr lang="en-US" sz="1500" b="1" dirty="0">
                <a:solidFill>
                  <a:srgbClr val="FFFFFF"/>
                </a:solidFill>
                <a:latin typeface="Oswald" pitchFamily="34" charset="0"/>
                <a:ea typeface="Oswald" pitchFamily="34" charset="-122"/>
                <a:cs typeface="Oswald" pitchFamily="34" charset="-120"/>
              </a:rPr>
              <a:t>AI Pods</a:t>
            </a:r>
            <a:endParaRPr lang="en-US" sz="1500" dirty="0"/>
          </a:p>
        </p:txBody>
      </p:sp>
      <p:sp>
        <p:nvSpPr>
          <p:cNvPr id="26" name="Text 20"/>
          <p:cNvSpPr txBox="1"/>
          <p:nvPr/>
        </p:nvSpPr>
        <p:spPr>
          <a:xfrm>
            <a:off x="4619549" y="4204760"/>
            <a:ext cx="2934310" cy="409651"/>
          </a:xfrm>
          <a:prstGeom prst="rect">
            <a:avLst/>
          </a:prstGeom>
          <a:noFill/>
          <a:ln/>
        </p:spPr>
        <p:txBody>
          <a:bodyPr wrap="square" lIns="0" tIns="0" rIns="0" bIns="0" rtlCol="0" anchor="ctr"/>
          <a:lstStyle/>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AI-first engineering pods, embedded tech lead</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Every engineer AI-certified before Day 1</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J2W AI Labs - continuous monthly upskilling</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AI-assisted code, test &amp; docs from Day 1</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Compounding productivity, not static seats</a:t>
            </a:r>
            <a:endParaRPr lang="en-US" sz="1400" dirty="0"/>
          </a:p>
        </p:txBody>
      </p:sp>
      <p:sp>
        <p:nvSpPr>
          <p:cNvPr id="33" name="Text 27"/>
          <p:cNvSpPr txBox="1"/>
          <p:nvPr/>
        </p:nvSpPr>
        <p:spPr>
          <a:xfrm>
            <a:off x="5905195" y="1652321"/>
            <a:ext cx="363017" cy="342900"/>
          </a:xfrm>
          <a:prstGeom prst="rect">
            <a:avLst/>
          </a:prstGeom>
          <a:noFill/>
          <a:ln/>
        </p:spPr>
        <p:txBody>
          <a:bodyPr wrap="none" lIns="0" tIns="0" rIns="0" bIns="0" rtlCol="0" anchor="ctr"/>
          <a:lstStyle/>
          <a:p>
            <a:pPr marL="0" indent="0" algn="ctr">
              <a:buNone/>
            </a:pPr>
            <a:r>
              <a:rPr lang="en-US" sz="2200" b="1" dirty="0">
                <a:solidFill>
                  <a:srgbClr val="FFFFFF">
                    <a:alpha val="90000"/>
                  </a:srgbClr>
                </a:solidFill>
                <a:latin typeface="Oswald" pitchFamily="34" charset="0"/>
                <a:ea typeface="Oswald" pitchFamily="34" charset="-122"/>
                <a:cs typeface="Oswald" pitchFamily="34" charset="-120"/>
              </a:rPr>
              <a:t>02</a:t>
            </a:r>
            <a:endParaRPr lang="en-US" sz="2200" dirty="0"/>
          </a:p>
        </p:txBody>
      </p:sp>
      <p:sp>
        <p:nvSpPr>
          <p:cNvPr id="34" name="Text 28"/>
          <p:cNvSpPr txBox="1"/>
          <p:nvPr/>
        </p:nvSpPr>
        <p:spPr>
          <a:xfrm>
            <a:off x="5079492" y="2309774"/>
            <a:ext cx="2018081" cy="152705"/>
          </a:xfrm>
          <a:prstGeom prst="rect">
            <a:avLst/>
          </a:prstGeom>
          <a:noFill/>
          <a:ln/>
        </p:spPr>
        <p:txBody>
          <a:bodyPr wrap="none" lIns="0" tIns="0" rIns="0" bIns="0" rtlCol="0" anchor="ctr"/>
          <a:lstStyle/>
          <a:p>
            <a:pPr marL="0" indent="0" algn="ctr">
              <a:buNone/>
            </a:pPr>
            <a:r>
              <a:rPr lang="en-US" sz="900" kern="0" spc="45" dirty="0">
                <a:solidFill>
                  <a:srgbClr val="FFFFFF">
                    <a:alpha val="90000"/>
                  </a:srgbClr>
                </a:solidFill>
                <a:latin typeface="Roboto Condensed" pitchFamily="34" charset="0"/>
                <a:ea typeface="Roboto Condensed" pitchFamily="34" charset="-122"/>
                <a:cs typeface="Roboto Condensed" pitchFamily="34" charset="-120"/>
              </a:rPr>
              <a:t>The Margin Expansion Engine</a:t>
            </a:r>
            <a:endParaRPr lang="en-US" sz="900" dirty="0"/>
          </a:p>
        </p:txBody>
      </p:sp>
      <p:sp>
        <p:nvSpPr>
          <p:cNvPr id="35" name="Shape 29"/>
          <p:cNvSpPr/>
          <p:nvPr/>
        </p:nvSpPr>
        <p:spPr>
          <a:xfrm>
            <a:off x="8229600" y="1524305"/>
            <a:ext cx="3333902" cy="4952390"/>
          </a:xfrm>
          <a:prstGeom prst="roundRect">
            <a:avLst>
              <a:gd name="adj" fmla="val 1254"/>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36" name="Shape 30"/>
          <p:cNvSpPr/>
          <p:nvPr/>
        </p:nvSpPr>
        <p:spPr>
          <a:xfrm>
            <a:off x="8238744" y="1533449"/>
            <a:ext cx="3314700" cy="1047902"/>
          </a:xfrm>
          <a:prstGeom prst="rect">
            <a:avLst/>
          </a:prstGeom>
          <a:solidFill>
            <a:srgbClr val="2A9D8F"/>
          </a:solidFill>
          <a:ln w="12700">
            <a:solidFill>
              <a:srgbClr val="FFFFFF">
                <a:alpha val="0"/>
              </a:srgbClr>
            </a:solidFill>
            <a:prstDash val="solid"/>
          </a:ln>
        </p:spPr>
        <p:txBody>
          <a:bodyPr/>
          <a:lstStyle/>
          <a:p>
            <a:endParaRPr lang="en-US"/>
          </a:p>
        </p:txBody>
      </p:sp>
      <p:sp>
        <p:nvSpPr>
          <p:cNvPr id="37" name="Text 31"/>
          <p:cNvSpPr txBox="1"/>
          <p:nvPr/>
        </p:nvSpPr>
        <p:spPr>
          <a:xfrm>
            <a:off x="8685886" y="2033626"/>
            <a:ext cx="2425903" cy="238658"/>
          </a:xfrm>
          <a:prstGeom prst="rect">
            <a:avLst/>
          </a:prstGeom>
          <a:noFill/>
          <a:ln/>
        </p:spPr>
        <p:txBody>
          <a:bodyPr wrap="none" lIns="0" tIns="0" rIns="0" bIns="0" rtlCol="0" anchor="ctr"/>
          <a:lstStyle/>
          <a:p>
            <a:pPr marL="0" indent="0" algn="ctr">
              <a:buNone/>
            </a:pPr>
            <a:r>
              <a:rPr lang="en-US" sz="1500" b="1" dirty="0">
                <a:solidFill>
                  <a:srgbClr val="FFFFFF"/>
                </a:solidFill>
                <a:latin typeface="Oswald" pitchFamily="34" charset="0"/>
                <a:ea typeface="Oswald" pitchFamily="34" charset="-122"/>
                <a:cs typeface="Oswald" pitchFamily="34" charset="-120"/>
              </a:rPr>
              <a:t>Managed Service Solutions</a:t>
            </a:r>
            <a:endParaRPr lang="en-US" sz="1500" dirty="0"/>
          </a:p>
        </p:txBody>
      </p:sp>
      <p:sp>
        <p:nvSpPr>
          <p:cNvPr id="38" name="Text 32"/>
          <p:cNvSpPr txBox="1"/>
          <p:nvPr/>
        </p:nvSpPr>
        <p:spPr>
          <a:xfrm>
            <a:off x="8429854" y="4158691"/>
            <a:ext cx="2934310" cy="409651"/>
          </a:xfrm>
          <a:prstGeom prst="rect">
            <a:avLst/>
          </a:prstGeom>
          <a:noFill/>
          <a:ln/>
        </p:spPr>
        <p:txBody>
          <a:bodyPr wrap="square" lIns="0" tIns="0" rIns="0" bIns="0" rtlCol="0" anchor="ctr"/>
          <a:lstStyle/>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Dedicated pods owning outcomes, not tasks</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Operate to outcome-bound SLOs</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60+ pre-built solution accelerators</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On SAP, ServiceNow &amp; industry stacks</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40% improvement threshold - our standard</a:t>
            </a:r>
            <a:endParaRPr lang="en-US" sz="1400" dirty="0"/>
          </a:p>
        </p:txBody>
      </p:sp>
      <p:sp>
        <p:nvSpPr>
          <p:cNvPr id="45" name="Text 39"/>
          <p:cNvSpPr txBox="1"/>
          <p:nvPr/>
        </p:nvSpPr>
        <p:spPr>
          <a:xfrm>
            <a:off x="9715500" y="1652321"/>
            <a:ext cx="363017" cy="342900"/>
          </a:xfrm>
          <a:prstGeom prst="rect">
            <a:avLst/>
          </a:prstGeom>
          <a:noFill/>
          <a:ln/>
        </p:spPr>
        <p:txBody>
          <a:bodyPr wrap="none" lIns="0" tIns="0" rIns="0" bIns="0" rtlCol="0" anchor="ctr"/>
          <a:lstStyle/>
          <a:p>
            <a:pPr marL="0" indent="0" algn="ctr">
              <a:buNone/>
            </a:pPr>
            <a:r>
              <a:rPr lang="en-US" sz="2200" b="1" dirty="0">
                <a:solidFill>
                  <a:srgbClr val="FFFFFF">
                    <a:alpha val="90000"/>
                  </a:srgbClr>
                </a:solidFill>
                <a:latin typeface="Oswald" pitchFamily="34" charset="0"/>
                <a:ea typeface="Oswald" pitchFamily="34" charset="-122"/>
                <a:cs typeface="Oswald" pitchFamily="34" charset="-120"/>
              </a:rPr>
              <a:t>03</a:t>
            </a:r>
            <a:endParaRPr lang="en-US" sz="2200" dirty="0"/>
          </a:p>
        </p:txBody>
      </p:sp>
      <p:sp>
        <p:nvSpPr>
          <p:cNvPr id="46" name="Text 40"/>
          <p:cNvSpPr txBox="1"/>
          <p:nvPr/>
        </p:nvSpPr>
        <p:spPr>
          <a:xfrm>
            <a:off x="8956548" y="2309774"/>
            <a:ext cx="1881835" cy="152705"/>
          </a:xfrm>
          <a:prstGeom prst="rect">
            <a:avLst/>
          </a:prstGeom>
          <a:noFill/>
          <a:ln/>
        </p:spPr>
        <p:txBody>
          <a:bodyPr wrap="none" lIns="0" tIns="0" rIns="0" bIns="0" rtlCol="0" anchor="ctr"/>
          <a:lstStyle/>
          <a:p>
            <a:pPr marL="0" indent="0" algn="ctr">
              <a:buNone/>
            </a:pPr>
            <a:r>
              <a:rPr lang="en-US" sz="900" kern="0" spc="45" dirty="0">
                <a:solidFill>
                  <a:srgbClr val="FFFFFF">
                    <a:alpha val="90000"/>
                  </a:srgbClr>
                </a:solidFill>
                <a:latin typeface="Roboto Condensed" pitchFamily="34" charset="0"/>
                <a:ea typeface="Roboto Condensed" pitchFamily="34" charset="-122"/>
                <a:cs typeface="Roboto Condensed" pitchFamily="34" charset="-120"/>
              </a:rPr>
              <a:t>The Strategic Value Engine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323228122ff92d2332e711a84ca3b40c.png"/>
          <p:cNvPicPr>
            <a:picLocks noChangeAspect="1"/>
          </p:cNvPicPr>
          <p:nvPr/>
        </p:nvPicPr>
        <p:blipFill>
          <a:blip r:embed="rId3"/>
          <a:srcRect l="-198" r="-198"/>
          <a:stretch/>
        </p:blipFill>
        <p:spPr>
          <a:xfrm>
            <a:off x="0" y="0"/>
            <a:ext cx="8124444" cy="75895"/>
          </a:xfrm>
          <a:prstGeom prst="rect">
            <a:avLst/>
          </a:prstGeom>
        </p:spPr>
      </p:pic>
      <p:pic>
        <p:nvPicPr>
          <p:cNvPr id="5" name="Image 1" descr="gen-dedup-9663ecf744b06e35d4c2cebaab92a2ea.png"/>
          <p:cNvPicPr>
            <a:picLocks noChangeAspect="1"/>
          </p:cNvPicPr>
          <p:nvPr/>
        </p:nvPicPr>
        <p:blipFill>
          <a:blip r:embed="rId4"/>
          <a:srcRect l="-202" r="-202"/>
          <a:stretch/>
        </p:blipFill>
        <p:spPr>
          <a:xfrm>
            <a:off x="8124444" y="0"/>
            <a:ext cx="4067251" cy="75895"/>
          </a:xfrm>
          <a:prstGeom prst="rect">
            <a:avLst/>
          </a:prstGeom>
        </p:spPr>
      </p:pic>
      <p:sp>
        <p:nvSpPr>
          <p:cNvPr id="6" name="Shape 2"/>
          <p:cNvSpPr/>
          <p:nvPr/>
        </p:nvSpPr>
        <p:spPr>
          <a:xfrm>
            <a:off x="9525305" y="4762195"/>
            <a:ext cx="3810305" cy="3810305"/>
          </a:xfrm>
          <a:prstGeom prst="ellipse">
            <a:avLst/>
          </a:prstGeom>
          <a:noFill/>
          <a:ln w="508000">
            <a:solidFill>
              <a:srgbClr val="D62839">
                <a:alpha val="3000"/>
              </a:srgbClr>
            </a:solidFill>
            <a:prstDash val="solid"/>
          </a:ln>
        </p:spPr>
        <p:txBody>
          <a:bodyPr/>
          <a:lstStyle/>
          <a:p>
            <a:endParaRPr lang="en-US"/>
          </a:p>
        </p:txBody>
      </p:sp>
      <p:pic>
        <p:nvPicPr>
          <p:cNvPr id="7" name="Image 2" descr="gen-dedup-b81d2082573e6d8de64df87af639bbf0.png"/>
          <p:cNvPicPr>
            <a:picLocks noChangeAspect="1"/>
          </p:cNvPicPr>
          <p:nvPr/>
        </p:nvPicPr>
        <p:blipFill>
          <a:blip r:embed="rId5"/>
          <a:srcRect l="-360" r="-360"/>
          <a:stretch/>
        </p:blipFill>
        <p:spPr>
          <a:xfrm>
            <a:off x="609905" y="381305"/>
            <a:ext cx="57607" cy="381305"/>
          </a:xfrm>
          <a:prstGeom prst="rect">
            <a:avLst/>
          </a:prstGeom>
        </p:spPr>
      </p:pic>
      <p:sp>
        <p:nvSpPr>
          <p:cNvPr id="8" name="Shape 3"/>
          <p:cNvSpPr/>
          <p:nvPr/>
        </p:nvSpPr>
        <p:spPr>
          <a:xfrm>
            <a:off x="609905" y="1524305"/>
            <a:ext cx="2609698" cy="3877056"/>
          </a:xfrm>
          <a:prstGeom prst="roundRect">
            <a:avLst>
              <a:gd name="adj" fmla="val 3069"/>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9" name="Shape 4"/>
          <p:cNvSpPr/>
          <p:nvPr/>
        </p:nvSpPr>
        <p:spPr>
          <a:xfrm>
            <a:off x="609905" y="1524305"/>
            <a:ext cx="2609698" cy="57607"/>
          </a:xfrm>
          <a:prstGeom prst="roundRect">
            <a:avLst>
              <a:gd name="adj" fmla="val 139034"/>
            </a:avLst>
          </a:prstGeom>
          <a:solidFill>
            <a:srgbClr val="2A9D8F"/>
          </a:solidFill>
          <a:ln w="12700">
            <a:solidFill>
              <a:srgbClr val="2A9D8F">
                <a:alpha val="0"/>
              </a:srgbClr>
            </a:solidFill>
            <a:prstDash val="solid"/>
          </a:ln>
        </p:spPr>
        <p:txBody>
          <a:bodyPr/>
          <a:lstStyle/>
          <a:p>
            <a:endParaRPr lang="en-US"/>
          </a:p>
        </p:txBody>
      </p:sp>
      <p:sp>
        <p:nvSpPr>
          <p:cNvPr id="10" name="Shape 5"/>
          <p:cNvSpPr/>
          <p:nvPr/>
        </p:nvSpPr>
        <p:spPr>
          <a:xfrm>
            <a:off x="3429000" y="1524305"/>
            <a:ext cx="2609698" cy="3877056"/>
          </a:xfrm>
          <a:prstGeom prst="roundRect">
            <a:avLst>
              <a:gd name="adj" fmla="val 3069"/>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11" name="Shape 6"/>
          <p:cNvSpPr/>
          <p:nvPr/>
        </p:nvSpPr>
        <p:spPr>
          <a:xfrm>
            <a:off x="3429000" y="1524305"/>
            <a:ext cx="2609698" cy="57607"/>
          </a:xfrm>
          <a:prstGeom prst="roundRect">
            <a:avLst>
              <a:gd name="adj" fmla="val 139034"/>
            </a:avLst>
          </a:prstGeom>
          <a:solidFill>
            <a:srgbClr val="D62839"/>
          </a:solidFill>
          <a:ln w="12700">
            <a:solidFill>
              <a:srgbClr val="D62839">
                <a:alpha val="0"/>
              </a:srgbClr>
            </a:solidFill>
            <a:prstDash val="solid"/>
          </a:ln>
        </p:spPr>
        <p:txBody>
          <a:bodyPr/>
          <a:lstStyle/>
          <a:p>
            <a:endParaRPr lang="en-US"/>
          </a:p>
        </p:txBody>
      </p:sp>
      <p:sp>
        <p:nvSpPr>
          <p:cNvPr id="12" name="Shape 7"/>
          <p:cNvSpPr/>
          <p:nvPr/>
        </p:nvSpPr>
        <p:spPr>
          <a:xfrm>
            <a:off x="6248095" y="1524305"/>
            <a:ext cx="2609698" cy="3877056"/>
          </a:xfrm>
          <a:prstGeom prst="roundRect">
            <a:avLst>
              <a:gd name="adj" fmla="val 3069"/>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13" name="Shape 8"/>
          <p:cNvSpPr/>
          <p:nvPr/>
        </p:nvSpPr>
        <p:spPr>
          <a:xfrm>
            <a:off x="6248095" y="1524305"/>
            <a:ext cx="2609698" cy="57607"/>
          </a:xfrm>
          <a:prstGeom prst="roundRect">
            <a:avLst>
              <a:gd name="adj" fmla="val 139034"/>
            </a:avLst>
          </a:prstGeom>
          <a:solidFill>
            <a:srgbClr val="2A9D8F"/>
          </a:solidFill>
          <a:ln w="12700">
            <a:solidFill>
              <a:srgbClr val="2A9D8F">
                <a:alpha val="0"/>
              </a:srgbClr>
            </a:solidFill>
            <a:prstDash val="solid"/>
          </a:ln>
        </p:spPr>
        <p:txBody>
          <a:bodyPr/>
          <a:lstStyle/>
          <a:p>
            <a:endParaRPr lang="en-US"/>
          </a:p>
        </p:txBody>
      </p:sp>
      <p:sp>
        <p:nvSpPr>
          <p:cNvPr id="14" name="Shape 9"/>
          <p:cNvSpPr/>
          <p:nvPr/>
        </p:nvSpPr>
        <p:spPr>
          <a:xfrm>
            <a:off x="9068105" y="1524305"/>
            <a:ext cx="2609698" cy="3877056"/>
          </a:xfrm>
          <a:prstGeom prst="roundRect">
            <a:avLst>
              <a:gd name="adj" fmla="val 3069"/>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15" name="Shape 10"/>
          <p:cNvSpPr/>
          <p:nvPr/>
        </p:nvSpPr>
        <p:spPr>
          <a:xfrm>
            <a:off x="9068105" y="1524305"/>
            <a:ext cx="2609698" cy="57607"/>
          </a:xfrm>
          <a:prstGeom prst="roundRect">
            <a:avLst>
              <a:gd name="adj" fmla="val 139034"/>
            </a:avLst>
          </a:prstGeom>
          <a:solidFill>
            <a:srgbClr val="D62839"/>
          </a:solidFill>
          <a:ln w="12700">
            <a:solidFill>
              <a:srgbClr val="D62839">
                <a:alpha val="0"/>
              </a:srgbClr>
            </a:solidFill>
            <a:prstDash val="solid"/>
          </a:ln>
        </p:spPr>
        <p:txBody>
          <a:bodyPr/>
          <a:lstStyle/>
          <a:p>
            <a:endParaRPr lang="en-US"/>
          </a:p>
        </p:txBody>
      </p:sp>
      <p:pic>
        <p:nvPicPr>
          <p:cNvPr id="16" name="Image 3" descr="gen-dedup-c79c8869390c39dd2ec5734755e72ead.png"/>
          <p:cNvPicPr>
            <a:picLocks noChangeAspect="1"/>
          </p:cNvPicPr>
          <p:nvPr/>
        </p:nvPicPr>
        <p:blipFill>
          <a:blip r:embed="rId6"/>
          <a:srcRect l="-2083" r="-2083"/>
          <a:stretch/>
        </p:blipFill>
        <p:spPr>
          <a:xfrm>
            <a:off x="609905" y="5715000"/>
            <a:ext cx="11011205" cy="9144"/>
          </a:xfrm>
          <a:prstGeom prst="rect">
            <a:avLst/>
          </a:prstGeom>
        </p:spPr>
      </p:pic>
      <p:sp>
        <p:nvSpPr>
          <p:cNvPr id="17" name="Shape 11"/>
          <p:cNvSpPr/>
          <p:nvPr/>
        </p:nvSpPr>
        <p:spPr>
          <a:xfrm>
            <a:off x="609905" y="5905195"/>
            <a:ext cx="11058754" cy="685800"/>
          </a:xfrm>
          <a:prstGeom prst="roundRect">
            <a:avLst>
              <a:gd name="adj" fmla="val 29630"/>
            </a:avLst>
          </a:prstGeom>
          <a:solidFill>
            <a:srgbClr val="2A9D8F">
              <a:alpha val="5000"/>
            </a:srgbClr>
          </a:solidFill>
          <a:ln w="12700">
            <a:solidFill>
              <a:srgbClr val="E5E7EB"/>
            </a:solidFill>
            <a:prstDash val="solid"/>
          </a:ln>
        </p:spPr>
        <p:txBody>
          <a:bodyPr/>
          <a:lstStyle/>
          <a:p>
            <a:endParaRPr lang="en-US"/>
          </a:p>
        </p:txBody>
      </p:sp>
      <p:sp>
        <p:nvSpPr>
          <p:cNvPr id="18" name="Shape 12"/>
          <p:cNvSpPr/>
          <p:nvPr/>
        </p:nvSpPr>
        <p:spPr>
          <a:xfrm>
            <a:off x="609905" y="5905195"/>
            <a:ext cx="38405" cy="685800"/>
          </a:xfrm>
          <a:prstGeom prst="roundRect">
            <a:avLst>
              <a:gd name="adj" fmla="val 529098"/>
            </a:avLst>
          </a:prstGeom>
          <a:solidFill>
            <a:srgbClr val="2A9D8F"/>
          </a:solidFill>
          <a:ln w="12700">
            <a:solidFill>
              <a:srgbClr val="2A9D8F">
                <a:alpha val="0"/>
              </a:srgbClr>
            </a:solidFill>
            <a:prstDash val="solid"/>
          </a:ln>
        </p:spPr>
        <p:txBody>
          <a:bodyPr/>
          <a:lstStyle/>
          <a:p>
            <a:endParaRPr lang="en-US"/>
          </a:p>
        </p:txBody>
      </p:sp>
      <p:pic>
        <p:nvPicPr>
          <p:cNvPr id="19" name="Image 4" descr="gen-dedup-1bf8b7c2ed0132a588bc6493359d36f7.png"/>
          <p:cNvPicPr>
            <a:picLocks noChangeAspect="1"/>
          </p:cNvPicPr>
          <p:nvPr/>
        </p:nvPicPr>
        <p:blipFill>
          <a:blip r:embed="rId7"/>
          <a:srcRect/>
          <a:stretch/>
        </p:blipFill>
        <p:spPr>
          <a:xfrm>
            <a:off x="3157460" y="3543605"/>
            <a:ext cx="323698" cy="323698"/>
          </a:xfrm>
          <a:prstGeom prst="rect">
            <a:avLst/>
          </a:prstGeom>
        </p:spPr>
      </p:pic>
      <p:pic>
        <p:nvPicPr>
          <p:cNvPr id="20" name="Image 5" descr="gen-dedup-4f3b576989a6b43ea9ecd09ca0f289b1.png"/>
          <p:cNvPicPr>
            <a:picLocks noChangeAspect="1"/>
          </p:cNvPicPr>
          <p:nvPr/>
        </p:nvPicPr>
        <p:blipFill>
          <a:blip r:embed="rId8"/>
          <a:srcRect t="-5544" b="-5544"/>
          <a:stretch/>
        </p:blipFill>
        <p:spPr>
          <a:xfrm>
            <a:off x="3266274" y="3638702"/>
            <a:ext cx="105156" cy="133502"/>
          </a:xfrm>
          <a:prstGeom prst="rect">
            <a:avLst/>
          </a:prstGeom>
        </p:spPr>
      </p:pic>
      <p:pic>
        <p:nvPicPr>
          <p:cNvPr id="21" name="Image 6" descr="gen-dedup-1bf8b7c2ed0132a588bc6493359d36f7.png"/>
          <p:cNvPicPr>
            <a:picLocks noChangeAspect="1"/>
          </p:cNvPicPr>
          <p:nvPr/>
        </p:nvPicPr>
        <p:blipFill>
          <a:blip r:embed="rId7"/>
          <a:srcRect/>
          <a:stretch/>
        </p:blipFill>
        <p:spPr>
          <a:xfrm>
            <a:off x="5976555" y="3543605"/>
            <a:ext cx="323698" cy="323698"/>
          </a:xfrm>
          <a:prstGeom prst="rect">
            <a:avLst/>
          </a:prstGeom>
        </p:spPr>
      </p:pic>
      <p:pic>
        <p:nvPicPr>
          <p:cNvPr id="22" name="Image 7" descr="gen-dedup-4f3b576989a6b43ea9ecd09ca0f289b1.png"/>
          <p:cNvPicPr>
            <a:picLocks noChangeAspect="1"/>
          </p:cNvPicPr>
          <p:nvPr/>
        </p:nvPicPr>
        <p:blipFill>
          <a:blip r:embed="rId8"/>
          <a:srcRect t="-5544" b="-5544"/>
          <a:stretch/>
        </p:blipFill>
        <p:spPr>
          <a:xfrm>
            <a:off x="6086283" y="3638702"/>
            <a:ext cx="105156" cy="133502"/>
          </a:xfrm>
          <a:prstGeom prst="rect">
            <a:avLst/>
          </a:prstGeom>
        </p:spPr>
      </p:pic>
      <p:pic>
        <p:nvPicPr>
          <p:cNvPr id="23" name="Image 8" descr="gen-dedup-1bf8b7c2ed0132a588bc6493359d36f7.png"/>
          <p:cNvPicPr>
            <a:picLocks noChangeAspect="1"/>
          </p:cNvPicPr>
          <p:nvPr/>
        </p:nvPicPr>
        <p:blipFill>
          <a:blip r:embed="rId7"/>
          <a:srcRect/>
          <a:stretch/>
        </p:blipFill>
        <p:spPr>
          <a:xfrm>
            <a:off x="8795651" y="3543605"/>
            <a:ext cx="323698" cy="323698"/>
          </a:xfrm>
          <a:prstGeom prst="rect">
            <a:avLst/>
          </a:prstGeom>
        </p:spPr>
      </p:pic>
      <p:pic>
        <p:nvPicPr>
          <p:cNvPr id="24" name="Image 9" descr="gen-dedup-4f3b576989a6b43ea9ecd09ca0f289b1.png"/>
          <p:cNvPicPr>
            <a:picLocks noChangeAspect="1"/>
          </p:cNvPicPr>
          <p:nvPr/>
        </p:nvPicPr>
        <p:blipFill>
          <a:blip r:embed="rId8"/>
          <a:srcRect t="-5544" b="-5544"/>
          <a:stretch/>
        </p:blipFill>
        <p:spPr>
          <a:xfrm>
            <a:off x="8905379" y="3638702"/>
            <a:ext cx="105156" cy="133502"/>
          </a:xfrm>
          <a:prstGeom prst="rect">
            <a:avLst/>
          </a:prstGeom>
        </p:spPr>
      </p:pic>
      <p:sp>
        <p:nvSpPr>
          <p:cNvPr id="25" name="Text 13"/>
          <p:cNvSpPr txBox="1"/>
          <p:nvPr/>
        </p:nvSpPr>
        <p:spPr>
          <a:xfrm>
            <a:off x="819302" y="304495"/>
            <a:ext cx="10478110" cy="419710"/>
          </a:xfrm>
          <a:prstGeom prst="rect">
            <a:avLst/>
          </a:prstGeom>
          <a:noFill/>
          <a:ln/>
        </p:spPr>
        <p:txBody>
          <a:bodyPr wrap="none" lIns="0" tIns="0" rIns="0" bIns="0" rtlCol="0" anchor="ctr"/>
          <a:lstStyle/>
          <a:p>
            <a:pPr marL="0" indent="0" algn="l">
              <a:buNone/>
            </a:pPr>
            <a:r>
              <a:rPr lang="en-US" sz="2700" b="1" dirty="0">
                <a:solidFill>
                  <a:srgbClr val="111827"/>
                </a:solidFill>
                <a:latin typeface="Oswald" pitchFamily="34" charset="0"/>
                <a:ea typeface="Oswald" pitchFamily="34" charset="-122"/>
                <a:cs typeface="Oswald" pitchFamily="34" charset="-120"/>
              </a:rPr>
              <a:t>THE J2W OPERATING MODEL</a:t>
            </a:r>
            <a:endParaRPr lang="en-US" sz="2700" dirty="0"/>
          </a:p>
        </p:txBody>
      </p:sp>
      <p:sp>
        <p:nvSpPr>
          <p:cNvPr id="26" name="Text 14"/>
          <p:cNvSpPr txBox="1"/>
          <p:nvPr/>
        </p:nvSpPr>
        <p:spPr>
          <a:xfrm>
            <a:off x="819302" y="792785"/>
            <a:ext cx="10478110" cy="181051"/>
          </a:xfrm>
          <a:prstGeom prst="rect">
            <a:avLst/>
          </a:prstGeom>
          <a:noFill/>
          <a:ln/>
        </p:spPr>
        <p:txBody>
          <a:bodyPr wrap="none" lIns="0" tIns="0" rIns="0" bIns="0" rtlCol="0" anchor="ctr"/>
          <a:lstStyle/>
          <a:p>
            <a:pPr marL="0" indent="0" algn="l">
              <a:buNone/>
            </a:pPr>
            <a:r>
              <a:rPr lang="en-US" sz="1500" dirty="0">
                <a:solidFill>
                  <a:srgbClr val="4B5563"/>
                </a:solidFill>
                <a:latin typeface="Raleway" pitchFamily="34" charset="0"/>
                <a:ea typeface="Raleway" pitchFamily="34" charset="-122"/>
                <a:cs typeface="Raleway" pitchFamily="34" charset="-120"/>
              </a:rPr>
              <a:t>We don't just deploy - we embed, align, and deliver measurable outcomes.</a:t>
            </a:r>
            <a:endParaRPr lang="en-US" sz="1500" dirty="0"/>
          </a:p>
        </p:txBody>
      </p:sp>
      <p:sp>
        <p:nvSpPr>
          <p:cNvPr id="27" name="Shape 15"/>
          <p:cNvSpPr/>
          <p:nvPr/>
        </p:nvSpPr>
        <p:spPr>
          <a:xfrm>
            <a:off x="1638605" y="1819656"/>
            <a:ext cx="533095" cy="533095"/>
          </a:xfrm>
          <a:prstGeom prst="ellipse">
            <a:avLst/>
          </a:prstGeom>
          <a:solidFill>
            <a:srgbClr val="2A9D8F">
              <a:alpha val="10000"/>
            </a:srgbClr>
          </a:solidFill>
          <a:ln w="12700">
            <a:solidFill>
              <a:srgbClr val="FFFFFF">
                <a:alpha val="0"/>
              </a:srgbClr>
            </a:solidFill>
            <a:prstDash val="solid"/>
          </a:ln>
        </p:spPr>
        <p:txBody>
          <a:bodyPr/>
          <a:lstStyle/>
          <a:p>
            <a:endParaRPr lang="en-US"/>
          </a:p>
        </p:txBody>
      </p:sp>
      <p:pic>
        <p:nvPicPr>
          <p:cNvPr id="28" name="Image 10" descr="gen-dedup-ac1977dfe20a87d93b03eab8a85600aa.png"/>
          <p:cNvPicPr>
            <a:picLocks noChangeAspect="1"/>
          </p:cNvPicPr>
          <p:nvPr/>
        </p:nvPicPr>
        <p:blipFill>
          <a:blip r:embed="rId9"/>
          <a:srcRect t="-13131" b="-13131"/>
          <a:stretch/>
        </p:blipFill>
        <p:spPr>
          <a:xfrm>
            <a:off x="1814170" y="1971446"/>
            <a:ext cx="181051" cy="228600"/>
          </a:xfrm>
          <a:prstGeom prst="rect">
            <a:avLst/>
          </a:prstGeom>
        </p:spPr>
      </p:pic>
      <p:sp>
        <p:nvSpPr>
          <p:cNvPr id="29" name="Text 16"/>
          <p:cNvSpPr txBox="1"/>
          <p:nvPr/>
        </p:nvSpPr>
        <p:spPr>
          <a:xfrm>
            <a:off x="705002" y="2505456"/>
            <a:ext cx="2400300" cy="286207"/>
          </a:xfrm>
          <a:prstGeom prst="rect">
            <a:avLst/>
          </a:prstGeom>
          <a:noFill/>
          <a:ln/>
        </p:spPr>
        <p:txBody>
          <a:bodyPr wrap="none" lIns="0" tIns="0" rIns="0" bIns="0" rtlCol="0" anchor="ctr"/>
          <a:lstStyle/>
          <a:p>
            <a:pPr marL="0" indent="0" algn="ctr">
              <a:buNone/>
            </a:pPr>
            <a:r>
              <a:rPr lang="en-US" sz="2000" b="1" dirty="0">
                <a:solidFill>
                  <a:srgbClr val="1F2937"/>
                </a:solidFill>
                <a:latin typeface="Oswald" pitchFamily="34" charset="0"/>
                <a:ea typeface="Oswald" pitchFamily="34" charset="-122"/>
                <a:cs typeface="Oswald" pitchFamily="34" charset="-120"/>
              </a:rPr>
              <a:t>Embed.</a:t>
            </a:r>
            <a:endParaRPr lang="en-US" sz="2000" dirty="0"/>
          </a:p>
        </p:txBody>
      </p:sp>
      <p:sp>
        <p:nvSpPr>
          <p:cNvPr id="30" name="Text 17"/>
          <p:cNvSpPr txBox="1"/>
          <p:nvPr/>
        </p:nvSpPr>
        <p:spPr>
          <a:xfrm>
            <a:off x="705002" y="2968854"/>
            <a:ext cx="2400300" cy="152705"/>
          </a:xfrm>
          <a:prstGeom prst="rect">
            <a:avLst/>
          </a:prstGeom>
          <a:noFill/>
          <a:ln/>
        </p:spPr>
        <p:txBody>
          <a:bodyPr wrap="none" lIns="0" tIns="0" rIns="0" bIns="0" rtlCol="0" anchor="ctr"/>
          <a:lstStyle/>
          <a:p>
            <a:pPr marL="0" indent="0" algn="ctr">
              <a:buNone/>
            </a:pPr>
            <a:r>
              <a:rPr lang="en-US" sz="1300" b="1" dirty="0">
                <a:solidFill>
                  <a:srgbClr val="2A9D8F"/>
                </a:solidFill>
                <a:latin typeface="Roboto Condensed" pitchFamily="34" charset="0"/>
                <a:ea typeface="Roboto Condensed" pitchFamily="34" charset="-122"/>
                <a:cs typeface="Roboto Condensed" pitchFamily="34" charset="-120"/>
              </a:rPr>
              <a:t>Days 1–14</a:t>
            </a:r>
            <a:endParaRPr lang="en-US" sz="1300" dirty="0"/>
          </a:p>
        </p:txBody>
      </p:sp>
      <p:sp>
        <p:nvSpPr>
          <p:cNvPr id="31" name="Text 18"/>
          <p:cNvSpPr txBox="1"/>
          <p:nvPr/>
        </p:nvSpPr>
        <p:spPr>
          <a:xfrm>
            <a:off x="705002" y="3018434"/>
            <a:ext cx="2309775" cy="1743761"/>
          </a:xfrm>
          <a:prstGeom prst="rect">
            <a:avLst/>
          </a:prstGeom>
          <a:noFill/>
          <a:ln/>
        </p:spPr>
        <p:txBody>
          <a:bodyPr wrap="square" lIns="0" tIns="0" rIns="0" bIns="0" rtlCol="0" anchor="ctr"/>
          <a:lstStyle/>
          <a:p>
            <a:pPr marL="0" indent="0" algn="ctr">
              <a:buNone/>
            </a:pPr>
            <a:r>
              <a:rPr lang="en-US" sz="1200" dirty="0">
                <a:solidFill>
                  <a:srgbClr val="4B5563"/>
                </a:solidFill>
                <a:latin typeface="Raleway" pitchFamily="34" charset="0"/>
                <a:ea typeface="Raleway" pitchFamily="34" charset="-122"/>
                <a:cs typeface="Raleway" pitchFamily="34" charset="-120"/>
              </a:rPr>
              <a:t>We map your stakeholder reality before touching a single workflow — identifying the 80% we move within and the 20% that unlocks transformation.</a:t>
            </a:r>
            <a:endParaRPr lang="en-US" sz="1200" dirty="0"/>
          </a:p>
        </p:txBody>
      </p:sp>
      <p:sp>
        <p:nvSpPr>
          <p:cNvPr id="32" name="Text 19"/>
          <p:cNvSpPr txBox="1"/>
          <p:nvPr/>
        </p:nvSpPr>
        <p:spPr>
          <a:xfrm>
            <a:off x="2409444" y="1687137"/>
            <a:ext cx="601675" cy="457200"/>
          </a:xfrm>
          <a:prstGeom prst="rect">
            <a:avLst/>
          </a:prstGeom>
          <a:noFill/>
          <a:ln/>
        </p:spPr>
        <p:txBody>
          <a:bodyPr wrap="none" lIns="0" tIns="0" rIns="0" bIns="0" rtlCol="0" anchor="ctr"/>
          <a:lstStyle/>
          <a:p>
            <a:pPr marL="0" indent="0" algn="r">
              <a:buNone/>
            </a:pPr>
            <a:r>
              <a:rPr lang="en-US" sz="3600" b="1" dirty="0">
                <a:solidFill>
                  <a:srgbClr val="2A9D8F">
                    <a:alpha val="8000"/>
                  </a:srgbClr>
                </a:solidFill>
                <a:latin typeface="Oswald" pitchFamily="34" charset="0"/>
                <a:ea typeface="Oswald" pitchFamily="34" charset="-122"/>
                <a:cs typeface="Oswald" pitchFamily="34" charset="-120"/>
              </a:rPr>
              <a:t>01</a:t>
            </a:r>
            <a:endParaRPr lang="en-US" sz="3600" dirty="0"/>
          </a:p>
        </p:txBody>
      </p:sp>
      <p:sp>
        <p:nvSpPr>
          <p:cNvPr id="33" name="Shape 20"/>
          <p:cNvSpPr/>
          <p:nvPr/>
        </p:nvSpPr>
        <p:spPr>
          <a:xfrm>
            <a:off x="4457700" y="1819656"/>
            <a:ext cx="533095" cy="533095"/>
          </a:xfrm>
          <a:prstGeom prst="ellipse">
            <a:avLst/>
          </a:prstGeom>
          <a:solidFill>
            <a:srgbClr val="D62839">
              <a:alpha val="10000"/>
            </a:srgbClr>
          </a:solidFill>
          <a:ln w="12700">
            <a:solidFill>
              <a:srgbClr val="FFFFFF">
                <a:alpha val="0"/>
              </a:srgbClr>
            </a:solidFill>
            <a:prstDash val="solid"/>
          </a:ln>
        </p:spPr>
        <p:txBody>
          <a:bodyPr/>
          <a:lstStyle/>
          <a:p>
            <a:endParaRPr lang="en-US"/>
          </a:p>
        </p:txBody>
      </p:sp>
      <p:pic>
        <p:nvPicPr>
          <p:cNvPr id="34" name="Image 11" descr="gen-dedup-bb65f8a83efde23cd45884ce4e632f2a.png"/>
          <p:cNvPicPr>
            <a:picLocks noChangeAspect="1"/>
          </p:cNvPicPr>
          <p:nvPr/>
        </p:nvPicPr>
        <p:blipFill>
          <a:blip r:embed="rId10"/>
          <a:srcRect t="-13131" b="-13131"/>
          <a:stretch/>
        </p:blipFill>
        <p:spPr>
          <a:xfrm>
            <a:off x="4634179" y="1971446"/>
            <a:ext cx="181051" cy="228600"/>
          </a:xfrm>
          <a:prstGeom prst="rect">
            <a:avLst/>
          </a:prstGeom>
        </p:spPr>
      </p:pic>
      <p:sp>
        <p:nvSpPr>
          <p:cNvPr id="35" name="Text 21"/>
          <p:cNvSpPr txBox="1"/>
          <p:nvPr/>
        </p:nvSpPr>
        <p:spPr>
          <a:xfrm>
            <a:off x="3524098" y="2505456"/>
            <a:ext cx="2400300" cy="286207"/>
          </a:xfrm>
          <a:prstGeom prst="rect">
            <a:avLst/>
          </a:prstGeom>
          <a:noFill/>
          <a:ln/>
        </p:spPr>
        <p:txBody>
          <a:bodyPr wrap="none" lIns="0" tIns="0" rIns="0" bIns="0" rtlCol="0" anchor="ctr"/>
          <a:lstStyle/>
          <a:p>
            <a:pPr marL="0" indent="0" algn="ctr">
              <a:buNone/>
            </a:pPr>
            <a:r>
              <a:rPr lang="en-US" sz="2000" b="1" dirty="0">
                <a:solidFill>
                  <a:srgbClr val="1F2937"/>
                </a:solidFill>
                <a:latin typeface="Oswald" pitchFamily="34" charset="0"/>
                <a:ea typeface="Oswald" pitchFamily="34" charset="-122"/>
                <a:cs typeface="Oswald" pitchFamily="34" charset="-120"/>
              </a:rPr>
              <a:t>Build.</a:t>
            </a:r>
            <a:endParaRPr lang="en-US" sz="2000" dirty="0"/>
          </a:p>
        </p:txBody>
      </p:sp>
      <p:sp>
        <p:nvSpPr>
          <p:cNvPr id="36" name="Text 22"/>
          <p:cNvSpPr txBox="1"/>
          <p:nvPr/>
        </p:nvSpPr>
        <p:spPr>
          <a:xfrm>
            <a:off x="3524098" y="2968854"/>
            <a:ext cx="2400300" cy="152705"/>
          </a:xfrm>
          <a:prstGeom prst="rect">
            <a:avLst/>
          </a:prstGeom>
          <a:noFill/>
          <a:ln/>
        </p:spPr>
        <p:txBody>
          <a:bodyPr wrap="none" lIns="0" tIns="0" rIns="0" bIns="0" rtlCol="0" anchor="ctr"/>
          <a:lstStyle/>
          <a:p>
            <a:pPr marL="0" indent="0" algn="ctr">
              <a:buNone/>
            </a:pPr>
            <a:r>
              <a:rPr lang="en-US" sz="1300" b="1" dirty="0">
                <a:solidFill>
                  <a:srgbClr val="D62839"/>
                </a:solidFill>
                <a:latin typeface="Roboto Condensed" pitchFamily="34" charset="0"/>
                <a:ea typeface="Roboto Condensed" pitchFamily="34" charset="-122"/>
                <a:cs typeface="Roboto Condensed" pitchFamily="34" charset="-120"/>
              </a:rPr>
              <a:t>Weeks 2–6</a:t>
            </a:r>
            <a:endParaRPr lang="en-US" sz="1300" dirty="0"/>
          </a:p>
        </p:txBody>
      </p:sp>
      <p:sp>
        <p:nvSpPr>
          <p:cNvPr id="37" name="Text 23"/>
          <p:cNvSpPr txBox="1"/>
          <p:nvPr/>
        </p:nvSpPr>
        <p:spPr>
          <a:xfrm>
            <a:off x="3524098" y="3297935"/>
            <a:ext cx="2309775" cy="1390802"/>
          </a:xfrm>
          <a:prstGeom prst="rect">
            <a:avLst/>
          </a:prstGeom>
          <a:noFill/>
          <a:ln/>
        </p:spPr>
        <p:txBody>
          <a:bodyPr wrap="square" lIns="0" tIns="0" rIns="0" bIns="0" rtlCol="0" anchor="ctr"/>
          <a:lstStyle/>
          <a:p>
            <a:pPr marL="0" indent="0" algn="ctr">
              <a:buNone/>
            </a:pPr>
            <a:r>
              <a:rPr lang="en-US" sz="1200" dirty="0">
                <a:solidFill>
                  <a:srgbClr val="4B5563"/>
                </a:solidFill>
                <a:latin typeface="Raleway" pitchFamily="34" charset="0"/>
                <a:ea typeface="Raleway" pitchFamily="34" charset="-122"/>
                <a:cs typeface="Raleway" pitchFamily="34" charset="-120"/>
              </a:rPr>
              <a:t>We deploy the closest-fit accelerator and customize where needed. Hundreds of prior engagements mean you inherit a head start, not a blank slate.</a:t>
            </a:r>
            <a:endParaRPr lang="en-US" sz="1200" dirty="0"/>
          </a:p>
        </p:txBody>
      </p:sp>
      <p:sp>
        <p:nvSpPr>
          <p:cNvPr id="38" name="Text 24"/>
          <p:cNvSpPr txBox="1"/>
          <p:nvPr/>
        </p:nvSpPr>
        <p:spPr>
          <a:xfrm>
            <a:off x="5231282" y="1687137"/>
            <a:ext cx="607162" cy="457200"/>
          </a:xfrm>
          <a:prstGeom prst="rect">
            <a:avLst/>
          </a:prstGeom>
          <a:noFill/>
          <a:ln/>
        </p:spPr>
        <p:txBody>
          <a:bodyPr wrap="none" lIns="0" tIns="0" rIns="0" bIns="0" rtlCol="0" anchor="ctr"/>
          <a:lstStyle/>
          <a:p>
            <a:pPr marL="0" indent="0" algn="r">
              <a:buNone/>
            </a:pPr>
            <a:r>
              <a:rPr lang="en-US" sz="3600" b="1" dirty="0">
                <a:solidFill>
                  <a:srgbClr val="D62839">
                    <a:alpha val="8000"/>
                  </a:srgbClr>
                </a:solidFill>
                <a:latin typeface="Oswald" pitchFamily="34" charset="0"/>
                <a:ea typeface="Oswald" pitchFamily="34" charset="-122"/>
                <a:cs typeface="Oswald" pitchFamily="34" charset="-120"/>
              </a:rPr>
              <a:t>02</a:t>
            </a:r>
            <a:endParaRPr lang="en-US" sz="3600" dirty="0"/>
          </a:p>
        </p:txBody>
      </p:sp>
      <p:sp>
        <p:nvSpPr>
          <p:cNvPr id="39" name="Shape 25"/>
          <p:cNvSpPr/>
          <p:nvPr/>
        </p:nvSpPr>
        <p:spPr>
          <a:xfrm>
            <a:off x="7276795" y="1819656"/>
            <a:ext cx="533095" cy="533095"/>
          </a:xfrm>
          <a:prstGeom prst="ellipse">
            <a:avLst/>
          </a:prstGeom>
          <a:solidFill>
            <a:srgbClr val="2A9D8F">
              <a:alpha val="10000"/>
            </a:srgbClr>
          </a:solidFill>
          <a:ln w="12700">
            <a:solidFill>
              <a:srgbClr val="FFFFFF">
                <a:alpha val="0"/>
              </a:srgbClr>
            </a:solidFill>
            <a:prstDash val="solid"/>
          </a:ln>
        </p:spPr>
        <p:txBody>
          <a:bodyPr/>
          <a:lstStyle/>
          <a:p>
            <a:endParaRPr lang="en-US"/>
          </a:p>
        </p:txBody>
      </p:sp>
      <p:pic>
        <p:nvPicPr>
          <p:cNvPr id="40" name="Image 12" descr="gen-dedup-ec7913c77fa2db42f3e898c22d604bf4.png"/>
          <p:cNvPicPr>
            <a:picLocks noChangeAspect="1"/>
          </p:cNvPicPr>
          <p:nvPr/>
        </p:nvPicPr>
        <p:blipFill>
          <a:blip r:embed="rId11"/>
          <a:srcRect t="-28914" b="-28914"/>
          <a:stretch/>
        </p:blipFill>
        <p:spPr>
          <a:xfrm>
            <a:off x="7398844" y="1895244"/>
            <a:ext cx="289681" cy="365760"/>
          </a:xfrm>
          <a:prstGeom prst="rect">
            <a:avLst/>
          </a:prstGeom>
        </p:spPr>
      </p:pic>
      <p:sp>
        <p:nvSpPr>
          <p:cNvPr id="41" name="Text 26"/>
          <p:cNvSpPr txBox="1"/>
          <p:nvPr/>
        </p:nvSpPr>
        <p:spPr>
          <a:xfrm>
            <a:off x="6344107" y="2505456"/>
            <a:ext cx="2400300" cy="286207"/>
          </a:xfrm>
          <a:prstGeom prst="rect">
            <a:avLst/>
          </a:prstGeom>
          <a:noFill/>
          <a:ln/>
        </p:spPr>
        <p:txBody>
          <a:bodyPr wrap="none" lIns="0" tIns="0" rIns="0" bIns="0" rtlCol="0" anchor="ctr"/>
          <a:lstStyle/>
          <a:p>
            <a:pPr marL="0" indent="0" algn="ctr">
              <a:buNone/>
            </a:pPr>
            <a:r>
              <a:rPr lang="en-US" sz="2000" b="1" dirty="0">
                <a:solidFill>
                  <a:srgbClr val="1F2937"/>
                </a:solidFill>
                <a:latin typeface="Oswald" pitchFamily="34" charset="0"/>
                <a:ea typeface="Oswald" pitchFamily="34" charset="-122"/>
                <a:cs typeface="Oswald" pitchFamily="34" charset="-120"/>
              </a:rPr>
              <a:t>Operate.</a:t>
            </a:r>
            <a:endParaRPr lang="en-US" sz="2000" dirty="0"/>
          </a:p>
        </p:txBody>
      </p:sp>
      <p:sp>
        <p:nvSpPr>
          <p:cNvPr id="42" name="Text 27"/>
          <p:cNvSpPr txBox="1"/>
          <p:nvPr/>
        </p:nvSpPr>
        <p:spPr>
          <a:xfrm>
            <a:off x="6344107" y="2968854"/>
            <a:ext cx="2400300" cy="152705"/>
          </a:xfrm>
          <a:prstGeom prst="rect">
            <a:avLst/>
          </a:prstGeom>
          <a:noFill/>
          <a:ln/>
        </p:spPr>
        <p:txBody>
          <a:bodyPr wrap="none" lIns="0" tIns="0" rIns="0" bIns="0" rtlCol="0" anchor="ctr"/>
          <a:lstStyle/>
          <a:p>
            <a:pPr marL="0" indent="0" algn="ctr">
              <a:buNone/>
            </a:pPr>
            <a:r>
              <a:rPr lang="en-US" sz="1300" b="1" dirty="0">
                <a:solidFill>
                  <a:srgbClr val="2A9D8F"/>
                </a:solidFill>
                <a:latin typeface="Roboto Condensed" pitchFamily="34" charset="0"/>
                <a:ea typeface="Roboto Condensed" pitchFamily="34" charset="-122"/>
                <a:cs typeface="Roboto Condensed" pitchFamily="34" charset="-120"/>
              </a:rPr>
              <a:t>Month 2 onward</a:t>
            </a:r>
            <a:endParaRPr lang="en-US" sz="1300" dirty="0"/>
          </a:p>
        </p:txBody>
      </p:sp>
      <p:sp>
        <p:nvSpPr>
          <p:cNvPr id="43" name="Text 28"/>
          <p:cNvSpPr txBox="1"/>
          <p:nvPr/>
        </p:nvSpPr>
        <p:spPr>
          <a:xfrm>
            <a:off x="6344107" y="3195725"/>
            <a:ext cx="2309775" cy="1390802"/>
          </a:xfrm>
          <a:prstGeom prst="rect">
            <a:avLst/>
          </a:prstGeom>
          <a:noFill/>
          <a:ln/>
        </p:spPr>
        <p:txBody>
          <a:bodyPr wrap="square" lIns="0" tIns="0" rIns="0" bIns="0" rtlCol="0" anchor="ctr"/>
          <a:lstStyle/>
          <a:p>
            <a:pPr marL="0" indent="0" algn="ctr">
              <a:buNone/>
            </a:pPr>
            <a:r>
              <a:rPr lang="en-US" sz="1200" dirty="0">
                <a:solidFill>
                  <a:srgbClr val="4B5563"/>
                </a:solidFill>
                <a:latin typeface="Raleway" pitchFamily="34" charset="0"/>
                <a:ea typeface="Raleway" pitchFamily="34" charset="-122"/>
                <a:cs typeface="Raleway" pitchFamily="34" charset="-120"/>
              </a:rPr>
              <a:t>Forward-deployed engineers run AI inside your enterprise and don't rotate off. The context, accountability, and institutional memory stay with you.</a:t>
            </a:r>
            <a:endParaRPr lang="en-US" sz="1200" dirty="0"/>
          </a:p>
        </p:txBody>
      </p:sp>
      <p:sp>
        <p:nvSpPr>
          <p:cNvPr id="44" name="Text 29"/>
          <p:cNvSpPr txBox="1"/>
          <p:nvPr/>
        </p:nvSpPr>
        <p:spPr>
          <a:xfrm>
            <a:off x="8051292" y="1687137"/>
            <a:ext cx="607162" cy="457200"/>
          </a:xfrm>
          <a:prstGeom prst="rect">
            <a:avLst/>
          </a:prstGeom>
          <a:noFill/>
          <a:ln/>
        </p:spPr>
        <p:txBody>
          <a:bodyPr wrap="none" lIns="0" tIns="0" rIns="0" bIns="0" rtlCol="0" anchor="ctr"/>
          <a:lstStyle/>
          <a:p>
            <a:pPr marL="0" indent="0" algn="r">
              <a:buNone/>
            </a:pPr>
            <a:r>
              <a:rPr lang="en-US" sz="3600" b="1" dirty="0">
                <a:solidFill>
                  <a:srgbClr val="2A9D8F">
                    <a:alpha val="8000"/>
                  </a:srgbClr>
                </a:solidFill>
                <a:latin typeface="Oswald" pitchFamily="34" charset="0"/>
                <a:ea typeface="Oswald" pitchFamily="34" charset="-122"/>
                <a:cs typeface="Oswald" pitchFamily="34" charset="-120"/>
              </a:rPr>
              <a:t>03</a:t>
            </a:r>
            <a:endParaRPr lang="en-US" sz="3600" dirty="0"/>
          </a:p>
        </p:txBody>
      </p:sp>
      <p:sp>
        <p:nvSpPr>
          <p:cNvPr id="45" name="Shape 30"/>
          <p:cNvSpPr/>
          <p:nvPr/>
        </p:nvSpPr>
        <p:spPr>
          <a:xfrm>
            <a:off x="10096805" y="1819656"/>
            <a:ext cx="533095" cy="533095"/>
          </a:xfrm>
          <a:prstGeom prst="ellipse">
            <a:avLst/>
          </a:prstGeom>
          <a:solidFill>
            <a:srgbClr val="D62839">
              <a:alpha val="10000"/>
            </a:srgbClr>
          </a:solidFill>
          <a:ln w="12700">
            <a:solidFill>
              <a:srgbClr val="FFFFFF">
                <a:alpha val="0"/>
              </a:srgbClr>
            </a:solidFill>
            <a:prstDash val="solid"/>
          </a:ln>
        </p:spPr>
        <p:txBody>
          <a:bodyPr/>
          <a:lstStyle/>
          <a:p>
            <a:endParaRPr lang="en-US"/>
          </a:p>
        </p:txBody>
      </p:sp>
      <p:pic>
        <p:nvPicPr>
          <p:cNvPr id="46" name="Image 13" descr="gen-dedup-9fd551ffaf14ed4b68fb6cf808d818cf.png"/>
          <p:cNvPicPr>
            <a:picLocks noChangeAspect="1"/>
          </p:cNvPicPr>
          <p:nvPr/>
        </p:nvPicPr>
        <p:blipFill>
          <a:blip r:embed="rId12"/>
          <a:srcRect t="-13131" b="-13131"/>
          <a:stretch/>
        </p:blipFill>
        <p:spPr>
          <a:xfrm>
            <a:off x="10272370" y="1971446"/>
            <a:ext cx="181051" cy="228600"/>
          </a:xfrm>
          <a:prstGeom prst="rect">
            <a:avLst/>
          </a:prstGeom>
        </p:spPr>
      </p:pic>
      <p:sp>
        <p:nvSpPr>
          <p:cNvPr id="47" name="Text 31"/>
          <p:cNvSpPr txBox="1"/>
          <p:nvPr/>
        </p:nvSpPr>
        <p:spPr>
          <a:xfrm>
            <a:off x="9163202" y="2505456"/>
            <a:ext cx="2400300" cy="286207"/>
          </a:xfrm>
          <a:prstGeom prst="rect">
            <a:avLst/>
          </a:prstGeom>
          <a:noFill/>
          <a:ln/>
        </p:spPr>
        <p:txBody>
          <a:bodyPr wrap="none" lIns="0" tIns="0" rIns="0" bIns="0" rtlCol="0" anchor="ctr"/>
          <a:lstStyle/>
          <a:p>
            <a:pPr marL="0" indent="0" algn="ctr">
              <a:buNone/>
            </a:pPr>
            <a:r>
              <a:rPr lang="en-US" sz="2000" b="1" dirty="0">
                <a:solidFill>
                  <a:srgbClr val="1F2937"/>
                </a:solidFill>
                <a:latin typeface="Oswald" pitchFamily="34" charset="0"/>
                <a:ea typeface="Oswald" pitchFamily="34" charset="-122"/>
                <a:cs typeface="Oswald" pitchFamily="34" charset="-120"/>
              </a:rPr>
              <a:t>Compound.</a:t>
            </a:r>
            <a:endParaRPr lang="en-US" sz="2000" dirty="0"/>
          </a:p>
        </p:txBody>
      </p:sp>
      <p:sp>
        <p:nvSpPr>
          <p:cNvPr id="48" name="Text 32"/>
          <p:cNvSpPr txBox="1"/>
          <p:nvPr/>
        </p:nvSpPr>
        <p:spPr>
          <a:xfrm>
            <a:off x="9163202" y="2968854"/>
            <a:ext cx="2400300" cy="152705"/>
          </a:xfrm>
          <a:prstGeom prst="rect">
            <a:avLst/>
          </a:prstGeom>
          <a:noFill/>
          <a:ln/>
        </p:spPr>
        <p:txBody>
          <a:bodyPr wrap="none" lIns="0" tIns="0" rIns="0" bIns="0" rtlCol="0" anchor="ctr"/>
          <a:lstStyle/>
          <a:p>
            <a:pPr marL="0" indent="0" algn="ctr">
              <a:buNone/>
            </a:pPr>
            <a:r>
              <a:rPr lang="en-US" sz="1300" b="1" dirty="0">
                <a:solidFill>
                  <a:srgbClr val="D62839"/>
                </a:solidFill>
                <a:latin typeface="Roboto Condensed" pitchFamily="34" charset="0"/>
                <a:ea typeface="Roboto Condensed" pitchFamily="34" charset="-122"/>
                <a:cs typeface="Roboto Condensed" pitchFamily="34" charset="-120"/>
              </a:rPr>
              <a:t>Year one &amp; beyond</a:t>
            </a:r>
            <a:endParaRPr lang="en-US" sz="1300" dirty="0"/>
          </a:p>
        </p:txBody>
      </p:sp>
      <p:sp>
        <p:nvSpPr>
          <p:cNvPr id="49" name="Text 33"/>
          <p:cNvSpPr txBox="1"/>
          <p:nvPr/>
        </p:nvSpPr>
        <p:spPr>
          <a:xfrm>
            <a:off x="9163202" y="3285235"/>
            <a:ext cx="2309775" cy="1219810"/>
          </a:xfrm>
          <a:prstGeom prst="rect">
            <a:avLst/>
          </a:prstGeom>
          <a:noFill/>
          <a:ln/>
        </p:spPr>
        <p:txBody>
          <a:bodyPr wrap="square" lIns="0" tIns="0" rIns="0" bIns="0" rtlCol="0" anchor="ctr"/>
          <a:lstStyle/>
          <a:p>
            <a:pPr marL="0" indent="0" algn="ctr">
              <a:buNone/>
            </a:pPr>
            <a:r>
              <a:rPr lang="en-US" sz="1200" dirty="0">
                <a:solidFill>
                  <a:srgbClr val="4B5563"/>
                </a:solidFill>
                <a:latin typeface="Raleway" pitchFamily="34" charset="0"/>
                <a:ea typeface="Raleway" pitchFamily="34" charset="-122"/>
                <a:cs typeface="Raleway" pitchFamily="34" charset="-120"/>
              </a:rPr>
              <a:t>Every problem solved sharpens the platform. The system gets smarter as you scale — outcomes that compound while you sleep.</a:t>
            </a:r>
            <a:endParaRPr lang="en-US" sz="1200" dirty="0"/>
          </a:p>
        </p:txBody>
      </p:sp>
      <p:sp>
        <p:nvSpPr>
          <p:cNvPr id="50" name="Text 34"/>
          <p:cNvSpPr txBox="1"/>
          <p:nvPr/>
        </p:nvSpPr>
        <p:spPr>
          <a:xfrm>
            <a:off x="10865815" y="1687137"/>
            <a:ext cx="607162" cy="457200"/>
          </a:xfrm>
          <a:prstGeom prst="rect">
            <a:avLst/>
          </a:prstGeom>
          <a:noFill/>
          <a:ln/>
        </p:spPr>
        <p:txBody>
          <a:bodyPr wrap="none" lIns="0" tIns="0" rIns="0" bIns="0" rtlCol="0" anchor="ctr"/>
          <a:lstStyle/>
          <a:p>
            <a:pPr marL="0" indent="0" algn="r">
              <a:buNone/>
            </a:pPr>
            <a:r>
              <a:rPr lang="en-US" sz="3600" b="1" dirty="0">
                <a:solidFill>
                  <a:srgbClr val="D62839">
                    <a:alpha val="8000"/>
                  </a:srgbClr>
                </a:solidFill>
                <a:latin typeface="Oswald" pitchFamily="34" charset="0"/>
                <a:ea typeface="Oswald" pitchFamily="34" charset="-122"/>
                <a:cs typeface="Oswald" pitchFamily="34" charset="-120"/>
              </a:rPr>
              <a:t>04</a:t>
            </a:r>
            <a:endParaRPr lang="en-US" sz="3600" dirty="0"/>
          </a:p>
        </p:txBody>
      </p:sp>
      <p:sp>
        <p:nvSpPr>
          <p:cNvPr id="51" name="Text 35"/>
          <p:cNvSpPr txBox="1"/>
          <p:nvPr/>
        </p:nvSpPr>
        <p:spPr>
          <a:xfrm>
            <a:off x="914400" y="6048756"/>
            <a:ext cx="10401300" cy="428854"/>
          </a:xfrm>
          <a:prstGeom prst="rect">
            <a:avLst/>
          </a:prstGeom>
          <a:noFill/>
          <a:ln/>
        </p:spPr>
        <p:txBody>
          <a:bodyPr wrap="square" lIns="0" tIns="0" rIns="0" bIns="0" rtlCol="0" anchor="ctr"/>
          <a:lstStyle/>
          <a:p>
            <a:pPr marL="0" indent="0" algn="ctr">
              <a:buNone/>
            </a:pPr>
            <a:r>
              <a:rPr lang="en-US" sz="1300" b="1" dirty="0">
                <a:solidFill>
                  <a:srgbClr val="2A9D8F"/>
                </a:solidFill>
                <a:latin typeface="Raleway" pitchFamily="34" charset="0"/>
                <a:ea typeface="Raleway" pitchFamily="34" charset="-122"/>
                <a:cs typeface="Raleway" pitchFamily="34" charset="-120"/>
              </a:rPr>
              <a:t>Your business is our GTM.</a:t>
            </a:r>
            <a:r>
              <a:rPr lang="en-US" sz="1300" b="1" dirty="0">
                <a:solidFill>
                  <a:srgbClr val="1F2937"/>
                </a:solidFill>
                <a:latin typeface="Raleway" pitchFamily="34" charset="0"/>
                <a:ea typeface="Raleway" pitchFamily="34" charset="-122"/>
                <a:cs typeface="Raleway" pitchFamily="34" charset="-120"/>
              </a:rPr>
              <a:t> We build with you, so your teams actually adopt, use, and grow everything we create together - not just receive it.</a:t>
            </a:r>
            <a:endParaRPr lang="en-US" sz="1300" dirty="0"/>
          </a:p>
        </p:txBody>
      </p:sp>
    </p:spTree>
    <p:extLst>
      <p:ext uri="{BB962C8B-B14F-4D97-AF65-F5344CB8AC3E}">
        <p14:creationId xmlns:p14="http://schemas.microsoft.com/office/powerpoint/2010/main" val="1775765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8953805" y="-571500"/>
            <a:ext cx="3810305" cy="3810305"/>
          </a:xfrm>
          <a:prstGeom prst="ellipse">
            <a:avLst/>
          </a:prstGeom>
          <a:solidFill>
            <a:srgbClr val="2A9D8F">
              <a:alpha val="3000"/>
            </a:srgbClr>
          </a:solidFill>
          <a:ln w="12700">
            <a:solidFill>
              <a:srgbClr val="FFFFFF">
                <a:alpha val="0"/>
              </a:srgbClr>
            </a:solidFill>
            <a:prstDash val="solid"/>
          </a:ln>
        </p:spPr>
        <p:txBody>
          <a:bodyPr/>
          <a:lstStyle/>
          <a:p>
            <a:endParaRPr lang="en-US"/>
          </a:p>
        </p:txBody>
      </p:sp>
      <p:pic>
        <p:nvPicPr>
          <p:cNvPr id="5" name="Image 0" descr="gen-dedup-5e765734fa6996e94526269805e72083.png"/>
          <p:cNvPicPr>
            <a:picLocks noChangeAspect="1"/>
          </p:cNvPicPr>
          <p:nvPr/>
        </p:nvPicPr>
        <p:blipFill>
          <a:blip r:embed="rId3">
            <a:alphaModFix amt="5000"/>
          </a:blip>
          <a:srcRect/>
          <a:stretch/>
        </p:blipFill>
        <p:spPr>
          <a:xfrm>
            <a:off x="-381305" y="4095598"/>
            <a:ext cx="2381098" cy="2381098"/>
          </a:xfrm>
          <a:prstGeom prst="rect">
            <a:avLst/>
          </a:prstGeom>
        </p:spPr>
      </p:pic>
      <p:pic>
        <p:nvPicPr>
          <p:cNvPr id="6" name="Image 1" descr="gen-dedup-323228122ff92d2332e711a84ca3b40c.png"/>
          <p:cNvPicPr>
            <a:picLocks noChangeAspect="1"/>
          </p:cNvPicPr>
          <p:nvPr/>
        </p:nvPicPr>
        <p:blipFill>
          <a:blip r:embed="rId4"/>
          <a:srcRect l="-198" r="-198"/>
          <a:stretch/>
        </p:blipFill>
        <p:spPr>
          <a:xfrm>
            <a:off x="0" y="0"/>
            <a:ext cx="8124444" cy="75895"/>
          </a:xfrm>
          <a:prstGeom prst="rect">
            <a:avLst/>
          </a:prstGeom>
        </p:spPr>
      </p:pic>
      <p:pic>
        <p:nvPicPr>
          <p:cNvPr id="7" name="Image 2" descr="gen-dedup-9663ecf744b06e35d4c2cebaab92a2ea.png"/>
          <p:cNvPicPr>
            <a:picLocks noChangeAspect="1"/>
          </p:cNvPicPr>
          <p:nvPr/>
        </p:nvPicPr>
        <p:blipFill>
          <a:blip r:embed="rId5"/>
          <a:srcRect l="-202" r="-202"/>
          <a:stretch/>
        </p:blipFill>
        <p:spPr>
          <a:xfrm>
            <a:off x="8124444" y="0"/>
            <a:ext cx="4067251" cy="75895"/>
          </a:xfrm>
          <a:prstGeom prst="rect">
            <a:avLst/>
          </a:prstGeom>
        </p:spPr>
      </p:pic>
      <p:pic>
        <p:nvPicPr>
          <p:cNvPr id="8" name="Image 3" descr="gen-dedup-ef527bea2207a14ec6e8d4c8ae9cdc45.png"/>
          <p:cNvPicPr>
            <a:picLocks noChangeAspect="1"/>
          </p:cNvPicPr>
          <p:nvPr/>
        </p:nvPicPr>
        <p:blipFill>
          <a:blip r:embed="rId6"/>
          <a:srcRect l="-384" r="-384"/>
          <a:stretch/>
        </p:blipFill>
        <p:spPr>
          <a:xfrm>
            <a:off x="609905" y="743407"/>
            <a:ext cx="57607" cy="476402"/>
          </a:xfrm>
          <a:prstGeom prst="rect">
            <a:avLst/>
          </a:prstGeom>
        </p:spPr>
      </p:pic>
      <p:sp>
        <p:nvSpPr>
          <p:cNvPr id="9" name="Shape 3"/>
          <p:cNvSpPr/>
          <p:nvPr/>
        </p:nvSpPr>
        <p:spPr>
          <a:xfrm>
            <a:off x="609905" y="1714500"/>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0" name="Shape 4"/>
          <p:cNvSpPr/>
          <p:nvPr/>
        </p:nvSpPr>
        <p:spPr>
          <a:xfrm>
            <a:off x="609905" y="1714500"/>
            <a:ext cx="3448202" cy="47549"/>
          </a:xfrm>
          <a:prstGeom prst="roundRect">
            <a:avLst>
              <a:gd name="adj" fmla="val 165425"/>
            </a:avLst>
          </a:prstGeom>
          <a:solidFill>
            <a:srgbClr val="2A9D8F"/>
          </a:solidFill>
          <a:ln w="12700">
            <a:solidFill>
              <a:srgbClr val="2A9D8F">
                <a:alpha val="0"/>
              </a:srgbClr>
            </a:solidFill>
            <a:prstDash val="solid"/>
          </a:ln>
        </p:spPr>
        <p:txBody>
          <a:bodyPr/>
          <a:lstStyle/>
          <a:p>
            <a:endParaRPr lang="en-US"/>
          </a:p>
        </p:txBody>
      </p:sp>
      <p:sp>
        <p:nvSpPr>
          <p:cNvPr id="11" name="Shape 5"/>
          <p:cNvSpPr/>
          <p:nvPr/>
        </p:nvSpPr>
        <p:spPr>
          <a:xfrm>
            <a:off x="4381805" y="1714500"/>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2" name="Shape 6"/>
          <p:cNvSpPr/>
          <p:nvPr/>
        </p:nvSpPr>
        <p:spPr>
          <a:xfrm>
            <a:off x="4381805" y="1714500"/>
            <a:ext cx="3448202" cy="47549"/>
          </a:xfrm>
          <a:prstGeom prst="roundRect">
            <a:avLst>
              <a:gd name="adj" fmla="val 165425"/>
            </a:avLst>
          </a:prstGeom>
          <a:solidFill>
            <a:srgbClr val="D62839"/>
          </a:solidFill>
          <a:ln w="12700">
            <a:solidFill>
              <a:srgbClr val="D62839">
                <a:alpha val="0"/>
              </a:srgbClr>
            </a:solidFill>
            <a:prstDash val="solid"/>
          </a:ln>
        </p:spPr>
        <p:txBody>
          <a:bodyPr/>
          <a:lstStyle/>
          <a:p>
            <a:endParaRPr lang="en-US"/>
          </a:p>
        </p:txBody>
      </p:sp>
      <p:sp>
        <p:nvSpPr>
          <p:cNvPr id="13" name="Shape 7"/>
          <p:cNvSpPr/>
          <p:nvPr/>
        </p:nvSpPr>
        <p:spPr>
          <a:xfrm>
            <a:off x="8153705" y="1714500"/>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4" name="Shape 8"/>
          <p:cNvSpPr/>
          <p:nvPr/>
        </p:nvSpPr>
        <p:spPr>
          <a:xfrm>
            <a:off x="8153705" y="1714500"/>
            <a:ext cx="3448202" cy="47549"/>
          </a:xfrm>
          <a:prstGeom prst="roundRect">
            <a:avLst>
              <a:gd name="adj" fmla="val 165425"/>
            </a:avLst>
          </a:prstGeom>
          <a:solidFill>
            <a:srgbClr val="2A9D8F"/>
          </a:solidFill>
          <a:ln w="12700">
            <a:solidFill>
              <a:srgbClr val="2A9D8F">
                <a:alpha val="0"/>
              </a:srgbClr>
            </a:solidFill>
            <a:prstDash val="solid"/>
          </a:ln>
        </p:spPr>
        <p:txBody>
          <a:bodyPr/>
          <a:lstStyle/>
          <a:p>
            <a:endParaRPr lang="en-US"/>
          </a:p>
        </p:txBody>
      </p:sp>
      <p:sp>
        <p:nvSpPr>
          <p:cNvPr id="15" name="Shape 9"/>
          <p:cNvSpPr/>
          <p:nvPr/>
        </p:nvSpPr>
        <p:spPr>
          <a:xfrm>
            <a:off x="2495398" y="3619195"/>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6" name="Shape 10"/>
          <p:cNvSpPr/>
          <p:nvPr/>
        </p:nvSpPr>
        <p:spPr>
          <a:xfrm>
            <a:off x="2495398" y="3619195"/>
            <a:ext cx="3448202" cy="47549"/>
          </a:xfrm>
          <a:prstGeom prst="roundRect">
            <a:avLst>
              <a:gd name="adj" fmla="val 165425"/>
            </a:avLst>
          </a:prstGeom>
          <a:solidFill>
            <a:srgbClr val="D62839"/>
          </a:solidFill>
          <a:ln w="12700">
            <a:solidFill>
              <a:srgbClr val="D62839">
                <a:alpha val="0"/>
              </a:srgbClr>
            </a:solidFill>
            <a:prstDash val="solid"/>
          </a:ln>
        </p:spPr>
        <p:txBody>
          <a:bodyPr/>
          <a:lstStyle/>
          <a:p>
            <a:endParaRPr lang="en-US"/>
          </a:p>
        </p:txBody>
      </p:sp>
      <p:sp>
        <p:nvSpPr>
          <p:cNvPr id="17" name="Shape 11"/>
          <p:cNvSpPr/>
          <p:nvPr/>
        </p:nvSpPr>
        <p:spPr>
          <a:xfrm>
            <a:off x="6267298" y="3619195"/>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8" name="Shape 12"/>
          <p:cNvSpPr/>
          <p:nvPr/>
        </p:nvSpPr>
        <p:spPr>
          <a:xfrm>
            <a:off x="6267298" y="3619195"/>
            <a:ext cx="3448202" cy="47549"/>
          </a:xfrm>
          <a:prstGeom prst="roundRect">
            <a:avLst>
              <a:gd name="adj" fmla="val 165425"/>
            </a:avLst>
          </a:prstGeom>
          <a:solidFill>
            <a:srgbClr val="2A9D8F"/>
          </a:solidFill>
          <a:ln w="12700">
            <a:solidFill>
              <a:srgbClr val="2A9D8F">
                <a:alpha val="0"/>
              </a:srgbClr>
            </a:solidFill>
            <a:prstDash val="solid"/>
          </a:ln>
        </p:spPr>
        <p:txBody>
          <a:bodyPr/>
          <a:lstStyle/>
          <a:p>
            <a:endParaRPr lang="en-US"/>
          </a:p>
        </p:txBody>
      </p:sp>
      <p:sp>
        <p:nvSpPr>
          <p:cNvPr id="19" name="Shape 13"/>
          <p:cNvSpPr/>
          <p:nvPr/>
        </p:nvSpPr>
        <p:spPr>
          <a:xfrm>
            <a:off x="609905" y="5572354"/>
            <a:ext cx="10972800" cy="571500"/>
          </a:xfrm>
          <a:prstGeom prst="roundRect">
            <a:avLst>
              <a:gd name="adj" fmla="val 42667"/>
            </a:avLst>
          </a:prstGeom>
          <a:solidFill>
            <a:srgbClr val="111827"/>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en-US"/>
          </a:p>
        </p:txBody>
      </p:sp>
      <p:pic>
        <p:nvPicPr>
          <p:cNvPr id="20" name="Image 4" descr="gen-dedup-fcfcca745fa5c1c832fd66175382f504.png"/>
          <p:cNvPicPr>
            <a:picLocks noChangeAspect="1"/>
          </p:cNvPicPr>
          <p:nvPr/>
        </p:nvPicPr>
        <p:blipFill>
          <a:blip r:embed="rId7"/>
          <a:srcRect l="-2083" r="-2083"/>
          <a:stretch/>
        </p:blipFill>
        <p:spPr>
          <a:xfrm>
            <a:off x="609905" y="6286500"/>
            <a:ext cx="10972800" cy="9144"/>
          </a:xfrm>
          <a:prstGeom prst="rect">
            <a:avLst/>
          </a:prstGeom>
        </p:spPr>
      </p:pic>
      <p:sp>
        <p:nvSpPr>
          <p:cNvPr id="21" name="Text 14"/>
          <p:cNvSpPr txBox="1"/>
          <p:nvPr/>
        </p:nvSpPr>
        <p:spPr>
          <a:xfrm>
            <a:off x="819302" y="666598"/>
            <a:ext cx="5715000" cy="381305"/>
          </a:xfrm>
          <a:prstGeom prst="rect">
            <a:avLst/>
          </a:prstGeom>
          <a:noFill/>
          <a:ln/>
        </p:spPr>
        <p:txBody>
          <a:bodyPr wrap="none" lIns="0" tIns="0" rIns="0" bIns="0" rtlCol="0" anchor="ctr"/>
          <a:lstStyle/>
          <a:p>
            <a:pPr marL="0" indent="0" algn="l">
              <a:buNone/>
            </a:pPr>
            <a:r>
              <a:rPr lang="en-US" sz="2700" b="1" dirty="0">
                <a:solidFill>
                  <a:srgbClr val="111827"/>
                </a:solidFill>
                <a:latin typeface="Oswald" pitchFamily="34" charset="0"/>
                <a:ea typeface="Oswald" pitchFamily="34" charset="-122"/>
                <a:cs typeface="Oswald" pitchFamily="34" charset="-120"/>
              </a:rPr>
              <a:t>WHAT WE OWN</a:t>
            </a:r>
            <a:endParaRPr lang="en-US" sz="2700" dirty="0"/>
          </a:p>
        </p:txBody>
      </p:sp>
      <p:sp>
        <p:nvSpPr>
          <p:cNvPr id="22" name="Text 15"/>
          <p:cNvSpPr txBox="1"/>
          <p:nvPr/>
        </p:nvSpPr>
        <p:spPr>
          <a:xfrm>
            <a:off x="819302" y="1100938"/>
            <a:ext cx="5715000" cy="200254"/>
          </a:xfrm>
          <a:prstGeom prst="rect">
            <a:avLst/>
          </a:prstGeom>
          <a:noFill/>
          <a:ln/>
        </p:spPr>
        <p:txBody>
          <a:bodyPr wrap="none" lIns="0" tIns="0" rIns="0" bIns="0" rtlCol="0" anchor="ctr"/>
          <a:lstStyle/>
          <a:p>
            <a:pPr marL="0" indent="0" algn="l">
              <a:buNone/>
            </a:pPr>
            <a:r>
              <a:rPr lang="en-US" sz="1300" b="1" kern="0" spc="68" dirty="0">
                <a:solidFill>
                  <a:srgbClr val="2A9D8F"/>
                </a:solidFill>
                <a:latin typeface="Roboto Condensed" pitchFamily="34" charset="0"/>
                <a:ea typeface="Roboto Condensed" pitchFamily="34" charset="-122"/>
                <a:cs typeface="Roboto Condensed" pitchFamily="34" charset="-120"/>
              </a:rPr>
              <a:t>The proprietary stack - our moat</a:t>
            </a:r>
            <a:endParaRPr lang="en-US" sz="1300" dirty="0"/>
          </a:p>
        </p:txBody>
      </p:sp>
      <p:sp>
        <p:nvSpPr>
          <p:cNvPr id="23" name="Shape 16"/>
          <p:cNvSpPr/>
          <p:nvPr/>
        </p:nvSpPr>
        <p:spPr>
          <a:xfrm>
            <a:off x="800100" y="1952244"/>
            <a:ext cx="304495" cy="304495"/>
          </a:xfrm>
          <a:prstGeom prst="roundRect">
            <a:avLst>
              <a:gd name="adj" fmla="val 112613"/>
            </a:avLst>
          </a:prstGeom>
          <a:solidFill>
            <a:srgbClr val="F0FDFA"/>
          </a:solidFill>
          <a:ln w="12700">
            <a:solidFill>
              <a:srgbClr val="FFFFFF">
                <a:alpha val="0"/>
              </a:srgbClr>
            </a:solidFill>
            <a:prstDash val="solid"/>
          </a:ln>
        </p:spPr>
        <p:txBody>
          <a:bodyPr/>
          <a:lstStyle/>
          <a:p>
            <a:endParaRPr lang="en-US"/>
          </a:p>
        </p:txBody>
      </p:sp>
      <p:pic>
        <p:nvPicPr>
          <p:cNvPr id="24" name="Image 5" descr="gen-dedup-354148c7dfe2ece024d9587c6b984377.png"/>
          <p:cNvPicPr>
            <a:picLocks noChangeAspect="1"/>
          </p:cNvPicPr>
          <p:nvPr/>
        </p:nvPicPr>
        <p:blipFill>
          <a:blip r:embed="rId8"/>
          <a:srcRect t="-16800" b="-16800"/>
          <a:stretch/>
        </p:blipFill>
        <p:spPr>
          <a:xfrm>
            <a:off x="895198" y="2029054"/>
            <a:ext cx="114300" cy="152705"/>
          </a:xfrm>
          <a:prstGeom prst="rect">
            <a:avLst/>
          </a:prstGeom>
        </p:spPr>
      </p:pic>
      <p:sp>
        <p:nvSpPr>
          <p:cNvPr id="25" name="Text 17"/>
          <p:cNvSpPr txBox="1"/>
          <p:nvPr/>
        </p:nvSpPr>
        <p:spPr>
          <a:xfrm>
            <a:off x="1238098" y="1952244"/>
            <a:ext cx="2572207"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J2W Premier Lounge</a:t>
            </a:r>
            <a:endParaRPr lang="en-US" sz="1500" dirty="0"/>
          </a:p>
        </p:txBody>
      </p:sp>
      <p:sp>
        <p:nvSpPr>
          <p:cNvPr id="26" name="Text 18"/>
          <p:cNvSpPr txBox="1"/>
          <p:nvPr/>
        </p:nvSpPr>
        <p:spPr>
          <a:xfrm>
            <a:off x="800100" y="242864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Curated network of vetted experts - instant access to scarce skills.</a:t>
            </a:r>
            <a:endParaRPr lang="en-US" sz="1200" dirty="0"/>
          </a:p>
        </p:txBody>
      </p:sp>
      <p:sp>
        <p:nvSpPr>
          <p:cNvPr id="27" name="Shape 19"/>
          <p:cNvSpPr/>
          <p:nvPr/>
        </p:nvSpPr>
        <p:spPr>
          <a:xfrm>
            <a:off x="4572000" y="1952244"/>
            <a:ext cx="304495" cy="304495"/>
          </a:xfrm>
          <a:prstGeom prst="roundRect">
            <a:avLst>
              <a:gd name="adj" fmla="val 112613"/>
            </a:avLst>
          </a:prstGeom>
          <a:solidFill>
            <a:srgbClr val="FEF2F2"/>
          </a:solidFill>
          <a:ln w="12700">
            <a:solidFill>
              <a:srgbClr val="FFFFFF">
                <a:alpha val="0"/>
              </a:srgbClr>
            </a:solidFill>
            <a:prstDash val="solid"/>
          </a:ln>
        </p:spPr>
        <p:txBody>
          <a:bodyPr/>
          <a:lstStyle/>
          <a:p>
            <a:endParaRPr lang="en-US"/>
          </a:p>
        </p:txBody>
      </p:sp>
      <p:pic>
        <p:nvPicPr>
          <p:cNvPr id="28" name="Image 6" descr="gen-dedup-8653d22c8fc2d1668da8a16f36629000.png"/>
          <p:cNvPicPr>
            <a:picLocks noChangeAspect="1"/>
          </p:cNvPicPr>
          <p:nvPr/>
        </p:nvPicPr>
        <p:blipFill>
          <a:blip r:embed="rId9"/>
          <a:srcRect t="-25150" b="-25150"/>
          <a:stretch/>
        </p:blipFill>
        <p:spPr>
          <a:xfrm>
            <a:off x="4667098" y="2029054"/>
            <a:ext cx="114300" cy="152705"/>
          </a:xfrm>
          <a:prstGeom prst="rect">
            <a:avLst/>
          </a:prstGeom>
        </p:spPr>
      </p:pic>
      <p:sp>
        <p:nvSpPr>
          <p:cNvPr id="29" name="Text 20"/>
          <p:cNvSpPr txBox="1"/>
          <p:nvPr/>
        </p:nvSpPr>
        <p:spPr>
          <a:xfrm>
            <a:off x="5009998" y="1952244"/>
            <a:ext cx="2572207"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J2W OfferLetter</a:t>
            </a:r>
            <a:endParaRPr lang="en-US" sz="1500" dirty="0"/>
          </a:p>
        </p:txBody>
      </p:sp>
      <p:sp>
        <p:nvSpPr>
          <p:cNvPr id="30" name="Text 21"/>
          <p:cNvSpPr txBox="1"/>
          <p:nvPr/>
        </p:nvSpPr>
        <p:spPr>
          <a:xfrm>
            <a:off x="4572000" y="242864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AI-driven sourcing &amp; resume parsing - onboard one engineer an hour.</a:t>
            </a:r>
            <a:endParaRPr lang="en-US" sz="1200" dirty="0"/>
          </a:p>
        </p:txBody>
      </p:sp>
      <p:sp>
        <p:nvSpPr>
          <p:cNvPr id="31" name="Shape 22"/>
          <p:cNvSpPr/>
          <p:nvPr/>
        </p:nvSpPr>
        <p:spPr>
          <a:xfrm>
            <a:off x="8343900" y="1952244"/>
            <a:ext cx="304495" cy="304495"/>
          </a:xfrm>
          <a:prstGeom prst="roundRect">
            <a:avLst>
              <a:gd name="adj" fmla="val 112613"/>
            </a:avLst>
          </a:prstGeom>
          <a:solidFill>
            <a:srgbClr val="F0FDFA"/>
          </a:solidFill>
          <a:ln w="12700">
            <a:solidFill>
              <a:srgbClr val="FFFFFF">
                <a:alpha val="0"/>
              </a:srgbClr>
            </a:solidFill>
            <a:prstDash val="solid"/>
          </a:ln>
        </p:spPr>
        <p:txBody>
          <a:bodyPr/>
          <a:lstStyle/>
          <a:p>
            <a:endParaRPr lang="en-US"/>
          </a:p>
        </p:txBody>
      </p:sp>
      <p:pic>
        <p:nvPicPr>
          <p:cNvPr id="32" name="Image 7" descr="gen-dedup-fe8b3fc2b54c6cb2835c9e1123b7a343.png"/>
          <p:cNvPicPr>
            <a:picLocks noChangeAspect="1"/>
          </p:cNvPicPr>
          <p:nvPr/>
        </p:nvPicPr>
        <p:blipFill>
          <a:blip r:embed="rId10"/>
          <a:srcRect t="-25150" b="-25150"/>
          <a:stretch/>
        </p:blipFill>
        <p:spPr>
          <a:xfrm>
            <a:off x="8438998" y="2029054"/>
            <a:ext cx="114300" cy="152705"/>
          </a:xfrm>
          <a:prstGeom prst="rect">
            <a:avLst/>
          </a:prstGeom>
        </p:spPr>
      </p:pic>
      <p:sp>
        <p:nvSpPr>
          <p:cNvPr id="33" name="Text 23"/>
          <p:cNvSpPr txBox="1"/>
          <p:nvPr/>
        </p:nvSpPr>
        <p:spPr>
          <a:xfrm>
            <a:off x="8781898" y="1952244"/>
            <a:ext cx="2702052"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Data Abstraction Layer</a:t>
            </a:r>
            <a:endParaRPr lang="en-US" sz="1500" dirty="0"/>
          </a:p>
        </p:txBody>
      </p:sp>
      <p:sp>
        <p:nvSpPr>
          <p:cNvPr id="34" name="Text 24"/>
          <p:cNvSpPr txBox="1"/>
          <p:nvPr/>
        </p:nvSpPr>
        <p:spPr>
          <a:xfrm>
            <a:off x="8343900" y="242864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Unified API gateway + real-time ETL - a single pane of glass.</a:t>
            </a:r>
            <a:endParaRPr lang="en-US" sz="1200" dirty="0"/>
          </a:p>
        </p:txBody>
      </p:sp>
      <p:sp>
        <p:nvSpPr>
          <p:cNvPr id="35" name="Shape 25"/>
          <p:cNvSpPr/>
          <p:nvPr/>
        </p:nvSpPr>
        <p:spPr>
          <a:xfrm>
            <a:off x="2686507" y="3857854"/>
            <a:ext cx="304495" cy="304495"/>
          </a:xfrm>
          <a:prstGeom prst="roundRect">
            <a:avLst>
              <a:gd name="adj" fmla="val 112613"/>
            </a:avLst>
          </a:prstGeom>
          <a:solidFill>
            <a:srgbClr val="FEF2F2"/>
          </a:solidFill>
          <a:ln w="12700">
            <a:solidFill>
              <a:srgbClr val="FFFFFF">
                <a:alpha val="0"/>
              </a:srgbClr>
            </a:solidFill>
            <a:prstDash val="solid"/>
          </a:ln>
        </p:spPr>
        <p:txBody>
          <a:bodyPr/>
          <a:lstStyle/>
          <a:p>
            <a:endParaRPr lang="en-US"/>
          </a:p>
        </p:txBody>
      </p:sp>
      <p:pic>
        <p:nvPicPr>
          <p:cNvPr id="36" name="Image 8" descr="gen-dedup-e7d7166718140d8159b1663599725aa5.png"/>
          <p:cNvPicPr>
            <a:picLocks noChangeAspect="1"/>
          </p:cNvPicPr>
          <p:nvPr/>
        </p:nvPicPr>
        <p:blipFill>
          <a:blip r:embed="rId11"/>
          <a:srcRect t="-8450" b="-8450"/>
          <a:stretch/>
        </p:blipFill>
        <p:spPr>
          <a:xfrm>
            <a:off x="2781605" y="3933749"/>
            <a:ext cx="114300" cy="152705"/>
          </a:xfrm>
          <a:prstGeom prst="rect">
            <a:avLst/>
          </a:prstGeom>
        </p:spPr>
      </p:pic>
      <p:sp>
        <p:nvSpPr>
          <p:cNvPr id="37" name="Text 26"/>
          <p:cNvSpPr txBox="1"/>
          <p:nvPr/>
        </p:nvSpPr>
        <p:spPr>
          <a:xfrm>
            <a:off x="3124505" y="3857854"/>
            <a:ext cx="2572207"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J2W AI Labs</a:t>
            </a:r>
            <a:endParaRPr lang="en-US" sz="1500" dirty="0"/>
          </a:p>
        </p:txBody>
      </p:sp>
      <p:sp>
        <p:nvSpPr>
          <p:cNvPr id="38" name="Text 27"/>
          <p:cNvSpPr txBox="1"/>
          <p:nvPr/>
        </p:nvSpPr>
        <p:spPr>
          <a:xfrm>
            <a:off x="2686507" y="433425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Internal AI engine - every engineer AI-certified before Day 1.</a:t>
            </a:r>
            <a:endParaRPr lang="en-US" sz="1200" dirty="0"/>
          </a:p>
        </p:txBody>
      </p:sp>
      <p:sp>
        <p:nvSpPr>
          <p:cNvPr id="39" name="Shape 28"/>
          <p:cNvSpPr/>
          <p:nvPr/>
        </p:nvSpPr>
        <p:spPr>
          <a:xfrm>
            <a:off x="6458407" y="3857854"/>
            <a:ext cx="304495" cy="304495"/>
          </a:xfrm>
          <a:prstGeom prst="roundRect">
            <a:avLst>
              <a:gd name="adj" fmla="val 112613"/>
            </a:avLst>
          </a:prstGeom>
          <a:solidFill>
            <a:srgbClr val="F0FDFA"/>
          </a:solidFill>
          <a:ln w="12700">
            <a:solidFill>
              <a:srgbClr val="FFFFFF">
                <a:alpha val="0"/>
              </a:srgbClr>
            </a:solidFill>
            <a:prstDash val="solid"/>
          </a:ln>
        </p:spPr>
        <p:txBody>
          <a:bodyPr/>
          <a:lstStyle/>
          <a:p>
            <a:endParaRPr lang="en-US"/>
          </a:p>
        </p:txBody>
      </p:sp>
      <p:pic>
        <p:nvPicPr>
          <p:cNvPr id="40" name="Image 9" descr="gen-dedup-a3d9bb31ae14fa9101e3246a3a64819e.png"/>
          <p:cNvPicPr>
            <a:picLocks noChangeAspect="1"/>
          </p:cNvPicPr>
          <p:nvPr/>
        </p:nvPicPr>
        <p:blipFill>
          <a:blip r:embed="rId12"/>
          <a:srcRect t="-8450" b="-8450"/>
          <a:stretch/>
        </p:blipFill>
        <p:spPr>
          <a:xfrm>
            <a:off x="6553505" y="3933749"/>
            <a:ext cx="114300" cy="152705"/>
          </a:xfrm>
          <a:prstGeom prst="rect">
            <a:avLst/>
          </a:prstGeom>
        </p:spPr>
      </p:pic>
      <p:sp>
        <p:nvSpPr>
          <p:cNvPr id="41" name="Text 29"/>
          <p:cNvSpPr txBox="1"/>
          <p:nvPr/>
        </p:nvSpPr>
        <p:spPr>
          <a:xfrm>
            <a:off x="6896405" y="3857854"/>
            <a:ext cx="2572207"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60+ Accelerators</a:t>
            </a:r>
            <a:endParaRPr lang="en-US" sz="1500" dirty="0"/>
          </a:p>
        </p:txBody>
      </p:sp>
      <p:sp>
        <p:nvSpPr>
          <p:cNvPr id="42" name="Text 30"/>
          <p:cNvSpPr txBox="1"/>
          <p:nvPr/>
        </p:nvSpPr>
        <p:spPr>
          <a:xfrm>
            <a:off x="6458407" y="433425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Pre-built solutions on SAP, ServiceNow &amp; industry stacks.</a:t>
            </a:r>
            <a:endParaRPr lang="en-US" sz="1200" dirty="0"/>
          </a:p>
        </p:txBody>
      </p:sp>
      <p:sp>
        <p:nvSpPr>
          <p:cNvPr id="43" name="Text 31"/>
          <p:cNvSpPr txBox="1"/>
          <p:nvPr/>
        </p:nvSpPr>
        <p:spPr>
          <a:xfrm>
            <a:off x="800100" y="5715000"/>
            <a:ext cx="10592410" cy="286207"/>
          </a:xfrm>
          <a:prstGeom prst="rect">
            <a:avLst/>
          </a:prstGeom>
          <a:noFill/>
          <a:ln/>
        </p:spPr>
        <p:txBody>
          <a:bodyPr wrap="none" lIns="0" tIns="0" rIns="0" bIns="0" rtlCol="0" anchor="ctr"/>
          <a:lstStyle/>
          <a:p>
            <a:pPr marL="0" indent="0" algn="ctr">
              <a:buNone/>
            </a:pPr>
            <a:r>
              <a:rPr lang="en-US" sz="1500" b="1" kern="0" spc="75" dirty="0">
                <a:solidFill>
                  <a:srgbClr val="9CA3AF"/>
                </a:solidFill>
                <a:latin typeface="Oswald" pitchFamily="34" charset="0"/>
                <a:ea typeface="Oswald" pitchFamily="34" charset="-122"/>
                <a:cs typeface="Oswald" pitchFamily="34" charset="-120"/>
              </a:rPr>
              <a:t>THE ARC FRAMEWORK</a:t>
            </a:r>
            <a:r>
              <a:rPr lang="en-US" sz="1500" b="1" kern="0" spc="75" dirty="0">
                <a:solidFill>
                  <a:srgbClr val="2A9D8F"/>
                </a:solidFill>
                <a:latin typeface="Oswald" pitchFamily="34" charset="0"/>
                <a:ea typeface="Oswald" pitchFamily="34" charset="-122"/>
                <a:cs typeface="Oswald" pitchFamily="34" charset="-120"/>
              </a:rPr>
              <a:t>Adaptive</a:t>
            </a:r>
            <a:r>
              <a:rPr lang="en-US" sz="1200" b="1" kern="0" spc="75" dirty="0">
                <a:solidFill>
                  <a:srgbClr val="CBD5E1"/>
                </a:solidFill>
                <a:latin typeface="Raleway" pitchFamily="34" charset="0"/>
                <a:ea typeface="Raleway" pitchFamily="34" charset="-122"/>
                <a:cs typeface="Raleway" pitchFamily="34" charset="-120"/>
              </a:rPr>
              <a:t>(Grow)</a:t>
            </a:r>
            <a:r>
              <a:rPr lang="en-US" sz="1500" b="1" kern="0" spc="75" dirty="0">
                <a:solidFill>
                  <a:srgbClr val="6B7280"/>
                </a:solidFill>
                <a:latin typeface="Oswald" pitchFamily="34" charset="0"/>
                <a:ea typeface="Oswald" pitchFamily="34" charset="-122"/>
                <a:cs typeface="Oswald" pitchFamily="34" charset="-120"/>
              </a:rPr>
              <a:t>→</a:t>
            </a:r>
            <a:r>
              <a:rPr lang="en-US" sz="1500" b="1" kern="0" spc="75" dirty="0">
                <a:solidFill>
                  <a:srgbClr val="D62839"/>
                </a:solidFill>
                <a:latin typeface="Oswald" pitchFamily="34" charset="0"/>
                <a:ea typeface="Oswald" pitchFamily="34" charset="-122"/>
                <a:cs typeface="Oswald" pitchFamily="34" charset="-120"/>
              </a:rPr>
              <a:t>Resilient</a:t>
            </a:r>
            <a:r>
              <a:rPr lang="en-US" sz="1200" b="1" kern="0" spc="75" dirty="0">
                <a:solidFill>
                  <a:srgbClr val="CBD5E1"/>
                </a:solidFill>
                <a:latin typeface="Raleway" pitchFamily="34" charset="0"/>
                <a:ea typeface="Raleway" pitchFamily="34" charset="-122"/>
                <a:cs typeface="Raleway" pitchFamily="34" charset="-120"/>
              </a:rPr>
              <a:t>(Mature)</a:t>
            </a:r>
            <a:r>
              <a:rPr lang="en-US" sz="1500" b="1" kern="0" spc="75" dirty="0">
                <a:solidFill>
                  <a:srgbClr val="6B7280"/>
                </a:solidFill>
                <a:latin typeface="Oswald" pitchFamily="34" charset="0"/>
                <a:ea typeface="Oswald" pitchFamily="34" charset="-122"/>
                <a:cs typeface="Oswald" pitchFamily="34" charset="-120"/>
              </a:rPr>
              <a:t>→</a:t>
            </a:r>
            <a:r>
              <a:rPr lang="en-US" sz="1500" b="1" kern="0" spc="75" dirty="0">
                <a:solidFill>
                  <a:srgbClr val="2A9D8F"/>
                </a:solidFill>
                <a:latin typeface="Oswald" pitchFamily="34" charset="0"/>
                <a:ea typeface="Oswald" pitchFamily="34" charset="-122"/>
                <a:cs typeface="Oswald" pitchFamily="34" charset="-120"/>
              </a:rPr>
              <a:t>Cognitive</a:t>
            </a:r>
            <a:r>
              <a:rPr lang="en-US" sz="1200" b="1" kern="0" spc="75" dirty="0">
                <a:solidFill>
                  <a:srgbClr val="CBD5E1"/>
                </a:solidFill>
                <a:latin typeface="Raleway" pitchFamily="34" charset="0"/>
                <a:ea typeface="Raleway" pitchFamily="34" charset="-122"/>
                <a:cs typeface="Raleway" pitchFamily="34" charset="-120"/>
              </a:rPr>
              <a:t>(Transform)</a:t>
            </a:r>
            <a:endParaRPr lang="en-US" sz="1500" dirty="0"/>
          </a:p>
        </p:txBody>
      </p:sp>
      <p:sp>
        <p:nvSpPr>
          <p:cNvPr id="44" name="Text 32"/>
          <p:cNvSpPr txBox="1"/>
          <p:nvPr/>
        </p:nvSpPr>
        <p:spPr>
          <a:xfrm>
            <a:off x="609905" y="6429146"/>
            <a:ext cx="10972800" cy="181051"/>
          </a:xfrm>
          <a:prstGeom prst="rect">
            <a:avLst/>
          </a:prstGeom>
          <a:noFill/>
          <a:ln/>
        </p:spPr>
        <p:txBody>
          <a:bodyPr wrap="none" lIns="0" tIns="0" rIns="0" bIns="0" rtlCol="0" anchor="ctr"/>
          <a:lstStyle/>
          <a:p>
            <a:pPr marL="0" indent="0" algn="ctr">
              <a:buNone/>
            </a:pPr>
            <a:r>
              <a:rPr lang="en-US" sz="1200" b="1" dirty="0">
                <a:solidFill>
                  <a:srgbClr val="374151"/>
                </a:solidFill>
                <a:latin typeface="Raleway" pitchFamily="34" charset="0"/>
                <a:ea typeface="Raleway" pitchFamily="34" charset="-122"/>
                <a:cs typeface="Raleway" pitchFamily="34" charset="-120"/>
              </a:rPr>
              <a:t>Transparent, scalable, and owned by us - </a:t>
            </a:r>
            <a:r>
              <a:rPr lang="en-US" sz="1200" b="1" dirty="0">
                <a:solidFill>
                  <a:srgbClr val="2A9D8F"/>
                </a:solidFill>
                <a:latin typeface="Raleway" pitchFamily="34" charset="0"/>
                <a:ea typeface="Raleway" pitchFamily="34" charset="-122"/>
                <a:cs typeface="Raleway" pitchFamily="34" charset="-120"/>
              </a:rPr>
              <a:t>your competitive moat, not a black box.</a:t>
            </a:r>
            <a:endParaRPr lang="en-US" sz="1200" dirty="0"/>
          </a:p>
        </p:txBody>
      </p:sp>
      <p:sp>
        <p:nvSpPr>
          <p:cNvPr id="45" name="TextBox 44">
            <a:extLst>
              <a:ext uri="{FF2B5EF4-FFF2-40B4-BE49-F238E27FC236}">
                <a16:creationId xmlns:a16="http://schemas.microsoft.com/office/drawing/2014/main" id="{25DD6EC7-8F41-58C5-8FE6-D76C9E660C2A}"/>
              </a:ext>
            </a:extLst>
          </p:cNvPr>
          <p:cNvSpPr txBox="1"/>
          <p:nvPr/>
        </p:nvSpPr>
        <p:spPr>
          <a:xfrm>
            <a:off x="3048000" y="3429000"/>
            <a:ext cx="60960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Tree>
    <p:extLst>
      <p:ext uri="{BB962C8B-B14F-4D97-AF65-F5344CB8AC3E}">
        <p14:creationId xmlns:p14="http://schemas.microsoft.com/office/powerpoint/2010/main" val="38212399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323228122ff92d2332e711a84ca3b40c.png"/>
          <p:cNvPicPr>
            <a:picLocks noChangeAspect="1"/>
          </p:cNvPicPr>
          <p:nvPr/>
        </p:nvPicPr>
        <p:blipFill>
          <a:blip r:embed="rId3"/>
          <a:srcRect l="-202" r="-202"/>
          <a:stretch/>
        </p:blipFill>
        <p:spPr>
          <a:xfrm>
            <a:off x="0" y="0"/>
            <a:ext cx="8127187" cy="75895"/>
          </a:xfrm>
          <a:prstGeom prst="rect">
            <a:avLst/>
          </a:prstGeom>
        </p:spPr>
      </p:pic>
      <p:pic>
        <p:nvPicPr>
          <p:cNvPr id="5" name="Image 1" descr="gen-dedup-64882feb7a832238af77b962fc7a8538.png"/>
          <p:cNvPicPr>
            <a:picLocks noChangeAspect="1"/>
          </p:cNvPicPr>
          <p:nvPr/>
        </p:nvPicPr>
        <p:blipFill>
          <a:blip r:embed="rId4"/>
          <a:srcRect l="-203" r="-203"/>
          <a:stretch/>
        </p:blipFill>
        <p:spPr>
          <a:xfrm>
            <a:off x="8127187" y="0"/>
            <a:ext cx="4063594" cy="75895"/>
          </a:xfrm>
          <a:prstGeom prst="rect">
            <a:avLst/>
          </a:prstGeom>
        </p:spPr>
      </p:pic>
      <p:sp>
        <p:nvSpPr>
          <p:cNvPr id="6" name="Shape 2"/>
          <p:cNvSpPr/>
          <p:nvPr/>
        </p:nvSpPr>
        <p:spPr>
          <a:xfrm>
            <a:off x="9905695" y="-571500"/>
            <a:ext cx="2857500" cy="2857500"/>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7" name="Image 2" descr="gen-dedup-6da70c599291e253314366a10c094ffa.png"/>
          <p:cNvPicPr>
            <a:picLocks noChangeAspect="1"/>
          </p:cNvPicPr>
          <p:nvPr/>
        </p:nvPicPr>
        <p:blipFill>
          <a:blip r:embed="rId5">
            <a:alphaModFix amt="15000"/>
          </a:blip>
          <a:srcRect/>
          <a:stretch/>
        </p:blipFill>
        <p:spPr>
          <a:xfrm>
            <a:off x="381305" y="1143000"/>
            <a:ext cx="1429207" cy="1429207"/>
          </a:xfrm>
          <a:prstGeom prst="rect">
            <a:avLst/>
          </a:prstGeom>
        </p:spPr>
      </p:pic>
      <p:pic>
        <p:nvPicPr>
          <p:cNvPr id="8" name="Image 3" descr="gen-dedup-c72c85b07e3f177762516dd89615ea68.png"/>
          <p:cNvPicPr>
            <a:picLocks noChangeAspect="1"/>
          </p:cNvPicPr>
          <p:nvPr/>
        </p:nvPicPr>
        <p:blipFill>
          <a:blip r:embed="rId6"/>
          <a:srcRect t="-217" b="-217"/>
          <a:stretch/>
        </p:blipFill>
        <p:spPr>
          <a:xfrm>
            <a:off x="609905" y="544982"/>
            <a:ext cx="75895" cy="476402"/>
          </a:xfrm>
          <a:prstGeom prst="rect">
            <a:avLst/>
          </a:prstGeom>
        </p:spPr>
      </p:pic>
      <p:sp>
        <p:nvSpPr>
          <p:cNvPr id="9" name="Text 3"/>
          <p:cNvSpPr txBox="1"/>
          <p:nvPr/>
        </p:nvSpPr>
        <p:spPr>
          <a:xfrm>
            <a:off x="875995" y="381305"/>
            <a:ext cx="7105802" cy="467258"/>
          </a:xfrm>
          <a:prstGeom prst="rect">
            <a:avLst/>
          </a:prstGeom>
          <a:noFill/>
          <a:ln/>
        </p:spPr>
        <p:txBody>
          <a:bodyPr wrap="none" lIns="0" tIns="0" rIns="0" bIns="0" rtlCol="0" anchor="ctr"/>
          <a:lstStyle/>
          <a:p>
            <a:pPr marL="0" indent="0" algn="l">
              <a:buNone/>
            </a:pPr>
            <a:r>
              <a:rPr lang="en-US" sz="3300" b="1" kern="0" spc="-82">
                <a:solidFill>
                  <a:srgbClr val="111827"/>
                </a:solidFill>
                <a:latin typeface="Oswald" pitchFamily="34" charset="0"/>
                <a:ea typeface="Oswald" pitchFamily="34" charset="-122"/>
                <a:cs typeface="Oswald" pitchFamily="34" charset="-120"/>
              </a:rPr>
              <a:t>Managed Service Solutions</a:t>
            </a:r>
            <a:endParaRPr lang="en-US" sz="3300"/>
          </a:p>
        </p:txBody>
      </p:sp>
      <p:sp>
        <p:nvSpPr>
          <p:cNvPr id="10" name="Text 4"/>
          <p:cNvSpPr txBox="1"/>
          <p:nvPr/>
        </p:nvSpPr>
        <p:spPr>
          <a:xfrm>
            <a:off x="875995" y="898855"/>
            <a:ext cx="7791602" cy="286207"/>
          </a:xfrm>
          <a:prstGeom prst="rect">
            <a:avLst/>
          </a:prstGeom>
          <a:noFill/>
          <a:ln/>
        </p:spPr>
        <p:txBody>
          <a:bodyPr wrap="none" lIns="0" tIns="0" rIns="0" bIns="0" rtlCol="0" anchor="ctr"/>
          <a:lstStyle/>
          <a:p>
            <a:pPr marL="0" indent="0" algn="l">
              <a:buNone/>
            </a:pPr>
            <a:r>
              <a:rPr lang="en-US" sz="1500" b="1" kern="0" spc="75">
                <a:solidFill>
                  <a:srgbClr val="2A9D8F"/>
                </a:solidFill>
                <a:latin typeface="Roboto Condensed" pitchFamily="34" charset="0"/>
                <a:ea typeface="Roboto Condensed" pitchFamily="34" charset="-122"/>
                <a:cs typeface="Roboto Condensed" pitchFamily="34" charset="-120"/>
              </a:rPr>
              <a:t>OUTCOME-BOUND DELIVERY - NOT JUST A VENDOR WITH A STATEMENT OF WORK.</a:t>
            </a:r>
            <a:endParaRPr lang="en-US" sz="1500"/>
          </a:p>
        </p:txBody>
      </p:sp>
      <p:sp>
        <p:nvSpPr>
          <p:cNvPr id="11" name="Shape 5"/>
          <p:cNvSpPr/>
          <p:nvPr/>
        </p:nvSpPr>
        <p:spPr>
          <a:xfrm>
            <a:off x="609905" y="1524305"/>
            <a:ext cx="5524805" cy="1028700"/>
          </a:xfrm>
          <a:prstGeom prst="roundRect">
            <a:avLst>
              <a:gd name="adj" fmla="val 13169"/>
            </a:avLst>
          </a:prstGeom>
          <a:solidFill>
            <a:srgbClr val="FFFFFF"/>
          </a:solidFill>
          <a:ln w="12700">
            <a:solidFill>
              <a:srgbClr val="E5E7EB"/>
            </a:solidFill>
            <a:prstDash val="solid"/>
          </a:ln>
        </p:spPr>
        <p:txBody>
          <a:bodyPr/>
          <a:lstStyle/>
          <a:p>
            <a:endParaRPr lang="en-US"/>
          </a:p>
        </p:txBody>
      </p:sp>
      <p:sp>
        <p:nvSpPr>
          <p:cNvPr id="12" name="Shape 6"/>
          <p:cNvSpPr/>
          <p:nvPr/>
        </p:nvSpPr>
        <p:spPr>
          <a:xfrm>
            <a:off x="609905" y="1524305"/>
            <a:ext cx="38405" cy="1028700"/>
          </a:xfrm>
          <a:prstGeom prst="roundRect">
            <a:avLst>
              <a:gd name="adj" fmla="val 352732"/>
            </a:avLst>
          </a:prstGeom>
          <a:solidFill>
            <a:srgbClr val="2A9D8F"/>
          </a:solidFill>
          <a:ln w="12700">
            <a:solidFill>
              <a:srgbClr val="2A9D8F">
                <a:alpha val="0"/>
              </a:srgbClr>
            </a:solidFill>
            <a:prstDash val="solid"/>
          </a:ln>
        </p:spPr>
        <p:txBody>
          <a:bodyPr/>
          <a:lstStyle/>
          <a:p>
            <a:endParaRPr lang="en-US"/>
          </a:p>
        </p:txBody>
      </p:sp>
      <p:sp>
        <p:nvSpPr>
          <p:cNvPr id="15" name="Shape 9"/>
          <p:cNvSpPr/>
          <p:nvPr/>
        </p:nvSpPr>
        <p:spPr>
          <a:xfrm>
            <a:off x="609905" y="2699308"/>
            <a:ext cx="5524805" cy="1028700"/>
          </a:xfrm>
          <a:prstGeom prst="roundRect">
            <a:avLst>
              <a:gd name="adj" fmla="val 13169"/>
            </a:avLst>
          </a:prstGeom>
          <a:solidFill>
            <a:srgbClr val="FFFFFF"/>
          </a:solidFill>
          <a:ln w="12700">
            <a:solidFill>
              <a:srgbClr val="E5E7EB"/>
            </a:solidFill>
            <a:prstDash val="solid"/>
          </a:ln>
        </p:spPr>
        <p:txBody>
          <a:bodyPr/>
          <a:lstStyle/>
          <a:p>
            <a:endParaRPr lang="en-US"/>
          </a:p>
        </p:txBody>
      </p:sp>
      <p:sp>
        <p:nvSpPr>
          <p:cNvPr id="16" name="Shape 10"/>
          <p:cNvSpPr/>
          <p:nvPr/>
        </p:nvSpPr>
        <p:spPr>
          <a:xfrm>
            <a:off x="609905" y="2699308"/>
            <a:ext cx="38405" cy="1028700"/>
          </a:xfrm>
          <a:prstGeom prst="roundRect">
            <a:avLst>
              <a:gd name="adj" fmla="val 352732"/>
            </a:avLst>
          </a:prstGeom>
          <a:solidFill>
            <a:srgbClr val="2A9D8F"/>
          </a:solidFill>
          <a:ln w="12700">
            <a:solidFill>
              <a:srgbClr val="2A9D8F">
                <a:alpha val="0"/>
              </a:srgbClr>
            </a:solidFill>
            <a:prstDash val="solid"/>
          </a:ln>
        </p:spPr>
        <p:txBody>
          <a:bodyPr/>
          <a:lstStyle/>
          <a:p>
            <a:endParaRPr lang="en-US"/>
          </a:p>
        </p:txBody>
      </p:sp>
      <p:sp>
        <p:nvSpPr>
          <p:cNvPr id="17" name="Shape 11"/>
          <p:cNvSpPr/>
          <p:nvPr/>
        </p:nvSpPr>
        <p:spPr>
          <a:xfrm>
            <a:off x="609905" y="3823105"/>
            <a:ext cx="5524805" cy="1162202"/>
          </a:xfrm>
          <a:prstGeom prst="roundRect">
            <a:avLst>
              <a:gd name="adj" fmla="val 10318"/>
            </a:avLst>
          </a:prstGeom>
          <a:solidFill>
            <a:srgbClr val="FFFFFF"/>
          </a:solidFill>
          <a:ln w="12700">
            <a:solidFill>
              <a:srgbClr val="E5E7EB"/>
            </a:solidFill>
            <a:prstDash val="solid"/>
          </a:ln>
        </p:spPr>
        <p:txBody>
          <a:bodyPr/>
          <a:lstStyle/>
          <a:p>
            <a:endParaRPr lang="en-US"/>
          </a:p>
        </p:txBody>
      </p:sp>
      <p:sp>
        <p:nvSpPr>
          <p:cNvPr id="18" name="Shape 12"/>
          <p:cNvSpPr/>
          <p:nvPr/>
        </p:nvSpPr>
        <p:spPr>
          <a:xfrm>
            <a:off x="609905" y="3823105"/>
            <a:ext cx="38405" cy="1162202"/>
          </a:xfrm>
          <a:prstGeom prst="roundRect">
            <a:avLst>
              <a:gd name="adj" fmla="val 312254"/>
            </a:avLst>
          </a:prstGeom>
          <a:solidFill>
            <a:srgbClr val="D62839"/>
          </a:solidFill>
          <a:ln w="12700">
            <a:solidFill>
              <a:srgbClr val="D62839">
                <a:alpha val="0"/>
              </a:srgbClr>
            </a:solidFill>
            <a:prstDash val="solid"/>
          </a:ln>
        </p:spPr>
        <p:txBody>
          <a:bodyPr/>
          <a:lstStyle/>
          <a:p>
            <a:endParaRPr lang="en-US"/>
          </a:p>
        </p:txBody>
      </p:sp>
      <p:sp>
        <p:nvSpPr>
          <p:cNvPr id="19" name="Shape 13"/>
          <p:cNvSpPr/>
          <p:nvPr/>
        </p:nvSpPr>
        <p:spPr>
          <a:xfrm>
            <a:off x="6381598" y="1524305"/>
            <a:ext cx="5201107" cy="4572000"/>
          </a:xfrm>
          <a:prstGeom prst="roundRect">
            <a:avLst>
              <a:gd name="adj" fmla="val 667"/>
            </a:avLst>
          </a:prstGeom>
          <a:solidFill>
            <a:srgbClr val="F8FAFC"/>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20" name="Shape 14"/>
          <p:cNvSpPr/>
          <p:nvPr/>
        </p:nvSpPr>
        <p:spPr>
          <a:xfrm>
            <a:off x="6391656" y="1533449"/>
            <a:ext cx="5181905" cy="552298"/>
          </a:xfrm>
          <a:prstGeom prst="roundRect">
            <a:avLst>
              <a:gd name="adj" fmla="val 45672"/>
            </a:avLst>
          </a:prstGeom>
          <a:solidFill>
            <a:srgbClr val="1F2937"/>
          </a:solidFill>
          <a:ln w="12700">
            <a:solidFill>
              <a:srgbClr val="FFFFFF">
                <a:alpha val="0"/>
              </a:srgbClr>
            </a:solidFill>
            <a:prstDash val="solid"/>
          </a:ln>
        </p:spPr>
        <p:txBody>
          <a:bodyPr/>
          <a:lstStyle/>
          <a:p>
            <a:endParaRPr lang="en-US"/>
          </a:p>
        </p:txBody>
      </p:sp>
      <p:sp>
        <p:nvSpPr>
          <p:cNvPr id="21" name="Text 15"/>
          <p:cNvSpPr txBox="1"/>
          <p:nvPr/>
        </p:nvSpPr>
        <p:spPr>
          <a:xfrm>
            <a:off x="6543446" y="1593692"/>
            <a:ext cx="4877410" cy="324612"/>
          </a:xfrm>
          <a:prstGeom prst="rect">
            <a:avLst/>
          </a:prstGeom>
          <a:noFill/>
          <a:ln/>
        </p:spPr>
        <p:txBody>
          <a:bodyPr wrap="none" lIns="0" tIns="0" rIns="0" bIns="0" rtlCol="0" anchor="ctr"/>
          <a:lstStyle/>
          <a:p>
            <a:pPr marL="0" indent="0" algn="ctr">
              <a:buNone/>
            </a:pPr>
            <a:r>
              <a:rPr lang="en-US" sz="1100">
                <a:solidFill>
                  <a:srgbClr val="FFFFFF"/>
                </a:solidFill>
                <a:latin typeface="Oswald" pitchFamily="34" charset="0"/>
                <a:ea typeface="Oswald" pitchFamily="34" charset="-122"/>
                <a:cs typeface="Oswald" pitchFamily="34" charset="-120"/>
              </a:rPr>
              <a:t>Service Model Comparison</a:t>
            </a:r>
            <a:endParaRPr lang="en-US" sz="1100"/>
          </a:p>
        </p:txBody>
      </p:sp>
      <p:sp>
        <p:nvSpPr>
          <p:cNvPr id="22" name="Shape 16"/>
          <p:cNvSpPr/>
          <p:nvPr/>
        </p:nvSpPr>
        <p:spPr>
          <a:xfrm>
            <a:off x="609905" y="6229807"/>
            <a:ext cx="10972800" cy="437998"/>
          </a:xfrm>
          <a:prstGeom prst="roundRect">
            <a:avLst>
              <a:gd name="adj" fmla="val 36307"/>
            </a:avLst>
          </a:prstGeom>
          <a:solidFill>
            <a:srgbClr val="F8FAFC"/>
          </a:solidFill>
          <a:ln/>
        </p:spPr>
        <p:txBody>
          <a:bodyPr/>
          <a:lstStyle/>
          <a:p>
            <a:endParaRPr lang="en-US"/>
          </a:p>
        </p:txBody>
      </p:sp>
      <p:sp>
        <p:nvSpPr>
          <p:cNvPr id="23" name="Shape 17"/>
          <p:cNvSpPr/>
          <p:nvPr/>
        </p:nvSpPr>
        <p:spPr>
          <a:xfrm>
            <a:off x="609905" y="6229807"/>
            <a:ext cx="38405" cy="437998"/>
          </a:xfrm>
          <a:prstGeom prst="roundRect">
            <a:avLst>
              <a:gd name="adj" fmla="val 414077"/>
            </a:avLst>
          </a:prstGeom>
          <a:solidFill>
            <a:srgbClr val="111827"/>
          </a:solidFill>
          <a:ln w="12700">
            <a:solidFill>
              <a:srgbClr val="111827">
                <a:alpha val="0"/>
              </a:srgbClr>
            </a:solidFill>
            <a:prstDash val="solid"/>
          </a:ln>
        </p:spPr>
        <p:txBody>
          <a:bodyPr/>
          <a:lstStyle/>
          <a:p>
            <a:endParaRPr lang="en-US"/>
          </a:p>
        </p:txBody>
      </p:sp>
      <p:sp>
        <p:nvSpPr>
          <p:cNvPr id="24" name="Text 18"/>
          <p:cNvSpPr txBox="1"/>
          <p:nvPr/>
        </p:nvSpPr>
        <p:spPr>
          <a:xfrm>
            <a:off x="981151" y="1638605"/>
            <a:ext cx="5000854" cy="277063"/>
          </a:xfrm>
          <a:prstGeom prst="rect">
            <a:avLst/>
          </a:prstGeom>
          <a:noFill/>
          <a:ln/>
        </p:spPr>
        <p:txBody>
          <a:bodyPr wrap="none" lIns="0" tIns="0" rIns="0" bIns="0" rtlCol="0" anchor="ctr"/>
          <a:lstStyle/>
          <a:p>
            <a:pPr marL="0" indent="0" algn="l">
              <a:buNone/>
            </a:pPr>
            <a:r>
              <a:rPr lang="en-US" sz="1400" b="1">
                <a:solidFill>
                  <a:srgbClr val="1F2937"/>
                </a:solidFill>
                <a:latin typeface="Oswald" pitchFamily="34" charset="0"/>
                <a:ea typeface="Oswald" pitchFamily="34" charset="-122"/>
                <a:cs typeface="Oswald" pitchFamily="34" charset="-120"/>
              </a:rPr>
              <a:t>Solution Accelerators</a:t>
            </a:r>
            <a:endParaRPr lang="en-US" sz="1400"/>
          </a:p>
        </p:txBody>
      </p:sp>
      <p:sp>
        <p:nvSpPr>
          <p:cNvPr id="25" name="Text 19"/>
          <p:cNvSpPr txBox="1"/>
          <p:nvPr/>
        </p:nvSpPr>
        <p:spPr>
          <a:xfrm>
            <a:off x="761695" y="1950415"/>
            <a:ext cx="5220310" cy="391363"/>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60+ pre-built accelerators across SAP, ServiceNow, Salesforce, and industry stacks - deployed fast, customized to fit, never forced.</a:t>
            </a:r>
            <a:endParaRPr lang="en-US" sz="1100"/>
          </a:p>
        </p:txBody>
      </p:sp>
      <p:pic>
        <p:nvPicPr>
          <p:cNvPr id="26" name="Image 4" descr="gen-dedup-aaaf743a9627457c5a8ecc39eba03c50.png"/>
          <p:cNvPicPr>
            <a:picLocks noChangeAspect="1"/>
          </p:cNvPicPr>
          <p:nvPr/>
        </p:nvPicPr>
        <p:blipFill>
          <a:blip r:embed="rId7"/>
          <a:srcRect t="-13462" b="-13462"/>
          <a:stretch/>
        </p:blipFill>
        <p:spPr>
          <a:xfrm>
            <a:off x="761695" y="1689811"/>
            <a:ext cx="142646" cy="181051"/>
          </a:xfrm>
          <a:prstGeom prst="rect">
            <a:avLst/>
          </a:prstGeom>
        </p:spPr>
      </p:pic>
      <p:sp>
        <p:nvSpPr>
          <p:cNvPr id="30" name="Text 22"/>
          <p:cNvSpPr txBox="1"/>
          <p:nvPr/>
        </p:nvSpPr>
        <p:spPr>
          <a:xfrm>
            <a:off x="981151" y="2813608"/>
            <a:ext cx="5000854" cy="277063"/>
          </a:xfrm>
          <a:prstGeom prst="rect">
            <a:avLst/>
          </a:prstGeom>
          <a:noFill/>
          <a:ln/>
        </p:spPr>
        <p:txBody>
          <a:bodyPr wrap="none" lIns="0" tIns="0" rIns="0" bIns="0" rtlCol="0" anchor="ctr"/>
          <a:lstStyle/>
          <a:p>
            <a:pPr marL="0" indent="0" algn="l">
              <a:buNone/>
            </a:pPr>
            <a:r>
              <a:rPr lang="en-US" sz="1400" b="1">
                <a:solidFill>
                  <a:srgbClr val="1F2937"/>
                </a:solidFill>
                <a:latin typeface="Oswald" pitchFamily="34" charset="0"/>
                <a:ea typeface="Oswald" pitchFamily="34" charset="-122"/>
                <a:cs typeface="Oswald" pitchFamily="34" charset="-120"/>
              </a:rPr>
              <a:t>Cross-Function Coverage</a:t>
            </a:r>
            <a:endParaRPr lang="en-US" sz="1400"/>
          </a:p>
        </p:txBody>
      </p:sp>
      <p:sp>
        <p:nvSpPr>
          <p:cNvPr id="31" name="Text 23"/>
          <p:cNvSpPr txBox="1"/>
          <p:nvPr/>
        </p:nvSpPr>
        <p:spPr>
          <a:xfrm>
            <a:off x="761695" y="3125418"/>
            <a:ext cx="5220310" cy="391363"/>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From AI CoE and Data CoE to Digital Engineering, Quality, and Cybersecurity - we operate across the full enterprise function map, not just the easy wins.</a:t>
            </a:r>
            <a:endParaRPr lang="en-US" sz="1100"/>
          </a:p>
        </p:txBody>
      </p:sp>
      <p:pic>
        <p:nvPicPr>
          <p:cNvPr id="32" name="Image 6" descr="gen-dedup-f27d894a2aa16499d7ef79199ddd11dd.png"/>
          <p:cNvPicPr>
            <a:picLocks noChangeAspect="1"/>
          </p:cNvPicPr>
          <p:nvPr/>
        </p:nvPicPr>
        <p:blipFill>
          <a:blip r:embed="rId8"/>
          <a:srcRect t="-21395" b="-21395"/>
          <a:stretch/>
        </p:blipFill>
        <p:spPr>
          <a:xfrm>
            <a:off x="761695" y="2864814"/>
            <a:ext cx="142646" cy="181051"/>
          </a:xfrm>
          <a:prstGeom prst="rect">
            <a:avLst/>
          </a:prstGeom>
        </p:spPr>
      </p:pic>
      <p:sp>
        <p:nvSpPr>
          <p:cNvPr id="33" name="Text 24"/>
          <p:cNvSpPr txBox="1"/>
          <p:nvPr/>
        </p:nvSpPr>
        <p:spPr>
          <a:xfrm>
            <a:off x="981151" y="3937405"/>
            <a:ext cx="5000854" cy="277063"/>
          </a:xfrm>
          <a:prstGeom prst="rect">
            <a:avLst/>
          </a:prstGeom>
          <a:noFill/>
          <a:ln/>
        </p:spPr>
        <p:txBody>
          <a:bodyPr wrap="none" lIns="0" tIns="0" rIns="0" bIns="0" rtlCol="0" anchor="ctr"/>
          <a:lstStyle/>
          <a:p>
            <a:pPr marL="0" indent="0" algn="l">
              <a:buNone/>
            </a:pPr>
            <a:r>
              <a:rPr lang="en-US" sz="1400" b="1">
                <a:solidFill>
                  <a:srgbClr val="1F2937"/>
                </a:solidFill>
                <a:latin typeface="Oswald" pitchFamily="34" charset="0"/>
                <a:ea typeface="Oswald" pitchFamily="34" charset="-122"/>
                <a:cs typeface="Oswald" pitchFamily="34" charset="-120"/>
              </a:rPr>
              <a:t>Proven ROI, Not Projections</a:t>
            </a:r>
            <a:endParaRPr lang="en-US" sz="1400"/>
          </a:p>
        </p:txBody>
      </p:sp>
      <p:sp>
        <p:nvSpPr>
          <p:cNvPr id="34" name="Text 25"/>
          <p:cNvSpPr txBox="1"/>
          <p:nvPr/>
        </p:nvSpPr>
        <p:spPr>
          <a:xfrm>
            <a:off x="761695" y="4249216"/>
            <a:ext cx="5220310" cy="581558"/>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Every accelerator comes with a benchmark from prior deployments. 80% reduction in reporting effort. 55% faster month-end close. 65% faster testing cycles. Numbers you inherit, not numbers we promise.</a:t>
            </a:r>
            <a:endParaRPr lang="en-US" sz="1100"/>
          </a:p>
        </p:txBody>
      </p:sp>
      <p:pic>
        <p:nvPicPr>
          <p:cNvPr id="35" name="Image 7" descr="gen-dedup-0d12da8ebc0b959d48949b1e6044d332.png"/>
          <p:cNvPicPr>
            <a:picLocks noChangeAspect="1"/>
          </p:cNvPicPr>
          <p:nvPr/>
        </p:nvPicPr>
        <p:blipFill>
          <a:blip r:embed="rId9"/>
          <a:srcRect t="-13462" b="-13462"/>
          <a:stretch/>
        </p:blipFill>
        <p:spPr>
          <a:xfrm>
            <a:off x="761695" y="3988612"/>
            <a:ext cx="142646" cy="181051"/>
          </a:xfrm>
          <a:prstGeom prst="rect">
            <a:avLst/>
          </a:prstGeom>
        </p:spPr>
      </p:pic>
      <p:sp>
        <p:nvSpPr>
          <p:cNvPr id="36" name="Shape 26"/>
          <p:cNvSpPr/>
          <p:nvPr/>
        </p:nvSpPr>
        <p:spPr>
          <a:xfrm>
            <a:off x="6381598" y="1952244"/>
            <a:ext cx="5201107" cy="599846"/>
          </a:xfrm>
          <a:prstGeom prst="rect">
            <a:avLst/>
          </a:prstGeom>
          <a:solidFill>
            <a:srgbClr val="F1F5F9"/>
          </a:solidFill>
          <a:ln/>
        </p:spPr>
        <p:txBody>
          <a:bodyPr/>
          <a:lstStyle/>
          <a:p>
            <a:endParaRPr lang="en-US"/>
          </a:p>
        </p:txBody>
      </p:sp>
      <p:sp>
        <p:nvSpPr>
          <p:cNvPr id="37" name="Shape 27"/>
          <p:cNvSpPr/>
          <p:nvPr/>
        </p:nvSpPr>
        <p:spPr>
          <a:xfrm>
            <a:off x="6381598" y="2532888"/>
            <a:ext cx="5201107" cy="19202"/>
          </a:xfrm>
          <a:prstGeom prst="rect">
            <a:avLst/>
          </a:prstGeom>
          <a:solidFill>
            <a:srgbClr val="E5E7EB"/>
          </a:solidFill>
          <a:ln w="12700">
            <a:solidFill>
              <a:srgbClr val="E5E7EB">
                <a:alpha val="0"/>
              </a:srgbClr>
            </a:solidFill>
            <a:prstDash val="solid"/>
          </a:ln>
        </p:spPr>
        <p:txBody>
          <a:bodyPr/>
          <a:lstStyle/>
          <a:p>
            <a:endParaRPr lang="en-US"/>
          </a:p>
        </p:txBody>
      </p:sp>
      <p:sp>
        <p:nvSpPr>
          <p:cNvPr id="38" name="Text 28"/>
          <p:cNvSpPr txBox="1"/>
          <p:nvPr/>
        </p:nvSpPr>
        <p:spPr>
          <a:xfrm>
            <a:off x="6534302" y="2048256"/>
            <a:ext cx="1228954" cy="391363"/>
          </a:xfrm>
          <a:prstGeom prst="rect">
            <a:avLst/>
          </a:prstGeom>
          <a:noFill/>
          <a:ln/>
        </p:spPr>
        <p:txBody>
          <a:bodyPr wrap="square" lIns="0" tIns="0" rIns="0" bIns="0" rtlCol="0" anchor="ctr"/>
          <a:lstStyle/>
          <a:p>
            <a:pPr marL="0" indent="0" algn="l">
              <a:buNone/>
            </a:pPr>
            <a:r>
              <a:rPr lang="en-US" sz="1000" b="1">
                <a:solidFill>
                  <a:srgbClr val="4B5563"/>
                </a:solidFill>
                <a:latin typeface="Roboto Condensed" pitchFamily="34" charset="0"/>
                <a:ea typeface="Roboto Condensed" pitchFamily="34" charset="-122"/>
                <a:cs typeface="Roboto Condensed" pitchFamily="34" charset="-120"/>
              </a:rPr>
              <a:t>Dimension</a:t>
            </a:r>
            <a:endParaRPr lang="en-US" sz="1000"/>
          </a:p>
        </p:txBody>
      </p:sp>
      <p:sp>
        <p:nvSpPr>
          <p:cNvPr id="39" name="Text 29"/>
          <p:cNvSpPr txBox="1"/>
          <p:nvPr/>
        </p:nvSpPr>
        <p:spPr>
          <a:xfrm>
            <a:off x="7757770" y="2048256"/>
            <a:ext cx="1714500" cy="391363"/>
          </a:xfrm>
          <a:prstGeom prst="rect">
            <a:avLst/>
          </a:prstGeom>
          <a:noFill/>
          <a:ln/>
        </p:spPr>
        <p:txBody>
          <a:bodyPr wrap="square" lIns="0" tIns="0" rIns="0" bIns="0" rtlCol="0" anchor="ctr"/>
          <a:lstStyle/>
          <a:p>
            <a:pPr marL="0" indent="0" algn="l">
              <a:buNone/>
            </a:pPr>
            <a:r>
              <a:rPr lang="en-US" sz="1000" b="1">
                <a:solidFill>
                  <a:srgbClr val="D62839"/>
                </a:solidFill>
                <a:latin typeface="Roboto Condensed" pitchFamily="34" charset="0"/>
                <a:ea typeface="Roboto Condensed" pitchFamily="34" charset="-122"/>
                <a:cs typeface="Roboto Condensed" pitchFamily="34" charset="-120"/>
              </a:rPr>
              <a:t>Traditional Managed Services</a:t>
            </a:r>
            <a:endParaRPr lang="en-US" sz="1000"/>
          </a:p>
        </p:txBody>
      </p:sp>
      <p:sp>
        <p:nvSpPr>
          <p:cNvPr id="40" name="Text 30"/>
          <p:cNvSpPr txBox="1"/>
          <p:nvPr/>
        </p:nvSpPr>
        <p:spPr>
          <a:xfrm>
            <a:off x="9471355" y="2048256"/>
            <a:ext cx="1962302" cy="391363"/>
          </a:xfrm>
          <a:prstGeom prst="rect">
            <a:avLst/>
          </a:prstGeom>
          <a:noFill/>
          <a:ln/>
        </p:spPr>
        <p:txBody>
          <a:bodyPr wrap="square" lIns="0" tIns="0" rIns="0" bIns="0" rtlCol="0" anchor="ctr"/>
          <a:lstStyle/>
          <a:p>
            <a:pPr marL="0" indent="0" algn="l">
              <a:buNone/>
            </a:pPr>
            <a:r>
              <a:rPr lang="en-US" sz="1000" b="1">
                <a:solidFill>
                  <a:srgbClr val="2A9D8F"/>
                </a:solidFill>
                <a:latin typeface="Roboto Condensed" pitchFamily="34" charset="0"/>
                <a:ea typeface="Roboto Condensed" pitchFamily="34" charset="-122"/>
                <a:cs typeface="Roboto Condensed" pitchFamily="34" charset="-120"/>
              </a:rPr>
              <a:t>J2W Managed Solutions</a:t>
            </a:r>
            <a:endParaRPr lang="en-US" sz="1000"/>
          </a:p>
        </p:txBody>
      </p:sp>
      <p:sp>
        <p:nvSpPr>
          <p:cNvPr id="41" name="Shape 31"/>
          <p:cNvSpPr/>
          <p:nvPr/>
        </p:nvSpPr>
        <p:spPr>
          <a:xfrm>
            <a:off x="6381598" y="3134563"/>
            <a:ext cx="5201107" cy="9144"/>
          </a:xfrm>
          <a:prstGeom prst="rect">
            <a:avLst/>
          </a:prstGeom>
          <a:solidFill>
            <a:srgbClr val="E5E7EB"/>
          </a:solidFill>
          <a:ln w="12700">
            <a:solidFill>
              <a:srgbClr val="E5E7EB">
                <a:alpha val="0"/>
              </a:srgbClr>
            </a:solidFill>
            <a:prstDash val="solid"/>
          </a:ln>
        </p:spPr>
        <p:txBody>
          <a:bodyPr/>
          <a:lstStyle/>
          <a:p>
            <a:endParaRPr lang="en-US"/>
          </a:p>
        </p:txBody>
      </p:sp>
      <p:sp>
        <p:nvSpPr>
          <p:cNvPr id="42" name="Text 32"/>
          <p:cNvSpPr txBox="1"/>
          <p:nvPr/>
        </p:nvSpPr>
        <p:spPr>
          <a:xfrm>
            <a:off x="6534302" y="2667305"/>
            <a:ext cx="1228954" cy="352958"/>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Engagement </a:t>
            </a:r>
          </a:p>
          <a:p>
            <a:pPr marL="0" indent="0" algn="l">
              <a:buNone/>
            </a:pPr>
            <a:r>
              <a:rPr lang="en-US" sz="1000" b="1">
                <a:solidFill>
                  <a:srgbClr val="374151"/>
                </a:solidFill>
                <a:latin typeface="Raleway" pitchFamily="34" charset="0"/>
                <a:ea typeface="Raleway" pitchFamily="34" charset="-122"/>
                <a:cs typeface="Raleway" pitchFamily="34" charset="-120"/>
              </a:rPr>
              <a:t>Model</a:t>
            </a:r>
            <a:endParaRPr lang="en-US" sz="1000"/>
          </a:p>
        </p:txBody>
      </p:sp>
      <p:sp>
        <p:nvSpPr>
          <p:cNvPr id="43" name="Text 33"/>
          <p:cNvSpPr txBox="1"/>
          <p:nvPr/>
        </p:nvSpPr>
        <p:spPr>
          <a:xfrm>
            <a:off x="7757770" y="2667305"/>
            <a:ext cx="1714500" cy="352958"/>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SOW-based, scope-</a:t>
            </a:r>
          </a:p>
          <a:p>
            <a:pPr marL="0" indent="0" algn="l">
              <a:buNone/>
            </a:pPr>
            <a:r>
              <a:rPr lang="en-US" sz="1000">
                <a:solidFill>
                  <a:srgbClr val="6B7280"/>
                </a:solidFill>
                <a:latin typeface="Raleway" pitchFamily="34" charset="0"/>
                <a:ea typeface="Raleway" pitchFamily="34" charset="-122"/>
                <a:cs typeface="Raleway" pitchFamily="34" charset="-120"/>
              </a:rPr>
              <a:t>locked</a:t>
            </a:r>
            <a:endParaRPr lang="en-US" sz="1000"/>
          </a:p>
        </p:txBody>
      </p:sp>
      <p:sp>
        <p:nvSpPr>
          <p:cNvPr id="44" name="Text 34"/>
          <p:cNvSpPr txBox="1"/>
          <p:nvPr/>
        </p:nvSpPr>
        <p:spPr>
          <a:xfrm>
            <a:off x="9471355" y="2667305"/>
            <a:ext cx="1962302" cy="3529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Outcome-bound, SLO-governed</a:t>
            </a:r>
            <a:endParaRPr lang="en-US" sz="1000"/>
          </a:p>
        </p:txBody>
      </p:sp>
      <p:sp>
        <p:nvSpPr>
          <p:cNvPr id="45" name="Shape 35"/>
          <p:cNvSpPr/>
          <p:nvPr/>
        </p:nvSpPr>
        <p:spPr>
          <a:xfrm>
            <a:off x="6381598" y="3143707"/>
            <a:ext cx="5201107" cy="590702"/>
          </a:xfrm>
          <a:prstGeom prst="rect">
            <a:avLst/>
          </a:prstGeom>
          <a:solidFill>
            <a:srgbClr val="2A9D8F">
              <a:alpha val="3000"/>
            </a:srgbClr>
          </a:solidFill>
          <a:ln/>
        </p:spPr>
        <p:txBody>
          <a:bodyPr/>
          <a:lstStyle/>
          <a:p>
            <a:endParaRPr lang="en-US"/>
          </a:p>
        </p:txBody>
      </p:sp>
      <p:sp>
        <p:nvSpPr>
          <p:cNvPr id="46" name="Shape 36"/>
          <p:cNvSpPr/>
          <p:nvPr/>
        </p:nvSpPr>
        <p:spPr>
          <a:xfrm>
            <a:off x="6381598" y="3725266"/>
            <a:ext cx="5201107" cy="9144"/>
          </a:xfrm>
          <a:prstGeom prst="rect">
            <a:avLst/>
          </a:prstGeom>
          <a:solidFill>
            <a:srgbClr val="E5E7EB"/>
          </a:solidFill>
          <a:ln w="12700">
            <a:solidFill>
              <a:srgbClr val="E5E7EB">
                <a:alpha val="0"/>
              </a:srgbClr>
            </a:solidFill>
            <a:prstDash val="solid"/>
          </a:ln>
        </p:spPr>
        <p:txBody>
          <a:bodyPr/>
          <a:lstStyle/>
          <a:p>
            <a:endParaRPr lang="en-US"/>
          </a:p>
        </p:txBody>
      </p:sp>
      <p:sp>
        <p:nvSpPr>
          <p:cNvPr id="47" name="Text 37"/>
          <p:cNvSpPr txBox="1"/>
          <p:nvPr/>
        </p:nvSpPr>
        <p:spPr>
          <a:xfrm>
            <a:off x="6534302" y="3258007"/>
            <a:ext cx="1228954" cy="352958"/>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Starting Point</a:t>
            </a:r>
            <a:endParaRPr lang="en-US" sz="1000"/>
          </a:p>
        </p:txBody>
      </p:sp>
      <p:sp>
        <p:nvSpPr>
          <p:cNvPr id="48" name="Text 38"/>
          <p:cNvSpPr txBox="1"/>
          <p:nvPr/>
        </p:nvSpPr>
        <p:spPr>
          <a:xfrm>
            <a:off x="7757770" y="3258007"/>
            <a:ext cx="1714500" cy="352958"/>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Build from scratch</a:t>
            </a:r>
            <a:endParaRPr lang="en-US" sz="1000"/>
          </a:p>
        </p:txBody>
      </p:sp>
      <p:sp>
        <p:nvSpPr>
          <p:cNvPr id="49" name="Text 39"/>
          <p:cNvSpPr txBox="1"/>
          <p:nvPr/>
        </p:nvSpPr>
        <p:spPr>
          <a:xfrm>
            <a:off x="9471355" y="3258007"/>
            <a:ext cx="1962302" cy="3529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60+ accelerators, deploy in weeks</a:t>
            </a:r>
            <a:endParaRPr lang="en-US" sz="1000"/>
          </a:p>
        </p:txBody>
      </p:sp>
      <p:sp>
        <p:nvSpPr>
          <p:cNvPr id="50" name="Shape 40"/>
          <p:cNvSpPr/>
          <p:nvPr/>
        </p:nvSpPr>
        <p:spPr>
          <a:xfrm>
            <a:off x="6381598" y="4315054"/>
            <a:ext cx="5201107" cy="9144"/>
          </a:xfrm>
          <a:prstGeom prst="rect">
            <a:avLst/>
          </a:prstGeom>
          <a:solidFill>
            <a:srgbClr val="E5E7EB"/>
          </a:solidFill>
          <a:ln w="12700">
            <a:solidFill>
              <a:srgbClr val="E5E7EB">
                <a:alpha val="0"/>
              </a:srgbClr>
            </a:solidFill>
            <a:prstDash val="solid"/>
          </a:ln>
        </p:spPr>
        <p:txBody>
          <a:bodyPr/>
          <a:lstStyle/>
          <a:p>
            <a:endParaRPr lang="en-US"/>
          </a:p>
        </p:txBody>
      </p:sp>
      <p:sp>
        <p:nvSpPr>
          <p:cNvPr id="51" name="Text 41"/>
          <p:cNvSpPr txBox="1"/>
          <p:nvPr/>
        </p:nvSpPr>
        <p:spPr>
          <a:xfrm>
            <a:off x="6534302" y="3847795"/>
            <a:ext cx="1228954" cy="352958"/>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Performance Standard</a:t>
            </a:r>
            <a:endParaRPr lang="en-US" sz="1000"/>
          </a:p>
        </p:txBody>
      </p:sp>
      <p:sp>
        <p:nvSpPr>
          <p:cNvPr id="52" name="Text 42"/>
          <p:cNvSpPr txBox="1"/>
          <p:nvPr/>
        </p:nvSpPr>
        <p:spPr>
          <a:xfrm>
            <a:off x="7757770" y="3847795"/>
            <a:ext cx="1714500" cy="352958"/>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Contractual minimums</a:t>
            </a:r>
            <a:endParaRPr lang="en-US" sz="1000"/>
          </a:p>
        </p:txBody>
      </p:sp>
      <p:sp>
        <p:nvSpPr>
          <p:cNvPr id="53" name="Text 43"/>
          <p:cNvSpPr txBox="1"/>
          <p:nvPr/>
        </p:nvSpPr>
        <p:spPr>
          <a:xfrm>
            <a:off x="9471355" y="3847795"/>
            <a:ext cx="1962302" cy="3529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40% improvement threshold</a:t>
            </a:r>
            <a:endParaRPr lang="en-US" sz="1000"/>
          </a:p>
        </p:txBody>
      </p:sp>
      <p:sp>
        <p:nvSpPr>
          <p:cNvPr id="54" name="Shape 44"/>
          <p:cNvSpPr/>
          <p:nvPr/>
        </p:nvSpPr>
        <p:spPr>
          <a:xfrm>
            <a:off x="6381598" y="4324198"/>
            <a:ext cx="5201107" cy="590702"/>
          </a:xfrm>
          <a:prstGeom prst="rect">
            <a:avLst/>
          </a:prstGeom>
          <a:solidFill>
            <a:srgbClr val="2A9D8F">
              <a:alpha val="3000"/>
            </a:srgbClr>
          </a:solidFill>
          <a:ln/>
        </p:spPr>
        <p:txBody>
          <a:bodyPr/>
          <a:lstStyle/>
          <a:p>
            <a:endParaRPr lang="en-US"/>
          </a:p>
        </p:txBody>
      </p:sp>
      <p:sp>
        <p:nvSpPr>
          <p:cNvPr id="55" name="Shape 45"/>
          <p:cNvSpPr/>
          <p:nvPr/>
        </p:nvSpPr>
        <p:spPr>
          <a:xfrm>
            <a:off x="6381598" y="4905756"/>
            <a:ext cx="5201107" cy="9144"/>
          </a:xfrm>
          <a:prstGeom prst="rect">
            <a:avLst/>
          </a:prstGeom>
          <a:solidFill>
            <a:srgbClr val="E5E7EB"/>
          </a:solidFill>
          <a:ln w="12700">
            <a:solidFill>
              <a:srgbClr val="E5E7EB">
                <a:alpha val="0"/>
              </a:srgbClr>
            </a:solidFill>
            <a:prstDash val="solid"/>
          </a:ln>
        </p:spPr>
        <p:txBody>
          <a:bodyPr/>
          <a:lstStyle/>
          <a:p>
            <a:endParaRPr lang="en-US"/>
          </a:p>
        </p:txBody>
      </p:sp>
      <p:sp>
        <p:nvSpPr>
          <p:cNvPr id="56" name="Text 46"/>
          <p:cNvSpPr txBox="1"/>
          <p:nvPr/>
        </p:nvSpPr>
        <p:spPr>
          <a:xfrm>
            <a:off x="6534302" y="4438498"/>
            <a:ext cx="1228954" cy="352958"/>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Coverage</a:t>
            </a:r>
            <a:endParaRPr lang="en-US" sz="1000"/>
          </a:p>
        </p:txBody>
      </p:sp>
      <p:sp>
        <p:nvSpPr>
          <p:cNvPr id="57" name="Text 47"/>
          <p:cNvSpPr txBox="1"/>
          <p:nvPr/>
        </p:nvSpPr>
        <p:spPr>
          <a:xfrm>
            <a:off x="7757770" y="4438498"/>
            <a:ext cx="1714500" cy="352958"/>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Single-function specialization</a:t>
            </a:r>
            <a:endParaRPr lang="en-US" sz="1000"/>
          </a:p>
        </p:txBody>
      </p:sp>
      <p:sp>
        <p:nvSpPr>
          <p:cNvPr id="58" name="Text 48"/>
          <p:cNvSpPr txBox="1"/>
          <p:nvPr/>
        </p:nvSpPr>
        <p:spPr>
          <a:xfrm>
            <a:off x="9471355" y="4438498"/>
            <a:ext cx="1962302" cy="3529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Cross-stack: SAP, ServiceNow, Salesforce + more</a:t>
            </a:r>
            <a:endParaRPr lang="en-US" sz="1000"/>
          </a:p>
        </p:txBody>
      </p:sp>
      <p:sp>
        <p:nvSpPr>
          <p:cNvPr id="59" name="Shape 49"/>
          <p:cNvSpPr/>
          <p:nvPr/>
        </p:nvSpPr>
        <p:spPr>
          <a:xfrm>
            <a:off x="6381598" y="5496458"/>
            <a:ext cx="5201107" cy="9144"/>
          </a:xfrm>
          <a:prstGeom prst="rect">
            <a:avLst/>
          </a:prstGeom>
          <a:solidFill>
            <a:srgbClr val="E5E7EB"/>
          </a:solidFill>
          <a:ln w="12700">
            <a:solidFill>
              <a:srgbClr val="E5E7EB">
                <a:alpha val="0"/>
              </a:srgbClr>
            </a:solidFill>
            <a:prstDash val="solid"/>
          </a:ln>
        </p:spPr>
        <p:txBody>
          <a:bodyPr/>
          <a:lstStyle/>
          <a:p>
            <a:endParaRPr lang="en-US"/>
          </a:p>
        </p:txBody>
      </p:sp>
      <p:sp>
        <p:nvSpPr>
          <p:cNvPr id="60" name="Text 50"/>
          <p:cNvSpPr txBox="1"/>
          <p:nvPr/>
        </p:nvSpPr>
        <p:spPr>
          <a:xfrm>
            <a:off x="6534302" y="5029200"/>
            <a:ext cx="1228954" cy="352958"/>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Knowledge Retention</a:t>
            </a:r>
            <a:endParaRPr lang="en-US" sz="1000"/>
          </a:p>
        </p:txBody>
      </p:sp>
      <p:sp>
        <p:nvSpPr>
          <p:cNvPr id="61" name="Text 51"/>
          <p:cNvSpPr txBox="1"/>
          <p:nvPr/>
        </p:nvSpPr>
        <p:spPr>
          <a:xfrm>
            <a:off x="7757770" y="5029200"/>
            <a:ext cx="1714500" cy="352958"/>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Exits with the team</a:t>
            </a:r>
            <a:endParaRPr lang="en-US" sz="1000"/>
          </a:p>
        </p:txBody>
      </p:sp>
      <p:sp>
        <p:nvSpPr>
          <p:cNvPr id="62" name="Text 52"/>
          <p:cNvSpPr txBox="1"/>
          <p:nvPr/>
        </p:nvSpPr>
        <p:spPr>
          <a:xfrm>
            <a:off x="9471355" y="5029200"/>
            <a:ext cx="1962302" cy="3529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Captured, compounding, stays with you</a:t>
            </a:r>
            <a:endParaRPr lang="en-US" sz="1000"/>
          </a:p>
        </p:txBody>
      </p:sp>
      <p:sp>
        <p:nvSpPr>
          <p:cNvPr id="63" name="Shape 53"/>
          <p:cNvSpPr/>
          <p:nvPr/>
        </p:nvSpPr>
        <p:spPr>
          <a:xfrm>
            <a:off x="6381598" y="5505602"/>
            <a:ext cx="5201107" cy="590702"/>
          </a:xfrm>
          <a:prstGeom prst="rect">
            <a:avLst/>
          </a:prstGeom>
          <a:solidFill>
            <a:srgbClr val="2A9D8F">
              <a:alpha val="3000"/>
            </a:srgbClr>
          </a:solidFill>
          <a:ln w="12700">
            <a:solidFill>
              <a:srgbClr val="FFFFFF">
                <a:alpha val="0"/>
              </a:srgbClr>
            </a:solidFill>
            <a:prstDash val="solid"/>
          </a:ln>
        </p:spPr>
        <p:txBody>
          <a:bodyPr/>
          <a:lstStyle/>
          <a:p>
            <a:endParaRPr lang="en-US"/>
          </a:p>
        </p:txBody>
      </p:sp>
      <p:sp>
        <p:nvSpPr>
          <p:cNvPr id="64" name="Text 54"/>
          <p:cNvSpPr txBox="1"/>
          <p:nvPr/>
        </p:nvSpPr>
        <p:spPr>
          <a:xfrm>
            <a:off x="6534302" y="5619902"/>
            <a:ext cx="1228954" cy="362102"/>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AI Readiness</a:t>
            </a:r>
            <a:endParaRPr lang="en-US" sz="1000"/>
          </a:p>
        </p:txBody>
      </p:sp>
      <p:sp>
        <p:nvSpPr>
          <p:cNvPr id="65" name="Text 55"/>
          <p:cNvSpPr txBox="1"/>
          <p:nvPr/>
        </p:nvSpPr>
        <p:spPr>
          <a:xfrm>
            <a:off x="7757770" y="5619902"/>
            <a:ext cx="1714500" cy="362102"/>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Optional add-on</a:t>
            </a:r>
            <a:endParaRPr lang="en-US" sz="1000"/>
          </a:p>
        </p:txBody>
      </p:sp>
      <p:sp>
        <p:nvSpPr>
          <p:cNvPr id="66" name="Text 56"/>
          <p:cNvSpPr txBox="1"/>
          <p:nvPr/>
        </p:nvSpPr>
        <p:spPr>
          <a:xfrm>
            <a:off x="9471355" y="5619902"/>
            <a:ext cx="1962302" cy="362102"/>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Embedded from Day 1</a:t>
            </a:r>
            <a:endParaRPr lang="en-US" sz="1000"/>
          </a:p>
        </p:txBody>
      </p:sp>
      <p:sp>
        <p:nvSpPr>
          <p:cNvPr id="67" name="Text 57"/>
          <p:cNvSpPr txBox="1"/>
          <p:nvPr/>
        </p:nvSpPr>
        <p:spPr>
          <a:xfrm>
            <a:off x="800100" y="6245352"/>
            <a:ext cx="10592410" cy="409651"/>
          </a:xfrm>
          <a:prstGeom prst="rect">
            <a:avLst/>
          </a:prstGeom>
          <a:noFill/>
          <a:ln/>
        </p:spPr>
        <p:txBody>
          <a:bodyPr wrap="square" lIns="0" tIns="0" rIns="0" bIns="0" rtlCol="0" anchor="ctr"/>
          <a:lstStyle/>
          <a:p>
            <a:pPr marL="0" indent="0" algn="ctr">
              <a:buNone/>
            </a:pPr>
            <a:r>
              <a:rPr lang="en-US" sz="800" b="1">
                <a:solidFill>
                  <a:srgbClr val="111827"/>
                </a:solidFill>
                <a:latin typeface="Raleway" pitchFamily="34" charset="0"/>
                <a:ea typeface="Raleway" pitchFamily="34" charset="-122"/>
                <a:cs typeface="Raleway" pitchFamily="34" charset="-120"/>
              </a:rPr>
              <a:t>From scattered pilots to governed programs. From manual reporting to real-time intelligence. From legacy stacks to modernized platforms. </a:t>
            </a:r>
            <a:r>
              <a:rPr lang="en-US" sz="1100" b="1">
                <a:solidFill>
                  <a:srgbClr val="2A9D8F"/>
                </a:solidFill>
                <a:latin typeface="Raleway" pitchFamily="34" charset="0"/>
                <a:ea typeface="Raleway" pitchFamily="34" charset="-122"/>
                <a:cs typeface="Raleway" pitchFamily="34" charset="-120"/>
              </a:rPr>
              <a:t>J2W Managed Solutions operate until the outcome is real - then keep compounding.</a:t>
            </a:r>
            <a:endParaRPr lang="en-US" sz="1100"/>
          </a:p>
        </p:txBody>
      </p:sp>
    </p:spTree>
    <p:extLst>
      <p:ext uri="{BB962C8B-B14F-4D97-AF65-F5344CB8AC3E}">
        <p14:creationId xmlns:p14="http://schemas.microsoft.com/office/powerpoint/2010/main" val="37436834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8382305" y="-1429207"/>
            <a:ext cx="4762195" cy="4762195"/>
          </a:xfrm>
          <a:prstGeom prst="ellipse">
            <a:avLst/>
          </a:prstGeom>
          <a:noFill/>
          <a:ln w="508000">
            <a:solidFill>
              <a:srgbClr val="D62839">
                <a:alpha val="3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5" name="Image 0" descr="preencoded.png"/>
          <p:cNvPicPr>
            <a:picLocks noChangeAspect="1"/>
          </p:cNvPicPr>
          <p:nvPr/>
        </p:nvPicPr>
        <p:blipFill>
          <a:blip r:embed="rId3"/>
          <a:srcRect l="-360" r="-360"/>
          <a:stretch/>
        </p:blipFill>
        <p:spPr>
          <a:xfrm>
            <a:off x="609905" y="514807"/>
            <a:ext cx="57607" cy="381305"/>
          </a:xfrm>
          <a:prstGeom prst="rect">
            <a:avLst/>
          </a:prstGeom>
        </p:spPr>
      </p:pic>
      <p:sp>
        <p:nvSpPr>
          <p:cNvPr id="6" name="Text 3"/>
          <p:cNvSpPr txBox="1"/>
          <p:nvPr/>
        </p:nvSpPr>
        <p:spPr>
          <a:xfrm>
            <a:off x="819302" y="381305"/>
            <a:ext cx="6010351" cy="3429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56" normalizeH="0" baseline="0" noProof="0">
                <a:ln>
                  <a:noFill/>
                </a:ln>
                <a:solidFill>
                  <a:srgbClr val="111827"/>
                </a:solidFill>
                <a:effectLst/>
                <a:uLnTx/>
                <a:uFillTx/>
                <a:latin typeface="Oswald" pitchFamily="34" charset="0"/>
                <a:ea typeface="Oswald" pitchFamily="34" charset="-122"/>
                <a:cs typeface="Oswald" pitchFamily="34" charset="-120"/>
              </a:rPr>
              <a:t>Strategic Managed Services Offerings</a:t>
            </a:r>
            <a:endParaRPr kumimoji="0" lang="en-US" sz="2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4"/>
          <p:cNvSpPr txBox="1"/>
          <p:nvPr/>
        </p:nvSpPr>
        <p:spPr>
          <a:xfrm>
            <a:off x="819302" y="761695"/>
            <a:ext cx="6010351" cy="267005"/>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0" cap="none" spc="68" normalizeH="0" baseline="0" noProof="0">
                <a:ln>
                  <a:noFill/>
                </a:ln>
                <a:solidFill>
                  <a:srgbClr val="2A9D8F"/>
                </a:solidFill>
                <a:effectLst/>
                <a:uLnTx/>
                <a:uFillTx/>
                <a:latin typeface="Roboto Condensed" pitchFamily="34" charset="0"/>
                <a:ea typeface="Roboto Condensed" pitchFamily="34" charset="-122"/>
                <a:cs typeface="Roboto Condensed" pitchFamily="34" charset="-120"/>
              </a:rPr>
              <a:t>COMPREHENSIVE CAPABILITIES DRIVING DIGITAL TRANSFORMATION</a:t>
            </a:r>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5"/>
          <p:cNvSpPr/>
          <p:nvPr/>
        </p:nvSpPr>
        <p:spPr>
          <a:xfrm>
            <a:off x="609905" y="1257300"/>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6"/>
          <p:cNvSpPr/>
          <p:nvPr/>
        </p:nvSpPr>
        <p:spPr>
          <a:xfrm>
            <a:off x="609905" y="1257300"/>
            <a:ext cx="38405" cy="952805"/>
          </a:xfrm>
          <a:prstGeom prst="roundRect">
            <a:avLst>
              <a:gd name="adj" fmla="val 380950"/>
            </a:avLst>
          </a:prstGeom>
          <a:solidFill>
            <a:srgbClr val="2A9D8F"/>
          </a:solidFill>
          <a:ln w="12700">
            <a:solidFill>
              <a:srgbClr val="2A9D8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7"/>
          <p:cNvSpPr/>
          <p:nvPr/>
        </p:nvSpPr>
        <p:spPr>
          <a:xfrm>
            <a:off x="790956" y="1380744"/>
            <a:ext cx="400507" cy="400507"/>
          </a:xfrm>
          <a:prstGeom prst="ellipse">
            <a:avLst/>
          </a:prstGeom>
          <a:solidFill>
            <a:srgbClr val="2A9D8F">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1" name="Image 1" descr="preencoded.png"/>
          <p:cNvPicPr>
            <a:picLocks noChangeAspect="1"/>
          </p:cNvPicPr>
          <p:nvPr/>
        </p:nvPicPr>
        <p:blipFill>
          <a:blip r:embed="rId4"/>
          <a:srcRect/>
          <a:stretch/>
        </p:blipFill>
        <p:spPr>
          <a:xfrm>
            <a:off x="905256" y="1495044"/>
            <a:ext cx="171907" cy="171907"/>
          </a:xfrm>
          <a:prstGeom prst="rect">
            <a:avLst/>
          </a:prstGeom>
        </p:spPr>
      </p:pic>
      <p:sp>
        <p:nvSpPr>
          <p:cNvPr id="12" name="Text 8"/>
          <p:cNvSpPr txBox="1"/>
          <p:nvPr/>
        </p:nvSpPr>
        <p:spPr>
          <a:xfrm>
            <a:off x="926287" y="1819656"/>
            <a:ext cx="210312"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A9D8F">
                    <a:alpha val="60000"/>
                  </a:srgbClr>
                </a:solidFill>
                <a:effectLst/>
                <a:uLnTx/>
                <a:uFillTx/>
                <a:latin typeface="Oswald" pitchFamily="34" charset="0"/>
                <a:ea typeface="Oswald" pitchFamily="34" charset="-122"/>
                <a:cs typeface="Oswald" pitchFamily="34" charset="-120"/>
              </a:rPr>
              <a:t>01</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9"/>
          <p:cNvSpPr txBox="1"/>
          <p:nvPr/>
        </p:nvSpPr>
        <p:spPr>
          <a:xfrm>
            <a:off x="1371600" y="138074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AI Solutions (AI CoE)</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0"/>
          <p:cNvSpPr txBox="1"/>
          <p:nvPr/>
        </p:nvSpPr>
        <p:spPr>
          <a:xfrm>
            <a:off x="1371600" y="1602029"/>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GenAI strategies, agents, LLM workflows, predictive models, knowledge bots, and enterprise-grade AI governance &amp; value realization frameworks.</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1"/>
          <p:cNvSpPr/>
          <p:nvPr/>
        </p:nvSpPr>
        <p:spPr>
          <a:xfrm>
            <a:off x="6210605" y="1257300"/>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2"/>
          <p:cNvSpPr/>
          <p:nvPr/>
        </p:nvSpPr>
        <p:spPr>
          <a:xfrm>
            <a:off x="6210605" y="1257300"/>
            <a:ext cx="38405" cy="952805"/>
          </a:xfrm>
          <a:prstGeom prst="roundRect">
            <a:avLst>
              <a:gd name="adj" fmla="val 380950"/>
            </a:avLst>
          </a:prstGeom>
          <a:solidFill>
            <a:srgbClr val="D62839"/>
          </a:solidFill>
          <a:ln w="12700">
            <a:solidFill>
              <a:srgbClr val="D6283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3"/>
          <p:cNvSpPr/>
          <p:nvPr/>
        </p:nvSpPr>
        <p:spPr>
          <a:xfrm>
            <a:off x="6391656" y="1380744"/>
            <a:ext cx="400507" cy="400507"/>
          </a:xfrm>
          <a:prstGeom prst="ellipse">
            <a:avLst/>
          </a:prstGeom>
          <a:solidFill>
            <a:srgbClr val="D62839">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8" name="Image 2" descr="preencoded.png"/>
          <p:cNvPicPr>
            <a:picLocks noChangeAspect="1"/>
          </p:cNvPicPr>
          <p:nvPr/>
        </p:nvPicPr>
        <p:blipFill>
          <a:blip r:embed="rId5"/>
          <a:srcRect/>
          <a:stretch/>
        </p:blipFill>
        <p:spPr>
          <a:xfrm>
            <a:off x="6505956" y="1495044"/>
            <a:ext cx="171907" cy="171907"/>
          </a:xfrm>
          <a:prstGeom prst="rect">
            <a:avLst/>
          </a:prstGeom>
        </p:spPr>
      </p:pic>
      <p:sp>
        <p:nvSpPr>
          <p:cNvPr id="19" name="Text 14"/>
          <p:cNvSpPr txBox="1"/>
          <p:nvPr/>
        </p:nvSpPr>
        <p:spPr>
          <a:xfrm>
            <a:off x="6516929" y="1819656"/>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D62839">
                    <a:alpha val="60000"/>
                  </a:srgbClr>
                </a:solidFill>
                <a:effectLst/>
                <a:uLnTx/>
                <a:uFillTx/>
                <a:latin typeface="Oswald" pitchFamily="34" charset="0"/>
                <a:ea typeface="Oswald" pitchFamily="34" charset="-122"/>
                <a:cs typeface="Oswald" pitchFamily="34" charset="-120"/>
              </a:rPr>
              <a:t>06</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5"/>
          <p:cNvSpPr txBox="1"/>
          <p:nvPr/>
        </p:nvSpPr>
        <p:spPr>
          <a:xfrm>
            <a:off x="6972300" y="138074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Quality Engineering</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16"/>
          <p:cNvSpPr txBox="1"/>
          <p:nvPr/>
        </p:nvSpPr>
        <p:spPr>
          <a:xfrm>
            <a:off x="6972300" y="1602029"/>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Intelligent QA and Test Automation at scale - covering functional, performance, security, CI/CD pipelines, and TaaS delivery pods.</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17"/>
          <p:cNvSpPr/>
          <p:nvPr/>
        </p:nvSpPr>
        <p:spPr>
          <a:xfrm>
            <a:off x="609905" y="232440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18"/>
          <p:cNvSpPr/>
          <p:nvPr/>
        </p:nvSpPr>
        <p:spPr>
          <a:xfrm>
            <a:off x="609905" y="2324405"/>
            <a:ext cx="38405" cy="952805"/>
          </a:xfrm>
          <a:prstGeom prst="roundRect">
            <a:avLst>
              <a:gd name="adj" fmla="val 380950"/>
            </a:avLst>
          </a:prstGeom>
          <a:solidFill>
            <a:srgbClr val="D62839"/>
          </a:solidFill>
          <a:ln w="12700">
            <a:solidFill>
              <a:srgbClr val="D6283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19"/>
          <p:cNvSpPr/>
          <p:nvPr/>
        </p:nvSpPr>
        <p:spPr>
          <a:xfrm>
            <a:off x="790956" y="2447849"/>
            <a:ext cx="400507" cy="400507"/>
          </a:xfrm>
          <a:prstGeom prst="ellipse">
            <a:avLst/>
          </a:prstGeom>
          <a:solidFill>
            <a:srgbClr val="D62839">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5" name="Image 3" descr="preencoded.png"/>
          <p:cNvPicPr>
            <a:picLocks noChangeAspect="1"/>
          </p:cNvPicPr>
          <p:nvPr/>
        </p:nvPicPr>
        <p:blipFill>
          <a:blip r:embed="rId6"/>
          <a:srcRect t="-2725" b="-2725"/>
          <a:stretch/>
        </p:blipFill>
        <p:spPr>
          <a:xfrm>
            <a:off x="918972" y="2562149"/>
            <a:ext cx="142646" cy="171907"/>
          </a:xfrm>
          <a:prstGeom prst="rect">
            <a:avLst/>
          </a:prstGeom>
        </p:spPr>
      </p:pic>
      <p:sp>
        <p:nvSpPr>
          <p:cNvPr id="26" name="Text 20"/>
          <p:cNvSpPr txBox="1"/>
          <p:nvPr/>
        </p:nvSpPr>
        <p:spPr>
          <a:xfrm>
            <a:off x="918058" y="2885846"/>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D62839">
                    <a:alpha val="60000"/>
                  </a:srgbClr>
                </a:solidFill>
                <a:effectLst/>
                <a:uLnTx/>
                <a:uFillTx/>
                <a:latin typeface="Oswald" pitchFamily="34" charset="0"/>
                <a:ea typeface="Oswald" pitchFamily="34" charset="-122"/>
                <a:cs typeface="Oswald" pitchFamily="34" charset="-120"/>
              </a:rPr>
              <a:t>02</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1"/>
          <p:cNvSpPr txBox="1"/>
          <p:nvPr/>
        </p:nvSpPr>
        <p:spPr>
          <a:xfrm>
            <a:off x="1371600" y="2447849"/>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Data Migration &amp; Infra Support</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2"/>
          <p:cNvSpPr txBox="1"/>
          <p:nvPr/>
        </p:nvSpPr>
        <p:spPr>
          <a:xfrm>
            <a:off x="1371600" y="266913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Seamless migration across on-prem &amp; cloud, with data quality, cleansing, secure pipelines, infra ops, and cloud governance across AWS/Azure/GCP.</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hape 23"/>
          <p:cNvSpPr/>
          <p:nvPr/>
        </p:nvSpPr>
        <p:spPr>
          <a:xfrm>
            <a:off x="6210605" y="232440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Shape 24"/>
          <p:cNvSpPr/>
          <p:nvPr/>
        </p:nvSpPr>
        <p:spPr>
          <a:xfrm>
            <a:off x="6210605" y="2324405"/>
            <a:ext cx="38405" cy="952805"/>
          </a:xfrm>
          <a:prstGeom prst="roundRect">
            <a:avLst>
              <a:gd name="adj" fmla="val 380950"/>
            </a:avLst>
          </a:prstGeom>
          <a:solidFill>
            <a:srgbClr val="2A9D8F"/>
          </a:solidFill>
          <a:ln w="12700">
            <a:solidFill>
              <a:srgbClr val="2A9D8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Shape 25"/>
          <p:cNvSpPr/>
          <p:nvPr/>
        </p:nvSpPr>
        <p:spPr>
          <a:xfrm>
            <a:off x="6391656" y="2447849"/>
            <a:ext cx="400507" cy="400507"/>
          </a:xfrm>
          <a:prstGeom prst="ellipse">
            <a:avLst/>
          </a:prstGeom>
          <a:solidFill>
            <a:srgbClr val="2A9D8F">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2" name="Image 4" descr="preencoded.png"/>
          <p:cNvPicPr>
            <a:picLocks noChangeAspect="1"/>
          </p:cNvPicPr>
          <p:nvPr/>
        </p:nvPicPr>
        <p:blipFill>
          <a:blip r:embed="rId7"/>
          <a:srcRect/>
          <a:stretch/>
        </p:blipFill>
        <p:spPr>
          <a:xfrm>
            <a:off x="6505956" y="2562149"/>
            <a:ext cx="171907" cy="171907"/>
          </a:xfrm>
          <a:prstGeom prst="rect">
            <a:avLst/>
          </a:prstGeom>
        </p:spPr>
      </p:pic>
      <p:sp>
        <p:nvSpPr>
          <p:cNvPr id="33" name="Text 26"/>
          <p:cNvSpPr txBox="1"/>
          <p:nvPr/>
        </p:nvSpPr>
        <p:spPr>
          <a:xfrm>
            <a:off x="6523330" y="2885846"/>
            <a:ext cx="219456"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A9D8F">
                    <a:alpha val="60000"/>
                  </a:srgbClr>
                </a:solidFill>
                <a:effectLst/>
                <a:uLnTx/>
                <a:uFillTx/>
                <a:latin typeface="Oswald" pitchFamily="34" charset="0"/>
                <a:ea typeface="Oswald" pitchFamily="34" charset="-122"/>
                <a:cs typeface="Oswald" pitchFamily="34" charset="-120"/>
              </a:rPr>
              <a:t>07</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Text 27"/>
          <p:cNvSpPr txBox="1"/>
          <p:nvPr/>
        </p:nvSpPr>
        <p:spPr>
          <a:xfrm>
            <a:off x="6972300" y="2447849"/>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Call Centre Optimization</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Text 28"/>
          <p:cNvSpPr txBox="1"/>
          <p:nvPr/>
        </p:nvSpPr>
        <p:spPr>
          <a:xfrm>
            <a:off x="6972300" y="266913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Transforming contact centers through operational assessment, workforce analytics, real-time dashboards, agent assist AI, and IVA-based automation.</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Shape 29"/>
          <p:cNvSpPr/>
          <p:nvPr/>
        </p:nvSpPr>
        <p:spPr>
          <a:xfrm>
            <a:off x="609905" y="339059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Shape 30"/>
          <p:cNvSpPr/>
          <p:nvPr/>
        </p:nvSpPr>
        <p:spPr>
          <a:xfrm>
            <a:off x="609905" y="3390595"/>
            <a:ext cx="38405" cy="952805"/>
          </a:xfrm>
          <a:prstGeom prst="roundRect">
            <a:avLst>
              <a:gd name="adj" fmla="val 380950"/>
            </a:avLst>
          </a:prstGeom>
          <a:solidFill>
            <a:srgbClr val="2A9D8F"/>
          </a:solidFill>
          <a:ln w="12700">
            <a:solidFill>
              <a:srgbClr val="2A9D8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Shape 31"/>
          <p:cNvSpPr/>
          <p:nvPr/>
        </p:nvSpPr>
        <p:spPr>
          <a:xfrm>
            <a:off x="790956" y="3514954"/>
            <a:ext cx="400507" cy="400507"/>
          </a:xfrm>
          <a:prstGeom prst="ellipse">
            <a:avLst/>
          </a:prstGeom>
          <a:solidFill>
            <a:srgbClr val="2A9D8F">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9" name="Image 5" descr="preencoded.png"/>
          <p:cNvPicPr>
            <a:picLocks noChangeAspect="1"/>
          </p:cNvPicPr>
          <p:nvPr/>
        </p:nvPicPr>
        <p:blipFill>
          <a:blip r:embed="rId8"/>
          <a:srcRect/>
          <a:stretch/>
        </p:blipFill>
        <p:spPr>
          <a:xfrm>
            <a:off x="905256" y="3629254"/>
            <a:ext cx="171907" cy="171907"/>
          </a:xfrm>
          <a:prstGeom prst="rect">
            <a:avLst/>
          </a:prstGeom>
        </p:spPr>
      </p:pic>
      <p:sp>
        <p:nvSpPr>
          <p:cNvPr id="40" name="Text 32"/>
          <p:cNvSpPr txBox="1"/>
          <p:nvPr/>
        </p:nvSpPr>
        <p:spPr>
          <a:xfrm>
            <a:off x="918058" y="3952951"/>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A9D8F">
                    <a:alpha val="60000"/>
                  </a:srgbClr>
                </a:solidFill>
                <a:effectLst/>
                <a:uLnTx/>
                <a:uFillTx/>
                <a:latin typeface="Oswald" pitchFamily="34" charset="0"/>
                <a:ea typeface="Oswald" pitchFamily="34" charset="-122"/>
                <a:cs typeface="Oswald" pitchFamily="34" charset="-120"/>
              </a:rPr>
              <a:t>03</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Text 33"/>
          <p:cNvSpPr txBox="1"/>
          <p:nvPr/>
        </p:nvSpPr>
        <p:spPr>
          <a:xfrm>
            <a:off x="1371600" y="351495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Cybersecurity</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Text 34"/>
          <p:cNvSpPr txBox="1"/>
          <p:nvPr/>
        </p:nvSpPr>
        <p:spPr>
          <a:xfrm>
            <a:off x="1371600" y="373532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Full-spectrum security including assessment, red-team, cloud security, managed SOC/MDR, compliance (ISO, PCI, RBI), incident response &amp; digital forensics.</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Shape 35"/>
          <p:cNvSpPr/>
          <p:nvPr/>
        </p:nvSpPr>
        <p:spPr>
          <a:xfrm>
            <a:off x="6210605" y="339059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Shape 36"/>
          <p:cNvSpPr/>
          <p:nvPr/>
        </p:nvSpPr>
        <p:spPr>
          <a:xfrm>
            <a:off x="6210605" y="3390595"/>
            <a:ext cx="38405" cy="952805"/>
          </a:xfrm>
          <a:prstGeom prst="roundRect">
            <a:avLst>
              <a:gd name="adj" fmla="val 380950"/>
            </a:avLst>
          </a:prstGeom>
          <a:solidFill>
            <a:srgbClr val="D62839"/>
          </a:solidFill>
          <a:ln w="12700">
            <a:solidFill>
              <a:srgbClr val="D6283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Shape 37"/>
          <p:cNvSpPr/>
          <p:nvPr/>
        </p:nvSpPr>
        <p:spPr>
          <a:xfrm>
            <a:off x="6391656" y="3514954"/>
            <a:ext cx="400507" cy="400507"/>
          </a:xfrm>
          <a:prstGeom prst="ellipse">
            <a:avLst/>
          </a:prstGeom>
          <a:solidFill>
            <a:srgbClr val="D62839">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6" name="Image 6" descr="preencoded.png"/>
          <p:cNvPicPr>
            <a:picLocks noChangeAspect="1"/>
          </p:cNvPicPr>
          <p:nvPr/>
        </p:nvPicPr>
        <p:blipFill>
          <a:blip r:embed="rId9"/>
          <a:srcRect t="-2725" b="-2725"/>
          <a:stretch/>
        </p:blipFill>
        <p:spPr>
          <a:xfrm>
            <a:off x="6519672" y="3629254"/>
            <a:ext cx="142646" cy="171907"/>
          </a:xfrm>
          <a:prstGeom prst="rect">
            <a:avLst/>
          </a:prstGeom>
        </p:spPr>
      </p:pic>
      <p:sp>
        <p:nvSpPr>
          <p:cNvPr id="47" name="Text 38"/>
          <p:cNvSpPr txBox="1"/>
          <p:nvPr/>
        </p:nvSpPr>
        <p:spPr>
          <a:xfrm>
            <a:off x="6517843" y="3952951"/>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D62839">
                    <a:alpha val="60000"/>
                  </a:srgbClr>
                </a:solidFill>
                <a:effectLst/>
                <a:uLnTx/>
                <a:uFillTx/>
                <a:latin typeface="Oswald" pitchFamily="34" charset="0"/>
                <a:ea typeface="Oswald" pitchFamily="34" charset="-122"/>
                <a:cs typeface="Oswald" pitchFamily="34" charset="-120"/>
              </a:rPr>
              <a:t>08</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Text 39"/>
          <p:cNvSpPr txBox="1"/>
          <p:nvPr/>
        </p:nvSpPr>
        <p:spPr>
          <a:xfrm>
            <a:off x="6972300" y="351495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SAP Services</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Text 40"/>
          <p:cNvSpPr txBox="1"/>
          <p:nvPr/>
        </p:nvSpPr>
        <p:spPr>
          <a:xfrm>
            <a:off x="6972300" y="373532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End-to-end SAP modernization - from S/4HANA migrations to BTP, Fiori, SuccessFactors, and enterprise-wide rollout with managed SAP support.</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Shape 41"/>
          <p:cNvSpPr/>
          <p:nvPr/>
        </p:nvSpPr>
        <p:spPr>
          <a:xfrm>
            <a:off x="609905" y="4457700"/>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Shape 42"/>
          <p:cNvSpPr/>
          <p:nvPr/>
        </p:nvSpPr>
        <p:spPr>
          <a:xfrm>
            <a:off x="609905" y="4457700"/>
            <a:ext cx="38405" cy="952805"/>
          </a:xfrm>
          <a:prstGeom prst="roundRect">
            <a:avLst>
              <a:gd name="adj" fmla="val 380950"/>
            </a:avLst>
          </a:prstGeom>
          <a:solidFill>
            <a:srgbClr val="D62839"/>
          </a:solidFill>
          <a:ln w="12700">
            <a:solidFill>
              <a:srgbClr val="D6283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Shape 43"/>
          <p:cNvSpPr/>
          <p:nvPr/>
        </p:nvSpPr>
        <p:spPr>
          <a:xfrm>
            <a:off x="790956" y="4581144"/>
            <a:ext cx="400507" cy="400507"/>
          </a:xfrm>
          <a:prstGeom prst="ellipse">
            <a:avLst/>
          </a:prstGeom>
          <a:solidFill>
            <a:srgbClr val="D62839">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53" name="Image 7" descr="preencoded.png"/>
          <p:cNvPicPr>
            <a:picLocks noChangeAspect="1"/>
          </p:cNvPicPr>
          <p:nvPr/>
        </p:nvPicPr>
        <p:blipFill>
          <a:blip r:embed="rId10"/>
          <a:srcRect t="-1310" b="-1310"/>
          <a:stretch/>
        </p:blipFill>
        <p:spPr>
          <a:xfrm>
            <a:off x="886054" y="4695444"/>
            <a:ext cx="209398" cy="171907"/>
          </a:xfrm>
          <a:prstGeom prst="rect">
            <a:avLst/>
          </a:prstGeom>
        </p:spPr>
      </p:pic>
      <p:sp>
        <p:nvSpPr>
          <p:cNvPr id="54" name="Text 44"/>
          <p:cNvSpPr txBox="1"/>
          <p:nvPr/>
        </p:nvSpPr>
        <p:spPr>
          <a:xfrm>
            <a:off x="917143" y="5020056"/>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D62839">
                    <a:alpha val="60000"/>
                  </a:srgbClr>
                </a:solidFill>
                <a:effectLst/>
                <a:uLnTx/>
                <a:uFillTx/>
                <a:latin typeface="Oswald" pitchFamily="34" charset="0"/>
                <a:ea typeface="Oswald" pitchFamily="34" charset="-122"/>
                <a:cs typeface="Oswald" pitchFamily="34" charset="-120"/>
              </a:rPr>
              <a:t>04</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Text 45"/>
          <p:cNvSpPr txBox="1"/>
          <p:nvPr/>
        </p:nvSpPr>
        <p:spPr>
          <a:xfrm>
            <a:off x="1371600" y="458114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Digital Engineering &amp; Automation</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 name="Text 46"/>
          <p:cNvSpPr txBox="1"/>
          <p:nvPr/>
        </p:nvSpPr>
        <p:spPr>
          <a:xfrm>
            <a:off x="1371600" y="4802429"/>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Spanning full-stack &amp; UI/UX development, intelligent automation, AI-augmented RPA, and end-to-end process orchestration.</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7" name="Shape 47"/>
          <p:cNvSpPr/>
          <p:nvPr/>
        </p:nvSpPr>
        <p:spPr>
          <a:xfrm>
            <a:off x="6210605" y="4457700"/>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Shape 48"/>
          <p:cNvSpPr/>
          <p:nvPr/>
        </p:nvSpPr>
        <p:spPr>
          <a:xfrm>
            <a:off x="6210605" y="4457700"/>
            <a:ext cx="38405" cy="952805"/>
          </a:xfrm>
          <a:prstGeom prst="roundRect">
            <a:avLst>
              <a:gd name="adj" fmla="val 380950"/>
            </a:avLst>
          </a:prstGeom>
          <a:solidFill>
            <a:srgbClr val="2A9D8F"/>
          </a:solidFill>
          <a:ln w="12700">
            <a:solidFill>
              <a:srgbClr val="2A9D8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Shape 49"/>
          <p:cNvSpPr/>
          <p:nvPr/>
        </p:nvSpPr>
        <p:spPr>
          <a:xfrm>
            <a:off x="6391656" y="4581144"/>
            <a:ext cx="400507" cy="400507"/>
          </a:xfrm>
          <a:prstGeom prst="ellipse">
            <a:avLst/>
          </a:prstGeom>
          <a:solidFill>
            <a:srgbClr val="2A9D8F">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0" name="Image 8" descr="preencoded.png"/>
          <p:cNvPicPr>
            <a:picLocks noChangeAspect="1"/>
          </p:cNvPicPr>
          <p:nvPr/>
        </p:nvPicPr>
        <p:blipFill>
          <a:blip r:embed="rId11"/>
          <a:srcRect t="-1310" b="-1310"/>
          <a:stretch/>
        </p:blipFill>
        <p:spPr>
          <a:xfrm>
            <a:off x="6486754" y="4695444"/>
            <a:ext cx="209398" cy="171907"/>
          </a:xfrm>
          <a:prstGeom prst="rect">
            <a:avLst/>
          </a:prstGeom>
        </p:spPr>
      </p:pic>
      <p:sp>
        <p:nvSpPr>
          <p:cNvPr id="61" name="Text 50"/>
          <p:cNvSpPr txBox="1"/>
          <p:nvPr/>
        </p:nvSpPr>
        <p:spPr>
          <a:xfrm>
            <a:off x="6516929" y="5020056"/>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A9D8F">
                    <a:alpha val="60000"/>
                  </a:srgbClr>
                </a:solidFill>
                <a:effectLst/>
                <a:uLnTx/>
                <a:uFillTx/>
                <a:latin typeface="Oswald" pitchFamily="34" charset="0"/>
                <a:ea typeface="Oswald" pitchFamily="34" charset="-122"/>
                <a:cs typeface="Oswald" pitchFamily="34" charset="-120"/>
              </a:rPr>
              <a:t>09</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 name="Text 51"/>
          <p:cNvSpPr txBox="1"/>
          <p:nvPr/>
        </p:nvSpPr>
        <p:spPr>
          <a:xfrm>
            <a:off x="6972300" y="458114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Salesforce Services</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Text 52"/>
          <p:cNvSpPr txBox="1"/>
          <p:nvPr/>
        </p:nvSpPr>
        <p:spPr>
          <a:xfrm>
            <a:off x="6972300" y="4802429"/>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Complete Salesforce transformation across Sales, Service, Marketing, Financial Services Cloud, and MuleSoft - backed by org audits and managed support.</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Shape 53"/>
          <p:cNvSpPr/>
          <p:nvPr/>
        </p:nvSpPr>
        <p:spPr>
          <a:xfrm>
            <a:off x="609905" y="552480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Shape 54"/>
          <p:cNvSpPr/>
          <p:nvPr/>
        </p:nvSpPr>
        <p:spPr>
          <a:xfrm>
            <a:off x="609905" y="5524805"/>
            <a:ext cx="38405" cy="952805"/>
          </a:xfrm>
          <a:prstGeom prst="roundRect">
            <a:avLst>
              <a:gd name="adj" fmla="val 380950"/>
            </a:avLst>
          </a:prstGeom>
          <a:solidFill>
            <a:srgbClr val="2A9D8F"/>
          </a:solidFill>
          <a:ln w="12700">
            <a:solidFill>
              <a:srgbClr val="2A9D8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6" name="Shape 55"/>
          <p:cNvSpPr/>
          <p:nvPr/>
        </p:nvSpPr>
        <p:spPr>
          <a:xfrm>
            <a:off x="790956" y="5648249"/>
            <a:ext cx="400507" cy="400507"/>
          </a:xfrm>
          <a:prstGeom prst="ellipse">
            <a:avLst/>
          </a:prstGeom>
          <a:solidFill>
            <a:srgbClr val="2A9D8F">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7" name="Image 9" descr="preencoded.png"/>
          <p:cNvPicPr>
            <a:picLocks noChangeAspect="1"/>
          </p:cNvPicPr>
          <p:nvPr/>
        </p:nvPicPr>
        <p:blipFill>
          <a:blip r:embed="rId12"/>
          <a:srcRect/>
          <a:stretch/>
        </p:blipFill>
        <p:spPr>
          <a:xfrm>
            <a:off x="905256" y="5762549"/>
            <a:ext cx="171907" cy="171907"/>
          </a:xfrm>
          <a:prstGeom prst="rect">
            <a:avLst/>
          </a:prstGeom>
        </p:spPr>
      </p:pic>
      <p:sp>
        <p:nvSpPr>
          <p:cNvPr id="68" name="Text 56"/>
          <p:cNvSpPr txBox="1"/>
          <p:nvPr/>
        </p:nvSpPr>
        <p:spPr>
          <a:xfrm>
            <a:off x="918058" y="6086246"/>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A9D8F">
                    <a:alpha val="60000"/>
                  </a:srgbClr>
                </a:solidFill>
                <a:effectLst/>
                <a:uLnTx/>
                <a:uFillTx/>
                <a:latin typeface="Oswald" pitchFamily="34" charset="0"/>
                <a:ea typeface="Oswald" pitchFamily="34" charset="-122"/>
                <a:cs typeface="Oswald" pitchFamily="34" charset="-120"/>
              </a:rPr>
              <a:t>05</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 name="Text 57"/>
          <p:cNvSpPr txBox="1"/>
          <p:nvPr/>
        </p:nvSpPr>
        <p:spPr>
          <a:xfrm>
            <a:off x="1371600" y="5648249"/>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Data Analytics &amp; Dashboarding</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 name="Text 58"/>
          <p:cNvSpPr txBox="1"/>
          <p:nvPr/>
        </p:nvSpPr>
        <p:spPr>
          <a:xfrm>
            <a:off x="1371600" y="586953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Interactive dashboards across Power BI, Tableau, and Qlik - enabling real-time operational, financial, and leadership insights.</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 name="Shape 59"/>
          <p:cNvSpPr/>
          <p:nvPr/>
        </p:nvSpPr>
        <p:spPr>
          <a:xfrm>
            <a:off x="6210605" y="552480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 name="Shape 60"/>
          <p:cNvSpPr/>
          <p:nvPr/>
        </p:nvSpPr>
        <p:spPr>
          <a:xfrm>
            <a:off x="6210605" y="5524805"/>
            <a:ext cx="38405" cy="952805"/>
          </a:xfrm>
          <a:prstGeom prst="roundRect">
            <a:avLst>
              <a:gd name="adj" fmla="val 380950"/>
            </a:avLst>
          </a:prstGeom>
          <a:solidFill>
            <a:srgbClr val="D62839"/>
          </a:solidFill>
          <a:ln w="12700">
            <a:solidFill>
              <a:srgbClr val="D6283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3" name="Shape 61"/>
          <p:cNvSpPr/>
          <p:nvPr/>
        </p:nvSpPr>
        <p:spPr>
          <a:xfrm>
            <a:off x="6391656" y="5648249"/>
            <a:ext cx="400507" cy="400507"/>
          </a:xfrm>
          <a:prstGeom prst="ellipse">
            <a:avLst/>
          </a:prstGeom>
          <a:solidFill>
            <a:srgbClr val="D62839">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74" name="Image 10" descr="preencoded.png"/>
          <p:cNvPicPr>
            <a:picLocks noChangeAspect="1"/>
          </p:cNvPicPr>
          <p:nvPr/>
        </p:nvPicPr>
        <p:blipFill>
          <a:blip r:embed="rId13"/>
          <a:srcRect/>
          <a:stretch/>
        </p:blipFill>
        <p:spPr>
          <a:xfrm>
            <a:off x="6505956" y="5762549"/>
            <a:ext cx="171907" cy="171907"/>
          </a:xfrm>
          <a:prstGeom prst="rect">
            <a:avLst/>
          </a:prstGeom>
        </p:spPr>
      </p:pic>
      <p:sp>
        <p:nvSpPr>
          <p:cNvPr id="75" name="Text 62"/>
          <p:cNvSpPr txBox="1"/>
          <p:nvPr/>
        </p:nvSpPr>
        <p:spPr>
          <a:xfrm>
            <a:off x="6526987" y="6086246"/>
            <a:ext cx="210312"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D62839">
                    <a:alpha val="60000"/>
                  </a:srgbClr>
                </a:solidFill>
                <a:effectLst/>
                <a:uLnTx/>
                <a:uFillTx/>
                <a:latin typeface="Oswald" pitchFamily="34" charset="0"/>
                <a:ea typeface="Oswald" pitchFamily="34" charset="-122"/>
                <a:cs typeface="Oswald" pitchFamily="34" charset="-120"/>
              </a:rPr>
              <a:t>10</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6" name="Text 63"/>
          <p:cNvSpPr txBox="1"/>
          <p:nvPr/>
        </p:nvSpPr>
        <p:spPr>
          <a:xfrm>
            <a:off x="6972300" y="5648249"/>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ServiceNow</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 name="Text 64"/>
          <p:cNvSpPr txBox="1"/>
          <p:nvPr/>
        </p:nvSpPr>
        <p:spPr>
          <a:xfrm>
            <a:off x="6972300" y="586953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End-to-end ServiceNow enablement across ITSM, ITOM, CSM, CMDB, automation workflows, and CoE setup for scalable, multi-instance operations.</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78" name="Image 11" descr="preencoded.png"/>
          <p:cNvPicPr>
            <a:picLocks noChangeAspect="1"/>
          </p:cNvPicPr>
          <p:nvPr/>
        </p:nvPicPr>
        <p:blipFill>
          <a:blip r:embed="rId14"/>
          <a:srcRect l="-202" r="-202"/>
          <a:stretch/>
        </p:blipFill>
        <p:spPr>
          <a:xfrm>
            <a:off x="0" y="0"/>
            <a:ext cx="8128102" cy="75895"/>
          </a:xfrm>
          <a:prstGeom prst="rect">
            <a:avLst/>
          </a:prstGeom>
        </p:spPr>
      </p:pic>
      <p:pic>
        <p:nvPicPr>
          <p:cNvPr id="79" name="Image 12" descr="preencoded.png"/>
          <p:cNvPicPr>
            <a:picLocks noChangeAspect="1"/>
          </p:cNvPicPr>
          <p:nvPr/>
        </p:nvPicPr>
        <p:blipFill>
          <a:blip r:embed="rId15"/>
          <a:srcRect l="-197" r="-197"/>
          <a:stretch/>
        </p:blipFill>
        <p:spPr>
          <a:xfrm>
            <a:off x="8128102" y="0"/>
            <a:ext cx="4063594" cy="75895"/>
          </a:xfrm>
          <a:prstGeom prst="rect">
            <a:avLst/>
          </a:prstGeom>
        </p:spPr>
      </p:pic>
    </p:spTree>
    <p:extLst>
      <p:ext uri="{BB962C8B-B14F-4D97-AF65-F5344CB8AC3E}">
        <p14:creationId xmlns:p14="http://schemas.microsoft.com/office/powerpoint/2010/main" val="5047675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PROCUREMENT CYCLE COMPRESSION</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Procure-to-Pay  ·  WhatsApp RFQ  ·  Approval Automation  ·  Spend Analytics  ·  Manufacturing  ·  AI</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Manufacturing Institution   |   Domain: Manufacturing   |   Function: Procurement</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Manufacturing company in active scale-up ran entire procurement on calls, emails, and spreadsheets. Vendor quotes arrived in different formats, approval chains had no single owner, and PO status existed only in people's heads. Fragmentation caused production line stoppages.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Fully digitized procure-to-pay system replacing the manual chain from indent to payment. Vendors receive structured RFQs through WhatsApp. Approval routing executes automatically against client hierarchy. Every PO moves through a tracked lifecycle with real-time visibility.</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End-to-End Procurement Execution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Covers the full cycle from requisition to final payment on one platform, eliminating handoff gaps.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Vendor Quote Collection via WhatsApp</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Sends structured RFQs to suppliers and captures responses in standard format, removing manual collation.</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Automated Approval Routing</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Configurable chains trigger and escalate automatically by value, category, and department.</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Purchase Order Lifecycle Tracking</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Real-time visibility from PO creation to goods receipt, so delays surface before they hit the line.</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Vendor Performance Scoring</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Tracks delivery reliability, quality, and pricing trends per supplier to inform future sourcing decisions.</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Spend &amp; Savings Analytics</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Aggregates procurement data into spend analysis and vendor comparisons, making cost patterns visible.</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70%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Procurement Cycle Time</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Zero</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Manual Approval Chasing</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Single</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Platform for Indent-to-Payment Visibility</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NX CAD TOOLKIT &amp; MACRO CONSOLIDATION</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NX Open  ·  CATVBA  ·  Macro Automation  ·  Unified Engineering Dashboard  ·  Change-Driven Efficiency</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Industrial Equipment Manufacturer   |   Domain: Manufacturing   |   Function: Product Engineering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Engineering teams managed macros scattered across NX environments, requiring manual search, setup, and execution. Overlay comparison, BOM export, and drawing checks lacked a unified interface. No logging, error handling, or consistent deployment across global teams.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 unified NX Open-based engineering toolkit with a single, categorised GUI dashboard consolidating all macros. Engineers execute scripts via one-click buttons with input forms, logging, and error handling — deployed on a shared network.</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Unified Macro Dashboard</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All macros consolidated into a single categorised GUI — engineers find and run any process in one click with no script-hunting.</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NX Open Automation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Full scripting coverage across NX Open Python API — parameters passed via input forms, not hardcoded.</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Overlay &amp; Comparison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Automated geometric overlay comparison between part revisions and PDF report generated without manual steps.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Version-Aware Execution Logging</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Every macro run logged with user, timestamp, parameters, and success/fail status — full audit trail across all engineering teams.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Drawing Standards &amp; Attribute Checks</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Automated validation of naming conventions, GD&amp;T standards, mandatory attributes, and BOM export — enforced at run-time.</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Extensible Macro Registry</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New macros added via drag-and-drop + 5-field metadata form — no bespoke code required. Scales to any number of scripts.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Macros Consolidated into One Toolkit</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80%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Faster Execution (&lt;30 sec vs 5-10 min)</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Users with Simultaneous Consistent Rollout</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AGENTIC QUALITY ROOT CAUSE INTELLIGENCE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Multi-Agent AI  ·  Steel  ·  Quality Engineering  ·  Root Cause  ·  Autonomous  ·  Manufacturing</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Steel &amp; Metals Manufacturer   |   Domain: Manufacturing   |   Function: Quality Engineering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Steel manufacturer's quality failure investigation required 3-6 engineers tracing through disconnected process, equipment, and chemistry systems — taking 3-6 hours per case. 80% of engineering effort went into investigation rather than quality improvement.</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4 specialist AI agents deployed to trace failures across process data, equipment logs, chemistry records, and grade specifications simultaneously. Delivers ranked root cause with confidence scoring and corrective actions in under 30 seconds. Resolves routine failures end-to-end autonomously.</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Multi-Source Failure Tracing</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Simultaneously interrogates process data, equipment logs, and chemistry records across departments.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Ranked Root Cause Scoring</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Delivers prioritized root cause candidates with confidence scores for immediate direction.</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Corrective Action Recommendation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Pairs each root cause with suggested corrective actions for rapid resolution.</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Cross-Department Data Correlation</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Bridges siloed systems, eliminating manual handoffs and data reconciliation.</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Autonomous Incident Resolution</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Handles routine, pattern-matched failures end-to-end without engineer involvement.</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Investigation Audit Trail</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Logs every agent decision, data source, and confidence score for compliance.</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&lt;30 sec</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Investigation Time (Down from 3-6 Hours)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2.4%→0.9%</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Defect Rate Reduction</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Incidents Resolved Fully Autonomously</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9663ecf744b06e35d4c2cebaab92a2ea.png"/>
          <p:cNvPicPr>
            <a:picLocks noChangeAspect="1"/>
          </p:cNvPicPr>
          <p:nvPr/>
        </p:nvPicPr>
        <p:blipFill>
          <a:blip r:embed="rId3"/>
          <a:srcRect l="-202" r="-202"/>
          <a:stretch/>
        </p:blipFill>
        <p:spPr>
          <a:xfrm>
            <a:off x="0" y="0"/>
            <a:ext cx="4067251" cy="75895"/>
          </a:xfrm>
          <a:prstGeom prst="rect">
            <a:avLst/>
          </a:prstGeom>
        </p:spPr>
      </p:pic>
      <p:pic>
        <p:nvPicPr>
          <p:cNvPr id="5" name="Image 1" descr="gen-dedup-323228122ff92d2332e711a84ca3b40c.png"/>
          <p:cNvPicPr>
            <a:picLocks noChangeAspect="1"/>
          </p:cNvPicPr>
          <p:nvPr/>
        </p:nvPicPr>
        <p:blipFill>
          <a:blip r:embed="rId4"/>
          <a:srcRect l="-198" r="-198"/>
          <a:stretch/>
        </p:blipFill>
        <p:spPr>
          <a:xfrm>
            <a:off x="4067251" y="0"/>
            <a:ext cx="8124444" cy="75895"/>
          </a:xfrm>
          <a:prstGeom prst="rect">
            <a:avLst/>
          </a:prstGeom>
        </p:spPr>
      </p:pic>
      <p:sp>
        <p:nvSpPr>
          <p:cNvPr id="6" name="Shape 2"/>
          <p:cNvSpPr/>
          <p:nvPr/>
        </p:nvSpPr>
        <p:spPr>
          <a:xfrm>
            <a:off x="9334195" y="-476402"/>
            <a:ext cx="3810305" cy="3810305"/>
          </a:xfrm>
          <a:prstGeom prst="ellipse">
            <a:avLst/>
          </a:prstGeom>
          <a:solidFill>
            <a:srgbClr val="2A9D8F">
              <a:alpha val="2000"/>
            </a:srgbClr>
          </a:solidFill>
          <a:ln w="12700">
            <a:solidFill>
              <a:srgbClr val="FFFFFF">
                <a:alpha val="0"/>
              </a:srgbClr>
            </a:solidFill>
            <a:prstDash val="solid"/>
          </a:ln>
        </p:spPr>
        <p:txBody>
          <a:bodyPr/>
          <a:lstStyle/>
          <a:p>
            <a:endParaRPr lang="en-US"/>
          </a:p>
        </p:txBody>
      </p:sp>
      <p:sp>
        <p:nvSpPr>
          <p:cNvPr id="7" name="Shape 3"/>
          <p:cNvSpPr/>
          <p:nvPr/>
        </p:nvSpPr>
        <p:spPr>
          <a:xfrm>
            <a:off x="-1429207" y="3047695"/>
            <a:ext cx="3333902" cy="3333902"/>
          </a:xfrm>
          <a:prstGeom prst="ellipse">
            <a:avLst/>
          </a:prstGeom>
          <a:solidFill>
            <a:srgbClr val="D62839">
              <a:alpha val="2000"/>
            </a:srgbClr>
          </a:solidFill>
          <a:ln w="12700">
            <a:solidFill>
              <a:srgbClr val="FFFFFF">
                <a:alpha val="0"/>
              </a:srgbClr>
            </a:solidFill>
            <a:prstDash val="solid"/>
          </a:ln>
        </p:spPr>
        <p:txBody>
          <a:bodyPr/>
          <a:lstStyle/>
          <a:p>
            <a:endParaRPr lang="en-US"/>
          </a:p>
        </p:txBody>
      </p:sp>
      <p:sp>
        <p:nvSpPr>
          <p:cNvPr id="8" name="Shape 4"/>
          <p:cNvSpPr/>
          <p:nvPr/>
        </p:nvSpPr>
        <p:spPr>
          <a:xfrm>
            <a:off x="647395" y="4619549"/>
            <a:ext cx="10916107" cy="1781251"/>
          </a:xfrm>
          <a:prstGeom prst="roundRect">
            <a:avLst>
              <a:gd name="adj" fmla="val 4392"/>
            </a:avLst>
          </a:prstGeom>
          <a:solidFill>
            <a:srgbClr val="F8FAFC"/>
          </a:solidFill>
          <a:ln w="12700">
            <a:solidFill>
              <a:srgbClr val="E2E8F0"/>
            </a:solidFill>
            <a:prstDash val="solid"/>
          </a:ln>
        </p:spPr>
        <p:txBody>
          <a:bodyPr/>
          <a:lstStyle/>
          <a:p>
            <a:endParaRPr lang="en-US"/>
          </a:p>
        </p:txBody>
      </p:sp>
      <p:sp>
        <p:nvSpPr>
          <p:cNvPr id="9" name="Shape 5"/>
          <p:cNvSpPr/>
          <p:nvPr/>
        </p:nvSpPr>
        <p:spPr>
          <a:xfrm>
            <a:off x="647395" y="1571854"/>
            <a:ext cx="3524098" cy="2809951"/>
          </a:xfrm>
          <a:prstGeom prst="roundRect">
            <a:avLst>
              <a:gd name="adj" fmla="val 1324"/>
            </a:avLst>
          </a:prstGeom>
          <a:solidFill>
            <a:srgbClr val="FFFFFF"/>
          </a:solidFill>
          <a:ln w="12700">
            <a:solidFill>
              <a:srgbClr val="E2E8F0"/>
            </a:solidFill>
            <a:prstDash val="solid"/>
          </a:ln>
          <a:effectLst>
            <a:outerShdw blurRad="139700" dist="38100" dir="16200000" algn="bl" rotWithShape="0">
              <a:srgbClr val="000000">
                <a:alpha val="3000"/>
              </a:srgbClr>
            </a:outerShdw>
          </a:effectLst>
        </p:spPr>
        <p:txBody>
          <a:bodyPr/>
          <a:lstStyle/>
          <a:p>
            <a:endParaRPr lang="en-US"/>
          </a:p>
        </p:txBody>
      </p:sp>
      <p:sp>
        <p:nvSpPr>
          <p:cNvPr id="10" name="Shape 6"/>
          <p:cNvSpPr/>
          <p:nvPr/>
        </p:nvSpPr>
        <p:spPr>
          <a:xfrm>
            <a:off x="647395" y="1571854"/>
            <a:ext cx="3524098" cy="38405"/>
          </a:xfrm>
          <a:prstGeom prst="roundRect">
            <a:avLst>
              <a:gd name="adj" fmla="val 96852"/>
            </a:avLst>
          </a:prstGeom>
          <a:solidFill>
            <a:srgbClr val="2A9D8F"/>
          </a:solidFill>
          <a:ln w="12700">
            <a:solidFill>
              <a:srgbClr val="2A9D8F">
                <a:alpha val="0"/>
              </a:srgbClr>
            </a:solidFill>
            <a:prstDash val="solid"/>
          </a:ln>
        </p:spPr>
        <p:txBody>
          <a:bodyPr/>
          <a:lstStyle/>
          <a:p>
            <a:endParaRPr lang="en-US"/>
          </a:p>
        </p:txBody>
      </p:sp>
      <p:sp>
        <p:nvSpPr>
          <p:cNvPr id="11" name="Shape 7"/>
          <p:cNvSpPr/>
          <p:nvPr/>
        </p:nvSpPr>
        <p:spPr>
          <a:xfrm>
            <a:off x="4343400" y="1571854"/>
            <a:ext cx="3524098" cy="2809951"/>
          </a:xfrm>
          <a:prstGeom prst="roundRect">
            <a:avLst>
              <a:gd name="adj" fmla="val 1324"/>
            </a:avLst>
          </a:prstGeom>
          <a:solidFill>
            <a:srgbClr val="FFFFFF"/>
          </a:solidFill>
          <a:ln w="12700">
            <a:solidFill>
              <a:srgbClr val="E2E8F0"/>
            </a:solidFill>
            <a:prstDash val="solid"/>
          </a:ln>
          <a:effectLst>
            <a:outerShdw blurRad="139700" dist="38100" dir="16200000" algn="bl" rotWithShape="0">
              <a:srgbClr val="000000">
                <a:alpha val="3000"/>
              </a:srgbClr>
            </a:outerShdw>
          </a:effectLst>
        </p:spPr>
        <p:txBody>
          <a:bodyPr/>
          <a:lstStyle/>
          <a:p>
            <a:endParaRPr lang="en-US"/>
          </a:p>
        </p:txBody>
      </p:sp>
      <p:sp>
        <p:nvSpPr>
          <p:cNvPr id="12" name="Shape 8"/>
          <p:cNvSpPr/>
          <p:nvPr/>
        </p:nvSpPr>
        <p:spPr>
          <a:xfrm>
            <a:off x="4343400" y="1571854"/>
            <a:ext cx="3524098" cy="38405"/>
          </a:xfrm>
          <a:prstGeom prst="roundRect">
            <a:avLst>
              <a:gd name="adj" fmla="val 96852"/>
            </a:avLst>
          </a:prstGeom>
          <a:solidFill>
            <a:srgbClr val="D62839"/>
          </a:solidFill>
          <a:ln w="12700">
            <a:solidFill>
              <a:srgbClr val="D62839">
                <a:alpha val="0"/>
              </a:srgbClr>
            </a:solidFill>
            <a:prstDash val="solid"/>
          </a:ln>
        </p:spPr>
        <p:txBody>
          <a:bodyPr/>
          <a:lstStyle/>
          <a:p>
            <a:endParaRPr lang="en-US"/>
          </a:p>
        </p:txBody>
      </p:sp>
      <p:sp>
        <p:nvSpPr>
          <p:cNvPr id="13" name="Shape 9"/>
          <p:cNvSpPr/>
          <p:nvPr/>
        </p:nvSpPr>
        <p:spPr>
          <a:xfrm>
            <a:off x="8039405" y="1571854"/>
            <a:ext cx="3524098" cy="2809951"/>
          </a:xfrm>
          <a:prstGeom prst="roundRect">
            <a:avLst>
              <a:gd name="adj" fmla="val 1324"/>
            </a:avLst>
          </a:prstGeom>
          <a:solidFill>
            <a:srgbClr val="FFFFFF"/>
          </a:solidFill>
          <a:ln w="12700">
            <a:solidFill>
              <a:srgbClr val="E2E8F0"/>
            </a:solidFill>
            <a:prstDash val="solid"/>
          </a:ln>
          <a:effectLst>
            <a:outerShdw blurRad="139700" dist="38100" dir="16200000" algn="bl" rotWithShape="0">
              <a:srgbClr val="000000">
                <a:alpha val="3000"/>
              </a:srgbClr>
            </a:outerShdw>
          </a:effectLst>
        </p:spPr>
        <p:txBody>
          <a:bodyPr/>
          <a:lstStyle/>
          <a:p>
            <a:endParaRPr lang="en-US"/>
          </a:p>
        </p:txBody>
      </p:sp>
      <p:sp>
        <p:nvSpPr>
          <p:cNvPr id="14" name="Shape 10"/>
          <p:cNvSpPr/>
          <p:nvPr/>
        </p:nvSpPr>
        <p:spPr>
          <a:xfrm>
            <a:off x="8039405" y="1571854"/>
            <a:ext cx="3524098" cy="38405"/>
          </a:xfrm>
          <a:prstGeom prst="roundRect">
            <a:avLst>
              <a:gd name="adj" fmla="val 96852"/>
            </a:avLst>
          </a:prstGeom>
          <a:solidFill>
            <a:srgbClr val="111827"/>
          </a:solidFill>
          <a:ln w="12700">
            <a:solidFill>
              <a:srgbClr val="111827">
                <a:alpha val="0"/>
              </a:srgbClr>
            </a:solidFill>
            <a:prstDash val="solid"/>
          </a:ln>
        </p:spPr>
        <p:txBody>
          <a:bodyPr/>
          <a:lstStyle/>
          <a:p>
            <a:endParaRPr lang="en-US"/>
          </a:p>
        </p:txBody>
      </p:sp>
      <p:sp>
        <p:nvSpPr>
          <p:cNvPr id="15" name="Shape 11"/>
          <p:cNvSpPr/>
          <p:nvPr/>
        </p:nvSpPr>
        <p:spPr>
          <a:xfrm>
            <a:off x="905256" y="5143500"/>
            <a:ext cx="2467051"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sp>
        <p:nvSpPr>
          <p:cNvPr id="16" name="Shape 12"/>
          <p:cNvSpPr/>
          <p:nvPr/>
        </p:nvSpPr>
        <p:spPr>
          <a:xfrm>
            <a:off x="3666744" y="5143500"/>
            <a:ext cx="2467051"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sp>
        <p:nvSpPr>
          <p:cNvPr id="17" name="Shape 13"/>
          <p:cNvSpPr/>
          <p:nvPr/>
        </p:nvSpPr>
        <p:spPr>
          <a:xfrm>
            <a:off x="6429146" y="5143500"/>
            <a:ext cx="2467051"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sp>
        <p:nvSpPr>
          <p:cNvPr id="18" name="Shape 14"/>
          <p:cNvSpPr/>
          <p:nvPr/>
        </p:nvSpPr>
        <p:spPr>
          <a:xfrm>
            <a:off x="9191549" y="5143500"/>
            <a:ext cx="2180844"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pic>
        <p:nvPicPr>
          <p:cNvPr id="19" name="Image 2" descr="gen-dedup-06e3d16aa0e9246458a784af17ea21a8.png"/>
          <p:cNvPicPr>
            <a:picLocks noChangeAspect="1"/>
          </p:cNvPicPr>
          <p:nvPr/>
        </p:nvPicPr>
        <p:blipFill>
          <a:blip r:embed="rId5"/>
          <a:srcRect l="-437" r="-437"/>
          <a:stretch/>
        </p:blipFill>
        <p:spPr>
          <a:xfrm>
            <a:off x="647395" y="743407"/>
            <a:ext cx="57607" cy="418795"/>
          </a:xfrm>
          <a:prstGeom prst="rect">
            <a:avLst/>
          </a:prstGeom>
        </p:spPr>
      </p:pic>
      <p:sp>
        <p:nvSpPr>
          <p:cNvPr id="20" name="Text 15"/>
          <p:cNvSpPr txBox="1"/>
          <p:nvPr/>
        </p:nvSpPr>
        <p:spPr>
          <a:xfrm>
            <a:off x="857707" y="685800"/>
            <a:ext cx="10478110" cy="419710"/>
          </a:xfrm>
          <a:prstGeom prst="rect">
            <a:avLst/>
          </a:prstGeom>
          <a:noFill/>
          <a:ln/>
        </p:spPr>
        <p:txBody>
          <a:bodyPr wrap="square" lIns="0" tIns="0" rIns="0" bIns="0" rtlCol="0" anchor="ctr"/>
          <a:lstStyle/>
          <a:p>
            <a:pPr marL="0" indent="0" algn="l">
              <a:buNone/>
            </a:pPr>
            <a:r>
              <a:rPr lang="en-US" sz="3000" b="1" dirty="0">
                <a:solidFill>
                  <a:srgbClr val="111827"/>
                </a:solidFill>
                <a:latin typeface="Oswald" pitchFamily="34" charset="0"/>
                <a:ea typeface="Oswald" pitchFamily="34" charset="-122"/>
                <a:cs typeface="Oswald" pitchFamily="34" charset="-120"/>
              </a:rPr>
              <a:t>NEXT STEPS</a:t>
            </a:r>
            <a:endParaRPr lang="en-US" sz="3000" dirty="0"/>
          </a:p>
        </p:txBody>
      </p:sp>
      <p:sp>
        <p:nvSpPr>
          <p:cNvPr id="21" name="Text 16"/>
          <p:cNvSpPr txBox="1"/>
          <p:nvPr/>
        </p:nvSpPr>
        <p:spPr>
          <a:xfrm>
            <a:off x="857707" y="1143000"/>
            <a:ext cx="10478110" cy="181051"/>
          </a:xfrm>
          <a:prstGeom prst="rect">
            <a:avLst/>
          </a:prstGeom>
          <a:noFill/>
          <a:ln/>
        </p:spPr>
        <p:txBody>
          <a:bodyPr wrap="square" lIns="0" tIns="0" rIns="0" bIns="0" rtlCol="0" anchor="ctr"/>
          <a:lstStyle/>
          <a:p>
            <a:pPr marL="0" indent="0" algn="l">
              <a:buNone/>
            </a:pPr>
            <a:r>
              <a:rPr lang="en-US" sz="1200" b="1" kern="0" spc="60" dirty="0">
                <a:solidFill>
                  <a:srgbClr val="2A9D8F"/>
                </a:solidFill>
                <a:latin typeface="Roboto Condensed" pitchFamily="34" charset="0"/>
                <a:ea typeface="Roboto Condensed" pitchFamily="34" charset="-122"/>
                <a:cs typeface="Roboto Condensed" pitchFamily="34" charset="-120"/>
              </a:rPr>
              <a:t>FLEXIBLE ENGAGEMENT MODELS TAILORED TO YOUR THREE-YEAR ROADMAP</a:t>
            </a:r>
            <a:endParaRPr lang="en-US" sz="1200" dirty="0"/>
          </a:p>
        </p:txBody>
      </p:sp>
      <p:sp>
        <p:nvSpPr>
          <p:cNvPr id="22" name="Shape 17"/>
          <p:cNvSpPr/>
          <p:nvPr/>
        </p:nvSpPr>
        <p:spPr>
          <a:xfrm>
            <a:off x="838505" y="1762049"/>
            <a:ext cx="457200" cy="457200"/>
          </a:xfrm>
          <a:prstGeom prst="roundRect">
            <a:avLst>
              <a:gd name="adj" fmla="val 66667"/>
            </a:avLst>
          </a:prstGeom>
          <a:solidFill>
            <a:srgbClr val="E6F3F1"/>
          </a:solidFill>
          <a:ln w="12700">
            <a:solidFill>
              <a:srgbClr val="FFFFFF">
                <a:alpha val="0"/>
              </a:srgbClr>
            </a:solidFill>
            <a:prstDash val="solid"/>
          </a:ln>
        </p:spPr>
        <p:txBody>
          <a:bodyPr/>
          <a:lstStyle/>
          <a:p>
            <a:endParaRPr lang="en-US"/>
          </a:p>
        </p:txBody>
      </p:sp>
      <p:pic>
        <p:nvPicPr>
          <p:cNvPr id="23" name="Image 3" descr="gen-dedup-fa5d0b435e79f3035aaec6593bf7cfb3.png"/>
          <p:cNvPicPr>
            <a:picLocks noChangeAspect="1"/>
          </p:cNvPicPr>
          <p:nvPr/>
        </p:nvPicPr>
        <p:blipFill>
          <a:blip r:embed="rId6"/>
          <a:srcRect l="-3526" r="-3526"/>
          <a:stretch/>
        </p:blipFill>
        <p:spPr>
          <a:xfrm>
            <a:off x="990295" y="1895551"/>
            <a:ext cx="152705" cy="190195"/>
          </a:xfrm>
          <a:prstGeom prst="rect">
            <a:avLst/>
          </a:prstGeom>
        </p:spPr>
      </p:pic>
      <p:sp>
        <p:nvSpPr>
          <p:cNvPr id="24" name="Text 18"/>
          <p:cNvSpPr txBox="1"/>
          <p:nvPr/>
        </p:nvSpPr>
        <p:spPr>
          <a:xfrm>
            <a:off x="1447495" y="1794967"/>
            <a:ext cx="1995221" cy="238658"/>
          </a:xfrm>
          <a:prstGeom prst="rect">
            <a:avLst/>
          </a:prstGeom>
          <a:noFill/>
          <a:ln/>
        </p:spPr>
        <p:txBody>
          <a:bodyPr wrap="squar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Discovery Workshop</a:t>
            </a:r>
            <a:endParaRPr lang="en-US" sz="1600"/>
          </a:p>
        </p:txBody>
      </p:sp>
      <p:sp>
        <p:nvSpPr>
          <p:cNvPr id="25" name="Text 19"/>
          <p:cNvSpPr txBox="1"/>
          <p:nvPr/>
        </p:nvSpPr>
        <p:spPr>
          <a:xfrm>
            <a:off x="1447495" y="2043684"/>
            <a:ext cx="1677010" cy="143561"/>
          </a:xfrm>
          <a:prstGeom prst="rect">
            <a:avLst/>
          </a:prstGeom>
          <a:noFill/>
          <a:ln/>
        </p:spPr>
        <p:txBody>
          <a:bodyPr wrap="square" lIns="0" tIns="0" rIns="0" bIns="0" rtlCol="0" anchor="ctr"/>
          <a:lstStyle/>
          <a:p>
            <a:pPr marL="0" indent="0" algn="l">
              <a:buNone/>
            </a:pPr>
            <a:r>
              <a:rPr lang="en-US" sz="900">
                <a:solidFill>
                  <a:srgbClr val="64748B"/>
                </a:solidFill>
                <a:latin typeface="Raleway" pitchFamily="34" charset="0"/>
                <a:ea typeface="Raleway" pitchFamily="34" charset="-122"/>
                <a:cs typeface="Raleway" pitchFamily="34" charset="-120"/>
              </a:rPr>
              <a:t>Duration: ~90 Minutes</a:t>
            </a:r>
            <a:endParaRPr lang="en-US" sz="900"/>
          </a:p>
        </p:txBody>
      </p:sp>
      <p:sp>
        <p:nvSpPr>
          <p:cNvPr id="26" name="Shape 20"/>
          <p:cNvSpPr/>
          <p:nvPr/>
        </p:nvSpPr>
        <p:spPr>
          <a:xfrm>
            <a:off x="3259836" y="1762049"/>
            <a:ext cx="705002" cy="256946"/>
          </a:xfrm>
          <a:prstGeom prst="roundRect">
            <a:avLst>
              <a:gd name="adj" fmla="val 316331"/>
            </a:avLst>
          </a:prstGeom>
          <a:solidFill>
            <a:srgbClr val="E6F3F1"/>
          </a:solidFill>
          <a:ln w="12700">
            <a:solidFill>
              <a:srgbClr val="FFFFFF">
                <a:alpha val="0"/>
              </a:srgbClr>
            </a:solidFill>
            <a:prstDash val="solid"/>
          </a:ln>
        </p:spPr>
        <p:txBody>
          <a:bodyPr/>
          <a:lstStyle/>
          <a:p>
            <a:endParaRPr lang="en-US"/>
          </a:p>
        </p:txBody>
      </p:sp>
      <p:sp>
        <p:nvSpPr>
          <p:cNvPr id="27" name="Text 21"/>
          <p:cNvSpPr txBox="1"/>
          <p:nvPr/>
        </p:nvSpPr>
        <p:spPr>
          <a:xfrm>
            <a:off x="838505" y="2447849"/>
            <a:ext cx="3124505" cy="133502"/>
          </a:xfrm>
          <a:prstGeom prst="rect">
            <a:avLst/>
          </a:prstGeom>
          <a:noFill/>
          <a:ln/>
        </p:spPr>
        <p:txBody>
          <a:bodyPr wrap="square" lIns="0" tIns="0" rIns="0" bIns="0" rtlCol="0" anchor="ctr"/>
          <a:lstStyle/>
          <a:p>
            <a:pPr marL="0" indent="0" algn="l">
              <a:buNone/>
            </a:pPr>
            <a:r>
              <a:rPr lang="en-US" sz="900" b="1" kern="0" spc="45">
                <a:solidFill>
                  <a:srgbClr val="94A3B8"/>
                </a:solidFill>
                <a:latin typeface="Roboto Condensed" pitchFamily="34" charset="0"/>
                <a:ea typeface="Roboto Condensed" pitchFamily="34" charset="-122"/>
                <a:cs typeface="Roboto Condensed" pitchFamily="34" charset="-120"/>
              </a:rPr>
              <a:t>KEY DELIVERABLES</a:t>
            </a:r>
            <a:endParaRPr lang="en-US" sz="900"/>
          </a:p>
        </p:txBody>
      </p:sp>
      <p:pic>
        <p:nvPicPr>
          <p:cNvPr id="28" name="Image 4" descr="gen-dedup-2910efa1624004b251a6644ba5a6ae47.png"/>
          <p:cNvPicPr>
            <a:picLocks noChangeAspect="1"/>
          </p:cNvPicPr>
          <p:nvPr/>
        </p:nvPicPr>
        <p:blipFill>
          <a:blip r:embed="rId7"/>
          <a:srcRect t="-27726" b="-27726"/>
          <a:stretch/>
        </p:blipFill>
        <p:spPr>
          <a:xfrm>
            <a:off x="838505" y="2734056"/>
            <a:ext cx="85954" cy="152705"/>
          </a:xfrm>
          <a:prstGeom prst="rect">
            <a:avLst/>
          </a:prstGeom>
        </p:spPr>
      </p:pic>
      <p:sp>
        <p:nvSpPr>
          <p:cNvPr id="29" name="Text 22"/>
          <p:cNvSpPr txBox="1"/>
          <p:nvPr/>
        </p:nvSpPr>
        <p:spPr>
          <a:xfrm>
            <a:off x="1019556" y="2695651"/>
            <a:ext cx="2732227" cy="191110"/>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Use case identification &amp; prioritization</a:t>
            </a:r>
            <a:endParaRPr lang="en-US" sz="1000"/>
          </a:p>
        </p:txBody>
      </p:sp>
      <p:pic>
        <p:nvPicPr>
          <p:cNvPr id="30" name="Image 5" descr="gen-dedup-2910efa1624004b251a6644ba5a6ae47.png"/>
          <p:cNvPicPr>
            <a:picLocks noChangeAspect="1"/>
          </p:cNvPicPr>
          <p:nvPr/>
        </p:nvPicPr>
        <p:blipFill>
          <a:blip r:embed="rId7"/>
          <a:srcRect t="-27726" b="-27726"/>
          <a:stretch/>
        </p:blipFill>
        <p:spPr>
          <a:xfrm>
            <a:off x="838505" y="3019349"/>
            <a:ext cx="85954" cy="152705"/>
          </a:xfrm>
          <a:prstGeom prst="rect">
            <a:avLst/>
          </a:prstGeom>
        </p:spPr>
      </p:pic>
      <p:sp>
        <p:nvSpPr>
          <p:cNvPr id="31" name="Text 23"/>
          <p:cNvSpPr txBox="1"/>
          <p:nvPr/>
        </p:nvSpPr>
        <p:spPr>
          <a:xfrm>
            <a:off x="1019556" y="2980944"/>
            <a:ext cx="1972361" cy="191110"/>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Value hypothesis definition</a:t>
            </a:r>
            <a:endParaRPr lang="en-US" sz="1000"/>
          </a:p>
        </p:txBody>
      </p:sp>
      <p:pic>
        <p:nvPicPr>
          <p:cNvPr id="32" name="Image 6" descr="gen-dedup-2910efa1624004b251a6644ba5a6ae47.png"/>
          <p:cNvPicPr>
            <a:picLocks noChangeAspect="1"/>
          </p:cNvPicPr>
          <p:nvPr/>
        </p:nvPicPr>
        <p:blipFill>
          <a:blip r:embed="rId7"/>
          <a:srcRect t="-27726" b="-27726"/>
          <a:stretch/>
        </p:blipFill>
        <p:spPr>
          <a:xfrm>
            <a:off x="838505" y="3305556"/>
            <a:ext cx="85954" cy="152705"/>
          </a:xfrm>
          <a:prstGeom prst="rect">
            <a:avLst/>
          </a:prstGeom>
        </p:spPr>
      </p:pic>
      <p:sp>
        <p:nvSpPr>
          <p:cNvPr id="33" name="Text 24"/>
          <p:cNvSpPr txBox="1"/>
          <p:nvPr/>
        </p:nvSpPr>
        <p:spPr>
          <a:xfrm>
            <a:off x="1019556" y="3267151"/>
            <a:ext cx="3377794" cy="191110"/>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High-level roadmap aligned to 70/30 strategy</a:t>
            </a:r>
            <a:endParaRPr lang="en-US" sz="1000"/>
          </a:p>
        </p:txBody>
      </p:sp>
      <p:sp>
        <p:nvSpPr>
          <p:cNvPr id="34" name="Text 25"/>
          <p:cNvSpPr txBox="1"/>
          <p:nvPr/>
        </p:nvSpPr>
        <p:spPr>
          <a:xfrm>
            <a:off x="3354934" y="1848002"/>
            <a:ext cx="662026" cy="124358"/>
          </a:xfrm>
          <a:prstGeom prst="rect">
            <a:avLst/>
          </a:prstGeom>
          <a:noFill/>
          <a:ln/>
        </p:spPr>
        <p:txBody>
          <a:bodyPr wrap="square" lIns="0" tIns="0" rIns="0" bIns="0" rtlCol="0" anchor="ctr"/>
          <a:lstStyle/>
          <a:p>
            <a:pPr marL="0" indent="0" algn="l">
              <a:buNone/>
            </a:pPr>
            <a:r>
              <a:rPr lang="en-US" sz="800" b="1">
                <a:solidFill>
                  <a:srgbClr val="2A9D8F"/>
                </a:solidFill>
                <a:latin typeface="Roboto Condensed" pitchFamily="34" charset="0"/>
                <a:ea typeface="Roboto Condensed" pitchFamily="34" charset="-122"/>
                <a:cs typeface="Roboto Condensed" pitchFamily="34" charset="-120"/>
              </a:rPr>
              <a:t>LOW TOUCH</a:t>
            </a:r>
            <a:endParaRPr lang="en-US" sz="800"/>
          </a:p>
        </p:txBody>
      </p:sp>
      <p:sp>
        <p:nvSpPr>
          <p:cNvPr id="35" name="Shape 26"/>
          <p:cNvSpPr/>
          <p:nvPr/>
        </p:nvSpPr>
        <p:spPr>
          <a:xfrm>
            <a:off x="4533595" y="1762049"/>
            <a:ext cx="457200" cy="457200"/>
          </a:xfrm>
          <a:prstGeom prst="roundRect">
            <a:avLst>
              <a:gd name="adj" fmla="val 66667"/>
            </a:avLst>
          </a:prstGeom>
          <a:solidFill>
            <a:srgbClr val="FBE6E8"/>
          </a:solidFill>
          <a:ln w="12700">
            <a:solidFill>
              <a:srgbClr val="FFFFFF">
                <a:alpha val="0"/>
              </a:srgbClr>
            </a:solidFill>
            <a:prstDash val="solid"/>
          </a:ln>
        </p:spPr>
        <p:txBody>
          <a:bodyPr/>
          <a:lstStyle/>
          <a:p>
            <a:endParaRPr lang="en-US"/>
          </a:p>
        </p:txBody>
      </p:sp>
      <p:pic>
        <p:nvPicPr>
          <p:cNvPr id="36" name="Image 7" descr="gen-dedup-302cf04975ca72dffec5134ed5b99fbe.png"/>
          <p:cNvPicPr>
            <a:picLocks noChangeAspect="1"/>
          </p:cNvPicPr>
          <p:nvPr/>
        </p:nvPicPr>
        <p:blipFill>
          <a:blip r:embed="rId8"/>
          <a:srcRect t="-4491" b="-4491"/>
          <a:stretch/>
        </p:blipFill>
        <p:spPr>
          <a:xfrm>
            <a:off x="4686300" y="1895551"/>
            <a:ext cx="152705" cy="190195"/>
          </a:xfrm>
          <a:prstGeom prst="rect">
            <a:avLst/>
          </a:prstGeom>
        </p:spPr>
      </p:pic>
      <p:sp>
        <p:nvSpPr>
          <p:cNvPr id="37" name="Text 27"/>
          <p:cNvSpPr txBox="1"/>
          <p:nvPr/>
        </p:nvSpPr>
        <p:spPr>
          <a:xfrm>
            <a:off x="5143500" y="1794967"/>
            <a:ext cx="1825142" cy="238658"/>
          </a:xfrm>
          <a:prstGeom prst="rect">
            <a:avLst/>
          </a:prstGeom>
          <a:noFill/>
          <a:ln/>
        </p:spPr>
        <p:txBody>
          <a:bodyPr wrap="squar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Assessment &amp; PoC</a:t>
            </a:r>
            <a:endParaRPr lang="en-US" sz="1600"/>
          </a:p>
        </p:txBody>
      </p:sp>
      <p:sp>
        <p:nvSpPr>
          <p:cNvPr id="38" name="Text 28"/>
          <p:cNvSpPr txBox="1"/>
          <p:nvPr/>
        </p:nvSpPr>
        <p:spPr>
          <a:xfrm>
            <a:off x="5143500" y="2043684"/>
            <a:ext cx="1534363" cy="143561"/>
          </a:xfrm>
          <a:prstGeom prst="rect">
            <a:avLst/>
          </a:prstGeom>
          <a:noFill/>
          <a:ln/>
        </p:spPr>
        <p:txBody>
          <a:bodyPr wrap="square" lIns="0" tIns="0" rIns="0" bIns="0" rtlCol="0" anchor="ctr"/>
          <a:lstStyle/>
          <a:p>
            <a:pPr marL="0" indent="0" algn="l">
              <a:buNone/>
            </a:pPr>
            <a:r>
              <a:rPr lang="en-US" sz="900">
                <a:solidFill>
                  <a:srgbClr val="64748B"/>
                </a:solidFill>
                <a:latin typeface="Raleway" pitchFamily="34" charset="0"/>
                <a:ea typeface="Raleway" pitchFamily="34" charset="-122"/>
                <a:cs typeface="Raleway" pitchFamily="34" charset="-120"/>
              </a:rPr>
              <a:t>Duration: 4 Weeks</a:t>
            </a:r>
            <a:endParaRPr lang="en-US" sz="900"/>
          </a:p>
        </p:txBody>
      </p:sp>
      <p:sp>
        <p:nvSpPr>
          <p:cNvPr id="39" name="Shape 29"/>
          <p:cNvSpPr/>
          <p:nvPr/>
        </p:nvSpPr>
        <p:spPr>
          <a:xfrm>
            <a:off x="6982358" y="1762049"/>
            <a:ext cx="676656" cy="256946"/>
          </a:xfrm>
          <a:prstGeom prst="roundRect">
            <a:avLst>
              <a:gd name="adj" fmla="val 316331"/>
            </a:avLst>
          </a:prstGeom>
          <a:solidFill>
            <a:srgbClr val="FBE6E8"/>
          </a:solidFill>
          <a:ln w="12700">
            <a:solidFill>
              <a:srgbClr val="FFFFFF">
                <a:alpha val="0"/>
              </a:srgbClr>
            </a:solidFill>
            <a:prstDash val="solid"/>
          </a:ln>
        </p:spPr>
        <p:txBody>
          <a:bodyPr/>
          <a:lstStyle/>
          <a:p>
            <a:endParaRPr lang="en-US"/>
          </a:p>
        </p:txBody>
      </p:sp>
      <p:sp>
        <p:nvSpPr>
          <p:cNvPr id="40" name="Text 30"/>
          <p:cNvSpPr txBox="1"/>
          <p:nvPr/>
        </p:nvSpPr>
        <p:spPr>
          <a:xfrm>
            <a:off x="4533595" y="2447849"/>
            <a:ext cx="3124505" cy="133502"/>
          </a:xfrm>
          <a:prstGeom prst="rect">
            <a:avLst/>
          </a:prstGeom>
          <a:noFill/>
          <a:ln/>
        </p:spPr>
        <p:txBody>
          <a:bodyPr wrap="square" lIns="0" tIns="0" rIns="0" bIns="0" rtlCol="0" anchor="ctr"/>
          <a:lstStyle/>
          <a:p>
            <a:pPr marL="0" indent="0" algn="l">
              <a:buNone/>
            </a:pPr>
            <a:r>
              <a:rPr lang="en-US" sz="900" b="1" kern="0" spc="45">
                <a:solidFill>
                  <a:srgbClr val="94A3B8"/>
                </a:solidFill>
                <a:latin typeface="Roboto Condensed" pitchFamily="34" charset="0"/>
                <a:ea typeface="Roboto Condensed" pitchFamily="34" charset="-122"/>
                <a:cs typeface="Roboto Condensed" pitchFamily="34" charset="-120"/>
              </a:rPr>
              <a:t>KEY DELIVERABLES</a:t>
            </a:r>
            <a:endParaRPr lang="en-US" sz="900"/>
          </a:p>
        </p:txBody>
      </p:sp>
      <p:pic>
        <p:nvPicPr>
          <p:cNvPr id="41" name="Image 8" descr="gen-dedup-3f480c66afa147b2245dea2610bb3896.png"/>
          <p:cNvPicPr>
            <a:picLocks noChangeAspect="1"/>
          </p:cNvPicPr>
          <p:nvPr/>
        </p:nvPicPr>
        <p:blipFill>
          <a:blip r:embed="rId9"/>
          <a:srcRect t="-12832" b="-12832"/>
          <a:stretch/>
        </p:blipFill>
        <p:spPr>
          <a:xfrm>
            <a:off x="4533595" y="2734056"/>
            <a:ext cx="85954" cy="123444"/>
          </a:xfrm>
          <a:prstGeom prst="rect">
            <a:avLst/>
          </a:prstGeom>
        </p:spPr>
      </p:pic>
      <p:sp>
        <p:nvSpPr>
          <p:cNvPr id="42" name="Text 31"/>
          <p:cNvSpPr txBox="1"/>
          <p:nvPr/>
        </p:nvSpPr>
        <p:spPr>
          <a:xfrm>
            <a:off x="4714646" y="2695651"/>
            <a:ext cx="2154326"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Target state architecture design</a:t>
            </a:r>
            <a:endParaRPr lang="en-US" sz="900"/>
          </a:p>
        </p:txBody>
      </p:sp>
      <p:pic>
        <p:nvPicPr>
          <p:cNvPr id="43" name="Image 9" descr="gen-dedup-3f480c66afa147b2245dea2610bb3896.png"/>
          <p:cNvPicPr>
            <a:picLocks noChangeAspect="1"/>
          </p:cNvPicPr>
          <p:nvPr/>
        </p:nvPicPr>
        <p:blipFill>
          <a:blip r:embed="rId9"/>
          <a:srcRect t="-12832" b="-12832"/>
          <a:stretch/>
        </p:blipFill>
        <p:spPr>
          <a:xfrm>
            <a:off x="4533595" y="2971800"/>
            <a:ext cx="85954" cy="123444"/>
          </a:xfrm>
          <a:prstGeom prst="rect">
            <a:avLst/>
          </a:prstGeom>
        </p:spPr>
      </p:pic>
      <p:sp>
        <p:nvSpPr>
          <p:cNvPr id="44" name="Text 32"/>
          <p:cNvSpPr txBox="1"/>
          <p:nvPr/>
        </p:nvSpPr>
        <p:spPr>
          <a:xfrm>
            <a:off x="4714646" y="2933395"/>
            <a:ext cx="2505456"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Working pilot / MVP implementation</a:t>
            </a:r>
            <a:endParaRPr lang="en-US" sz="900"/>
          </a:p>
        </p:txBody>
      </p:sp>
      <p:pic>
        <p:nvPicPr>
          <p:cNvPr id="45" name="Image 10" descr="gen-dedup-3f480c66afa147b2245dea2610bb3896.png"/>
          <p:cNvPicPr>
            <a:picLocks noChangeAspect="1"/>
          </p:cNvPicPr>
          <p:nvPr/>
        </p:nvPicPr>
        <p:blipFill>
          <a:blip r:embed="rId9"/>
          <a:srcRect t="-12832" b="-12832"/>
          <a:stretch/>
        </p:blipFill>
        <p:spPr>
          <a:xfrm>
            <a:off x="4533595" y="3209544"/>
            <a:ext cx="85954" cy="123444"/>
          </a:xfrm>
          <a:prstGeom prst="rect">
            <a:avLst/>
          </a:prstGeom>
        </p:spPr>
      </p:pic>
      <p:sp>
        <p:nvSpPr>
          <p:cNvPr id="46" name="Text 33"/>
          <p:cNvSpPr txBox="1"/>
          <p:nvPr/>
        </p:nvSpPr>
        <p:spPr>
          <a:xfrm>
            <a:off x="4714646" y="3172054"/>
            <a:ext cx="2278685"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Detailed ROI model &amp; rollout plan</a:t>
            </a:r>
            <a:endParaRPr lang="en-US" sz="900"/>
          </a:p>
        </p:txBody>
      </p:sp>
      <p:pic>
        <p:nvPicPr>
          <p:cNvPr id="47" name="Image 11" descr="gen-dedup-3f480c66afa147b2245dea2610bb3896.png"/>
          <p:cNvPicPr>
            <a:picLocks noChangeAspect="1"/>
          </p:cNvPicPr>
          <p:nvPr/>
        </p:nvPicPr>
        <p:blipFill>
          <a:blip r:embed="rId9"/>
          <a:srcRect t="-12832" b="-12832"/>
          <a:stretch/>
        </p:blipFill>
        <p:spPr>
          <a:xfrm>
            <a:off x="4533595" y="3448202"/>
            <a:ext cx="85954" cy="123444"/>
          </a:xfrm>
          <a:prstGeom prst="rect">
            <a:avLst/>
          </a:prstGeom>
        </p:spPr>
      </p:pic>
      <p:sp>
        <p:nvSpPr>
          <p:cNvPr id="48" name="Text 34"/>
          <p:cNvSpPr txBox="1"/>
          <p:nvPr/>
        </p:nvSpPr>
        <p:spPr>
          <a:xfrm>
            <a:off x="4714646" y="3409798"/>
            <a:ext cx="2108606"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Vendor integration assessment</a:t>
            </a:r>
            <a:endParaRPr lang="en-US" sz="900"/>
          </a:p>
        </p:txBody>
      </p:sp>
      <p:sp>
        <p:nvSpPr>
          <p:cNvPr id="49" name="Text 35"/>
          <p:cNvSpPr txBox="1"/>
          <p:nvPr/>
        </p:nvSpPr>
        <p:spPr>
          <a:xfrm>
            <a:off x="7077456" y="1848002"/>
            <a:ext cx="658368" cy="124358"/>
          </a:xfrm>
          <a:prstGeom prst="rect">
            <a:avLst/>
          </a:prstGeom>
          <a:noFill/>
          <a:ln/>
        </p:spPr>
        <p:txBody>
          <a:bodyPr wrap="square" lIns="0" tIns="0" rIns="0" bIns="0" rtlCol="0" anchor="ctr"/>
          <a:lstStyle/>
          <a:p>
            <a:pPr marL="0" indent="0" algn="l">
              <a:buNone/>
            </a:pPr>
            <a:r>
              <a:rPr lang="en-US" sz="800" b="1">
                <a:solidFill>
                  <a:srgbClr val="D62839"/>
                </a:solidFill>
                <a:latin typeface="Roboto Condensed" pitchFamily="34" charset="0"/>
                <a:ea typeface="Roboto Condensed" pitchFamily="34" charset="-122"/>
                <a:cs typeface="Roboto Condensed" pitchFamily="34" charset="-120"/>
              </a:rPr>
              <a:t>STRATEGIC</a:t>
            </a:r>
            <a:endParaRPr lang="en-US" sz="800"/>
          </a:p>
        </p:txBody>
      </p:sp>
      <p:sp>
        <p:nvSpPr>
          <p:cNvPr id="50" name="Shape 36"/>
          <p:cNvSpPr/>
          <p:nvPr/>
        </p:nvSpPr>
        <p:spPr>
          <a:xfrm>
            <a:off x="8229600" y="1762049"/>
            <a:ext cx="457200" cy="457200"/>
          </a:xfrm>
          <a:prstGeom prst="roundRect">
            <a:avLst>
              <a:gd name="adj" fmla="val 66667"/>
            </a:avLst>
          </a:prstGeom>
          <a:solidFill>
            <a:srgbClr val="F1F5F9"/>
          </a:solidFill>
          <a:ln w="12700">
            <a:solidFill>
              <a:srgbClr val="FFFFFF">
                <a:alpha val="0"/>
              </a:srgbClr>
            </a:solidFill>
            <a:prstDash val="solid"/>
          </a:ln>
        </p:spPr>
        <p:txBody>
          <a:bodyPr/>
          <a:lstStyle/>
          <a:p>
            <a:endParaRPr lang="en-US"/>
          </a:p>
        </p:txBody>
      </p:sp>
      <p:pic>
        <p:nvPicPr>
          <p:cNvPr id="51" name="Image 12" descr="gen-dedup-e104b6e838315a11dc2d3bf260faf00b.png"/>
          <p:cNvPicPr>
            <a:picLocks noChangeAspect="1"/>
          </p:cNvPicPr>
          <p:nvPr/>
        </p:nvPicPr>
        <p:blipFill>
          <a:blip r:embed="rId10"/>
          <a:srcRect t="-27844" b="-27844"/>
          <a:stretch/>
        </p:blipFill>
        <p:spPr>
          <a:xfrm>
            <a:off x="8382305" y="1895551"/>
            <a:ext cx="152705" cy="190195"/>
          </a:xfrm>
          <a:prstGeom prst="rect">
            <a:avLst/>
          </a:prstGeom>
        </p:spPr>
      </p:pic>
      <p:sp>
        <p:nvSpPr>
          <p:cNvPr id="52" name="Text 37"/>
          <p:cNvSpPr txBox="1"/>
          <p:nvPr/>
        </p:nvSpPr>
        <p:spPr>
          <a:xfrm>
            <a:off x="8839505" y="1794967"/>
            <a:ext cx="1938528" cy="238658"/>
          </a:xfrm>
          <a:prstGeom prst="rect">
            <a:avLst/>
          </a:prstGeom>
          <a:noFill/>
          <a:ln/>
        </p:spPr>
        <p:txBody>
          <a:bodyPr wrap="squar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Build &amp; Run Models</a:t>
            </a:r>
            <a:endParaRPr lang="en-US" sz="1600"/>
          </a:p>
        </p:txBody>
      </p:sp>
      <p:sp>
        <p:nvSpPr>
          <p:cNvPr id="53" name="Text 38"/>
          <p:cNvSpPr txBox="1"/>
          <p:nvPr/>
        </p:nvSpPr>
        <p:spPr>
          <a:xfrm>
            <a:off x="8839505" y="2043684"/>
            <a:ext cx="1629461" cy="143561"/>
          </a:xfrm>
          <a:prstGeom prst="rect">
            <a:avLst/>
          </a:prstGeom>
          <a:noFill/>
          <a:ln/>
        </p:spPr>
        <p:txBody>
          <a:bodyPr wrap="square" lIns="0" tIns="0" rIns="0" bIns="0" rtlCol="0" anchor="ctr"/>
          <a:lstStyle/>
          <a:p>
            <a:pPr marL="0" indent="0" algn="l">
              <a:buNone/>
            </a:pPr>
            <a:r>
              <a:rPr lang="en-US" sz="900">
                <a:solidFill>
                  <a:srgbClr val="64748B"/>
                </a:solidFill>
                <a:latin typeface="Raleway" pitchFamily="34" charset="0"/>
                <a:ea typeface="Raleway" pitchFamily="34" charset="-122"/>
                <a:cs typeface="Raleway" pitchFamily="34" charset="-120"/>
              </a:rPr>
              <a:t>Duration: Multi-Year</a:t>
            </a:r>
            <a:endParaRPr lang="en-US" sz="900"/>
          </a:p>
        </p:txBody>
      </p:sp>
      <p:sp>
        <p:nvSpPr>
          <p:cNvPr id="54" name="Shape 39"/>
          <p:cNvSpPr/>
          <p:nvPr/>
        </p:nvSpPr>
        <p:spPr>
          <a:xfrm>
            <a:off x="10555834" y="1762049"/>
            <a:ext cx="800100" cy="256946"/>
          </a:xfrm>
          <a:prstGeom prst="roundRect">
            <a:avLst>
              <a:gd name="adj" fmla="val 316331"/>
            </a:avLst>
          </a:prstGeom>
          <a:solidFill>
            <a:srgbClr val="F1F5F9"/>
          </a:solidFill>
          <a:ln w="12700">
            <a:solidFill>
              <a:srgbClr val="FFFFFF">
                <a:alpha val="0"/>
              </a:srgbClr>
            </a:solidFill>
            <a:prstDash val="solid"/>
          </a:ln>
        </p:spPr>
        <p:txBody>
          <a:bodyPr/>
          <a:lstStyle/>
          <a:p>
            <a:endParaRPr lang="en-US"/>
          </a:p>
        </p:txBody>
      </p:sp>
      <p:sp>
        <p:nvSpPr>
          <p:cNvPr id="55" name="Text 40"/>
          <p:cNvSpPr txBox="1"/>
          <p:nvPr/>
        </p:nvSpPr>
        <p:spPr>
          <a:xfrm>
            <a:off x="8229600" y="2447849"/>
            <a:ext cx="3124505" cy="133502"/>
          </a:xfrm>
          <a:prstGeom prst="rect">
            <a:avLst/>
          </a:prstGeom>
          <a:noFill/>
          <a:ln/>
        </p:spPr>
        <p:txBody>
          <a:bodyPr wrap="square" lIns="0" tIns="0" rIns="0" bIns="0" rtlCol="0" anchor="ctr"/>
          <a:lstStyle/>
          <a:p>
            <a:pPr marL="0" indent="0" algn="l">
              <a:buNone/>
            </a:pPr>
            <a:r>
              <a:rPr lang="en-US" sz="900" b="1" kern="0" spc="45">
                <a:solidFill>
                  <a:srgbClr val="94A3B8"/>
                </a:solidFill>
                <a:latin typeface="Roboto Condensed" pitchFamily="34" charset="0"/>
                <a:ea typeface="Roboto Condensed" pitchFamily="34" charset="-122"/>
                <a:cs typeface="Roboto Condensed" pitchFamily="34" charset="-120"/>
              </a:rPr>
              <a:t>COMMERCIAL MODELS</a:t>
            </a:r>
            <a:endParaRPr lang="en-US" sz="900"/>
          </a:p>
        </p:txBody>
      </p:sp>
      <p:pic>
        <p:nvPicPr>
          <p:cNvPr id="56" name="Image 13" descr="gen-dedup-06c19e2f143b52e69c4653630769d291.png"/>
          <p:cNvPicPr>
            <a:picLocks noChangeAspect="1"/>
          </p:cNvPicPr>
          <p:nvPr/>
        </p:nvPicPr>
        <p:blipFill>
          <a:blip r:embed="rId11"/>
          <a:srcRect t="-27726" b="-27726"/>
          <a:stretch/>
        </p:blipFill>
        <p:spPr>
          <a:xfrm>
            <a:off x="8229600" y="2734056"/>
            <a:ext cx="85954" cy="152705"/>
          </a:xfrm>
          <a:prstGeom prst="rect">
            <a:avLst/>
          </a:prstGeom>
        </p:spPr>
      </p:pic>
      <p:sp>
        <p:nvSpPr>
          <p:cNvPr id="57" name="Text 41"/>
          <p:cNvSpPr txBox="1"/>
          <p:nvPr/>
        </p:nvSpPr>
        <p:spPr>
          <a:xfrm>
            <a:off x="8410651" y="2695651"/>
            <a:ext cx="2879446" cy="191110"/>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Fixed Scope:</a:t>
            </a:r>
            <a:r>
              <a:rPr lang="en-US" sz="1000">
                <a:solidFill>
                  <a:srgbClr val="475569"/>
                </a:solidFill>
                <a:latin typeface="Raleway" pitchFamily="34" charset="0"/>
                <a:ea typeface="Raleway" pitchFamily="34" charset="-122"/>
                <a:cs typeface="Raleway" pitchFamily="34" charset="-120"/>
              </a:rPr>
              <a:t> For defined project builds</a:t>
            </a:r>
            <a:endParaRPr lang="en-US" sz="1000"/>
          </a:p>
        </p:txBody>
      </p:sp>
      <p:pic>
        <p:nvPicPr>
          <p:cNvPr id="58" name="Image 14" descr="gen-dedup-06c19e2f143b52e69c4653630769d291.png"/>
          <p:cNvPicPr>
            <a:picLocks noChangeAspect="1"/>
          </p:cNvPicPr>
          <p:nvPr/>
        </p:nvPicPr>
        <p:blipFill>
          <a:blip r:embed="rId11"/>
          <a:srcRect t="-27726" b="-27726"/>
          <a:stretch/>
        </p:blipFill>
        <p:spPr>
          <a:xfrm>
            <a:off x="8229600" y="3038551"/>
            <a:ext cx="85954" cy="152705"/>
          </a:xfrm>
          <a:prstGeom prst="rect">
            <a:avLst/>
          </a:prstGeom>
        </p:spPr>
      </p:pic>
      <p:sp>
        <p:nvSpPr>
          <p:cNvPr id="59" name="Text 42"/>
          <p:cNvSpPr txBox="1"/>
          <p:nvPr/>
        </p:nvSpPr>
        <p:spPr>
          <a:xfrm>
            <a:off x="8410651" y="3000146"/>
            <a:ext cx="3038551" cy="191110"/>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Managed Service:</a:t>
            </a:r>
            <a:r>
              <a:rPr lang="en-US" sz="1000">
                <a:solidFill>
                  <a:srgbClr val="475569"/>
                </a:solidFill>
                <a:latin typeface="Raleway" pitchFamily="34" charset="0"/>
                <a:ea typeface="Raleway" pitchFamily="34" charset="-122"/>
                <a:cs typeface="Raleway" pitchFamily="34" charset="-120"/>
              </a:rPr>
              <a:t> SLA-driven operations</a:t>
            </a:r>
            <a:endParaRPr lang="en-US" sz="1000"/>
          </a:p>
        </p:txBody>
      </p:sp>
      <p:pic>
        <p:nvPicPr>
          <p:cNvPr id="60" name="Image 15" descr="gen-dedup-3678629b4a5ad6139a7cc5dcf1ee97ee.png"/>
          <p:cNvPicPr>
            <a:picLocks noChangeAspect="1"/>
          </p:cNvPicPr>
          <p:nvPr/>
        </p:nvPicPr>
        <p:blipFill>
          <a:blip r:embed="rId12"/>
          <a:srcRect t="-119879" b="-119879"/>
          <a:stretch/>
        </p:blipFill>
        <p:spPr>
          <a:xfrm>
            <a:off x="8229600" y="3343046"/>
            <a:ext cx="85954" cy="333756"/>
          </a:xfrm>
          <a:prstGeom prst="rect">
            <a:avLst/>
          </a:prstGeom>
        </p:spPr>
      </p:pic>
      <p:sp>
        <p:nvSpPr>
          <p:cNvPr id="61" name="Text 43"/>
          <p:cNvSpPr txBox="1"/>
          <p:nvPr/>
        </p:nvSpPr>
        <p:spPr>
          <a:xfrm>
            <a:off x="8410651" y="3305556"/>
            <a:ext cx="2943454" cy="381305"/>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Outcome-Based:</a:t>
            </a:r>
            <a:r>
              <a:rPr lang="en-US" sz="1000">
                <a:solidFill>
                  <a:srgbClr val="475569"/>
                </a:solidFill>
                <a:latin typeface="Raleway" pitchFamily="34" charset="0"/>
                <a:ea typeface="Raleway" pitchFamily="34" charset="-122"/>
                <a:cs typeface="Raleway" pitchFamily="34" charset="-120"/>
              </a:rPr>
              <a:t> Gain-share pricing tied to value</a:t>
            </a:r>
            <a:endParaRPr lang="en-US" sz="1000"/>
          </a:p>
        </p:txBody>
      </p:sp>
      <p:sp>
        <p:nvSpPr>
          <p:cNvPr id="62" name="Text 44"/>
          <p:cNvSpPr txBox="1"/>
          <p:nvPr/>
        </p:nvSpPr>
        <p:spPr>
          <a:xfrm>
            <a:off x="10650931" y="1848002"/>
            <a:ext cx="806501" cy="124358"/>
          </a:xfrm>
          <a:prstGeom prst="rect">
            <a:avLst/>
          </a:prstGeom>
          <a:noFill/>
          <a:ln/>
        </p:spPr>
        <p:txBody>
          <a:bodyPr wrap="square" lIns="0" tIns="0" rIns="0" bIns="0" rtlCol="0" anchor="ctr"/>
          <a:lstStyle/>
          <a:p>
            <a:pPr marL="0" indent="0" algn="l">
              <a:buNone/>
            </a:pPr>
            <a:r>
              <a:rPr lang="en-US" sz="800" b="1">
                <a:solidFill>
                  <a:srgbClr val="334155"/>
                </a:solidFill>
                <a:latin typeface="Roboto Condensed" pitchFamily="34" charset="0"/>
                <a:ea typeface="Roboto Condensed" pitchFamily="34" charset="-122"/>
                <a:cs typeface="Roboto Condensed" pitchFamily="34" charset="-120"/>
              </a:rPr>
              <a:t>PARTNERSHIP</a:t>
            </a:r>
            <a:endParaRPr lang="en-US" sz="800"/>
          </a:p>
        </p:txBody>
      </p:sp>
      <p:pic>
        <p:nvPicPr>
          <p:cNvPr id="63" name="Image 16" descr="gen-dedup-a2699a036d9634824b4953ceddf6835e.png"/>
          <p:cNvPicPr>
            <a:picLocks noChangeAspect="1"/>
          </p:cNvPicPr>
          <p:nvPr/>
        </p:nvPicPr>
        <p:blipFill>
          <a:blip r:embed="rId13"/>
          <a:srcRect t="-16800" b="-16800"/>
          <a:stretch/>
        </p:blipFill>
        <p:spPr>
          <a:xfrm>
            <a:off x="905256" y="4809744"/>
            <a:ext cx="114300" cy="152705"/>
          </a:xfrm>
          <a:prstGeom prst="rect">
            <a:avLst/>
          </a:prstGeom>
        </p:spPr>
      </p:pic>
      <p:sp>
        <p:nvSpPr>
          <p:cNvPr id="64" name="Text 45"/>
          <p:cNvSpPr txBox="1"/>
          <p:nvPr/>
        </p:nvSpPr>
        <p:spPr>
          <a:xfrm>
            <a:off x="1114654" y="4762195"/>
            <a:ext cx="3151937" cy="247802"/>
          </a:xfrm>
          <a:prstGeom prst="rect">
            <a:avLst/>
          </a:prstGeom>
          <a:noFill/>
          <a:ln/>
        </p:spPr>
        <p:txBody>
          <a:bodyPr wrap="square" lIns="0" tIns="0" rIns="0" bIns="0" rtlCol="0" anchor="ctr"/>
          <a:lstStyle/>
          <a:p>
            <a:pPr marL="0" indent="0" algn="l">
              <a:buNone/>
            </a:pPr>
            <a:r>
              <a:rPr lang="en-US" sz="1300" b="1" kern="0" spc="27">
                <a:solidFill>
                  <a:srgbClr val="1E293B"/>
                </a:solidFill>
                <a:latin typeface="Oswald" pitchFamily="34" charset="0"/>
                <a:ea typeface="Oswald" pitchFamily="34" charset="-122"/>
                <a:cs typeface="Oswald" pitchFamily="34" charset="-120"/>
              </a:rPr>
              <a:t>SAMPLE IMPLEMENTATION ROADMAP</a:t>
            </a:r>
            <a:endParaRPr lang="en-US" sz="1300"/>
          </a:p>
        </p:txBody>
      </p:sp>
      <p:sp>
        <p:nvSpPr>
          <p:cNvPr id="65" name="Text 46"/>
          <p:cNvSpPr txBox="1"/>
          <p:nvPr/>
        </p:nvSpPr>
        <p:spPr>
          <a:xfrm>
            <a:off x="1047902" y="5315407"/>
            <a:ext cx="719633" cy="133502"/>
          </a:xfrm>
          <a:prstGeom prst="rect">
            <a:avLst/>
          </a:prstGeom>
          <a:noFill/>
          <a:ln/>
        </p:spPr>
        <p:txBody>
          <a:bodyPr wrap="square" lIns="0" tIns="0" rIns="0" bIns="0" rtlCol="0" anchor="ctr"/>
          <a:lstStyle/>
          <a:p>
            <a:pPr marL="0" indent="0" algn="l">
              <a:buNone/>
            </a:pPr>
            <a:r>
              <a:rPr lang="en-US" sz="900" b="1">
                <a:solidFill>
                  <a:srgbClr val="2A9D8F"/>
                </a:solidFill>
                <a:latin typeface="Roboto Condensed" pitchFamily="34" charset="0"/>
                <a:ea typeface="Roboto Condensed" pitchFamily="34" charset="-122"/>
                <a:cs typeface="Roboto Condensed" pitchFamily="34" charset="-120"/>
              </a:rPr>
              <a:t>DISCOVERY</a:t>
            </a:r>
            <a:endParaRPr lang="en-US" sz="900"/>
          </a:p>
        </p:txBody>
      </p:sp>
      <p:sp>
        <p:nvSpPr>
          <p:cNvPr id="66" name="Text 47"/>
          <p:cNvSpPr txBox="1"/>
          <p:nvPr/>
        </p:nvSpPr>
        <p:spPr>
          <a:xfrm>
            <a:off x="3063240" y="5238598"/>
            <a:ext cx="18196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Q1</a:t>
            </a:r>
            <a:endParaRPr lang="en-US" sz="1200"/>
          </a:p>
        </p:txBody>
      </p:sp>
      <p:sp>
        <p:nvSpPr>
          <p:cNvPr id="67" name="Text 48"/>
          <p:cNvSpPr txBox="1"/>
          <p:nvPr/>
        </p:nvSpPr>
        <p:spPr>
          <a:xfrm>
            <a:off x="1047902" y="5505602"/>
            <a:ext cx="2162556"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Assess readiness, define scope, select initial use cases</a:t>
            </a:r>
            <a:endParaRPr lang="en-US" sz="900"/>
          </a:p>
        </p:txBody>
      </p:sp>
      <p:sp>
        <p:nvSpPr>
          <p:cNvPr id="68" name="Shape 49"/>
          <p:cNvSpPr/>
          <p:nvPr/>
        </p:nvSpPr>
        <p:spPr>
          <a:xfrm>
            <a:off x="1047902" y="6117336"/>
            <a:ext cx="562356" cy="9144"/>
          </a:xfrm>
          <a:prstGeom prst="rect">
            <a:avLst/>
          </a:prstGeom>
          <a:solidFill>
            <a:srgbClr val="E6F3F1"/>
          </a:solidFill>
          <a:ln w="12700">
            <a:solidFill>
              <a:srgbClr val="E6F3F1">
                <a:alpha val="0"/>
              </a:srgbClr>
            </a:solidFill>
            <a:prstDash val="solid"/>
          </a:ln>
        </p:spPr>
        <p:txBody>
          <a:bodyPr/>
          <a:lstStyle/>
          <a:p>
            <a:endParaRPr lang="en-US"/>
          </a:p>
        </p:txBody>
      </p:sp>
      <p:sp>
        <p:nvSpPr>
          <p:cNvPr id="69" name="Text 50"/>
          <p:cNvSpPr txBox="1"/>
          <p:nvPr/>
        </p:nvSpPr>
        <p:spPr>
          <a:xfrm>
            <a:off x="1104595" y="5964631"/>
            <a:ext cx="716890" cy="124358"/>
          </a:xfrm>
          <a:prstGeom prst="rect">
            <a:avLst/>
          </a:prstGeom>
          <a:noFill/>
          <a:ln/>
        </p:spPr>
        <p:txBody>
          <a:bodyPr wrap="square" lIns="0" tIns="0" rIns="0" bIns="0" rtlCol="0" anchor="ctr"/>
          <a:lstStyle/>
          <a:p>
            <a:pPr marL="0" indent="0" algn="l">
              <a:buNone/>
            </a:pPr>
            <a:r>
              <a:rPr lang="en-US" sz="800" b="1">
                <a:solidFill>
                  <a:srgbClr val="2A9D8F"/>
                </a:solidFill>
                <a:latin typeface="Raleway" pitchFamily="34" charset="0"/>
                <a:ea typeface="Raleway" pitchFamily="34" charset="-122"/>
                <a:cs typeface="Raleway" pitchFamily="34" charset="-120"/>
              </a:rPr>
              <a:t>Initiation</a:t>
            </a:r>
            <a:endParaRPr lang="en-US" sz="800"/>
          </a:p>
        </p:txBody>
      </p:sp>
      <p:pic>
        <p:nvPicPr>
          <p:cNvPr id="70" name="Image 17" descr="gen-dedup-6bab9f986820d248c4d42c53288c0e5d.png"/>
          <p:cNvPicPr>
            <a:picLocks noChangeAspect="1"/>
          </p:cNvPicPr>
          <p:nvPr/>
        </p:nvPicPr>
        <p:blipFill>
          <a:blip r:embed="rId14"/>
          <a:srcRect t="-5544" b="-5544"/>
          <a:stretch/>
        </p:blipFill>
        <p:spPr>
          <a:xfrm>
            <a:off x="3452774" y="5627218"/>
            <a:ext cx="105156" cy="133502"/>
          </a:xfrm>
          <a:prstGeom prst="rect">
            <a:avLst/>
          </a:prstGeom>
        </p:spPr>
      </p:pic>
      <p:sp>
        <p:nvSpPr>
          <p:cNvPr id="71" name="Text 51"/>
          <p:cNvSpPr txBox="1"/>
          <p:nvPr/>
        </p:nvSpPr>
        <p:spPr>
          <a:xfrm>
            <a:off x="3810305" y="5315407"/>
            <a:ext cx="864108" cy="133502"/>
          </a:xfrm>
          <a:prstGeom prst="rect">
            <a:avLst/>
          </a:prstGeom>
          <a:noFill/>
          <a:ln/>
        </p:spPr>
        <p:txBody>
          <a:bodyPr wrap="square" lIns="0" tIns="0" rIns="0" bIns="0" rtlCol="0" anchor="ctr"/>
          <a:lstStyle/>
          <a:p>
            <a:pPr marL="0" indent="0" algn="l">
              <a:buNone/>
            </a:pPr>
            <a:r>
              <a:rPr lang="en-US" sz="900" b="1">
                <a:solidFill>
                  <a:srgbClr val="D62839"/>
                </a:solidFill>
                <a:latin typeface="Roboto Condensed" pitchFamily="34" charset="0"/>
                <a:ea typeface="Roboto Condensed" pitchFamily="34" charset="-122"/>
                <a:cs typeface="Roboto Condensed" pitchFamily="34" charset="-120"/>
              </a:rPr>
              <a:t>PILOT / POC</a:t>
            </a:r>
            <a:endParaRPr lang="en-US" sz="900"/>
          </a:p>
        </p:txBody>
      </p:sp>
      <p:sp>
        <p:nvSpPr>
          <p:cNvPr id="72" name="Text 52"/>
          <p:cNvSpPr txBox="1"/>
          <p:nvPr/>
        </p:nvSpPr>
        <p:spPr>
          <a:xfrm>
            <a:off x="5807354" y="5238598"/>
            <a:ext cx="19659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Q2</a:t>
            </a:r>
            <a:endParaRPr lang="en-US" sz="1200"/>
          </a:p>
        </p:txBody>
      </p:sp>
      <p:sp>
        <p:nvSpPr>
          <p:cNvPr id="73" name="Text 53"/>
          <p:cNvSpPr txBox="1"/>
          <p:nvPr/>
        </p:nvSpPr>
        <p:spPr>
          <a:xfrm>
            <a:off x="3810305" y="5505602"/>
            <a:ext cx="2162556"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MVP build, user testing, architecture validation</a:t>
            </a:r>
            <a:endParaRPr lang="en-US" sz="900"/>
          </a:p>
        </p:txBody>
      </p:sp>
      <p:sp>
        <p:nvSpPr>
          <p:cNvPr id="74" name="Shape 54"/>
          <p:cNvSpPr/>
          <p:nvPr/>
        </p:nvSpPr>
        <p:spPr>
          <a:xfrm>
            <a:off x="3810305" y="5897880"/>
            <a:ext cx="629107" cy="219456"/>
          </a:xfrm>
          <a:prstGeom prst="roundRect">
            <a:avLst>
              <a:gd name="adj" fmla="val 144928"/>
            </a:avLst>
          </a:prstGeom>
          <a:solidFill>
            <a:srgbClr val="FEF2F2"/>
          </a:solidFill>
          <a:ln w="12700">
            <a:solidFill>
              <a:srgbClr val="FFFFFF">
                <a:alpha val="0"/>
              </a:srgbClr>
            </a:solidFill>
            <a:prstDash val="solid"/>
          </a:ln>
        </p:spPr>
        <p:txBody>
          <a:bodyPr/>
          <a:lstStyle/>
          <a:p>
            <a:endParaRPr lang="en-US"/>
          </a:p>
        </p:txBody>
      </p:sp>
      <p:sp>
        <p:nvSpPr>
          <p:cNvPr id="75" name="Text 55"/>
          <p:cNvSpPr txBox="1"/>
          <p:nvPr/>
        </p:nvSpPr>
        <p:spPr>
          <a:xfrm>
            <a:off x="3866998" y="5964631"/>
            <a:ext cx="726948" cy="124358"/>
          </a:xfrm>
          <a:prstGeom prst="rect">
            <a:avLst/>
          </a:prstGeom>
          <a:noFill/>
          <a:ln/>
        </p:spPr>
        <p:txBody>
          <a:bodyPr wrap="square" lIns="0" tIns="0" rIns="0" bIns="0" rtlCol="0" anchor="ctr"/>
          <a:lstStyle/>
          <a:p>
            <a:pPr marL="0" indent="0" algn="l">
              <a:buNone/>
            </a:pPr>
            <a:r>
              <a:rPr lang="en-US" sz="800" b="1">
                <a:solidFill>
                  <a:srgbClr val="D62839"/>
                </a:solidFill>
                <a:latin typeface="Raleway" pitchFamily="34" charset="0"/>
                <a:ea typeface="Raleway" pitchFamily="34" charset="-122"/>
                <a:cs typeface="Raleway" pitchFamily="34" charset="-120"/>
              </a:rPr>
              <a:t>Validation</a:t>
            </a:r>
            <a:endParaRPr lang="en-US" sz="800"/>
          </a:p>
        </p:txBody>
      </p:sp>
      <p:pic>
        <p:nvPicPr>
          <p:cNvPr id="76" name="Image 18" descr="gen-dedup-6bab9f986820d248c4d42c53288c0e5d.png"/>
          <p:cNvPicPr>
            <a:picLocks noChangeAspect="1"/>
          </p:cNvPicPr>
          <p:nvPr/>
        </p:nvPicPr>
        <p:blipFill>
          <a:blip r:embed="rId14"/>
          <a:srcRect t="-5544" b="-5544"/>
          <a:stretch/>
        </p:blipFill>
        <p:spPr>
          <a:xfrm>
            <a:off x="6215177" y="5627218"/>
            <a:ext cx="105156" cy="133502"/>
          </a:xfrm>
          <a:prstGeom prst="rect">
            <a:avLst/>
          </a:prstGeom>
        </p:spPr>
      </p:pic>
      <p:sp>
        <p:nvSpPr>
          <p:cNvPr id="77" name="Text 56"/>
          <p:cNvSpPr txBox="1"/>
          <p:nvPr/>
        </p:nvSpPr>
        <p:spPr>
          <a:xfrm>
            <a:off x="6572707" y="5315407"/>
            <a:ext cx="402336" cy="133502"/>
          </a:xfrm>
          <a:prstGeom prst="rect">
            <a:avLst/>
          </a:prstGeom>
          <a:noFill/>
          <a:ln/>
        </p:spPr>
        <p:txBody>
          <a:bodyPr wrap="square" lIns="0" tIns="0" rIns="0" bIns="0" rtlCol="0" anchor="ctr"/>
          <a:lstStyle/>
          <a:p>
            <a:pPr marL="0" indent="0" algn="l">
              <a:buNone/>
            </a:pPr>
            <a:r>
              <a:rPr lang="en-US" sz="900" b="1">
                <a:solidFill>
                  <a:srgbClr val="1E293B"/>
                </a:solidFill>
                <a:latin typeface="Roboto Condensed" pitchFamily="34" charset="0"/>
                <a:ea typeface="Roboto Condensed" pitchFamily="34" charset="-122"/>
                <a:cs typeface="Roboto Condensed" pitchFamily="34" charset="-120"/>
              </a:rPr>
              <a:t>SCALE</a:t>
            </a:r>
            <a:endParaRPr lang="en-US" sz="900"/>
          </a:p>
        </p:txBody>
      </p:sp>
      <p:sp>
        <p:nvSpPr>
          <p:cNvPr id="78" name="Text 57"/>
          <p:cNvSpPr txBox="1"/>
          <p:nvPr/>
        </p:nvSpPr>
        <p:spPr>
          <a:xfrm>
            <a:off x="8569757" y="5238598"/>
            <a:ext cx="19659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Q3</a:t>
            </a:r>
            <a:endParaRPr lang="en-US" sz="1200"/>
          </a:p>
        </p:txBody>
      </p:sp>
      <p:sp>
        <p:nvSpPr>
          <p:cNvPr id="79" name="Text 58"/>
          <p:cNvSpPr txBox="1"/>
          <p:nvPr/>
        </p:nvSpPr>
        <p:spPr>
          <a:xfrm>
            <a:off x="6572707" y="5505602"/>
            <a:ext cx="2162556"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Production deployment, integration, vendor onboarding</a:t>
            </a:r>
            <a:endParaRPr lang="en-US" sz="900"/>
          </a:p>
        </p:txBody>
      </p:sp>
      <p:sp>
        <p:nvSpPr>
          <p:cNvPr id="80" name="Shape 59"/>
          <p:cNvSpPr/>
          <p:nvPr/>
        </p:nvSpPr>
        <p:spPr>
          <a:xfrm>
            <a:off x="6572707" y="5897880"/>
            <a:ext cx="619049" cy="219456"/>
          </a:xfrm>
          <a:prstGeom prst="roundRect">
            <a:avLst>
              <a:gd name="adj" fmla="val 144928"/>
            </a:avLst>
          </a:prstGeom>
          <a:solidFill>
            <a:srgbClr val="F1F5F9"/>
          </a:solidFill>
          <a:ln w="12700">
            <a:solidFill>
              <a:srgbClr val="FFFFFF">
                <a:alpha val="0"/>
              </a:srgbClr>
            </a:solidFill>
            <a:prstDash val="solid"/>
          </a:ln>
        </p:spPr>
        <p:txBody>
          <a:bodyPr/>
          <a:lstStyle/>
          <a:p>
            <a:endParaRPr lang="en-US"/>
          </a:p>
        </p:txBody>
      </p:sp>
      <p:sp>
        <p:nvSpPr>
          <p:cNvPr id="81" name="Text 60"/>
          <p:cNvSpPr txBox="1"/>
          <p:nvPr/>
        </p:nvSpPr>
        <p:spPr>
          <a:xfrm>
            <a:off x="6629400" y="5964631"/>
            <a:ext cx="661111" cy="124358"/>
          </a:xfrm>
          <a:prstGeom prst="rect">
            <a:avLst/>
          </a:prstGeom>
          <a:noFill/>
          <a:ln/>
        </p:spPr>
        <p:txBody>
          <a:bodyPr wrap="square" lIns="0" tIns="0" rIns="0" bIns="0" rtlCol="0" anchor="ctr"/>
          <a:lstStyle/>
          <a:p>
            <a:pPr marL="0" indent="0" algn="l">
              <a:buNone/>
            </a:pPr>
            <a:r>
              <a:rPr lang="en-US" sz="800" b="1">
                <a:solidFill>
                  <a:srgbClr val="475569"/>
                </a:solidFill>
                <a:latin typeface="Raleway" pitchFamily="34" charset="0"/>
                <a:ea typeface="Raleway" pitchFamily="34" charset="-122"/>
                <a:cs typeface="Raleway" pitchFamily="34" charset="-120"/>
              </a:rPr>
              <a:t>Execution</a:t>
            </a:r>
            <a:endParaRPr lang="en-US" sz="800"/>
          </a:p>
        </p:txBody>
      </p:sp>
      <p:pic>
        <p:nvPicPr>
          <p:cNvPr id="82" name="Image 19" descr="gen-dedup-6bab9f986820d248c4d42c53288c0e5d.png"/>
          <p:cNvPicPr>
            <a:picLocks noChangeAspect="1"/>
          </p:cNvPicPr>
          <p:nvPr/>
        </p:nvPicPr>
        <p:blipFill>
          <a:blip r:embed="rId14"/>
          <a:srcRect t="-5544" b="-5544"/>
          <a:stretch/>
        </p:blipFill>
        <p:spPr>
          <a:xfrm>
            <a:off x="8977579" y="5627218"/>
            <a:ext cx="105156" cy="133502"/>
          </a:xfrm>
          <a:prstGeom prst="rect">
            <a:avLst/>
          </a:prstGeom>
        </p:spPr>
      </p:pic>
      <p:sp>
        <p:nvSpPr>
          <p:cNvPr id="83" name="Text 61"/>
          <p:cNvSpPr txBox="1"/>
          <p:nvPr/>
        </p:nvSpPr>
        <p:spPr>
          <a:xfrm>
            <a:off x="9334195" y="5315407"/>
            <a:ext cx="637337" cy="133502"/>
          </a:xfrm>
          <a:prstGeom prst="rect">
            <a:avLst/>
          </a:prstGeom>
          <a:noFill/>
          <a:ln/>
        </p:spPr>
        <p:txBody>
          <a:bodyPr wrap="square" lIns="0" tIns="0" rIns="0" bIns="0" rtlCol="0" anchor="ctr"/>
          <a:lstStyle/>
          <a:p>
            <a:pPr marL="0" indent="0" algn="l">
              <a:buNone/>
            </a:pPr>
            <a:r>
              <a:rPr lang="en-US" sz="900" b="1">
                <a:solidFill>
                  <a:srgbClr val="1E293B"/>
                </a:solidFill>
                <a:latin typeface="Roboto Condensed" pitchFamily="34" charset="0"/>
                <a:ea typeface="Roboto Condensed" pitchFamily="34" charset="-122"/>
                <a:cs typeface="Roboto Condensed" pitchFamily="34" charset="-120"/>
              </a:rPr>
              <a:t>OPTIMIZE</a:t>
            </a:r>
            <a:endParaRPr lang="en-US" sz="900"/>
          </a:p>
        </p:txBody>
      </p:sp>
      <p:sp>
        <p:nvSpPr>
          <p:cNvPr id="84" name="Text 62"/>
          <p:cNvSpPr txBox="1"/>
          <p:nvPr/>
        </p:nvSpPr>
        <p:spPr>
          <a:xfrm>
            <a:off x="11044123" y="5238598"/>
            <a:ext cx="19659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Q4</a:t>
            </a:r>
            <a:endParaRPr lang="en-US" sz="1200"/>
          </a:p>
        </p:txBody>
      </p:sp>
      <p:sp>
        <p:nvSpPr>
          <p:cNvPr id="85" name="Text 63"/>
          <p:cNvSpPr txBox="1"/>
          <p:nvPr/>
        </p:nvSpPr>
        <p:spPr>
          <a:xfrm>
            <a:off x="9334195" y="5505602"/>
            <a:ext cx="1877263"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Run ops, process tuning, continuous improvement</a:t>
            </a:r>
            <a:endParaRPr lang="en-US" sz="900"/>
          </a:p>
        </p:txBody>
      </p:sp>
      <p:sp>
        <p:nvSpPr>
          <p:cNvPr id="86" name="Text 64"/>
          <p:cNvSpPr txBox="1"/>
          <p:nvPr/>
        </p:nvSpPr>
        <p:spPr>
          <a:xfrm>
            <a:off x="9391802" y="5964631"/>
            <a:ext cx="737006" cy="124358"/>
          </a:xfrm>
          <a:prstGeom prst="rect">
            <a:avLst/>
          </a:prstGeom>
          <a:noFill/>
          <a:ln/>
        </p:spPr>
        <p:txBody>
          <a:bodyPr wrap="square" lIns="0" tIns="0" rIns="0" bIns="0" rtlCol="0" anchor="ctr"/>
          <a:lstStyle/>
          <a:p>
            <a:pPr marL="0" indent="0" algn="l">
              <a:buNone/>
            </a:pPr>
            <a:r>
              <a:rPr lang="en-US" sz="800" b="1">
                <a:solidFill>
                  <a:srgbClr val="64748B"/>
                </a:solidFill>
                <a:latin typeface="Raleway" pitchFamily="34" charset="0"/>
                <a:ea typeface="Raleway" pitchFamily="34" charset="-122"/>
                <a:cs typeface="Raleway" pitchFamily="34" charset="-120"/>
              </a:rPr>
              <a:t>Refinement</a:t>
            </a:r>
            <a:endParaRPr lang="en-US" sz="800"/>
          </a:p>
        </p:txBody>
      </p:sp>
    </p:spTree>
    <p:extLst>
      <p:ext uri="{BB962C8B-B14F-4D97-AF65-F5344CB8AC3E}">
        <p14:creationId xmlns:p14="http://schemas.microsoft.com/office/powerpoint/2010/main" val="1153050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8382305" y="-1429207"/>
            <a:ext cx="4762195" cy="4762195"/>
          </a:xfrm>
          <a:prstGeom prst="ellipse">
            <a:avLst/>
          </a:prstGeom>
          <a:solidFill>
            <a:srgbClr val="2A9D8F">
              <a:alpha val="3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952805" y="4476902"/>
            <a:ext cx="3810305" cy="3810305"/>
          </a:xfrm>
          <a:prstGeom prst="ellipse">
            <a:avLst/>
          </a:prstGeom>
          <a:solidFill>
            <a:srgbClr val="D62839">
              <a:alpha val="2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 name="Image 0" descr="preencoded.png"/>
          <p:cNvPicPr>
            <a:picLocks noChangeAspect="1"/>
          </p:cNvPicPr>
          <p:nvPr/>
        </p:nvPicPr>
        <p:blipFill>
          <a:blip r:embed="rId3"/>
          <a:srcRect l="-202" r="-202"/>
          <a:stretch/>
        </p:blipFill>
        <p:spPr>
          <a:xfrm>
            <a:off x="0" y="6782105"/>
            <a:ext cx="8128102" cy="75895"/>
          </a:xfrm>
          <a:prstGeom prst="rect">
            <a:avLst/>
          </a:prstGeom>
        </p:spPr>
      </p:pic>
      <p:pic>
        <p:nvPicPr>
          <p:cNvPr id="7" name="Image 1" descr="preencoded.png"/>
          <p:cNvPicPr>
            <a:picLocks noChangeAspect="1"/>
          </p:cNvPicPr>
          <p:nvPr/>
        </p:nvPicPr>
        <p:blipFill>
          <a:blip r:embed="rId4"/>
          <a:srcRect l="-197" r="-197"/>
          <a:stretch/>
        </p:blipFill>
        <p:spPr>
          <a:xfrm>
            <a:off x="8128102" y="6782105"/>
            <a:ext cx="4063594" cy="75895"/>
          </a:xfrm>
          <a:prstGeom prst="rect">
            <a:avLst/>
          </a:prstGeom>
        </p:spPr>
      </p:pic>
      <p:pic>
        <p:nvPicPr>
          <p:cNvPr id="8" name="Image 2" descr="preencoded.png"/>
          <p:cNvPicPr>
            <a:picLocks noChangeAspect="1"/>
          </p:cNvPicPr>
          <p:nvPr/>
        </p:nvPicPr>
        <p:blipFill>
          <a:blip r:embed="rId5"/>
          <a:srcRect t="60" b="60"/>
          <a:stretch/>
        </p:blipFill>
        <p:spPr>
          <a:xfrm>
            <a:off x="4121201" y="914400"/>
            <a:ext cx="3952951" cy="1904695"/>
          </a:xfrm>
          <a:prstGeom prst="rect">
            <a:avLst/>
          </a:prstGeom>
        </p:spPr>
      </p:pic>
      <p:pic>
        <p:nvPicPr>
          <p:cNvPr id="9" name="Image 3" descr="preencoded.png"/>
          <p:cNvPicPr>
            <a:picLocks noChangeAspect="1"/>
          </p:cNvPicPr>
          <p:nvPr/>
        </p:nvPicPr>
        <p:blipFill>
          <a:blip r:embed="rId6"/>
          <a:srcRect t="-420" b="-420"/>
          <a:stretch/>
        </p:blipFill>
        <p:spPr>
          <a:xfrm>
            <a:off x="5715000" y="3276295"/>
            <a:ext cx="761695" cy="38405"/>
          </a:xfrm>
          <a:prstGeom prst="rect">
            <a:avLst/>
          </a:prstGeom>
        </p:spPr>
      </p:pic>
      <p:sp>
        <p:nvSpPr>
          <p:cNvPr id="10" name="Text 4"/>
          <p:cNvSpPr txBox="1"/>
          <p:nvPr/>
        </p:nvSpPr>
        <p:spPr>
          <a:xfrm>
            <a:off x="3536899" y="3619195"/>
            <a:ext cx="5125212" cy="5715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0" i="1" u="none" strike="noStrike" kern="0" cap="none" spc="150" normalizeH="0" baseline="0" noProof="0">
                <a:ln>
                  <a:noFill/>
                </a:ln>
                <a:solidFill>
                  <a:srgbClr val="4B5563"/>
                </a:solidFill>
                <a:effectLst/>
                <a:uLnTx/>
                <a:uFillTx/>
                <a:latin typeface="Raleway" pitchFamily="34" charset="0"/>
                <a:ea typeface="Raleway" pitchFamily="34" charset="-122"/>
                <a:cs typeface="Raleway" pitchFamily="34" charset="-120"/>
              </a:rPr>
              <a:t>"Let's win together"</a:t>
            </a:r>
            <a:endParaRPr kumimoji="0" lang="en-US" sz="30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1" name="Image 4" descr="preencoded.png"/>
          <p:cNvPicPr>
            <a:picLocks noChangeAspect="1"/>
          </p:cNvPicPr>
          <p:nvPr/>
        </p:nvPicPr>
        <p:blipFill>
          <a:blip r:embed="rId7"/>
          <a:srcRect/>
          <a:stretch/>
        </p:blipFill>
        <p:spPr>
          <a:xfrm>
            <a:off x="761695" y="5410505"/>
            <a:ext cx="761695" cy="761695"/>
          </a:xfrm>
          <a:prstGeom prst="rect">
            <a:avLst/>
          </a:prstGeom>
        </p:spPr>
      </p:pic>
      <p:pic>
        <p:nvPicPr>
          <p:cNvPr id="12" name="Image 5" descr="preencoded.png"/>
          <p:cNvPicPr>
            <a:picLocks noChangeAspect="1"/>
          </p:cNvPicPr>
          <p:nvPr/>
        </p:nvPicPr>
        <p:blipFill>
          <a:blip r:embed="rId8"/>
          <a:srcRect l="81" r="81"/>
          <a:stretch/>
        </p:blipFill>
        <p:spPr>
          <a:xfrm>
            <a:off x="3189427" y="5658307"/>
            <a:ext cx="809244" cy="267005"/>
          </a:xfrm>
          <a:prstGeom prst="rect">
            <a:avLst/>
          </a:prstGeom>
        </p:spPr>
      </p:pic>
      <p:pic>
        <p:nvPicPr>
          <p:cNvPr id="13" name="Image 6" descr="preencoded.png"/>
          <p:cNvPicPr>
            <a:picLocks noChangeAspect="1"/>
          </p:cNvPicPr>
          <p:nvPr/>
        </p:nvPicPr>
        <p:blipFill>
          <a:blip r:embed="rId9"/>
          <a:srcRect l="7" r="7"/>
          <a:stretch/>
        </p:blipFill>
        <p:spPr>
          <a:xfrm>
            <a:off x="5665622" y="5453482"/>
            <a:ext cx="724205" cy="676656"/>
          </a:xfrm>
          <a:prstGeom prst="rect">
            <a:avLst/>
          </a:prstGeom>
        </p:spPr>
      </p:pic>
      <p:pic>
        <p:nvPicPr>
          <p:cNvPr id="14" name="Image 7" descr="preencoded.png"/>
          <p:cNvPicPr>
            <a:picLocks noChangeAspect="1"/>
          </p:cNvPicPr>
          <p:nvPr/>
        </p:nvPicPr>
        <p:blipFill>
          <a:blip r:embed="rId10"/>
          <a:srcRect t="236" b="236"/>
          <a:stretch/>
        </p:blipFill>
        <p:spPr>
          <a:xfrm>
            <a:off x="8054950" y="5410505"/>
            <a:ext cx="1257300" cy="761695"/>
          </a:xfrm>
          <a:prstGeom prst="rect">
            <a:avLst/>
          </a:prstGeom>
        </p:spPr>
      </p:pic>
      <p:pic>
        <p:nvPicPr>
          <p:cNvPr id="15" name="Image 8" descr="preencoded.png"/>
          <p:cNvPicPr>
            <a:picLocks noChangeAspect="1"/>
          </p:cNvPicPr>
          <p:nvPr/>
        </p:nvPicPr>
        <p:blipFill>
          <a:blip r:embed="rId11"/>
          <a:srcRect t="23" b="24"/>
          <a:stretch/>
        </p:blipFill>
        <p:spPr>
          <a:xfrm>
            <a:off x="10972800" y="5548579"/>
            <a:ext cx="457200" cy="485546"/>
          </a:xfrm>
          <a:prstGeom prst="rect">
            <a:avLst/>
          </a:prstGeom>
        </p:spPr>
      </p:pic>
      <p:pic>
        <p:nvPicPr>
          <p:cNvPr id="16" name="Image 9" descr="preencoded.png"/>
          <p:cNvPicPr>
            <a:picLocks noChangeAspect="1"/>
          </p:cNvPicPr>
          <p:nvPr/>
        </p:nvPicPr>
        <p:blipFill>
          <a:blip r:embed="rId4"/>
          <a:srcRect l="-197" r="-197"/>
          <a:stretch/>
        </p:blipFill>
        <p:spPr>
          <a:xfrm>
            <a:off x="0" y="0"/>
            <a:ext cx="4063594" cy="75895"/>
          </a:xfrm>
          <a:prstGeom prst="rect">
            <a:avLst/>
          </a:prstGeom>
        </p:spPr>
      </p:pic>
      <p:pic>
        <p:nvPicPr>
          <p:cNvPr id="17" name="Image 10" descr="preencoded.png"/>
          <p:cNvPicPr>
            <a:picLocks noChangeAspect="1"/>
          </p:cNvPicPr>
          <p:nvPr/>
        </p:nvPicPr>
        <p:blipFill>
          <a:blip r:embed="rId3"/>
          <a:srcRect l="-202" r="-202"/>
          <a:stretch/>
        </p:blipFill>
        <p:spPr>
          <a:xfrm>
            <a:off x="4063594" y="0"/>
            <a:ext cx="8128102" cy="75895"/>
          </a:xfrm>
          <a:prstGeom prst="rect">
            <a:avLst/>
          </a:prstGeom>
        </p:spPr>
      </p:pic>
    </p:spTree>
    <p:extLst>
      <p:ext uri="{BB962C8B-B14F-4D97-AF65-F5344CB8AC3E}">
        <p14:creationId xmlns:p14="http://schemas.microsoft.com/office/powerpoint/2010/main" val="24674747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31952</Words>
  <Application>Microsoft Office PowerPoint</Application>
  <PresentationFormat>Widescreen</PresentationFormat>
  <Paragraphs>3438</Paragraphs>
  <Slides>132</Slides>
  <Notes>132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132</vt:i4>
      </vt:variant>
    </vt:vector>
  </HeadingPairs>
  <TitlesOfParts>
    <vt:vector size="139" baseType="lpstr">
      <vt:lpstr>Aptos</vt:lpstr>
      <vt:lpstr>Arial</vt:lpstr>
      <vt:lpstr>Calibri</vt:lpstr>
      <vt:lpstr>Oswald</vt:lpstr>
      <vt:lpstr>Raleway</vt:lpstr>
      <vt:lpstr>Roboto Condensed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Master Case Study Portfolio</dc:title>
  <dc:subject>PptxGenJS Presentation</dc:subject>
  <dc:creator>J2W</dc:creator>
  <cp:lastModifiedBy>Athithia Krishna</cp:lastModifiedBy>
  <cp:revision>4</cp:revision>
  <dcterms:created xsi:type="dcterms:W3CDTF">2026-06-22T10:46:20Z</dcterms:created>
  <dcterms:modified xsi:type="dcterms:W3CDTF">2026-06-23T05:19:06Z</dcterms:modified>
</cp:coreProperties>
</file>