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0"/>
  </p:notesMasterIdLst>
  <p:sldIdLst>
    <p:sldId id="2147483328" r:id="rId2"/>
    <p:sldId id="2147483329" r:id="rId3"/>
    <p:sldId id="2147483330" r:id="rId12"/>
    <p:sldId id="2147483331" r:id="rId13"/>
    <p:sldId id="2147483332" r:id="rId14"/>
    <p:sldId id="2147483305" r:id="rId8"/>
    <p:sldId id="299" r:id="rId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09984CD-E0AE-483E-8716-12DE2F9F24C4}" v="3" dt="2026-06-22T11:16:53.65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3" d="100"/>
          <a:sy n="63" d="100"/>
        </p:scale>
        <p:origin x="78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40" Type="http://schemas.openxmlformats.org/officeDocument/2006/relationships/notesMaster" Target="notesMasters/notesMaster1.xml"/><Relationship Id="rId141" Type="http://schemas.openxmlformats.org/officeDocument/2006/relationships/presProps" Target="presProps.xml"/><Relationship Id="rId142" Type="http://schemas.openxmlformats.org/officeDocument/2006/relationships/viewProps" Target="viewProps.xml"/><Relationship Id="rId143" Type="http://schemas.openxmlformats.org/officeDocument/2006/relationships/theme" Target="theme/theme1.xml"/><Relationship Id="rId144" Type="http://schemas.openxmlformats.org/officeDocument/2006/relationships/tableStyles" Target="tableStyles.xml"/><Relationship Id="rId145" Type="http://schemas.microsoft.com/office/2015/10/relationships/revisionInfo" Target="revisionInfo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autoTitleDeleted val="1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Consultants</c:v>
                </c:pt>
              </c:strCache>
            </c:strRef>
          </c:tx>
          <c:dPt>
            <c:idx val="0"/>
            <c:spPr>
              <a:solidFill>
                <a:srgbClr val="E06C1F"/>
              </a:solidFill>
            </c:spPr>
          </c:dPt>
          <c:dPt>
            <c:idx val="1"/>
            <c:spPr>
              <a:solidFill>
                <a:srgbClr val="7B4EA5"/>
              </a:solidFill>
            </c:spPr>
          </c:dPt>
          <c:dPt>
            <c:idx val="2"/>
            <c:spPr>
              <a:solidFill>
                <a:srgbClr val="2A7EBC"/>
              </a:solidFill>
            </c:spPr>
          </c:dPt>
          <c:dPt>
            <c:idx val="3"/>
            <c:spPr>
              <a:solidFill>
                <a:srgbClr val="B82E2E"/>
              </a:solidFill>
            </c:spPr>
          </c:dPt>
          <c:dPt>
            <c:idx val="4"/>
            <c:spPr>
              <a:solidFill>
                <a:srgbClr val="F5A623"/>
              </a:solidFill>
            </c:spPr>
          </c:dPt>
          <c:dPt>
            <c:idx val="5"/>
            <c:spPr>
              <a:solidFill>
                <a:srgbClr val="8B5C2A"/>
              </a:solidFill>
            </c:spPr>
          </c:dPt>
          <c:dPt>
            <c:idx val="6"/>
            <c:spPr>
              <a:solidFill>
                <a:srgbClr val="D45E9A"/>
              </a:solidFill>
            </c:spPr>
          </c:dPt>
          <c:cat>
            <c:strRef>
              <c:f>Sheet1!$A$2:$A$8</c:f>
              <c:strCache>
                <c:ptCount val="7"/>
                <c:pt idx="0">
                  <c:v>Other / Specialist</c:v>
                </c:pt>
                <c:pt idx="1">
                  <c:v>Software Engineering</c:v>
                </c:pt>
                <c:pt idx="2">
                  <c:v>Data &amp; Analytics</c:v>
                </c:pt>
                <c:pt idx="3">
                  <c:v>Infrastructure &amp; Networking</c:v>
                </c:pt>
                <c:pt idx="4">
                  <c:v>Business &amp; Operations</c:v>
                </c:pt>
                <c:pt idx="5">
                  <c:v>Quality Engineering &amp; Testing</c:v>
                </c:pt>
                <c:pt idx="6">
                  <c:v>Customer &amp; Technical Support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67</c:v>
                </c:pt>
                <c:pt idx="1">
                  <c:v>54</c:v>
                </c:pt>
                <c:pt idx="2">
                  <c:v>16</c:v>
                </c:pt>
                <c:pt idx="3">
                  <c:v>10</c:v>
                </c:pt>
                <c:pt idx="4">
                  <c:v>7</c:v>
                </c:pt>
                <c:pt idx="5">
                  <c:v>6</c:v>
                </c:pt>
                <c:pt idx="6">
                  <c:v>3</c:v>
                </c:pt>
              </c:numCache>
            </c:numRef>
          </c:val>
        </c:ser>
        <c:dLbls>
          <c:dLblPos val="inEnd"/>
          <c:showLegendKey val="0"/>
          <c:showVal val="0"/>
          <c:showCatName val="0"/>
          <c:showSerName val="0"/>
          <c:showPercent val="1"/>
          <c:showBubbleSize val="0"/>
          <c:showLeaderLines val="1"/>
        </c:dLbls>
      </c:pieChart>
    </c:plotArea>
    <c:legend>
      <c:legendPos/>
      <c:overlay val="0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Consultants</c:v>
                </c:pt>
              </c:strCache>
            </c:strRef>
          </c:tx>
          <c:spPr>
            <a:solidFill>
              <a:srgbClr val="2C6E66"/>
            </a:solidFill>
          </c:spPr>
          <c:cat>
            <c:strRef>
              <c:f>Sheet1!$A$2:$A$3</c:f>
              <c:strCache>
                <c:ptCount val="2"/>
                <c:pt idx="0">
                  <c:v>Java</c:v>
                </c:pt>
                <c:pt idx="1">
                  <c:v>QA &amp; Testing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123</c:v>
                </c:pt>
                <c:pt idx="1">
                  <c:v>108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Consultants</c:v>
                </c:pt>
              </c:strCache>
            </c:strRef>
          </c:tx>
          <c:spPr>
            <a:solidFill>
              <a:srgbClr val="2C6E66"/>
            </a:solidFill>
          </c:spPr>
          <c:cat>
            <c:strRef>
              <c:f>Sheet1!$A$2:$A$7</c:f>
              <c:strCache>
                <c:ptCount val="6"/>
                <c:pt idx="0">
                  <c:v>Software Engineering</c:v>
                </c:pt>
                <c:pt idx="1">
                  <c:v>Other / Specialist</c:v>
                </c:pt>
                <c:pt idx="2">
                  <c:v>Data &amp; Analytics</c:v>
                </c:pt>
                <c:pt idx="3">
                  <c:v>Business &amp; Operations</c:v>
                </c:pt>
                <c:pt idx="4">
                  <c:v>Infrastructure &amp; Networking</c:v>
                </c:pt>
                <c:pt idx="5">
                  <c:v>Quality Engineering &amp; Testing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45</c:v>
                </c:pt>
                <c:pt idx="1">
                  <c:v>35</c:v>
                </c:pt>
                <c:pt idx="2">
                  <c:v>11</c:v>
                </c:pt>
                <c:pt idx="3">
                  <c:v>7</c:v>
                </c:pt>
                <c:pt idx="4">
                  <c:v>2</c:v>
                </c:pt>
                <c:pt idx="5">
                  <c:v>1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518319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J2W_ID: CS01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J2W_ID: CS02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J2W_ID: CS07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J2W_ID: CS08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69551862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4.png"/><Relationship Id="rId7" Type="http://schemas.openxmlformats.org/officeDocument/2006/relationships/image" Target="../media/image5.png"/><Relationship Id="rId8" Type="http://schemas.openxmlformats.org/officeDocument/2006/relationships/image" Target="../media/image6.png"/><Relationship Id="rId9" Type="http://schemas.openxmlformats.org/officeDocument/2006/relationships/image" Target="../media/image7.png"/><Relationship Id="rId10" Type="http://schemas.openxmlformats.org/officeDocument/2006/relationships/image" Target="../media/image8.png"/><Relationship Id="rId11" Type="http://schemas.openxmlformats.org/officeDocument/2006/relationships/image" Target="../media/image9.png"/><Relationship Id="rId12" Type="http://schemas.openxmlformats.org/officeDocument/2006/relationships/image" Target="../media/image10.png"/><Relationship Id="rId13" Type="http://schemas.openxmlformats.org/officeDocument/2006/relationships/image" Target="../media/image11.png"/><Relationship Id="rId14" Type="http://schemas.openxmlformats.org/officeDocument/2006/relationships/image" Target="../media/image12.png"/><Relationship Id="rId15" Type="http://schemas.openxmlformats.org/officeDocument/2006/relationships/image" Target="../media/image13.png"/><Relationship Id="rId16" Type="http://schemas.openxmlformats.org/officeDocument/2006/relationships/image" Target="../media/image14.png"/><Relationship Id="rId17" Type="http://schemas.openxmlformats.org/officeDocument/2006/relationships/image" Target="../media/image15.png"/><Relationship Id="rId18" Type="http://schemas.openxmlformats.org/officeDocument/2006/relationships/image" Target="../media/image16.png"/><Relationship Id="rId19" Type="http://schemas.openxmlformats.org/officeDocument/2006/relationships/image" Target="../media/image17.png"/><Relationship Id="rId20" Type="http://schemas.openxmlformats.org/officeDocument/2006/relationships/image" Target="../media/image18.jpeg"/><Relationship Id="rId21" Type="http://schemas.openxmlformats.org/officeDocument/2006/relationships/image" Target="../media/image19.jpeg"/><Relationship Id="rId22" Type="http://schemas.openxmlformats.org/officeDocument/2006/relationships/image" Target="../media/image20.png"/><Relationship Id="rId23" Type="http://schemas.openxmlformats.org/officeDocument/2006/relationships/image" Target="../media/image21.png"/><Relationship Id="rId24" Type="http://schemas.openxmlformats.org/officeDocument/2006/relationships/image" Target="../media/image2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3.png"/><Relationship Id="rId4" Type="http://schemas.openxmlformats.org/officeDocument/2006/relationships/image" Target="../media/image24.png"/><Relationship Id="rId5" Type="http://schemas.openxmlformats.org/officeDocument/2006/relationships/image" Target="../media/image25.png"/><Relationship Id="rId6" Type="http://schemas.openxmlformats.org/officeDocument/2006/relationships/image" Target="../media/image26.png"/><Relationship Id="rId7" Type="http://schemas.openxmlformats.org/officeDocument/2006/relationships/image" Target="../media/image27.png"/><Relationship Id="rId8" Type="http://schemas.openxmlformats.org/officeDocument/2006/relationships/image" Target="../media/image28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5.png"/><Relationship Id="rId4" Type="http://schemas.openxmlformats.org/officeDocument/2006/relationships/image" Target="../media/image24.png"/><Relationship Id="rId5" Type="http://schemas.openxmlformats.org/officeDocument/2006/relationships/image" Target="../media/image53.png"/><Relationship Id="rId6" Type="http://schemas.openxmlformats.org/officeDocument/2006/relationships/image" Target="../media/image54.png"/><Relationship Id="rId7" Type="http://schemas.openxmlformats.org/officeDocument/2006/relationships/image" Target="../media/image55.png"/><Relationship Id="rId8" Type="http://schemas.openxmlformats.org/officeDocument/2006/relationships/image" Target="../media/image56.png"/><Relationship Id="rId9" Type="http://schemas.openxmlformats.org/officeDocument/2006/relationships/image" Target="../media/image57.png"/><Relationship Id="rId10" Type="http://schemas.openxmlformats.org/officeDocument/2006/relationships/image" Target="../media/image58.png"/><Relationship Id="rId11" Type="http://schemas.openxmlformats.org/officeDocument/2006/relationships/image" Target="../media/image59.png"/><Relationship Id="rId12" Type="http://schemas.openxmlformats.org/officeDocument/2006/relationships/image" Target="../media/image60.png"/><Relationship Id="rId13" Type="http://schemas.openxmlformats.org/officeDocument/2006/relationships/image" Target="../media/image61.png"/><Relationship Id="rId14" Type="http://schemas.openxmlformats.org/officeDocument/2006/relationships/image" Target="../media/image6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4.png"/><Relationship Id="rId4" Type="http://schemas.openxmlformats.org/officeDocument/2006/relationships/image" Target="../media/image35.png"/><Relationship Id="rId5" Type="http://schemas.openxmlformats.org/officeDocument/2006/relationships/image" Target="../media/image4.png"/><Relationship Id="rId6" Type="http://schemas.openxmlformats.org/officeDocument/2006/relationships/image" Target="../media/image63.png"/><Relationship Id="rId7" Type="http://schemas.openxmlformats.org/officeDocument/2006/relationships/image" Target="../media/image64.jpeg"/><Relationship Id="rId8" Type="http://schemas.openxmlformats.org/officeDocument/2006/relationships/image" Target="../media/image65.jpeg"/><Relationship Id="rId9" Type="http://schemas.openxmlformats.org/officeDocument/2006/relationships/image" Target="../media/image66.jpeg"/><Relationship Id="rId10" Type="http://schemas.openxmlformats.org/officeDocument/2006/relationships/image" Target="../media/image67.jpeg"/><Relationship Id="rId11" Type="http://schemas.openxmlformats.org/officeDocument/2006/relationships/image" Target="../media/image68.jpe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-2-1.png"/><Relationship Id="rId3" Type="http://schemas.openxmlformats.org/officeDocument/2006/relationships/image" Target="../media/image-2-2.png"/><Relationship Id="rId4" Type="http://schemas.openxmlformats.org/officeDocument/2006/relationships/image" Target="../media/image-2-3.png"/><Relationship Id="rId5" Type="http://schemas.openxmlformats.org/officeDocument/2006/relationships/image" Target="../media/image-2-4.png"/><Relationship Id="rId6" Type="http://schemas.openxmlformats.org/officeDocument/2006/relationships/image" Target="../media/image-2-5.png"/><Relationship Id="rId7" Type="http://schemas.openxmlformats.org/officeDocument/2006/relationships/chart" Target="../charts/char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-1-1.png"/><Relationship Id="rId3" Type="http://schemas.openxmlformats.org/officeDocument/2006/relationships/image" Target="../media/image-1-2.png"/><Relationship Id="rId4" Type="http://schemas.openxmlformats.org/officeDocument/2006/relationships/image" Target="../media/image-1-3.png"/><Relationship Id="rId5" Type="http://schemas.openxmlformats.org/officeDocument/2006/relationships/image" Target="../media/image-1-4.png"/><Relationship Id="rId6" Type="http://schemas.openxmlformats.org/officeDocument/2006/relationships/image" Target="../media/image-1-5.png"/><Relationship Id="rId7" Type="http://schemas.openxmlformats.org/officeDocument/2006/relationships/image" Target="../media/image-1-6.png"/><Relationship Id="rId8" Type="http://schemas.openxmlformats.org/officeDocument/2006/relationships/image" Target="../media/image-1-7.png"/><Relationship Id="rId9" Type="http://schemas.openxmlformats.org/officeDocument/2006/relationships/image" Target="../media/image-1-8.png"/><Relationship Id="rId10" Type="http://schemas.openxmlformats.org/officeDocument/2006/relationships/image" Target="../media/image-1-9.png"/><Relationship Id="rId11" Type="http://schemas.openxmlformats.org/officeDocument/2006/relationships/chart" Target="../charts/char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-3-1.png"/><Relationship Id="rId3" Type="http://schemas.openxmlformats.org/officeDocument/2006/relationships/image" Target="../media/image-3-2.png"/><Relationship Id="rId4" Type="http://schemas.openxmlformats.org/officeDocument/2006/relationships/image" Target="../media/image-3-3.png"/><Relationship Id="rId5" Type="http://schemas.openxmlformats.org/officeDocument/2006/relationships/image" Target="../media/image-3-4.png"/><Relationship Id="rId6" Type="http://schemas.openxmlformats.org/officeDocument/2006/relationships/image" Target="../media/image-3-5.png"/><Relationship Id="rId7" Type="http://schemas.openxmlformats.org/officeDocument/2006/relationships/image" Target="../media/image-3-6.png"/><Relationship Id="rId8" Type="http://schemas.openxmlformats.org/officeDocument/2006/relationships/chart" Target="../charts/char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0F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 algn="ctr"/>
            <a:endParaRPr lang="en-U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9334195" y="0"/>
            <a:ext cx="2857500" cy="28575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0" y="5905195"/>
            <a:ext cx="3810305" cy="952805"/>
          </a:xfrm>
          <a:custGeom>
            <a:avLst/>
            <a:gdLst/>
            <a:ahLst/>
            <a:cxnLst/>
            <a:rect l="l" t="t" r="r" b="b"/>
            <a:pathLst>
              <a:path w="3810305" h="952805">
                <a:moveTo>
                  <a:pt x="0" y="952805"/>
                </a:moveTo>
                <a:lnTo>
                  <a:pt x="3810305" y="952805"/>
                </a:lnTo>
                <a:lnTo>
                  <a:pt x="0" y="0"/>
                </a:lnTo>
                <a:close/>
              </a:path>
            </a:pathLst>
          </a:custGeom>
          <a:solidFill>
            <a:srgbClr val="D62839">
              <a:alpha val="3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rcRect l="-202" r="-202"/>
          <a:stretch/>
        </p:blipFill>
        <p:spPr>
          <a:xfrm>
            <a:off x="0" y="0"/>
            <a:ext cx="8128102" cy="75895"/>
          </a:xfrm>
          <a:prstGeom prst="rect">
            <a:avLst/>
          </a:prstGeom>
        </p:spPr>
      </p:pic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5"/>
          <a:srcRect l="-197" r="-197"/>
          <a:stretch/>
        </p:blipFill>
        <p:spPr>
          <a:xfrm>
            <a:off x="8128102" y="0"/>
            <a:ext cx="4063594" cy="75895"/>
          </a:xfrm>
          <a:prstGeom prst="rect">
            <a:avLst/>
          </a:prstGeom>
        </p:spPr>
      </p:pic>
      <p:sp>
        <p:nvSpPr>
          <p:cNvPr id="8" name="Text 3"/>
          <p:cNvSpPr txBox="1"/>
          <p:nvPr/>
        </p:nvSpPr>
        <p:spPr>
          <a:xfrm>
            <a:off x="2774290" y="3881628"/>
            <a:ext cx="6648602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>
                <a:solidFill>
                  <a:srgbClr val="4B5563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BUSINESS DRIVERS</a:t>
            </a:r>
            <a:r>
              <a:rPr lang="en-US" sz="1200" b="1">
                <a:solidFill>
                  <a:srgbClr val="D628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|</a:t>
            </a:r>
            <a:r>
              <a:rPr lang="en-US" sz="1500" b="1">
                <a:solidFill>
                  <a:srgbClr val="4B5563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 TECHNOLOGY ACCELERATORS </a:t>
            </a:r>
            <a:r>
              <a:rPr lang="en-US" sz="1200" b="1">
                <a:solidFill>
                  <a:srgbClr val="D628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|</a:t>
            </a:r>
            <a:r>
              <a:rPr lang="en-US" sz="1500" b="1">
                <a:solidFill>
                  <a:srgbClr val="4B5563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 GAME CHANGERS </a:t>
            </a:r>
            <a:endParaRPr lang="en-US" sz="1200"/>
          </a:p>
        </p:txBody>
      </p:sp>
      <p:sp>
        <p:nvSpPr>
          <p:cNvPr id="9" name="Text 4"/>
          <p:cNvSpPr txBox="1"/>
          <p:nvPr/>
        </p:nvSpPr>
        <p:spPr>
          <a:xfrm>
            <a:off x="4153205" y="4262933"/>
            <a:ext cx="3893515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i="1">
                <a:solidFill>
                  <a:srgbClr val="D628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Energy. Excellence. Innovation.</a:t>
            </a:r>
            <a:endParaRPr lang="en-US" sz="180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6"/>
          <a:srcRect l="141" r="141"/>
          <a:stretch/>
        </p:blipFill>
        <p:spPr>
          <a:xfrm>
            <a:off x="4629607" y="447142"/>
            <a:ext cx="2933395" cy="1419149"/>
          </a:xfrm>
          <a:prstGeom prst="rect">
            <a:avLst/>
          </a:prstGeom>
        </p:spPr>
      </p:pic>
      <p:sp>
        <p:nvSpPr>
          <p:cNvPr id="11" name="Text 5"/>
          <p:cNvSpPr txBox="1"/>
          <p:nvPr/>
        </p:nvSpPr>
        <p:spPr>
          <a:xfrm>
            <a:off x="1287018" y="2262226"/>
            <a:ext cx="9475927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1F2937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 Building the Enterprise Operating Model​</a:t>
            </a:r>
          </a:p>
          <a:p>
            <a:pPr marL="0" indent="0" algn="ctr">
              <a:buNone/>
            </a:pPr>
            <a:r>
              <a:rPr lang="en-US" sz="3600" b="1" dirty="0">
                <a:solidFill>
                  <a:srgbClr val="1F2937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for the Next Decade​</a:t>
            </a:r>
          </a:p>
        </p:txBody>
      </p:sp>
      <p:pic>
        <p:nvPicPr>
          <p:cNvPr id="12" name="Image 4" descr="preencoded.png"/>
          <p:cNvPicPr>
            <a:picLocks noChangeAspect="1"/>
          </p:cNvPicPr>
          <p:nvPr/>
        </p:nvPicPr>
        <p:blipFill>
          <a:blip r:embed="rId7"/>
          <a:srcRect t="-400" b="-400"/>
          <a:stretch/>
        </p:blipFill>
        <p:spPr>
          <a:xfrm>
            <a:off x="5639105" y="3596335"/>
            <a:ext cx="914400" cy="57607"/>
          </a:xfrm>
          <a:prstGeom prst="rect">
            <a:avLst/>
          </a:prstGeom>
        </p:spPr>
      </p:pic>
      <p:sp>
        <p:nvSpPr>
          <p:cNvPr id="13" name="Shape 6"/>
          <p:cNvSpPr/>
          <p:nvPr/>
        </p:nvSpPr>
        <p:spPr>
          <a:xfrm>
            <a:off x="0" y="5238598"/>
            <a:ext cx="12191695" cy="1619402"/>
          </a:xfrm>
          <a:prstGeom prst="rect">
            <a:avLst/>
          </a:prstGeom>
          <a:solidFill>
            <a:srgbClr val="F9FAF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7"/>
          <p:cNvSpPr/>
          <p:nvPr/>
        </p:nvSpPr>
        <p:spPr>
          <a:xfrm>
            <a:off x="0" y="5238598"/>
            <a:ext cx="12191695" cy="914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8"/>
          <p:cNvSpPr/>
          <p:nvPr/>
        </p:nvSpPr>
        <p:spPr>
          <a:xfrm>
            <a:off x="10201961" y="5362956"/>
            <a:ext cx="9144" cy="1380744"/>
          </a:xfrm>
          <a:prstGeom prst="rect">
            <a:avLst/>
          </a:prstGeom>
          <a:solidFill>
            <a:srgbClr val="D1D5DB"/>
          </a:solidFill>
          <a:ln w="12700">
            <a:solidFill>
              <a:srgbClr val="D1D5D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9"/>
          <p:cNvSpPr txBox="1"/>
          <p:nvPr/>
        </p:nvSpPr>
        <p:spPr>
          <a:xfrm>
            <a:off x="457200" y="5362956"/>
            <a:ext cx="963046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52">
                <a:solidFill>
                  <a:srgbClr val="2A9D8F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Trusted by:</a:t>
            </a:r>
            <a:endParaRPr lang="en-US" sz="1000"/>
          </a:p>
        </p:txBody>
      </p:sp>
      <p:sp>
        <p:nvSpPr>
          <p:cNvPr id="17" name="Shape 10"/>
          <p:cNvSpPr/>
          <p:nvPr/>
        </p:nvSpPr>
        <p:spPr>
          <a:xfrm>
            <a:off x="10362895" y="5605272"/>
            <a:ext cx="1371600" cy="247802"/>
          </a:xfrm>
          <a:prstGeom prst="roundRect">
            <a:avLst>
              <a:gd name="adj" fmla="val 369004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8" name="Image 5" descr="preencoded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10577779" y="5672023"/>
            <a:ext cx="114300" cy="114300"/>
          </a:xfrm>
          <a:prstGeom prst="rect">
            <a:avLst/>
          </a:prstGeom>
        </p:spPr>
      </p:pic>
      <p:sp>
        <p:nvSpPr>
          <p:cNvPr id="19" name="Text 11"/>
          <p:cNvSpPr txBox="1"/>
          <p:nvPr/>
        </p:nvSpPr>
        <p:spPr>
          <a:xfrm>
            <a:off x="10767974" y="5605272"/>
            <a:ext cx="810158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>
                <a:solidFill>
                  <a:srgbClr val="4B556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ISO 9001:2015</a:t>
            </a:r>
            <a:endParaRPr lang="en-US" sz="900"/>
          </a:p>
        </p:txBody>
      </p:sp>
      <p:sp>
        <p:nvSpPr>
          <p:cNvPr id="20" name="Shape 12"/>
          <p:cNvSpPr/>
          <p:nvPr/>
        </p:nvSpPr>
        <p:spPr>
          <a:xfrm>
            <a:off x="10362895" y="5928970"/>
            <a:ext cx="1371600" cy="247802"/>
          </a:xfrm>
          <a:prstGeom prst="roundRect">
            <a:avLst>
              <a:gd name="adj" fmla="val 369004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1" name="Image 6" descr="preencoded.png"/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10554919" y="5995721"/>
            <a:ext cx="114300" cy="114300"/>
          </a:xfrm>
          <a:prstGeom prst="rect">
            <a:avLst/>
          </a:prstGeom>
        </p:spPr>
      </p:pic>
      <p:sp>
        <p:nvSpPr>
          <p:cNvPr id="22" name="Text 13"/>
          <p:cNvSpPr txBox="1"/>
          <p:nvPr/>
        </p:nvSpPr>
        <p:spPr>
          <a:xfrm>
            <a:off x="10745114" y="5928970"/>
            <a:ext cx="857707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>
                <a:solidFill>
                  <a:srgbClr val="4B556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CMMI Certified</a:t>
            </a:r>
            <a:endParaRPr lang="en-US" sz="900"/>
          </a:p>
        </p:txBody>
      </p:sp>
      <p:sp>
        <p:nvSpPr>
          <p:cNvPr id="23" name="Shape 14"/>
          <p:cNvSpPr/>
          <p:nvPr/>
        </p:nvSpPr>
        <p:spPr>
          <a:xfrm>
            <a:off x="10362895" y="6253582"/>
            <a:ext cx="1371600" cy="247802"/>
          </a:xfrm>
          <a:prstGeom prst="roundRect">
            <a:avLst>
              <a:gd name="adj" fmla="val 369004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4" name="Image 7" descr="preencoded.png"/>
          <p:cNvPicPr>
            <a:picLocks noChangeAspect="1"/>
          </p:cNvPicPr>
          <p:nvPr/>
        </p:nvPicPr>
        <p:blipFill>
          <a:blip r:embed="rId10"/>
          <a:srcRect l="-133" r="-133"/>
          <a:stretch/>
        </p:blipFill>
        <p:spPr>
          <a:xfrm>
            <a:off x="10537546" y="6319418"/>
            <a:ext cx="85954" cy="114300"/>
          </a:xfrm>
          <a:prstGeom prst="rect">
            <a:avLst/>
          </a:prstGeom>
        </p:spPr>
      </p:pic>
      <p:sp>
        <p:nvSpPr>
          <p:cNvPr id="25" name="Text 15"/>
          <p:cNvSpPr txBox="1"/>
          <p:nvPr/>
        </p:nvSpPr>
        <p:spPr>
          <a:xfrm>
            <a:off x="10699394" y="6253582"/>
            <a:ext cx="924458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>
                <a:solidFill>
                  <a:srgbClr val="4B556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Women-Owned</a:t>
            </a:r>
            <a:endParaRPr lang="en-US" sz="900"/>
          </a:p>
        </p:txBody>
      </p:sp>
      <p:pic>
        <p:nvPicPr>
          <p:cNvPr id="26" name="Image 8" descr="preencoded.png"/>
          <p:cNvPicPr>
            <a:picLocks noChangeAspect="1"/>
          </p:cNvPicPr>
          <p:nvPr/>
        </p:nvPicPr>
        <p:blipFill>
          <a:blip r:embed="rId11">
            <a:alphaModFix amt="90000"/>
          </a:blip>
          <a:srcRect/>
          <a:stretch/>
        </p:blipFill>
        <p:spPr>
          <a:xfrm>
            <a:off x="457200" y="5700370"/>
            <a:ext cx="428854" cy="428854"/>
          </a:xfrm>
          <a:prstGeom prst="rect">
            <a:avLst/>
          </a:prstGeom>
        </p:spPr>
      </p:pic>
      <p:pic>
        <p:nvPicPr>
          <p:cNvPr id="27" name="Image 9" descr="preencoded.png"/>
          <p:cNvPicPr>
            <a:picLocks noChangeAspect="1"/>
          </p:cNvPicPr>
          <p:nvPr/>
        </p:nvPicPr>
        <p:blipFill>
          <a:blip r:embed="rId12">
            <a:alphaModFix amt="90000"/>
          </a:blip>
          <a:srcRect l="2016" r="2016"/>
          <a:stretch/>
        </p:blipFill>
        <p:spPr>
          <a:xfrm>
            <a:off x="1578254" y="5805526"/>
            <a:ext cx="1143000" cy="228600"/>
          </a:xfrm>
          <a:prstGeom prst="rect">
            <a:avLst/>
          </a:prstGeom>
        </p:spPr>
      </p:pic>
      <p:pic>
        <p:nvPicPr>
          <p:cNvPr id="28" name="Image 10" descr="preencoded.png"/>
          <p:cNvPicPr>
            <a:picLocks noChangeAspect="1"/>
          </p:cNvPicPr>
          <p:nvPr/>
        </p:nvPicPr>
        <p:blipFill>
          <a:blip r:embed="rId13">
            <a:alphaModFix amt="90000"/>
          </a:blip>
          <a:srcRect t="569" b="569"/>
          <a:stretch/>
        </p:blipFill>
        <p:spPr>
          <a:xfrm>
            <a:off x="3413455" y="5639105"/>
            <a:ext cx="838505" cy="552298"/>
          </a:xfrm>
          <a:prstGeom prst="rect">
            <a:avLst/>
          </a:prstGeom>
        </p:spPr>
      </p:pic>
      <p:pic>
        <p:nvPicPr>
          <p:cNvPr id="29" name="Image 11" descr="preencoded.png"/>
          <p:cNvPicPr>
            <a:picLocks noChangeAspect="1"/>
          </p:cNvPicPr>
          <p:nvPr/>
        </p:nvPicPr>
        <p:blipFill>
          <a:blip r:embed="rId14">
            <a:alphaModFix amt="90000"/>
          </a:blip>
          <a:srcRect t="563" b="563"/>
          <a:stretch/>
        </p:blipFill>
        <p:spPr>
          <a:xfrm>
            <a:off x="4935017" y="5648249"/>
            <a:ext cx="809244" cy="533095"/>
          </a:xfrm>
          <a:prstGeom prst="rect">
            <a:avLst/>
          </a:prstGeom>
        </p:spPr>
      </p:pic>
      <p:pic>
        <p:nvPicPr>
          <p:cNvPr id="30" name="Image 12" descr="preencoded.png"/>
          <p:cNvPicPr>
            <a:picLocks noChangeAspect="1"/>
          </p:cNvPicPr>
          <p:nvPr/>
        </p:nvPicPr>
        <p:blipFill>
          <a:blip r:embed="rId15">
            <a:alphaModFix amt="90000"/>
          </a:blip>
          <a:srcRect t="267" b="267"/>
          <a:stretch/>
        </p:blipFill>
        <p:spPr>
          <a:xfrm>
            <a:off x="6427318" y="5648249"/>
            <a:ext cx="952805" cy="533095"/>
          </a:xfrm>
          <a:prstGeom prst="rect">
            <a:avLst/>
          </a:prstGeom>
        </p:spPr>
      </p:pic>
      <p:pic>
        <p:nvPicPr>
          <p:cNvPr id="31" name="Image 13" descr="preencoded.png"/>
          <p:cNvPicPr>
            <a:picLocks noChangeAspect="1"/>
          </p:cNvPicPr>
          <p:nvPr/>
        </p:nvPicPr>
        <p:blipFill>
          <a:blip r:embed="rId16">
            <a:alphaModFix amt="90000"/>
          </a:blip>
          <a:srcRect/>
          <a:stretch/>
        </p:blipFill>
        <p:spPr>
          <a:xfrm>
            <a:off x="8067751" y="5662879"/>
            <a:ext cx="504749" cy="504749"/>
          </a:xfrm>
          <a:prstGeom prst="rect">
            <a:avLst/>
          </a:prstGeom>
        </p:spPr>
      </p:pic>
      <p:pic>
        <p:nvPicPr>
          <p:cNvPr id="32" name="Image 14" descr="preencoded.png"/>
          <p:cNvPicPr>
            <a:picLocks noChangeAspect="1"/>
          </p:cNvPicPr>
          <p:nvPr/>
        </p:nvPicPr>
        <p:blipFill>
          <a:blip r:embed="rId17">
            <a:alphaModFix amt="90000"/>
          </a:blip>
          <a:srcRect t="525" b="525"/>
          <a:stretch/>
        </p:blipFill>
        <p:spPr>
          <a:xfrm>
            <a:off x="9265615" y="5662879"/>
            <a:ext cx="714146" cy="504749"/>
          </a:xfrm>
          <a:prstGeom prst="rect">
            <a:avLst/>
          </a:prstGeom>
        </p:spPr>
      </p:pic>
      <p:pic>
        <p:nvPicPr>
          <p:cNvPr id="33" name="Image 15" descr="preencoded.png"/>
          <p:cNvPicPr>
            <a:picLocks noChangeAspect="1"/>
          </p:cNvPicPr>
          <p:nvPr/>
        </p:nvPicPr>
        <p:blipFill>
          <a:blip r:embed="rId18">
            <a:alphaModFix amt="90000"/>
          </a:blip>
          <a:srcRect l="688" r="688"/>
          <a:stretch/>
        </p:blipFill>
        <p:spPr>
          <a:xfrm>
            <a:off x="457200" y="6445606"/>
            <a:ext cx="1067105" cy="190195"/>
          </a:xfrm>
          <a:prstGeom prst="rect">
            <a:avLst/>
          </a:prstGeom>
        </p:spPr>
      </p:pic>
      <p:pic>
        <p:nvPicPr>
          <p:cNvPr id="34" name="Image 16" descr="preencoded.png"/>
          <p:cNvPicPr>
            <a:picLocks noChangeAspect="1"/>
          </p:cNvPicPr>
          <p:nvPr/>
        </p:nvPicPr>
        <p:blipFill>
          <a:blip r:embed="rId19">
            <a:alphaModFix amt="90000"/>
          </a:blip>
          <a:srcRect l="960" r="960"/>
          <a:stretch/>
        </p:blipFill>
        <p:spPr>
          <a:xfrm>
            <a:off x="2056486" y="6390742"/>
            <a:ext cx="1466698" cy="304495"/>
          </a:xfrm>
          <a:prstGeom prst="rect">
            <a:avLst/>
          </a:prstGeom>
        </p:spPr>
      </p:pic>
      <p:pic>
        <p:nvPicPr>
          <p:cNvPr id="35" name="Image 17" descr="preencoded.png"/>
          <p:cNvPicPr>
            <a:picLocks noChangeAspect="1"/>
          </p:cNvPicPr>
          <p:nvPr/>
        </p:nvPicPr>
        <p:blipFill>
          <a:blip r:embed="rId20">
            <a:alphaModFix amt="90000"/>
          </a:blip>
          <a:srcRect t="311" b="311"/>
          <a:stretch/>
        </p:blipFill>
        <p:spPr>
          <a:xfrm>
            <a:off x="4055364" y="6325819"/>
            <a:ext cx="828446" cy="428854"/>
          </a:xfrm>
          <a:prstGeom prst="rect">
            <a:avLst/>
          </a:prstGeom>
        </p:spPr>
      </p:pic>
      <p:pic>
        <p:nvPicPr>
          <p:cNvPr id="36" name="Image 18" descr="preencoded.png"/>
          <p:cNvPicPr>
            <a:picLocks noChangeAspect="1"/>
          </p:cNvPicPr>
          <p:nvPr/>
        </p:nvPicPr>
        <p:blipFill>
          <a:blip r:embed="rId21">
            <a:alphaModFix amt="90000"/>
          </a:blip>
          <a:srcRect t="385" b="385"/>
          <a:stretch/>
        </p:blipFill>
        <p:spPr>
          <a:xfrm>
            <a:off x="5410505" y="6325819"/>
            <a:ext cx="771754" cy="428854"/>
          </a:xfrm>
          <a:prstGeom prst="rect">
            <a:avLst/>
          </a:prstGeom>
        </p:spPr>
      </p:pic>
      <p:pic>
        <p:nvPicPr>
          <p:cNvPr id="37" name="Image 19" descr="preencoded.png"/>
          <p:cNvPicPr>
            <a:picLocks noChangeAspect="1"/>
          </p:cNvPicPr>
          <p:nvPr/>
        </p:nvPicPr>
        <p:blipFill>
          <a:blip r:embed="rId22">
            <a:alphaModFix amt="90000"/>
          </a:blip>
          <a:srcRect/>
          <a:stretch/>
        </p:blipFill>
        <p:spPr>
          <a:xfrm>
            <a:off x="6708038" y="6325819"/>
            <a:ext cx="428854" cy="428854"/>
          </a:xfrm>
          <a:prstGeom prst="rect">
            <a:avLst/>
          </a:prstGeom>
        </p:spPr>
      </p:pic>
      <p:pic>
        <p:nvPicPr>
          <p:cNvPr id="38" name="Image 20" descr="preencoded.png"/>
          <p:cNvPicPr>
            <a:picLocks noChangeAspect="1"/>
          </p:cNvPicPr>
          <p:nvPr/>
        </p:nvPicPr>
        <p:blipFill>
          <a:blip r:embed="rId23">
            <a:alphaModFix amt="90000"/>
          </a:blip>
          <a:srcRect t="77" b="77"/>
          <a:stretch/>
        </p:blipFill>
        <p:spPr>
          <a:xfrm>
            <a:off x="7669073" y="6368796"/>
            <a:ext cx="629107" cy="342900"/>
          </a:xfrm>
          <a:prstGeom prst="rect">
            <a:avLst/>
          </a:prstGeom>
        </p:spPr>
      </p:pic>
      <p:pic>
        <p:nvPicPr>
          <p:cNvPr id="39" name="Image 21" descr="preencoded.png"/>
          <p:cNvPicPr>
            <a:picLocks noChangeAspect="1"/>
          </p:cNvPicPr>
          <p:nvPr/>
        </p:nvPicPr>
        <p:blipFill>
          <a:blip r:embed="rId24">
            <a:alphaModFix amt="90000"/>
          </a:blip>
          <a:srcRect l="1712" r="1712"/>
          <a:stretch/>
        </p:blipFill>
        <p:spPr>
          <a:xfrm>
            <a:off x="8829446" y="6420002"/>
            <a:ext cx="1143000" cy="247802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/>
        </p:nvSpPr>
        <p:spPr>
          <a:xfrm>
            <a:off x="8953805" y="-571500"/>
            <a:ext cx="3810305" cy="3810305"/>
          </a:xfrm>
          <a:prstGeom prst="ellipse">
            <a:avLst/>
          </a:prstGeom>
          <a:solidFill>
            <a:srgbClr val="2A9D8F">
              <a:alpha val="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5" name="Image 0" descr="gen-dedup-5e765734fa6996e94526269805e72083.png"/>
          <p:cNvPicPr>
            <a:picLocks noChangeAspect="1"/>
          </p:cNvPicPr>
          <p:nvPr/>
        </p:nvPicPr>
        <p:blipFill>
          <a:blip r:embed="rId3">
            <a:alphaModFix amt="8000"/>
          </a:blip>
          <a:srcRect/>
          <a:stretch/>
        </p:blipFill>
        <p:spPr>
          <a:xfrm>
            <a:off x="-381305" y="3715207"/>
            <a:ext cx="2381098" cy="2381098"/>
          </a:xfrm>
          <a:prstGeom prst="rect">
            <a:avLst/>
          </a:prstGeom>
        </p:spPr>
      </p:pic>
      <p:pic>
        <p:nvPicPr>
          <p:cNvPr id="6" name="Image 1" descr="gen-dedup-323228122ff92d2332e711a84ca3b40c.png"/>
          <p:cNvPicPr>
            <a:picLocks noChangeAspect="1"/>
          </p:cNvPicPr>
          <p:nvPr/>
        </p:nvPicPr>
        <p:blipFill>
          <a:blip r:embed="rId4"/>
          <a:srcRect l="-198" r="-198"/>
          <a:stretch/>
        </p:blipFill>
        <p:spPr>
          <a:xfrm>
            <a:off x="0" y="0"/>
            <a:ext cx="8124444" cy="75895"/>
          </a:xfrm>
          <a:prstGeom prst="rect">
            <a:avLst/>
          </a:prstGeom>
        </p:spPr>
      </p:pic>
      <p:pic>
        <p:nvPicPr>
          <p:cNvPr id="7" name="Image 2" descr="gen-dedup-9663ecf744b06e35d4c2cebaab92a2ea.png"/>
          <p:cNvPicPr>
            <a:picLocks noChangeAspect="1"/>
          </p:cNvPicPr>
          <p:nvPr/>
        </p:nvPicPr>
        <p:blipFill>
          <a:blip r:embed="rId5"/>
          <a:srcRect l="-202" r="-202"/>
          <a:stretch/>
        </p:blipFill>
        <p:spPr>
          <a:xfrm>
            <a:off x="8124444" y="0"/>
            <a:ext cx="4067251" cy="75895"/>
          </a:xfrm>
          <a:prstGeom prst="rect">
            <a:avLst/>
          </a:prstGeom>
        </p:spPr>
      </p:pic>
      <p:pic>
        <p:nvPicPr>
          <p:cNvPr id="8" name="Image 3" descr="gen-dedup-ef527bea2207a14ec6e8d4c8ae9cdc45.png"/>
          <p:cNvPicPr>
            <a:picLocks noChangeAspect="1"/>
          </p:cNvPicPr>
          <p:nvPr/>
        </p:nvPicPr>
        <p:blipFill>
          <a:blip r:embed="rId6"/>
          <a:srcRect l="-384" r="-384"/>
          <a:stretch/>
        </p:blipFill>
        <p:spPr>
          <a:xfrm>
            <a:off x="609905" y="513893"/>
            <a:ext cx="57607" cy="476402"/>
          </a:xfrm>
          <a:prstGeom prst="rect">
            <a:avLst/>
          </a:prstGeom>
        </p:spPr>
      </p:pic>
      <p:sp>
        <p:nvSpPr>
          <p:cNvPr id="9" name="Shape 3"/>
          <p:cNvSpPr/>
          <p:nvPr/>
        </p:nvSpPr>
        <p:spPr>
          <a:xfrm>
            <a:off x="609905" y="1387090"/>
            <a:ext cx="10972190" cy="1450129"/>
          </a:xfrm>
          <a:prstGeom prst="roundRect">
            <a:avLst>
              <a:gd name="adj" fmla="val 285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38100" dir="16200000" algn="bl" rotWithShape="0">
              <a:srgbClr val="000000">
                <a:alpha val="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4"/>
          <p:cNvSpPr/>
          <p:nvPr/>
        </p:nvSpPr>
        <p:spPr>
          <a:xfrm>
            <a:off x="609905" y="1387090"/>
            <a:ext cx="47549" cy="1450129"/>
          </a:xfrm>
          <a:prstGeom prst="roundRect">
            <a:avLst>
              <a:gd name="adj" fmla="val 132625"/>
            </a:avLst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5"/>
          <p:cNvSpPr/>
          <p:nvPr/>
        </p:nvSpPr>
        <p:spPr>
          <a:xfrm>
            <a:off x="609905" y="3238805"/>
            <a:ext cx="3448202" cy="1447495"/>
          </a:xfrm>
          <a:prstGeom prst="roundRect">
            <a:avLst>
              <a:gd name="adj" fmla="val 4987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6"/>
          <p:cNvSpPr/>
          <p:nvPr/>
        </p:nvSpPr>
        <p:spPr>
          <a:xfrm>
            <a:off x="4343400" y="3238805"/>
            <a:ext cx="3448202" cy="1447495"/>
          </a:xfrm>
          <a:prstGeom prst="roundRect">
            <a:avLst>
              <a:gd name="adj" fmla="val 4987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7"/>
          <p:cNvSpPr/>
          <p:nvPr/>
        </p:nvSpPr>
        <p:spPr>
          <a:xfrm>
            <a:off x="8076895" y="3238805"/>
            <a:ext cx="3524098" cy="1447495"/>
          </a:xfrm>
          <a:prstGeom prst="roundRect">
            <a:avLst>
              <a:gd name="adj" fmla="val 4987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8"/>
          <p:cNvSpPr/>
          <p:nvPr/>
        </p:nvSpPr>
        <p:spPr>
          <a:xfrm>
            <a:off x="609905" y="4953305"/>
            <a:ext cx="3448202" cy="1447495"/>
          </a:xfrm>
          <a:prstGeom prst="roundRect">
            <a:avLst>
              <a:gd name="adj" fmla="val 4987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9"/>
          <p:cNvSpPr/>
          <p:nvPr/>
        </p:nvSpPr>
        <p:spPr>
          <a:xfrm>
            <a:off x="4343400" y="4953305"/>
            <a:ext cx="3448202" cy="1447495"/>
          </a:xfrm>
          <a:prstGeom prst="roundRect">
            <a:avLst>
              <a:gd name="adj" fmla="val 4987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0"/>
          <p:cNvSpPr/>
          <p:nvPr/>
        </p:nvSpPr>
        <p:spPr>
          <a:xfrm>
            <a:off x="8076895" y="4953305"/>
            <a:ext cx="3524098" cy="1447495"/>
          </a:xfrm>
          <a:prstGeom prst="roundRect">
            <a:avLst>
              <a:gd name="adj" fmla="val 4987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1"/>
          <p:cNvSpPr txBox="1"/>
          <p:nvPr/>
        </p:nvSpPr>
        <p:spPr>
          <a:xfrm>
            <a:off x="819302" y="466344"/>
            <a:ext cx="3810305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11827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WHO WE ARE</a:t>
            </a:r>
            <a:endParaRPr lang="en-US" sz="2400" dirty="0"/>
          </a:p>
        </p:txBody>
      </p:sp>
      <p:sp>
        <p:nvSpPr>
          <p:cNvPr id="18" name="Text 12"/>
          <p:cNvSpPr txBox="1"/>
          <p:nvPr/>
        </p:nvSpPr>
        <p:spPr>
          <a:xfrm>
            <a:off x="819302" y="858622"/>
            <a:ext cx="4496105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00" b="1" kern="0" spc="52" dirty="0">
                <a:solidFill>
                  <a:srgbClr val="2A9D8F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The AI-native GCC platform - a decade in the making</a:t>
            </a:r>
            <a:endParaRPr lang="en-US" sz="1500" dirty="0"/>
          </a:p>
        </p:txBody>
      </p:sp>
      <p:sp>
        <p:nvSpPr>
          <p:cNvPr id="19" name="Text 13"/>
          <p:cNvSpPr txBox="1"/>
          <p:nvPr/>
        </p:nvSpPr>
        <p:spPr>
          <a:xfrm>
            <a:off x="990295" y="1465380"/>
            <a:ext cx="6967162" cy="6483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111827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J2W is the AI-native GCC platform for the Fortune 1000 and beyond.</a:t>
            </a:r>
            <a:endParaRPr lang="en-US" sz="1900" dirty="0"/>
          </a:p>
        </p:txBody>
      </p:sp>
      <p:sp>
        <p:nvSpPr>
          <p:cNvPr id="20" name="Text 14"/>
          <p:cNvSpPr txBox="1"/>
          <p:nvPr/>
        </p:nvSpPr>
        <p:spPr>
          <a:xfrm>
            <a:off x="990294" y="1977901"/>
            <a:ext cx="91449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4B556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Ten years building nothing but GCCs - so we solve the next problem before it shows up, deliver ROI in weeks where the industry takes quarters, and turn the GCC from a cost line into an innovation engine.</a:t>
            </a:r>
            <a:endParaRPr lang="en-US" sz="1100" dirty="0"/>
          </a:p>
        </p:txBody>
      </p:sp>
      <p:pic>
        <p:nvPicPr>
          <p:cNvPr id="21" name="Image 4" descr="gen-dedup-3d17221e8cd76f10a3e0815681bf2023.png"/>
          <p:cNvPicPr>
            <a:picLocks noChangeAspect="1"/>
          </p:cNvPicPr>
          <p:nvPr/>
        </p:nvPicPr>
        <p:blipFill>
          <a:blip r:embed="rId7"/>
          <a:srcRect l="-400" r="-400"/>
          <a:stretch/>
        </p:blipFill>
        <p:spPr>
          <a:xfrm>
            <a:off x="800100" y="3476549"/>
            <a:ext cx="38405" cy="571500"/>
          </a:xfrm>
          <a:prstGeom prst="rect">
            <a:avLst/>
          </a:prstGeom>
        </p:spPr>
      </p:pic>
      <p:sp>
        <p:nvSpPr>
          <p:cNvPr id="22" name="Text 15"/>
          <p:cNvSpPr txBox="1"/>
          <p:nvPr/>
        </p:nvSpPr>
        <p:spPr>
          <a:xfrm>
            <a:off x="990295" y="3476549"/>
            <a:ext cx="1552651" cy="4480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3100" b="1" dirty="0">
                <a:solidFill>
                  <a:srgbClr val="2A9D8F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10+</a:t>
            </a:r>
            <a:endParaRPr lang="en-US" sz="3100" dirty="0"/>
          </a:p>
        </p:txBody>
      </p:sp>
      <p:sp>
        <p:nvSpPr>
          <p:cNvPr id="23" name="Text 16"/>
          <p:cNvSpPr txBox="1"/>
          <p:nvPr/>
        </p:nvSpPr>
        <p:spPr>
          <a:xfrm>
            <a:off x="990295" y="3993185"/>
            <a:ext cx="1848002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E293B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Years GCC leadership</a:t>
            </a:r>
            <a:endParaRPr lang="en-US" sz="1200" dirty="0"/>
          </a:p>
        </p:txBody>
      </p:sp>
      <p:pic>
        <p:nvPicPr>
          <p:cNvPr id="24" name="Image 5" descr="gen-dedup-32cd67bc95385c5507b78533d3bab6e6.png"/>
          <p:cNvPicPr>
            <a:picLocks noChangeAspect="1"/>
          </p:cNvPicPr>
          <p:nvPr/>
        </p:nvPicPr>
        <p:blipFill>
          <a:blip r:embed="rId8"/>
          <a:srcRect l="-400" r="-400"/>
          <a:stretch/>
        </p:blipFill>
        <p:spPr>
          <a:xfrm>
            <a:off x="4533595" y="3476549"/>
            <a:ext cx="38405" cy="571500"/>
          </a:xfrm>
          <a:prstGeom prst="rect">
            <a:avLst/>
          </a:prstGeom>
        </p:spPr>
      </p:pic>
      <p:sp>
        <p:nvSpPr>
          <p:cNvPr id="25" name="Text 17"/>
          <p:cNvSpPr txBox="1"/>
          <p:nvPr/>
        </p:nvSpPr>
        <p:spPr>
          <a:xfrm>
            <a:off x="4724705" y="3476549"/>
            <a:ext cx="1791310" cy="4480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3100" b="1" dirty="0">
                <a:solidFill>
                  <a:srgbClr val="D62839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320+</a:t>
            </a:r>
            <a:endParaRPr lang="en-US" sz="3100" dirty="0"/>
          </a:p>
        </p:txBody>
      </p:sp>
      <p:sp>
        <p:nvSpPr>
          <p:cNvPr id="26" name="Text 18"/>
          <p:cNvSpPr txBox="1"/>
          <p:nvPr/>
        </p:nvSpPr>
        <p:spPr>
          <a:xfrm>
            <a:off x="4724705" y="3993185"/>
            <a:ext cx="2131466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E293B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Enterprise clients served</a:t>
            </a:r>
            <a:endParaRPr lang="en-US" sz="1200" dirty="0"/>
          </a:p>
        </p:txBody>
      </p:sp>
      <p:pic>
        <p:nvPicPr>
          <p:cNvPr id="27" name="Image 6" descr="gen-dedup-3d17221e8cd76f10a3e0815681bf2023.png"/>
          <p:cNvPicPr>
            <a:picLocks noChangeAspect="1"/>
          </p:cNvPicPr>
          <p:nvPr/>
        </p:nvPicPr>
        <p:blipFill>
          <a:blip r:embed="rId7"/>
          <a:srcRect l="-400" r="-400"/>
          <a:stretch/>
        </p:blipFill>
        <p:spPr>
          <a:xfrm>
            <a:off x="8268005" y="3476549"/>
            <a:ext cx="38405" cy="571500"/>
          </a:xfrm>
          <a:prstGeom prst="rect">
            <a:avLst/>
          </a:prstGeom>
        </p:spPr>
      </p:pic>
      <p:sp>
        <p:nvSpPr>
          <p:cNvPr id="28" name="Text 19"/>
          <p:cNvSpPr txBox="1"/>
          <p:nvPr/>
        </p:nvSpPr>
        <p:spPr>
          <a:xfrm>
            <a:off x="8458200" y="3476549"/>
            <a:ext cx="2524658" cy="4480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3100" b="1" dirty="0">
                <a:solidFill>
                  <a:srgbClr val="2A9D8F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300+</a:t>
            </a:r>
            <a:endParaRPr lang="en-US" sz="3100" dirty="0"/>
          </a:p>
        </p:txBody>
      </p:sp>
      <p:sp>
        <p:nvSpPr>
          <p:cNvPr id="29" name="Text 20"/>
          <p:cNvSpPr txBox="1"/>
          <p:nvPr/>
        </p:nvSpPr>
        <p:spPr>
          <a:xfrm>
            <a:off x="8458200" y="3993185"/>
            <a:ext cx="3003804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E293B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GCCs built: greenfield &amp; brownfield</a:t>
            </a:r>
            <a:endParaRPr lang="en-US" sz="1200" dirty="0"/>
          </a:p>
        </p:txBody>
      </p:sp>
      <p:pic>
        <p:nvPicPr>
          <p:cNvPr id="30" name="Image 7" descr="gen-dedup-32cd67bc95385c5507b78533d3bab6e6.png"/>
          <p:cNvPicPr>
            <a:picLocks noChangeAspect="1"/>
          </p:cNvPicPr>
          <p:nvPr/>
        </p:nvPicPr>
        <p:blipFill>
          <a:blip r:embed="rId8"/>
          <a:srcRect l="-400" r="-400"/>
          <a:stretch/>
        </p:blipFill>
        <p:spPr>
          <a:xfrm>
            <a:off x="800100" y="5191049"/>
            <a:ext cx="38405" cy="571500"/>
          </a:xfrm>
          <a:prstGeom prst="rect">
            <a:avLst/>
          </a:prstGeom>
        </p:spPr>
      </p:pic>
      <p:sp>
        <p:nvSpPr>
          <p:cNvPr id="31" name="Text 21"/>
          <p:cNvSpPr txBox="1"/>
          <p:nvPr/>
        </p:nvSpPr>
        <p:spPr>
          <a:xfrm>
            <a:off x="990295" y="5191049"/>
            <a:ext cx="1677010" cy="4480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3100" b="1" dirty="0">
                <a:solidFill>
                  <a:srgbClr val="D62839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5,500+</a:t>
            </a:r>
            <a:endParaRPr lang="en-US" sz="3100" dirty="0"/>
          </a:p>
        </p:txBody>
      </p:sp>
      <p:sp>
        <p:nvSpPr>
          <p:cNvPr id="32" name="Text 22"/>
          <p:cNvSpPr txBox="1"/>
          <p:nvPr/>
        </p:nvSpPr>
        <p:spPr>
          <a:xfrm>
            <a:off x="990295" y="5707685"/>
            <a:ext cx="1995221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E293B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Industry &amp; tech experts</a:t>
            </a:r>
            <a:endParaRPr lang="en-US" sz="1200" dirty="0"/>
          </a:p>
        </p:txBody>
      </p:sp>
      <p:pic>
        <p:nvPicPr>
          <p:cNvPr id="33" name="Image 8" descr="gen-dedup-3d17221e8cd76f10a3e0815681bf2023.png"/>
          <p:cNvPicPr>
            <a:picLocks noChangeAspect="1"/>
          </p:cNvPicPr>
          <p:nvPr/>
        </p:nvPicPr>
        <p:blipFill>
          <a:blip r:embed="rId7"/>
          <a:srcRect l="-400" r="-400"/>
          <a:stretch/>
        </p:blipFill>
        <p:spPr>
          <a:xfrm>
            <a:off x="4533595" y="5191049"/>
            <a:ext cx="38405" cy="571500"/>
          </a:xfrm>
          <a:prstGeom prst="rect">
            <a:avLst/>
          </a:prstGeom>
        </p:spPr>
      </p:pic>
      <p:sp>
        <p:nvSpPr>
          <p:cNvPr id="34" name="Text 23"/>
          <p:cNvSpPr txBox="1"/>
          <p:nvPr/>
        </p:nvSpPr>
        <p:spPr>
          <a:xfrm>
            <a:off x="4724705" y="5191049"/>
            <a:ext cx="1705356" cy="4480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3100" b="1" dirty="0">
                <a:solidFill>
                  <a:srgbClr val="2A9D8F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8</a:t>
            </a:r>
            <a:endParaRPr lang="en-US" sz="3100" dirty="0"/>
          </a:p>
        </p:txBody>
      </p:sp>
      <p:sp>
        <p:nvSpPr>
          <p:cNvPr id="35" name="Text 24"/>
          <p:cNvSpPr txBox="1"/>
          <p:nvPr/>
        </p:nvSpPr>
        <p:spPr>
          <a:xfrm>
            <a:off x="4724705" y="5707685"/>
            <a:ext cx="2029054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E293B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Countries with footprint</a:t>
            </a:r>
            <a:endParaRPr lang="en-US" sz="1200" dirty="0"/>
          </a:p>
        </p:txBody>
      </p:sp>
      <p:pic>
        <p:nvPicPr>
          <p:cNvPr id="36" name="Image 9" descr="gen-dedup-32cd67bc95385c5507b78533d3bab6e6.png"/>
          <p:cNvPicPr>
            <a:picLocks noChangeAspect="1"/>
          </p:cNvPicPr>
          <p:nvPr/>
        </p:nvPicPr>
        <p:blipFill>
          <a:blip r:embed="rId8"/>
          <a:srcRect l="-400" r="-400"/>
          <a:stretch/>
        </p:blipFill>
        <p:spPr>
          <a:xfrm>
            <a:off x="8268005" y="5191049"/>
            <a:ext cx="38405" cy="571500"/>
          </a:xfrm>
          <a:prstGeom prst="rect">
            <a:avLst/>
          </a:prstGeom>
        </p:spPr>
      </p:pic>
      <p:sp>
        <p:nvSpPr>
          <p:cNvPr id="37" name="Text 25"/>
          <p:cNvSpPr txBox="1"/>
          <p:nvPr/>
        </p:nvSpPr>
        <p:spPr>
          <a:xfrm>
            <a:off x="8458200" y="5191049"/>
            <a:ext cx="1677010" cy="4480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3100" b="1" dirty="0">
                <a:solidFill>
                  <a:srgbClr val="D62839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60+</a:t>
            </a:r>
            <a:endParaRPr lang="en-US" sz="3100" dirty="0"/>
          </a:p>
        </p:txBody>
      </p:sp>
      <p:sp>
        <p:nvSpPr>
          <p:cNvPr id="38" name="Text 26"/>
          <p:cNvSpPr txBox="1"/>
          <p:nvPr/>
        </p:nvSpPr>
        <p:spPr>
          <a:xfrm>
            <a:off x="8458200" y="5707685"/>
            <a:ext cx="1995221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E293B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AI-enabled capabilities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" name="Image 0" descr="gen-dedup-9663ecf744b06e35d4c2cebaab92a2ea.png"/>
          <p:cNvPicPr>
            <a:picLocks noChangeAspect="1"/>
          </p:cNvPicPr>
          <p:nvPr/>
        </p:nvPicPr>
        <p:blipFill>
          <a:blip r:embed="rId3"/>
          <a:srcRect l="-202" r="-202"/>
          <a:stretch/>
        </p:blipFill>
        <p:spPr>
          <a:xfrm>
            <a:off x="0" y="0"/>
            <a:ext cx="4067251" cy="75895"/>
          </a:xfrm>
          <a:prstGeom prst="rect">
            <a:avLst/>
          </a:prstGeom>
        </p:spPr>
      </p:pic>
      <p:pic>
        <p:nvPicPr>
          <p:cNvPr id="5" name="Image 1" descr="gen-dedup-323228122ff92d2332e711a84ca3b40c.png"/>
          <p:cNvPicPr>
            <a:picLocks noChangeAspect="1"/>
          </p:cNvPicPr>
          <p:nvPr/>
        </p:nvPicPr>
        <p:blipFill>
          <a:blip r:embed="rId4"/>
          <a:srcRect l="-198" r="-198"/>
          <a:stretch/>
        </p:blipFill>
        <p:spPr>
          <a:xfrm>
            <a:off x="4067251" y="0"/>
            <a:ext cx="8124444" cy="75895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9334195" y="-476402"/>
            <a:ext cx="3810305" cy="3810305"/>
          </a:xfrm>
          <a:prstGeom prst="ellipse">
            <a:avLst/>
          </a:prstGeom>
          <a:solidFill>
            <a:srgbClr val="2A9D8F">
              <a:alpha val="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3"/>
          <p:cNvSpPr/>
          <p:nvPr/>
        </p:nvSpPr>
        <p:spPr>
          <a:xfrm>
            <a:off x="-1429207" y="3047695"/>
            <a:ext cx="3333902" cy="3333902"/>
          </a:xfrm>
          <a:prstGeom prst="ellipse">
            <a:avLst/>
          </a:prstGeom>
          <a:solidFill>
            <a:srgbClr val="D62839">
              <a:alpha val="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4"/>
          <p:cNvSpPr/>
          <p:nvPr/>
        </p:nvSpPr>
        <p:spPr>
          <a:xfrm>
            <a:off x="647395" y="4619549"/>
            <a:ext cx="10916107" cy="1781251"/>
          </a:xfrm>
          <a:prstGeom prst="roundRect">
            <a:avLst>
              <a:gd name="adj" fmla="val 439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5"/>
          <p:cNvSpPr/>
          <p:nvPr/>
        </p:nvSpPr>
        <p:spPr>
          <a:xfrm>
            <a:off x="647395" y="1571854"/>
            <a:ext cx="3524098" cy="2809951"/>
          </a:xfrm>
          <a:prstGeom prst="roundRect">
            <a:avLst>
              <a:gd name="adj" fmla="val 132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39700" dist="38100" dir="16200000" algn="bl" rotWithShape="0">
              <a:srgbClr val="000000">
                <a:alpha val="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6"/>
          <p:cNvSpPr/>
          <p:nvPr/>
        </p:nvSpPr>
        <p:spPr>
          <a:xfrm>
            <a:off x="647395" y="1571854"/>
            <a:ext cx="3524098" cy="38405"/>
          </a:xfrm>
          <a:prstGeom prst="roundRect">
            <a:avLst>
              <a:gd name="adj" fmla="val 96852"/>
            </a:avLst>
          </a:prstGeom>
          <a:solidFill>
            <a:srgbClr val="2A9D8F"/>
          </a:solidFill>
          <a:ln w="12700">
            <a:solidFill>
              <a:srgbClr val="2A9D8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7"/>
          <p:cNvSpPr/>
          <p:nvPr/>
        </p:nvSpPr>
        <p:spPr>
          <a:xfrm>
            <a:off x="4343400" y="1571854"/>
            <a:ext cx="3524098" cy="2809951"/>
          </a:xfrm>
          <a:prstGeom prst="roundRect">
            <a:avLst>
              <a:gd name="adj" fmla="val 132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39700" dist="38100" dir="16200000" algn="bl" rotWithShape="0">
              <a:srgbClr val="000000">
                <a:alpha val="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8"/>
          <p:cNvSpPr/>
          <p:nvPr/>
        </p:nvSpPr>
        <p:spPr>
          <a:xfrm>
            <a:off x="4343400" y="1571854"/>
            <a:ext cx="3524098" cy="38405"/>
          </a:xfrm>
          <a:prstGeom prst="roundRect">
            <a:avLst>
              <a:gd name="adj" fmla="val 96852"/>
            </a:avLst>
          </a:prstGeom>
          <a:solidFill>
            <a:srgbClr val="D62839"/>
          </a:solidFill>
          <a:ln w="12700">
            <a:solidFill>
              <a:srgbClr val="D6283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9"/>
          <p:cNvSpPr/>
          <p:nvPr/>
        </p:nvSpPr>
        <p:spPr>
          <a:xfrm>
            <a:off x="8039405" y="1571854"/>
            <a:ext cx="3524098" cy="2809951"/>
          </a:xfrm>
          <a:prstGeom prst="roundRect">
            <a:avLst>
              <a:gd name="adj" fmla="val 132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39700" dist="38100" dir="16200000" algn="bl" rotWithShape="0">
              <a:srgbClr val="000000">
                <a:alpha val="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0"/>
          <p:cNvSpPr/>
          <p:nvPr/>
        </p:nvSpPr>
        <p:spPr>
          <a:xfrm>
            <a:off x="8039405" y="1571854"/>
            <a:ext cx="3524098" cy="38405"/>
          </a:xfrm>
          <a:prstGeom prst="roundRect">
            <a:avLst>
              <a:gd name="adj" fmla="val 96852"/>
            </a:avLst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1"/>
          <p:cNvSpPr/>
          <p:nvPr/>
        </p:nvSpPr>
        <p:spPr>
          <a:xfrm>
            <a:off x="905256" y="5143500"/>
            <a:ext cx="2467051" cy="1114654"/>
          </a:xfrm>
          <a:prstGeom prst="roundRect">
            <a:avLst>
              <a:gd name="adj" fmla="val 560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16200000" algn="bl" rotWithShape="0">
              <a:srgbClr val="000000">
                <a:alpha val="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2"/>
          <p:cNvSpPr/>
          <p:nvPr/>
        </p:nvSpPr>
        <p:spPr>
          <a:xfrm>
            <a:off x="3666744" y="5143500"/>
            <a:ext cx="2467051" cy="1114654"/>
          </a:xfrm>
          <a:prstGeom prst="roundRect">
            <a:avLst>
              <a:gd name="adj" fmla="val 560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16200000" algn="bl" rotWithShape="0">
              <a:srgbClr val="000000">
                <a:alpha val="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3"/>
          <p:cNvSpPr/>
          <p:nvPr/>
        </p:nvSpPr>
        <p:spPr>
          <a:xfrm>
            <a:off x="6429146" y="5143500"/>
            <a:ext cx="2467051" cy="1114654"/>
          </a:xfrm>
          <a:prstGeom prst="roundRect">
            <a:avLst>
              <a:gd name="adj" fmla="val 560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16200000" algn="bl" rotWithShape="0">
              <a:srgbClr val="000000">
                <a:alpha val="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4"/>
          <p:cNvSpPr/>
          <p:nvPr/>
        </p:nvSpPr>
        <p:spPr>
          <a:xfrm>
            <a:off x="9191549" y="5143500"/>
            <a:ext cx="2180844" cy="1114654"/>
          </a:xfrm>
          <a:prstGeom prst="roundRect">
            <a:avLst>
              <a:gd name="adj" fmla="val 560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16200000" algn="bl" rotWithShape="0">
              <a:srgbClr val="000000">
                <a:alpha val="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9" name="Image 2" descr="gen-dedup-06e3d16aa0e9246458a784af17ea21a8.png"/>
          <p:cNvPicPr>
            <a:picLocks noChangeAspect="1"/>
          </p:cNvPicPr>
          <p:nvPr/>
        </p:nvPicPr>
        <p:blipFill>
          <a:blip r:embed="rId5"/>
          <a:srcRect l="-437" r="-437"/>
          <a:stretch/>
        </p:blipFill>
        <p:spPr>
          <a:xfrm>
            <a:off x="647395" y="743407"/>
            <a:ext cx="57607" cy="418795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857707" y="685800"/>
            <a:ext cx="10478110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11827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NEXT STEPS</a:t>
            </a:r>
            <a:endParaRPr lang="en-US" sz="3000" dirty="0"/>
          </a:p>
        </p:txBody>
      </p:sp>
      <p:sp>
        <p:nvSpPr>
          <p:cNvPr id="21" name="Text 16"/>
          <p:cNvSpPr txBox="1"/>
          <p:nvPr/>
        </p:nvSpPr>
        <p:spPr>
          <a:xfrm>
            <a:off x="857707" y="1143000"/>
            <a:ext cx="1047811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60" dirty="0">
                <a:solidFill>
                  <a:srgbClr val="2A9D8F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FLEXIBLE ENGAGEMENT MODELS TAILORED TO YOUR THREE-YEAR ROADMAP</a:t>
            </a:r>
            <a:endParaRPr lang="en-US" sz="1200" dirty="0"/>
          </a:p>
        </p:txBody>
      </p:sp>
      <p:sp>
        <p:nvSpPr>
          <p:cNvPr id="22" name="Shape 17"/>
          <p:cNvSpPr/>
          <p:nvPr/>
        </p:nvSpPr>
        <p:spPr>
          <a:xfrm>
            <a:off x="838505" y="1762049"/>
            <a:ext cx="457200" cy="457200"/>
          </a:xfrm>
          <a:prstGeom prst="roundRect">
            <a:avLst>
              <a:gd name="adj" fmla="val 66667"/>
            </a:avLst>
          </a:prstGeom>
          <a:solidFill>
            <a:srgbClr val="E6F3F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3" name="Image 3" descr="gen-dedup-fa5d0b435e79f3035aaec6593bf7cfb3.png"/>
          <p:cNvPicPr>
            <a:picLocks noChangeAspect="1"/>
          </p:cNvPicPr>
          <p:nvPr/>
        </p:nvPicPr>
        <p:blipFill>
          <a:blip r:embed="rId6"/>
          <a:srcRect l="-3526" r="-3526"/>
          <a:stretch/>
        </p:blipFill>
        <p:spPr>
          <a:xfrm>
            <a:off x="990295" y="1895551"/>
            <a:ext cx="152705" cy="190195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1447495" y="1794967"/>
            <a:ext cx="1995221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>
                <a:solidFill>
                  <a:srgbClr val="111827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Discovery Workshop</a:t>
            </a:r>
            <a:endParaRPr lang="en-US" sz="1600"/>
          </a:p>
        </p:txBody>
      </p:sp>
      <p:sp>
        <p:nvSpPr>
          <p:cNvPr id="25" name="Text 19"/>
          <p:cNvSpPr txBox="1"/>
          <p:nvPr/>
        </p:nvSpPr>
        <p:spPr>
          <a:xfrm>
            <a:off x="1447495" y="2043684"/>
            <a:ext cx="1677010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>
                <a:solidFill>
                  <a:srgbClr val="64748B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Duration: ~90 Minutes</a:t>
            </a:r>
            <a:endParaRPr lang="en-US" sz="900"/>
          </a:p>
        </p:txBody>
      </p:sp>
      <p:sp>
        <p:nvSpPr>
          <p:cNvPr id="26" name="Shape 20"/>
          <p:cNvSpPr/>
          <p:nvPr/>
        </p:nvSpPr>
        <p:spPr>
          <a:xfrm>
            <a:off x="3259836" y="1762049"/>
            <a:ext cx="705002" cy="256946"/>
          </a:xfrm>
          <a:prstGeom prst="roundRect">
            <a:avLst>
              <a:gd name="adj" fmla="val 316331"/>
            </a:avLst>
          </a:prstGeom>
          <a:solidFill>
            <a:srgbClr val="E6F3F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1"/>
          <p:cNvSpPr txBox="1"/>
          <p:nvPr/>
        </p:nvSpPr>
        <p:spPr>
          <a:xfrm>
            <a:off x="838505" y="2447849"/>
            <a:ext cx="3124505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45">
                <a:solidFill>
                  <a:srgbClr val="94A3B8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KEY DELIVERABLES</a:t>
            </a:r>
            <a:endParaRPr lang="en-US" sz="900"/>
          </a:p>
        </p:txBody>
      </p:sp>
      <p:pic>
        <p:nvPicPr>
          <p:cNvPr id="28" name="Image 4" descr="gen-dedup-2910efa1624004b251a6644ba5a6ae47.png"/>
          <p:cNvPicPr>
            <a:picLocks noChangeAspect="1"/>
          </p:cNvPicPr>
          <p:nvPr/>
        </p:nvPicPr>
        <p:blipFill>
          <a:blip r:embed="rId7"/>
          <a:srcRect t="-27726" b="-27726"/>
          <a:stretch/>
        </p:blipFill>
        <p:spPr>
          <a:xfrm>
            <a:off x="838505" y="2734056"/>
            <a:ext cx="85954" cy="152705"/>
          </a:xfrm>
          <a:prstGeom prst="rect">
            <a:avLst/>
          </a:prstGeom>
        </p:spPr>
      </p:pic>
      <p:sp>
        <p:nvSpPr>
          <p:cNvPr id="29" name="Text 22"/>
          <p:cNvSpPr txBox="1"/>
          <p:nvPr/>
        </p:nvSpPr>
        <p:spPr>
          <a:xfrm>
            <a:off x="1019556" y="2695651"/>
            <a:ext cx="2732227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>
                <a:solidFill>
                  <a:srgbClr val="47556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Use case identification &amp; prioritization</a:t>
            </a:r>
            <a:endParaRPr lang="en-US" sz="1000"/>
          </a:p>
        </p:txBody>
      </p:sp>
      <p:pic>
        <p:nvPicPr>
          <p:cNvPr id="30" name="Image 5" descr="gen-dedup-2910efa1624004b251a6644ba5a6ae47.png"/>
          <p:cNvPicPr>
            <a:picLocks noChangeAspect="1"/>
          </p:cNvPicPr>
          <p:nvPr/>
        </p:nvPicPr>
        <p:blipFill>
          <a:blip r:embed="rId7"/>
          <a:srcRect t="-27726" b="-27726"/>
          <a:stretch/>
        </p:blipFill>
        <p:spPr>
          <a:xfrm>
            <a:off x="838505" y="3019349"/>
            <a:ext cx="85954" cy="152705"/>
          </a:xfrm>
          <a:prstGeom prst="rect">
            <a:avLst/>
          </a:prstGeom>
        </p:spPr>
      </p:pic>
      <p:sp>
        <p:nvSpPr>
          <p:cNvPr id="31" name="Text 23"/>
          <p:cNvSpPr txBox="1"/>
          <p:nvPr/>
        </p:nvSpPr>
        <p:spPr>
          <a:xfrm>
            <a:off x="1019556" y="2980944"/>
            <a:ext cx="197236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>
                <a:solidFill>
                  <a:srgbClr val="47556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Value hypothesis definition</a:t>
            </a:r>
            <a:endParaRPr lang="en-US" sz="1000"/>
          </a:p>
        </p:txBody>
      </p:sp>
      <p:pic>
        <p:nvPicPr>
          <p:cNvPr id="32" name="Image 6" descr="gen-dedup-2910efa1624004b251a6644ba5a6ae47.png"/>
          <p:cNvPicPr>
            <a:picLocks noChangeAspect="1"/>
          </p:cNvPicPr>
          <p:nvPr/>
        </p:nvPicPr>
        <p:blipFill>
          <a:blip r:embed="rId7"/>
          <a:srcRect t="-27726" b="-27726"/>
          <a:stretch/>
        </p:blipFill>
        <p:spPr>
          <a:xfrm>
            <a:off x="838505" y="3305556"/>
            <a:ext cx="85954" cy="152705"/>
          </a:xfrm>
          <a:prstGeom prst="rect">
            <a:avLst/>
          </a:prstGeom>
        </p:spPr>
      </p:pic>
      <p:sp>
        <p:nvSpPr>
          <p:cNvPr id="33" name="Text 24"/>
          <p:cNvSpPr txBox="1"/>
          <p:nvPr/>
        </p:nvSpPr>
        <p:spPr>
          <a:xfrm>
            <a:off x="1019556" y="3267151"/>
            <a:ext cx="337779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>
                <a:solidFill>
                  <a:srgbClr val="47556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High-level roadmap aligned to 70/30 strategy</a:t>
            </a:r>
            <a:endParaRPr lang="en-US" sz="1000"/>
          </a:p>
        </p:txBody>
      </p:sp>
      <p:sp>
        <p:nvSpPr>
          <p:cNvPr id="34" name="Text 25"/>
          <p:cNvSpPr txBox="1"/>
          <p:nvPr/>
        </p:nvSpPr>
        <p:spPr>
          <a:xfrm>
            <a:off x="3354934" y="1848002"/>
            <a:ext cx="662026" cy="1243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>
                <a:solidFill>
                  <a:srgbClr val="2A9D8F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LOW TOUCH</a:t>
            </a:r>
            <a:endParaRPr lang="en-US" sz="800"/>
          </a:p>
        </p:txBody>
      </p:sp>
      <p:sp>
        <p:nvSpPr>
          <p:cNvPr id="35" name="Shape 26"/>
          <p:cNvSpPr/>
          <p:nvPr/>
        </p:nvSpPr>
        <p:spPr>
          <a:xfrm>
            <a:off x="4533595" y="1762049"/>
            <a:ext cx="457200" cy="457200"/>
          </a:xfrm>
          <a:prstGeom prst="roundRect">
            <a:avLst>
              <a:gd name="adj" fmla="val 66667"/>
            </a:avLst>
          </a:prstGeom>
          <a:solidFill>
            <a:srgbClr val="FBE6E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6" name="Image 7" descr="gen-dedup-302cf04975ca72dffec5134ed5b99fbe.png"/>
          <p:cNvPicPr>
            <a:picLocks noChangeAspect="1"/>
          </p:cNvPicPr>
          <p:nvPr/>
        </p:nvPicPr>
        <p:blipFill>
          <a:blip r:embed="rId8"/>
          <a:srcRect t="-4491" b="-4491"/>
          <a:stretch/>
        </p:blipFill>
        <p:spPr>
          <a:xfrm>
            <a:off x="4686300" y="1895551"/>
            <a:ext cx="152705" cy="190195"/>
          </a:xfrm>
          <a:prstGeom prst="rect">
            <a:avLst/>
          </a:prstGeom>
        </p:spPr>
      </p:pic>
      <p:sp>
        <p:nvSpPr>
          <p:cNvPr id="37" name="Text 27"/>
          <p:cNvSpPr txBox="1"/>
          <p:nvPr/>
        </p:nvSpPr>
        <p:spPr>
          <a:xfrm>
            <a:off x="5143500" y="1794967"/>
            <a:ext cx="1825142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>
                <a:solidFill>
                  <a:srgbClr val="111827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Assessment &amp; PoC</a:t>
            </a:r>
            <a:endParaRPr lang="en-US" sz="1600"/>
          </a:p>
        </p:txBody>
      </p:sp>
      <p:sp>
        <p:nvSpPr>
          <p:cNvPr id="38" name="Text 28"/>
          <p:cNvSpPr txBox="1"/>
          <p:nvPr/>
        </p:nvSpPr>
        <p:spPr>
          <a:xfrm>
            <a:off x="5143500" y="2043684"/>
            <a:ext cx="1534363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>
                <a:solidFill>
                  <a:srgbClr val="64748B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Duration: 4 Weeks</a:t>
            </a:r>
            <a:endParaRPr lang="en-US" sz="900"/>
          </a:p>
        </p:txBody>
      </p:sp>
      <p:sp>
        <p:nvSpPr>
          <p:cNvPr id="39" name="Shape 29"/>
          <p:cNvSpPr/>
          <p:nvPr/>
        </p:nvSpPr>
        <p:spPr>
          <a:xfrm>
            <a:off x="6982358" y="1762049"/>
            <a:ext cx="676656" cy="256946"/>
          </a:xfrm>
          <a:prstGeom prst="roundRect">
            <a:avLst>
              <a:gd name="adj" fmla="val 316331"/>
            </a:avLst>
          </a:prstGeom>
          <a:solidFill>
            <a:srgbClr val="FBE6E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0"/>
          <p:cNvSpPr txBox="1"/>
          <p:nvPr/>
        </p:nvSpPr>
        <p:spPr>
          <a:xfrm>
            <a:off x="4533595" y="2447849"/>
            <a:ext cx="3124505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45">
                <a:solidFill>
                  <a:srgbClr val="94A3B8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KEY DELIVERABLES</a:t>
            </a:r>
            <a:endParaRPr lang="en-US" sz="900"/>
          </a:p>
        </p:txBody>
      </p:sp>
      <p:pic>
        <p:nvPicPr>
          <p:cNvPr id="41" name="Image 8" descr="gen-dedup-3f480c66afa147b2245dea2610bb3896.png"/>
          <p:cNvPicPr>
            <a:picLocks noChangeAspect="1"/>
          </p:cNvPicPr>
          <p:nvPr/>
        </p:nvPicPr>
        <p:blipFill>
          <a:blip r:embed="rId9"/>
          <a:srcRect t="-12832" b="-12832"/>
          <a:stretch/>
        </p:blipFill>
        <p:spPr>
          <a:xfrm>
            <a:off x="4533595" y="2734056"/>
            <a:ext cx="85954" cy="123444"/>
          </a:xfrm>
          <a:prstGeom prst="rect">
            <a:avLst/>
          </a:prstGeom>
        </p:spPr>
      </p:pic>
      <p:sp>
        <p:nvSpPr>
          <p:cNvPr id="42" name="Text 31"/>
          <p:cNvSpPr txBox="1"/>
          <p:nvPr/>
        </p:nvSpPr>
        <p:spPr>
          <a:xfrm>
            <a:off x="4714646" y="2695651"/>
            <a:ext cx="2154326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>
                <a:solidFill>
                  <a:srgbClr val="47556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Target state architecture design</a:t>
            </a:r>
            <a:endParaRPr lang="en-US" sz="900"/>
          </a:p>
        </p:txBody>
      </p:sp>
      <p:pic>
        <p:nvPicPr>
          <p:cNvPr id="43" name="Image 9" descr="gen-dedup-3f480c66afa147b2245dea2610bb3896.png"/>
          <p:cNvPicPr>
            <a:picLocks noChangeAspect="1"/>
          </p:cNvPicPr>
          <p:nvPr/>
        </p:nvPicPr>
        <p:blipFill>
          <a:blip r:embed="rId9"/>
          <a:srcRect t="-12832" b="-12832"/>
          <a:stretch/>
        </p:blipFill>
        <p:spPr>
          <a:xfrm>
            <a:off x="4533595" y="2971800"/>
            <a:ext cx="85954" cy="123444"/>
          </a:xfrm>
          <a:prstGeom prst="rect">
            <a:avLst/>
          </a:prstGeom>
        </p:spPr>
      </p:pic>
      <p:sp>
        <p:nvSpPr>
          <p:cNvPr id="44" name="Text 32"/>
          <p:cNvSpPr txBox="1"/>
          <p:nvPr/>
        </p:nvSpPr>
        <p:spPr>
          <a:xfrm>
            <a:off x="4714646" y="2933395"/>
            <a:ext cx="2505456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>
                <a:solidFill>
                  <a:srgbClr val="47556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Working pilot / MVP implementation</a:t>
            </a:r>
            <a:endParaRPr lang="en-US" sz="900"/>
          </a:p>
        </p:txBody>
      </p:sp>
      <p:pic>
        <p:nvPicPr>
          <p:cNvPr id="45" name="Image 10" descr="gen-dedup-3f480c66afa147b2245dea2610bb3896.png"/>
          <p:cNvPicPr>
            <a:picLocks noChangeAspect="1"/>
          </p:cNvPicPr>
          <p:nvPr/>
        </p:nvPicPr>
        <p:blipFill>
          <a:blip r:embed="rId9"/>
          <a:srcRect t="-12832" b="-12832"/>
          <a:stretch/>
        </p:blipFill>
        <p:spPr>
          <a:xfrm>
            <a:off x="4533595" y="3209544"/>
            <a:ext cx="85954" cy="123444"/>
          </a:xfrm>
          <a:prstGeom prst="rect">
            <a:avLst/>
          </a:prstGeom>
        </p:spPr>
      </p:pic>
      <p:sp>
        <p:nvSpPr>
          <p:cNvPr id="46" name="Text 33"/>
          <p:cNvSpPr txBox="1"/>
          <p:nvPr/>
        </p:nvSpPr>
        <p:spPr>
          <a:xfrm>
            <a:off x="4714646" y="3172054"/>
            <a:ext cx="2278685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>
                <a:solidFill>
                  <a:srgbClr val="47556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Detailed ROI model &amp; rollout plan</a:t>
            </a:r>
            <a:endParaRPr lang="en-US" sz="900"/>
          </a:p>
        </p:txBody>
      </p:sp>
      <p:pic>
        <p:nvPicPr>
          <p:cNvPr id="47" name="Image 11" descr="gen-dedup-3f480c66afa147b2245dea2610bb3896.png"/>
          <p:cNvPicPr>
            <a:picLocks noChangeAspect="1"/>
          </p:cNvPicPr>
          <p:nvPr/>
        </p:nvPicPr>
        <p:blipFill>
          <a:blip r:embed="rId9"/>
          <a:srcRect t="-12832" b="-12832"/>
          <a:stretch/>
        </p:blipFill>
        <p:spPr>
          <a:xfrm>
            <a:off x="4533595" y="3448202"/>
            <a:ext cx="85954" cy="123444"/>
          </a:xfrm>
          <a:prstGeom prst="rect">
            <a:avLst/>
          </a:prstGeom>
        </p:spPr>
      </p:pic>
      <p:sp>
        <p:nvSpPr>
          <p:cNvPr id="48" name="Text 34"/>
          <p:cNvSpPr txBox="1"/>
          <p:nvPr/>
        </p:nvSpPr>
        <p:spPr>
          <a:xfrm>
            <a:off x="4714646" y="3409798"/>
            <a:ext cx="2108606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>
                <a:solidFill>
                  <a:srgbClr val="47556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Vendor integration assessment</a:t>
            </a:r>
            <a:endParaRPr lang="en-US" sz="900"/>
          </a:p>
        </p:txBody>
      </p:sp>
      <p:sp>
        <p:nvSpPr>
          <p:cNvPr id="49" name="Text 35"/>
          <p:cNvSpPr txBox="1"/>
          <p:nvPr/>
        </p:nvSpPr>
        <p:spPr>
          <a:xfrm>
            <a:off x="7077456" y="1848002"/>
            <a:ext cx="658368" cy="1243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>
                <a:solidFill>
                  <a:srgbClr val="D62839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STRATEGIC</a:t>
            </a:r>
            <a:endParaRPr lang="en-US" sz="800"/>
          </a:p>
        </p:txBody>
      </p:sp>
      <p:sp>
        <p:nvSpPr>
          <p:cNvPr id="50" name="Shape 36"/>
          <p:cNvSpPr/>
          <p:nvPr/>
        </p:nvSpPr>
        <p:spPr>
          <a:xfrm>
            <a:off x="8229600" y="1762049"/>
            <a:ext cx="457200" cy="457200"/>
          </a:xfrm>
          <a:prstGeom prst="roundRect">
            <a:avLst>
              <a:gd name="adj" fmla="val 66667"/>
            </a:avLst>
          </a:prstGeom>
          <a:solidFill>
            <a:srgbClr val="F1F5F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51" name="Image 12" descr="gen-dedup-e104b6e838315a11dc2d3bf260faf00b.png"/>
          <p:cNvPicPr>
            <a:picLocks noChangeAspect="1"/>
          </p:cNvPicPr>
          <p:nvPr/>
        </p:nvPicPr>
        <p:blipFill>
          <a:blip r:embed="rId10"/>
          <a:srcRect t="-27844" b="-27844"/>
          <a:stretch/>
        </p:blipFill>
        <p:spPr>
          <a:xfrm>
            <a:off x="8382305" y="1895551"/>
            <a:ext cx="152705" cy="190195"/>
          </a:xfrm>
          <a:prstGeom prst="rect">
            <a:avLst/>
          </a:prstGeom>
        </p:spPr>
      </p:pic>
      <p:sp>
        <p:nvSpPr>
          <p:cNvPr id="52" name="Text 37"/>
          <p:cNvSpPr txBox="1"/>
          <p:nvPr/>
        </p:nvSpPr>
        <p:spPr>
          <a:xfrm>
            <a:off x="8839505" y="1794967"/>
            <a:ext cx="1938528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>
                <a:solidFill>
                  <a:srgbClr val="111827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Build &amp; Run Models</a:t>
            </a:r>
            <a:endParaRPr lang="en-US" sz="1600"/>
          </a:p>
        </p:txBody>
      </p:sp>
      <p:sp>
        <p:nvSpPr>
          <p:cNvPr id="53" name="Text 38"/>
          <p:cNvSpPr txBox="1"/>
          <p:nvPr/>
        </p:nvSpPr>
        <p:spPr>
          <a:xfrm>
            <a:off x="8839505" y="2043684"/>
            <a:ext cx="1629461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>
                <a:solidFill>
                  <a:srgbClr val="64748B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Duration: Multi-Year</a:t>
            </a:r>
            <a:endParaRPr lang="en-US" sz="900"/>
          </a:p>
        </p:txBody>
      </p:sp>
      <p:sp>
        <p:nvSpPr>
          <p:cNvPr id="54" name="Shape 39"/>
          <p:cNvSpPr/>
          <p:nvPr/>
        </p:nvSpPr>
        <p:spPr>
          <a:xfrm>
            <a:off x="10555834" y="1762049"/>
            <a:ext cx="800100" cy="256946"/>
          </a:xfrm>
          <a:prstGeom prst="roundRect">
            <a:avLst>
              <a:gd name="adj" fmla="val 316331"/>
            </a:avLst>
          </a:prstGeom>
          <a:solidFill>
            <a:srgbClr val="F1F5F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Text 40"/>
          <p:cNvSpPr txBox="1"/>
          <p:nvPr/>
        </p:nvSpPr>
        <p:spPr>
          <a:xfrm>
            <a:off x="8229600" y="2447849"/>
            <a:ext cx="3124505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45">
                <a:solidFill>
                  <a:srgbClr val="94A3B8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COMMERCIAL MODELS</a:t>
            </a:r>
            <a:endParaRPr lang="en-US" sz="900"/>
          </a:p>
        </p:txBody>
      </p:sp>
      <p:pic>
        <p:nvPicPr>
          <p:cNvPr id="56" name="Image 13" descr="gen-dedup-06c19e2f143b52e69c4653630769d291.png"/>
          <p:cNvPicPr>
            <a:picLocks noChangeAspect="1"/>
          </p:cNvPicPr>
          <p:nvPr/>
        </p:nvPicPr>
        <p:blipFill>
          <a:blip r:embed="rId11"/>
          <a:srcRect t="-27726" b="-27726"/>
          <a:stretch/>
        </p:blipFill>
        <p:spPr>
          <a:xfrm>
            <a:off x="8229600" y="2734056"/>
            <a:ext cx="85954" cy="152705"/>
          </a:xfrm>
          <a:prstGeom prst="rect">
            <a:avLst/>
          </a:prstGeom>
        </p:spPr>
      </p:pic>
      <p:sp>
        <p:nvSpPr>
          <p:cNvPr id="57" name="Text 41"/>
          <p:cNvSpPr txBox="1"/>
          <p:nvPr/>
        </p:nvSpPr>
        <p:spPr>
          <a:xfrm>
            <a:off x="8410651" y="2695651"/>
            <a:ext cx="287944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>
                <a:solidFill>
                  <a:srgbClr val="1118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Fixed Scope:</a:t>
            </a:r>
            <a:r>
              <a:rPr lang="en-US" sz="1000">
                <a:solidFill>
                  <a:srgbClr val="47556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 For defined project builds</a:t>
            </a:r>
            <a:endParaRPr lang="en-US" sz="1000"/>
          </a:p>
        </p:txBody>
      </p:sp>
      <p:pic>
        <p:nvPicPr>
          <p:cNvPr id="58" name="Image 14" descr="gen-dedup-06c19e2f143b52e69c4653630769d291.png"/>
          <p:cNvPicPr>
            <a:picLocks noChangeAspect="1"/>
          </p:cNvPicPr>
          <p:nvPr/>
        </p:nvPicPr>
        <p:blipFill>
          <a:blip r:embed="rId11"/>
          <a:srcRect t="-27726" b="-27726"/>
          <a:stretch/>
        </p:blipFill>
        <p:spPr>
          <a:xfrm>
            <a:off x="8229600" y="3038551"/>
            <a:ext cx="85954" cy="152705"/>
          </a:xfrm>
          <a:prstGeom prst="rect">
            <a:avLst/>
          </a:prstGeom>
        </p:spPr>
      </p:pic>
      <p:sp>
        <p:nvSpPr>
          <p:cNvPr id="59" name="Text 42"/>
          <p:cNvSpPr txBox="1"/>
          <p:nvPr/>
        </p:nvSpPr>
        <p:spPr>
          <a:xfrm>
            <a:off x="8410651" y="3000146"/>
            <a:ext cx="303855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>
                <a:solidFill>
                  <a:srgbClr val="1118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Managed Service:</a:t>
            </a:r>
            <a:r>
              <a:rPr lang="en-US" sz="1000">
                <a:solidFill>
                  <a:srgbClr val="47556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 SLA-driven operations</a:t>
            </a:r>
            <a:endParaRPr lang="en-US" sz="1000"/>
          </a:p>
        </p:txBody>
      </p:sp>
      <p:pic>
        <p:nvPicPr>
          <p:cNvPr id="60" name="Image 15" descr="gen-dedup-3678629b4a5ad6139a7cc5dcf1ee97ee.png"/>
          <p:cNvPicPr>
            <a:picLocks noChangeAspect="1"/>
          </p:cNvPicPr>
          <p:nvPr/>
        </p:nvPicPr>
        <p:blipFill>
          <a:blip r:embed="rId12"/>
          <a:srcRect t="-119879" b="-119879"/>
          <a:stretch/>
        </p:blipFill>
        <p:spPr>
          <a:xfrm>
            <a:off x="8229600" y="3343046"/>
            <a:ext cx="85954" cy="333756"/>
          </a:xfrm>
          <a:prstGeom prst="rect">
            <a:avLst/>
          </a:prstGeom>
        </p:spPr>
      </p:pic>
      <p:sp>
        <p:nvSpPr>
          <p:cNvPr id="61" name="Text 43"/>
          <p:cNvSpPr txBox="1"/>
          <p:nvPr/>
        </p:nvSpPr>
        <p:spPr>
          <a:xfrm>
            <a:off x="8410651" y="3305556"/>
            <a:ext cx="2943454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>
                <a:solidFill>
                  <a:srgbClr val="1118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Outcome-Based:</a:t>
            </a:r>
            <a:r>
              <a:rPr lang="en-US" sz="1000">
                <a:solidFill>
                  <a:srgbClr val="47556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 Gain-share pricing tied to value</a:t>
            </a:r>
            <a:endParaRPr lang="en-US" sz="1000"/>
          </a:p>
        </p:txBody>
      </p:sp>
      <p:sp>
        <p:nvSpPr>
          <p:cNvPr id="62" name="Text 44"/>
          <p:cNvSpPr txBox="1"/>
          <p:nvPr/>
        </p:nvSpPr>
        <p:spPr>
          <a:xfrm>
            <a:off x="10650931" y="1848002"/>
            <a:ext cx="806501" cy="1243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>
                <a:solidFill>
                  <a:srgbClr val="334155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PARTNERSHIP</a:t>
            </a:r>
            <a:endParaRPr lang="en-US" sz="800"/>
          </a:p>
        </p:txBody>
      </p:sp>
      <p:pic>
        <p:nvPicPr>
          <p:cNvPr id="63" name="Image 16" descr="gen-dedup-a2699a036d9634824b4953ceddf6835e.png"/>
          <p:cNvPicPr>
            <a:picLocks noChangeAspect="1"/>
          </p:cNvPicPr>
          <p:nvPr/>
        </p:nvPicPr>
        <p:blipFill>
          <a:blip r:embed="rId13"/>
          <a:srcRect t="-16800" b="-16800"/>
          <a:stretch/>
        </p:blipFill>
        <p:spPr>
          <a:xfrm>
            <a:off x="905256" y="4809744"/>
            <a:ext cx="114300" cy="152705"/>
          </a:xfrm>
          <a:prstGeom prst="rect">
            <a:avLst/>
          </a:prstGeom>
        </p:spPr>
      </p:pic>
      <p:sp>
        <p:nvSpPr>
          <p:cNvPr id="64" name="Text 45"/>
          <p:cNvSpPr txBox="1"/>
          <p:nvPr/>
        </p:nvSpPr>
        <p:spPr>
          <a:xfrm>
            <a:off x="1114654" y="4762195"/>
            <a:ext cx="3151937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kern="0" spc="27">
                <a:solidFill>
                  <a:srgbClr val="1E293B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SAMPLE IMPLEMENTATION ROADMAP</a:t>
            </a:r>
            <a:endParaRPr lang="en-US" sz="1300"/>
          </a:p>
        </p:txBody>
      </p:sp>
      <p:sp>
        <p:nvSpPr>
          <p:cNvPr id="65" name="Text 46"/>
          <p:cNvSpPr txBox="1"/>
          <p:nvPr/>
        </p:nvSpPr>
        <p:spPr>
          <a:xfrm>
            <a:off x="1047902" y="5315407"/>
            <a:ext cx="719633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>
                <a:solidFill>
                  <a:srgbClr val="2A9D8F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DISCOVERY</a:t>
            </a:r>
            <a:endParaRPr lang="en-US" sz="900"/>
          </a:p>
        </p:txBody>
      </p:sp>
      <p:sp>
        <p:nvSpPr>
          <p:cNvPr id="66" name="Text 47"/>
          <p:cNvSpPr txBox="1"/>
          <p:nvPr/>
        </p:nvSpPr>
        <p:spPr>
          <a:xfrm>
            <a:off x="3063240" y="5238598"/>
            <a:ext cx="18196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>
                <a:solidFill>
                  <a:srgbClr val="CBD5E1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Q1</a:t>
            </a:r>
            <a:endParaRPr lang="en-US" sz="1200"/>
          </a:p>
        </p:txBody>
      </p:sp>
      <p:sp>
        <p:nvSpPr>
          <p:cNvPr id="67" name="Text 48"/>
          <p:cNvSpPr txBox="1"/>
          <p:nvPr/>
        </p:nvSpPr>
        <p:spPr>
          <a:xfrm>
            <a:off x="1047902" y="5505602"/>
            <a:ext cx="2162556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>
                <a:solidFill>
                  <a:srgbClr val="47556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Assess readiness, define scope, select initial use cases</a:t>
            </a:r>
            <a:endParaRPr lang="en-US" sz="900"/>
          </a:p>
        </p:txBody>
      </p:sp>
      <p:sp>
        <p:nvSpPr>
          <p:cNvPr id="68" name="Shape 49"/>
          <p:cNvSpPr/>
          <p:nvPr/>
        </p:nvSpPr>
        <p:spPr>
          <a:xfrm>
            <a:off x="1047902" y="6117336"/>
            <a:ext cx="562356" cy="9144"/>
          </a:xfrm>
          <a:prstGeom prst="rect">
            <a:avLst/>
          </a:prstGeom>
          <a:solidFill>
            <a:srgbClr val="E6F3F1"/>
          </a:solidFill>
          <a:ln w="12700">
            <a:solidFill>
              <a:srgbClr val="E6F3F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9" name="Text 50"/>
          <p:cNvSpPr txBox="1"/>
          <p:nvPr/>
        </p:nvSpPr>
        <p:spPr>
          <a:xfrm>
            <a:off x="1104595" y="5964631"/>
            <a:ext cx="716890" cy="1243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>
                <a:solidFill>
                  <a:srgbClr val="2A9D8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Initiation</a:t>
            </a:r>
            <a:endParaRPr lang="en-US" sz="800"/>
          </a:p>
        </p:txBody>
      </p:sp>
      <p:pic>
        <p:nvPicPr>
          <p:cNvPr id="70" name="Image 17" descr="gen-dedup-6bab9f986820d248c4d42c53288c0e5d.png"/>
          <p:cNvPicPr>
            <a:picLocks noChangeAspect="1"/>
          </p:cNvPicPr>
          <p:nvPr/>
        </p:nvPicPr>
        <p:blipFill>
          <a:blip r:embed="rId14"/>
          <a:srcRect t="-5544" b="-5544"/>
          <a:stretch/>
        </p:blipFill>
        <p:spPr>
          <a:xfrm>
            <a:off x="3452774" y="5627218"/>
            <a:ext cx="105156" cy="133502"/>
          </a:xfrm>
          <a:prstGeom prst="rect">
            <a:avLst/>
          </a:prstGeom>
        </p:spPr>
      </p:pic>
      <p:sp>
        <p:nvSpPr>
          <p:cNvPr id="71" name="Text 51"/>
          <p:cNvSpPr txBox="1"/>
          <p:nvPr/>
        </p:nvSpPr>
        <p:spPr>
          <a:xfrm>
            <a:off x="3810305" y="5315407"/>
            <a:ext cx="864108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>
                <a:solidFill>
                  <a:srgbClr val="D62839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PILOT / POC</a:t>
            </a:r>
            <a:endParaRPr lang="en-US" sz="900"/>
          </a:p>
        </p:txBody>
      </p:sp>
      <p:sp>
        <p:nvSpPr>
          <p:cNvPr id="72" name="Text 52"/>
          <p:cNvSpPr txBox="1"/>
          <p:nvPr/>
        </p:nvSpPr>
        <p:spPr>
          <a:xfrm>
            <a:off x="5807354" y="5238598"/>
            <a:ext cx="1965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>
                <a:solidFill>
                  <a:srgbClr val="CBD5E1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Q2</a:t>
            </a:r>
            <a:endParaRPr lang="en-US" sz="1200"/>
          </a:p>
        </p:txBody>
      </p:sp>
      <p:sp>
        <p:nvSpPr>
          <p:cNvPr id="73" name="Text 53"/>
          <p:cNvSpPr txBox="1"/>
          <p:nvPr/>
        </p:nvSpPr>
        <p:spPr>
          <a:xfrm>
            <a:off x="3810305" y="5505602"/>
            <a:ext cx="2162556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>
                <a:solidFill>
                  <a:srgbClr val="47556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MVP build, user testing, architecture validation</a:t>
            </a:r>
            <a:endParaRPr lang="en-US" sz="900"/>
          </a:p>
        </p:txBody>
      </p:sp>
      <p:sp>
        <p:nvSpPr>
          <p:cNvPr id="74" name="Shape 54"/>
          <p:cNvSpPr/>
          <p:nvPr/>
        </p:nvSpPr>
        <p:spPr>
          <a:xfrm>
            <a:off x="3810305" y="5897880"/>
            <a:ext cx="629107" cy="219456"/>
          </a:xfrm>
          <a:prstGeom prst="roundRect">
            <a:avLst>
              <a:gd name="adj" fmla="val 144928"/>
            </a:avLst>
          </a:prstGeom>
          <a:solidFill>
            <a:srgbClr val="FEF2F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5" name="Text 55"/>
          <p:cNvSpPr txBox="1"/>
          <p:nvPr/>
        </p:nvSpPr>
        <p:spPr>
          <a:xfrm>
            <a:off x="3866998" y="5964631"/>
            <a:ext cx="726948" cy="1243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>
                <a:solidFill>
                  <a:srgbClr val="D628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Validation</a:t>
            </a:r>
            <a:endParaRPr lang="en-US" sz="800"/>
          </a:p>
        </p:txBody>
      </p:sp>
      <p:pic>
        <p:nvPicPr>
          <p:cNvPr id="76" name="Image 18" descr="gen-dedup-6bab9f986820d248c4d42c53288c0e5d.png"/>
          <p:cNvPicPr>
            <a:picLocks noChangeAspect="1"/>
          </p:cNvPicPr>
          <p:nvPr/>
        </p:nvPicPr>
        <p:blipFill>
          <a:blip r:embed="rId14"/>
          <a:srcRect t="-5544" b="-5544"/>
          <a:stretch/>
        </p:blipFill>
        <p:spPr>
          <a:xfrm>
            <a:off x="6215177" y="5627218"/>
            <a:ext cx="105156" cy="133502"/>
          </a:xfrm>
          <a:prstGeom prst="rect">
            <a:avLst/>
          </a:prstGeom>
        </p:spPr>
      </p:pic>
      <p:sp>
        <p:nvSpPr>
          <p:cNvPr id="77" name="Text 56"/>
          <p:cNvSpPr txBox="1"/>
          <p:nvPr/>
        </p:nvSpPr>
        <p:spPr>
          <a:xfrm>
            <a:off x="6572707" y="5315407"/>
            <a:ext cx="402336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>
                <a:solidFill>
                  <a:srgbClr val="1E293B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SCALE</a:t>
            </a:r>
            <a:endParaRPr lang="en-US" sz="900"/>
          </a:p>
        </p:txBody>
      </p:sp>
      <p:sp>
        <p:nvSpPr>
          <p:cNvPr id="78" name="Text 57"/>
          <p:cNvSpPr txBox="1"/>
          <p:nvPr/>
        </p:nvSpPr>
        <p:spPr>
          <a:xfrm>
            <a:off x="8569757" y="5238598"/>
            <a:ext cx="1965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>
                <a:solidFill>
                  <a:srgbClr val="CBD5E1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Q3</a:t>
            </a:r>
            <a:endParaRPr lang="en-US" sz="1200"/>
          </a:p>
        </p:txBody>
      </p:sp>
      <p:sp>
        <p:nvSpPr>
          <p:cNvPr id="79" name="Text 58"/>
          <p:cNvSpPr txBox="1"/>
          <p:nvPr/>
        </p:nvSpPr>
        <p:spPr>
          <a:xfrm>
            <a:off x="6572707" y="5505602"/>
            <a:ext cx="2162556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>
                <a:solidFill>
                  <a:srgbClr val="47556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Production deployment, integration, vendor onboarding</a:t>
            </a:r>
            <a:endParaRPr lang="en-US" sz="900"/>
          </a:p>
        </p:txBody>
      </p:sp>
      <p:sp>
        <p:nvSpPr>
          <p:cNvPr id="80" name="Shape 59"/>
          <p:cNvSpPr/>
          <p:nvPr/>
        </p:nvSpPr>
        <p:spPr>
          <a:xfrm>
            <a:off x="6572707" y="5897880"/>
            <a:ext cx="619049" cy="219456"/>
          </a:xfrm>
          <a:prstGeom prst="roundRect">
            <a:avLst>
              <a:gd name="adj" fmla="val 144928"/>
            </a:avLst>
          </a:prstGeom>
          <a:solidFill>
            <a:srgbClr val="F1F5F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1" name="Text 60"/>
          <p:cNvSpPr txBox="1"/>
          <p:nvPr/>
        </p:nvSpPr>
        <p:spPr>
          <a:xfrm>
            <a:off x="6629400" y="5964631"/>
            <a:ext cx="661111" cy="1243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>
                <a:solidFill>
                  <a:srgbClr val="47556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Execution</a:t>
            </a:r>
            <a:endParaRPr lang="en-US" sz="800"/>
          </a:p>
        </p:txBody>
      </p:sp>
      <p:pic>
        <p:nvPicPr>
          <p:cNvPr id="82" name="Image 19" descr="gen-dedup-6bab9f986820d248c4d42c53288c0e5d.png"/>
          <p:cNvPicPr>
            <a:picLocks noChangeAspect="1"/>
          </p:cNvPicPr>
          <p:nvPr/>
        </p:nvPicPr>
        <p:blipFill>
          <a:blip r:embed="rId14"/>
          <a:srcRect t="-5544" b="-5544"/>
          <a:stretch/>
        </p:blipFill>
        <p:spPr>
          <a:xfrm>
            <a:off x="8977579" y="5627218"/>
            <a:ext cx="105156" cy="133502"/>
          </a:xfrm>
          <a:prstGeom prst="rect">
            <a:avLst/>
          </a:prstGeom>
        </p:spPr>
      </p:pic>
      <p:sp>
        <p:nvSpPr>
          <p:cNvPr id="83" name="Text 61"/>
          <p:cNvSpPr txBox="1"/>
          <p:nvPr/>
        </p:nvSpPr>
        <p:spPr>
          <a:xfrm>
            <a:off x="9334195" y="5315407"/>
            <a:ext cx="637337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>
                <a:solidFill>
                  <a:srgbClr val="1E293B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OPTIMIZE</a:t>
            </a:r>
            <a:endParaRPr lang="en-US" sz="900"/>
          </a:p>
        </p:txBody>
      </p:sp>
      <p:sp>
        <p:nvSpPr>
          <p:cNvPr id="84" name="Text 62"/>
          <p:cNvSpPr txBox="1"/>
          <p:nvPr/>
        </p:nvSpPr>
        <p:spPr>
          <a:xfrm>
            <a:off x="11044123" y="5238598"/>
            <a:ext cx="1965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>
                <a:solidFill>
                  <a:srgbClr val="CBD5E1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Q4</a:t>
            </a:r>
            <a:endParaRPr lang="en-US" sz="1200"/>
          </a:p>
        </p:txBody>
      </p:sp>
      <p:sp>
        <p:nvSpPr>
          <p:cNvPr id="85" name="Text 63"/>
          <p:cNvSpPr txBox="1"/>
          <p:nvPr/>
        </p:nvSpPr>
        <p:spPr>
          <a:xfrm>
            <a:off x="9334195" y="5505602"/>
            <a:ext cx="1877263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>
                <a:solidFill>
                  <a:srgbClr val="47556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Run ops, process tuning, continuous improvement</a:t>
            </a:r>
            <a:endParaRPr lang="en-US" sz="900"/>
          </a:p>
        </p:txBody>
      </p:sp>
      <p:sp>
        <p:nvSpPr>
          <p:cNvPr id="86" name="Text 64"/>
          <p:cNvSpPr txBox="1"/>
          <p:nvPr/>
        </p:nvSpPr>
        <p:spPr>
          <a:xfrm>
            <a:off x="9391802" y="5964631"/>
            <a:ext cx="737006" cy="1243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>
                <a:solidFill>
                  <a:srgbClr val="64748B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Refinement</a:t>
            </a:r>
            <a:endParaRPr lang="en-US" sz="800"/>
          </a:p>
        </p:txBody>
      </p:sp>
    </p:spTree>
    <p:extLst>
      <p:ext uri="{BB962C8B-B14F-4D97-AF65-F5344CB8AC3E}">
        <p14:creationId xmlns:p14="http://schemas.microsoft.com/office/powerpoint/2010/main" val="11530500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Shape 2"/>
          <p:cNvSpPr/>
          <p:nvPr/>
        </p:nvSpPr>
        <p:spPr>
          <a:xfrm>
            <a:off x="8382305" y="-1429207"/>
            <a:ext cx="4762195" cy="4762195"/>
          </a:xfrm>
          <a:prstGeom prst="ellipse">
            <a:avLst/>
          </a:prstGeom>
          <a:solidFill>
            <a:srgbClr val="2A9D8F">
              <a:alpha val="3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Shape 3"/>
          <p:cNvSpPr/>
          <p:nvPr/>
        </p:nvSpPr>
        <p:spPr>
          <a:xfrm>
            <a:off x="-952805" y="4476902"/>
            <a:ext cx="3810305" cy="3810305"/>
          </a:xfrm>
          <a:prstGeom prst="ellipse">
            <a:avLst/>
          </a:prstGeom>
          <a:solidFill>
            <a:srgbClr val="D62839">
              <a:alpha val="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rcRect l="-202" r="-202"/>
          <a:stretch/>
        </p:blipFill>
        <p:spPr>
          <a:xfrm>
            <a:off x="0" y="6782105"/>
            <a:ext cx="8128102" cy="75895"/>
          </a:xfrm>
          <a:prstGeom prst="rect">
            <a:avLst/>
          </a:prstGeom>
        </p:spPr>
      </p:pic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rcRect l="-197" r="-197"/>
          <a:stretch/>
        </p:blipFill>
        <p:spPr>
          <a:xfrm>
            <a:off x="8128102" y="6782105"/>
            <a:ext cx="4063594" cy="75895"/>
          </a:xfrm>
          <a:prstGeom prst="rect">
            <a:avLst/>
          </a:prstGeom>
        </p:spPr>
      </p:pic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5"/>
          <a:srcRect t="60" b="60"/>
          <a:stretch/>
        </p:blipFill>
        <p:spPr>
          <a:xfrm>
            <a:off x="4121201" y="914400"/>
            <a:ext cx="3952951" cy="1904695"/>
          </a:xfrm>
          <a:prstGeom prst="rect">
            <a:avLst/>
          </a:prstGeom>
        </p:spPr>
      </p:pic>
      <p:pic>
        <p:nvPicPr>
          <p:cNvPr id="9" name="Image 3" descr="preencoded.png"/>
          <p:cNvPicPr>
            <a:picLocks noChangeAspect="1"/>
          </p:cNvPicPr>
          <p:nvPr/>
        </p:nvPicPr>
        <p:blipFill>
          <a:blip r:embed="rId6"/>
          <a:srcRect t="-420" b="-420"/>
          <a:stretch/>
        </p:blipFill>
        <p:spPr>
          <a:xfrm>
            <a:off x="5715000" y="3276295"/>
            <a:ext cx="761695" cy="38405"/>
          </a:xfrm>
          <a:prstGeom prst="rect">
            <a:avLst/>
          </a:prstGeom>
        </p:spPr>
      </p:pic>
      <p:sp>
        <p:nvSpPr>
          <p:cNvPr id="10" name="Text 4"/>
          <p:cNvSpPr txBox="1"/>
          <p:nvPr/>
        </p:nvSpPr>
        <p:spPr>
          <a:xfrm>
            <a:off x="3536899" y="3619195"/>
            <a:ext cx="5125212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000" b="0" i="1" u="none" strike="noStrike" kern="0" cap="none" spc="150" normalizeH="0" baseline="0" noProof="0">
                <a:ln>
                  <a:noFill/>
                </a:ln>
                <a:solidFill>
                  <a:srgbClr val="4B5563"/>
                </a:solidFill>
                <a:effectLst/>
                <a:uLnTx/>
                <a:uFillTx/>
                <a:latin typeface="Raleway" pitchFamily="34" charset="0"/>
                <a:ea typeface="Raleway" pitchFamily="34" charset="-122"/>
                <a:cs typeface="Raleway" pitchFamily="34" charset="-120"/>
              </a:rPr>
              <a:t>"Let's win together"</a:t>
            </a:r>
            <a:endParaRPr kumimoji="0" lang="en-US" sz="3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1" name="Image 4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761695" y="5410505"/>
            <a:ext cx="761695" cy="761695"/>
          </a:xfrm>
          <a:prstGeom prst="rect">
            <a:avLst/>
          </a:prstGeom>
        </p:spPr>
      </p:pic>
      <p:pic>
        <p:nvPicPr>
          <p:cNvPr id="12" name="Image 5" descr="preencoded.png"/>
          <p:cNvPicPr>
            <a:picLocks noChangeAspect="1"/>
          </p:cNvPicPr>
          <p:nvPr/>
        </p:nvPicPr>
        <p:blipFill>
          <a:blip r:embed="rId8"/>
          <a:srcRect l="81" r="81"/>
          <a:stretch/>
        </p:blipFill>
        <p:spPr>
          <a:xfrm>
            <a:off x="3189427" y="5658307"/>
            <a:ext cx="809244" cy="267005"/>
          </a:xfrm>
          <a:prstGeom prst="rect">
            <a:avLst/>
          </a:prstGeom>
        </p:spPr>
      </p:pic>
      <p:pic>
        <p:nvPicPr>
          <p:cNvPr id="13" name="Image 6" descr="preencoded.png"/>
          <p:cNvPicPr>
            <a:picLocks noChangeAspect="1"/>
          </p:cNvPicPr>
          <p:nvPr/>
        </p:nvPicPr>
        <p:blipFill>
          <a:blip r:embed="rId9"/>
          <a:srcRect l="7" r="7"/>
          <a:stretch/>
        </p:blipFill>
        <p:spPr>
          <a:xfrm>
            <a:off x="5665622" y="5453482"/>
            <a:ext cx="724205" cy="676656"/>
          </a:xfrm>
          <a:prstGeom prst="rect">
            <a:avLst/>
          </a:prstGeom>
        </p:spPr>
      </p:pic>
      <p:pic>
        <p:nvPicPr>
          <p:cNvPr id="14" name="Image 7" descr="preencoded.png"/>
          <p:cNvPicPr>
            <a:picLocks noChangeAspect="1"/>
          </p:cNvPicPr>
          <p:nvPr/>
        </p:nvPicPr>
        <p:blipFill>
          <a:blip r:embed="rId10"/>
          <a:srcRect t="236" b="236"/>
          <a:stretch/>
        </p:blipFill>
        <p:spPr>
          <a:xfrm>
            <a:off x="8054950" y="5410505"/>
            <a:ext cx="1257300" cy="761695"/>
          </a:xfrm>
          <a:prstGeom prst="rect">
            <a:avLst/>
          </a:prstGeom>
        </p:spPr>
      </p:pic>
      <p:pic>
        <p:nvPicPr>
          <p:cNvPr id="15" name="Image 8" descr="preencoded.png"/>
          <p:cNvPicPr>
            <a:picLocks noChangeAspect="1"/>
          </p:cNvPicPr>
          <p:nvPr/>
        </p:nvPicPr>
        <p:blipFill>
          <a:blip r:embed="rId11"/>
          <a:srcRect t="23" b="24"/>
          <a:stretch/>
        </p:blipFill>
        <p:spPr>
          <a:xfrm>
            <a:off x="10972800" y="5548579"/>
            <a:ext cx="457200" cy="485546"/>
          </a:xfrm>
          <a:prstGeom prst="rect">
            <a:avLst/>
          </a:prstGeom>
        </p:spPr>
      </p:pic>
      <p:pic>
        <p:nvPicPr>
          <p:cNvPr id="16" name="Image 9" descr="preencoded.png"/>
          <p:cNvPicPr>
            <a:picLocks noChangeAspect="1"/>
          </p:cNvPicPr>
          <p:nvPr/>
        </p:nvPicPr>
        <p:blipFill>
          <a:blip r:embed="rId4"/>
          <a:srcRect l="-197" r="-197"/>
          <a:stretch/>
        </p:blipFill>
        <p:spPr>
          <a:xfrm>
            <a:off x="0" y="0"/>
            <a:ext cx="4063594" cy="75895"/>
          </a:xfrm>
          <a:prstGeom prst="rect">
            <a:avLst/>
          </a:prstGeom>
        </p:spPr>
      </p:pic>
      <p:pic>
        <p:nvPicPr>
          <p:cNvPr id="17" name="Image 10" descr="preencoded.png"/>
          <p:cNvPicPr>
            <a:picLocks noChangeAspect="1"/>
          </p:cNvPicPr>
          <p:nvPr/>
        </p:nvPicPr>
        <p:blipFill>
          <a:blip r:embed="rId3"/>
          <a:srcRect l="-202" r="-202"/>
          <a:stretch/>
        </p:blipFill>
        <p:spPr>
          <a:xfrm>
            <a:off x="4063594" y="0"/>
            <a:ext cx="8128102" cy="758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7474755"/>
      </p:ext>
    </p:extLst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p/>
        </p:txBody>
      </p:sp>
      <p:pic>
        <p:nvPicPr>
          <p:cNvPr id="4" name="Image 0" descr="gen-dedup-37abb9d8cc081a24feb608c288538026.png">    </p:cNvPr>
          <p:cNvPicPr>
            <a:picLocks noChangeAspect="1"/>
          </p:cNvPicPr>
          <p:nvPr/>
        </p:nvPicPr>
        <p:blipFill>
          <a:blip r:embed="rId2"/>
          <a:srcRect l="-198" r="-198" t="0" b="0"/>
          <a:stretch/>
        </p:blipFill>
        <p:spPr>
          <a:xfrm>
            <a:off x="0" y="0"/>
            <a:ext cx="8124444" cy="75895"/>
          </a:xfrm>
          <a:prstGeom prst="rect">
            <a:avLst/>
          </a:prstGeom>
        </p:spPr>
      </p:pic>
      <p:pic>
        <p:nvPicPr>
          <p:cNvPr id="5" name="Image 1" descr="gen-dedup-c2c9136402f20c216bf7cbcc052ad1a0.png">    </p:cNvPr>
          <p:cNvPicPr>
            <a:picLocks noChangeAspect="1"/>
          </p:cNvPicPr>
          <p:nvPr/>
        </p:nvPicPr>
        <p:blipFill>
          <a:blip r:embed="rId3"/>
          <a:srcRect l="-202" r="-202" t="0" b="0"/>
          <a:stretch/>
        </p:blipFill>
        <p:spPr>
          <a:xfrm>
            <a:off x="8124444" y="0"/>
            <a:ext cx="4067251" cy="75895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609905" y="1333195"/>
            <a:ext cx="2609698" cy="1666951"/>
          </a:xfrm>
          <a:prstGeom prst="roundRect">
            <a:avLst>
              <a:gd name="adj" fmla="val 455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38100" dir="16200000">
              <a:srgbClr val="000000">
                <a:alpha val="2000"/>
              </a:srgbClr>
            </a:outerShdw>
          </a:effectLst>
        </p:spPr>
        <p:txBody>
          <a:bodyPr/>
          <a:p/>
        </p:txBody>
      </p:sp>
      <p:sp>
        <p:nvSpPr>
          <p:cNvPr id="7" name="Shape 3"/>
          <p:cNvSpPr/>
          <p:nvPr/>
        </p:nvSpPr>
        <p:spPr>
          <a:xfrm>
            <a:off x="609905" y="1333195"/>
            <a:ext cx="2609698" cy="38405"/>
          </a:xfrm>
          <a:prstGeom prst="roundRect">
            <a:avLst>
              <a:gd name="adj" fmla="val 197618"/>
            </a:avLst>
          </a:prstGeom>
          <a:solidFill>
            <a:srgbClr val="D62839"/>
          </a:solidFill>
          <a:ln w="12700">
            <a:solidFill>
              <a:srgbClr val="D62839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8" name="Shape 4"/>
          <p:cNvSpPr/>
          <p:nvPr/>
        </p:nvSpPr>
        <p:spPr>
          <a:xfrm>
            <a:off x="3372307" y="1333195"/>
            <a:ext cx="2609698" cy="1666951"/>
          </a:xfrm>
          <a:prstGeom prst="roundRect">
            <a:avLst>
              <a:gd name="adj" fmla="val 455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38100" dir="16200000">
              <a:srgbClr val="000000">
                <a:alpha val="2000"/>
              </a:srgbClr>
            </a:outerShdw>
          </a:effectLst>
        </p:spPr>
        <p:txBody>
          <a:bodyPr/>
          <a:p/>
        </p:txBody>
      </p:sp>
      <p:sp>
        <p:nvSpPr>
          <p:cNvPr id="9" name="Shape 5"/>
          <p:cNvSpPr/>
          <p:nvPr/>
        </p:nvSpPr>
        <p:spPr>
          <a:xfrm>
            <a:off x="3372307" y="1333195"/>
            <a:ext cx="2609698" cy="38405"/>
          </a:xfrm>
          <a:prstGeom prst="roundRect">
            <a:avLst>
              <a:gd name="adj" fmla="val 197618"/>
            </a:avLst>
          </a:prstGeom>
          <a:solidFill>
            <a:srgbClr val="2A9D8F"/>
          </a:solidFill>
          <a:ln w="12700">
            <a:solidFill>
              <a:srgbClr val="2A9D8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0" name="Shape 6"/>
          <p:cNvSpPr/>
          <p:nvPr/>
        </p:nvSpPr>
        <p:spPr>
          <a:xfrm>
            <a:off x="609905" y="3095244"/>
            <a:ext cx="2609698" cy="1666951"/>
          </a:xfrm>
          <a:prstGeom prst="roundRect">
            <a:avLst>
              <a:gd name="adj" fmla="val 455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38100" dir="16200000">
              <a:srgbClr val="000000">
                <a:alpha val="2000"/>
              </a:srgbClr>
            </a:outerShdw>
          </a:effectLst>
        </p:spPr>
        <p:txBody>
          <a:bodyPr/>
          <a:p/>
        </p:txBody>
      </p:sp>
      <p:sp>
        <p:nvSpPr>
          <p:cNvPr id="11" name="Shape 7"/>
          <p:cNvSpPr/>
          <p:nvPr/>
        </p:nvSpPr>
        <p:spPr>
          <a:xfrm>
            <a:off x="609905" y="3095244"/>
            <a:ext cx="2609698" cy="38405"/>
          </a:xfrm>
          <a:prstGeom prst="roundRect">
            <a:avLst>
              <a:gd name="adj" fmla="val 197618"/>
            </a:avLst>
          </a:prstGeom>
          <a:solidFill>
            <a:srgbClr val="0F172A"/>
          </a:solidFill>
          <a:ln w="12700">
            <a:solidFill>
              <a:srgbClr val="0F172A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2" name="Shape 8"/>
          <p:cNvSpPr/>
          <p:nvPr/>
        </p:nvSpPr>
        <p:spPr>
          <a:xfrm>
            <a:off x="3372307" y="3095244"/>
            <a:ext cx="2609698" cy="1666951"/>
          </a:xfrm>
          <a:prstGeom prst="roundRect">
            <a:avLst>
              <a:gd name="adj" fmla="val 455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38100" dir="16200000">
              <a:srgbClr val="000000">
                <a:alpha val="2000"/>
              </a:srgbClr>
            </a:outerShdw>
          </a:effectLst>
        </p:spPr>
        <p:txBody>
          <a:bodyPr/>
          <a:p/>
        </p:txBody>
      </p:sp>
      <p:sp>
        <p:nvSpPr>
          <p:cNvPr id="13" name="Shape 9"/>
          <p:cNvSpPr/>
          <p:nvPr/>
        </p:nvSpPr>
        <p:spPr>
          <a:xfrm>
            <a:off x="3372307" y="3095244"/>
            <a:ext cx="2609698" cy="38405"/>
          </a:xfrm>
          <a:prstGeom prst="roundRect">
            <a:avLst>
              <a:gd name="adj" fmla="val 197618"/>
            </a:avLst>
          </a:prstGeom>
          <a:solidFill>
            <a:srgbClr val="475569"/>
          </a:solidFill>
          <a:ln w="12700">
            <a:solidFill>
              <a:srgbClr val="475569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4" name="Shape 10"/>
          <p:cNvSpPr/>
          <p:nvPr/>
        </p:nvSpPr>
        <p:spPr>
          <a:xfrm>
            <a:off x="6286500" y="1333195"/>
            <a:ext cx="5333695" cy="2066544"/>
          </a:xfrm>
          <a:prstGeom prst="roundRect">
            <a:avLst>
              <a:gd name="adj" fmla="val 367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38100" dir="16200000">
              <a:srgbClr val="000000">
                <a:alpha val="2000"/>
              </a:srgbClr>
            </a:outerShdw>
          </a:effectLst>
        </p:spPr>
        <p:txBody>
          <a:bodyPr/>
          <a:p/>
        </p:txBody>
      </p:sp>
      <p:sp>
        <p:nvSpPr>
          <p:cNvPr id="15" name="Shape 11"/>
          <p:cNvSpPr/>
          <p:nvPr/>
        </p:nvSpPr>
        <p:spPr>
          <a:xfrm>
            <a:off x="6286500" y="3524098"/>
            <a:ext cx="5333695" cy="2734056"/>
          </a:xfrm>
          <a:prstGeom prst="roundRect">
            <a:avLst>
              <a:gd name="adj" fmla="val 277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38100" dir="16200000">
              <a:srgbClr val="000000">
                <a:alpha val="2000"/>
              </a:srgbClr>
            </a:outerShdw>
          </a:effectLst>
        </p:spPr>
        <p:txBody>
          <a:bodyPr/>
          <a:p/>
        </p:txBody>
      </p:sp>
      <p:sp>
        <p:nvSpPr>
          <p:cNvPr id="16" name="Shape 12"/>
          <p:cNvSpPr/>
          <p:nvPr/>
        </p:nvSpPr>
        <p:spPr>
          <a:xfrm>
            <a:off x="0" y="6476695"/>
            <a:ext cx="12191695" cy="390449"/>
          </a:xfrm>
          <a:prstGeom prst="rect">
            <a:avLst/>
          </a:prstGeom>
          <a:solidFill>
            <a:srgbClr val="F1F5F9"/>
          </a:solidFill>
          <a:ln/>
        </p:spPr>
        <p:txBody>
          <a:bodyPr/>
          <a:p/>
        </p:txBody>
      </p:sp>
      <p:sp>
        <p:nvSpPr>
          <p:cNvPr id="17" name="Shape 13"/>
          <p:cNvSpPr/>
          <p:nvPr/>
        </p:nvSpPr>
        <p:spPr>
          <a:xfrm>
            <a:off x="0" y="6476695"/>
            <a:ext cx="12191695" cy="91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p/>
        </p:txBody>
      </p:sp>
      <p:pic>
        <p:nvPicPr>
          <p:cNvPr id="18" name="Image 2" descr="gen-dedup-c86e8c174ca8fa1030f905d340dc1437.png">    </p:cNvPr>
          <p:cNvPicPr>
            <a:picLocks noChangeAspect="1"/>
          </p:cNvPicPr>
          <p:nvPr/>
        </p:nvPicPr>
        <p:blipFill>
          <a:blip r:embed="rId4"/>
          <a:srcRect l="-400" r="-400" t="0" b="0"/>
          <a:stretch/>
        </p:blipFill>
        <p:spPr>
          <a:xfrm>
            <a:off x="609905" y="390449"/>
            <a:ext cx="57607" cy="571500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819302" y="295351"/>
            <a:ext cx="10478110" cy="4005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11827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OUR DELIVERY FOOTPRINT IN Banking &amp; Financial Services</a:t>
            </a:r>
            <a:endParaRPr lang="en-US" sz="2800" dirty="0"/>
          </a:p>
        </p:txBody>
      </p:sp>
      <p:sp>
        <p:nvSpPr>
          <p:cNvPr id="20" name="Text 15"/>
          <p:cNvSpPr txBox="1"/>
          <p:nvPr/>
        </p:nvSpPr>
        <p:spPr>
          <a:xfrm>
            <a:off x="819302" y="750722"/>
            <a:ext cx="10478110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47556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Our J2W delivery track record in this industry</a:t>
            </a:r>
            <a:endParaRPr lang="en-US" sz="1300" dirty="0"/>
          </a:p>
        </p:txBody>
      </p:sp>
      <p:sp>
        <p:nvSpPr>
          <p:cNvPr id="21" name="Text 16"/>
          <p:cNvSpPr txBox="1"/>
          <p:nvPr/>
        </p:nvSpPr>
        <p:spPr>
          <a:xfrm>
            <a:off x="476402" y="1524305"/>
            <a:ext cx="2856586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62839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163</a:t>
            </a:r>
            <a:endParaRPr lang="en-US" sz="2400" dirty="0"/>
          </a:p>
        </p:txBody>
      </p:sp>
      <p:sp>
        <p:nvSpPr>
          <p:cNvPr id="22" name="Text 17"/>
          <p:cNvSpPr txBox="1"/>
          <p:nvPr/>
        </p:nvSpPr>
        <p:spPr>
          <a:xfrm>
            <a:off x="705002" y="1935785"/>
            <a:ext cx="2400300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00" spc="64" kern="0" dirty="0">
                <a:solidFill>
                  <a:srgbClr val="1E293B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Consultants deployed</a:t>
            </a:r>
            <a:endParaRPr lang="en-US" sz="1200" dirty="0"/>
          </a:p>
        </p:txBody>
      </p:sp>
      <p:sp>
        <p:nvSpPr>
          <p:cNvPr id="23" name="Text 18"/>
          <p:cNvSpPr txBox="1"/>
          <p:nvPr/>
        </p:nvSpPr>
        <p:spPr>
          <a:xfrm>
            <a:off x="705002" y="2168042"/>
            <a:ext cx="2400300" cy="1435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with Banking &amp; Financial Services</a:t>
            </a:r>
            <a:endParaRPr lang="en-US" sz="900" dirty="0"/>
          </a:p>
        </p:txBody>
      </p:sp>
      <p:sp>
        <p:nvSpPr>
          <p:cNvPr id="24" name="Text 19"/>
          <p:cNvSpPr txBox="1"/>
          <p:nvPr/>
        </p:nvSpPr>
        <p:spPr>
          <a:xfrm>
            <a:off x="3238805" y="1524305"/>
            <a:ext cx="2856586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A9D8F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10</a:t>
            </a:r>
            <a:endParaRPr lang="en-US" sz="2400" dirty="0"/>
          </a:p>
        </p:txBody>
      </p:sp>
      <p:sp>
        <p:nvSpPr>
          <p:cNvPr id="25" name="Text 20"/>
          <p:cNvSpPr txBox="1"/>
          <p:nvPr/>
        </p:nvSpPr>
        <p:spPr>
          <a:xfrm>
            <a:off x="3467405" y="1935785"/>
            <a:ext cx="2400300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00" spc="64" kern="0" dirty="0">
                <a:solidFill>
                  <a:srgbClr val="1E293B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Companies served</a:t>
            </a:r>
            <a:endParaRPr lang="en-US" sz="1200" dirty="0"/>
          </a:p>
        </p:txBody>
      </p:sp>
      <p:sp>
        <p:nvSpPr>
          <p:cNvPr id="26" name="Text 21"/>
          <p:cNvSpPr txBox="1"/>
          <p:nvPr/>
        </p:nvSpPr>
        <p:spPr>
          <a:xfrm>
            <a:off x="3467405" y="2168042"/>
            <a:ext cx="2400300" cy="1435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in this sector</a:t>
            </a:r>
            <a:endParaRPr lang="en-US" sz="900" dirty="0"/>
          </a:p>
        </p:txBody>
      </p:sp>
      <p:sp>
        <p:nvSpPr>
          <p:cNvPr id="27" name="Text 22"/>
          <p:cNvSpPr txBox="1"/>
          <p:nvPr/>
        </p:nvSpPr>
        <p:spPr>
          <a:xfrm>
            <a:off x="476402" y="3286354"/>
            <a:ext cx="2856586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7</a:t>
            </a:r>
            <a:endParaRPr lang="en-US" sz="2400" dirty="0"/>
          </a:p>
        </p:txBody>
      </p:sp>
      <p:sp>
        <p:nvSpPr>
          <p:cNvPr id="28" name="Text 23"/>
          <p:cNvSpPr txBox="1"/>
          <p:nvPr/>
        </p:nvSpPr>
        <p:spPr>
          <a:xfrm>
            <a:off x="705002" y="3697834"/>
            <a:ext cx="2400300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00" spc="64" kern="0" dirty="0">
                <a:solidFill>
                  <a:srgbClr val="1E293B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Functions delivered</a:t>
            </a:r>
            <a:endParaRPr lang="en-US" sz="1200" dirty="0"/>
          </a:p>
        </p:txBody>
      </p:sp>
      <p:sp>
        <p:nvSpPr>
          <p:cNvPr id="29" name="Text 24"/>
          <p:cNvSpPr txBox="1"/>
          <p:nvPr/>
        </p:nvSpPr>
        <p:spPr>
          <a:xfrm>
            <a:off x="705002" y="3930091"/>
            <a:ext cx="2400300" cy="1435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across projects</a:t>
            </a:r>
            <a:endParaRPr lang="en-US" sz="900" dirty="0"/>
          </a:p>
        </p:txBody>
      </p:sp>
      <p:sp>
        <p:nvSpPr>
          <p:cNvPr id="30" name="Text 25"/>
          <p:cNvSpPr txBox="1"/>
          <p:nvPr/>
        </p:nvSpPr>
        <p:spPr>
          <a:xfrm>
            <a:off x="3296412" y="3286354"/>
            <a:ext cx="2742286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475569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39</a:t>
            </a:r>
            <a:endParaRPr lang="en-US" sz="2400" dirty="0"/>
          </a:p>
        </p:txBody>
      </p:sp>
      <p:sp>
        <p:nvSpPr>
          <p:cNvPr id="31" name="Text 26"/>
          <p:cNvSpPr txBox="1"/>
          <p:nvPr/>
        </p:nvSpPr>
        <p:spPr>
          <a:xfrm>
            <a:off x="3467405" y="3697834"/>
            <a:ext cx="2400300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00" spc="64" kern="0" dirty="0">
                <a:solidFill>
                  <a:srgbClr val="1E293B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Distinct skills</a:t>
            </a:r>
            <a:endParaRPr lang="en-US" sz="1200" dirty="0"/>
          </a:p>
        </p:txBody>
      </p:sp>
      <p:sp>
        <p:nvSpPr>
          <p:cNvPr id="32" name="Text 27"/>
          <p:cNvSpPr txBox="1"/>
          <p:nvPr/>
        </p:nvSpPr>
        <p:spPr>
          <a:xfrm>
            <a:off x="3467405" y="3930091"/>
            <a:ext cx="2400300" cy="1435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deployed</a:t>
            </a:r>
            <a:endParaRPr lang="en-US" sz="900" dirty="0"/>
          </a:p>
        </p:txBody>
      </p:sp>
      <p:sp>
        <p:nvSpPr>
          <p:cNvPr id="33" name="Text 28"/>
          <p:cNvSpPr txBox="1"/>
          <p:nvPr/>
        </p:nvSpPr>
        <p:spPr>
          <a:xfrm>
            <a:off x="6896405" y="1524305"/>
            <a:ext cx="4439412" cy="2862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00" b="1" spc="75" kern="0" dirty="0">
                <a:solidFill>
                  <a:srgbClr val="111827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TOP 3 FREQUENTLY HIRED SKILLS</a:t>
            </a:r>
            <a:endParaRPr lang="en-US" sz="1500" dirty="0"/>
          </a:p>
        </p:txBody>
      </p:sp>
      <p:pic>
        <p:nvPicPr>
          <p:cNvPr id="34" name="Image 3" descr="gen-dedup-0ce6ab29f0d9f121446c79eac8a1539d.png">    </p:cNvPr>
          <p:cNvPicPr>
            <a:picLocks noChangeAspect="1"/>
          </p:cNvPicPr>
          <p:nvPr/>
        </p:nvPicPr>
        <p:blipFill>
          <a:blip r:embed="rId5"/>
          <a:srcRect l="-3419" r="-3419" t="0" b="0"/>
          <a:stretch/>
        </p:blipFill>
        <p:spPr>
          <a:xfrm>
            <a:off x="6572707" y="1585570"/>
            <a:ext cx="228600" cy="190195"/>
          </a:xfrm>
          <a:prstGeom prst="rect">
            <a:avLst/>
          </a:prstGeom>
        </p:spPr>
      </p:pic>
      <p:sp>
        <p:nvSpPr>
          <p:cNvPr id="35" name="Shape 29"/>
          <p:cNvSpPr/>
          <p:nvPr/>
        </p:nvSpPr>
        <p:spPr>
          <a:xfrm>
            <a:off x="6572707" y="1952244"/>
            <a:ext cx="4762195" cy="381305"/>
          </a:xfrm>
          <a:prstGeom prst="roundRect">
            <a:avLst>
              <a:gd name="adj" fmla="val 15108"/>
            </a:avLst>
          </a:prstGeom>
          <a:solidFill>
            <a:srgbClr val="F8FAFC"/>
          </a:solidFill>
          <a:ln/>
        </p:spPr>
        <p:txBody>
          <a:bodyPr/>
          <a:p/>
        </p:txBody>
      </p:sp>
      <p:sp>
        <p:nvSpPr>
          <p:cNvPr id="36" name="Shape 30"/>
          <p:cNvSpPr/>
          <p:nvPr/>
        </p:nvSpPr>
        <p:spPr>
          <a:xfrm>
            <a:off x="6572707" y="1952244"/>
            <a:ext cx="28346" cy="381305"/>
          </a:xfrm>
          <a:prstGeom prst="roundRect">
            <a:avLst>
              <a:gd name="adj" fmla="val 203229"/>
            </a:avLst>
          </a:prstGeom>
          <a:solidFill>
            <a:srgbClr val="D62839"/>
          </a:solidFill>
          <a:ln w="12700">
            <a:solidFill>
              <a:srgbClr val="D62839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7" name="Shape 31"/>
          <p:cNvSpPr/>
          <p:nvPr/>
        </p:nvSpPr>
        <p:spPr>
          <a:xfrm>
            <a:off x="6715354" y="2009851"/>
            <a:ext cx="267005" cy="267005"/>
          </a:xfrm>
          <a:prstGeom prst="ellipse">
            <a:avLst/>
          </a:prstGeom>
          <a:solidFill>
            <a:srgbClr val="D6283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8" name="Text 32"/>
          <p:cNvSpPr txBox="1"/>
          <p:nvPr/>
        </p:nvSpPr>
        <p:spPr>
          <a:xfrm>
            <a:off x="6822338" y="2042770"/>
            <a:ext cx="91440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1</a:t>
            </a:r>
            <a:endParaRPr lang="en-US" sz="1000" dirty="0"/>
          </a:p>
        </p:txBody>
      </p:sp>
      <p:sp>
        <p:nvSpPr>
          <p:cNvPr id="39" name="Text 33"/>
          <p:cNvSpPr txBox="1"/>
          <p:nvPr/>
        </p:nvSpPr>
        <p:spPr>
          <a:xfrm>
            <a:off x="7095744" y="2057400"/>
            <a:ext cx="4124858" cy="1719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Java  (4 companies)</a:t>
            </a:r>
            <a:endParaRPr lang="en-US" sz="1100" dirty="0"/>
          </a:p>
        </p:txBody>
      </p:sp>
      <p:sp>
        <p:nvSpPr>
          <p:cNvPr id="40" name="Shape 34"/>
          <p:cNvSpPr/>
          <p:nvPr/>
        </p:nvSpPr>
        <p:spPr>
          <a:xfrm>
            <a:off x="6572707" y="2428646"/>
            <a:ext cx="4762195" cy="381305"/>
          </a:xfrm>
          <a:prstGeom prst="roundRect">
            <a:avLst>
              <a:gd name="adj" fmla="val 15108"/>
            </a:avLst>
          </a:prstGeom>
          <a:solidFill>
            <a:srgbClr val="F8FAFC"/>
          </a:solidFill>
          <a:ln/>
        </p:spPr>
        <p:txBody>
          <a:bodyPr/>
          <a:p/>
        </p:txBody>
      </p:sp>
      <p:sp>
        <p:nvSpPr>
          <p:cNvPr id="41" name="Shape 35"/>
          <p:cNvSpPr/>
          <p:nvPr/>
        </p:nvSpPr>
        <p:spPr>
          <a:xfrm>
            <a:off x="6572707" y="2428646"/>
            <a:ext cx="28346" cy="381305"/>
          </a:xfrm>
          <a:prstGeom prst="roundRect">
            <a:avLst>
              <a:gd name="adj" fmla="val 203229"/>
            </a:avLst>
          </a:prstGeom>
          <a:solidFill>
            <a:srgbClr val="2A9D8F"/>
          </a:solidFill>
          <a:ln w="12700">
            <a:solidFill>
              <a:srgbClr val="2A9D8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2" name="Shape 36"/>
          <p:cNvSpPr/>
          <p:nvPr/>
        </p:nvSpPr>
        <p:spPr>
          <a:xfrm>
            <a:off x="6715354" y="2486254"/>
            <a:ext cx="267005" cy="267005"/>
          </a:xfrm>
          <a:prstGeom prst="ellipse">
            <a:avLst/>
          </a:prstGeom>
          <a:solidFill>
            <a:srgbClr val="2A9D8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3" name="Text 37"/>
          <p:cNvSpPr txBox="1"/>
          <p:nvPr/>
        </p:nvSpPr>
        <p:spPr>
          <a:xfrm>
            <a:off x="6815023" y="2519172"/>
            <a:ext cx="94183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2</a:t>
            </a:r>
            <a:endParaRPr lang="en-US" sz="1000" dirty="0"/>
          </a:p>
        </p:txBody>
      </p:sp>
      <p:sp>
        <p:nvSpPr>
          <p:cNvPr id="44" name="Text 38"/>
          <p:cNvSpPr txBox="1"/>
          <p:nvPr/>
        </p:nvSpPr>
        <p:spPr>
          <a:xfrm>
            <a:off x="7095744" y="2533802"/>
            <a:ext cx="4124858" cy="1719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SQL / Databases  (4 companies)</a:t>
            </a:r>
            <a:endParaRPr lang="en-US" sz="1100" dirty="0"/>
          </a:p>
        </p:txBody>
      </p:sp>
      <p:sp>
        <p:nvSpPr>
          <p:cNvPr id="45" name="Shape 39"/>
          <p:cNvSpPr/>
          <p:nvPr/>
        </p:nvSpPr>
        <p:spPr>
          <a:xfrm>
            <a:off x="6572707" y="2905049"/>
            <a:ext cx="4762195" cy="381305"/>
          </a:xfrm>
          <a:prstGeom prst="roundRect">
            <a:avLst>
              <a:gd name="adj" fmla="val 15108"/>
            </a:avLst>
          </a:prstGeom>
          <a:solidFill>
            <a:srgbClr val="F8FAFC"/>
          </a:solidFill>
          <a:ln/>
        </p:spPr>
        <p:txBody>
          <a:bodyPr/>
          <a:p/>
        </p:txBody>
      </p:sp>
      <p:sp>
        <p:nvSpPr>
          <p:cNvPr id="46" name="Shape 40"/>
          <p:cNvSpPr/>
          <p:nvPr/>
        </p:nvSpPr>
        <p:spPr>
          <a:xfrm>
            <a:off x="6572707" y="2905049"/>
            <a:ext cx="28346" cy="381305"/>
          </a:xfrm>
          <a:prstGeom prst="roundRect">
            <a:avLst>
              <a:gd name="adj" fmla="val 203229"/>
            </a:avLst>
          </a:prstGeom>
          <a:solidFill>
            <a:srgbClr val="0F172A"/>
          </a:solidFill>
          <a:ln w="12700">
            <a:solidFill>
              <a:srgbClr val="0F172A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7" name="Shape 41"/>
          <p:cNvSpPr/>
          <p:nvPr/>
        </p:nvSpPr>
        <p:spPr>
          <a:xfrm>
            <a:off x="6715354" y="2962656"/>
            <a:ext cx="267005" cy="267005"/>
          </a:xfrm>
          <a:prstGeom prst="ellipse">
            <a:avLst/>
          </a:prstGeom>
          <a:solidFill>
            <a:srgbClr val="0F172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8" name="Text 42"/>
          <p:cNvSpPr txBox="1"/>
          <p:nvPr/>
        </p:nvSpPr>
        <p:spPr>
          <a:xfrm>
            <a:off x="6815023" y="2995574"/>
            <a:ext cx="94183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3</a:t>
            </a:r>
            <a:endParaRPr lang="en-US" sz="1000" dirty="0"/>
          </a:p>
        </p:txBody>
      </p:sp>
      <p:sp>
        <p:nvSpPr>
          <p:cNvPr id="49" name="Text 43"/>
          <p:cNvSpPr txBox="1"/>
          <p:nvPr/>
        </p:nvSpPr>
        <p:spPr>
          <a:xfrm>
            <a:off x="7095744" y="3010205"/>
            <a:ext cx="4124858" cy="1719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Data Analytics  (3 companies)</a:t>
            </a:r>
            <a:endParaRPr lang="en-US" sz="1100" dirty="0"/>
          </a:p>
        </p:txBody>
      </p:sp>
      <p:sp>
        <p:nvSpPr>
          <p:cNvPr id="50" name="Text 44"/>
          <p:cNvSpPr txBox="1"/>
          <p:nvPr/>
        </p:nvSpPr>
        <p:spPr>
          <a:xfrm>
            <a:off x="6829654" y="3666744"/>
            <a:ext cx="4506163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b="1" spc="60" kern="0" dirty="0">
                <a:solidFill>
                  <a:srgbClr val="111827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Function Distribution</a:t>
            </a:r>
            <a:endParaRPr lang="en-US" sz="1200" dirty="0"/>
          </a:p>
        </p:txBody>
      </p:sp>
      <p:pic>
        <p:nvPicPr>
          <p:cNvPr id="51" name="Image 4" descr="gen-dedup-1f53efc11363e834752a682b072f9a01.png">    </p:cNvPr>
          <p:cNvPicPr>
            <a:picLocks noChangeAspect="1"/>
          </p:cNvPicPr>
          <p:nvPr/>
        </p:nvPicPr>
        <p:blipFill>
          <a:blip r:embed="rId6"/>
          <a:srcRect l="-2694" r="-2694" t="0" b="0"/>
          <a:stretch/>
        </p:blipFill>
        <p:spPr>
          <a:xfrm>
            <a:off x="6572707" y="3715207"/>
            <a:ext cx="181051" cy="152705"/>
          </a:xfrm>
          <a:prstGeom prst="rect">
            <a:avLst/>
          </a:prstGeom>
        </p:spPr>
      </p:pic>
      <p:sp>
        <p:nvSpPr>
          <p:cNvPr id="52" name="Text 45"/>
          <p:cNvSpPr txBox="1"/>
          <p:nvPr/>
        </p:nvSpPr>
        <p:spPr>
          <a:xfrm>
            <a:off x="609905" y="6590995"/>
            <a:ext cx="10972800" cy="1335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00" spc="45" kern="0" dirty="0">
                <a:solidFill>
                  <a:srgbClr val="64748B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Industry delivery snapshot — figures reflect current J2W capacity in Banking &amp; Financial Services</a:t>
            </a:r>
            <a:pPr algn="ctr" indent="0" marL="0">
              <a:buNone/>
            </a:pPr>
            <a:r>
              <a:rPr lang="en-US" sz="900" spc="45" kern="0" dirty="0">
                <a:solidFill>
                  <a:srgbClr val="2A9D8F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/>
            </a:r>
            <a:pPr algn="ctr" indent="0" marL="0">
              <a:buNone/>
            </a:pPr>
            <a:r>
              <a:rPr lang="en-US" sz="900" spc="45" kern="0" dirty="0">
                <a:solidFill>
                  <a:srgbClr val="64748B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/>
            </a:r>
            <a:endParaRPr lang="en-US" sz="900" dirty="0"/>
          </a:p>
        </p:txBody>
      </p:sp>
      <p:graphicFrame>
        <p:nvGraphicFramePr>
          <p:cNvPr id="53" name="Chart 52"/>
          <p:cNvGraphicFramePr>
            <a:graphicFrameLocks noGrp="1"/>
          </p:cNvGraphicFramePr>
          <p:nvPr/>
        </p:nvGraphicFramePr>
        <p:xfrm>
          <a:off x="6327648" y="3931920"/>
          <a:ext cx="5239512" cy="2286000"/>
        </p:xfrm>
        <a:graphic>
          <a:graphicData uri="http://schemas.openxmlformats.org/drawingml/2006/chart">
            <c:chart xmlns:c="http://schemas.openxmlformats.org/drawingml/2006/chart" r:id="rId7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p/>
        </p:txBody>
      </p:sp>
      <p:pic>
        <p:nvPicPr>
          <p:cNvPr id="4" name="Image 0" descr="gen-dedup-37abb9d8cc081a24feb608c288538026.png">    </p:cNvPr>
          <p:cNvPicPr>
            <a:picLocks noChangeAspect="1"/>
          </p:cNvPicPr>
          <p:nvPr/>
        </p:nvPicPr>
        <p:blipFill>
          <a:blip r:embed="rId2"/>
          <a:srcRect l="-198" r="-198" t="0" b="0"/>
          <a:stretch/>
        </p:blipFill>
        <p:spPr>
          <a:xfrm>
            <a:off x="0" y="0"/>
            <a:ext cx="8124444" cy="75895"/>
          </a:xfrm>
          <a:prstGeom prst="rect">
            <a:avLst/>
          </a:prstGeom>
        </p:spPr>
      </p:pic>
      <p:pic>
        <p:nvPicPr>
          <p:cNvPr id="5" name="Image 1" descr="gen-dedup-c2c9136402f20c216bf7cbcc052ad1a0.png">    </p:cNvPr>
          <p:cNvPicPr>
            <a:picLocks noChangeAspect="1"/>
          </p:cNvPicPr>
          <p:nvPr/>
        </p:nvPicPr>
        <p:blipFill>
          <a:blip r:embed="rId3"/>
          <a:srcRect l="-202" r="-202" t="0" b="0"/>
          <a:stretch/>
        </p:blipFill>
        <p:spPr>
          <a:xfrm>
            <a:off x="8124444" y="0"/>
            <a:ext cx="4067251" cy="75895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609905" y="1238098"/>
            <a:ext cx="10992002" cy="4972507"/>
          </a:xfrm>
          <a:prstGeom prst="roundRect">
            <a:avLst>
              <a:gd name="adj" fmla="val 152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38100" dir="16200000">
              <a:srgbClr val="000000">
                <a:alpha val="2000"/>
              </a:srgbClr>
            </a:outerShdw>
          </a:effectLst>
        </p:spPr>
        <p:txBody>
          <a:bodyPr/>
          <a:p/>
        </p:txBody>
      </p:sp>
      <p:sp>
        <p:nvSpPr>
          <p:cNvPr id="7" name="Shape 3"/>
          <p:cNvSpPr/>
          <p:nvPr/>
        </p:nvSpPr>
        <p:spPr>
          <a:xfrm>
            <a:off x="5467198" y="1809598"/>
            <a:ext cx="5943600" cy="4019702"/>
          </a:xfrm>
          <a:prstGeom prst="roundRect">
            <a:avLst>
              <a:gd name="adj" fmla="val 1888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  <p:txBody>
          <a:bodyPr/>
          <a:p/>
        </p:txBody>
      </p:sp>
      <p:sp>
        <p:nvSpPr>
          <p:cNvPr id="9" name="Shape 4"/>
          <p:cNvSpPr/>
          <p:nvPr/>
        </p:nvSpPr>
        <p:spPr>
          <a:xfrm>
            <a:off x="0" y="6524244"/>
            <a:ext cx="12191695" cy="342900"/>
          </a:xfrm>
          <a:prstGeom prst="rect">
            <a:avLst/>
          </a:prstGeom>
          <a:solidFill>
            <a:srgbClr val="F1F5F9"/>
          </a:solidFill>
          <a:ln/>
        </p:spPr>
        <p:txBody>
          <a:bodyPr/>
          <a:p/>
        </p:txBody>
      </p:sp>
      <p:sp>
        <p:nvSpPr>
          <p:cNvPr id="10" name="Shape 5"/>
          <p:cNvSpPr/>
          <p:nvPr/>
        </p:nvSpPr>
        <p:spPr>
          <a:xfrm>
            <a:off x="0" y="6524244"/>
            <a:ext cx="12191695" cy="91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p/>
        </p:txBody>
      </p:sp>
      <p:pic>
        <p:nvPicPr>
          <p:cNvPr id="11" name="Image 3" descr="gen-dedup-c86e8c174ca8fa1030f905d340dc1437.png">    </p:cNvPr>
          <p:cNvPicPr>
            <a:picLocks noChangeAspect="1"/>
          </p:cNvPicPr>
          <p:nvPr/>
        </p:nvPicPr>
        <p:blipFill>
          <a:blip r:embed="rId5"/>
          <a:srcRect l="-400" r="-400" t="0" b="0"/>
          <a:stretch/>
        </p:blipFill>
        <p:spPr>
          <a:xfrm>
            <a:off x="609905" y="390449"/>
            <a:ext cx="57607" cy="571500"/>
          </a:xfrm>
          <a:prstGeom prst="rect">
            <a:avLst/>
          </a:prstGeom>
        </p:spPr>
      </p:pic>
      <p:sp>
        <p:nvSpPr>
          <p:cNvPr id="12" name="Text 6"/>
          <p:cNvSpPr txBox="1"/>
          <p:nvPr/>
        </p:nvSpPr>
        <p:spPr>
          <a:xfrm>
            <a:off x="819302" y="247802"/>
            <a:ext cx="10478110" cy="4197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11827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WHERE J2W HAS DELIVERED — Java  ·  QA &amp; Testing</a:t>
            </a:r>
            <a:endParaRPr lang="en-US" sz="2700" dirty="0"/>
          </a:p>
        </p:txBody>
      </p:sp>
      <p:sp>
        <p:nvSpPr>
          <p:cNvPr id="13" name="Text 7"/>
          <p:cNvSpPr txBox="1"/>
          <p:nvPr/>
        </p:nvSpPr>
        <p:spPr>
          <a:xfrm>
            <a:off x="819302" y="696773"/>
            <a:ext cx="10478110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47556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Skills J2W has deployed — track record &amp; reach</a:t>
            </a:r>
            <a:endParaRPr lang="en-US" sz="1300" dirty="0"/>
          </a:p>
        </p:txBody>
      </p:sp>
      <p:sp>
        <p:nvSpPr>
          <p:cNvPr id="14" name="Text 8"/>
          <p:cNvSpPr txBox="1"/>
          <p:nvPr/>
        </p:nvSpPr>
        <p:spPr>
          <a:xfrm>
            <a:off x="1085393" y="1429207"/>
            <a:ext cx="2667305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400" b="1" spc="52" kern="0" dirty="0">
                <a:solidFill>
                  <a:srgbClr val="64748B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DEPLOYMENT SUMMARY</a:t>
            </a:r>
            <a:endParaRPr lang="en-US" sz="1000" dirty="0"/>
          </a:p>
        </p:txBody>
      </p:sp>
      <p:pic>
        <p:nvPicPr>
          <p:cNvPr id="15" name="Image 4" descr="gen-dedup-e37ca0d3c582fe1ce2e6a0850327acaf.png">    </p:cNvPr>
          <p:cNvPicPr>
            <a:picLocks noChangeAspect="1"/>
          </p:cNvPicPr>
          <p:nvPr/>
        </p:nvPicPr>
        <p:blipFill>
          <a:blip r:embed="rId6"/>
          <a:srcRect l="0" r="0" t="-15700" b="-15700"/>
          <a:stretch/>
        </p:blipFill>
        <p:spPr>
          <a:xfrm>
            <a:off x="895198" y="1438351"/>
            <a:ext cx="114300" cy="133502"/>
          </a:xfrm>
          <a:prstGeom prst="rect">
            <a:avLst/>
          </a:prstGeom>
        </p:spPr>
      </p:pic>
      <p:sp>
        <p:nvSpPr>
          <p:cNvPr id="16" name="Shape 9"/>
          <p:cNvSpPr/>
          <p:nvPr/>
        </p:nvSpPr>
        <p:spPr>
          <a:xfrm>
            <a:off x="895198" y="1809598"/>
            <a:ext cx="4286707" cy="4000500"/>
          </a:xfrm>
          <a:prstGeom prst="roundRect">
            <a:avLst>
              <a:gd name="adj" fmla="val 1440"/>
            </a:avLst>
          </a:prstGeom>
          <a:solidFill>
            <a:srgbClr val="F8FAFC"/>
          </a:solidFill>
          <a:ln/>
        </p:spPr>
        <p:txBody>
          <a:bodyPr/>
          <a:p/>
        </p:txBody>
      </p:sp>
      <p:sp>
        <p:nvSpPr>
          <p:cNvPr id="17" name="Shape 10"/>
          <p:cNvSpPr/>
          <p:nvPr/>
        </p:nvSpPr>
        <p:spPr>
          <a:xfrm>
            <a:off x="895198" y="1809598"/>
            <a:ext cx="28346" cy="4000500"/>
          </a:xfrm>
          <a:prstGeom prst="roundRect">
            <a:avLst>
              <a:gd name="adj" fmla="val 203229"/>
            </a:avLst>
          </a:prstGeom>
          <a:solidFill>
            <a:srgbClr val="2A9D8F"/>
          </a:solidFill>
          <a:ln w="12700">
            <a:solidFill>
              <a:srgbClr val="2A9D8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9" name="Text 12"/>
          <p:cNvSpPr txBox="1"/>
          <p:nvPr/>
        </p:nvSpPr>
        <p:spPr>
          <a:xfrm>
            <a:off x="1152144" y="1847088"/>
            <a:ext cx="3801161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▸ Java  —  123 consultants  ·  23 companies
   Flipkart (28), GE Healthcare (27), Coupang (24), SocGen (12)  +19 more
▸ QA &amp; Testing  —  108 consultants  ·  32 companies
   GE Healthcare (15), Infosys Consulting (12), Boston Scientific (9), Infosys ADM (7)  +28 more</a:t>
            </a:r>
            <a:endParaRPr lang="en-US" sz="1100" dirty="0"/>
          </a:p>
        </p:txBody>
      </p:sp>
      <p:graphicFrame>
        <p:nvGraphicFramePr>
          <p:cNvPr id="20" name="Chart 19"/>
          <p:cNvGraphicFramePr>
            <a:graphicFrameLocks noGrp="1"/>
          </p:cNvGraphicFramePr>
          <p:nvPr/>
        </p:nvGraphicFramePr>
        <p:xfrm>
          <a:off x="5623560" y="1920240"/>
          <a:ext cx="5669280" cy="3749039"/>
        </p:xfrm>
        <a:graphic>
          <a:graphicData uri="http://schemas.openxmlformats.org/drawingml/2006/chart">
            <c:chart xmlns:c="http://schemas.openxmlformats.org/drawingml/2006/chart" r:id="rId11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p/>
        </p:txBody>
      </p:sp>
      <p:pic>
        <p:nvPicPr>
          <p:cNvPr id="4" name="Image 0" descr="gen-dedup-37abb9d8cc081a24feb608c288538026.png">    </p:cNvPr>
          <p:cNvPicPr>
            <a:picLocks noChangeAspect="1"/>
          </p:cNvPicPr>
          <p:nvPr/>
        </p:nvPicPr>
        <p:blipFill>
          <a:blip r:embed="rId2"/>
          <a:srcRect l="-198" r="-198" t="0" b="0"/>
          <a:stretch/>
        </p:blipFill>
        <p:spPr>
          <a:xfrm>
            <a:off x="0" y="0"/>
            <a:ext cx="8124444" cy="75895"/>
          </a:xfrm>
          <a:prstGeom prst="rect">
            <a:avLst/>
          </a:prstGeom>
        </p:spPr>
      </p:pic>
      <p:pic>
        <p:nvPicPr>
          <p:cNvPr id="5" name="Image 1" descr="gen-dedup-c2c9136402f20c216bf7cbcc052ad1a0.png">    </p:cNvPr>
          <p:cNvPicPr>
            <a:picLocks noChangeAspect="1"/>
          </p:cNvPicPr>
          <p:nvPr/>
        </p:nvPicPr>
        <p:blipFill>
          <a:blip r:embed="rId3"/>
          <a:srcRect l="-202" r="-202" t="0" b="0"/>
          <a:stretch/>
        </p:blipFill>
        <p:spPr>
          <a:xfrm>
            <a:off x="8124444" y="0"/>
            <a:ext cx="4067251" cy="75895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609905" y="1333195"/>
            <a:ext cx="2609698" cy="1238098"/>
          </a:xfrm>
          <a:prstGeom prst="roundRect">
            <a:avLst>
              <a:gd name="adj" fmla="val 613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38100" dir="16200000">
              <a:srgbClr val="000000">
                <a:alpha val="2000"/>
              </a:srgbClr>
            </a:outerShdw>
          </a:effectLst>
        </p:spPr>
        <p:txBody>
          <a:bodyPr/>
          <a:p/>
        </p:txBody>
      </p:sp>
      <p:sp>
        <p:nvSpPr>
          <p:cNvPr id="7" name="Shape 3"/>
          <p:cNvSpPr/>
          <p:nvPr/>
        </p:nvSpPr>
        <p:spPr>
          <a:xfrm>
            <a:off x="609905" y="1333195"/>
            <a:ext cx="2609698" cy="38405"/>
          </a:xfrm>
          <a:prstGeom prst="roundRect">
            <a:avLst>
              <a:gd name="adj" fmla="val 197618"/>
            </a:avLst>
          </a:prstGeom>
          <a:solidFill>
            <a:srgbClr val="D62839"/>
          </a:solidFill>
          <a:ln w="12700">
            <a:solidFill>
              <a:srgbClr val="D62839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8" name="Shape 4"/>
          <p:cNvSpPr/>
          <p:nvPr/>
        </p:nvSpPr>
        <p:spPr>
          <a:xfrm>
            <a:off x="3372307" y="1333195"/>
            <a:ext cx="2609698" cy="1238098"/>
          </a:xfrm>
          <a:prstGeom prst="roundRect">
            <a:avLst>
              <a:gd name="adj" fmla="val 613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38100" dir="16200000">
              <a:srgbClr val="000000">
                <a:alpha val="2000"/>
              </a:srgbClr>
            </a:outerShdw>
          </a:effectLst>
        </p:spPr>
        <p:txBody>
          <a:bodyPr/>
          <a:p/>
        </p:txBody>
      </p:sp>
      <p:sp>
        <p:nvSpPr>
          <p:cNvPr id="9" name="Shape 5"/>
          <p:cNvSpPr/>
          <p:nvPr/>
        </p:nvSpPr>
        <p:spPr>
          <a:xfrm>
            <a:off x="3372307" y="1333195"/>
            <a:ext cx="2609698" cy="38405"/>
          </a:xfrm>
          <a:prstGeom prst="roundRect">
            <a:avLst>
              <a:gd name="adj" fmla="val 197618"/>
            </a:avLst>
          </a:prstGeom>
          <a:solidFill>
            <a:srgbClr val="2A9D8F"/>
          </a:solidFill>
          <a:ln w="12700">
            <a:solidFill>
              <a:srgbClr val="2A9D8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0" name="Shape 6"/>
          <p:cNvSpPr/>
          <p:nvPr/>
        </p:nvSpPr>
        <p:spPr>
          <a:xfrm>
            <a:off x="6133795" y="1333195"/>
            <a:ext cx="2609698" cy="1238098"/>
          </a:xfrm>
          <a:prstGeom prst="roundRect">
            <a:avLst>
              <a:gd name="adj" fmla="val 613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38100" dir="16200000">
              <a:srgbClr val="000000">
                <a:alpha val="2000"/>
              </a:srgbClr>
            </a:outerShdw>
          </a:effectLst>
        </p:spPr>
        <p:txBody>
          <a:bodyPr/>
          <a:p/>
        </p:txBody>
      </p:sp>
      <p:sp>
        <p:nvSpPr>
          <p:cNvPr id="11" name="Shape 7"/>
          <p:cNvSpPr/>
          <p:nvPr/>
        </p:nvSpPr>
        <p:spPr>
          <a:xfrm>
            <a:off x="6133795" y="1333195"/>
            <a:ext cx="2609698" cy="38405"/>
          </a:xfrm>
          <a:prstGeom prst="roundRect">
            <a:avLst>
              <a:gd name="adj" fmla="val 197618"/>
            </a:avLst>
          </a:prstGeom>
          <a:solidFill>
            <a:srgbClr val="0F172A"/>
          </a:solidFill>
          <a:ln w="12700">
            <a:solidFill>
              <a:srgbClr val="0F172A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2" name="Shape 8"/>
          <p:cNvSpPr/>
          <p:nvPr/>
        </p:nvSpPr>
        <p:spPr>
          <a:xfrm>
            <a:off x="8896198" y="1333195"/>
            <a:ext cx="2609698" cy="1238098"/>
          </a:xfrm>
          <a:prstGeom prst="roundRect">
            <a:avLst>
              <a:gd name="adj" fmla="val 613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38100" dir="16200000">
              <a:srgbClr val="000000">
                <a:alpha val="2000"/>
              </a:srgbClr>
            </a:outerShdw>
          </a:effectLst>
        </p:spPr>
        <p:txBody>
          <a:bodyPr/>
          <a:p/>
        </p:txBody>
      </p:sp>
      <p:sp>
        <p:nvSpPr>
          <p:cNvPr id="13" name="Shape 9"/>
          <p:cNvSpPr/>
          <p:nvPr/>
        </p:nvSpPr>
        <p:spPr>
          <a:xfrm>
            <a:off x="8896198" y="1333195"/>
            <a:ext cx="2609698" cy="38405"/>
          </a:xfrm>
          <a:prstGeom prst="roundRect">
            <a:avLst>
              <a:gd name="adj" fmla="val 197618"/>
            </a:avLst>
          </a:prstGeom>
          <a:solidFill>
            <a:srgbClr val="475569"/>
          </a:solidFill>
          <a:ln w="12700">
            <a:solidFill>
              <a:srgbClr val="475569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4" name="Shape 10"/>
          <p:cNvSpPr/>
          <p:nvPr/>
        </p:nvSpPr>
        <p:spPr>
          <a:xfrm>
            <a:off x="609905" y="2714854"/>
            <a:ext cx="5352898" cy="3590849"/>
          </a:xfrm>
          <a:prstGeom prst="roundRect">
            <a:avLst>
              <a:gd name="adj" fmla="val 211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15" name="Shape 11"/>
          <p:cNvSpPr/>
          <p:nvPr/>
        </p:nvSpPr>
        <p:spPr>
          <a:xfrm>
            <a:off x="6248095" y="2714854"/>
            <a:ext cx="5352898" cy="3590849"/>
          </a:xfrm>
          <a:prstGeom prst="roundRect">
            <a:avLst>
              <a:gd name="adj" fmla="val 211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16" name="Shape 12"/>
          <p:cNvSpPr/>
          <p:nvPr/>
        </p:nvSpPr>
        <p:spPr>
          <a:xfrm>
            <a:off x="0" y="6476695"/>
            <a:ext cx="12191695" cy="381305"/>
          </a:xfrm>
          <a:prstGeom prst="rect">
            <a:avLst/>
          </a:prstGeom>
          <a:solidFill>
            <a:srgbClr val="0F172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p/>
        </p:txBody>
      </p:sp>
      <p:pic>
        <p:nvPicPr>
          <p:cNvPr id="17" name="Image 2" descr="gen-dedup-c86e8c174ca8fa1030f905d340dc1437.png">    </p:cNvPr>
          <p:cNvPicPr>
            <a:picLocks noChangeAspect="1"/>
          </p:cNvPicPr>
          <p:nvPr/>
        </p:nvPicPr>
        <p:blipFill>
          <a:blip r:embed="rId4"/>
          <a:srcRect l="-400" r="-400" t="0" b="0"/>
          <a:stretch/>
        </p:blipFill>
        <p:spPr>
          <a:xfrm>
            <a:off x="609905" y="390449"/>
            <a:ext cx="57607" cy="571500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819302" y="390449"/>
            <a:ext cx="12308738" cy="4197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11827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OUR PARTNERSHIP WITH SocGen — DELIVERY OVERVIEW</a:t>
            </a:r>
            <a:endParaRPr lang="en-US" sz="2700" dirty="0"/>
          </a:p>
        </p:txBody>
      </p:sp>
      <p:sp>
        <p:nvSpPr>
          <p:cNvPr id="19" name="Text 14"/>
          <p:cNvSpPr txBox="1"/>
          <p:nvPr/>
        </p:nvSpPr>
        <p:spPr>
          <a:xfrm>
            <a:off x="819302" y="840334"/>
            <a:ext cx="10478110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47556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Our existing J2W relationship — people, skills &amp; engagement</a:t>
            </a:r>
            <a:endParaRPr lang="en-US" sz="1300" dirty="0"/>
          </a:p>
        </p:txBody>
      </p:sp>
      <p:sp>
        <p:nvSpPr>
          <p:cNvPr id="20" name="Text 15"/>
          <p:cNvSpPr txBox="1"/>
          <p:nvPr/>
        </p:nvSpPr>
        <p:spPr>
          <a:xfrm>
            <a:off x="476402" y="1476756"/>
            <a:ext cx="2856586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D62839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101</a:t>
            </a:r>
            <a:endParaRPr lang="en-US" sz="2100" dirty="0"/>
          </a:p>
        </p:txBody>
      </p:sp>
      <p:sp>
        <p:nvSpPr>
          <p:cNvPr id="21" name="Text 16"/>
          <p:cNvSpPr txBox="1"/>
          <p:nvPr/>
        </p:nvSpPr>
        <p:spPr>
          <a:xfrm>
            <a:off x="919886" y="2011680"/>
            <a:ext cx="1971446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00" b="1" spc="52" kern="0" dirty="0">
                <a:solidFill>
                  <a:srgbClr val="1E293B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Consultants deployed</a:t>
            </a:r>
            <a:endParaRPr lang="en-US" sz="1000" dirty="0"/>
          </a:p>
        </p:txBody>
      </p:sp>
      <p:sp>
        <p:nvSpPr>
          <p:cNvPr id="22" name="Text 17"/>
          <p:cNvSpPr txBox="1"/>
          <p:nvPr/>
        </p:nvSpPr>
        <p:spPr>
          <a:xfrm>
            <a:off x="3467405" y="1476756"/>
            <a:ext cx="24003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2A9D8F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6</a:t>
            </a:r>
            <a:endParaRPr lang="en-US" sz="2100" dirty="0"/>
          </a:p>
        </p:txBody>
      </p:sp>
      <p:sp>
        <p:nvSpPr>
          <p:cNvPr id="23" name="Text 18"/>
          <p:cNvSpPr txBox="1"/>
          <p:nvPr/>
        </p:nvSpPr>
        <p:spPr>
          <a:xfrm>
            <a:off x="3728923" y="2011680"/>
            <a:ext cx="1881835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00" b="1" spc="52" kern="0" dirty="0">
                <a:solidFill>
                  <a:srgbClr val="1E293B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Functions delivered</a:t>
            </a:r>
            <a:endParaRPr lang="en-US" sz="1000" dirty="0"/>
          </a:p>
        </p:txBody>
      </p:sp>
      <p:sp>
        <p:nvSpPr>
          <p:cNvPr id="24" name="Text 19"/>
          <p:cNvSpPr txBox="1"/>
          <p:nvPr/>
        </p:nvSpPr>
        <p:spPr>
          <a:xfrm>
            <a:off x="6001207" y="1476756"/>
            <a:ext cx="2856586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0F172A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31</a:t>
            </a:r>
            <a:endParaRPr lang="en-US" sz="2100" dirty="0"/>
          </a:p>
        </p:txBody>
      </p:sp>
      <p:sp>
        <p:nvSpPr>
          <p:cNvPr id="25" name="Text 20"/>
          <p:cNvSpPr txBox="1"/>
          <p:nvPr/>
        </p:nvSpPr>
        <p:spPr>
          <a:xfrm>
            <a:off x="6689750" y="2011680"/>
            <a:ext cx="1481328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00" b="1" spc="52" kern="0" dirty="0">
                <a:solidFill>
                  <a:srgbClr val="1E293B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Distinct skills</a:t>
            </a:r>
            <a:endParaRPr lang="en-US" sz="1000" dirty="0"/>
          </a:p>
        </p:txBody>
      </p:sp>
      <p:sp>
        <p:nvSpPr>
          <p:cNvPr id="26" name="Text 21"/>
          <p:cNvSpPr txBox="1"/>
          <p:nvPr/>
        </p:nvSpPr>
        <p:spPr>
          <a:xfrm>
            <a:off x="8797442" y="1476756"/>
            <a:ext cx="278892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475569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Existing client</a:t>
            </a:r>
            <a:endParaRPr lang="en-US" sz="1800" dirty="0"/>
          </a:p>
        </p:txBody>
      </p:sp>
      <p:sp>
        <p:nvSpPr>
          <p:cNvPr id="27" name="Text 22"/>
          <p:cNvSpPr txBox="1"/>
          <p:nvPr/>
        </p:nvSpPr>
        <p:spPr>
          <a:xfrm>
            <a:off x="9447581" y="2011680"/>
            <a:ext cx="1498702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00" b="1" spc="52" kern="0" dirty="0">
                <a:solidFill>
                  <a:srgbClr val="1E293B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Engagement type</a:t>
            </a:r>
            <a:endParaRPr lang="en-US" sz="1000" dirty="0"/>
          </a:p>
        </p:txBody>
      </p:sp>
      <p:sp>
        <p:nvSpPr>
          <p:cNvPr id="28" name="Text 23"/>
          <p:cNvSpPr txBox="1"/>
          <p:nvPr/>
        </p:nvSpPr>
        <p:spPr>
          <a:xfrm>
            <a:off x="1095451" y="2857500"/>
            <a:ext cx="4657954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00" b="1" spc="68" kern="0" dirty="0">
                <a:solidFill>
                  <a:srgbClr val="111827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FUNCTION BREAKDOWN</a:t>
            </a:r>
            <a:endParaRPr lang="en-US" sz="1300" dirty="0"/>
          </a:p>
        </p:txBody>
      </p:sp>
      <p:pic>
        <p:nvPicPr>
          <p:cNvPr id="29" name="Image 3" descr="gen-dedup-4d583a16244f5fc9a8734b2dde11dde1.png">    </p:cNvPr>
          <p:cNvPicPr>
            <a:picLocks noChangeAspect="1"/>
          </p:cNvPicPr>
          <p:nvPr/>
        </p:nvPicPr>
        <p:blipFill>
          <a:blip r:embed="rId5"/>
          <a:srcRect l="-1773" r="-1773" t="0" b="0"/>
          <a:stretch/>
        </p:blipFill>
        <p:spPr>
          <a:xfrm>
            <a:off x="800100" y="2907792"/>
            <a:ext cx="200254" cy="171907"/>
          </a:xfrm>
          <a:prstGeom prst="rect">
            <a:avLst/>
          </a:prstGeom>
        </p:spPr>
      </p:pic>
      <p:sp>
        <p:nvSpPr>
          <p:cNvPr id="30" name="Text 24"/>
          <p:cNvSpPr txBox="1"/>
          <p:nvPr/>
        </p:nvSpPr>
        <p:spPr>
          <a:xfrm>
            <a:off x="800100" y="3136392"/>
            <a:ext cx="4953305" cy="2880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▸ Software Engineering:  45
▸ Other / Specialist:  35
▸ Data &amp; Analytics:  11
▸ Business &amp; Operations:  7
▸ Infrastructure &amp; Networking:  2
▸ Quality Engineering &amp; Testing:  1</a:t>
            </a:r>
            <a:endParaRPr lang="en-US" sz="1000" dirty="0"/>
          </a:p>
        </p:txBody>
      </p:sp>
      <p:sp>
        <p:nvSpPr>
          <p:cNvPr id="31" name="Text 25"/>
          <p:cNvSpPr txBox="1"/>
          <p:nvPr/>
        </p:nvSpPr>
        <p:spPr>
          <a:xfrm>
            <a:off x="6715354" y="2857500"/>
            <a:ext cx="4677156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00" b="1" spc="68" kern="0" dirty="0">
                <a:solidFill>
                  <a:srgbClr val="111827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FUNCTION DISTRIBUTION</a:t>
            </a:r>
            <a:endParaRPr lang="en-US" sz="1300" dirty="0"/>
          </a:p>
        </p:txBody>
      </p:sp>
      <p:pic>
        <p:nvPicPr>
          <p:cNvPr id="32" name="Image 4" descr="gen-dedup-fd04f7312b60d4a567185c3712409f54.png">    </p:cNvPr>
          <p:cNvPicPr>
            <a:picLocks noChangeAspect="1"/>
          </p:cNvPicPr>
          <p:nvPr/>
        </p:nvPicPr>
        <p:blipFill>
          <a:blip r:embed="rId6"/>
          <a:srcRect l="-2660" r="-2660" t="0" b="0"/>
          <a:stretch/>
        </p:blipFill>
        <p:spPr>
          <a:xfrm>
            <a:off x="6439205" y="2907792"/>
            <a:ext cx="181051" cy="171907"/>
          </a:xfrm>
          <a:prstGeom prst="rect">
            <a:avLst/>
          </a:prstGeom>
        </p:spPr>
      </p:pic>
      <p:graphicFrame>
        <p:nvGraphicFramePr>
          <p:cNvPr id="33" name="Chart 32"/>
          <p:cNvGraphicFramePr>
            <a:graphicFrameLocks noGrp="1"/>
          </p:cNvGraphicFramePr>
          <p:nvPr/>
        </p:nvGraphicFramePr>
        <p:xfrm>
          <a:off x="6572707" y="3238805"/>
          <a:ext cx="4724705" cy="2857500"/>
        </p:xfrm>
        <a:graphic>
          <a:graphicData uri="http://schemas.openxmlformats.org/drawingml/2006/chart">
            <c:chart xmlns:c="http://schemas.openxmlformats.org/drawingml/2006/chart" r:id="rId8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32819</Words>
  <Application>Microsoft Office PowerPoint</Application>
  <PresentationFormat>Widescreen</PresentationFormat>
  <Paragraphs>3575</Paragraphs>
  <Slides>138</Slides>
  <Notes>138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138</vt:i4>
      </vt:variant>
    </vt:vector>
  </HeadingPairs>
  <TitlesOfParts>
    <vt:vector size="145" baseType="lpstr">
      <vt:lpstr>Aptos</vt:lpstr>
      <vt:lpstr>Arial</vt:lpstr>
      <vt:lpstr>Calibri</vt:lpstr>
      <vt:lpstr>Oswald</vt:lpstr>
      <vt:lpstr>Raleway</vt:lpstr>
      <vt:lpstr>Roboto Condensed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Master Case Study Portfolio</dc:title>
  <dc:subject>PptxGenJS Presentation</dc:subject>
  <dc:creator>J2W</dc:creator>
  <cp:lastModifiedBy>Athithia Krishna</cp:lastModifiedBy>
  <cp:revision>5</cp:revision>
  <dcterms:created xsi:type="dcterms:W3CDTF">2026-06-22T10:46:20Z</dcterms:created>
  <dcterms:modified xsi:type="dcterms:W3CDTF">2026-06-24T11:39:04Z</dcterms:modified>
</cp:coreProperties>
</file>