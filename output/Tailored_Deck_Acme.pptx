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0"/>
  </p:notesMasterIdLst>
  <p:sldIdLst>
    <p:sldId id="2147483328" r:id="rId2"/>
    <p:sldId id="2147483329" r:id="rId3"/>
    <p:sldId id="2147483330" r:id="rId4"/>
    <p:sldId id="2147483327" r:id="rId5"/>
    <p:sldId id="2147483332" r:id="rId6"/>
    <p:sldId id="2147483331" r:id="rId7"/>
    <p:sldId id="2147483323" r:id="rId11"/>
    <p:sldId id="2147483416" r:id="rId12"/>
    <p:sldId id="2147483418" r:id="rId13"/>
    <p:sldId id="2147483320" r:id="rId16"/>
    <p:sldId id="2147483419" r:id="rId23"/>
    <p:sldId id="2147483420" r:id="rId24"/>
    <p:sldId id="2147483421" r:id="rId25"/>
    <p:sldId id="274" r:id="rId41"/>
    <p:sldId id="275" r:id="rId42"/>
    <p:sldId id="277" r:id="rId44"/>
    <p:sldId id="2147483305" r:id="rId8"/>
    <p:sldId id="299" r:id="rId9"/>
    <p:sldId id="2147483422"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09984CD-E0AE-483E-8716-12DE2F9F24C4}" v="3" dt="2026-06-22T11:16:53.6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3" d="100"/>
          <a:sy n="63" d="100"/>
        </p:scale>
        <p:origin x="78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4.xml"/><Relationship Id="rId9" Type="http://schemas.openxmlformats.org/officeDocument/2006/relationships/slide" Target="slides/slide1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6" Type="http://schemas.openxmlformats.org/officeDocument/2006/relationships/slide" Target="slides/slide10.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41" Type="http://schemas.openxmlformats.org/officeDocument/2006/relationships/slide" Target="slides/slide11.xml"/><Relationship Id="rId42" Type="http://schemas.openxmlformats.org/officeDocument/2006/relationships/slide" Target="slides/slide12.xml"/><Relationship Id="rId44" Type="http://schemas.openxmlformats.org/officeDocument/2006/relationships/slide" Target="slides/slide13.xml"/><Relationship Id="rId140" Type="http://schemas.openxmlformats.org/officeDocument/2006/relationships/notesMaster" Target="notesMasters/notesMaster1.xml"/><Relationship Id="rId141" Type="http://schemas.openxmlformats.org/officeDocument/2006/relationships/presProps" Target="presProps.xml"/><Relationship Id="rId142" Type="http://schemas.openxmlformats.org/officeDocument/2006/relationships/viewProps" Target="viewProps.xml"/><Relationship Id="rId143" Type="http://schemas.openxmlformats.org/officeDocument/2006/relationships/theme" Target="theme/theme1.xml"/><Relationship Id="rId144" Type="http://schemas.openxmlformats.org/officeDocument/2006/relationships/tableStyles" Target="tableStyles.xml"/><Relationship Id="rId145" Type="http://schemas.microsoft.com/office/2015/10/relationships/revisionInfo" Target="revisionInfo.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Proficiency</c:v>
                </c:pt>
              </c:strCache>
            </c:strRef>
          </c:tx>
          <c:dPt>
            <c:idx val="0"/>
            <c:spPr>
              <a:solidFill>
                <a:srgbClr val="2C6E66"/>
              </a:solidFill>
            </c:spPr>
          </c:dPt>
          <c:dPt>
            <c:idx val="1"/>
            <c:spPr>
              <a:solidFill>
                <a:srgbClr val="7FB2A9"/>
              </a:solidFill>
            </c:spPr>
          </c:dPt>
          <c:dPt>
            <c:idx val="2"/>
            <c:spPr>
              <a:solidFill>
                <a:srgbClr val="CFE7E2"/>
              </a:solidFill>
            </c:spPr>
          </c:dPt>
          <c:cat>
            <c:strRef>
              <c:f>Sheet1!$A$2:$A$4</c:f>
              <c:strCache>
                <c:ptCount val="3"/>
                <c:pt idx="0">
                  <c:v>Expert</c:v>
                </c:pt>
                <c:pt idx="1">
                  <c:v>Intermediate</c:v>
                </c:pt>
                <c:pt idx="2">
                  <c:v>Junior</c:v>
                </c:pt>
              </c:strCache>
            </c:strRef>
          </c:cat>
          <c:val>
            <c:numRef>
              <c:f>Sheet1!$B$2:$B$4</c:f>
              <c:numCache>
                <c:formatCode>General</c:formatCode>
                <c:ptCount val="3"/>
                <c:pt idx="0">
                  <c:v>12</c:v>
                </c:pt>
                <c:pt idx="1">
                  <c:v>18</c:v>
                </c:pt>
                <c:pt idx="2">
                  <c:v>8</c:v>
                </c:pt>
              </c:numCache>
            </c:numRef>
          </c:val>
        </c:ser>
        <c:dLbls>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Proficiency</c:v>
                </c:pt>
              </c:strCache>
            </c:strRef>
          </c:tx>
          <c:dPt>
            <c:idx val="0"/>
            <c:spPr>
              <a:solidFill>
                <a:srgbClr val="2C6E66"/>
              </a:solidFill>
            </c:spPr>
          </c:dPt>
          <c:dPt>
            <c:idx val="1"/>
            <c:spPr>
              <a:solidFill>
                <a:srgbClr val="7FB2A9"/>
              </a:solidFill>
            </c:spPr>
          </c:dPt>
          <c:dPt>
            <c:idx val="2"/>
            <c:spPr>
              <a:solidFill>
                <a:srgbClr val="CFE7E2"/>
              </a:solidFill>
            </c:spPr>
          </c:dPt>
          <c:cat>
            <c:strRef>
              <c:f>Sheet1!$A$2:$A$4</c:f>
              <c:strCache>
                <c:ptCount val="3"/>
                <c:pt idx="0">
                  <c:v>Expert</c:v>
                </c:pt>
                <c:pt idx="1">
                  <c:v>Intermediate</c:v>
                </c:pt>
                <c:pt idx="2">
                  <c:v>Junior</c:v>
                </c:pt>
              </c:strCache>
            </c:strRef>
          </c:cat>
          <c:val>
            <c:numRef>
              <c:f>Sheet1!$B$2:$B$4</c:f>
              <c:numCache>
                <c:formatCode>General</c:formatCode>
                <c:ptCount val="3"/>
                <c:pt idx="0">
                  <c:v>7</c:v>
                </c:pt>
                <c:pt idx="1">
                  <c:v>11</c:v>
                </c:pt>
                <c:pt idx="2">
                  <c:v>4</c:v>
                </c:pt>
              </c:numCache>
            </c:numRef>
          </c:val>
        </c:ser>
        <c:dLbls>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Proficiency</c:v>
                </c:pt>
              </c:strCache>
            </c:strRef>
          </c:tx>
          <c:dPt>
            <c:idx val="0"/>
            <c:spPr>
              <a:solidFill>
                <a:srgbClr val="2C6E66"/>
              </a:solidFill>
            </c:spPr>
          </c:dPt>
          <c:dPt>
            <c:idx val="1"/>
            <c:spPr>
              <a:solidFill>
                <a:srgbClr val="7FB2A9"/>
              </a:solidFill>
            </c:spPr>
          </c:dPt>
          <c:dPt>
            <c:idx val="2"/>
            <c:spPr>
              <a:solidFill>
                <a:srgbClr val="CFE7E2"/>
              </a:solidFill>
            </c:spPr>
          </c:dPt>
          <c:cat>
            <c:strRef>
              <c:f>Sheet1!$A$2:$A$4</c:f>
              <c:strCache>
                <c:ptCount val="3"/>
                <c:pt idx="0">
                  <c:v>Expert</c:v>
                </c:pt>
                <c:pt idx="1">
                  <c:v>Intermediate</c:v>
                </c:pt>
                <c:pt idx="2">
                  <c:v>Junior</c:v>
                </c:pt>
              </c:strCache>
            </c:strRef>
          </c:cat>
          <c:val>
            <c:numRef>
              <c:f>Sheet1!$B$2:$B$4</c:f>
              <c:numCache>
                <c:formatCode>General</c:formatCode>
                <c:ptCount val="3"/>
                <c:pt idx="0">
                  <c:v>9</c:v>
                </c:pt>
                <c:pt idx="1">
                  <c:v>14</c:v>
                </c:pt>
                <c:pt idx="2">
                  <c:v>6</c:v>
                </c:pt>
              </c:numCache>
            </c:numRef>
          </c:val>
        </c:ser>
        <c:dLbls>
          <c:showLegendKey val="0"/>
          <c:showVal val="0"/>
          <c:showCatName val="0"/>
          <c:showSerName val="0"/>
          <c:showPercent val="0"/>
          <c:showBubbleSize val="0"/>
          <c:showLeaderLines val="1"/>
        </c:dLbls>
        <c:firstSliceAng val="0"/>
        <c:holeSize val="50"/>
      </c:doughnutChart>
    </c:plotArea>
    <c:legend>
      <c:legendPos val="b"/>
      <c:layout/>
      <c:overlay val="0"/>
    </c:legend>
    <c:plotVisOnly val="1"/>
    <c:dispBlanksAs val="gap"/>
    <c:showDLblsOverMax val="0"/>
  </c:chart>
  <c:txPr>
    <a:bodyPr/>
    <a:lstStyle/>
    <a:p>
      <a:pPr>
        <a:defRPr sz="1800"/>
      </a:pPr>
      <a:endParaR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1831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J2W_ID: CS01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CS05</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98875895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5710115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CS07</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CS08</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8695518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CS12</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CS13</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1735871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CS38</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CS39</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J2W_ID: CS41</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 Id="rId13" Type="http://schemas.openxmlformats.org/officeDocument/2006/relationships/image" Target="../media/image11.png"/><Relationship Id="rId14" Type="http://schemas.openxmlformats.org/officeDocument/2006/relationships/image" Target="../media/image12.png"/><Relationship Id="rId15" Type="http://schemas.openxmlformats.org/officeDocument/2006/relationships/image" Target="../media/image13.png"/><Relationship Id="rId16" Type="http://schemas.openxmlformats.org/officeDocument/2006/relationships/image" Target="../media/image14.png"/><Relationship Id="rId17" Type="http://schemas.openxmlformats.org/officeDocument/2006/relationships/image" Target="../media/image15.png"/><Relationship Id="rId18" Type="http://schemas.openxmlformats.org/officeDocument/2006/relationships/image" Target="../media/image16.png"/><Relationship Id="rId19" Type="http://schemas.openxmlformats.org/officeDocument/2006/relationships/image" Target="../media/image17.png"/><Relationship Id="rId20" Type="http://schemas.openxmlformats.org/officeDocument/2006/relationships/image" Target="../media/image18.jpeg"/><Relationship Id="rId21" Type="http://schemas.openxmlformats.org/officeDocument/2006/relationships/image" Target="../media/image19.jpeg"/><Relationship Id="rId22" Type="http://schemas.openxmlformats.org/officeDocument/2006/relationships/image" Target="../media/image20.png"/><Relationship Id="rId23" Type="http://schemas.openxmlformats.org/officeDocument/2006/relationships/image" Target="../media/image21.png"/><Relationship Id="rId24"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jpeg"/><Relationship Id="rId6" Type="http://schemas.openxmlformats.org/officeDocument/2006/relationships/image" Target="../media/image32.png"/><Relationship Id="rId7" Type="http://schemas.openxmlformats.org/officeDocument/2006/relationships/image" Target="../media/image33.jpeg"/><Relationship Id="rId8" Type="http://schemas.openxmlformats.org/officeDocument/2006/relationships/image" Target="../media/image34.png"/><Relationship Id="rId9" Type="http://schemas.openxmlformats.org/officeDocument/2006/relationships/image" Target="../media/image3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 Id="rId10" Type="http://schemas.openxmlformats.org/officeDocument/2006/relationships/image" Target="../media/image44.png"/><Relationship Id="rId11" Type="http://schemas.openxmlformats.org/officeDocument/2006/relationships/image" Target="../media/image45.png"/><Relationship Id="rId12" Type="http://schemas.openxmlformats.org/officeDocument/2006/relationships/image" Target="../media/image4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79.png"/><Relationship Id="rId4" Type="http://schemas.openxmlformats.org/officeDocument/2006/relationships/image" Target="../media/image80.png"/><Relationship Id="rId5" Type="http://schemas.openxmlformats.org/officeDocument/2006/relationships/image" Target="../media/image81.png"/><Relationship Id="rId6" Type="http://schemas.openxmlformats.org/officeDocument/2006/relationships/image" Target="../media/image82.png"/><Relationship Id="rId7" Type="http://schemas.openxmlformats.org/officeDocument/2006/relationships/image" Target="../media/image83.png"/><Relationship Id="rId8" Type="http://schemas.openxmlformats.org/officeDocument/2006/relationships/image" Target="../media/image84.png"/><Relationship Id="rId9" Type="http://schemas.openxmlformats.org/officeDocument/2006/relationships/image" Target="../media/image85.png"/><Relationship Id="rId10" Type="http://schemas.openxmlformats.org/officeDocument/2006/relationships/image" Target="../media/image8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7.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69.png"/><Relationship Id="rId6" Type="http://schemas.openxmlformats.org/officeDocument/2006/relationships/image" Target="../media/image91.png"/><Relationship Id="rId7" Type="http://schemas.openxmlformats.org/officeDocument/2006/relationships/image" Target="../media/image92.png"/><Relationship Id="rId8" Type="http://schemas.openxmlformats.org/officeDocument/2006/relationships/image" Target="../media/image93.pn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9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109.png"/><Relationship Id="rId6" Type="http://schemas.openxmlformats.org/officeDocument/2006/relationships/image" Target="../media/image110.png"/><Relationship Id="rId7" Type="http://schemas.openxmlformats.org/officeDocument/2006/relationships/image" Target="../media/image53.png"/><Relationship Id="rId8" Type="http://schemas.openxmlformats.org/officeDocument/2006/relationships/image" Target="../media/image111.png"/><Relationship Id="rId9" Type="http://schemas.openxmlformats.org/officeDocument/2006/relationships/image" Target="../media/image1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46.png"/><Relationship Id="rId4" Type="http://schemas.openxmlformats.org/officeDocument/2006/relationships/image" Target="../media/image14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46.png"/><Relationship Id="rId4" Type="http://schemas.openxmlformats.org/officeDocument/2006/relationships/image" Target="../media/image14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46.png"/><Relationship Id="rId4" Type="http://schemas.openxmlformats.org/officeDocument/2006/relationships/image" Target="../media/image14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58.png"/><Relationship Id="rId11" Type="http://schemas.openxmlformats.org/officeDocument/2006/relationships/image" Target="../media/image59.png"/><Relationship Id="rId12" Type="http://schemas.openxmlformats.org/officeDocument/2006/relationships/image" Target="../media/image60.png"/><Relationship Id="rId13" Type="http://schemas.openxmlformats.org/officeDocument/2006/relationships/image" Target="../media/image61.png"/><Relationship Id="rId14" Type="http://schemas.openxmlformats.org/officeDocument/2006/relationships/image" Target="../media/image6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4.png"/><Relationship Id="rId6" Type="http://schemas.openxmlformats.org/officeDocument/2006/relationships/image" Target="../media/image63.png"/><Relationship Id="rId7" Type="http://schemas.openxmlformats.org/officeDocument/2006/relationships/image" Target="../media/image64.jpeg"/><Relationship Id="rId8" Type="http://schemas.openxmlformats.org/officeDocument/2006/relationships/image" Target="../media/image65.jpeg"/><Relationship Id="rId9" Type="http://schemas.openxmlformats.org/officeDocument/2006/relationships/image" Target="../media/image66.jpeg"/><Relationship Id="rId10" Type="http://schemas.openxmlformats.org/officeDocument/2006/relationships/image" Target="../media/image67.jpeg"/><Relationship Id="rId11" Type="http://schemas.openxmlformats.org/officeDocument/2006/relationships/image" Target="../media/image68.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0F0"/>
          </a:solidFill>
          <a:ln w="12700">
            <a:solidFill>
              <a:srgbClr val="FFFFFF">
                <a:alpha val="0"/>
              </a:srgbClr>
            </a:solidFill>
            <a:prstDash val="solid"/>
          </a:ln>
        </p:spPr>
        <p:txBody>
          <a:bodyPr/>
          <a:lstStyle/>
          <a:p>
            <a:endParaRPr lang="en-US"/>
          </a:p>
        </p:txBody>
      </p:sp>
      <p:sp>
        <p:nvSpPr>
          <p:cNvPr id="3" name="Shape 1"/>
          <p:cNvSpPr/>
          <p:nvPr/>
        </p:nvSpPr>
        <p:spPr>
          <a:xfrm>
            <a:off x="305" y="0"/>
            <a:ext cx="12191695" cy="6858000"/>
          </a:xfrm>
          <a:prstGeom prst="rect">
            <a:avLst/>
          </a:prstGeom>
          <a:solidFill>
            <a:srgbClr val="FFFFFF"/>
          </a:solidFill>
          <a:ln w="12700">
            <a:solidFill>
              <a:srgbClr val="FFFFFF">
                <a:alpha val="0"/>
              </a:srgbClr>
            </a:solidFill>
            <a:prstDash val="solid"/>
          </a:ln>
        </p:spPr>
        <p:txBody>
          <a:bodyPr/>
          <a:lstStyle/>
          <a:p>
            <a:pPr algn="ctr"/>
            <a:endParaRPr lang="en-US"/>
          </a:p>
        </p:txBody>
      </p:sp>
      <p:pic>
        <p:nvPicPr>
          <p:cNvPr id="4" name="Image 0" descr="preencoded.png"/>
          <p:cNvPicPr>
            <a:picLocks noChangeAspect="1"/>
          </p:cNvPicPr>
          <p:nvPr/>
        </p:nvPicPr>
        <p:blipFill>
          <a:blip r:embed="rId3"/>
          <a:srcRect/>
          <a:stretch/>
        </p:blipFill>
        <p:spPr>
          <a:xfrm>
            <a:off x="9334195" y="0"/>
            <a:ext cx="2857500" cy="2857500"/>
          </a:xfrm>
          <a:prstGeom prst="rect">
            <a:avLst/>
          </a:prstGeom>
        </p:spPr>
      </p:pic>
      <p:sp>
        <p:nvSpPr>
          <p:cNvPr id="5" name="Shape 2"/>
          <p:cNvSpPr/>
          <p:nvPr/>
        </p:nvSpPr>
        <p:spPr>
          <a:xfrm>
            <a:off x="0" y="5905195"/>
            <a:ext cx="3810305" cy="952805"/>
          </a:xfrm>
          <a:custGeom>
            <a:avLst/>
            <a:gdLst/>
            <a:ahLst/>
            <a:cxnLst/>
            <a:rect l="l" t="t" r="r" b="b"/>
            <a:pathLst>
              <a:path w="3810305" h="952805">
                <a:moveTo>
                  <a:pt x="0" y="952805"/>
                </a:moveTo>
                <a:lnTo>
                  <a:pt x="3810305" y="952805"/>
                </a:lnTo>
                <a:lnTo>
                  <a:pt x="0" y="0"/>
                </a:lnTo>
                <a:close/>
              </a:path>
            </a:pathLst>
          </a:custGeom>
          <a:solidFill>
            <a:srgbClr val="D62839">
              <a:alpha val="3000"/>
            </a:srgbClr>
          </a:solidFill>
          <a:ln/>
        </p:spPr>
        <p:txBody>
          <a:bodyPr/>
          <a:lstStyle/>
          <a:p>
            <a:endParaRPr lang="en-US"/>
          </a:p>
        </p:txBody>
      </p:sp>
      <p:pic>
        <p:nvPicPr>
          <p:cNvPr id="6" name="Image 1" descr="preencoded.png"/>
          <p:cNvPicPr>
            <a:picLocks noChangeAspect="1"/>
          </p:cNvPicPr>
          <p:nvPr/>
        </p:nvPicPr>
        <p:blipFill>
          <a:blip r:embed="rId4"/>
          <a:srcRect l="-202" r="-202"/>
          <a:stretch/>
        </p:blipFill>
        <p:spPr>
          <a:xfrm>
            <a:off x="0" y="0"/>
            <a:ext cx="8128102" cy="75895"/>
          </a:xfrm>
          <a:prstGeom prst="rect">
            <a:avLst/>
          </a:prstGeom>
        </p:spPr>
      </p:pic>
      <p:pic>
        <p:nvPicPr>
          <p:cNvPr id="7" name="Image 2" descr="preencoded.png"/>
          <p:cNvPicPr>
            <a:picLocks noChangeAspect="1"/>
          </p:cNvPicPr>
          <p:nvPr/>
        </p:nvPicPr>
        <p:blipFill>
          <a:blip r:embed="rId5"/>
          <a:srcRect l="-197" r="-197"/>
          <a:stretch/>
        </p:blipFill>
        <p:spPr>
          <a:xfrm>
            <a:off x="8128102" y="0"/>
            <a:ext cx="4063594" cy="75895"/>
          </a:xfrm>
          <a:prstGeom prst="rect">
            <a:avLst/>
          </a:prstGeom>
        </p:spPr>
      </p:pic>
      <p:sp>
        <p:nvSpPr>
          <p:cNvPr id="8" name="Text 3"/>
          <p:cNvSpPr txBox="1"/>
          <p:nvPr/>
        </p:nvSpPr>
        <p:spPr>
          <a:xfrm>
            <a:off x="2774290" y="3881628"/>
            <a:ext cx="6648602" cy="267005"/>
          </a:xfrm>
          <a:prstGeom prst="rect">
            <a:avLst/>
          </a:prstGeom>
          <a:noFill/>
          <a:ln/>
        </p:spPr>
        <p:txBody>
          <a:bodyPr wrap="square" lIns="0" tIns="0" rIns="0" bIns="0" rtlCol="0" anchor="ctr"/>
          <a:lstStyle/>
          <a:p>
            <a:pPr marL="0" indent="0" algn="ctr">
              <a:buNone/>
            </a:pPr>
            <a:r>
              <a:rPr lang="en-US" sz="1500" b="1">
                <a:solidFill>
                  <a:srgbClr val="4B5563"/>
                </a:solidFill>
                <a:latin typeface="Roboto Condensed" pitchFamily="34" charset="0"/>
                <a:ea typeface="Roboto Condensed" pitchFamily="34" charset="-122"/>
                <a:cs typeface="Roboto Condensed" pitchFamily="34" charset="-120"/>
              </a:rPr>
              <a:t>BUSINESS DRIVERS| TECHNOLOGY ACCELERATORS | GAME CHANGERS</a:t>
            </a:r>
            <a:endParaRPr lang="en-US" sz="1200"/>
          </a:p>
        </p:txBody>
      </p:sp>
      <p:sp>
        <p:nvSpPr>
          <p:cNvPr id="9" name="Text 4"/>
          <p:cNvSpPr txBox="1"/>
          <p:nvPr/>
        </p:nvSpPr>
        <p:spPr>
          <a:xfrm>
            <a:off x="4153205" y="4262933"/>
            <a:ext cx="3893515" cy="305410"/>
          </a:xfrm>
          <a:prstGeom prst="rect">
            <a:avLst/>
          </a:prstGeom>
          <a:noFill/>
          <a:ln/>
        </p:spPr>
        <p:txBody>
          <a:bodyPr wrap="square" lIns="0" tIns="0" rIns="0" bIns="0" rtlCol="0" anchor="ctr"/>
          <a:lstStyle/>
          <a:p>
            <a:pPr marL="0" indent="0" algn="ctr">
              <a:buNone/>
            </a:pPr>
            <a:r>
              <a:rPr lang="en-US" sz="1800" i="1">
                <a:solidFill>
                  <a:srgbClr val="D62839"/>
                </a:solidFill>
                <a:latin typeface="Raleway" pitchFamily="34" charset="0"/>
                <a:ea typeface="Raleway" pitchFamily="34" charset="-122"/>
                <a:cs typeface="Raleway" pitchFamily="34" charset="-120"/>
              </a:rPr>
              <a:t>Energy. Excellence. Innovation.</a:t>
            </a:r>
            <a:endParaRPr lang="en-US" sz="1800"/>
          </a:p>
        </p:txBody>
      </p:sp>
      <p:pic>
        <p:nvPicPr>
          <p:cNvPr id="10" name="Image 3" descr="preencoded.png"/>
          <p:cNvPicPr>
            <a:picLocks noChangeAspect="1"/>
          </p:cNvPicPr>
          <p:nvPr/>
        </p:nvPicPr>
        <p:blipFill>
          <a:blip r:embed="rId6"/>
          <a:srcRect l="141" r="141"/>
          <a:stretch/>
        </p:blipFill>
        <p:spPr>
          <a:xfrm>
            <a:off x="4629607" y="447142"/>
            <a:ext cx="2933395" cy="1419149"/>
          </a:xfrm>
          <a:prstGeom prst="rect">
            <a:avLst/>
          </a:prstGeom>
        </p:spPr>
      </p:pic>
      <p:sp>
        <p:nvSpPr>
          <p:cNvPr id="11" name="Text 5"/>
          <p:cNvSpPr txBox="1"/>
          <p:nvPr/>
        </p:nvSpPr>
        <p:spPr>
          <a:xfrm>
            <a:off x="1287018" y="2262226"/>
            <a:ext cx="9475927" cy="1143000"/>
          </a:xfrm>
          <a:prstGeom prst="rect">
            <a:avLst/>
          </a:prstGeom>
          <a:noFill/>
          <a:ln/>
        </p:spPr>
        <p:txBody>
          <a:bodyPr wrap="square" lIns="0" tIns="0" rIns="0" bIns="0" rtlCol="0" anchor="ctr"/>
          <a:lstStyle/>
          <a:p>
            <a:pPr marL="0" indent="0" algn="ctr">
              <a:buNone/>
            </a:pPr>
            <a:r>
              <a:rPr lang="en-US" sz="3600" b="1" dirty="0">
                <a:solidFill>
                  <a:srgbClr val="1F2937"/>
                </a:solidFill>
                <a:latin typeface="Oswald" pitchFamily="34" charset="0"/>
                <a:ea typeface="Oswald" pitchFamily="34" charset="-122"/>
                <a:cs typeface="Oswald" pitchFamily="34" charset="-120"/>
              </a:rPr>
              <a:t> Building the Enterprise Operating Model​</a:t>
            </a:r>
          </a:p>
          <a:p>
            <a:pPr marL="0" indent="0" algn="ctr">
              <a:buNone/>
            </a:pPr>
            <a:r>
              <a:rPr lang="en-US" sz="3600" b="1" dirty="0">
                <a:solidFill>
                  <a:srgbClr val="1F2937"/>
                </a:solidFill>
                <a:latin typeface="Oswald" pitchFamily="34" charset="0"/>
                <a:ea typeface="Oswald" pitchFamily="34" charset="-122"/>
                <a:cs typeface="Oswald" pitchFamily="34" charset="-120"/>
              </a:rPr>
              <a:t>for the Next Decade​</a:t>
            </a:r>
          </a:p>
        </p:txBody>
      </p:sp>
      <p:pic>
        <p:nvPicPr>
          <p:cNvPr id="12" name="Image 4" descr="preencoded.png"/>
          <p:cNvPicPr>
            <a:picLocks noChangeAspect="1"/>
          </p:cNvPicPr>
          <p:nvPr/>
        </p:nvPicPr>
        <p:blipFill>
          <a:blip r:embed="rId7"/>
          <a:srcRect t="-400" b="-400"/>
          <a:stretch/>
        </p:blipFill>
        <p:spPr>
          <a:xfrm>
            <a:off x="5639105" y="3596335"/>
            <a:ext cx="914400" cy="57607"/>
          </a:xfrm>
          <a:prstGeom prst="rect">
            <a:avLst/>
          </a:prstGeom>
        </p:spPr>
      </p:pic>
      <p:sp>
        <p:nvSpPr>
          <p:cNvPr id="13" name="Shape 6"/>
          <p:cNvSpPr/>
          <p:nvPr/>
        </p:nvSpPr>
        <p:spPr>
          <a:xfrm>
            <a:off x="0" y="5238598"/>
            <a:ext cx="12191695" cy="1619402"/>
          </a:xfrm>
          <a:prstGeom prst="rect">
            <a:avLst/>
          </a:prstGeom>
          <a:solidFill>
            <a:srgbClr val="F9FAFB"/>
          </a:solidFill>
          <a:ln/>
        </p:spPr>
        <p:txBody>
          <a:bodyPr/>
          <a:lstStyle/>
          <a:p>
            <a:endParaRPr lang="en-US"/>
          </a:p>
        </p:txBody>
      </p:sp>
      <p:sp>
        <p:nvSpPr>
          <p:cNvPr id="14" name="Shape 7"/>
          <p:cNvSpPr/>
          <p:nvPr/>
        </p:nvSpPr>
        <p:spPr>
          <a:xfrm>
            <a:off x="0" y="5238598"/>
            <a:ext cx="12191695" cy="9144"/>
          </a:xfrm>
          <a:prstGeom prst="rect">
            <a:avLst/>
          </a:prstGeom>
          <a:solidFill>
            <a:srgbClr val="E5E7EB"/>
          </a:solidFill>
          <a:ln w="12700">
            <a:solidFill>
              <a:srgbClr val="E5E7EB">
                <a:alpha val="0"/>
              </a:srgbClr>
            </a:solidFill>
            <a:prstDash val="solid"/>
          </a:ln>
        </p:spPr>
        <p:txBody>
          <a:bodyPr/>
          <a:lstStyle/>
          <a:p>
            <a:endParaRPr lang="en-US"/>
          </a:p>
        </p:txBody>
      </p:sp>
      <p:sp>
        <p:nvSpPr>
          <p:cNvPr id="15" name="Shape 8"/>
          <p:cNvSpPr/>
          <p:nvPr/>
        </p:nvSpPr>
        <p:spPr>
          <a:xfrm>
            <a:off x="10201961" y="5362956"/>
            <a:ext cx="9144" cy="1380744"/>
          </a:xfrm>
          <a:prstGeom prst="rect">
            <a:avLst/>
          </a:prstGeom>
          <a:solidFill>
            <a:srgbClr val="D1D5DB"/>
          </a:solidFill>
          <a:ln w="12700">
            <a:solidFill>
              <a:srgbClr val="D1D5DB">
                <a:alpha val="0"/>
              </a:srgbClr>
            </a:solidFill>
            <a:prstDash val="solid"/>
          </a:ln>
        </p:spPr>
        <p:txBody>
          <a:bodyPr/>
          <a:lstStyle/>
          <a:p>
            <a:endParaRPr lang="en-US"/>
          </a:p>
        </p:txBody>
      </p:sp>
      <p:sp>
        <p:nvSpPr>
          <p:cNvPr id="16" name="Text 9"/>
          <p:cNvSpPr txBox="1"/>
          <p:nvPr/>
        </p:nvSpPr>
        <p:spPr>
          <a:xfrm>
            <a:off x="457200" y="5362956"/>
            <a:ext cx="9630461" cy="191110"/>
          </a:xfrm>
          <a:prstGeom prst="rect">
            <a:avLst/>
          </a:prstGeom>
          <a:noFill/>
          <a:ln/>
        </p:spPr>
        <p:txBody>
          <a:bodyPr wrap="square" lIns="0" tIns="0" rIns="0" bIns="0" rtlCol="0" anchor="ctr"/>
          <a:lstStyle/>
          <a:p>
            <a:pPr marL="0" indent="0" algn="l">
              <a:buNone/>
            </a:pPr>
            <a:r>
              <a:rPr lang="en-US" sz="1000" b="1" kern="0" spc="52">
                <a:solidFill>
                  <a:srgbClr val="2A9D8F"/>
                </a:solidFill>
                <a:latin typeface="Roboto Condensed" pitchFamily="34" charset="0"/>
                <a:ea typeface="Roboto Condensed" pitchFamily="34" charset="-122"/>
                <a:cs typeface="Roboto Condensed" pitchFamily="34" charset="-120"/>
              </a:rPr>
              <a:t>Trusted by:</a:t>
            </a:r>
            <a:endParaRPr lang="en-US" sz="1000"/>
          </a:p>
        </p:txBody>
      </p:sp>
      <p:sp>
        <p:nvSpPr>
          <p:cNvPr id="17" name="Shape 10"/>
          <p:cNvSpPr/>
          <p:nvPr/>
        </p:nvSpPr>
        <p:spPr>
          <a:xfrm>
            <a:off x="10362895" y="560527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18" name="Image 5" descr="preencoded.png"/>
          <p:cNvPicPr>
            <a:picLocks noChangeAspect="1"/>
          </p:cNvPicPr>
          <p:nvPr/>
        </p:nvPicPr>
        <p:blipFill>
          <a:blip r:embed="rId8"/>
          <a:srcRect/>
          <a:stretch/>
        </p:blipFill>
        <p:spPr>
          <a:xfrm>
            <a:off x="10577779" y="5672023"/>
            <a:ext cx="114300" cy="114300"/>
          </a:xfrm>
          <a:prstGeom prst="rect">
            <a:avLst/>
          </a:prstGeom>
        </p:spPr>
      </p:pic>
      <p:sp>
        <p:nvSpPr>
          <p:cNvPr id="19" name="Text 11"/>
          <p:cNvSpPr txBox="1"/>
          <p:nvPr/>
        </p:nvSpPr>
        <p:spPr>
          <a:xfrm>
            <a:off x="10767974" y="5605272"/>
            <a:ext cx="8101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ISO 9001:2015</a:t>
            </a:r>
            <a:endParaRPr lang="en-US" sz="900"/>
          </a:p>
        </p:txBody>
      </p:sp>
      <p:sp>
        <p:nvSpPr>
          <p:cNvPr id="20" name="Shape 12"/>
          <p:cNvSpPr/>
          <p:nvPr/>
        </p:nvSpPr>
        <p:spPr>
          <a:xfrm>
            <a:off x="10362895" y="5928970"/>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1" name="Image 6" descr="preencoded.png"/>
          <p:cNvPicPr>
            <a:picLocks noChangeAspect="1"/>
          </p:cNvPicPr>
          <p:nvPr/>
        </p:nvPicPr>
        <p:blipFill>
          <a:blip r:embed="rId9"/>
          <a:srcRect/>
          <a:stretch/>
        </p:blipFill>
        <p:spPr>
          <a:xfrm>
            <a:off x="10554919" y="5995721"/>
            <a:ext cx="114300" cy="114300"/>
          </a:xfrm>
          <a:prstGeom prst="rect">
            <a:avLst/>
          </a:prstGeom>
        </p:spPr>
      </p:pic>
      <p:sp>
        <p:nvSpPr>
          <p:cNvPr id="22" name="Text 13"/>
          <p:cNvSpPr txBox="1"/>
          <p:nvPr/>
        </p:nvSpPr>
        <p:spPr>
          <a:xfrm>
            <a:off x="10745114" y="5928970"/>
            <a:ext cx="857707"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CMMI Certified</a:t>
            </a:r>
            <a:endParaRPr lang="en-US" sz="900"/>
          </a:p>
        </p:txBody>
      </p:sp>
      <p:sp>
        <p:nvSpPr>
          <p:cNvPr id="23" name="Shape 14"/>
          <p:cNvSpPr/>
          <p:nvPr/>
        </p:nvSpPr>
        <p:spPr>
          <a:xfrm>
            <a:off x="10362895" y="6253582"/>
            <a:ext cx="1371600" cy="247802"/>
          </a:xfrm>
          <a:prstGeom prst="roundRect">
            <a:avLst>
              <a:gd name="adj" fmla="val 369004"/>
            </a:avLst>
          </a:prstGeom>
          <a:solidFill>
            <a:srgbClr val="FFFFFF"/>
          </a:solidFill>
          <a:ln w="12700">
            <a:solidFill>
              <a:srgbClr val="E5E7EB"/>
            </a:solidFill>
            <a:prstDash val="solid"/>
          </a:ln>
        </p:spPr>
        <p:txBody>
          <a:bodyPr/>
          <a:lstStyle/>
          <a:p>
            <a:endParaRPr lang="en-US"/>
          </a:p>
        </p:txBody>
      </p:sp>
      <p:pic>
        <p:nvPicPr>
          <p:cNvPr id="24" name="Image 7" descr="preencoded.png"/>
          <p:cNvPicPr>
            <a:picLocks noChangeAspect="1"/>
          </p:cNvPicPr>
          <p:nvPr/>
        </p:nvPicPr>
        <p:blipFill>
          <a:blip r:embed="rId10"/>
          <a:srcRect l="-133" r="-133"/>
          <a:stretch/>
        </p:blipFill>
        <p:spPr>
          <a:xfrm>
            <a:off x="10537546" y="6319418"/>
            <a:ext cx="85954" cy="114300"/>
          </a:xfrm>
          <a:prstGeom prst="rect">
            <a:avLst/>
          </a:prstGeom>
        </p:spPr>
      </p:pic>
      <p:sp>
        <p:nvSpPr>
          <p:cNvPr id="25" name="Text 15"/>
          <p:cNvSpPr txBox="1"/>
          <p:nvPr/>
        </p:nvSpPr>
        <p:spPr>
          <a:xfrm>
            <a:off x="10699394" y="6253582"/>
            <a:ext cx="924458" cy="247802"/>
          </a:xfrm>
          <a:prstGeom prst="rect">
            <a:avLst/>
          </a:prstGeom>
          <a:noFill/>
          <a:ln/>
        </p:spPr>
        <p:txBody>
          <a:bodyPr wrap="square" lIns="0" tIns="0" rIns="0" bIns="0" rtlCol="0" anchor="ctr"/>
          <a:lstStyle/>
          <a:p>
            <a:pPr marL="0" indent="0" algn="l">
              <a:buNone/>
            </a:pPr>
            <a:r>
              <a:rPr lang="en-US" sz="900" b="1">
                <a:solidFill>
                  <a:srgbClr val="4B5563"/>
                </a:solidFill>
                <a:latin typeface="Raleway" pitchFamily="34" charset="0"/>
                <a:ea typeface="Raleway" pitchFamily="34" charset="-122"/>
                <a:cs typeface="Raleway" pitchFamily="34" charset="-120"/>
              </a:rPr>
              <a:t>Women-Owned</a:t>
            </a:r>
            <a:endParaRPr lang="en-US" sz="900"/>
          </a:p>
        </p:txBody>
      </p:sp>
      <p:pic>
        <p:nvPicPr>
          <p:cNvPr id="26" name="Image 8" descr="preencoded.png"/>
          <p:cNvPicPr>
            <a:picLocks noChangeAspect="1"/>
          </p:cNvPicPr>
          <p:nvPr/>
        </p:nvPicPr>
        <p:blipFill>
          <a:blip r:embed="rId11">
            <a:alphaModFix amt="90000"/>
          </a:blip>
          <a:srcRect/>
          <a:stretch/>
        </p:blipFill>
        <p:spPr>
          <a:xfrm>
            <a:off x="457200" y="5700370"/>
            <a:ext cx="428854" cy="428854"/>
          </a:xfrm>
          <a:prstGeom prst="rect">
            <a:avLst/>
          </a:prstGeom>
        </p:spPr>
      </p:pic>
      <p:pic>
        <p:nvPicPr>
          <p:cNvPr id="27" name="Image 9" descr="preencoded.png"/>
          <p:cNvPicPr>
            <a:picLocks noChangeAspect="1"/>
          </p:cNvPicPr>
          <p:nvPr/>
        </p:nvPicPr>
        <p:blipFill>
          <a:blip r:embed="rId12">
            <a:alphaModFix amt="90000"/>
          </a:blip>
          <a:srcRect l="2016" r="2016"/>
          <a:stretch/>
        </p:blipFill>
        <p:spPr>
          <a:xfrm>
            <a:off x="1578254" y="5805526"/>
            <a:ext cx="1143000" cy="228600"/>
          </a:xfrm>
          <a:prstGeom prst="rect">
            <a:avLst/>
          </a:prstGeom>
        </p:spPr>
      </p:pic>
      <p:pic>
        <p:nvPicPr>
          <p:cNvPr id="28" name="Image 10" descr="preencoded.png"/>
          <p:cNvPicPr>
            <a:picLocks noChangeAspect="1"/>
          </p:cNvPicPr>
          <p:nvPr/>
        </p:nvPicPr>
        <p:blipFill>
          <a:blip r:embed="rId13">
            <a:alphaModFix amt="90000"/>
          </a:blip>
          <a:srcRect t="569" b="569"/>
          <a:stretch/>
        </p:blipFill>
        <p:spPr>
          <a:xfrm>
            <a:off x="3413455" y="5639105"/>
            <a:ext cx="838505" cy="552298"/>
          </a:xfrm>
          <a:prstGeom prst="rect">
            <a:avLst/>
          </a:prstGeom>
        </p:spPr>
      </p:pic>
      <p:pic>
        <p:nvPicPr>
          <p:cNvPr id="29" name="Image 11" descr="preencoded.png"/>
          <p:cNvPicPr>
            <a:picLocks noChangeAspect="1"/>
          </p:cNvPicPr>
          <p:nvPr/>
        </p:nvPicPr>
        <p:blipFill>
          <a:blip r:embed="rId14">
            <a:alphaModFix amt="90000"/>
          </a:blip>
          <a:srcRect t="563" b="563"/>
          <a:stretch/>
        </p:blipFill>
        <p:spPr>
          <a:xfrm>
            <a:off x="4935017" y="5648249"/>
            <a:ext cx="809244" cy="533095"/>
          </a:xfrm>
          <a:prstGeom prst="rect">
            <a:avLst/>
          </a:prstGeom>
        </p:spPr>
      </p:pic>
      <p:pic>
        <p:nvPicPr>
          <p:cNvPr id="30" name="Image 12" descr="preencoded.png"/>
          <p:cNvPicPr>
            <a:picLocks noChangeAspect="1"/>
          </p:cNvPicPr>
          <p:nvPr/>
        </p:nvPicPr>
        <p:blipFill>
          <a:blip r:embed="rId15">
            <a:alphaModFix amt="90000"/>
          </a:blip>
          <a:srcRect t="267" b="267"/>
          <a:stretch/>
        </p:blipFill>
        <p:spPr>
          <a:xfrm>
            <a:off x="6427318" y="5648249"/>
            <a:ext cx="952805" cy="533095"/>
          </a:xfrm>
          <a:prstGeom prst="rect">
            <a:avLst/>
          </a:prstGeom>
        </p:spPr>
      </p:pic>
      <p:pic>
        <p:nvPicPr>
          <p:cNvPr id="31" name="Image 13" descr="preencoded.png"/>
          <p:cNvPicPr>
            <a:picLocks noChangeAspect="1"/>
          </p:cNvPicPr>
          <p:nvPr/>
        </p:nvPicPr>
        <p:blipFill>
          <a:blip r:embed="rId16">
            <a:alphaModFix amt="90000"/>
          </a:blip>
          <a:srcRect/>
          <a:stretch/>
        </p:blipFill>
        <p:spPr>
          <a:xfrm>
            <a:off x="8067751" y="5662879"/>
            <a:ext cx="504749" cy="504749"/>
          </a:xfrm>
          <a:prstGeom prst="rect">
            <a:avLst/>
          </a:prstGeom>
        </p:spPr>
      </p:pic>
      <p:pic>
        <p:nvPicPr>
          <p:cNvPr id="32" name="Image 14" descr="preencoded.png"/>
          <p:cNvPicPr>
            <a:picLocks noChangeAspect="1"/>
          </p:cNvPicPr>
          <p:nvPr/>
        </p:nvPicPr>
        <p:blipFill>
          <a:blip r:embed="rId17">
            <a:alphaModFix amt="90000"/>
          </a:blip>
          <a:srcRect t="525" b="525"/>
          <a:stretch/>
        </p:blipFill>
        <p:spPr>
          <a:xfrm>
            <a:off x="9265615" y="5662879"/>
            <a:ext cx="714146" cy="504749"/>
          </a:xfrm>
          <a:prstGeom prst="rect">
            <a:avLst/>
          </a:prstGeom>
        </p:spPr>
      </p:pic>
      <p:pic>
        <p:nvPicPr>
          <p:cNvPr id="33" name="Image 15" descr="preencoded.png"/>
          <p:cNvPicPr>
            <a:picLocks noChangeAspect="1"/>
          </p:cNvPicPr>
          <p:nvPr/>
        </p:nvPicPr>
        <p:blipFill>
          <a:blip r:embed="rId18">
            <a:alphaModFix amt="90000"/>
          </a:blip>
          <a:srcRect l="688" r="688"/>
          <a:stretch/>
        </p:blipFill>
        <p:spPr>
          <a:xfrm>
            <a:off x="457200" y="6445606"/>
            <a:ext cx="1067105" cy="190195"/>
          </a:xfrm>
          <a:prstGeom prst="rect">
            <a:avLst/>
          </a:prstGeom>
        </p:spPr>
      </p:pic>
      <p:pic>
        <p:nvPicPr>
          <p:cNvPr id="34" name="Image 16" descr="preencoded.png"/>
          <p:cNvPicPr>
            <a:picLocks noChangeAspect="1"/>
          </p:cNvPicPr>
          <p:nvPr/>
        </p:nvPicPr>
        <p:blipFill>
          <a:blip r:embed="rId19">
            <a:alphaModFix amt="90000"/>
          </a:blip>
          <a:srcRect l="960" r="960"/>
          <a:stretch/>
        </p:blipFill>
        <p:spPr>
          <a:xfrm>
            <a:off x="2056486" y="6390742"/>
            <a:ext cx="1466698" cy="304495"/>
          </a:xfrm>
          <a:prstGeom prst="rect">
            <a:avLst/>
          </a:prstGeom>
        </p:spPr>
      </p:pic>
      <p:pic>
        <p:nvPicPr>
          <p:cNvPr id="35" name="Image 17" descr="preencoded.png"/>
          <p:cNvPicPr>
            <a:picLocks noChangeAspect="1"/>
          </p:cNvPicPr>
          <p:nvPr/>
        </p:nvPicPr>
        <p:blipFill>
          <a:blip r:embed="rId20">
            <a:alphaModFix amt="90000"/>
          </a:blip>
          <a:srcRect t="311" b="311"/>
          <a:stretch/>
        </p:blipFill>
        <p:spPr>
          <a:xfrm>
            <a:off x="4055364" y="6325819"/>
            <a:ext cx="828446" cy="428854"/>
          </a:xfrm>
          <a:prstGeom prst="rect">
            <a:avLst/>
          </a:prstGeom>
        </p:spPr>
      </p:pic>
      <p:pic>
        <p:nvPicPr>
          <p:cNvPr id="36" name="Image 18" descr="preencoded.png"/>
          <p:cNvPicPr>
            <a:picLocks noChangeAspect="1"/>
          </p:cNvPicPr>
          <p:nvPr/>
        </p:nvPicPr>
        <p:blipFill>
          <a:blip r:embed="rId21">
            <a:alphaModFix amt="90000"/>
          </a:blip>
          <a:srcRect t="385" b="385"/>
          <a:stretch/>
        </p:blipFill>
        <p:spPr>
          <a:xfrm>
            <a:off x="5410505" y="6325819"/>
            <a:ext cx="771754" cy="428854"/>
          </a:xfrm>
          <a:prstGeom prst="rect">
            <a:avLst/>
          </a:prstGeom>
        </p:spPr>
      </p:pic>
      <p:pic>
        <p:nvPicPr>
          <p:cNvPr id="37" name="Image 19" descr="preencoded.png"/>
          <p:cNvPicPr>
            <a:picLocks noChangeAspect="1"/>
          </p:cNvPicPr>
          <p:nvPr/>
        </p:nvPicPr>
        <p:blipFill>
          <a:blip r:embed="rId22">
            <a:alphaModFix amt="90000"/>
          </a:blip>
          <a:srcRect/>
          <a:stretch/>
        </p:blipFill>
        <p:spPr>
          <a:xfrm>
            <a:off x="6708038" y="6325819"/>
            <a:ext cx="428854" cy="428854"/>
          </a:xfrm>
          <a:prstGeom prst="rect">
            <a:avLst/>
          </a:prstGeom>
        </p:spPr>
      </p:pic>
      <p:pic>
        <p:nvPicPr>
          <p:cNvPr id="38" name="Image 20" descr="preencoded.png"/>
          <p:cNvPicPr>
            <a:picLocks noChangeAspect="1"/>
          </p:cNvPicPr>
          <p:nvPr/>
        </p:nvPicPr>
        <p:blipFill>
          <a:blip r:embed="rId23">
            <a:alphaModFix amt="90000"/>
          </a:blip>
          <a:srcRect t="77" b="77"/>
          <a:stretch/>
        </p:blipFill>
        <p:spPr>
          <a:xfrm>
            <a:off x="7669073" y="6368796"/>
            <a:ext cx="629107" cy="342900"/>
          </a:xfrm>
          <a:prstGeom prst="rect">
            <a:avLst/>
          </a:prstGeom>
        </p:spPr>
      </p:pic>
      <p:pic>
        <p:nvPicPr>
          <p:cNvPr id="39" name="Image 21" descr="preencoded.png"/>
          <p:cNvPicPr>
            <a:picLocks noChangeAspect="1"/>
          </p:cNvPicPr>
          <p:nvPr/>
        </p:nvPicPr>
        <p:blipFill>
          <a:blip r:embed="rId24">
            <a:alphaModFix amt="90000"/>
          </a:blip>
          <a:srcRect l="1712" r="1712"/>
          <a:stretch/>
        </p:blipFill>
        <p:spPr>
          <a:xfrm>
            <a:off x="8829446" y="6420002"/>
            <a:ext cx="1143000" cy="24780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2"/>
          <p:cNvSpPr/>
          <p:nvPr/>
        </p:nvSpPr>
        <p:spPr>
          <a:xfrm>
            <a:off x="8953805" y="-571500"/>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8000"/>
          </a:blip>
          <a:srcRect/>
          <a:stretch/>
        </p:blipFill>
        <p:spPr>
          <a:xfrm>
            <a:off x="-381305" y="3715207"/>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ef527bea2207a14ec6e8d4c8ae9cdc45.png"/>
          <p:cNvPicPr>
            <a:picLocks noChangeAspect="1"/>
          </p:cNvPicPr>
          <p:nvPr/>
        </p:nvPicPr>
        <p:blipFill>
          <a:blip r:embed="rId6"/>
          <a:srcRect l="-384" r="-384"/>
          <a:stretch/>
        </p:blipFill>
        <p:spPr>
          <a:xfrm>
            <a:off x="609905" y="513893"/>
            <a:ext cx="57607" cy="476402"/>
          </a:xfrm>
          <a:prstGeom prst="rect">
            <a:avLst/>
          </a:prstGeom>
        </p:spPr>
      </p:pic>
      <p:sp>
        <p:nvSpPr>
          <p:cNvPr id="9" name="Shape 3"/>
          <p:cNvSpPr/>
          <p:nvPr/>
        </p:nvSpPr>
        <p:spPr>
          <a:xfrm>
            <a:off x="609905" y="1387090"/>
            <a:ext cx="10972190" cy="1450129"/>
          </a:xfrm>
          <a:prstGeom prst="roundRect">
            <a:avLst>
              <a:gd name="adj" fmla="val 2853"/>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387090"/>
            <a:ext cx="47549" cy="1450129"/>
          </a:xfrm>
          <a:prstGeom prst="roundRect">
            <a:avLst>
              <a:gd name="adj" fmla="val 132625"/>
            </a:avLst>
          </a:prstGeom>
          <a:solidFill>
            <a:srgbClr val="111827"/>
          </a:solidFill>
          <a:ln w="12700">
            <a:solidFill>
              <a:srgbClr val="111827">
                <a:alpha val="0"/>
              </a:srgbClr>
            </a:solidFill>
            <a:prstDash val="solid"/>
          </a:ln>
        </p:spPr>
        <p:txBody>
          <a:bodyPr/>
          <a:lstStyle/>
          <a:p>
            <a:endParaRPr lang="en-US"/>
          </a:p>
        </p:txBody>
      </p:sp>
      <p:sp>
        <p:nvSpPr>
          <p:cNvPr id="11" name="Shape 5"/>
          <p:cNvSpPr/>
          <p:nvPr/>
        </p:nvSpPr>
        <p:spPr>
          <a:xfrm>
            <a:off x="609905" y="32388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2" name="Shape 6"/>
          <p:cNvSpPr/>
          <p:nvPr/>
        </p:nvSpPr>
        <p:spPr>
          <a:xfrm>
            <a:off x="4343400" y="32388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3" name="Shape 7"/>
          <p:cNvSpPr/>
          <p:nvPr/>
        </p:nvSpPr>
        <p:spPr>
          <a:xfrm>
            <a:off x="8076895" y="3238805"/>
            <a:ext cx="352409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4" name="Shape 8"/>
          <p:cNvSpPr/>
          <p:nvPr/>
        </p:nvSpPr>
        <p:spPr>
          <a:xfrm>
            <a:off x="609905"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5" name="Shape 9"/>
          <p:cNvSpPr/>
          <p:nvPr/>
        </p:nvSpPr>
        <p:spPr>
          <a:xfrm>
            <a:off x="4343400" y="4953305"/>
            <a:ext cx="3448202"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6" name="Shape 10"/>
          <p:cNvSpPr/>
          <p:nvPr/>
        </p:nvSpPr>
        <p:spPr>
          <a:xfrm>
            <a:off x="8076895" y="4953305"/>
            <a:ext cx="3524098" cy="1447495"/>
          </a:xfrm>
          <a:prstGeom prst="roundRect">
            <a:avLst>
              <a:gd name="adj" fmla="val 4987"/>
            </a:avLst>
          </a:prstGeom>
          <a:solidFill>
            <a:srgbClr val="F8FAFC"/>
          </a:solidFill>
          <a:ln w="12700">
            <a:solidFill>
              <a:srgbClr val="E2E8F0"/>
            </a:solidFill>
            <a:prstDash val="solid"/>
          </a:ln>
        </p:spPr>
        <p:txBody>
          <a:bodyPr/>
          <a:lstStyle/>
          <a:p>
            <a:endParaRPr lang="en-US"/>
          </a:p>
        </p:txBody>
      </p:sp>
      <p:sp>
        <p:nvSpPr>
          <p:cNvPr id="17" name="Text 11"/>
          <p:cNvSpPr txBox="1"/>
          <p:nvPr/>
        </p:nvSpPr>
        <p:spPr>
          <a:xfrm>
            <a:off x="819302" y="466344"/>
            <a:ext cx="3810305" cy="342900"/>
          </a:xfrm>
          <a:prstGeom prst="rect">
            <a:avLst/>
          </a:prstGeom>
          <a:noFill/>
          <a:ln/>
        </p:spPr>
        <p:txBody>
          <a:bodyPr wrap="none" lIns="0" tIns="0" rIns="0" bIns="0" rtlCol="0" anchor="ctr"/>
          <a:lstStyle/>
          <a:p>
            <a:pPr marL="0" indent="0" algn="l">
              <a:buNone/>
            </a:pPr>
            <a:r>
              <a:rPr lang="en-US" sz="2400" b="1" dirty="0">
                <a:solidFill>
                  <a:srgbClr val="111827"/>
                </a:solidFill>
                <a:latin typeface="Oswald" pitchFamily="34" charset="0"/>
                <a:ea typeface="Oswald" pitchFamily="34" charset="-122"/>
                <a:cs typeface="Oswald" pitchFamily="34" charset="-120"/>
              </a:rPr>
              <a:t>WHO WE ARE</a:t>
            </a:r>
            <a:endParaRPr lang="en-US" sz="2400" dirty="0"/>
          </a:p>
        </p:txBody>
      </p:sp>
      <p:sp>
        <p:nvSpPr>
          <p:cNvPr id="18" name="Text 12"/>
          <p:cNvSpPr txBox="1"/>
          <p:nvPr/>
        </p:nvSpPr>
        <p:spPr>
          <a:xfrm>
            <a:off x="819302" y="858622"/>
            <a:ext cx="4496105" cy="152705"/>
          </a:xfrm>
          <a:prstGeom prst="rect">
            <a:avLst/>
          </a:prstGeom>
          <a:noFill/>
          <a:ln/>
        </p:spPr>
        <p:txBody>
          <a:bodyPr wrap="none" lIns="0" tIns="0" rIns="0" bIns="0" rtlCol="0" anchor="ctr"/>
          <a:lstStyle/>
          <a:p>
            <a:pPr marL="0" indent="0" algn="l">
              <a:buNone/>
            </a:pPr>
            <a:r>
              <a:rPr lang="en-US" sz="1500" b="1" kern="0" spc="52" dirty="0">
                <a:solidFill>
                  <a:srgbClr val="2A9D8F"/>
                </a:solidFill>
                <a:latin typeface="Roboto Condensed" pitchFamily="34" charset="0"/>
                <a:ea typeface="Roboto Condensed" pitchFamily="34" charset="-122"/>
                <a:cs typeface="Roboto Condensed" pitchFamily="34" charset="-120"/>
              </a:rPr>
              <a:t>The AI-native GCC platform - a decade in the making</a:t>
            </a:r>
            <a:endParaRPr lang="en-US" sz="1500" dirty="0"/>
          </a:p>
        </p:txBody>
      </p:sp>
      <p:sp>
        <p:nvSpPr>
          <p:cNvPr id="19" name="Text 13"/>
          <p:cNvSpPr txBox="1"/>
          <p:nvPr/>
        </p:nvSpPr>
        <p:spPr>
          <a:xfrm>
            <a:off x="990295" y="1465380"/>
            <a:ext cx="6967162" cy="648310"/>
          </a:xfrm>
          <a:prstGeom prst="rect">
            <a:avLst/>
          </a:prstGeom>
          <a:noFill/>
          <a:ln/>
        </p:spPr>
        <p:txBody>
          <a:bodyPr wrap="square" lIns="0" tIns="0" rIns="0" bIns="0" rtlCol="0" anchor="ctr"/>
          <a:lstStyle/>
          <a:p>
            <a:pPr marL="0" indent="0" algn="l">
              <a:buNone/>
            </a:pPr>
            <a:r>
              <a:rPr lang="en-US" sz="1900" b="1" dirty="0">
                <a:solidFill>
                  <a:srgbClr val="111827"/>
                </a:solidFill>
                <a:latin typeface="Oswald" pitchFamily="34" charset="0"/>
                <a:ea typeface="Oswald" pitchFamily="34" charset="-122"/>
                <a:cs typeface="Oswald" pitchFamily="34" charset="-120"/>
              </a:rPr>
              <a:t>J2W is the AI-native GCC platform for the Fortune 1000 and beyond.</a:t>
            </a:r>
            <a:endParaRPr lang="en-US" sz="1900" dirty="0"/>
          </a:p>
        </p:txBody>
      </p:sp>
      <p:sp>
        <p:nvSpPr>
          <p:cNvPr id="20" name="Text 14"/>
          <p:cNvSpPr txBox="1"/>
          <p:nvPr/>
        </p:nvSpPr>
        <p:spPr>
          <a:xfrm>
            <a:off x="990294" y="1977901"/>
            <a:ext cx="9144915" cy="685800"/>
          </a:xfrm>
          <a:prstGeom prst="rect">
            <a:avLst/>
          </a:prstGeom>
          <a:noFill/>
          <a:ln/>
        </p:spPr>
        <p:txBody>
          <a:bodyPr wrap="square" lIns="0" tIns="0" rIns="0" bIns="0" rtlCol="0" anchor="ctr"/>
          <a:lstStyle/>
          <a:p>
            <a:pPr marL="0" indent="0" algn="l">
              <a:buNone/>
            </a:pPr>
            <a:r>
              <a:rPr lang="en-US" sz="1100" dirty="0">
                <a:solidFill>
                  <a:srgbClr val="4B5563"/>
                </a:solidFill>
                <a:latin typeface="Raleway" pitchFamily="34" charset="0"/>
                <a:ea typeface="Raleway" pitchFamily="34" charset="-122"/>
                <a:cs typeface="Raleway" pitchFamily="34" charset="-120"/>
              </a:rPr>
              <a:t>Ten years building nothing but GCCs - so we solve the next problem before it shows up, deliver ROI in weeks where the industry takes quarters, and turn the GCC from a cost line into an innovation engine.</a:t>
            </a:r>
            <a:endParaRPr lang="en-US" sz="1100" dirty="0"/>
          </a:p>
        </p:txBody>
      </p:sp>
      <p:pic>
        <p:nvPicPr>
          <p:cNvPr id="21" name="Image 4" descr="gen-dedup-3d17221e8cd76f10a3e0815681bf2023.png"/>
          <p:cNvPicPr>
            <a:picLocks noChangeAspect="1"/>
          </p:cNvPicPr>
          <p:nvPr/>
        </p:nvPicPr>
        <p:blipFill>
          <a:blip r:embed="rId7"/>
          <a:srcRect l="-400" r="-400"/>
          <a:stretch/>
        </p:blipFill>
        <p:spPr>
          <a:xfrm>
            <a:off x="800100" y="3476549"/>
            <a:ext cx="38405" cy="571500"/>
          </a:xfrm>
          <a:prstGeom prst="rect">
            <a:avLst/>
          </a:prstGeom>
        </p:spPr>
      </p:pic>
      <p:sp>
        <p:nvSpPr>
          <p:cNvPr id="22" name="Text 15"/>
          <p:cNvSpPr txBox="1"/>
          <p:nvPr/>
        </p:nvSpPr>
        <p:spPr>
          <a:xfrm>
            <a:off x="990295" y="3476549"/>
            <a:ext cx="1552651" cy="448056"/>
          </a:xfrm>
          <a:prstGeom prst="rect">
            <a:avLst/>
          </a:prstGeom>
          <a:noFill/>
          <a:ln/>
        </p:spPr>
        <p:txBody>
          <a:bodyPr wrap="none" lIns="0" tIns="0" rIns="0" bIns="0" rtlCol="0" anchor="ctr"/>
          <a:lstStyle/>
          <a:p>
            <a:pPr marL="0" indent="0" algn="l">
              <a:buNone/>
            </a:pPr>
            <a:r>
              <a:rPr lang="en-US" sz="3100" b="1" dirty="0">
                <a:solidFill>
                  <a:srgbClr val="2A9D8F"/>
                </a:solidFill>
                <a:latin typeface="Oswald" pitchFamily="34" charset="0"/>
                <a:ea typeface="Oswald" pitchFamily="34" charset="-122"/>
                <a:cs typeface="Oswald" pitchFamily="34" charset="-120"/>
              </a:rPr>
              <a:t>10+</a:t>
            </a:r>
            <a:endParaRPr lang="en-US" sz="3100" dirty="0"/>
          </a:p>
        </p:txBody>
      </p:sp>
      <p:sp>
        <p:nvSpPr>
          <p:cNvPr id="23" name="Text 16"/>
          <p:cNvSpPr txBox="1"/>
          <p:nvPr/>
        </p:nvSpPr>
        <p:spPr>
          <a:xfrm>
            <a:off x="990295" y="3993185"/>
            <a:ext cx="1848002"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Years GCC leadership</a:t>
            </a:r>
            <a:endParaRPr lang="en-US" sz="1200" dirty="0"/>
          </a:p>
        </p:txBody>
      </p:sp>
      <p:pic>
        <p:nvPicPr>
          <p:cNvPr id="24" name="Image 5" descr="gen-dedup-32cd67bc95385c5507b78533d3bab6e6.png"/>
          <p:cNvPicPr>
            <a:picLocks noChangeAspect="1"/>
          </p:cNvPicPr>
          <p:nvPr/>
        </p:nvPicPr>
        <p:blipFill>
          <a:blip r:embed="rId8"/>
          <a:srcRect l="-400" r="-400"/>
          <a:stretch/>
        </p:blipFill>
        <p:spPr>
          <a:xfrm>
            <a:off x="4533595" y="3476549"/>
            <a:ext cx="38405" cy="571500"/>
          </a:xfrm>
          <a:prstGeom prst="rect">
            <a:avLst/>
          </a:prstGeom>
        </p:spPr>
      </p:pic>
      <p:sp>
        <p:nvSpPr>
          <p:cNvPr id="25" name="Text 17"/>
          <p:cNvSpPr txBox="1"/>
          <p:nvPr/>
        </p:nvSpPr>
        <p:spPr>
          <a:xfrm>
            <a:off x="4724705" y="3476549"/>
            <a:ext cx="1791310" cy="448056"/>
          </a:xfrm>
          <a:prstGeom prst="rect">
            <a:avLst/>
          </a:prstGeom>
          <a:noFill/>
          <a:ln/>
        </p:spPr>
        <p:txBody>
          <a:bodyPr wrap="none" lIns="0" tIns="0" rIns="0" bIns="0" rtlCol="0" anchor="ctr"/>
          <a:lstStyle/>
          <a:p>
            <a:pPr marL="0" indent="0" algn="l">
              <a:buNone/>
            </a:pPr>
            <a:r>
              <a:rPr lang="en-US" sz="3100" b="1" dirty="0">
                <a:solidFill>
                  <a:srgbClr val="D62839"/>
                </a:solidFill>
                <a:latin typeface="Oswald" pitchFamily="34" charset="0"/>
                <a:ea typeface="Oswald" pitchFamily="34" charset="-122"/>
                <a:cs typeface="Oswald" pitchFamily="34" charset="-120"/>
              </a:rPr>
              <a:t>320+</a:t>
            </a:r>
            <a:endParaRPr lang="en-US" sz="3100" dirty="0"/>
          </a:p>
        </p:txBody>
      </p:sp>
      <p:sp>
        <p:nvSpPr>
          <p:cNvPr id="26" name="Text 18"/>
          <p:cNvSpPr txBox="1"/>
          <p:nvPr/>
        </p:nvSpPr>
        <p:spPr>
          <a:xfrm>
            <a:off x="4724705" y="3993185"/>
            <a:ext cx="2131466"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Enterprise clients served</a:t>
            </a:r>
            <a:endParaRPr lang="en-US" sz="1200" dirty="0"/>
          </a:p>
        </p:txBody>
      </p:sp>
      <p:pic>
        <p:nvPicPr>
          <p:cNvPr id="27" name="Image 6" descr="gen-dedup-3d17221e8cd76f10a3e0815681bf2023.png"/>
          <p:cNvPicPr>
            <a:picLocks noChangeAspect="1"/>
          </p:cNvPicPr>
          <p:nvPr/>
        </p:nvPicPr>
        <p:blipFill>
          <a:blip r:embed="rId7"/>
          <a:srcRect l="-400" r="-400"/>
          <a:stretch/>
        </p:blipFill>
        <p:spPr>
          <a:xfrm>
            <a:off x="8268005" y="3476549"/>
            <a:ext cx="38405" cy="571500"/>
          </a:xfrm>
          <a:prstGeom prst="rect">
            <a:avLst/>
          </a:prstGeom>
        </p:spPr>
      </p:pic>
      <p:sp>
        <p:nvSpPr>
          <p:cNvPr id="28" name="Text 19"/>
          <p:cNvSpPr txBox="1"/>
          <p:nvPr/>
        </p:nvSpPr>
        <p:spPr>
          <a:xfrm>
            <a:off x="8458200" y="3476549"/>
            <a:ext cx="2524658" cy="448056"/>
          </a:xfrm>
          <a:prstGeom prst="rect">
            <a:avLst/>
          </a:prstGeom>
          <a:noFill/>
          <a:ln/>
        </p:spPr>
        <p:txBody>
          <a:bodyPr wrap="none" lIns="0" tIns="0" rIns="0" bIns="0" rtlCol="0" anchor="ctr"/>
          <a:lstStyle/>
          <a:p>
            <a:pPr marL="0" indent="0" algn="l">
              <a:buNone/>
            </a:pPr>
            <a:r>
              <a:rPr lang="en-US" sz="3100" b="1" dirty="0">
                <a:solidFill>
                  <a:srgbClr val="2A9D8F"/>
                </a:solidFill>
                <a:latin typeface="Oswald" pitchFamily="34" charset="0"/>
                <a:ea typeface="Oswald" pitchFamily="34" charset="-122"/>
                <a:cs typeface="Oswald" pitchFamily="34" charset="-120"/>
              </a:rPr>
              <a:t>300+</a:t>
            </a:r>
            <a:endParaRPr lang="en-US" sz="3100" dirty="0"/>
          </a:p>
        </p:txBody>
      </p:sp>
      <p:sp>
        <p:nvSpPr>
          <p:cNvPr id="29" name="Text 20"/>
          <p:cNvSpPr txBox="1"/>
          <p:nvPr/>
        </p:nvSpPr>
        <p:spPr>
          <a:xfrm>
            <a:off x="8458200" y="3993185"/>
            <a:ext cx="3003804"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GCCs built: greenfield &amp; brownfield</a:t>
            </a:r>
            <a:endParaRPr lang="en-US" sz="1200" dirty="0"/>
          </a:p>
        </p:txBody>
      </p:sp>
      <p:pic>
        <p:nvPicPr>
          <p:cNvPr id="30" name="Image 7" descr="gen-dedup-32cd67bc95385c5507b78533d3bab6e6.png"/>
          <p:cNvPicPr>
            <a:picLocks noChangeAspect="1"/>
          </p:cNvPicPr>
          <p:nvPr/>
        </p:nvPicPr>
        <p:blipFill>
          <a:blip r:embed="rId8"/>
          <a:srcRect l="-400" r="-400"/>
          <a:stretch/>
        </p:blipFill>
        <p:spPr>
          <a:xfrm>
            <a:off x="800100" y="5191049"/>
            <a:ext cx="38405" cy="571500"/>
          </a:xfrm>
          <a:prstGeom prst="rect">
            <a:avLst/>
          </a:prstGeom>
        </p:spPr>
      </p:pic>
      <p:sp>
        <p:nvSpPr>
          <p:cNvPr id="31" name="Text 21"/>
          <p:cNvSpPr txBox="1"/>
          <p:nvPr/>
        </p:nvSpPr>
        <p:spPr>
          <a:xfrm>
            <a:off x="990295" y="5191049"/>
            <a:ext cx="1677010" cy="448056"/>
          </a:xfrm>
          <a:prstGeom prst="rect">
            <a:avLst/>
          </a:prstGeom>
          <a:noFill/>
          <a:ln/>
        </p:spPr>
        <p:txBody>
          <a:bodyPr wrap="none" lIns="0" tIns="0" rIns="0" bIns="0" rtlCol="0" anchor="ctr"/>
          <a:lstStyle/>
          <a:p>
            <a:pPr marL="0" indent="0" algn="l">
              <a:buNone/>
            </a:pPr>
            <a:r>
              <a:rPr lang="en-US" sz="3100" b="1" dirty="0">
                <a:solidFill>
                  <a:srgbClr val="D62839"/>
                </a:solidFill>
                <a:latin typeface="Oswald" pitchFamily="34" charset="0"/>
                <a:ea typeface="Oswald" pitchFamily="34" charset="-122"/>
                <a:cs typeface="Oswald" pitchFamily="34" charset="-120"/>
              </a:rPr>
              <a:t>5,500+</a:t>
            </a:r>
            <a:endParaRPr lang="en-US" sz="3100" dirty="0"/>
          </a:p>
        </p:txBody>
      </p:sp>
      <p:sp>
        <p:nvSpPr>
          <p:cNvPr id="32" name="Text 22"/>
          <p:cNvSpPr txBox="1"/>
          <p:nvPr/>
        </p:nvSpPr>
        <p:spPr>
          <a:xfrm>
            <a:off x="990295" y="5707685"/>
            <a:ext cx="1995221"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Industry &amp; tech experts</a:t>
            </a:r>
            <a:endParaRPr lang="en-US" sz="1200" dirty="0"/>
          </a:p>
        </p:txBody>
      </p:sp>
      <p:pic>
        <p:nvPicPr>
          <p:cNvPr id="33" name="Image 8" descr="gen-dedup-3d17221e8cd76f10a3e0815681bf2023.png"/>
          <p:cNvPicPr>
            <a:picLocks noChangeAspect="1"/>
          </p:cNvPicPr>
          <p:nvPr/>
        </p:nvPicPr>
        <p:blipFill>
          <a:blip r:embed="rId7"/>
          <a:srcRect l="-400" r="-400"/>
          <a:stretch/>
        </p:blipFill>
        <p:spPr>
          <a:xfrm>
            <a:off x="4533595" y="5191049"/>
            <a:ext cx="38405" cy="571500"/>
          </a:xfrm>
          <a:prstGeom prst="rect">
            <a:avLst/>
          </a:prstGeom>
        </p:spPr>
      </p:pic>
      <p:sp>
        <p:nvSpPr>
          <p:cNvPr id="34" name="Text 23"/>
          <p:cNvSpPr txBox="1"/>
          <p:nvPr/>
        </p:nvSpPr>
        <p:spPr>
          <a:xfrm>
            <a:off x="4724705" y="5191049"/>
            <a:ext cx="1705356" cy="448056"/>
          </a:xfrm>
          <a:prstGeom prst="rect">
            <a:avLst/>
          </a:prstGeom>
          <a:noFill/>
          <a:ln/>
        </p:spPr>
        <p:txBody>
          <a:bodyPr wrap="none" lIns="0" tIns="0" rIns="0" bIns="0" rtlCol="0" anchor="ctr"/>
          <a:lstStyle/>
          <a:p>
            <a:pPr marL="0" indent="0" algn="l">
              <a:buNone/>
            </a:pPr>
            <a:r>
              <a:rPr lang="en-US" sz="3100" b="1" dirty="0">
                <a:solidFill>
                  <a:srgbClr val="2A9D8F"/>
                </a:solidFill>
                <a:latin typeface="Oswald" pitchFamily="34" charset="0"/>
                <a:ea typeface="Oswald" pitchFamily="34" charset="-122"/>
                <a:cs typeface="Oswald" pitchFamily="34" charset="-120"/>
              </a:rPr>
              <a:t>8</a:t>
            </a:r>
            <a:endParaRPr lang="en-US" sz="3100" dirty="0"/>
          </a:p>
        </p:txBody>
      </p:sp>
      <p:sp>
        <p:nvSpPr>
          <p:cNvPr id="35" name="Text 24"/>
          <p:cNvSpPr txBox="1"/>
          <p:nvPr/>
        </p:nvSpPr>
        <p:spPr>
          <a:xfrm>
            <a:off x="4724705" y="5707685"/>
            <a:ext cx="2029054"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Countries with footprint</a:t>
            </a:r>
            <a:endParaRPr lang="en-US" sz="1200" dirty="0"/>
          </a:p>
        </p:txBody>
      </p:sp>
      <p:pic>
        <p:nvPicPr>
          <p:cNvPr id="36" name="Image 9" descr="gen-dedup-32cd67bc95385c5507b78533d3bab6e6.png"/>
          <p:cNvPicPr>
            <a:picLocks noChangeAspect="1"/>
          </p:cNvPicPr>
          <p:nvPr/>
        </p:nvPicPr>
        <p:blipFill>
          <a:blip r:embed="rId8"/>
          <a:srcRect l="-400" r="-400"/>
          <a:stretch/>
        </p:blipFill>
        <p:spPr>
          <a:xfrm>
            <a:off x="8268005" y="5191049"/>
            <a:ext cx="38405" cy="571500"/>
          </a:xfrm>
          <a:prstGeom prst="rect">
            <a:avLst/>
          </a:prstGeom>
        </p:spPr>
      </p:pic>
      <p:sp>
        <p:nvSpPr>
          <p:cNvPr id="37" name="Text 25"/>
          <p:cNvSpPr txBox="1"/>
          <p:nvPr/>
        </p:nvSpPr>
        <p:spPr>
          <a:xfrm>
            <a:off x="8458200" y="5191049"/>
            <a:ext cx="1677010" cy="448056"/>
          </a:xfrm>
          <a:prstGeom prst="rect">
            <a:avLst/>
          </a:prstGeom>
          <a:noFill/>
          <a:ln/>
        </p:spPr>
        <p:txBody>
          <a:bodyPr wrap="none" lIns="0" tIns="0" rIns="0" bIns="0" rtlCol="0" anchor="ctr"/>
          <a:lstStyle/>
          <a:p>
            <a:pPr marL="0" indent="0" algn="l">
              <a:buNone/>
            </a:pPr>
            <a:r>
              <a:rPr lang="en-US" sz="3100" b="1" dirty="0">
                <a:solidFill>
                  <a:srgbClr val="D62839"/>
                </a:solidFill>
                <a:latin typeface="Oswald" pitchFamily="34" charset="0"/>
                <a:ea typeface="Oswald" pitchFamily="34" charset="-122"/>
                <a:cs typeface="Oswald" pitchFamily="34" charset="-120"/>
              </a:rPr>
              <a:t>60+</a:t>
            </a:r>
            <a:endParaRPr lang="en-US" sz="3100" dirty="0"/>
          </a:p>
        </p:txBody>
      </p:sp>
      <p:sp>
        <p:nvSpPr>
          <p:cNvPr id="38" name="Text 26"/>
          <p:cNvSpPr txBox="1"/>
          <p:nvPr/>
        </p:nvSpPr>
        <p:spPr>
          <a:xfrm>
            <a:off x="8458200" y="5707685"/>
            <a:ext cx="1995221" cy="200254"/>
          </a:xfrm>
          <a:prstGeom prst="rect">
            <a:avLst/>
          </a:prstGeom>
          <a:noFill/>
          <a:ln/>
        </p:spPr>
        <p:txBody>
          <a:bodyPr wrap="none" lIns="0" tIns="0" rIns="0" bIns="0" rtlCol="0" anchor="ctr"/>
          <a:lstStyle/>
          <a:p>
            <a:pPr marL="0" indent="0" algn="l">
              <a:buNone/>
            </a:pPr>
            <a:r>
              <a:rPr lang="en-US" sz="1200" b="1" dirty="0">
                <a:solidFill>
                  <a:srgbClr val="1E293B"/>
                </a:solidFill>
                <a:latin typeface="Raleway" pitchFamily="34" charset="0"/>
                <a:ea typeface="Raleway" pitchFamily="34" charset="-122"/>
                <a:cs typeface="Raleway" pitchFamily="34" charset="-120"/>
              </a:rPr>
              <a:t>AI-enabled capabilities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9430207" y="-571500"/>
            <a:ext cx="3333902" cy="3333902"/>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preencoded.png"/>
          <p:cNvPicPr>
            <a:picLocks noChangeAspect="1"/>
          </p:cNvPicPr>
          <p:nvPr/>
        </p:nvPicPr>
        <p:blipFill>
          <a:blip r:embed="rId3"/>
          <a:srcRect l="-360" r="-360"/>
          <a:stretch/>
        </p:blipFill>
        <p:spPr>
          <a:xfrm>
            <a:off x="609905" y="485546"/>
            <a:ext cx="57607" cy="381305"/>
          </a:xfrm>
          <a:prstGeom prst="rect">
            <a:avLst/>
          </a:prstGeom>
        </p:spPr>
      </p:pic>
      <p:sp>
        <p:nvSpPr>
          <p:cNvPr id="6" name="Text 3"/>
          <p:cNvSpPr txBox="1"/>
          <p:nvPr/>
        </p:nvSpPr>
        <p:spPr>
          <a:xfrm>
            <a:off x="819302" y="342900"/>
            <a:ext cx="5912510" cy="381305"/>
          </a:xfrm>
          <a:prstGeom prst="rect">
            <a:avLst/>
          </a:prstGeom>
          <a:noFill/>
          <a:ln/>
        </p:spPr>
        <p:txBody>
          <a:bodyPr wrap="square" lIns="0" tIns="0" rIns="0" bIns="0" rtlCol="0" anchor="ctr"/>
          <a:lstStyle/>
          <a:p>
            <a:pPr marL="0" indent="0" algn="l">
              <a:buNone/>
            </a:pPr>
            <a:r>
              <a:rPr lang="en-US" sz="2700" b="1" kern="0" spc="-67">
                <a:solidFill>
                  <a:srgbClr val="111827"/>
                </a:solidFill>
                <a:latin typeface="Oswald" pitchFamily="34" charset="0"/>
                <a:ea typeface="Oswald" pitchFamily="34" charset="-122"/>
                <a:cs typeface="Oswald" pitchFamily="34" charset="-120"/>
              </a:rPr>
              <a:t>Architects of Transformation</a:t>
            </a:r>
            <a:endParaRPr lang="en-US" sz="2700"/>
          </a:p>
        </p:txBody>
      </p:sp>
      <p:sp>
        <p:nvSpPr>
          <p:cNvPr id="7" name="Text 4"/>
          <p:cNvSpPr txBox="1"/>
          <p:nvPr/>
        </p:nvSpPr>
        <p:spPr>
          <a:xfrm>
            <a:off x="819302" y="743407"/>
            <a:ext cx="5811012" cy="267005"/>
          </a:xfrm>
          <a:prstGeom prst="rect">
            <a:avLst/>
          </a:prstGeom>
          <a:noFill/>
          <a:ln/>
        </p:spPr>
        <p:txBody>
          <a:bodyPr wrap="square" lIns="0" tIns="0" rIns="0" bIns="0" rtlCol="0" anchor="ctr"/>
          <a:lstStyle/>
          <a:p>
            <a:pPr marL="0" indent="0" algn="l">
              <a:buNone/>
            </a:pPr>
            <a:r>
              <a:rPr lang="en-US" sz="1500" b="1" kern="0" spc="75">
                <a:solidFill>
                  <a:srgbClr val="2A9D8F"/>
                </a:solidFill>
                <a:latin typeface="Roboto Condensed" pitchFamily="34" charset="0"/>
                <a:ea typeface="Roboto Condensed" pitchFamily="34" charset="-122"/>
                <a:cs typeface="Roboto Condensed" pitchFamily="34" charset="-120"/>
              </a:rPr>
              <a:t>VISIONARY LEADERSHIP DRIVING ENTERPRISE EXCELLENCE</a:t>
            </a:r>
            <a:endParaRPr lang="en-US" sz="1500"/>
          </a:p>
        </p:txBody>
      </p:sp>
      <p:pic>
        <p:nvPicPr>
          <p:cNvPr id="8" name="Image 1" descr="preencoded.png"/>
          <p:cNvPicPr>
            <a:picLocks noChangeAspect="1"/>
          </p:cNvPicPr>
          <p:nvPr/>
        </p:nvPicPr>
        <p:blipFill>
          <a:blip r:embed="rId4"/>
          <a:srcRect t="-6" b="-6"/>
          <a:stretch/>
        </p:blipFill>
        <p:spPr>
          <a:xfrm>
            <a:off x="609905" y="1123798"/>
            <a:ext cx="5372100" cy="3715207"/>
          </a:xfrm>
          <a:prstGeom prst="rect">
            <a:avLst/>
          </a:prstGeom>
        </p:spPr>
      </p:pic>
      <p:sp>
        <p:nvSpPr>
          <p:cNvPr id="9" name="Shape 5"/>
          <p:cNvSpPr/>
          <p:nvPr/>
        </p:nvSpPr>
        <p:spPr>
          <a:xfrm>
            <a:off x="919886" y="1339596"/>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0" name="Image 2" descr="preencoded.png"/>
          <p:cNvPicPr>
            <a:picLocks noChangeAspect="1"/>
          </p:cNvPicPr>
          <p:nvPr/>
        </p:nvPicPr>
        <p:blipFill>
          <a:blip r:embed="rId5"/>
          <a:srcRect/>
          <a:stretch/>
        </p:blipFill>
        <p:spPr>
          <a:xfrm>
            <a:off x="948233" y="1367942"/>
            <a:ext cx="752551" cy="752551"/>
          </a:xfrm>
          <a:prstGeom prst="rect">
            <a:avLst/>
          </a:prstGeom>
        </p:spPr>
      </p:pic>
      <p:sp>
        <p:nvSpPr>
          <p:cNvPr id="11" name="Text 6"/>
          <p:cNvSpPr txBox="1"/>
          <p:nvPr/>
        </p:nvSpPr>
        <p:spPr>
          <a:xfrm>
            <a:off x="817474" y="2224735"/>
            <a:ext cx="1020470"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Priti Sawant</a:t>
            </a:r>
            <a:endParaRPr lang="en-US" sz="1300"/>
          </a:p>
        </p:txBody>
      </p:sp>
      <p:sp>
        <p:nvSpPr>
          <p:cNvPr id="12" name="Text 7"/>
          <p:cNvSpPr txBox="1"/>
          <p:nvPr/>
        </p:nvSpPr>
        <p:spPr>
          <a:xfrm>
            <a:off x="789127" y="2457907"/>
            <a:ext cx="1074420" cy="152705"/>
          </a:xfrm>
          <a:prstGeom prst="rect">
            <a:avLst/>
          </a:prstGeom>
          <a:noFill/>
          <a:ln/>
        </p:spPr>
        <p:txBody>
          <a:bodyPr wrap="square" lIns="0" tIns="0" rIns="0" bIns="0" rtlCol="0" anchor="ctr"/>
          <a:lstStyle/>
          <a:p>
            <a:pPr marL="0" indent="0" algn="ctr">
              <a:buNone/>
            </a:pPr>
            <a:r>
              <a:rPr lang="en-US" sz="900" b="1" kern="0" spc="22" dirty="0">
                <a:solidFill>
                  <a:srgbClr val="2A9D8F"/>
                </a:solidFill>
                <a:latin typeface="Roboto Condensed" pitchFamily="34" charset="0"/>
                <a:ea typeface="Roboto Condensed" pitchFamily="34" charset="-122"/>
                <a:cs typeface="Roboto Condensed" pitchFamily="34" charset="-120"/>
              </a:rPr>
              <a:t>Founder &amp; CEO</a:t>
            </a:r>
            <a:endParaRPr lang="en-US" sz="900" dirty="0"/>
          </a:p>
        </p:txBody>
      </p:sp>
      <p:sp>
        <p:nvSpPr>
          <p:cNvPr id="13" name="Text 8"/>
          <p:cNvSpPr txBox="1"/>
          <p:nvPr/>
        </p:nvSpPr>
        <p:spPr>
          <a:xfrm>
            <a:off x="2025396" y="1557311"/>
            <a:ext cx="3867912" cy="1552651"/>
          </a:xfrm>
          <a:prstGeom prst="rect">
            <a:avLst/>
          </a:prstGeom>
          <a:noFill/>
          <a:ln/>
        </p:spPr>
        <p:txBody>
          <a:bodyPr wrap="square" lIns="0" tIns="0" rIns="0" bIns="0" rtlCol="0" anchor="ctr"/>
          <a:lstStyle/>
          <a:p>
            <a:pPr marL="0" indent="0" algn="just">
              <a:buNone/>
            </a:pPr>
            <a:r>
              <a:rPr lang="en-US" sz="1100" dirty="0">
                <a:solidFill>
                  <a:srgbClr val="4B5563"/>
                </a:solidFill>
                <a:latin typeface="Raleway" pitchFamily="34" charset="0"/>
                <a:ea typeface="Raleway" pitchFamily="34" charset="-122"/>
                <a:cs typeface="Raleway" pitchFamily="34" charset="-120"/>
              </a:rPr>
              <a:t>Priti Sawant is a serial entrepreneur, category creator, and a pioneer of India’s Global Capability Center (GCC) ecosystem. With 20+ years of experience, she has built and scaled businesses at the intersection of technology and enterprise transformation. She began her journey at Accenture and later led Magna Infotech-scaling it from pre-revenue to a market leader, creating India’s first GCC-focused model, and delivering a successful exit and public listing (IPO). She is a 2-time entrepreneur, having built two successful, leading companies solving for GCCs in India.</a:t>
            </a:r>
            <a:endParaRPr lang="en-US" sz="1100" dirty="0"/>
          </a:p>
        </p:txBody>
      </p:sp>
      <p:sp>
        <p:nvSpPr>
          <p:cNvPr id="14" name="Text 9"/>
          <p:cNvSpPr txBox="1"/>
          <p:nvPr/>
        </p:nvSpPr>
        <p:spPr>
          <a:xfrm>
            <a:off x="2025396" y="3527888"/>
            <a:ext cx="3867912" cy="1381658"/>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She founded JoulestoWatts, backed by Manipal Global Education Services. Today, J2W operates across 8 countries, enabling 300+ GCCs, deploying 5,200+ professionals, and building 4 in-house products, with strong Fortune 500 partnerships. Recognised by Forbes Japan, she is also a TiE Charter Member, startup mentor, and a strong advocate of gender diversity, having built organisations with 40%+ women representation and 50% women-led leadership roles.</a:t>
            </a:r>
            <a:endParaRPr lang="en-US" sz="1100"/>
          </a:p>
        </p:txBody>
      </p:sp>
      <p:pic>
        <p:nvPicPr>
          <p:cNvPr id="15" name="Image 3" descr="preencoded.png"/>
          <p:cNvPicPr>
            <a:picLocks noChangeAspect="1"/>
          </p:cNvPicPr>
          <p:nvPr/>
        </p:nvPicPr>
        <p:blipFill>
          <a:blip r:embed="rId6"/>
          <a:srcRect t="-6" b="-6"/>
          <a:stretch/>
        </p:blipFill>
        <p:spPr>
          <a:xfrm>
            <a:off x="6210605" y="1123798"/>
            <a:ext cx="5372100" cy="3715207"/>
          </a:xfrm>
          <a:prstGeom prst="rect">
            <a:avLst/>
          </a:prstGeom>
        </p:spPr>
      </p:pic>
      <p:sp>
        <p:nvSpPr>
          <p:cNvPr id="16" name="Shape 10"/>
          <p:cNvSpPr/>
          <p:nvPr/>
        </p:nvSpPr>
        <p:spPr>
          <a:xfrm>
            <a:off x="6520586" y="1339596"/>
            <a:ext cx="809244" cy="809244"/>
          </a:xfrm>
          <a:prstGeom prst="ellipse">
            <a:avLst/>
          </a:prstGeom>
          <a:noFill/>
          <a:ln w="38100">
            <a:solidFill>
              <a:srgbClr val="FFFFFF"/>
            </a:solidFill>
            <a:prstDash val="solid"/>
          </a:ln>
          <a:effectLst>
            <a:outerShdw blurRad="101600" dist="38100" dir="16200000" algn="bl" rotWithShape="0">
              <a:srgbClr val="000000">
                <a:alpha val="10000"/>
              </a:srgbClr>
            </a:outerShdw>
          </a:effectLst>
        </p:spPr>
        <p:txBody>
          <a:bodyPr/>
          <a:lstStyle/>
          <a:p>
            <a:endParaRPr lang="en-US"/>
          </a:p>
        </p:txBody>
      </p:sp>
      <p:pic>
        <p:nvPicPr>
          <p:cNvPr id="17" name="Image 4" descr="preencoded.png"/>
          <p:cNvPicPr>
            <a:picLocks noChangeAspect="1"/>
          </p:cNvPicPr>
          <p:nvPr/>
        </p:nvPicPr>
        <p:blipFill>
          <a:blip r:embed="rId7"/>
          <a:srcRect b="1042"/>
          <a:stretch/>
        </p:blipFill>
        <p:spPr>
          <a:xfrm>
            <a:off x="6548933" y="1367942"/>
            <a:ext cx="752551" cy="752551"/>
          </a:xfrm>
          <a:prstGeom prst="rect">
            <a:avLst/>
          </a:prstGeom>
        </p:spPr>
      </p:pic>
      <p:sp>
        <p:nvSpPr>
          <p:cNvPr id="18" name="Text 11"/>
          <p:cNvSpPr txBox="1"/>
          <p:nvPr/>
        </p:nvSpPr>
        <p:spPr>
          <a:xfrm>
            <a:off x="6411773" y="2224735"/>
            <a:ext cx="1032358" cy="219456"/>
          </a:xfrm>
          <a:prstGeom prst="rect">
            <a:avLst/>
          </a:prstGeom>
          <a:noFill/>
          <a:ln/>
        </p:spPr>
        <p:txBody>
          <a:bodyPr wrap="square" lIns="0" tIns="0" rIns="0" bIns="0" rtlCol="0" anchor="ctr"/>
          <a:lstStyle/>
          <a:p>
            <a:pPr marL="0" indent="0" algn="ctr">
              <a:buNone/>
            </a:pPr>
            <a:r>
              <a:rPr lang="en-US" sz="1300" b="1">
                <a:solidFill>
                  <a:srgbClr val="1F2937"/>
                </a:solidFill>
                <a:latin typeface="Oswald" pitchFamily="34" charset="0"/>
                <a:ea typeface="Oswald" pitchFamily="34" charset="-122"/>
                <a:cs typeface="Oswald" pitchFamily="34" charset="-120"/>
              </a:rPr>
              <a:t>Priya Mohan</a:t>
            </a:r>
            <a:endParaRPr lang="en-US" sz="1300"/>
          </a:p>
        </p:txBody>
      </p:sp>
      <p:sp>
        <p:nvSpPr>
          <p:cNvPr id="19" name="Text 12"/>
          <p:cNvSpPr txBox="1"/>
          <p:nvPr/>
        </p:nvSpPr>
        <p:spPr>
          <a:xfrm>
            <a:off x="6781190" y="2457907"/>
            <a:ext cx="295351" cy="152705"/>
          </a:xfrm>
          <a:prstGeom prst="rect">
            <a:avLst/>
          </a:prstGeom>
          <a:noFill/>
          <a:ln/>
        </p:spPr>
        <p:txBody>
          <a:bodyPr wrap="square" lIns="0" tIns="0" rIns="0" bIns="0" rtlCol="0" anchor="ctr"/>
          <a:lstStyle/>
          <a:p>
            <a:pPr marL="0" indent="0" algn="ctr">
              <a:buNone/>
            </a:pPr>
            <a:r>
              <a:rPr lang="en-US" sz="1100" b="1" kern="0" spc="22" dirty="0">
                <a:solidFill>
                  <a:srgbClr val="D62839"/>
                </a:solidFill>
                <a:latin typeface="Roboto Condensed" pitchFamily="34" charset="0"/>
                <a:ea typeface="Roboto Condensed" pitchFamily="34" charset="-122"/>
                <a:cs typeface="Roboto Condensed" pitchFamily="34" charset="-120"/>
              </a:rPr>
              <a:t>coo</a:t>
            </a:r>
            <a:endParaRPr lang="en-US" sz="1100" dirty="0"/>
          </a:p>
        </p:txBody>
      </p:sp>
      <p:sp>
        <p:nvSpPr>
          <p:cNvPr id="20" name="Text 13"/>
          <p:cNvSpPr txBox="1"/>
          <p:nvPr/>
        </p:nvSpPr>
        <p:spPr>
          <a:xfrm>
            <a:off x="7626096" y="1557311"/>
            <a:ext cx="3867912" cy="1552651"/>
          </a:xfrm>
          <a:prstGeom prst="rect">
            <a:avLst/>
          </a:prstGeom>
          <a:noFill/>
          <a:ln/>
        </p:spPr>
        <p:txBody>
          <a:bodyPr wrap="square" lIns="0" tIns="0" rIns="0" bIns="0" rtlCol="0" anchor="ctr"/>
          <a:lstStyle/>
          <a:p>
            <a:pPr marL="0" indent="0" algn="just">
              <a:buNone/>
            </a:pPr>
            <a:r>
              <a:rPr lang="en-US" sz="1100">
                <a:solidFill>
                  <a:srgbClr val="4B5563"/>
                </a:solidFill>
                <a:latin typeface="Raleway" pitchFamily="34" charset="0"/>
                <a:ea typeface="Raleway" pitchFamily="34" charset="-122"/>
                <a:cs typeface="Raleway" pitchFamily="34" charset="-120"/>
              </a:rPr>
              <a:t>Priya Mohan is a seasoned operator, investor, and entrepreneur with 20+ years spanning venture capital, high-growth startups, and investment banking. She was most recently a Partner at General Catalyst India, where she led India investments and co-creation opportunities across transformative, economy-shaping companies. Previously, as Managing Partner at Venture Highway, she held board seats across marquee portfolio companies in multiple sectors. Before investing, she co-founded Vidyartha, an EdTech platform which she successfully exited to Byju's.</a:t>
            </a:r>
            <a:endParaRPr lang="en-US" sz="1100"/>
          </a:p>
        </p:txBody>
      </p:sp>
      <p:sp>
        <p:nvSpPr>
          <p:cNvPr id="21" name="Text 14"/>
          <p:cNvSpPr txBox="1"/>
          <p:nvPr/>
        </p:nvSpPr>
        <p:spPr>
          <a:xfrm>
            <a:off x="7626096" y="3527888"/>
            <a:ext cx="3867912" cy="1209751"/>
          </a:xfrm>
          <a:prstGeom prst="rect">
            <a:avLst/>
          </a:prstGeom>
          <a:noFill/>
          <a:ln/>
        </p:spPr>
        <p:txBody>
          <a:bodyPr wrap="square" lIns="0" tIns="0" rIns="0" bIns="0" rtlCol="0" anchor="ctr"/>
          <a:lstStyle/>
          <a:p>
            <a:pPr marL="0" indent="0" algn="just">
              <a:buNone/>
            </a:pPr>
            <a:r>
              <a:rPr lang="en-US" sz="1100" dirty="0">
                <a:solidFill>
                  <a:srgbClr val="4B5563"/>
                </a:solidFill>
                <a:latin typeface="Raleway" pitchFamily="34" charset="0"/>
                <a:ea typeface="Raleway" pitchFamily="34" charset="-122"/>
                <a:cs typeface="Raleway" pitchFamily="34" charset="-120"/>
              </a:rPr>
              <a:t>Her earlier career included 9 years in investment banking and equity research - structuring and executing complex transactions across private equity raises, secondary sales, and buyouts. A Chartered Accountant and Management Graduate from the Indian School of Business (ISB), Priya was a state guest of the United States under the IVLP program and is a member of the Kamalnayan Bajaj Aspen Fellowship (Cohort X).</a:t>
            </a:r>
            <a:endParaRPr lang="en-US" sz="1100" dirty="0"/>
          </a:p>
        </p:txBody>
      </p:sp>
      <p:pic>
        <p:nvPicPr>
          <p:cNvPr id="54" name="Image 15" descr="preencoded.png"/>
          <p:cNvPicPr>
            <a:picLocks noChangeAspect="1"/>
          </p:cNvPicPr>
          <p:nvPr/>
        </p:nvPicPr>
        <p:blipFill>
          <a:blip r:embed="rId8"/>
          <a:srcRect l="-202" r="-202"/>
          <a:stretch/>
        </p:blipFill>
        <p:spPr>
          <a:xfrm>
            <a:off x="0" y="0"/>
            <a:ext cx="8128102" cy="75895"/>
          </a:xfrm>
          <a:prstGeom prst="rect">
            <a:avLst/>
          </a:prstGeom>
        </p:spPr>
      </p:pic>
      <p:pic>
        <p:nvPicPr>
          <p:cNvPr id="55" name="Image 16" descr="preencoded.png"/>
          <p:cNvPicPr>
            <a:picLocks noChangeAspect="1"/>
          </p:cNvPicPr>
          <p:nvPr/>
        </p:nvPicPr>
        <p:blipFill>
          <a:blip r:embed="rId9"/>
          <a:srcRect l="-197" r="-197"/>
          <a:stretch/>
        </p:blipFill>
        <p:spPr>
          <a:xfrm>
            <a:off x="8128102" y="0"/>
            <a:ext cx="4063594" cy="7589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6da70c599291e253314366a10c094ffa.png"/>
          <p:cNvPicPr>
            <a:picLocks noChangeAspect="1"/>
          </p:cNvPicPr>
          <p:nvPr/>
        </p:nvPicPr>
        <p:blipFill>
          <a:blip r:embed="rId5">
            <a:alphaModFix amt="15000"/>
          </a:blip>
          <a:srcRect/>
          <a:stretch/>
        </p:blipFill>
        <p:spPr>
          <a:xfrm>
            <a:off x="381305" y="1143000"/>
            <a:ext cx="1429207" cy="1429207"/>
          </a:xfrm>
          <a:prstGeom prst="rect">
            <a:avLst/>
          </a:prstGeom>
        </p:spPr>
      </p:pic>
      <p:pic>
        <p:nvPicPr>
          <p:cNvPr id="8" name="Image 3" descr="gen-dedup-b81d2082573e6d8de64df87af639bbf0.png"/>
          <p:cNvPicPr>
            <a:picLocks noChangeAspect="1"/>
          </p:cNvPicPr>
          <p:nvPr/>
        </p:nvPicPr>
        <p:blipFill>
          <a:blip r:embed="rId6"/>
          <a:srcRect l="-360" r="-360"/>
          <a:stretch/>
        </p:blipFill>
        <p:spPr>
          <a:xfrm>
            <a:off x="609905" y="533095"/>
            <a:ext cx="57607" cy="381305"/>
          </a:xfrm>
          <a:prstGeom prst="rect">
            <a:avLst/>
          </a:prstGeom>
        </p:spPr>
      </p:pic>
      <p:sp>
        <p:nvSpPr>
          <p:cNvPr id="9" name="Text 3"/>
          <p:cNvSpPr txBox="1"/>
          <p:nvPr/>
        </p:nvSpPr>
        <p:spPr>
          <a:xfrm>
            <a:off x="819302" y="381305"/>
            <a:ext cx="3871570" cy="381305"/>
          </a:xfrm>
          <a:prstGeom prst="rect">
            <a:avLst/>
          </a:prstGeom>
          <a:noFill/>
          <a:ln/>
        </p:spPr>
        <p:txBody>
          <a:bodyPr wrap="none" lIns="0" tIns="0" rIns="0" bIns="0" rtlCol="0" anchor="ctr"/>
          <a:lstStyle/>
          <a:p>
            <a:pPr marL="0" indent="0" algn="l">
              <a:buNone/>
            </a:pPr>
            <a:r>
              <a:rPr lang="en-US" sz="2700" b="1" kern="0" spc="-67" dirty="0">
                <a:solidFill>
                  <a:srgbClr val="111827"/>
                </a:solidFill>
                <a:latin typeface="Oswald" pitchFamily="34" charset="0"/>
                <a:ea typeface="Oswald" pitchFamily="34" charset="-122"/>
                <a:cs typeface="Oswald" pitchFamily="34" charset="-120"/>
              </a:rPr>
              <a:t>WHAT WE OFFER</a:t>
            </a:r>
            <a:endParaRPr lang="en-US" sz="2700" dirty="0"/>
          </a:p>
        </p:txBody>
      </p:sp>
      <p:sp>
        <p:nvSpPr>
          <p:cNvPr id="10" name="Text 4"/>
          <p:cNvSpPr txBox="1"/>
          <p:nvPr/>
        </p:nvSpPr>
        <p:spPr>
          <a:xfrm>
            <a:off x="819302" y="800100"/>
            <a:ext cx="4189781" cy="267005"/>
          </a:xfrm>
          <a:prstGeom prst="rect">
            <a:avLst/>
          </a:prstGeom>
          <a:noFill/>
          <a:ln/>
        </p:spPr>
        <p:txBody>
          <a:bodyPr wrap="none" lIns="0" tIns="0" rIns="0" bIns="0" rtlCol="0" anchor="ctr"/>
          <a:lstStyle/>
          <a:p>
            <a:pPr marL="0" indent="0" algn="l">
              <a:buNone/>
            </a:pPr>
            <a:r>
              <a:rPr lang="en-US" sz="1500" b="1" kern="0" spc="75" dirty="0">
                <a:solidFill>
                  <a:srgbClr val="2A9D8F"/>
                </a:solidFill>
                <a:latin typeface="Roboto Condensed" pitchFamily="34" charset="0"/>
                <a:ea typeface="Roboto Condensed" pitchFamily="34" charset="-122"/>
                <a:cs typeface="Roboto Condensed" pitchFamily="34" charset="-120"/>
              </a:rPr>
              <a:t>THREE INTERLOCKING REVENUE ENGINES</a:t>
            </a:r>
            <a:endParaRPr lang="en-US" sz="1500" dirty="0"/>
          </a:p>
        </p:txBody>
      </p:sp>
      <p:sp>
        <p:nvSpPr>
          <p:cNvPr id="11" name="Shape 5"/>
          <p:cNvSpPr/>
          <p:nvPr/>
        </p:nvSpPr>
        <p:spPr>
          <a:xfrm>
            <a:off x="60990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dirty="0"/>
          </a:p>
        </p:txBody>
      </p:sp>
      <p:sp>
        <p:nvSpPr>
          <p:cNvPr id="12" name="Shape 6"/>
          <p:cNvSpPr/>
          <p:nvPr/>
        </p:nvSpPr>
        <p:spPr>
          <a:xfrm>
            <a:off x="619049"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13" name="Text 7"/>
          <p:cNvSpPr txBox="1"/>
          <p:nvPr/>
        </p:nvSpPr>
        <p:spPr>
          <a:xfrm>
            <a:off x="1411834" y="2033626"/>
            <a:ext cx="1734617"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Workforce Solutions</a:t>
            </a:r>
            <a:endParaRPr lang="en-US" sz="1500" dirty="0"/>
          </a:p>
        </p:txBody>
      </p:sp>
      <p:sp>
        <p:nvSpPr>
          <p:cNvPr id="14" name="Text 8"/>
          <p:cNvSpPr txBox="1"/>
          <p:nvPr/>
        </p:nvSpPr>
        <p:spPr>
          <a:xfrm>
            <a:off x="819302" y="2691079"/>
            <a:ext cx="2934310" cy="300106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Domain-deep engineers - not generic coders</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Verticals: IT and Cloud Computing · BFSI · more </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Deployed in 10 days or less </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Pod governance + sprint accountability</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Contract-to-hire flexibility</a:t>
            </a:r>
            <a:endParaRPr lang="en-US" sz="1400" dirty="0"/>
          </a:p>
        </p:txBody>
      </p:sp>
      <p:sp>
        <p:nvSpPr>
          <p:cNvPr id="21" name="Text 15"/>
          <p:cNvSpPr txBox="1"/>
          <p:nvPr/>
        </p:nvSpPr>
        <p:spPr>
          <a:xfrm>
            <a:off x="2116836" y="1652321"/>
            <a:ext cx="329184"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01</a:t>
            </a:r>
            <a:endParaRPr lang="en-US" sz="2200" dirty="0"/>
          </a:p>
        </p:txBody>
      </p:sp>
      <p:sp>
        <p:nvSpPr>
          <p:cNvPr id="22" name="Text 16"/>
          <p:cNvSpPr txBox="1"/>
          <p:nvPr/>
        </p:nvSpPr>
        <p:spPr>
          <a:xfrm>
            <a:off x="1570025" y="2309774"/>
            <a:ext cx="1420978"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Volume Engine</a:t>
            </a:r>
            <a:endParaRPr lang="en-US" sz="900" dirty="0"/>
          </a:p>
        </p:txBody>
      </p:sp>
      <p:sp>
        <p:nvSpPr>
          <p:cNvPr id="23" name="Shape 17"/>
          <p:cNvSpPr/>
          <p:nvPr/>
        </p:nvSpPr>
        <p:spPr>
          <a:xfrm>
            <a:off x="4419295"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24" name="Shape 18"/>
          <p:cNvSpPr/>
          <p:nvPr/>
        </p:nvSpPr>
        <p:spPr>
          <a:xfrm>
            <a:off x="4429354" y="1533449"/>
            <a:ext cx="3314700" cy="1047902"/>
          </a:xfrm>
          <a:prstGeom prst="rect">
            <a:avLst/>
          </a:prstGeom>
          <a:solidFill>
            <a:srgbClr val="D62839"/>
          </a:solidFill>
          <a:ln w="12700">
            <a:solidFill>
              <a:srgbClr val="FFFFFF">
                <a:alpha val="0"/>
              </a:srgbClr>
            </a:solidFill>
            <a:prstDash val="solid"/>
          </a:ln>
        </p:spPr>
        <p:txBody>
          <a:bodyPr/>
          <a:lstStyle/>
          <a:p>
            <a:endParaRPr lang="en-US"/>
          </a:p>
        </p:txBody>
      </p:sp>
      <p:sp>
        <p:nvSpPr>
          <p:cNvPr id="25" name="Text 19"/>
          <p:cNvSpPr txBox="1"/>
          <p:nvPr/>
        </p:nvSpPr>
        <p:spPr>
          <a:xfrm>
            <a:off x="5386730" y="2033626"/>
            <a:ext cx="1406347"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AI Pods</a:t>
            </a:r>
            <a:endParaRPr lang="en-US" sz="1500" dirty="0"/>
          </a:p>
        </p:txBody>
      </p:sp>
      <p:sp>
        <p:nvSpPr>
          <p:cNvPr id="26" name="Text 20"/>
          <p:cNvSpPr txBox="1"/>
          <p:nvPr/>
        </p:nvSpPr>
        <p:spPr>
          <a:xfrm>
            <a:off x="4619549" y="4204760"/>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AI-first engineering pods, embedded tech lead</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Every engineer AI-certified before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J2W AI Labs - continuous monthly upskilling</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AI-assisted code, test &amp; docs from Day 1</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Compounding productivity, not static seats</a:t>
            </a:r>
            <a:endParaRPr lang="en-US" sz="1400" dirty="0"/>
          </a:p>
        </p:txBody>
      </p:sp>
      <p:sp>
        <p:nvSpPr>
          <p:cNvPr id="33" name="Text 27"/>
          <p:cNvSpPr txBox="1"/>
          <p:nvPr/>
        </p:nvSpPr>
        <p:spPr>
          <a:xfrm>
            <a:off x="5905195" y="1652321"/>
            <a:ext cx="363017"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02</a:t>
            </a:r>
            <a:endParaRPr lang="en-US" sz="2200" dirty="0"/>
          </a:p>
        </p:txBody>
      </p:sp>
      <p:sp>
        <p:nvSpPr>
          <p:cNvPr id="34" name="Text 28"/>
          <p:cNvSpPr txBox="1"/>
          <p:nvPr/>
        </p:nvSpPr>
        <p:spPr>
          <a:xfrm>
            <a:off x="5079492" y="2309774"/>
            <a:ext cx="2018081"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Margin Expansion Engine</a:t>
            </a:r>
            <a:endParaRPr lang="en-US" sz="900" dirty="0"/>
          </a:p>
        </p:txBody>
      </p:sp>
      <p:sp>
        <p:nvSpPr>
          <p:cNvPr id="35" name="Shape 29"/>
          <p:cNvSpPr/>
          <p:nvPr/>
        </p:nvSpPr>
        <p:spPr>
          <a:xfrm>
            <a:off x="8229600" y="1524305"/>
            <a:ext cx="3333902" cy="4952390"/>
          </a:xfrm>
          <a:prstGeom prst="roundRect">
            <a:avLst>
              <a:gd name="adj" fmla="val 1254"/>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endParaRPr lang="en-US"/>
          </a:p>
        </p:txBody>
      </p:sp>
      <p:sp>
        <p:nvSpPr>
          <p:cNvPr id="36" name="Shape 30"/>
          <p:cNvSpPr/>
          <p:nvPr/>
        </p:nvSpPr>
        <p:spPr>
          <a:xfrm>
            <a:off x="8238744" y="1533449"/>
            <a:ext cx="3314700" cy="1047902"/>
          </a:xfrm>
          <a:prstGeom prst="rect">
            <a:avLst/>
          </a:prstGeom>
          <a:solidFill>
            <a:srgbClr val="2A9D8F"/>
          </a:solidFill>
          <a:ln w="12700">
            <a:solidFill>
              <a:srgbClr val="FFFFFF">
                <a:alpha val="0"/>
              </a:srgbClr>
            </a:solidFill>
            <a:prstDash val="solid"/>
          </a:ln>
        </p:spPr>
        <p:txBody>
          <a:bodyPr/>
          <a:lstStyle/>
          <a:p>
            <a:endParaRPr lang="en-US"/>
          </a:p>
        </p:txBody>
      </p:sp>
      <p:sp>
        <p:nvSpPr>
          <p:cNvPr id="37" name="Text 31"/>
          <p:cNvSpPr txBox="1"/>
          <p:nvPr/>
        </p:nvSpPr>
        <p:spPr>
          <a:xfrm>
            <a:off x="8685886" y="2033626"/>
            <a:ext cx="2425903" cy="238658"/>
          </a:xfrm>
          <a:prstGeom prst="rect">
            <a:avLst/>
          </a:prstGeom>
          <a:noFill/>
          <a:ln/>
        </p:spPr>
        <p:txBody>
          <a:bodyPr wrap="none" lIns="0" tIns="0" rIns="0" bIns="0" rtlCol="0" anchor="ctr"/>
          <a:lstStyle/>
          <a:p>
            <a:pPr marL="0" indent="0" algn="ctr">
              <a:buNone/>
            </a:pPr>
            <a:r>
              <a:rPr lang="en-US" sz="1500" b="1" dirty="0">
                <a:solidFill>
                  <a:srgbClr val="FFFFFF"/>
                </a:solidFill>
                <a:latin typeface="Oswald" pitchFamily="34" charset="0"/>
                <a:ea typeface="Oswald" pitchFamily="34" charset="-122"/>
                <a:cs typeface="Oswald" pitchFamily="34" charset="-120"/>
              </a:rPr>
              <a:t>Managed Service Solutions</a:t>
            </a:r>
            <a:endParaRPr lang="en-US" sz="1500" dirty="0"/>
          </a:p>
        </p:txBody>
      </p:sp>
      <p:sp>
        <p:nvSpPr>
          <p:cNvPr id="38" name="Text 32"/>
          <p:cNvSpPr txBox="1"/>
          <p:nvPr/>
        </p:nvSpPr>
        <p:spPr>
          <a:xfrm>
            <a:off x="8429854" y="4158691"/>
            <a:ext cx="2934310" cy="409651"/>
          </a:xfrm>
          <a:prstGeom prst="rect">
            <a:avLst/>
          </a:prstGeom>
          <a:noFill/>
          <a:ln/>
        </p:spPr>
        <p:txBody>
          <a:bodyPr wrap="square" lIns="0" tIns="0" rIns="0" bIns="0" rtlCol="0" anchor="ctr"/>
          <a:lstStyle/>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Dedicated pods owning outcomes, not tasks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Operate to outcome-bound SLOs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60+ pre-built solution accelerators</a:t>
            </a:r>
          </a:p>
          <a:p>
            <a:pPr marL="171450" indent="-171450" algn="l">
              <a:buFont typeface="Arial" panose="020B0604020202020204" pitchFamily="34" charset="0"/>
              <a:buChar char="•"/>
            </a:pPr>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On SAP, ServiceNow &amp; industry stacks</a:t>
            </a:r>
          </a:p>
          <a:p>
            <a:pPr algn="l"/>
            <a:endParaRPr lang="en-US" sz="1400" dirty="0">
              <a:solidFill>
                <a:srgbClr val="4B5563"/>
              </a:solidFill>
              <a:latin typeface="Raleway" pitchFamily="34" charset="0"/>
              <a:ea typeface="Raleway" pitchFamily="34" charset="-122"/>
              <a:cs typeface="Raleway" pitchFamily="34" charset="-120"/>
            </a:endParaRPr>
          </a:p>
          <a:p>
            <a:pPr marL="171450" indent="-171450" algn="l">
              <a:buFont typeface="Arial" panose="020B0604020202020204" pitchFamily="34" charset="0"/>
              <a:buChar char="•"/>
            </a:pPr>
            <a:r>
              <a:rPr lang="en-US" sz="1400" dirty="0">
                <a:solidFill>
                  <a:srgbClr val="4B5563"/>
                </a:solidFill>
                <a:latin typeface="Raleway" pitchFamily="34" charset="0"/>
                <a:ea typeface="Raleway" pitchFamily="34" charset="-122"/>
                <a:cs typeface="Raleway" pitchFamily="34" charset="-120"/>
              </a:rPr>
              <a:t>40% improvement threshold - our standard</a:t>
            </a:r>
            <a:endParaRPr lang="en-US" sz="1400" dirty="0"/>
          </a:p>
        </p:txBody>
      </p:sp>
      <p:sp>
        <p:nvSpPr>
          <p:cNvPr id="45" name="Text 39"/>
          <p:cNvSpPr txBox="1"/>
          <p:nvPr/>
        </p:nvSpPr>
        <p:spPr>
          <a:xfrm>
            <a:off x="9715500" y="1652321"/>
            <a:ext cx="363017" cy="342900"/>
          </a:xfrm>
          <a:prstGeom prst="rect">
            <a:avLst/>
          </a:prstGeom>
          <a:noFill/>
          <a:ln/>
        </p:spPr>
        <p:txBody>
          <a:bodyPr wrap="none" lIns="0" tIns="0" rIns="0" bIns="0" rtlCol="0" anchor="ctr"/>
          <a:lstStyle/>
          <a:p>
            <a:pPr marL="0" indent="0" algn="ctr">
              <a:buNone/>
            </a:pPr>
            <a:r>
              <a:rPr lang="en-US" sz="2200" b="1" dirty="0">
                <a:solidFill>
                  <a:srgbClr val="FFFFFF">
                    <a:alpha val="90000"/>
                  </a:srgbClr>
                </a:solidFill>
                <a:latin typeface="Oswald" pitchFamily="34" charset="0"/>
                <a:ea typeface="Oswald" pitchFamily="34" charset="-122"/>
                <a:cs typeface="Oswald" pitchFamily="34" charset="-120"/>
              </a:rPr>
              <a:t>03</a:t>
            </a:r>
            <a:endParaRPr lang="en-US" sz="2200" dirty="0"/>
          </a:p>
        </p:txBody>
      </p:sp>
      <p:sp>
        <p:nvSpPr>
          <p:cNvPr id="46" name="Text 40"/>
          <p:cNvSpPr txBox="1"/>
          <p:nvPr/>
        </p:nvSpPr>
        <p:spPr>
          <a:xfrm>
            <a:off x="8956548" y="2309774"/>
            <a:ext cx="1881835" cy="152705"/>
          </a:xfrm>
          <a:prstGeom prst="rect">
            <a:avLst/>
          </a:prstGeom>
          <a:noFill/>
          <a:ln/>
        </p:spPr>
        <p:txBody>
          <a:bodyPr wrap="none" lIns="0" tIns="0" rIns="0" bIns="0" rtlCol="0" anchor="ctr"/>
          <a:lstStyle/>
          <a:p>
            <a:pPr marL="0" indent="0" algn="ctr">
              <a:buNone/>
            </a:pPr>
            <a:r>
              <a:rPr lang="en-US" sz="900" kern="0" spc="45" dirty="0">
                <a:solidFill>
                  <a:srgbClr val="FFFFFF">
                    <a:alpha val="90000"/>
                  </a:srgbClr>
                </a:solidFill>
                <a:latin typeface="Roboto Condensed" pitchFamily="34" charset="0"/>
                <a:ea typeface="Roboto Condensed" pitchFamily="34" charset="-122"/>
                <a:cs typeface="Roboto Condensed" pitchFamily="34" charset="-120"/>
              </a:rPr>
              <a:t>The Strategic Value Engine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323228122ff92d2332e711a84ca3b40c.png"/>
          <p:cNvPicPr>
            <a:picLocks noChangeAspect="1"/>
          </p:cNvPicPr>
          <p:nvPr/>
        </p:nvPicPr>
        <p:blipFill>
          <a:blip r:embed="rId3"/>
          <a:srcRect l="-198" r="-198"/>
          <a:stretch/>
        </p:blipFill>
        <p:spPr>
          <a:xfrm>
            <a:off x="0" y="0"/>
            <a:ext cx="8124444" cy="75895"/>
          </a:xfrm>
          <a:prstGeom prst="rect">
            <a:avLst/>
          </a:prstGeom>
        </p:spPr>
      </p:pic>
      <p:pic>
        <p:nvPicPr>
          <p:cNvPr id="5" name="Image 1" descr="gen-dedup-9663ecf744b06e35d4c2cebaab92a2ea.png"/>
          <p:cNvPicPr>
            <a:picLocks noChangeAspect="1"/>
          </p:cNvPicPr>
          <p:nvPr/>
        </p:nvPicPr>
        <p:blipFill>
          <a:blip r:embed="rId4"/>
          <a:srcRect l="-202" r="-202"/>
          <a:stretch/>
        </p:blipFill>
        <p:spPr>
          <a:xfrm>
            <a:off x="8124444" y="0"/>
            <a:ext cx="4067251" cy="75895"/>
          </a:xfrm>
          <a:prstGeom prst="rect">
            <a:avLst/>
          </a:prstGeom>
        </p:spPr>
      </p:pic>
      <p:sp>
        <p:nvSpPr>
          <p:cNvPr id="6" name="Shape 2"/>
          <p:cNvSpPr/>
          <p:nvPr/>
        </p:nvSpPr>
        <p:spPr>
          <a:xfrm>
            <a:off x="9525305" y="4762195"/>
            <a:ext cx="3810305" cy="3810305"/>
          </a:xfrm>
          <a:prstGeom prst="ellipse">
            <a:avLst/>
          </a:prstGeom>
          <a:noFill/>
          <a:ln w="508000">
            <a:solidFill>
              <a:srgbClr val="D62839">
                <a:alpha val="3000"/>
              </a:srgbClr>
            </a:solidFill>
            <a:prstDash val="solid"/>
          </a:ln>
        </p:spPr>
        <p:txBody>
          <a:bodyPr/>
          <a:lstStyle/>
          <a:p>
            <a:endParaRPr lang="en-US"/>
          </a:p>
        </p:txBody>
      </p:sp>
      <p:pic>
        <p:nvPicPr>
          <p:cNvPr id="7" name="Image 2" descr="gen-dedup-b81d2082573e6d8de64df87af639bbf0.png"/>
          <p:cNvPicPr>
            <a:picLocks noChangeAspect="1"/>
          </p:cNvPicPr>
          <p:nvPr/>
        </p:nvPicPr>
        <p:blipFill>
          <a:blip r:embed="rId5"/>
          <a:srcRect l="-360" r="-360"/>
          <a:stretch/>
        </p:blipFill>
        <p:spPr>
          <a:xfrm>
            <a:off x="609905" y="381305"/>
            <a:ext cx="57607" cy="381305"/>
          </a:xfrm>
          <a:prstGeom prst="rect">
            <a:avLst/>
          </a:prstGeom>
        </p:spPr>
      </p:pic>
      <p:sp>
        <p:nvSpPr>
          <p:cNvPr id="8" name="Shape 3"/>
          <p:cNvSpPr/>
          <p:nvPr/>
        </p:nvSpPr>
        <p:spPr>
          <a:xfrm>
            <a:off x="6099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9" name="Shape 4"/>
          <p:cNvSpPr/>
          <p:nvPr/>
        </p:nvSpPr>
        <p:spPr>
          <a:xfrm>
            <a:off x="60990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0" name="Shape 5"/>
          <p:cNvSpPr/>
          <p:nvPr/>
        </p:nvSpPr>
        <p:spPr>
          <a:xfrm>
            <a:off x="3429000"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1" name="Shape 6"/>
          <p:cNvSpPr/>
          <p:nvPr/>
        </p:nvSpPr>
        <p:spPr>
          <a:xfrm>
            <a:off x="3429000"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sp>
        <p:nvSpPr>
          <p:cNvPr id="12" name="Shape 7"/>
          <p:cNvSpPr/>
          <p:nvPr/>
        </p:nvSpPr>
        <p:spPr>
          <a:xfrm>
            <a:off x="624809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3" name="Shape 8"/>
          <p:cNvSpPr/>
          <p:nvPr/>
        </p:nvSpPr>
        <p:spPr>
          <a:xfrm>
            <a:off x="6248095" y="1524305"/>
            <a:ext cx="2609698" cy="57607"/>
          </a:xfrm>
          <a:prstGeom prst="roundRect">
            <a:avLst>
              <a:gd name="adj" fmla="val 139034"/>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9068105" y="1524305"/>
            <a:ext cx="2609698" cy="3877056"/>
          </a:xfrm>
          <a:prstGeom prst="roundRect">
            <a:avLst>
              <a:gd name="adj" fmla="val 3069"/>
            </a:avLst>
          </a:prstGeom>
          <a:solidFill>
            <a:srgbClr val="FFFFFF"/>
          </a:solidFill>
          <a:ln w="12700">
            <a:solidFill>
              <a:srgbClr val="F3F4F6"/>
            </a:solidFill>
            <a:prstDash val="solid"/>
          </a:ln>
          <a:effectLst>
            <a:outerShdw blurRad="63500" dist="38100" dir="16200000" algn="bl" rotWithShape="0">
              <a:srgbClr val="000000">
                <a:alpha val="5000"/>
              </a:srgbClr>
            </a:outerShdw>
          </a:effectLst>
        </p:spPr>
        <p:txBody>
          <a:bodyPr/>
          <a:lstStyle/>
          <a:p>
            <a:endParaRPr lang="en-US"/>
          </a:p>
        </p:txBody>
      </p:sp>
      <p:sp>
        <p:nvSpPr>
          <p:cNvPr id="15" name="Shape 10"/>
          <p:cNvSpPr/>
          <p:nvPr/>
        </p:nvSpPr>
        <p:spPr>
          <a:xfrm>
            <a:off x="9068105" y="1524305"/>
            <a:ext cx="2609698" cy="57607"/>
          </a:xfrm>
          <a:prstGeom prst="roundRect">
            <a:avLst>
              <a:gd name="adj" fmla="val 139034"/>
            </a:avLst>
          </a:prstGeom>
          <a:solidFill>
            <a:srgbClr val="D62839"/>
          </a:solidFill>
          <a:ln w="12700">
            <a:solidFill>
              <a:srgbClr val="D62839">
                <a:alpha val="0"/>
              </a:srgbClr>
            </a:solidFill>
            <a:prstDash val="solid"/>
          </a:ln>
        </p:spPr>
        <p:txBody>
          <a:bodyPr/>
          <a:lstStyle/>
          <a:p>
            <a:endParaRPr lang="en-US"/>
          </a:p>
        </p:txBody>
      </p:sp>
      <p:pic>
        <p:nvPicPr>
          <p:cNvPr id="16" name="Image 3" descr="gen-dedup-c79c8869390c39dd2ec5734755e72ead.png"/>
          <p:cNvPicPr>
            <a:picLocks noChangeAspect="1"/>
          </p:cNvPicPr>
          <p:nvPr/>
        </p:nvPicPr>
        <p:blipFill>
          <a:blip r:embed="rId6"/>
          <a:srcRect l="-2083" r="-2083"/>
          <a:stretch/>
        </p:blipFill>
        <p:spPr>
          <a:xfrm>
            <a:off x="609905" y="5715000"/>
            <a:ext cx="11011205" cy="9144"/>
          </a:xfrm>
          <a:prstGeom prst="rect">
            <a:avLst/>
          </a:prstGeom>
        </p:spPr>
      </p:pic>
      <p:sp>
        <p:nvSpPr>
          <p:cNvPr id="17" name="Shape 11"/>
          <p:cNvSpPr/>
          <p:nvPr/>
        </p:nvSpPr>
        <p:spPr>
          <a:xfrm>
            <a:off x="609905" y="5905195"/>
            <a:ext cx="11058754" cy="685800"/>
          </a:xfrm>
          <a:prstGeom prst="roundRect">
            <a:avLst>
              <a:gd name="adj" fmla="val 29630"/>
            </a:avLst>
          </a:prstGeom>
          <a:solidFill>
            <a:srgbClr val="2A9D8F">
              <a:alpha val="5000"/>
            </a:srgbClr>
          </a:solidFill>
          <a:ln w="12700">
            <a:solidFill>
              <a:srgbClr val="E5E7EB"/>
            </a:solidFill>
            <a:prstDash val="solid"/>
          </a:ln>
        </p:spPr>
        <p:txBody>
          <a:bodyPr/>
          <a:lstStyle/>
          <a:p>
            <a:endParaRPr lang="en-US"/>
          </a:p>
        </p:txBody>
      </p:sp>
      <p:sp>
        <p:nvSpPr>
          <p:cNvPr id="18" name="Shape 12"/>
          <p:cNvSpPr/>
          <p:nvPr/>
        </p:nvSpPr>
        <p:spPr>
          <a:xfrm>
            <a:off x="609905" y="5905195"/>
            <a:ext cx="38405" cy="685800"/>
          </a:xfrm>
          <a:prstGeom prst="roundRect">
            <a:avLst>
              <a:gd name="adj" fmla="val 529098"/>
            </a:avLst>
          </a:prstGeom>
          <a:solidFill>
            <a:srgbClr val="2A9D8F"/>
          </a:solidFill>
          <a:ln w="12700">
            <a:solidFill>
              <a:srgbClr val="2A9D8F">
                <a:alpha val="0"/>
              </a:srgbClr>
            </a:solidFill>
            <a:prstDash val="solid"/>
          </a:ln>
        </p:spPr>
        <p:txBody>
          <a:bodyPr/>
          <a:lstStyle/>
          <a:p>
            <a:endParaRPr lang="en-US"/>
          </a:p>
        </p:txBody>
      </p:sp>
      <p:pic>
        <p:nvPicPr>
          <p:cNvPr id="19" name="Image 4" descr="gen-dedup-1bf8b7c2ed0132a588bc6493359d36f7.png"/>
          <p:cNvPicPr>
            <a:picLocks noChangeAspect="1"/>
          </p:cNvPicPr>
          <p:nvPr/>
        </p:nvPicPr>
        <p:blipFill>
          <a:blip r:embed="rId7"/>
          <a:srcRect/>
          <a:stretch/>
        </p:blipFill>
        <p:spPr>
          <a:xfrm>
            <a:off x="3157460" y="3543605"/>
            <a:ext cx="323698" cy="323698"/>
          </a:xfrm>
          <a:prstGeom prst="rect">
            <a:avLst/>
          </a:prstGeom>
        </p:spPr>
      </p:pic>
      <p:pic>
        <p:nvPicPr>
          <p:cNvPr id="20" name="Image 5" descr="gen-dedup-4f3b576989a6b43ea9ecd09ca0f289b1.png"/>
          <p:cNvPicPr>
            <a:picLocks noChangeAspect="1"/>
          </p:cNvPicPr>
          <p:nvPr/>
        </p:nvPicPr>
        <p:blipFill>
          <a:blip r:embed="rId8"/>
          <a:srcRect t="-5544" b="-5544"/>
          <a:stretch/>
        </p:blipFill>
        <p:spPr>
          <a:xfrm>
            <a:off x="3266274" y="3638702"/>
            <a:ext cx="105156" cy="133502"/>
          </a:xfrm>
          <a:prstGeom prst="rect">
            <a:avLst/>
          </a:prstGeom>
        </p:spPr>
      </p:pic>
      <p:pic>
        <p:nvPicPr>
          <p:cNvPr id="21" name="Image 6" descr="gen-dedup-1bf8b7c2ed0132a588bc6493359d36f7.png"/>
          <p:cNvPicPr>
            <a:picLocks noChangeAspect="1"/>
          </p:cNvPicPr>
          <p:nvPr/>
        </p:nvPicPr>
        <p:blipFill>
          <a:blip r:embed="rId7"/>
          <a:srcRect/>
          <a:stretch/>
        </p:blipFill>
        <p:spPr>
          <a:xfrm>
            <a:off x="5976555" y="3543605"/>
            <a:ext cx="323698" cy="323698"/>
          </a:xfrm>
          <a:prstGeom prst="rect">
            <a:avLst/>
          </a:prstGeom>
        </p:spPr>
      </p:pic>
      <p:pic>
        <p:nvPicPr>
          <p:cNvPr id="22" name="Image 7" descr="gen-dedup-4f3b576989a6b43ea9ecd09ca0f289b1.png"/>
          <p:cNvPicPr>
            <a:picLocks noChangeAspect="1"/>
          </p:cNvPicPr>
          <p:nvPr/>
        </p:nvPicPr>
        <p:blipFill>
          <a:blip r:embed="rId8"/>
          <a:srcRect t="-5544" b="-5544"/>
          <a:stretch/>
        </p:blipFill>
        <p:spPr>
          <a:xfrm>
            <a:off x="6086283" y="3638702"/>
            <a:ext cx="105156" cy="133502"/>
          </a:xfrm>
          <a:prstGeom prst="rect">
            <a:avLst/>
          </a:prstGeom>
        </p:spPr>
      </p:pic>
      <p:pic>
        <p:nvPicPr>
          <p:cNvPr id="23" name="Image 8" descr="gen-dedup-1bf8b7c2ed0132a588bc6493359d36f7.png"/>
          <p:cNvPicPr>
            <a:picLocks noChangeAspect="1"/>
          </p:cNvPicPr>
          <p:nvPr/>
        </p:nvPicPr>
        <p:blipFill>
          <a:blip r:embed="rId7"/>
          <a:srcRect/>
          <a:stretch/>
        </p:blipFill>
        <p:spPr>
          <a:xfrm>
            <a:off x="8795651" y="3543605"/>
            <a:ext cx="323698" cy="323698"/>
          </a:xfrm>
          <a:prstGeom prst="rect">
            <a:avLst/>
          </a:prstGeom>
        </p:spPr>
      </p:pic>
      <p:pic>
        <p:nvPicPr>
          <p:cNvPr id="24" name="Image 9" descr="gen-dedup-4f3b576989a6b43ea9ecd09ca0f289b1.png"/>
          <p:cNvPicPr>
            <a:picLocks noChangeAspect="1"/>
          </p:cNvPicPr>
          <p:nvPr/>
        </p:nvPicPr>
        <p:blipFill>
          <a:blip r:embed="rId8"/>
          <a:srcRect t="-5544" b="-5544"/>
          <a:stretch/>
        </p:blipFill>
        <p:spPr>
          <a:xfrm>
            <a:off x="8905379" y="3638702"/>
            <a:ext cx="105156" cy="133502"/>
          </a:xfrm>
          <a:prstGeom prst="rect">
            <a:avLst/>
          </a:prstGeom>
        </p:spPr>
      </p:pic>
      <p:sp>
        <p:nvSpPr>
          <p:cNvPr id="25" name="Text 13"/>
          <p:cNvSpPr txBox="1"/>
          <p:nvPr/>
        </p:nvSpPr>
        <p:spPr>
          <a:xfrm>
            <a:off x="819302" y="304495"/>
            <a:ext cx="10478110" cy="419710"/>
          </a:xfrm>
          <a:prstGeom prst="rect">
            <a:avLst/>
          </a:prstGeom>
          <a:noFill/>
          <a:ln/>
        </p:spPr>
        <p:txBody>
          <a:bodyPr wrap="none" lIns="0" tIns="0" rIns="0" bIns="0" rtlCol="0" anchor="ctr"/>
          <a:lstStyle/>
          <a:p>
            <a:pPr marL="0" indent="0" algn="l">
              <a:buNone/>
            </a:pPr>
            <a:r>
              <a:rPr lang="en-US" sz="2700" b="1" dirty="0">
                <a:solidFill>
                  <a:srgbClr val="111827"/>
                </a:solidFill>
                <a:latin typeface="Oswald" pitchFamily="34" charset="0"/>
                <a:ea typeface="Oswald" pitchFamily="34" charset="-122"/>
                <a:cs typeface="Oswald" pitchFamily="34" charset="-120"/>
              </a:rPr>
              <a:t>THE J2W OPERATING MODEL</a:t>
            </a:r>
            <a:endParaRPr lang="en-US" sz="2700" dirty="0"/>
          </a:p>
        </p:txBody>
      </p:sp>
      <p:sp>
        <p:nvSpPr>
          <p:cNvPr id="26" name="Text 14"/>
          <p:cNvSpPr txBox="1"/>
          <p:nvPr/>
        </p:nvSpPr>
        <p:spPr>
          <a:xfrm>
            <a:off x="819302" y="792785"/>
            <a:ext cx="10478110" cy="181051"/>
          </a:xfrm>
          <a:prstGeom prst="rect">
            <a:avLst/>
          </a:prstGeom>
          <a:noFill/>
          <a:ln/>
        </p:spPr>
        <p:txBody>
          <a:bodyPr wrap="none" lIns="0" tIns="0" rIns="0" bIns="0" rtlCol="0" anchor="ctr"/>
          <a:lstStyle/>
          <a:p>
            <a:pPr marL="0" indent="0" algn="l">
              <a:buNone/>
            </a:pPr>
            <a:r>
              <a:rPr lang="en-US" sz="1500" dirty="0">
                <a:solidFill>
                  <a:srgbClr val="4B5563"/>
                </a:solidFill>
                <a:latin typeface="Raleway" pitchFamily="34" charset="0"/>
                <a:ea typeface="Raleway" pitchFamily="34" charset="-122"/>
                <a:cs typeface="Raleway" pitchFamily="34" charset="-120"/>
              </a:rPr>
              <a:t>We don't just deploy - we embed, align, and deliver measurable outcomes.</a:t>
            </a:r>
            <a:endParaRPr lang="en-US" sz="1500" dirty="0"/>
          </a:p>
        </p:txBody>
      </p:sp>
      <p:sp>
        <p:nvSpPr>
          <p:cNvPr id="27" name="Shape 15"/>
          <p:cNvSpPr/>
          <p:nvPr/>
        </p:nvSpPr>
        <p:spPr>
          <a:xfrm>
            <a:off x="163860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28" name="Image 10" descr="gen-dedup-ac1977dfe20a87d93b03eab8a85600aa.png"/>
          <p:cNvPicPr>
            <a:picLocks noChangeAspect="1"/>
          </p:cNvPicPr>
          <p:nvPr/>
        </p:nvPicPr>
        <p:blipFill>
          <a:blip r:embed="rId9"/>
          <a:srcRect t="-13131" b="-13131"/>
          <a:stretch/>
        </p:blipFill>
        <p:spPr>
          <a:xfrm>
            <a:off x="1814170" y="1971446"/>
            <a:ext cx="181051" cy="228600"/>
          </a:xfrm>
          <a:prstGeom prst="rect">
            <a:avLst/>
          </a:prstGeom>
        </p:spPr>
      </p:pic>
      <p:sp>
        <p:nvSpPr>
          <p:cNvPr id="29" name="Text 16"/>
          <p:cNvSpPr txBox="1"/>
          <p:nvPr/>
        </p:nvSpPr>
        <p:spPr>
          <a:xfrm>
            <a:off x="705002"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Embed.</a:t>
            </a:r>
            <a:endParaRPr lang="en-US" sz="2000" dirty="0"/>
          </a:p>
        </p:txBody>
      </p:sp>
      <p:sp>
        <p:nvSpPr>
          <p:cNvPr id="30" name="Text 17"/>
          <p:cNvSpPr txBox="1"/>
          <p:nvPr/>
        </p:nvSpPr>
        <p:spPr>
          <a:xfrm>
            <a:off x="705002" y="2968854"/>
            <a:ext cx="2400300" cy="152705"/>
          </a:xfrm>
          <a:prstGeom prst="rect">
            <a:avLst/>
          </a:prstGeom>
          <a:noFill/>
          <a:ln/>
        </p:spPr>
        <p:txBody>
          <a:bodyPr wrap="none" lIns="0" tIns="0" rIns="0" bIns="0" rtlCol="0" anchor="ctr"/>
          <a:lstStyle/>
          <a:p>
            <a:pPr marL="0" indent="0" algn="ctr">
              <a:buNone/>
            </a:pPr>
            <a:r>
              <a:rPr lang="en-US" sz="1300" b="1" dirty="0">
                <a:solidFill>
                  <a:srgbClr val="2A9D8F"/>
                </a:solidFill>
                <a:latin typeface="Roboto Condensed" pitchFamily="34" charset="0"/>
                <a:ea typeface="Roboto Condensed" pitchFamily="34" charset="-122"/>
                <a:cs typeface="Roboto Condensed" pitchFamily="34" charset="-120"/>
              </a:rPr>
              <a:t>Days 1–14</a:t>
            </a:r>
            <a:endParaRPr lang="en-US" sz="1300" dirty="0"/>
          </a:p>
        </p:txBody>
      </p:sp>
      <p:sp>
        <p:nvSpPr>
          <p:cNvPr id="31" name="Text 18"/>
          <p:cNvSpPr txBox="1"/>
          <p:nvPr/>
        </p:nvSpPr>
        <p:spPr>
          <a:xfrm>
            <a:off x="705002" y="3018434"/>
            <a:ext cx="2309775" cy="1743761"/>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We map your stakeholder reality before touching a single workflow — identifying the 80% we move within and the 20% that unlocks transformation.</a:t>
            </a:r>
            <a:endParaRPr lang="en-US" sz="1200" dirty="0"/>
          </a:p>
        </p:txBody>
      </p:sp>
      <p:sp>
        <p:nvSpPr>
          <p:cNvPr id="32" name="Text 19"/>
          <p:cNvSpPr txBox="1"/>
          <p:nvPr/>
        </p:nvSpPr>
        <p:spPr>
          <a:xfrm>
            <a:off x="2409444" y="1687137"/>
            <a:ext cx="601675" cy="457200"/>
          </a:xfrm>
          <a:prstGeom prst="rect">
            <a:avLst/>
          </a:prstGeom>
          <a:noFill/>
          <a:ln/>
        </p:spPr>
        <p:txBody>
          <a:bodyPr wrap="none" lIns="0" tIns="0" rIns="0" bIns="0" rtlCol="0" anchor="ctr"/>
          <a:lstStyle/>
          <a:p>
            <a:pPr marL="0" indent="0" algn="r">
              <a:buNone/>
            </a:pPr>
            <a:r>
              <a:rPr lang="en-US" sz="3600" b="1" dirty="0">
                <a:solidFill>
                  <a:srgbClr val="2A9D8F">
                    <a:alpha val="8000"/>
                  </a:srgbClr>
                </a:solidFill>
                <a:latin typeface="Oswald" pitchFamily="34" charset="0"/>
                <a:ea typeface="Oswald" pitchFamily="34" charset="-122"/>
                <a:cs typeface="Oswald" pitchFamily="34" charset="-120"/>
              </a:rPr>
              <a:t>01</a:t>
            </a:r>
            <a:endParaRPr lang="en-US" sz="3600" dirty="0"/>
          </a:p>
        </p:txBody>
      </p:sp>
      <p:sp>
        <p:nvSpPr>
          <p:cNvPr id="33" name="Shape 20"/>
          <p:cNvSpPr/>
          <p:nvPr/>
        </p:nvSpPr>
        <p:spPr>
          <a:xfrm>
            <a:off x="4457700"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34" name="Image 11" descr="gen-dedup-bb65f8a83efde23cd45884ce4e632f2a.png"/>
          <p:cNvPicPr>
            <a:picLocks noChangeAspect="1"/>
          </p:cNvPicPr>
          <p:nvPr/>
        </p:nvPicPr>
        <p:blipFill>
          <a:blip r:embed="rId10"/>
          <a:srcRect t="-13131" b="-13131"/>
          <a:stretch/>
        </p:blipFill>
        <p:spPr>
          <a:xfrm>
            <a:off x="4634179" y="1971446"/>
            <a:ext cx="181051" cy="228600"/>
          </a:xfrm>
          <a:prstGeom prst="rect">
            <a:avLst/>
          </a:prstGeom>
        </p:spPr>
      </p:pic>
      <p:sp>
        <p:nvSpPr>
          <p:cNvPr id="35" name="Text 21"/>
          <p:cNvSpPr txBox="1"/>
          <p:nvPr/>
        </p:nvSpPr>
        <p:spPr>
          <a:xfrm>
            <a:off x="3524098"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Build.</a:t>
            </a:r>
            <a:endParaRPr lang="en-US" sz="2000" dirty="0"/>
          </a:p>
        </p:txBody>
      </p:sp>
      <p:sp>
        <p:nvSpPr>
          <p:cNvPr id="36" name="Text 22"/>
          <p:cNvSpPr txBox="1"/>
          <p:nvPr/>
        </p:nvSpPr>
        <p:spPr>
          <a:xfrm>
            <a:off x="3524098" y="2968854"/>
            <a:ext cx="2400300" cy="152705"/>
          </a:xfrm>
          <a:prstGeom prst="rect">
            <a:avLst/>
          </a:prstGeom>
          <a:noFill/>
          <a:ln/>
        </p:spPr>
        <p:txBody>
          <a:bodyPr wrap="none" lIns="0" tIns="0" rIns="0" bIns="0" rtlCol="0" anchor="ctr"/>
          <a:lstStyle/>
          <a:p>
            <a:pPr marL="0" indent="0" algn="ctr">
              <a:buNone/>
            </a:pPr>
            <a:r>
              <a:rPr lang="en-US" sz="1300" b="1" dirty="0">
                <a:solidFill>
                  <a:srgbClr val="D62839"/>
                </a:solidFill>
                <a:latin typeface="Roboto Condensed" pitchFamily="34" charset="0"/>
                <a:ea typeface="Roboto Condensed" pitchFamily="34" charset="-122"/>
                <a:cs typeface="Roboto Condensed" pitchFamily="34" charset="-120"/>
              </a:rPr>
              <a:t>Weeks 2–6</a:t>
            </a:r>
            <a:endParaRPr lang="en-US" sz="1300" dirty="0"/>
          </a:p>
        </p:txBody>
      </p:sp>
      <p:sp>
        <p:nvSpPr>
          <p:cNvPr id="37" name="Text 23"/>
          <p:cNvSpPr txBox="1"/>
          <p:nvPr/>
        </p:nvSpPr>
        <p:spPr>
          <a:xfrm>
            <a:off x="3524098" y="3297935"/>
            <a:ext cx="2309775" cy="1390802"/>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We deploy the closest-fit accelerator and customize where needed. Hundreds of prior engagements mean you inherit a head start, not a blank slate.</a:t>
            </a:r>
            <a:endParaRPr lang="en-US" sz="1200" dirty="0"/>
          </a:p>
        </p:txBody>
      </p:sp>
      <p:sp>
        <p:nvSpPr>
          <p:cNvPr id="38" name="Text 24"/>
          <p:cNvSpPr txBox="1"/>
          <p:nvPr/>
        </p:nvSpPr>
        <p:spPr>
          <a:xfrm>
            <a:off x="5231282" y="1687137"/>
            <a:ext cx="607162" cy="457200"/>
          </a:xfrm>
          <a:prstGeom prst="rect">
            <a:avLst/>
          </a:prstGeom>
          <a:noFill/>
          <a:ln/>
        </p:spPr>
        <p:txBody>
          <a:bodyPr wrap="none" lIns="0" tIns="0" rIns="0" bIns="0" rtlCol="0" anchor="ctr"/>
          <a:lstStyle/>
          <a:p>
            <a:pPr marL="0" indent="0" algn="r">
              <a:buNone/>
            </a:pPr>
            <a:r>
              <a:rPr lang="en-US" sz="3600" b="1" dirty="0">
                <a:solidFill>
                  <a:srgbClr val="D62839">
                    <a:alpha val="8000"/>
                  </a:srgbClr>
                </a:solidFill>
                <a:latin typeface="Oswald" pitchFamily="34" charset="0"/>
                <a:ea typeface="Oswald" pitchFamily="34" charset="-122"/>
                <a:cs typeface="Oswald" pitchFamily="34" charset="-120"/>
              </a:rPr>
              <a:t>02</a:t>
            </a:r>
            <a:endParaRPr lang="en-US" sz="3600" dirty="0"/>
          </a:p>
        </p:txBody>
      </p:sp>
      <p:sp>
        <p:nvSpPr>
          <p:cNvPr id="39" name="Shape 25"/>
          <p:cNvSpPr/>
          <p:nvPr/>
        </p:nvSpPr>
        <p:spPr>
          <a:xfrm>
            <a:off x="7276795" y="1819656"/>
            <a:ext cx="533095" cy="533095"/>
          </a:xfrm>
          <a:prstGeom prst="ellipse">
            <a:avLst/>
          </a:prstGeom>
          <a:solidFill>
            <a:srgbClr val="2A9D8F">
              <a:alpha val="10000"/>
            </a:srgbClr>
          </a:solidFill>
          <a:ln w="12700">
            <a:solidFill>
              <a:srgbClr val="FFFFFF">
                <a:alpha val="0"/>
              </a:srgbClr>
            </a:solidFill>
            <a:prstDash val="solid"/>
          </a:ln>
        </p:spPr>
        <p:txBody>
          <a:bodyPr/>
          <a:lstStyle/>
          <a:p>
            <a:endParaRPr lang="en-US"/>
          </a:p>
        </p:txBody>
      </p:sp>
      <p:pic>
        <p:nvPicPr>
          <p:cNvPr id="40" name="Image 12" descr="gen-dedup-ec7913c77fa2db42f3e898c22d604bf4.png"/>
          <p:cNvPicPr>
            <a:picLocks noChangeAspect="1"/>
          </p:cNvPicPr>
          <p:nvPr/>
        </p:nvPicPr>
        <p:blipFill>
          <a:blip r:embed="rId11"/>
          <a:srcRect t="-28914" b="-28914"/>
          <a:stretch/>
        </p:blipFill>
        <p:spPr>
          <a:xfrm>
            <a:off x="7398844" y="1895244"/>
            <a:ext cx="289681" cy="365760"/>
          </a:xfrm>
          <a:prstGeom prst="rect">
            <a:avLst/>
          </a:prstGeom>
        </p:spPr>
      </p:pic>
      <p:sp>
        <p:nvSpPr>
          <p:cNvPr id="41" name="Text 26"/>
          <p:cNvSpPr txBox="1"/>
          <p:nvPr/>
        </p:nvSpPr>
        <p:spPr>
          <a:xfrm>
            <a:off x="6344107"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Operate.</a:t>
            </a:r>
            <a:endParaRPr lang="en-US" sz="2000" dirty="0"/>
          </a:p>
        </p:txBody>
      </p:sp>
      <p:sp>
        <p:nvSpPr>
          <p:cNvPr id="42" name="Text 27"/>
          <p:cNvSpPr txBox="1"/>
          <p:nvPr/>
        </p:nvSpPr>
        <p:spPr>
          <a:xfrm>
            <a:off x="6344107" y="2968854"/>
            <a:ext cx="2400300" cy="152705"/>
          </a:xfrm>
          <a:prstGeom prst="rect">
            <a:avLst/>
          </a:prstGeom>
          <a:noFill/>
          <a:ln/>
        </p:spPr>
        <p:txBody>
          <a:bodyPr wrap="none" lIns="0" tIns="0" rIns="0" bIns="0" rtlCol="0" anchor="ctr"/>
          <a:lstStyle/>
          <a:p>
            <a:pPr marL="0" indent="0" algn="ctr">
              <a:buNone/>
            </a:pPr>
            <a:r>
              <a:rPr lang="en-US" sz="1300" b="1" dirty="0">
                <a:solidFill>
                  <a:srgbClr val="2A9D8F"/>
                </a:solidFill>
                <a:latin typeface="Roboto Condensed" pitchFamily="34" charset="0"/>
                <a:ea typeface="Roboto Condensed" pitchFamily="34" charset="-122"/>
                <a:cs typeface="Roboto Condensed" pitchFamily="34" charset="-120"/>
              </a:rPr>
              <a:t>Month 2 onward</a:t>
            </a:r>
            <a:endParaRPr lang="en-US" sz="1300" dirty="0"/>
          </a:p>
        </p:txBody>
      </p:sp>
      <p:sp>
        <p:nvSpPr>
          <p:cNvPr id="43" name="Text 28"/>
          <p:cNvSpPr txBox="1"/>
          <p:nvPr/>
        </p:nvSpPr>
        <p:spPr>
          <a:xfrm>
            <a:off x="6344107" y="3195725"/>
            <a:ext cx="2309775" cy="1390802"/>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Forward-deployed engineers run AI inside your enterprise and don't rotate off. The context, accountability, and institutional memory stay with you.</a:t>
            </a:r>
            <a:endParaRPr lang="en-US" sz="1200" dirty="0"/>
          </a:p>
        </p:txBody>
      </p:sp>
      <p:sp>
        <p:nvSpPr>
          <p:cNvPr id="44" name="Text 29"/>
          <p:cNvSpPr txBox="1"/>
          <p:nvPr/>
        </p:nvSpPr>
        <p:spPr>
          <a:xfrm>
            <a:off x="8051292" y="1687137"/>
            <a:ext cx="607162" cy="457200"/>
          </a:xfrm>
          <a:prstGeom prst="rect">
            <a:avLst/>
          </a:prstGeom>
          <a:noFill/>
          <a:ln/>
        </p:spPr>
        <p:txBody>
          <a:bodyPr wrap="none" lIns="0" tIns="0" rIns="0" bIns="0" rtlCol="0" anchor="ctr"/>
          <a:lstStyle/>
          <a:p>
            <a:pPr marL="0" indent="0" algn="r">
              <a:buNone/>
            </a:pPr>
            <a:r>
              <a:rPr lang="en-US" sz="3600" b="1" dirty="0">
                <a:solidFill>
                  <a:srgbClr val="2A9D8F">
                    <a:alpha val="8000"/>
                  </a:srgbClr>
                </a:solidFill>
                <a:latin typeface="Oswald" pitchFamily="34" charset="0"/>
                <a:ea typeface="Oswald" pitchFamily="34" charset="-122"/>
                <a:cs typeface="Oswald" pitchFamily="34" charset="-120"/>
              </a:rPr>
              <a:t>03</a:t>
            </a:r>
            <a:endParaRPr lang="en-US" sz="3600" dirty="0"/>
          </a:p>
        </p:txBody>
      </p:sp>
      <p:sp>
        <p:nvSpPr>
          <p:cNvPr id="45" name="Shape 30"/>
          <p:cNvSpPr/>
          <p:nvPr/>
        </p:nvSpPr>
        <p:spPr>
          <a:xfrm>
            <a:off x="10096805" y="1819656"/>
            <a:ext cx="533095" cy="533095"/>
          </a:xfrm>
          <a:prstGeom prst="ellipse">
            <a:avLst/>
          </a:prstGeom>
          <a:solidFill>
            <a:srgbClr val="D62839">
              <a:alpha val="10000"/>
            </a:srgbClr>
          </a:solidFill>
          <a:ln w="12700">
            <a:solidFill>
              <a:srgbClr val="FFFFFF">
                <a:alpha val="0"/>
              </a:srgbClr>
            </a:solidFill>
            <a:prstDash val="solid"/>
          </a:ln>
        </p:spPr>
        <p:txBody>
          <a:bodyPr/>
          <a:lstStyle/>
          <a:p>
            <a:endParaRPr lang="en-US"/>
          </a:p>
        </p:txBody>
      </p:sp>
      <p:pic>
        <p:nvPicPr>
          <p:cNvPr id="46" name="Image 13" descr="gen-dedup-9fd551ffaf14ed4b68fb6cf808d818cf.png"/>
          <p:cNvPicPr>
            <a:picLocks noChangeAspect="1"/>
          </p:cNvPicPr>
          <p:nvPr/>
        </p:nvPicPr>
        <p:blipFill>
          <a:blip r:embed="rId12"/>
          <a:srcRect t="-13131" b="-13131"/>
          <a:stretch/>
        </p:blipFill>
        <p:spPr>
          <a:xfrm>
            <a:off x="10272370" y="1971446"/>
            <a:ext cx="181051" cy="228600"/>
          </a:xfrm>
          <a:prstGeom prst="rect">
            <a:avLst/>
          </a:prstGeom>
        </p:spPr>
      </p:pic>
      <p:sp>
        <p:nvSpPr>
          <p:cNvPr id="47" name="Text 31"/>
          <p:cNvSpPr txBox="1"/>
          <p:nvPr/>
        </p:nvSpPr>
        <p:spPr>
          <a:xfrm>
            <a:off x="9163202" y="2505456"/>
            <a:ext cx="2400300" cy="286207"/>
          </a:xfrm>
          <a:prstGeom prst="rect">
            <a:avLst/>
          </a:prstGeom>
          <a:noFill/>
          <a:ln/>
        </p:spPr>
        <p:txBody>
          <a:bodyPr wrap="none" lIns="0" tIns="0" rIns="0" bIns="0" rtlCol="0" anchor="ctr"/>
          <a:lstStyle/>
          <a:p>
            <a:pPr marL="0" indent="0" algn="ctr">
              <a:buNone/>
            </a:pPr>
            <a:r>
              <a:rPr lang="en-US" sz="2000" b="1" dirty="0">
                <a:solidFill>
                  <a:srgbClr val="1F2937"/>
                </a:solidFill>
                <a:latin typeface="Oswald" pitchFamily="34" charset="0"/>
                <a:ea typeface="Oswald" pitchFamily="34" charset="-122"/>
                <a:cs typeface="Oswald" pitchFamily="34" charset="-120"/>
              </a:rPr>
              <a:t>Compound.</a:t>
            </a:r>
            <a:endParaRPr lang="en-US" sz="2000" dirty="0"/>
          </a:p>
        </p:txBody>
      </p:sp>
      <p:sp>
        <p:nvSpPr>
          <p:cNvPr id="48" name="Text 32"/>
          <p:cNvSpPr txBox="1"/>
          <p:nvPr/>
        </p:nvSpPr>
        <p:spPr>
          <a:xfrm>
            <a:off x="9163202" y="2968854"/>
            <a:ext cx="2400300" cy="152705"/>
          </a:xfrm>
          <a:prstGeom prst="rect">
            <a:avLst/>
          </a:prstGeom>
          <a:noFill/>
          <a:ln/>
        </p:spPr>
        <p:txBody>
          <a:bodyPr wrap="none" lIns="0" tIns="0" rIns="0" bIns="0" rtlCol="0" anchor="ctr"/>
          <a:lstStyle/>
          <a:p>
            <a:pPr marL="0" indent="0" algn="ctr">
              <a:buNone/>
            </a:pPr>
            <a:r>
              <a:rPr lang="en-US" sz="1300" b="1" dirty="0">
                <a:solidFill>
                  <a:srgbClr val="D62839"/>
                </a:solidFill>
                <a:latin typeface="Roboto Condensed" pitchFamily="34" charset="0"/>
                <a:ea typeface="Roboto Condensed" pitchFamily="34" charset="-122"/>
                <a:cs typeface="Roboto Condensed" pitchFamily="34" charset="-120"/>
              </a:rPr>
              <a:t>Year one &amp; beyond</a:t>
            </a:r>
            <a:endParaRPr lang="en-US" sz="1300" dirty="0"/>
          </a:p>
        </p:txBody>
      </p:sp>
      <p:sp>
        <p:nvSpPr>
          <p:cNvPr id="49" name="Text 33"/>
          <p:cNvSpPr txBox="1"/>
          <p:nvPr/>
        </p:nvSpPr>
        <p:spPr>
          <a:xfrm>
            <a:off x="9163202" y="3285235"/>
            <a:ext cx="2309775" cy="1219810"/>
          </a:xfrm>
          <a:prstGeom prst="rect">
            <a:avLst/>
          </a:prstGeom>
          <a:noFill/>
          <a:ln/>
        </p:spPr>
        <p:txBody>
          <a:bodyPr wrap="square" lIns="0" tIns="0" rIns="0" bIns="0" rtlCol="0" anchor="ctr"/>
          <a:lstStyle/>
          <a:p>
            <a:pPr marL="0" indent="0" algn="ctr">
              <a:buNone/>
            </a:pPr>
            <a:r>
              <a:rPr lang="en-US" sz="1200" dirty="0">
                <a:solidFill>
                  <a:srgbClr val="4B5563"/>
                </a:solidFill>
                <a:latin typeface="Raleway" pitchFamily="34" charset="0"/>
                <a:ea typeface="Raleway" pitchFamily="34" charset="-122"/>
                <a:cs typeface="Raleway" pitchFamily="34" charset="-120"/>
              </a:rPr>
              <a:t>Every problem solved sharpens the platform. The system gets smarter as you scale — outcomes that compound while you sleep.</a:t>
            </a:r>
            <a:endParaRPr lang="en-US" sz="1200" dirty="0"/>
          </a:p>
        </p:txBody>
      </p:sp>
      <p:sp>
        <p:nvSpPr>
          <p:cNvPr id="50" name="Text 34"/>
          <p:cNvSpPr txBox="1"/>
          <p:nvPr/>
        </p:nvSpPr>
        <p:spPr>
          <a:xfrm>
            <a:off x="10865815" y="1687137"/>
            <a:ext cx="607162" cy="457200"/>
          </a:xfrm>
          <a:prstGeom prst="rect">
            <a:avLst/>
          </a:prstGeom>
          <a:noFill/>
          <a:ln/>
        </p:spPr>
        <p:txBody>
          <a:bodyPr wrap="none" lIns="0" tIns="0" rIns="0" bIns="0" rtlCol="0" anchor="ctr"/>
          <a:lstStyle/>
          <a:p>
            <a:pPr marL="0" indent="0" algn="r">
              <a:buNone/>
            </a:pPr>
            <a:r>
              <a:rPr lang="en-US" sz="3600" b="1" dirty="0">
                <a:solidFill>
                  <a:srgbClr val="D62839">
                    <a:alpha val="8000"/>
                  </a:srgbClr>
                </a:solidFill>
                <a:latin typeface="Oswald" pitchFamily="34" charset="0"/>
                <a:ea typeface="Oswald" pitchFamily="34" charset="-122"/>
                <a:cs typeface="Oswald" pitchFamily="34" charset="-120"/>
              </a:rPr>
              <a:t>04</a:t>
            </a:r>
            <a:endParaRPr lang="en-US" sz="3600" dirty="0"/>
          </a:p>
        </p:txBody>
      </p:sp>
      <p:sp>
        <p:nvSpPr>
          <p:cNvPr id="51" name="Text 35"/>
          <p:cNvSpPr txBox="1"/>
          <p:nvPr/>
        </p:nvSpPr>
        <p:spPr>
          <a:xfrm>
            <a:off x="914400" y="6048756"/>
            <a:ext cx="10401300" cy="428854"/>
          </a:xfrm>
          <a:prstGeom prst="rect">
            <a:avLst/>
          </a:prstGeom>
          <a:noFill/>
          <a:ln/>
        </p:spPr>
        <p:txBody>
          <a:bodyPr wrap="square" lIns="0" tIns="0" rIns="0" bIns="0" rtlCol="0" anchor="ctr"/>
          <a:lstStyle/>
          <a:p>
            <a:pPr marL="0" indent="0" algn="ctr">
              <a:buNone/>
            </a:pPr>
            <a:r>
              <a:rPr lang="en-US" sz="1300" b="1" dirty="0">
                <a:solidFill>
                  <a:srgbClr val="2A9D8F"/>
                </a:solidFill>
                <a:latin typeface="Raleway" pitchFamily="34" charset="0"/>
                <a:ea typeface="Raleway" pitchFamily="34" charset="-122"/>
                <a:cs typeface="Raleway" pitchFamily="34" charset="-120"/>
              </a:rPr>
              <a:t>Your business is our GTM.</a:t>
            </a:r>
            <a:r>
              <a:rPr lang="en-US" sz="1300" b="1" dirty="0">
                <a:solidFill>
                  <a:srgbClr val="1F2937"/>
                </a:solidFill>
                <a:latin typeface="Raleway" pitchFamily="34" charset="0"/>
                <a:ea typeface="Raleway" pitchFamily="34" charset="-122"/>
                <a:cs typeface="Raleway" pitchFamily="34" charset="-120"/>
              </a:rPr>
              <a:t> We build with you, so your teams actually adopt, use, and grow everything we create together - not just receive it.</a:t>
            </a:r>
            <a:endParaRPr lang="en-US" sz="1300" dirty="0"/>
          </a:p>
        </p:txBody>
      </p:sp>
    </p:spTree>
    <p:extLst>
      <p:ext uri="{BB962C8B-B14F-4D97-AF65-F5344CB8AC3E}">
        <p14:creationId xmlns:p14="http://schemas.microsoft.com/office/powerpoint/2010/main" val="1775765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953805" y="-571500"/>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pic>
        <p:nvPicPr>
          <p:cNvPr id="5" name="Image 0" descr="gen-dedup-5e765734fa6996e94526269805e72083.png"/>
          <p:cNvPicPr>
            <a:picLocks noChangeAspect="1"/>
          </p:cNvPicPr>
          <p:nvPr/>
        </p:nvPicPr>
        <p:blipFill>
          <a:blip r:embed="rId3">
            <a:alphaModFix amt="5000"/>
          </a:blip>
          <a:srcRect/>
          <a:stretch/>
        </p:blipFill>
        <p:spPr>
          <a:xfrm>
            <a:off x="-381305" y="4095598"/>
            <a:ext cx="2381098" cy="2381098"/>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ef527bea2207a14ec6e8d4c8ae9cdc45.png"/>
          <p:cNvPicPr>
            <a:picLocks noChangeAspect="1"/>
          </p:cNvPicPr>
          <p:nvPr/>
        </p:nvPicPr>
        <p:blipFill>
          <a:blip r:embed="rId6"/>
          <a:srcRect l="-384" r="-384"/>
          <a:stretch/>
        </p:blipFill>
        <p:spPr>
          <a:xfrm>
            <a:off x="609905" y="743407"/>
            <a:ext cx="57607" cy="476402"/>
          </a:xfrm>
          <a:prstGeom prst="rect">
            <a:avLst/>
          </a:prstGeom>
        </p:spPr>
      </p:pic>
      <p:sp>
        <p:nvSpPr>
          <p:cNvPr id="9" name="Shape 3"/>
          <p:cNvSpPr/>
          <p:nvPr/>
        </p:nvSpPr>
        <p:spPr>
          <a:xfrm>
            <a:off x="609905" y="1714500"/>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0" name="Shape 4"/>
          <p:cNvSpPr/>
          <p:nvPr/>
        </p:nvSpPr>
        <p:spPr>
          <a:xfrm>
            <a:off x="6099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4381805" y="1714500"/>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2" name="Shape 6"/>
          <p:cNvSpPr/>
          <p:nvPr/>
        </p:nvSpPr>
        <p:spPr>
          <a:xfrm>
            <a:off x="4381805" y="1714500"/>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8153705" y="1714500"/>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4" name="Shape 8"/>
          <p:cNvSpPr/>
          <p:nvPr/>
        </p:nvSpPr>
        <p:spPr>
          <a:xfrm>
            <a:off x="8153705" y="1714500"/>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2495398" y="3619195"/>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6" name="Shape 10"/>
          <p:cNvSpPr/>
          <p:nvPr/>
        </p:nvSpPr>
        <p:spPr>
          <a:xfrm>
            <a:off x="2495398" y="3619195"/>
            <a:ext cx="3448202" cy="47549"/>
          </a:xfrm>
          <a:prstGeom prst="roundRect">
            <a:avLst>
              <a:gd name="adj" fmla="val 165425"/>
            </a:avLst>
          </a:prstGeom>
          <a:solidFill>
            <a:srgbClr val="D62839"/>
          </a:solidFill>
          <a:ln w="12700">
            <a:solidFill>
              <a:srgbClr val="D62839">
                <a:alpha val="0"/>
              </a:srgbClr>
            </a:solidFill>
            <a:prstDash val="solid"/>
          </a:ln>
        </p:spPr>
        <p:txBody>
          <a:bodyPr/>
          <a:lstStyle/>
          <a:p>
            <a:endParaRPr lang="en-US"/>
          </a:p>
        </p:txBody>
      </p:sp>
      <p:sp>
        <p:nvSpPr>
          <p:cNvPr id="17" name="Shape 11"/>
          <p:cNvSpPr/>
          <p:nvPr/>
        </p:nvSpPr>
        <p:spPr>
          <a:xfrm>
            <a:off x="6267298" y="3619195"/>
            <a:ext cx="3448202" cy="1772107"/>
          </a:xfrm>
          <a:prstGeom prst="roundRect">
            <a:avLst>
              <a:gd name="adj" fmla="val 4439"/>
            </a:avLst>
          </a:prstGeom>
          <a:solidFill>
            <a:srgbClr val="FFFFFF"/>
          </a:solidFill>
          <a:ln w="12700">
            <a:solidFill>
              <a:srgbClr val="E2E8F0"/>
            </a:solidFill>
            <a:prstDash val="solid"/>
          </a:ln>
          <a:effectLst>
            <a:outerShdw blurRad="63500" dist="38100" dir="16200000" algn="bl" rotWithShape="0">
              <a:srgbClr val="000000">
                <a:alpha val="3000"/>
              </a:srgbClr>
            </a:outerShdw>
          </a:effectLst>
        </p:spPr>
        <p:txBody>
          <a:bodyPr/>
          <a:lstStyle/>
          <a:p>
            <a:endParaRPr lang="en-US"/>
          </a:p>
        </p:txBody>
      </p:sp>
      <p:sp>
        <p:nvSpPr>
          <p:cNvPr id="18" name="Shape 12"/>
          <p:cNvSpPr/>
          <p:nvPr/>
        </p:nvSpPr>
        <p:spPr>
          <a:xfrm>
            <a:off x="6267298" y="3619195"/>
            <a:ext cx="3448202" cy="47549"/>
          </a:xfrm>
          <a:prstGeom prst="roundRect">
            <a:avLst>
              <a:gd name="adj" fmla="val 165425"/>
            </a:avLst>
          </a:prstGeom>
          <a:solidFill>
            <a:srgbClr val="2A9D8F"/>
          </a:solidFill>
          <a:ln w="12700">
            <a:solidFill>
              <a:srgbClr val="2A9D8F">
                <a:alpha val="0"/>
              </a:srgbClr>
            </a:solidFill>
            <a:prstDash val="solid"/>
          </a:ln>
        </p:spPr>
        <p:txBody>
          <a:bodyPr/>
          <a:lstStyle/>
          <a:p>
            <a:endParaRPr lang="en-US"/>
          </a:p>
        </p:txBody>
      </p:sp>
      <p:sp>
        <p:nvSpPr>
          <p:cNvPr id="19" name="Shape 13"/>
          <p:cNvSpPr/>
          <p:nvPr/>
        </p:nvSpPr>
        <p:spPr>
          <a:xfrm>
            <a:off x="609905" y="5572354"/>
            <a:ext cx="10972800" cy="571500"/>
          </a:xfrm>
          <a:prstGeom prst="roundRect">
            <a:avLst>
              <a:gd name="adj" fmla="val 42667"/>
            </a:avLst>
          </a:prstGeom>
          <a:solidFill>
            <a:srgbClr val="111827"/>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endParaRPr lang="en-US"/>
          </a:p>
        </p:txBody>
      </p:sp>
      <p:pic>
        <p:nvPicPr>
          <p:cNvPr id="20" name="Image 4" descr="gen-dedup-fcfcca745fa5c1c832fd66175382f504.png"/>
          <p:cNvPicPr>
            <a:picLocks noChangeAspect="1"/>
          </p:cNvPicPr>
          <p:nvPr/>
        </p:nvPicPr>
        <p:blipFill>
          <a:blip r:embed="rId7"/>
          <a:srcRect l="-2083" r="-2083"/>
          <a:stretch/>
        </p:blipFill>
        <p:spPr>
          <a:xfrm>
            <a:off x="609905" y="6286500"/>
            <a:ext cx="10972800" cy="9144"/>
          </a:xfrm>
          <a:prstGeom prst="rect">
            <a:avLst/>
          </a:prstGeom>
        </p:spPr>
      </p:pic>
      <p:sp>
        <p:nvSpPr>
          <p:cNvPr id="21" name="Text 14"/>
          <p:cNvSpPr txBox="1"/>
          <p:nvPr/>
        </p:nvSpPr>
        <p:spPr>
          <a:xfrm>
            <a:off x="819302" y="666598"/>
            <a:ext cx="5715000" cy="381305"/>
          </a:xfrm>
          <a:prstGeom prst="rect">
            <a:avLst/>
          </a:prstGeom>
          <a:noFill/>
          <a:ln/>
        </p:spPr>
        <p:txBody>
          <a:bodyPr wrap="none" lIns="0" tIns="0" rIns="0" bIns="0" rtlCol="0" anchor="ctr"/>
          <a:lstStyle/>
          <a:p>
            <a:pPr marL="0" indent="0" algn="l">
              <a:buNone/>
            </a:pPr>
            <a:r>
              <a:rPr lang="en-US" sz="2700" b="1" dirty="0">
                <a:solidFill>
                  <a:srgbClr val="111827"/>
                </a:solidFill>
                <a:latin typeface="Oswald" pitchFamily="34" charset="0"/>
                <a:ea typeface="Oswald" pitchFamily="34" charset="-122"/>
                <a:cs typeface="Oswald" pitchFamily="34" charset="-120"/>
              </a:rPr>
              <a:t>WHAT WE OWN</a:t>
            </a:r>
            <a:endParaRPr lang="en-US" sz="2700" dirty="0"/>
          </a:p>
        </p:txBody>
      </p:sp>
      <p:sp>
        <p:nvSpPr>
          <p:cNvPr id="22" name="Text 15"/>
          <p:cNvSpPr txBox="1"/>
          <p:nvPr/>
        </p:nvSpPr>
        <p:spPr>
          <a:xfrm>
            <a:off x="819302" y="1100938"/>
            <a:ext cx="5715000" cy="200254"/>
          </a:xfrm>
          <a:prstGeom prst="rect">
            <a:avLst/>
          </a:prstGeom>
          <a:noFill/>
          <a:ln/>
        </p:spPr>
        <p:txBody>
          <a:bodyPr wrap="none" lIns="0" tIns="0" rIns="0" bIns="0" rtlCol="0" anchor="ctr"/>
          <a:lstStyle/>
          <a:p>
            <a:pPr marL="0" indent="0" algn="l">
              <a:buNone/>
            </a:pPr>
            <a:r>
              <a:rPr lang="en-US" sz="1300" b="1" kern="0" spc="68" dirty="0">
                <a:solidFill>
                  <a:srgbClr val="2A9D8F"/>
                </a:solidFill>
                <a:latin typeface="Roboto Condensed" pitchFamily="34" charset="0"/>
                <a:ea typeface="Roboto Condensed" pitchFamily="34" charset="-122"/>
                <a:cs typeface="Roboto Condensed" pitchFamily="34" charset="-120"/>
              </a:rPr>
              <a:t>The proprietary stack - our moat</a:t>
            </a:r>
            <a:endParaRPr lang="en-US" sz="1300" dirty="0"/>
          </a:p>
        </p:txBody>
      </p:sp>
      <p:sp>
        <p:nvSpPr>
          <p:cNvPr id="23" name="Shape 16"/>
          <p:cNvSpPr/>
          <p:nvPr/>
        </p:nvSpPr>
        <p:spPr>
          <a:xfrm>
            <a:off x="8001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24" name="Image 5" descr="gen-dedup-354148c7dfe2ece024d9587c6b984377.png"/>
          <p:cNvPicPr>
            <a:picLocks noChangeAspect="1"/>
          </p:cNvPicPr>
          <p:nvPr/>
        </p:nvPicPr>
        <p:blipFill>
          <a:blip r:embed="rId8"/>
          <a:srcRect t="-16800" b="-16800"/>
          <a:stretch/>
        </p:blipFill>
        <p:spPr>
          <a:xfrm>
            <a:off x="895198" y="2029054"/>
            <a:ext cx="114300" cy="152705"/>
          </a:xfrm>
          <a:prstGeom prst="rect">
            <a:avLst/>
          </a:prstGeom>
        </p:spPr>
      </p:pic>
      <p:sp>
        <p:nvSpPr>
          <p:cNvPr id="25" name="Text 17"/>
          <p:cNvSpPr txBox="1"/>
          <p:nvPr/>
        </p:nvSpPr>
        <p:spPr>
          <a:xfrm>
            <a:off x="1238098" y="195224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J2W Premier Lounge</a:t>
            </a:r>
            <a:endParaRPr lang="en-US" sz="1500" dirty="0"/>
          </a:p>
        </p:txBody>
      </p:sp>
      <p:sp>
        <p:nvSpPr>
          <p:cNvPr id="26" name="Text 18"/>
          <p:cNvSpPr txBox="1"/>
          <p:nvPr/>
        </p:nvSpPr>
        <p:spPr>
          <a:xfrm>
            <a:off x="800100" y="242864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Curated network of vetted experts - instant access to scarce skills.</a:t>
            </a:r>
            <a:endParaRPr lang="en-US" sz="1200" dirty="0"/>
          </a:p>
        </p:txBody>
      </p:sp>
      <p:sp>
        <p:nvSpPr>
          <p:cNvPr id="27" name="Shape 19"/>
          <p:cNvSpPr/>
          <p:nvPr/>
        </p:nvSpPr>
        <p:spPr>
          <a:xfrm>
            <a:off x="4572000" y="1952244"/>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28" name="Image 6" descr="gen-dedup-8653d22c8fc2d1668da8a16f36629000.png"/>
          <p:cNvPicPr>
            <a:picLocks noChangeAspect="1"/>
          </p:cNvPicPr>
          <p:nvPr/>
        </p:nvPicPr>
        <p:blipFill>
          <a:blip r:embed="rId9"/>
          <a:srcRect t="-25150" b="-25150"/>
          <a:stretch/>
        </p:blipFill>
        <p:spPr>
          <a:xfrm>
            <a:off x="4667098" y="2029054"/>
            <a:ext cx="114300" cy="152705"/>
          </a:xfrm>
          <a:prstGeom prst="rect">
            <a:avLst/>
          </a:prstGeom>
        </p:spPr>
      </p:pic>
      <p:sp>
        <p:nvSpPr>
          <p:cNvPr id="29" name="Text 20"/>
          <p:cNvSpPr txBox="1"/>
          <p:nvPr/>
        </p:nvSpPr>
        <p:spPr>
          <a:xfrm>
            <a:off x="5009998" y="195224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J2W OfferLetter</a:t>
            </a:r>
            <a:endParaRPr lang="en-US" sz="1500" dirty="0"/>
          </a:p>
        </p:txBody>
      </p:sp>
      <p:sp>
        <p:nvSpPr>
          <p:cNvPr id="30" name="Text 21"/>
          <p:cNvSpPr txBox="1"/>
          <p:nvPr/>
        </p:nvSpPr>
        <p:spPr>
          <a:xfrm>
            <a:off x="4572000" y="242864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AI-driven sourcing &amp; resume parsing - onboard one engineer an hour.</a:t>
            </a:r>
            <a:endParaRPr lang="en-US" sz="1200" dirty="0"/>
          </a:p>
        </p:txBody>
      </p:sp>
      <p:sp>
        <p:nvSpPr>
          <p:cNvPr id="31" name="Shape 22"/>
          <p:cNvSpPr/>
          <p:nvPr/>
        </p:nvSpPr>
        <p:spPr>
          <a:xfrm>
            <a:off x="8343900" y="195224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32" name="Image 7" descr="gen-dedup-fe8b3fc2b54c6cb2835c9e1123b7a343.png"/>
          <p:cNvPicPr>
            <a:picLocks noChangeAspect="1"/>
          </p:cNvPicPr>
          <p:nvPr/>
        </p:nvPicPr>
        <p:blipFill>
          <a:blip r:embed="rId10"/>
          <a:srcRect t="-25150" b="-25150"/>
          <a:stretch/>
        </p:blipFill>
        <p:spPr>
          <a:xfrm>
            <a:off x="8438998" y="2029054"/>
            <a:ext cx="114300" cy="152705"/>
          </a:xfrm>
          <a:prstGeom prst="rect">
            <a:avLst/>
          </a:prstGeom>
        </p:spPr>
      </p:pic>
      <p:sp>
        <p:nvSpPr>
          <p:cNvPr id="33" name="Text 23"/>
          <p:cNvSpPr txBox="1"/>
          <p:nvPr/>
        </p:nvSpPr>
        <p:spPr>
          <a:xfrm>
            <a:off x="8781898" y="1952244"/>
            <a:ext cx="2702052"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Data Abstraction Layer</a:t>
            </a:r>
            <a:endParaRPr lang="en-US" sz="1500" dirty="0"/>
          </a:p>
        </p:txBody>
      </p:sp>
      <p:sp>
        <p:nvSpPr>
          <p:cNvPr id="34" name="Text 24"/>
          <p:cNvSpPr txBox="1"/>
          <p:nvPr/>
        </p:nvSpPr>
        <p:spPr>
          <a:xfrm>
            <a:off x="8343900" y="242864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Unified API gateway + real-time ETL - a single pane of glass.</a:t>
            </a:r>
            <a:endParaRPr lang="en-US" sz="1200" dirty="0"/>
          </a:p>
        </p:txBody>
      </p:sp>
      <p:sp>
        <p:nvSpPr>
          <p:cNvPr id="35" name="Shape 25"/>
          <p:cNvSpPr/>
          <p:nvPr/>
        </p:nvSpPr>
        <p:spPr>
          <a:xfrm>
            <a:off x="2686507" y="3857854"/>
            <a:ext cx="304495" cy="304495"/>
          </a:xfrm>
          <a:prstGeom prst="roundRect">
            <a:avLst>
              <a:gd name="adj" fmla="val 112613"/>
            </a:avLst>
          </a:prstGeom>
          <a:solidFill>
            <a:srgbClr val="FEF2F2"/>
          </a:solidFill>
          <a:ln w="12700">
            <a:solidFill>
              <a:srgbClr val="FFFFFF">
                <a:alpha val="0"/>
              </a:srgbClr>
            </a:solidFill>
            <a:prstDash val="solid"/>
          </a:ln>
        </p:spPr>
        <p:txBody>
          <a:bodyPr/>
          <a:lstStyle/>
          <a:p>
            <a:endParaRPr lang="en-US"/>
          </a:p>
        </p:txBody>
      </p:sp>
      <p:pic>
        <p:nvPicPr>
          <p:cNvPr id="36" name="Image 8" descr="gen-dedup-e7d7166718140d8159b1663599725aa5.png"/>
          <p:cNvPicPr>
            <a:picLocks noChangeAspect="1"/>
          </p:cNvPicPr>
          <p:nvPr/>
        </p:nvPicPr>
        <p:blipFill>
          <a:blip r:embed="rId11"/>
          <a:srcRect t="-8450" b="-8450"/>
          <a:stretch/>
        </p:blipFill>
        <p:spPr>
          <a:xfrm>
            <a:off x="2781605" y="3933749"/>
            <a:ext cx="114300" cy="152705"/>
          </a:xfrm>
          <a:prstGeom prst="rect">
            <a:avLst/>
          </a:prstGeom>
        </p:spPr>
      </p:pic>
      <p:sp>
        <p:nvSpPr>
          <p:cNvPr id="37" name="Text 26"/>
          <p:cNvSpPr txBox="1"/>
          <p:nvPr/>
        </p:nvSpPr>
        <p:spPr>
          <a:xfrm>
            <a:off x="3124505" y="385785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J2W AI Labs</a:t>
            </a:r>
            <a:endParaRPr lang="en-US" sz="1500" dirty="0"/>
          </a:p>
        </p:txBody>
      </p:sp>
      <p:sp>
        <p:nvSpPr>
          <p:cNvPr id="38" name="Text 27"/>
          <p:cNvSpPr txBox="1"/>
          <p:nvPr/>
        </p:nvSpPr>
        <p:spPr>
          <a:xfrm>
            <a:off x="2686507" y="433425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Internal AI engine - every engineer AI-certified before Day 1.</a:t>
            </a:r>
            <a:endParaRPr lang="en-US" sz="1200" dirty="0"/>
          </a:p>
        </p:txBody>
      </p:sp>
      <p:sp>
        <p:nvSpPr>
          <p:cNvPr id="39" name="Shape 28"/>
          <p:cNvSpPr/>
          <p:nvPr/>
        </p:nvSpPr>
        <p:spPr>
          <a:xfrm>
            <a:off x="6458407" y="3857854"/>
            <a:ext cx="304495" cy="304495"/>
          </a:xfrm>
          <a:prstGeom prst="roundRect">
            <a:avLst>
              <a:gd name="adj" fmla="val 112613"/>
            </a:avLst>
          </a:prstGeom>
          <a:solidFill>
            <a:srgbClr val="F0FDFA"/>
          </a:solidFill>
          <a:ln w="12700">
            <a:solidFill>
              <a:srgbClr val="FFFFFF">
                <a:alpha val="0"/>
              </a:srgbClr>
            </a:solidFill>
            <a:prstDash val="solid"/>
          </a:ln>
        </p:spPr>
        <p:txBody>
          <a:bodyPr/>
          <a:lstStyle/>
          <a:p>
            <a:endParaRPr lang="en-US"/>
          </a:p>
        </p:txBody>
      </p:sp>
      <p:pic>
        <p:nvPicPr>
          <p:cNvPr id="40" name="Image 9" descr="gen-dedup-a3d9bb31ae14fa9101e3246a3a64819e.png"/>
          <p:cNvPicPr>
            <a:picLocks noChangeAspect="1"/>
          </p:cNvPicPr>
          <p:nvPr/>
        </p:nvPicPr>
        <p:blipFill>
          <a:blip r:embed="rId12"/>
          <a:srcRect t="-8450" b="-8450"/>
          <a:stretch/>
        </p:blipFill>
        <p:spPr>
          <a:xfrm>
            <a:off x="6553505" y="3933749"/>
            <a:ext cx="114300" cy="152705"/>
          </a:xfrm>
          <a:prstGeom prst="rect">
            <a:avLst/>
          </a:prstGeom>
        </p:spPr>
      </p:pic>
      <p:sp>
        <p:nvSpPr>
          <p:cNvPr id="41" name="Text 29"/>
          <p:cNvSpPr txBox="1"/>
          <p:nvPr/>
        </p:nvSpPr>
        <p:spPr>
          <a:xfrm>
            <a:off x="6896405" y="3857854"/>
            <a:ext cx="2572207" cy="305410"/>
          </a:xfrm>
          <a:prstGeom prst="rect">
            <a:avLst/>
          </a:prstGeom>
          <a:noFill/>
          <a:ln/>
        </p:spPr>
        <p:txBody>
          <a:bodyPr wrap="none" lIns="0" tIns="0" rIns="0" bIns="0" rtlCol="0" anchor="ctr"/>
          <a:lstStyle/>
          <a:p>
            <a:pPr marL="0" indent="0" algn="l">
              <a:buNone/>
            </a:pPr>
            <a:r>
              <a:rPr lang="en-US" sz="1500" b="1" dirty="0">
                <a:solidFill>
                  <a:srgbClr val="111827"/>
                </a:solidFill>
                <a:latin typeface="Oswald" pitchFamily="34" charset="0"/>
                <a:ea typeface="Oswald" pitchFamily="34" charset="-122"/>
                <a:cs typeface="Oswald" pitchFamily="34" charset="-120"/>
              </a:rPr>
              <a:t>60+ Accelerators</a:t>
            </a:r>
            <a:endParaRPr lang="en-US" sz="1500" dirty="0"/>
          </a:p>
        </p:txBody>
      </p:sp>
      <p:sp>
        <p:nvSpPr>
          <p:cNvPr id="42" name="Text 30"/>
          <p:cNvSpPr txBox="1"/>
          <p:nvPr/>
        </p:nvSpPr>
        <p:spPr>
          <a:xfrm>
            <a:off x="6458407" y="4334256"/>
            <a:ext cx="3048610" cy="457200"/>
          </a:xfrm>
          <a:prstGeom prst="rect">
            <a:avLst/>
          </a:prstGeom>
          <a:noFill/>
          <a:ln/>
        </p:spPr>
        <p:txBody>
          <a:bodyPr wrap="square" lIns="0" tIns="0" rIns="0" bIns="0" rtlCol="0" anchor="ctr"/>
          <a:lstStyle/>
          <a:p>
            <a:pPr marL="0" indent="0" algn="l">
              <a:buNone/>
            </a:pPr>
            <a:r>
              <a:rPr lang="en-US" sz="1200" dirty="0">
                <a:solidFill>
                  <a:srgbClr val="4B5563"/>
                </a:solidFill>
                <a:latin typeface="Raleway" pitchFamily="34" charset="0"/>
                <a:ea typeface="Raleway" pitchFamily="34" charset="-122"/>
                <a:cs typeface="Raleway" pitchFamily="34" charset="-120"/>
              </a:rPr>
              <a:t>Pre-built solutions on SAP, ServiceNow &amp; industry stacks.</a:t>
            </a:r>
            <a:endParaRPr lang="en-US" sz="1200" dirty="0"/>
          </a:p>
        </p:txBody>
      </p:sp>
      <p:sp>
        <p:nvSpPr>
          <p:cNvPr id="43" name="Text 31"/>
          <p:cNvSpPr txBox="1"/>
          <p:nvPr/>
        </p:nvSpPr>
        <p:spPr>
          <a:xfrm>
            <a:off x="800100" y="5715000"/>
            <a:ext cx="10592410" cy="286207"/>
          </a:xfrm>
          <a:prstGeom prst="rect">
            <a:avLst/>
          </a:prstGeom>
          <a:noFill/>
          <a:ln/>
        </p:spPr>
        <p:txBody>
          <a:bodyPr wrap="none" lIns="0" tIns="0" rIns="0" bIns="0" rtlCol="0" anchor="ctr"/>
          <a:lstStyle/>
          <a:p>
            <a:pPr marL="0" indent="0" algn="ctr">
              <a:buNone/>
            </a:pPr>
            <a:r>
              <a:rPr lang="en-US" sz="1500" b="1" kern="0" spc="75" dirty="0">
                <a:solidFill>
                  <a:srgbClr val="9CA3AF"/>
                </a:solidFill>
                <a:latin typeface="Oswald" pitchFamily="34" charset="0"/>
                <a:ea typeface="Oswald" pitchFamily="34" charset="-122"/>
                <a:cs typeface="Oswald" pitchFamily="34" charset="-120"/>
              </a:rPr>
              <a:t>THE ARC FRAMEWORK</a:t>
            </a:r>
            <a:r>
              <a:rPr lang="en-US" sz="1500" b="1" kern="0" spc="75" dirty="0">
                <a:solidFill>
                  <a:srgbClr val="2A9D8F"/>
                </a:solidFill>
                <a:latin typeface="Oswald" pitchFamily="34" charset="0"/>
                <a:ea typeface="Oswald" pitchFamily="34" charset="-122"/>
                <a:cs typeface="Oswald" pitchFamily="34" charset="-120"/>
              </a:rPr>
              <a:t>Adaptive</a:t>
            </a:r>
            <a:r>
              <a:rPr lang="en-US" sz="1200" b="1" kern="0" spc="75" dirty="0">
                <a:solidFill>
                  <a:srgbClr val="CBD5E1"/>
                </a:solidFill>
                <a:latin typeface="Raleway" pitchFamily="34" charset="0"/>
                <a:ea typeface="Raleway" pitchFamily="34" charset="-122"/>
                <a:cs typeface="Raleway" pitchFamily="34" charset="-120"/>
              </a:rPr>
              <a:t>(Grow)</a:t>
            </a:r>
            <a:r>
              <a:rPr lang="en-US" sz="1500" b="1" kern="0" spc="75" dirty="0">
                <a:solidFill>
                  <a:srgbClr val="6B7280"/>
                </a:solidFill>
                <a:latin typeface="Oswald" pitchFamily="34" charset="0"/>
                <a:ea typeface="Oswald" pitchFamily="34" charset="-122"/>
                <a:cs typeface="Oswald" pitchFamily="34" charset="-120"/>
              </a:rPr>
              <a:t>→</a:t>
            </a:r>
            <a:r>
              <a:rPr lang="en-US" sz="1500" b="1" kern="0" spc="75" dirty="0">
                <a:solidFill>
                  <a:srgbClr val="D62839"/>
                </a:solidFill>
                <a:latin typeface="Oswald" pitchFamily="34" charset="0"/>
                <a:ea typeface="Oswald" pitchFamily="34" charset="-122"/>
                <a:cs typeface="Oswald" pitchFamily="34" charset="-120"/>
              </a:rPr>
              <a:t>Resilient</a:t>
            </a:r>
            <a:r>
              <a:rPr lang="en-US" sz="1200" b="1" kern="0" spc="75" dirty="0">
                <a:solidFill>
                  <a:srgbClr val="CBD5E1"/>
                </a:solidFill>
                <a:latin typeface="Raleway" pitchFamily="34" charset="0"/>
                <a:ea typeface="Raleway" pitchFamily="34" charset="-122"/>
                <a:cs typeface="Raleway" pitchFamily="34" charset="-120"/>
              </a:rPr>
              <a:t>(Mature)</a:t>
            </a:r>
            <a:r>
              <a:rPr lang="en-US" sz="1500" b="1" kern="0" spc="75" dirty="0">
                <a:solidFill>
                  <a:srgbClr val="6B7280"/>
                </a:solidFill>
                <a:latin typeface="Oswald" pitchFamily="34" charset="0"/>
                <a:ea typeface="Oswald" pitchFamily="34" charset="-122"/>
                <a:cs typeface="Oswald" pitchFamily="34" charset="-120"/>
              </a:rPr>
              <a:t>→</a:t>
            </a:r>
            <a:r>
              <a:rPr lang="en-US" sz="1500" b="1" kern="0" spc="75" dirty="0">
                <a:solidFill>
                  <a:srgbClr val="2A9D8F"/>
                </a:solidFill>
                <a:latin typeface="Oswald" pitchFamily="34" charset="0"/>
                <a:ea typeface="Oswald" pitchFamily="34" charset="-122"/>
                <a:cs typeface="Oswald" pitchFamily="34" charset="-120"/>
              </a:rPr>
              <a:t>Cognitive</a:t>
            </a:r>
            <a:r>
              <a:rPr lang="en-US" sz="1200" b="1" kern="0" spc="75" dirty="0">
                <a:solidFill>
                  <a:srgbClr val="CBD5E1"/>
                </a:solidFill>
                <a:latin typeface="Raleway" pitchFamily="34" charset="0"/>
                <a:ea typeface="Raleway" pitchFamily="34" charset="-122"/>
                <a:cs typeface="Raleway" pitchFamily="34" charset="-120"/>
              </a:rPr>
              <a:t>(Transform)</a:t>
            </a:r>
            <a:endParaRPr lang="en-US" sz="1500" dirty="0"/>
          </a:p>
        </p:txBody>
      </p:sp>
      <p:sp>
        <p:nvSpPr>
          <p:cNvPr id="44" name="Text 32"/>
          <p:cNvSpPr txBox="1"/>
          <p:nvPr/>
        </p:nvSpPr>
        <p:spPr>
          <a:xfrm>
            <a:off x="609905" y="6429146"/>
            <a:ext cx="10972800" cy="181051"/>
          </a:xfrm>
          <a:prstGeom prst="rect">
            <a:avLst/>
          </a:prstGeom>
          <a:noFill/>
          <a:ln/>
        </p:spPr>
        <p:txBody>
          <a:bodyPr wrap="none" lIns="0" tIns="0" rIns="0" bIns="0" rtlCol="0" anchor="ctr"/>
          <a:lstStyle/>
          <a:p>
            <a:pPr marL="0" indent="0" algn="ctr">
              <a:buNone/>
            </a:pPr>
            <a:r>
              <a:rPr lang="en-US" sz="1200" b="1" dirty="0">
                <a:solidFill>
                  <a:srgbClr val="374151"/>
                </a:solidFill>
                <a:latin typeface="Raleway" pitchFamily="34" charset="0"/>
                <a:ea typeface="Raleway" pitchFamily="34" charset="-122"/>
                <a:cs typeface="Raleway" pitchFamily="34" charset="-120"/>
              </a:rPr>
              <a:t>Transparent, scalable, and owned by us - </a:t>
            </a:r>
            <a:r>
              <a:rPr lang="en-US" sz="1200" b="1" dirty="0">
                <a:solidFill>
                  <a:srgbClr val="2A9D8F"/>
                </a:solidFill>
                <a:latin typeface="Raleway" pitchFamily="34" charset="0"/>
                <a:ea typeface="Raleway" pitchFamily="34" charset="-122"/>
                <a:cs typeface="Raleway" pitchFamily="34" charset="-120"/>
              </a:rPr>
              <a:t>your competitive moat, not a black box.</a:t>
            </a:r>
            <a:endParaRPr lang="en-US" sz="1200" dirty="0"/>
          </a:p>
        </p:txBody>
      </p:sp>
      <p:sp>
        <p:nvSpPr>
          <p:cNvPr id="45" name="TextBox 44">
            <a:extLst>
              <a:ext uri="{FF2B5EF4-FFF2-40B4-BE49-F238E27FC236}">
                <a16:creationId xmlns:a16="http://schemas.microsoft.com/office/drawing/2014/main" id="{25DD6EC7-8F41-58C5-8FE6-D76C9E660C2A}"/>
              </a:ext>
            </a:extLst>
          </p:cNvPr>
          <p:cNvSpPr txBox="1"/>
          <p:nvPr/>
        </p:nvSpPr>
        <p:spPr>
          <a:xfrm>
            <a:off x="3048000" y="3429000"/>
            <a:ext cx="60960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spTree>
    <p:extLst>
      <p:ext uri="{BB962C8B-B14F-4D97-AF65-F5344CB8AC3E}">
        <p14:creationId xmlns:p14="http://schemas.microsoft.com/office/powerpoint/2010/main" val="38212399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4"/>
          <p:cNvSpPr/>
          <p:nvPr/>
        </p:nvSpPr>
        <p:spPr>
          <a:xfrm>
            <a:off x="219456" y="1182624"/>
            <a:ext cx="2779776" cy="60960"/>
          </a:xfrm>
          <a:prstGeom prst="rect">
            <a:avLst/>
          </a:prstGeom>
          <a:solidFill>
            <a:srgbClr val="0D9488"/>
          </a:solidFill>
          <a:ln w="12700">
            <a:solidFill>
              <a:srgbClr val="0D9488"/>
            </a:solidFill>
            <a:prstDash val="solid"/>
          </a:ln>
        </p:spPr>
        <p:txBody>
          <a:bodyPr/>
          <a:lstStyle/>
          <a:p>
            <a:endParaRPr lang="en-US" sz="2400"/>
          </a:p>
        </p:txBody>
      </p:sp>
      <p:sp>
        <p:nvSpPr>
          <p:cNvPr id="7" name="Shape 5"/>
          <p:cNvSpPr/>
          <p:nvPr/>
        </p:nvSpPr>
        <p:spPr>
          <a:xfrm>
            <a:off x="219456"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8" name="Image 0" descr="preencoded.png"/>
          <p:cNvPicPr>
            <a:picLocks noChangeAspect="1"/>
          </p:cNvPicPr>
          <p:nvPr/>
        </p:nvPicPr>
        <p:blipFill>
          <a:blip r:embed="rId3"/>
          <a:stretch>
            <a:fillRect/>
          </a:stretch>
        </p:blipFill>
        <p:spPr>
          <a:xfrm>
            <a:off x="390144" y="1341120"/>
            <a:ext cx="414528" cy="414528"/>
          </a:xfrm>
          <a:prstGeom prst="rect">
            <a:avLst/>
          </a:prstGeom>
        </p:spPr>
      </p:pic>
      <p:sp>
        <p:nvSpPr>
          <p:cNvPr id="9" name="Text 6"/>
          <p:cNvSpPr/>
          <p:nvPr/>
        </p:nvSpPr>
        <p:spPr>
          <a:xfrm>
            <a:off x="341376"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Sourcing Engine</a:t>
            </a:r>
            <a:endParaRPr lang="en-US" sz="1467">
              <a:latin typeface="Oswald" panose="00000500000000000000" pitchFamily="2" charset="0"/>
            </a:endParaRPr>
          </a:p>
        </p:txBody>
      </p:sp>
      <p:sp>
        <p:nvSpPr>
          <p:cNvPr id="10" name="Text 7"/>
          <p:cNvSpPr/>
          <p:nvPr/>
        </p:nvSpPr>
        <p:spPr>
          <a:xfrm>
            <a:off x="341376"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AI-driven talent matching across 8,500+ active consultants and 1,250+ skills - niche to mainstream.</a:t>
            </a:r>
            <a:endParaRPr lang="en-US" sz="1133">
              <a:latin typeface="Raleway" pitchFamily="2" charset="0"/>
            </a:endParaRPr>
          </a:p>
        </p:txBody>
      </p:sp>
      <p:sp>
        <p:nvSpPr>
          <p:cNvPr id="11" name="Shape 8"/>
          <p:cNvSpPr/>
          <p:nvPr/>
        </p:nvSpPr>
        <p:spPr>
          <a:xfrm>
            <a:off x="3108960" y="1182624"/>
            <a:ext cx="2779776" cy="60960"/>
          </a:xfrm>
          <a:prstGeom prst="rect">
            <a:avLst/>
          </a:prstGeom>
          <a:solidFill>
            <a:srgbClr val="C0392B"/>
          </a:solidFill>
          <a:ln w="12700">
            <a:solidFill>
              <a:srgbClr val="C0392B"/>
            </a:solidFill>
            <a:prstDash val="solid"/>
          </a:ln>
        </p:spPr>
        <p:txBody>
          <a:bodyPr/>
          <a:lstStyle/>
          <a:p>
            <a:endParaRPr lang="en-US" sz="2400"/>
          </a:p>
        </p:txBody>
      </p:sp>
      <p:sp>
        <p:nvSpPr>
          <p:cNvPr id="12" name="Shape 9"/>
          <p:cNvSpPr/>
          <p:nvPr/>
        </p:nvSpPr>
        <p:spPr>
          <a:xfrm>
            <a:off x="3108960"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13" name="Image 1" descr="preencoded.png"/>
          <p:cNvPicPr>
            <a:picLocks noChangeAspect="1"/>
          </p:cNvPicPr>
          <p:nvPr/>
        </p:nvPicPr>
        <p:blipFill>
          <a:blip r:embed="rId4"/>
          <a:stretch>
            <a:fillRect/>
          </a:stretch>
        </p:blipFill>
        <p:spPr>
          <a:xfrm>
            <a:off x="3279648" y="1341120"/>
            <a:ext cx="414528" cy="414528"/>
          </a:xfrm>
          <a:prstGeom prst="rect">
            <a:avLst/>
          </a:prstGeom>
        </p:spPr>
      </p:pic>
      <p:sp>
        <p:nvSpPr>
          <p:cNvPr id="14" name="Text 10"/>
          <p:cNvSpPr/>
          <p:nvPr/>
        </p:nvSpPr>
        <p:spPr>
          <a:xfrm>
            <a:off x="3230880"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Human + AI Teams</a:t>
            </a:r>
            <a:endParaRPr lang="en-US" sz="1467">
              <a:latin typeface="Oswald" panose="00000500000000000000" pitchFamily="2" charset="0"/>
            </a:endParaRPr>
          </a:p>
        </p:txBody>
      </p:sp>
      <p:sp>
        <p:nvSpPr>
          <p:cNvPr id="15" name="Text 11"/>
          <p:cNvSpPr/>
          <p:nvPr/>
        </p:nvSpPr>
        <p:spPr>
          <a:xfrm>
            <a:off x="3230880"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Blended delivery with AI productivity tools embedded from Day 1. Capability stacks over role pyramids.</a:t>
            </a:r>
            <a:endParaRPr lang="en-US" sz="1133">
              <a:latin typeface="Raleway" pitchFamily="2" charset="0"/>
            </a:endParaRPr>
          </a:p>
        </p:txBody>
      </p:sp>
      <p:sp>
        <p:nvSpPr>
          <p:cNvPr id="16" name="Shape 12"/>
          <p:cNvSpPr/>
          <p:nvPr/>
        </p:nvSpPr>
        <p:spPr>
          <a:xfrm>
            <a:off x="5998464" y="1182624"/>
            <a:ext cx="2779776" cy="60960"/>
          </a:xfrm>
          <a:prstGeom prst="rect">
            <a:avLst/>
          </a:prstGeom>
          <a:solidFill>
            <a:srgbClr val="0D9488"/>
          </a:solidFill>
          <a:ln w="12700">
            <a:solidFill>
              <a:srgbClr val="0D9488"/>
            </a:solidFill>
            <a:prstDash val="solid"/>
          </a:ln>
        </p:spPr>
        <p:txBody>
          <a:bodyPr/>
          <a:lstStyle/>
          <a:p>
            <a:endParaRPr lang="en-US" sz="2400"/>
          </a:p>
        </p:txBody>
      </p:sp>
      <p:sp>
        <p:nvSpPr>
          <p:cNvPr id="17" name="Shape 13"/>
          <p:cNvSpPr/>
          <p:nvPr/>
        </p:nvSpPr>
        <p:spPr>
          <a:xfrm>
            <a:off x="5998464"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18" name="Image 2" descr="preencoded.png"/>
          <p:cNvPicPr>
            <a:picLocks noChangeAspect="1"/>
          </p:cNvPicPr>
          <p:nvPr/>
        </p:nvPicPr>
        <p:blipFill>
          <a:blip r:embed="rId5"/>
          <a:stretch>
            <a:fillRect/>
          </a:stretch>
        </p:blipFill>
        <p:spPr>
          <a:xfrm>
            <a:off x="6169152" y="1341120"/>
            <a:ext cx="414528" cy="414528"/>
          </a:xfrm>
          <a:prstGeom prst="rect">
            <a:avLst/>
          </a:prstGeom>
        </p:spPr>
      </p:pic>
      <p:sp>
        <p:nvSpPr>
          <p:cNvPr id="19" name="Text 14"/>
          <p:cNvSpPr/>
          <p:nvPr/>
        </p:nvSpPr>
        <p:spPr>
          <a:xfrm>
            <a:off x="6120384"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Fully Managed</a:t>
            </a:r>
            <a:endParaRPr lang="en-US" sz="1467">
              <a:latin typeface="Oswald" panose="00000500000000000000" pitchFamily="2" charset="0"/>
            </a:endParaRPr>
          </a:p>
        </p:txBody>
      </p:sp>
      <p:sp>
        <p:nvSpPr>
          <p:cNvPr id="20" name="Text 15"/>
          <p:cNvSpPr/>
          <p:nvPr/>
        </p:nvSpPr>
        <p:spPr>
          <a:xfrm>
            <a:off x="6120384"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J2W owns payroll, compliance, onboarding and HR. Zero admin burden on the client side.</a:t>
            </a:r>
            <a:endParaRPr lang="en-US" sz="1133">
              <a:latin typeface="Raleway" pitchFamily="2" charset="0"/>
            </a:endParaRPr>
          </a:p>
        </p:txBody>
      </p:sp>
      <p:sp>
        <p:nvSpPr>
          <p:cNvPr id="21" name="Shape 16"/>
          <p:cNvSpPr/>
          <p:nvPr/>
        </p:nvSpPr>
        <p:spPr>
          <a:xfrm>
            <a:off x="8887968" y="1182624"/>
            <a:ext cx="2779776" cy="60960"/>
          </a:xfrm>
          <a:prstGeom prst="rect">
            <a:avLst/>
          </a:prstGeom>
          <a:solidFill>
            <a:srgbClr val="C0392B"/>
          </a:solidFill>
          <a:ln w="12700">
            <a:solidFill>
              <a:srgbClr val="C0392B"/>
            </a:solidFill>
            <a:prstDash val="solid"/>
          </a:ln>
        </p:spPr>
        <p:txBody>
          <a:bodyPr/>
          <a:lstStyle/>
          <a:p>
            <a:endParaRPr lang="en-US" sz="2400"/>
          </a:p>
        </p:txBody>
      </p:sp>
      <p:sp>
        <p:nvSpPr>
          <p:cNvPr id="22" name="Shape 17"/>
          <p:cNvSpPr/>
          <p:nvPr/>
        </p:nvSpPr>
        <p:spPr>
          <a:xfrm>
            <a:off x="8887968" y="1243584"/>
            <a:ext cx="2779776" cy="1889760"/>
          </a:xfrm>
          <a:prstGeom prst="rect">
            <a:avLst/>
          </a:prstGeom>
          <a:solidFill>
            <a:srgbClr val="F9FFFE"/>
          </a:solidFill>
          <a:ln w="6350">
            <a:solidFill>
              <a:srgbClr val="D0ECEA"/>
            </a:solidFill>
            <a:prstDash val="solid"/>
          </a:ln>
          <a:effectLst>
            <a:outerShdw blurRad="63500" dist="25400" dir="8100000" algn="bl" rotWithShape="0">
              <a:srgbClr val="000000">
                <a:alpha val="8000"/>
              </a:srgbClr>
            </a:outerShdw>
          </a:effectLst>
        </p:spPr>
        <p:txBody>
          <a:bodyPr/>
          <a:lstStyle/>
          <a:p>
            <a:endParaRPr lang="en-US" sz="2400"/>
          </a:p>
        </p:txBody>
      </p:sp>
      <p:pic>
        <p:nvPicPr>
          <p:cNvPr id="23" name="Image 3" descr="preencoded.png"/>
          <p:cNvPicPr>
            <a:picLocks noChangeAspect="1"/>
          </p:cNvPicPr>
          <p:nvPr/>
        </p:nvPicPr>
        <p:blipFill>
          <a:blip r:embed="rId6"/>
          <a:stretch>
            <a:fillRect/>
          </a:stretch>
        </p:blipFill>
        <p:spPr>
          <a:xfrm>
            <a:off x="9058656" y="1341120"/>
            <a:ext cx="414528" cy="414528"/>
          </a:xfrm>
          <a:prstGeom prst="rect">
            <a:avLst/>
          </a:prstGeom>
        </p:spPr>
      </p:pic>
      <p:sp>
        <p:nvSpPr>
          <p:cNvPr id="24" name="Text 18"/>
          <p:cNvSpPr/>
          <p:nvPr/>
        </p:nvSpPr>
        <p:spPr>
          <a:xfrm>
            <a:off x="9009888" y="1840992"/>
            <a:ext cx="2535936" cy="329184"/>
          </a:xfrm>
          <a:prstGeom prst="rect">
            <a:avLst/>
          </a:prstGeom>
          <a:noFill/>
          <a:ln/>
        </p:spPr>
        <p:txBody>
          <a:bodyPr wrap="square" lIns="0" tIns="0" rIns="0" bIns="0" rtlCol="0" anchor="ctr"/>
          <a:lstStyle/>
          <a:p>
            <a:r>
              <a:rPr lang="en-US" sz="1467" b="1">
                <a:solidFill>
                  <a:srgbClr val="1A1A2E"/>
                </a:solidFill>
                <a:latin typeface="Oswald" panose="00000500000000000000" pitchFamily="2" charset="0"/>
                <a:ea typeface="Calibri" pitchFamily="34" charset="-122"/>
                <a:cs typeface="Calibri" pitchFamily="34" charset="-120"/>
              </a:rPr>
              <a:t>AI-First L&amp;D</a:t>
            </a:r>
            <a:endParaRPr lang="en-US" sz="1467">
              <a:latin typeface="Oswald" panose="00000500000000000000" pitchFamily="2" charset="0"/>
            </a:endParaRPr>
          </a:p>
        </p:txBody>
      </p:sp>
      <p:sp>
        <p:nvSpPr>
          <p:cNvPr id="25" name="Text 19"/>
          <p:cNvSpPr/>
          <p:nvPr/>
        </p:nvSpPr>
        <p:spPr>
          <a:xfrm>
            <a:off x="9009888" y="2182368"/>
            <a:ext cx="2535936" cy="853440"/>
          </a:xfrm>
          <a:prstGeom prst="rect">
            <a:avLst/>
          </a:prstGeom>
          <a:noFill/>
          <a:ln/>
        </p:spPr>
        <p:txBody>
          <a:bodyPr wrap="square" lIns="0" tIns="0" rIns="0" bIns="0" rtlCol="0" anchor="ctr"/>
          <a:lstStyle/>
          <a:p>
            <a:pPr>
              <a:lnSpc>
                <a:spcPct val="125000"/>
              </a:lnSpc>
            </a:pPr>
            <a:r>
              <a:rPr lang="en-US" sz="1133">
                <a:solidFill>
                  <a:srgbClr val="555555"/>
                </a:solidFill>
                <a:latin typeface="Raleway" pitchFamily="2" charset="0"/>
                <a:ea typeface="Calibri" pitchFamily="34" charset="-122"/>
                <a:cs typeface="Calibri" pitchFamily="34" charset="-120"/>
              </a:rPr>
              <a:t>Continuous upskilling via J2W </a:t>
            </a:r>
            <a:r>
              <a:rPr lang="en-US" sz="1133" err="1">
                <a:solidFill>
                  <a:srgbClr val="555555"/>
                </a:solidFill>
                <a:latin typeface="Raleway" pitchFamily="2" charset="0"/>
                <a:ea typeface="Calibri" pitchFamily="34" charset="-122"/>
                <a:cs typeface="Calibri" pitchFamily="34" charset="-120"/>
              </a:rPr>
              <a:t>CoE</a:t>
            </a:r>
            <a:r>
              <a:rPr lang="en-US" sz="1133">
                <a:solidFill>
                  <a:srgbClr val="555555"/>
                </a:solidFill>
                <a:latin typeface="Raleway" pitchFamily="2" charset="0"/>
                <a:ea typeface="Calibri" pitchFamily="34" charset="-122"/>
                <a:cs typeface="Calibri" pitchFamily="34" charset="-120"/>
              </a:rPr>
              <a:t> - contextual, hands-on AI training powered by Research Wing.</a:t>
            </a:r>
            <a:endParaRPr lang="en-US" sz="1133">
              <a:latin typeface="Raleway" pitchFamily="2" charset="0"/>
            </a:endParaRPr>
          </a:p>
        </p:txBody>
      </p:sp>
      <p:sp>
        <p:nvSpPr>
          <p:cNvPr id="26" name="Text 20"/>
          <p:cNvSpPr/>
          <p:nvPr/>
        </p:nvSpPr>
        <p:spPr>
          <a:xfrm>
            <a:off x="341376" y="3291840"/>
            <a:ext cx="2560320"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Dimension</a:t>
            </a:r>
            <a:endParaRPr lang="en-US" sz="1267">
              <a:latin typeface="Raleway" pitchFamily="2" charset="0"/>
            </a:endParaRPr>
          </a:p>
        </p:txBody>
      </p:sp>
      <p:sp>
        <p:nvSpPr>
          <p:cNvPr id="27" name="Text 21"/>
          <p:cNvSpPr/>
          <p:nvPr/>
        </p:nvSpPr>
        <p:spPr>
          <a:xfrm>
            <a:off x="2901696" y="3291840"/>
            <a:ext cx="4023360"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Traditional Staffing</a:t>
            </a:r>
            <a:endParaRPr lang="en-US" sz="1267">
              <a:latin typeface="Raleway" pitchFamily="2" charset="0"/>
            </a:endParaRPr>
          </a:p>
        </p:txBody>
      </p:sp>
      <p:sp>
        <p:nvSpPr>
          <p:cNvPr id="28" name="Text 22"/>
          <p:cNvSpPr/>
          <p:nvPr/>
        </p:nvSpPr>
        <p:spPr>
          <a:xfrm>
            <a:off x="6925056" y="3291840"/>
            <a:ext cx="4949952" cy="390144"/>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J2W Workforce</a:t>
            </a:r>
            <a:endParaRPr lang="en-US" sz="1267">
              <a:latin typeface="Raleway" pitchFamily="2" charset="0"/>
            </a:endParaRPr>
          </a:p>
        </p:txBody>
      </p:sp>
      <p:sp>
        <p:nvSpPr>
          <p:cNvPr id="29" name="Shape 23"/>
          <p:cNvSpPr/>
          <p:nvPr/>
        </p:nvSpPr>
        <p:spPr>
          <a:xfrm>
            <a:off x="219456" y="3681984"/>
            <a:ext cx="11533632" cy="0"/>
          </a:xfrm>
          <a:prstGeom prst="line">
            <a:avLst/>
          </a:prstGeom>
          <a:noFill/>
          <a:ln w="9525">
            <a:solidFill>
              <a:srgbClr val="0D9488"/>
            </a:solidFill>
            <a:prstDash val="solid"/>
          </a:ln>
        </p:spPr>
        <p:txBody>
          <a:bodyPr/>
          <a:lstStyle/>
          <a:p>
            <a:endParaRPr lang="en-US" sz="2400"/>
          </a:p>
        </p:txBody>
      </p:sp>
      <p:sp>
        <p:nvSpPr>
          <p:cNvPr id="30" name="Shape 24"/>
          <p:cNvSpPr/>
          <p:nvPr/>
        </p:nvSpPr>
        <p:spPr>
          <a:xfrm>
            <a:off x="219456" y="3681984"/>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31" name="Text 25"/>
          <p:cNvSpPr/>
          <p:nvPr/>
        </p:nvSpPr>
        <p:spPr>
          <a:xfrm>
            <a:off x="341376" y="3730752"/>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Speed to Deploy</a:t>
            </a:r>
            <a:endParaRPr lang="en-US" sz="1267">
              <a:latin typeface="Raleway" pitchFamily="2" charset="0"/>
            </a:endParaRPr>
          </a:p>
        </p:txBody>
      </p:sp>
      <p:sp>
        <p:nvSpPr>
          <p:cNvPr id="32" name="Text 26"/>
          <p:cNvSpPr/>
          <p:nvPr/>
        </p:nvSpPr>
        <p:spPr>
          <a:xfrm>
            <a:off x="2901696" y="3730752"/>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Weeks to months</a:t>
            </a:r>
            <a:endParaRPr lang="en-US" sz="1267">
              <a:latin typeface="Raleway" pitchFamily="2" charset="0"/>
            </a:endParaRPr>
          </a:p>
        </p:txBody>
      </p:sp>
      <p:pic>
        <p:nvPicPr>
          <p:cNvPr id="33" name="Image 4" descr="preencoded.png"/>
          <p:cNvPicPr>
            <a:picLocks noChangeAspect="1"/>
          </p:cNvPicPr>
          <p:nvPr/>
        </p:nvPicPr>
        <p:blipFill>
          <a:blip r:embed="rId7"/>
          <a:stretch>
            <a:fillRect/>
          </a:stretch>
        </p:blipFill>
        <p:spPr>
          <a:xfrm>
            <a:off x="6900672" y="3791712"/>
            <a:ext cx="219456" cy="219456"/>
          </a:xfrm>
          <a:prstGeom prst="rect">
            <a:avLst/>
          </a:prstGeom>
        </p:spPr>
      </p:pic>
      <p:sp>
        <p:nvSpPr>
          <p:cNvPr id="34" name="Text 27"/>
          <p:cNvSpPr/>
          <p:nvPr/>
        </p:nvSpPr>
        <p:spPr>
          <a:xfrm>
            <a:off x="7193280" y="3730752"/>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1 engineer onboarded per hour</a:t>
            </a:r>
            <a:endParaRPr lang="en-US" sz="1267">
              <a:latin typeface="Raleway" pitchFamily="2" charset="0"/>
            </a:endParaRPr>
          </a:p>
        </p:txBody>
      </p:sp>
      <p:sp>
        <p:nvSpPr>
          <p:cNvPr id="35" name="Shape 28"/>
          <p:cNvSpPr/>
          <p:nvPr/>
        </p:nvSpPr>
        <p:spPr>
          <a:xfrm>
            <a:off x="219456" y="4114800"/>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36" name="Text 29"/>
          <p:cNvSpPr/>
          <p:nvPr/>
        </p:nvSpPr>
        <p:spPr>
          <a:xfrm>
            <a:off x="341376" y="4163568"/>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Team Composition</a:t>
            </a:r>
            <a:endParaRPr lang="en-US" sz="1267">
              <a:latin typeface="Raleway" pitchFamily="2" charset="0"/>
            </a:endParaRPr>
          </a:p>
        </p:txBody>
      </p:sp>
      <p:sp>
        <p:nvSpPr>
          <p:cNvPr id="37" name="Text 30"/>
          <p:cNvSpPr/>
          <p:nvPr/>
        </p:nvSpPr>
        <p:spPr>
          <a:xfrm>
            <a:off x="2901696" y="4163568"/>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Single-role profile deployments</a:t>
            </a:r>
            <a:endParaRPr lang="en-US" sz="1267">
              <a:latin typeface="Raleway" pitchFamily="2" charset="0"/>
            </a:endParaRPr>
          </a:p>
        </p:txBody>
      </p:sp>
      <p:pic>
        <p:nvPicPr>
          <p:cNvPr id="38" name="Image 5" descr="preencoded.png"/>
          <p:cNvPicPr>
            <a:picLocks noChangeAspect="1"/>
          </p:cNvPicPr>
          <p:nvPr/>
        </p:nvPicPr>
        <p:blipFill>
          <a:blip r:embed="rId7"/>
          <a:stretch>
            <a:fillRect/>
          </a:stretch>
        </p:blipFill>
        <p:spPr>
          <a:xfrm>
            <a:off x="6900672" y="4224528"/>
            <a:ext cx="219456" cy="219456"/>
          </a:xfrm>
          <a:prstGeom prst="rect">
            <a:avLst/>
          </a:prstGeom>
        </p:spPr>
      </p:pic>
      <p:sp>
        <p:nvSpPr>
          <p:cNvPr id="39" name="Text 31"/>
          <p:cNvSpPr/>
          <p:nvPr/>
        </p:nvSpPr>
        <p:spPr>
          <a:xfrm>
            <a:off x="7193280" y="4163568"/>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Human + AI blended capability stacks</a:t>
            </a:r>
            <a:endParaRPr lang="en-US" sz="1267">
              <a:latin typeface="Raleway" pitchFamily="2" charset="0"/>
            </a:endParaRPr>
          </a:p>
        </p:txBody>
      </p:sp>
      <p:sp>
        <p:nvSpPr>
          <p:cNvPr id="40" name="Shape 32"/>
          <p:cNvSpPr/>
          <p:nvPr/>
        </p:nvSpPr>
        <p:spPr>
          <a:xfrm>
            <a:off x="219456" y="4547616"/>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41" name="Text 33"/>
          <p:cNvSpPr/>
          <p:nvPr/>
        </p:nvSpPr>
        <p:spPr>
          <a:xfrm>
            <a:off x="341376" y="4596384"/>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Governance</a:t>
            </a:r>
            <a:endParaRPr lang="en-US" sz="1267">
              <a:latin typeface="Raleway" pitchFamily="2" charset="0"/>
            </a:endParaRPr>
          </a:p>
        </p:txBody>
      </p:sp>
      <p:sp>
        <p:nvSpPr>
          <p:cNvPr id="42" name="Text 34"/>
          <p:cNvSpPr/>
          <p:nvPr/>
        </p:nvSpPr>
        <p:spPr>
          <a:xfrm>
            <a:off x="2901696" y="4596384"/>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Client's burden</a:t>
            </a:r>
            <a:endParaRPr lang="en-US" sz="1267">
              <a:latin typeface="Raleway" pitchFamily="2" charset="0"/>
            </a:endParaRPr>
          </a:p>
        </p:txBody>
      </p:sp>
      <p:pic>
        <p:nvPicPr>
          <p:cNvPr id="43" name="Image 6" descr="preencoded.png"/>
          <p:cNvPicPr>
            <a:picLocks noChangeAspect="1"/>
          </p:cNvPicPr>
          <p:nvPr/>
        </p:nvPicPr>
        <p:blipFill>
          <a:blip r:embed="rId7"/>
          <a:stretch>
            <a:fillRect/>
          </a:stretch>
        </p:blipFill>
        <p:spPr>
          <a:xfrm>
            <a:off x="6900672" y="4657344"/>
            <a:ext cx="219456" cy="219456"/>
          </a:xfrm>
          <a:prstGeom prst="rect">
            <a:avLst/>
          </a:prstGeom>
        </p:spPr>
      </p:pic>
      <p:sp>
        <p:nvSpPr>
          <p:cNvPr id="44" name="Text 35"/>
          <p:cNvSpPr/>
          <p:nvPr/>
        </p:nvSpPr>
        <p:spPr>
          <a:xfrm>
            <a:off x="7193280" y="4596384"/>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J2W-owned - HRBP implant at every site</a:t>
            </a:r>
            <a:endParaRPr lang="en-US" sz="1267">
              <a:latin typeface="Raleway" pitchFamily="2" charset="0"/>
            </a:endParaRPr>
          </a:p>
        </p:txBody>
      </p:sp>
      <p:sp>
        <p:nvSpPr>
          <p:cNvPr id="45" name="Shape 36"/>
          <p:cNvSpPr/>
          <p:nvPr/>
        </p:nvSpPr>
        <p:spPr>
          <a:xfrm>
            <a:off x="219456" y="4980432"/>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46" name="Text 37"/>
          <p:cNvSpPr/>
          <p:nvPr/>
        </p:nvSpPr>
        <p:spPr>
          <a:xfrm>
            <a:off x="341376" y="5029200"/>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Performance Issues</a:t>
            </a:r>
            <a:endParaRPr lang="en-US" sz="1267">
              <a:latin typeface="Raleway" pitchFamily="2" charset="0"/>
            </a:endParaRPr>
          </a:p>
        </p:txBody>
      </p:sp>
      <p:sp>
        <p:nvSpPr>
          <p:cNvPr id="47" name="Text 38"/>
          <p:cNvSpPr/>
          <p:nvPr/>
        </p:nvSpPr>
        <p:spPr>
          <a:xfrm>
            <a:off x="2901696" y="5029200"/>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Escalation after the fact</a:t>
            </a:r>
            <a:endParaRPr lang="en-US" sz="1267">
              <a:latin typeface="Raleway" pitchFamily="2" charset="0"/>
            </a:endParaRPr>
          </a:p>
        </p:txBody>
      </p:sp>
      <p:pic>
        <p:nvPicPr>
          <p:cNvPr id="48" name="Image 7" descr="preencoded.png"/>
          <p:cNvPicPr>
            <a:picLocks noChangeAspect="1"/>
          </p:cNvPicPr>
          <p:nvPr/>
        </p:nvPicPr>
        <p:blipFill>
          <a:blip r:embed="rId7"/>
          <a:stretch>
            <a:fillRect/>
          </a:stretch>
        </p:blipFill>
        <p:spPr>
          <a:xfrm>
            <a:off x="6900672" y="5090160"/>
            <a:ext cx="219456" cy="219456"/>
          </a:xfrm>
          <a:prstGeom prst="rect">
            <a:avLst/>
          </a:prstGeom>
        </p:spPr>
      </p:pic>
      <p:sp>
        <p:nvSpPr>
          <p:cNvPr id="49" name="Text 39"/>
          <p:cNvSpPr/>
          <p:nvPr/>
        </p:nvSpPr>
        <p:spPr>
          <a:xfrm>
            <a:off x="7193280" y="5029200"/>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Proactive monitoring &amp; intervention</a:t>
            </a:r>
            <a:endParaRPr lang="en-US" sz="1267">
              <a:latin typeface="Raleway" pitchFamily="2" charset="0"/>
            </a:endParaRPr>
          </a:p>
        </p:txBody>
      </p:sp>
      <p:sp>
        <p:nvSpPr>
          <p:cNvPr id="50" name="Shape 40"/>
          <p:cNvSpPr/>
          <p:nvPr/>
        </p:nvSpPr>
        <p:spPr>
          <a:xfrm>
            <a:off x="219456" y="5413248"/>
            <a:ext cx="11533632" cy="432816"/>
          </a:xfrm>
          <a:prstGeom prst="rect">
            <a:avLst/>
          </a:prstGeom>
          <a:solidFill>
            <a:srgbClr val="FFFFFF"/>
          </a:solidFill>
          <a:ln w="6350">
            <a:solidFill>
              <a:srgbClr val="E2F0EF"/>
            </a:solidFill>
            <a:prstDash val="solid"/>
          </a:ln>
        </p:spPr>
        <p:txBody>
          <a:bodyPr/>
          <a:lstStyle/>
          <a:p>
            <a:endParaRPr lang="en-US" sz="2400"/>
          </a:p>
        </p:txBody>
      </p:sp>
      <p:sp>
        <p:nvSpPr>
          <p:cNvPr id="51" name="Text 41"/>
          <p:cNvSpPr/>
          <p:nvPr/>
        </p:nvSpPr>
        <p:spPr>
          <a:xfrm>
            <a:off x="341376" y="5462016"/>
            <a:ext cx="2377440" cy="335280"/>
          </a:xfrm>
          <a:prstGeom prst="rect">
            <a:avLst/>
          </a:prstGeom>
          <a:noFill/>
          <a:ln/>
        </p:spPr>
        <p:txBody>
          <a:bodyPr wrap="square" lIns="0" tIns="0" rIns="0" bIns="0" rtlCol="0" anchor="ctr"/>
          <a:lstStyle/>
          <a:p>
            <a:r>
              <a:rPr lang="en-US" sz="1267" b="1">
                <a:solidFill>
                  <a:srgbClr val="1A1A2E"/>
                </a:solidFill>
                <a:latin typeface="Raleway" pitchFamily="2" charset="0"/>
                <a:ea typeface="Calibri" pitchFamily="34" charset="-122"/>
                <a:cs typeface="Calibri" pitchFamily="34" charset="-120"/>
              </a:rPr>
              <a:t>Knowledge Retention</a:t>
            </a:r>
            <a:endParaRPr lang="en-US" sz="1267">
              <a:latin typeface="Raleway" pitchFamily="2" charset="0"/>
            </a:endParaRPr>
          </a:p>
        </p:txBody>
      </p:sp>
      <p:sp>
        <p:nvSpPr>
          <p:cNvPr id="52" name="Text 42"/>
          <p:cNvSpPr/>
          <p:nvPr/>
        </p:nvSpPr>
        <p:spPr>
          <a:xfrm>
            <a:off x="2901696" y="5462016"/>
            <a:ext cx="3840480" cy="335280"/>
          </a:xfrm>
          <a:prstGeom prst="rect">
            <a:avLst/>
          </a:prstGeom>
          <a:noFill/>
          <a:ln/>
        </p:spPr>
        <p:txBody>
          <a:bodyPr wrap="square" lIns="0" tIns="0" rIns="0" bIns="0" rtlCol="0" anchor="ctr"/>
          <a:lstStyle/>
          <a:p>
            <a:r>
              <a:rPr lang="en-US" sz="1267">
                <a:solidFill>
                  <a:srgbClr val="888888"/>
                </a:solidFill>
                <a:latin typeface="Raleway" pitchFamily="2" charset="0"/>
                <a:ea typeface="Calibri" pitchFamily="34" charset="-122"/>
                <a:cs typeface="Calibri" pitchFamily="34" charset="-120"/>
              </a:rPr>
              <a:t>Lost with attrition</a:t>
            </a:r>
            <a:endParaRPr lang="en-US" sz="1267">
              <a:latin typeface="Raleway" pitchFamily="2" charset="0"/>
            </a:endParaRPr>
          </a:p>
        </p:txBody>
      </p:sp>
      <p:pic>
        <p:nvPicPr>
          <p:cNvPr id="53" name="Image 8" descr="preencoded.png"/>
          <p:cNvPicPr>
            <a:picLocks noChangeAspect="1"/>
          </p:cNvPicPr>
          <p:nvPr/>
        </p:nvPicPr>
        <p:blipFill>
          <a:blip r:embed="rId7"/>
          <a:stretch>
            <a:fillRect/>
          </a:stretch>
        </p:blipFill>
        <p:spPr>
          <a:xfrm>
            <a:off x="6900672" y="5522976"/>
            <a:ext cx="219456" cy="219456"/>
          </a:xfrm>
          <a:prstGeom prst="rect">
            <a:avLst/>
          </a:prstGeom>
        </p:spPr>
      </p:pic>
      <p:sp>
        <p:nvSpPr>
          <p:cNvPr id="54" name="Text 43"/>
          <p:cNvSpPr/>
          <p:nvPr/>
        </p:nvSpPr>
        <p:spPr>
          <a:xfrm>
            <a:off x="7193280" y="5462016"/>
            <a:ext cx="4437888" cy="335280"/>
          </a:xfrm>
          <a:prstGeom prst="rect">
            <a:avLst/>
          </a:prstGeom>
          <a:noFill/>
          <a:ln/>
        </p:spPr>
        <p:txBody>
          <a:bodyPr wrap="square" lIns="0" tIns="0" rIns="0" bIns="0" rtlCol="0" anchor="ctr"/>
          <a:lstStyle/>
          <a:p>
            <a:r>
              <a:rPr lang="en-US" sz="1267" b="1">
                <a:solidFill>
                  <a:srgbClr val="0D9488"/>
                </a:solidFill>
                <a:latin typeface="Raleway" pitchFamily="2" charset="0"/>
                <a:ea typeface="Calibri" pitchFamily="34" charset="-122"/>
                <a:cs typeface="Calibri" pitchFamily="34" charset="-120"/>
              </a:rPr>
              <a:t>Captured in J2W Knowledge Repository</a:t>
            </a:r>
            <a:endParaRPr lang="en-US" sz="1267">
              <a:latin typeface="Raleway" pitchFamily="2" charset="0"/>
            </a:endParaRPr>
          </a:p>
        </p:txBody>
      </p:sp>
      <p:sp>
        <p:nvSpPr>
          <p:cNvPr id="55" name="Shape 44"/>
          <p:cNvSpPr/>
          <p:nvPr/>
        </p:nvSpPr>
        <p:spPr>
          <a:xfrm>
            <a:off x="219456" y="5846064"/>
            <a:ext cx="11533632" cy="432816"/>
          </a:xfrm>
          <a:prstGeom prst="rect">
            <a:avLst/>
          </a:prstGeom>
          <a:solidFill>
            <a:srgbClr val="F0FAFA"/>
          </a:solidFill>
          <a:ln w="6350">
            <a:solidFill>
              <a:srgbClr val="E2F0EF"/>
            </a:solidFill>
            <a:prstDash val="solid"/>
          </a:ln>
        </p:spPr>
        <p:txBody>
          <a:bodyPr/>
          <a:lstStyle/>
          <a:p>
            <a:endParaRPr lang="en-US" sz="2400"/>
          </a:p>
        </p:txBody>
      </p:sp>
      <p:sp>
        <p:nvSpPr>
          <p:cNvPr id="56" name="Text 45"/>
          <p:cNvSpPr/>
          <p:nvPr/>
        </p:nvSpPr>
        <p:spPr>
          <a:xfrm>
            <a:off x="341376" y="5894832"/>
            <a:ext cx="2377440" cy="335280"/>
          </a:xfrm>
          <a:prstGeom prst="rect">
            <a:avLst/>
          </a:prstGeom>
          <a:noFill/>
          <a:ln/>
        </p:spPr>
        <p:txBody>
          <a:bodyPr wrap="square" lIns="0" tIns="0" rIns="0" bIns="0" rtlCol="0" anchor="ctr"/>
          <a:lstStyle/>
          <a:p>
            <a:r>
              <a:rPr lang="en-US" sz="1267" b="1">
                <a:solidFill>
                  <a:srgbClr val="1A1A2E"/>
                </a:solidFill>
                <a:latin typeface="Calibri" pitchFamily="34" charset="0"/>
                <a:ea typeface="Calibri" pitchFamily="34" charset="-122"/>
                <a:cs typeface="Calibri" pitchFamily="34" charset="-120"/>
              </a:rPr>
              <a:t>AI Readiness</a:t>
            </a:r>
            <a:endParaRPr lang="en-US" sz="1267"/>
          </a:p>
        </p:txBody>
      </p:sp>
      <p:sp>
        <p:nvSpPr>
          <p:cNvPr id="57" name="Text 46"/>
          <p:cNvSpPr/>
          <p:nvPr/>
        </p:nvSpPr>
        <p:spPr>
          <a:xfrm>
            <a:off x="2901696" y="5894832"/>
            <a:ext cx="3840480" cy="335280"/>
          </a:xfrm>
          <a:prstGeom prst="rect">
            <a:avLst/>
          </a:prstGeom>
          <a:noFill/>
          <a:ln/>
        </p:spPr>
        <p:txBody>
          <a:bodyPr wrap="square" lIns="0" tIns="0" rIns="0" bIns="0" rtlCol="0" anchor="ctr"/>
          <a:lstStyle/>
          <a:p>
            <a:r>
              <a:rPr lang="en-US" sz="1267">
                <a:solidFill>
                  <a:srgbClr val="888888"/>
                </a:solidFill>
                <a:latin typeface="Calibri" pitchFamily="34" charset="0"/>
                <a:ea typeface="Calibri" pitchFamily="34" charset="-122"/>
                <a:cs typeface="Calibri" pitchFamily="34" charset="-120"/>
              </a:rPr>
              <a:t>Ad hoc</a:t>
            </a:r>
            <a:endParaRPr lang="en-US" sz="1267"/>
          </a:p>
        </p:txBody>
      </p:sp>
      <p:pic>
        <p:nvPicPr>
          <p:cNvPr id="58" name="Image 9" descr="preencoded.png"/>
          <p:cNvPicPr>
            <a:picLocks noChangeAspect="1"/>
          </p:cNvPicPr>
          <p:nvPr/>
        </p:nvPicPr>
        <p:blipFill>
          <a:blip r:embed="rId7"/>
          <a:stretch>
            <a:fillRect/>
          </a:stretch>
        </p:blipFill>
        <p:spPr>
          <a:xfrm>
            <a:off x="6900672" y="5955792"/>
            <a:ext cx="219456" cy="219456"/>
          </a:xfrm>
          <a:prstGeom prst="rect">
            <a:avLst/>
          </a:prstGeom>
        </p:spPr>
      </p:pic>
      <p:sp>
        <p:nvSpPr>
          <p:cNvPr id="59" name="Text 47"/>
          <p:cNvSpPr/>
          <p:nvPr/>
        </p:nvSpPr>
        <p:spPr>
          <a:xfrm>
            <a:off x="7193280" y="5894832"/>
            <a:ext cx="4437888" cy="335280"/>
          </a:xfrm>
          <a:prstGeom prst="rect">
            <a:avLst/>
          </a:prstGeom>
          <a:noFill/>
          <a:ln/>
        </p:spPr>
        <p:txBody>
          <a:bodyPr wrap="square" lIns="0" tIns="0" rIns="0" bIns="0" rtlCol="0" anchor="ctr"/>
          <a:lstStyle/>
          <a:p>
            <a:r>
              <a:rPr lang="en-US" sz="1267" b="1">
                <a:solidFill>
                  <a:srgbClr val="C0392B"/>
                </a:solidFill>
                <a:latin typeface="Raleway" pitchFamily="2" charset="0"/>
                <a:ea typeface="Calibri" pitchFamily="34" charset="-122"/>
                <a:cs typeface="Calibri" pitchFamily="34" charset="-120"/>
              </a:rPr>
              <a:t>Embedded from Day 1</a:t>
            </a:r>
            <a:endParaRPr lang="en-US" sz="1267">
              <a:latin typeface="Raleway" pitchFamily="2" charset="0"/>
            </a:endParaRPr>
          </a:p>
        </p:txBody>
      </p:sp>
      <p:sp>
        <p:nvSpPr>
          <p:cNvPr id="60" name="Shape 48"/>
          <p:cNvSpPr/>
          <p:nvPr/>
        </p:nvSpPr>
        <p:spPr>
          <a:xfrm>
            <a:off x="0" y="6352032"/>
            <a:ext cx="12192000" cy="505968"/>
          </a:xfrm>
          <a:prstGeom prst="rect">
            <a:avLst/>
          </a:prstGeom>
          <a:solidFill>
            <a:srgbClr val="0D9488"/>
          </a:solidFill>
          <a:ln w="12700">
            <a:solidFill>
              <a:srgbClr val="0D9488"/>
            </a:solidFill>
            <a:prstDash val="solid"/>
          </a:ln>
        </p:spPr>
        <p:txBody>
          <a:bodyPr/>
          <a:lstStyle/>
          <a:p>
            <a:endParaRPr lang="en-US" sz="2400"/>
          </a:p>
        </p:txBody>
      </p:sp>
      <p:sp>
        <p:nvSpPr>
          <p:cNvPr id="61" name="Text 49"/>
          <p:cNvSpPr/>
          <p:nvPr/>
        </p:nvSpPr>
        <p:spPr>
          <a:xfrm>
            <a:off x="609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5,500+</a:t>
            </a:r>
            <a:endParaRPr lang="en-US" sz="1600"/>
          </a:p>
        </p:txBody>
      </p:sp>
      <p:sp>
        <p:nvSpPr>
          <p:cNvPr id="62" name="Text 50"/>
          <p:cNvSpPr/>
          <p:nvPr/>
        </p:nvSpPr>
        <p:spPr>
          <a:xfrm>
            <a:off x="609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Active Consultants</a:t>
            </a:r>
            <a:endParaRPr lang="en-US" sz="1000"/>
          </a:p>
        </p:txBody>
      </p:sp>
      <p:sp>
        <p:nvSpPr>
          <p:cNvPr id="63" name="Shape 51"/>
          <p:cNvSpPr/>
          <p:nvPr/>
        </p:nvSpPr>
        <p:spPr>
          <a:xfrm>
            <a:off x="2438400" y="6400800"/>
            <a:ext cx="0" cy="402336"/>
          </a:xfrm>
          <a:prstGeom prst="line">
            <a:avLst/>
          </a:prstGeom>
          <a:noFill/>
          <a:ln w="6350">
            <a:solidFill>
              <a:srgbClr val="FFFFFF">
                <a:alpha val="45000"/>
              </a:srgbClr>
            </a:solidFill>
            <a:prstDash val="solid"/>
          </a:ln>
        </p:spPr>
        <p:txBody>
          <a:bodyPr/>
          <a:lstStyle/>
          <a:p>
            <a:endParaRPr lang="en-US" sz="2400"/>
          </a:p>
        </p:txBody>
      </p:sp>
      <p:sp>
        <p:nvSpPr>
          <p:cNvPr id="64" name="Text 52"/>
          <p:cNvSpPr/>
          <p:nvPr/>
        </p:nvSpPr>
        <p:spPr>
          <a:xfrm>
            <a:off x="24993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1,250+</a:t>
            </a:r>
            <a:endParaRPr lang="en-US" sz="1600"/>
          </a:p>
        </p:txBody>
      </p:sp>
      <p:sp>
        <p:nvSpPr>
          <p:cNvPr id="65" name="Text 53"/>
          <p:cNvSpPr/>
          <p:nvPr/>
        </p:nvSpPr>
        <p:spPr>
          <a:xfrm>
            <a:off x="24993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Skills Covered</a:t>
            </a:r>
            <a:endParaRPr lang="en-US" sz="1000"/>
          </a:p>
        </p:txBody>
      </p:sp>
      <p:sp>
        <p:nvSpPr>
          <p:cNvPr id="66" name="Shape 54"/>
          <p:cNvSpPr/>
          <p:nvPr/>
        </p:nvSpPr>
        <p:spPr>
          <a:xfrm>
            <a:off x="4876800" y="6400800"/>
            <a:ext cx="0" cy="402336"/>
          </a:xfrm>
          <a:prstGeom prst="line">
            <a:avLst/>
          </a:prstGeom>
          <a:noFill/>
          <a:ln w="6350">
            <a:solidFill>
              <a:srgbClr val="FFFFFF">
                <a:alpha val="45000"/>
              </a:srgbClr>
            </a:solidFill>
            <a:prstDash val="solid"/>
          </a:ln>
        </p:spPr>
        <p:txBody>
          <a:bodyPr/>
          <a:lstStyle/>
          <a:p>
            <a:endParaRPr lang="en-US" sz="2400"/>
          </a:p>
        </p:txBody>
      </p:sp>
      <p:sp>
        <p:nvSpPr>
          <p:cNvPr id="67" name="Text 55"/>
          <p:cNvSpPr/>
          <p:nvPr/>
        </p:nvSpPr>
        <p:spPr>
          <a:xfrm>
            <a:off x="49377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320+</a:t>
            </a:r>
            <a:endParaRPr lang="en-US" sz="1600"/>
          </a:p>
        </p:txBody>
      </p:sp>
      <p:sp>
        <p:nvSpPr>
          <p:cNvPr id="68" name="Text 56"/>
          <p:cNvSpPr/>
          <p:nvPr/>
        </p:nvSpPr>
        <p:spPr>
          <a:xfrm>
            <a:off x="49377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Enterprise Clients</a:t>
            </a:r>
            <a:endParaRPr lang="en-US" sz="1000"/>
          </a:p>
        </p:txBody>
      </p:sp>
      <p:sp>
        <p:nvSpPr>
          <p:cNvPr id="69" name="Shape 57"/>
          <p:cNvSpPr/>
          <p:nvPr/>
        </p:nvSpPr>
        <p:spPr>
          <a:xfrm>
            <a:off x="7315200" y="6400800"/>
            <a:ext cx="0" cy="402336"/>
          </a:xfrm>
          <a:prstGeom prst="line">
            <a:avLst/>
          </a:prstGeom>
          <a:noFill/>
          <a:ln w="6350">
            <a:solidFill>
              <a:srgbClr val="FFFFFF">
                <a:alpha val="45000"/>
              </a:srgbClr>
            </a:solidFill>
            <a:prstDash val="solid"/>
          </a:ln>
        </p:spPr>
        <p:txBody>
          <a:bodyPr/>
          <a:lstStyle/>
          <a:p>
            <a:endParaRPr lang="en-US" sz="2400"/>
          </a:p>
        </p:txBody>
      </p:sp>
      <p:sp>
        <p:nvSpPr>
          <p:cNvPr id="70" name="Text 58"/>
          <p:cNvSpPr/>
          <p:nvPr/>
        </p:nvSpPr>
        <p:spPr>
          <a:xfrm>
            <a:off x="73761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0%</a:t>
            </a:r>
            <a:endParaRPr lang="en-US" sz="1600"/>
          </a:p>
        </p:txBody>
      </p:sp>
      <p:sp>
        <p:nvSpPr>
          <p:cNvPr id="71" name="Text 59"/>
          <p:cNvSpPr/>
          <p:nvPr/>
        </p:nvSpPr>
        <p:spPr>
          <a:xfrm>
            <a:off x="73761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Attrition (6-Mo Pilot)</a:t>
            </a:r>
            <a:endParaRPr lang="en-US" sz="1000"/>
          </a:p>
        </p:txBody>
      </p:sp>
      <p:sp>
        <p:nvSpPr>
          <p:cNvPr id="72" name="Shape 60"/>
          <p:cNvSpPr/>
          <p:nvPr/>
        </p:nvSpPr>
        <p:spPr>
          <a:xfrm>
            <a:off x="9753600" y="6400800"/>
            <a:ext cx="0" cy="402336"/>
          </a:xfrm>
          <a:prstGeom prst="line">
            <a:avLst/>
          </a:prstGeom>
          <a:noFill/>
          <a:ln w="6350">
            <a:solidFill>
              <a:srgbClr val="FFFFFF">
                <a:alpha val="45000"/>
              </a:srgbClr>
            </a:solidFill>
            <a:prstDash val="solid"/>
          </a:ln>
        </p:spPr>
        <p:txBody>
          <a:bodyPr/>
          <a:lstStyle/>
          <a:p>
            <a:endParaRPr lang="en-US" sz="2400"/>
          </a:p>
        </p:txBody>
      </p:sp>
      <p:sp>
        <p:nvSpPr>
          <p:cNvPr id="73" name="Text 61"/>
          <p:cNvSpPr/>
          <p:nvPr/>
        </p:nvSpPr>
        <p:spPr>
          <a:xfrm>
            <a:off x="9814560" y="6364224"/>
            <a:ext cx="2316480" cy="268224"/>
          </a:xfrm>
          <a:prstGeom prst="rect">
            <a:avLst/>
          </a:prstGeom>
          <a:noFill/>
          <a:ln/>
        </p:spPr>
        <p:txBody>
          <a:bodyPr wrap="square" lIns="0" tIns="0" rIns="0" bIns="0" rtlCol="0" anchor="ctr"/>
          <a:lstStyle/>
          <a:p>
            <a:pPr algn="ctr"/>
            <a:r>
              <a:rPr lang="en-US" sz="1600" b="1">
                <a:solidFill>
                  <a:srgbClr val="FFFFFF"/>
                </a:solidFill>
                <a:latin typeface="Calibri" pitchFamily="34" charset="0"/>
                <a:ea typeface="Calibri" pitchFamily="34" charset="-122"/>
                <a:cs typeface="Calibri" pitchFamily="34" charset="-120"/>
              </a:rPr>
              <a:t>1/hr</a:t>
            </a:r>
            <a:endParaRPr lang="en-US" sz="1600"/>
          </a:p>
        </p:txBody>
      </p:sp>
      <p:sp>
        <p:nvSpPr>
          <p:cNvPr id="74" name="Text 62"/>
          <p:cNvSpPr/>
          <p:nvPr/>
        </p:nvSpPr>
        <p:spPr>
          <a:xfrm>
            <a:off x="9814560" y="6620256"/>
            <a:ext cx="2316480" cy="207264"/>
          </a:xfrm>
          <a:prstGeom prst="rect">
            <a:avLst/>
          </a:prstGeom>
          <a:noFill/>
          <a:ln/>
        </p:spPr>
        <p:txBody>
          <a:bodyPr wrap="square" lIns="0" tIns="0" rIns="0" bIns="0" rtlCol="0" anchor="ctr"/>
          <a:lstStyle/>
          <a:p>
            <a:pPr algn="ctr"/>
            <a:r>
              <a:rPr lang="en-US" sz="1000">
                <a:solidFill>
                  <a:srgbClr val="D0F5F0"/>
                </a:solidFill>
                <a:latin typeface="Calibri" pitchFamily="34" charset="0"/>
                <a:ea typeface="Calibri" pitchFamily="34" charset="-122"/>
                <a:cs typeface="Calibri" pitchFamily="34" charset="-120"/>
              </a:rPr>
              <a:t>Engineers Onboarded</a:t>
            </a:r>
            <a:endParaRPr lang="en-US" sz="1000"/>
          </a:p>
        </p:txBody>
      </p:sp>
      <p:pic>
        <p:nvPicPr>
          <p:cNvPr id="75" name="Image 0" descr="preencoded.png">
            <a:extLst>
              <a:ext uri="{FF2B5EF4-FFF2-40B4-BE49-F238E27FC236}">
                <a16:creationId xmlns:a16="http://schemas.microsoft.com/office/drawing/2014/main" id="{FAFFF64B-DC76-00D4-DDA1-C18459247824}"/>
              </a:ext>
            </a:extLst>
          </p:cNvPr>
          <p:cNvPicPr>
            <a:picLocks noChangeAspect="1"/>
          </p:cNvPicPr>
          <p:nvPr/>
        </p:nvPicPr>
        <p:blipFill>
          <a:blip r:embed="rId8"/>
          <a:srcRect l="-207" r="-207"/>
          <a:stretch/>
        </p:blipFill>
        <p:spPr>
          <a:xfrm>
            <a:off x="0" y="0"/>
            <a:ext cx="4058107" cy="75895"/>
          </a:xfrm>
          <a:prstGeom prst="rect">
            <a:avLst/>
          </a:prstGeom>
        </p:spPr>
      </p:pic>
      <p:pic>
        <p:nvPicPr>
          <p:cNvPr id="76" name="Image 1" descr="preencoded.png">
            <a:extLst>
              <a:ext uri="{FF2B5EF4-FFF2-40B4-BE49-F238E27FC236}">
                <a16:creationId xmlns:a16="http://schemas.microsoft.com/office/drawing/2014/main" id="{F02F145E-4174-DB5B-12FC-B946B2BEFC21}"/>
              </a:ext>
            </a:extLst>
          </p:cNvPr>
          <p:cNvPicPr>
            <a:picLocks noChangeAspect="1"/>
          </p:cNvPicPr>
          <p:nvPr/>
        </p:nvPicPr>
        <p:blipFill>
          <a:blip r:embed="rId9"/>
          <a:srcRect l="-202" r="-202"/>
          <a:stretch/>
        </p:blipFill>
        <p:spPr>
          <a:xfrm>
            <a:off x="4058107" y="0"/>
            <a:ext cx="8134502" cy="75895"/>
          </a:xfrm>
          <a:prstGeom prst="rect">
            <a:avLst/>
          </a:prstGeom>
        </p:spPr>
      </p:pic>
      <p:sp>
        <p:nvSpPr>
          <p:cNvPr id="77" name="Shape 2">
            <a:extLst>
              <a:ext uri="{FF2B5EF4-FFF2-40B4-BE49-F238E27FC236}">
                <a16:creationId xmlns:a16="http://schemas.microsoft.com/office/drawing/2014/main" id="{C1C503D5-DE04-F879-CDE8-91C26E3173B8}"/>
              </a:ext>
            </a:extLst>
          </p:cNvPr>
          <p:cNvSpPr/>
          <p:nvPr/>
        </p:nvSpPr>
        <p:spPr>
          <a:xfrm>
            <a:off x="-1380897" y="-1256081"/>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8" name="Image 4" descr="preencoded.png">
            <a:extLst>
              <a:ext uri="{FF2B5EF4-FFF2-40B4-BE49-F238E27FC236}">
                <a16:creationId xmlns:a16="http://schemas.microsoft.com/office/drawing/2014/main" id="{3FB3B60C-A4FF-CE53-9131-90677B3706CF}"/>
              </a:ext>
            </a:extLst>
          </p:cNvPr>
          <p:cNvPicPr>
            <a:picLocks noChangeAspect="1"/>
          </p:cNvPicPr>
          <p:nvPr/>
        </p:nvPicPr>
        <p:blipFill>
          <a:blip r:embed="rId10"/>
          <a:srcRect l="-400" r="-400"/>
          <a:stretch/>
        </p:blipFill>
        <p:spPr>
          <a:xfrm>
            <a:off x="609905" y="457200"/>
            <a:ext cx="57607" cy="457200"/>
          </a:xfrm>
          <a:prstGeom prst="rect">
            <a:avLst/>
          </a:prstGeom>
        </p:spPr>
      </p:pic>
      <p:sp>
        <p:nvSpPr>
          <p:cNvPr id="79" name="Text 11">
            <a:extLst>
              <a:ext uri="{FF2B5EF4-FFF2-40B4-BE49-F238E27FC236}">
                <a16:creationId xmlns:a16="http://schemas.microsoft.com/office/drawing/2014/main" id="{65F3FFE0-7460-C049-BC83-7BC32616A4C0}"/>
              </a:ext>
            </a:extLst>
          </p:cNvPr>
          <p:cNvSpPr txBox="1"/>
          <p:nvPr/>
        </p:nvSpPr>
        <p:spPr>
          <a:xfrm>
            <a:off x="819302" y="228600"/>
            <a:ext cx="9715500" cy="428854"/>
          </a:xfrm>
          <a:prstGeom prst="rect">
            <a:avLst/>
          </a:prstGeom>
          <a:noFill/>
          <a:ln/>
        </p:spPr>
        <p:txBody>
          <a:bodyPr wrap="square" lIns="0" tIns="0" rIns="0" bIns="0" rtlCol="0" anchor="ctr"/>
          <a:lstStyle/>
          <a:p>
            <a:r>
              <a:rPr lang="en-US" sz="3200" b="1">
                <a:solidFill>
                  <a:srgbClr val="1A1A2E"/>
                </a:solidFill>
                <a:latin typeface="Oswald" panose="00000500000000000000" pitchFamily="2" charset="0"/>
                <a:ea typeface="Calibri" pitchFamily="34" charset="-122"/>
                <a:cs typeface="Calibri" pitchFamily="34" charset="-120"/>
              </a:rPr>
              <a:t>Workforce &amp; Talent Solutions</a:t>
            </a:r>
            <a:endParaRPr lang="en-US" sz="3200">
              <a:latin typeface="Oswald" panose="00000500000000000000" pitchFamily="2" charset="0"/>
            </a:endParaRPr>
          </a:p>
        </p:txBody>
      </p:sp>
      <p:sp>
        <p:nvSpPr>
          <p:cNvPr id="80" name="Text 12">
            <a:extLst>
              <a:ext uri="{FF2B5EF4-FFF2-40B4-BE49-F238E27FC236}">
                <a16:creationId xmlns:a16="http://schemas.microsoft.com/office/drawing/2014/main" id="{830CE162-47E2-FB62-8B99-806E90C454F1}"/>
              </a:ext>
            </a:extLst>
          </p:cNvPr>
          <p:cNvSpPr txBox="1"/>
          <p:nvPr/>
        </p:nvSpPr>
        <p:spPr>
          <a:xfrm>
            <a:off x="819302" y="758952"/>
            <a:ext cx="9639605" cy="200254"/>
          </a:xfrm>
          <a:prstGeom prst="rect">
            <a:avLst/>
          </a:prstGeom>
          <a:noFill/>
          <a:ln/>
        </p:spPr>
        <p:txBody>
          <a:bodyPr wrap="square" lIns="0" tIns="0" rIns="0" bIns="0" rtlCol="0" anchor="ctr"/>
          <a:lstStyle/>
          <a:p>
            <a:pPr marL="0" indent="0" algn="l">
              <a:buNone/>
            </a:pPr>
            <a:r>
              <a:rPr lang="en-US" sz="1300" b="1" kern="0" spc="68">
                <a:solidFill>
                  <a:srgbClr val="2A9D8F"/>
                </a:solidFill>
                <a:latin typeface="Roboto Condensed" pitchFamily="34" charset="0"/>
                <a:ea typeface="Roboto Condensed" pitchFamily="34" charset="-122"/>
                <a:cs typeface="Roboto Condensed" pitchFamily="34" charset="-120"/>
              </a:rPr>
              <a:t>A MANAGED, AI-DRIVEN WORKFORCE UNIT - NOT JUST STAFFING WITH A WRAPPER.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858707" y="-952805"/>
            <a:ext cx="3810305" cy="3810305"/>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5" name="Image 0" descr="gen-dedup-debd4e3596836e8640379be3057665ef.png"/>
          <p:cNvPicPr>
            <a:picLocks noChangeAspect="1"/>
          </p:cNvPicPr>
          <p:nvPr/>
        </p:nvPicPr>
        <p:blipFill>
          <a:blip r:embed="rId3">
            <a:alphaModFix amt="6000"/>
          </a:blip>
          <a:srcRect/>
          <a:stretch/>
        </p:blipFill>
        <p:spPr>
          <a:xfrm>
            <a:off x="-761695" y="4762195"/>
            <a:ext cx="2857500" cy="2857500"/>
          </a:xfrm>
          <a:prstGeom prst="rect">
            <a:avLst/>
          </a:prstGeom>
        </p:spPr>
      </p:pic>
      <p:pic>
        <p:nvPicPr>
          <p:cNvPr id="6" name="Image 1" descr="gen-dedup-323228122ff92d2332e711a84ca3b40c.png"/>
          <p:cNvPicPr>
            <a:picLocks noChangeAspect="1"/>
          </p:cNvPicPr>
          <p:nvPr/>
        </p:nvPicPr>
        <p:blipFill>
          <a:blip r:embed="rId4"/>
          <a:srcRect l="-198" r="-198"/>
          <a:stretch/>
        </p:blipFill>
        <p:spPr>
          <a:xfrm>
            <a:off x="0" y="0"/>
            <a:ext cx="8124444" cy="75895"/>
          </a:xfrm>
          <a:prstGeom prst="rect">
            <a:avLst/>
          </a:prstGeom>
        </p:spPr>
      </p:pic>
      <p:pic>
        <p:nvPicPr>
          <p:cNvPr id="7" name="Image 2" descr="gen-dedup-9663ecf744b06e35d4c2cebaab92a2ea.png"/>
          <p:cNvPicPr>
            <a:picLocks noChangeAspect="1"/>
          </p:cNvPicPr>
          <p:nvPr/>
        </p:nvPicPr>
        <p:blipFill>
          <a:blip r:embed="rId5"/>
          <a:srcRect l="-202" r="-202"/>
          <a:stretch/>
        </p:blipFill>
        <p:spPr>
          <a:xfrm>
            <a:off x="8124444" y="0"/>
            <a:ext cx="4067251" cy="75895"/>
          </a:xfrm>
          <a:prstGeom prst="rect">
            <a:avLst/>
          </a:prstGeom>
        </p:spPr>
      </p:pic>
      <p:pic>
        <p:nvPicPr>
          <p:cNvPr id="8" name="Image 3" descr="gen-dedup-b359e3fa59182a7dfb1cf9bffd3421a2.png"/>
          <p:cNvPicPr>
            <a:picLocks noChangeAspect="1"/>
          </p:cNvPicPr>
          <p:nvPr/>
        </p:nvPicPr>
        <p:blipFill>
          <a:blip r:embed="rId6"/>
          <a:srcRect l="-375" r="-375"/>
          <a:stretch/>
        </p:blipFill>
        <p:spPr>
          <a:xfrm>
            <a:off x="609905" y="457200"/>
            <a:ext cx="57607" cy="609905"/>
          </a:xfrm>
          <a:prstGeom prst="rect">
            <a:avLst/>
          </a:prstGeom>
        </p:spPr>
      </p:pic>
      <p:sp>
        <p:nvSpPr>
          <p:cNvPr id="9" name="Shape 3"/>
          <p:cNvSpPr/>
          <p:nvPr/>
        </p:nvSpPr>
        <p:spPr>
          <a:xfrm>
            <a:off x="609905"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0" name="Shape 4"/>
          <p:cNvSpPr/>
          <p:nvPr/>
        </p:nvSpPr>
        <p:spPr>
          <a:xfrm>
            <a:off x="609905" y="1714500"/>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1" name="Shape 5"/>
          <p:cNvSpPr/>
          <p:nvPr/>
        </p:nvSpPr>
        <p:spPr>
          <a:xfrm>
            <a:off x="4476902"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2" name="Shape 6"/>
          <p:cNvSpPr/>
          <p:nvPr/>
        </p:nvSpPr>
        <p:spPr>
          <a:xfrm>
            <a:off x="4476902" y="1714500"/>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3" name="Shape 7"/>
          <p:cNvSpPr/>
          <p:nvPr/>
        </p:nvSpPr>
        <p:spPr>
          <a:xfrm>
            <a:off x="8343900" y="1714500"/>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4" name="Shape 8"/>
          <p:cNvSpPr/>
          <p:nvPr/>
        </p:nvSpPr>
        <p:spPr>
          <a:xfrm>
            <a:off x="8343900" y="1714500"/>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5" name="Shape 9"/>
          <p:cNvSpPr/>
          <p:nvPr/>
        </p:nvSpPr>
        <p:spPr>
          <a:xfrm>
            <a:off x="609905"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6" name="Shape 10"/>
          <p:cNvSpPr/>
          <p:nvPr/>
        </p:nvSpPr>
        <p:spPr>
          <a:xfrm>
            <a:off x="609905" y="4190695"/>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17" name="Shape 11"/>
          <p:cNvSpPr/>
          <p:nvPr/>
        </p:nvSpPr>
        <p:spPr>
          <a:xfrm>
            <a:off x="4476902"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18" name="Shape 12"/>
          <p:cNvSpPr/>
          <p:nvPr/>
        </p:nvSpPr>
        <p:spPr>
          <a:xfrm>
            <a:off x="4476902" y="4190695"/>
            <a:ext cx="3258007" cy="38405"/>
          </a:xfrm>
          <a:prstGeom prst="roundRect">
            <a:avLst>
              <a:gd name="adj" fmla="val 197618"/>
            </a:avLst>
          </a:prstGeom>
          <a:solidFill>
            <a:srgbClr val="2A9D8F"/>
          </a:solidFill>
          <a:ln w="12700">
            <a:solidFill>
              <a:srgbClr val="2A9D8F">
                <a:alpha val="0"/>
              </a:srgbClr>
            </a:solidFill>
            <a:prstDash val="solid"/>
          </a:ln>
        </p:spPr>
        <p:txBody>
          <a:bodyPr/>
          <a:lstStyle/>
          <a:p>
            <a:endParaRPr lang="en-US"/>
          </a:p>
        </p:txBody>
      </p:sp>
      <p:sp>
        <p:nvSpPr>
          <p:cNvPr id="19" name="Shape 13"/>
          <p:cNvSpPr/>
          <p:nvPr/>
        </p:nvSpPr>
        <p:spPr>
          <a:xfrm>
            <a:off x="8343900" y="4190695"/>
            <a:ext cx="3258007" cy="2143354"/>
          </a:xfrm>
          <a:prstGeom prst="roundRect">
            <a:avLst>
              <a:gd name="adj" fmla="val 3541"/>
            </a:avLst>
          </a:prstGeom>
          <a:solidFill>
            <a:srgbClr val="FFFFFF"/>
          </a:solidFill>
          <a:ln w="12700">
            <a:solidFill>
              <a:srgbClr val="E2E8F0"/>
            </a:solidFill>
            <a:prstDash val="solid"/>
          </a:ln>
          <a:effectLst>
            <a:outerShdw blurRad="63500" dist="38100" dir="16200000" algn="bl" rotWithShape="0">
              <a:srgbClr val="000000">
                <a:alpha val="5000"/>
              </a:srgbClr>
            </a:outerShdw>
          </a:effectLst>
        </p:spPr>
        <p:txBody>
          <a:bodyPr/>
          <a:lstStyle/>
          <a:p>
            <a:endParaRPr lang="en-US"/>
          </a:p>
        </p:txBody>
      </p:sp>
      <p:sp>
        <p:nvSpPr>
          <p:cNvPr id="20" name="Shape 14"/>
          <p:cNvSpPr/>
          <p:nvPr/>
        </p:nvSpPr>
        <p:spPr>
          <a:xfrm>
            <a:off x="8343900" y="4190695"/>
            <a:ext cx="3258007" cy="38405"/>
          </a:xfrm>
          <a:prstGeom prst="roundRect">
            <a:avLst>
              <a:gd name="adj" fmla="val 197618"/>
            </a:avLst>
          </a:prstGeom>
          <a:solidFill>
            <a:srgbClr val="D62839"/>
          </a:solidFill>
          <a:ln w="12700">
            <a:solidFill>
              <a:srgbClr val="D62839">
                <a:alpha val="0"/>
              </a:srgbClr>
            </a:solidFill>
            <a:prstDash val="solid"/>
          </a:ln>
        </p:spPr>
        <p:txBody>
          <a:bodyPr/>
          <a:lstStyle/>
          <a:p>
            <a:endParaRPr lang="en-US"/>
          </a:p>
        </p:txBody>
      </p:sp>
      <p:sp>
        <p:nvSpPr>
          <p:cNvPr id="23" name="Text 17"/>
          <p:cNvSpPr txBox="1"/>
          <p:nvPr/>
        </p:nvSpPr>
        <p:spPr>
          <a:xfrm>
            <a:off x="760780" y="577088"/>
            <a:ext cx="8438998" cy="409651"/>
          </a:xfrm>
          <a:prstGeom prst="rect">
            <a:avLst/>
          </a:prstGeom>
          <a:noFill/>
          <a:ln/>
        </p:spPr>
        <p:txBody>
          <a:bodyPr wrap="none" lIns="0" tIns="0" rIns="0" bIns="0" rtlCol="0" anchor="ctr"/>
          <a:lstStyle/>
          <a:p>
            <a:pPr marL="0" indent="0" algn="l">
              <a:buNone/>
            </a:pPr>
            <a:r>
              <a:rPr lang="en-US" sz="2500" b="1">
                <a:solidFill>
                  <a:srgbClr val="111827"/>
                </a:solidFill>
                <a:latin typeface="Oswald" pitchFamily="34" charset="0"/>
                <a:ea typeface="Oswald" pitchFamily="34" charset="-122"/>
                <a:cs typeface="Oswald" pitchFamily="34" charset="-120"/>
              </a:rPr>
              <a:t>WORKFORCE SOLUTIONS - HOW WE DELIVER</a:t>
            </a:r>
          </a:p>
        </p:txBody>
      </p:sp>
      <p:sp>
        <p:nvSpPr>
          <p:cNvPr id="24" name="Text 18"/>
          <p:cNvSpPr txBox="1"/>
          <p:nvPr/>
        </p:nvSpPr>
        <p:spPr>
          <a:xfrm>
            <a:off x="819302" y="822960"/>
            <a:ext cx="8097012" cy="181051"/>
          </a:xfrm>
          <a:prstGeom prst="rect">
            <a:avLst/>
          </a:prstGeom>
          <a:noFill/>
          <a:ln/>
        </p:spPr>
        <p:txBody>
          <a:bodyPr wrap="none" lIns="0" tIns="0" rIns="0" bIns="0" rtlCol="0" anchor="ctr"/>
          <a:lstStyle/>
          <a:p>
            <a:pPr marL="0" indent="0" algn="l">
              <a:buNone/>
            </a:pPr>
            <a:r>
              <a:rPr lang="en-US" sz="1200" b="1" kern="0" spc="60">
                <a:solidFill>
                  <a:srgbClr val="2A9D8F"/>
                </a:solidFill>
                <a:latin typeface="Roboto Condensed" pitchFamily="34" charset="0"/>
                <a:ea typeface="Roboto Condensed" pitchFamily="34" charset="-122"/>
                <a:cs typeface="Roboto Condensed" pitchFamily="34" charset="-120"/>
              </a:rPr>
              <a:t>From sourcing to sprint governance - a structured operating model, not a staffing drop.</a:t>
            </a:r>
          </a:p>
        </p:txBody>
      </p:sp>
      <p:sp>
        <p:nvSpPr>
          <p:cNvPr id="25" name="Text 19"/>
          <p:cNvSpPr txBox="1"/>
          <p:nvPr/>
        </p:nvSpPr>
        <p:spPr>
          <a:xfrm>
            <a:off x="819302" y="1079906"/>
            <a:ext cx="8097012" cy="152705"/>
          </a:xfrm>
          <a:prstGeom prst="rect">
            <a:avLst/>
          </a:prstGeom>
          <a:noFill/>
          <a:ln/>
        </p:spPr>
        <p:txBody>
          <a:bodyPr wrap="none" lIns="0" tIns="0" rIns="0" bIns="0" rtlCol="0" anchor="ctr"/>
          <a:lstStyle/>
          <a:p>
            <a:pPr marL="0" indent="0" algn="l">
              <a:buNone/>
            </a:pPr>
            <a:endParaRPr lang="en-US" sz="1000"/>
          </a:p>
        </p:txBody>
      </p:sp>
      <p:sp>
        <p:nvSpPr>
          <p:cNvPr id="26" name="Text 20"/>
          <p:cNvSpPr txBox="1"/>
          <p:nvPr/>
        </p:nvSpPr>
        <p:spPr>
          <a:xfrm>
            <a:off x="838505" y="1981505"/>
            <a:ext cx="340157"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01</a:t>
            </a:r>
            <a:endParaRPr lang="en-US" sz="2400"/>
          </a:p>
        </p:txBody>
      </p:sp>
      <p:sp>
        <p:nvSpPr>
          <p:cNvPr id="27" name="Text 21"/>
          <p:cNvSpPr txBox="1"/>
          <p:nvPr/>
        </p:nvSpPr>
        <p:spPr>
          <a:xfrm>
            <a:off x="1237183" y="1995424"/>
            <a:ext cx="1417320"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Scope &amp; Source</a:t>
            </a:r>
            <a:endParaRPr lang="en-US" sz="1600"/>
          </a:p>
        </p:txBody>
      </p:sp>
      <p:sp>
        <p:nvSpPr>
          <p:cNvPr id="28" name="Text 22"/>
          <p:cNvSpPr txBox="1"/>
          <p:nvPr/>
        </p:nvSpPr>
        <p:spPr>
          <a:xfrm>
            <a:off x="838505"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Role definition + domain-specific talent pool activation. TalentAI matching + voice-agent pre-screen. Shortlist in 72 hrs.</a:t>
            </a:r>
            <a:endParaRPr lang="en-US" sz="1000"/>
          </a:p>
        </p:txBody>
      </p:sp>
      <p:pic>
        <p:nvPicPr>
          <p:cNvPr id="29" name="Image 4" descr="gen-dedup-68afaceb726e7c14c8688760b973252d.png"/>
          <p:cNvPicPr>
            <a:picLocks noChangeAspect="1"/>
          </p:cNvPicPr>
          <p:nvPr/>
        </p:nvPicPr>
        <p:blipFill>
          <a:blip r:embed="rId7"/>
          <a:srcRect l="-13360" r="-13360"/>
          <a:stretch/>
        </p:blipFill>
        <p:spPr>
          <a:xfrm>
            <a:off x="4062679" y="2648102"/>
            <a:ext cx="181051" cy="228600"/>
          </a:xfrm>
          <a:prstGeom prst="rect">
            <a:avLst/>
          </a:prstGeom>
        </p:spPr>
      </p:pic>
      <p:sp>
        <p:nvSpPr>
          <p:cNvPr id="30" name="Text 23"/>
          <p:cNvSpPr txBox="1"/>
          <p:nvPr/>
        </p:nvSpPr>
        <p:spPr>
          <a:xfrm>
            <a:off x="4705502" y="1981505"/>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02</a:t>
            </a:r>
            <a:endParaRPr lang="en-US" sz="2400"/>
          </a:p>
        </p:txBody>
      </p:sp>
      <p:sp>
        <p:nvSpPr>
          <p:cNvPr id="31" name="Text 24"/>
          <p:cNvSpPr txBox="1"/>
          <p:nvPr/>
        </p:nvSpPr>
        <p:spPr>
          <a:xfrm>
            <a:off x="5144414" y="1995424"/>
            <a:ext cx="839419"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AI-Assess</a:t>
            </a:r>
            <a:endParaRPr lang="en-US" sz="1600"/>
          </a:p>
        </p:txBody>
      </p:sp>
      <p:sp>
        <p:nvSpPr>
          <p:cNvPr id="32" name="Text 25"/>
          <p:cNvSpPr txBox="1"/>
          <p:nvPr/>
        </p:nvSpPr>
        <p:spPr>
          <a:xfrm>
            <a:off x="4705502"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Live coding + domain scenario assessment via TalentSphere. Technical bar validated by J2W before client interview.</a:t>
            </a:r>
            <a:endParaRPr lang="en-US" sz="1000"/>
          </a:p>
        </p:txBody>
      </p:sp>
      <p:pic>
        <p:nvPicPr>
          <p:cNvPr id="33" name="Image 5" descr="gen-dedup-68afaceb726e7c14c8688760b973252d.png"/>
          <p:cNvPicPr>
            <a:picLocks noChangeAspect="1"/>
          </p:cNvPicPr>
          <p:nvPr/>
        </p:nvPicPr>
        <p:blipFill>
          <a:blip r:embed="rId7"/>
          <a:srcRect l="-13360" r="-13360"/>
          <a:stretch/>
        </p:blipFill>
        <p:spPr>
          <a:xfrm>
            <a:off x="7929677" y="2648102"/>
            <a:ext cx="181051" cy="228600"/>
          </a:xfrm>
          <a:prstGeom prst="rect">
            <a:avLst/>
          </a:prstGeom>
        </p:spPr>
      </p:pic>
      <p:sp>
        <p:nvSpPr>
          <p:cNvPr id="34" name="Text 26"/>
          <p:cNvSpPr txBox="1"/>
          <p:nvPr/>
        </p:nvSpPr>
        <p:spPr>
          <a:xfrm>
            <a:off x="8572500" y="1981505"/>
            <a:ext cx="391363"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03</a:t>
            </a:r>
            <a:endParaRPr lang="en-US" sz="2400"/>
          </a:p>
        </p:txBody>
      </p:sp>
      <p:sp>
        <p:nvSpPr>
          <p:cNvPr id="35" name="Text 27"/>
          <p:cNvSpPr txBox="1"/>
          <p:nvPr/>
        </p:nvSpPr>
        <p:spPr>
          <a:xfrm>
            <a:off x="9011412" y="1995424"/>
            <a:ext cx="1553566"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Deploy in 10 Days</a:t>
            </a:r>
            <a:endParaRPr lang="en-US" sz="1600"/>
          </a:p>
        </p:txBody>
      </p:sp>
      <p:sp>
        <p:nvSpPr>
          <p:cNvPr id="36" name="Text 28"/>
          <p:cNvSpPr txBox="1"/>
          <p:nvPr/>
        </p:nvSpPr>
        <p:spPr>
          <a:xfrm>
            <a:off x="8572500" y="242864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Offer → onboarding → Day-1 productivity. J2W payroll, compliance, IT provisioning - fully managed.</a:t>
            </a:r>
            <a:endParaRPr lang="en-US" sz="1000"/>
          </a:p>
        </p:txBody>
      </p:sp>
      <p:pic>
        <p:nvPicPr>
          <p:cNvPr id="37" name="Image 6" descr="gen-dedup-ff9a716cc6b1850cd75acb20aeb0dc17.png"/>
          <p:cNvPicPr>
            <a:picLocks noChangeAspect="1"/>
          </p:cNvPicPr>
          <p:nvPr/>
        </p:nvPicPr>
        <p:blipFill>
          <a:blip r:embed="rId8"/>
          <a:srcRect t="-13131" b="-13131"/>
          <a:stretch/>
        </p:blipFill>
        <p:spPr>
          <a:xfrm>
            <a:off x="9872777" y="3895344"/>
            <a:ext cx="181051" cy="228600"/>
          </a:xfrm>
          <a:prstGeom prst="rect">
            <a:avLst/>
          </a:prstGeom>
        </p:spPr>
      </p:pic>
      <p:sp>
        <p:nvSpPr>
          <p:cNvPr id="38" name="Text 29"/>
          <p:cNvSpPr txBox="1"/>
          <p:nvPr/>
        </p:nvSpPr>
        <p:spPr>
          <a:xfrm>
            <a:off x="838505" y="4457700"/>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04</a:t>
            </a:r>
            <a:endParaRPr lang="en-US" sz="2400"/>
          </a:p>
        </p:txBody>
      </p:sp>
      <p:sp>
        <p:nvSpPr>
          <p:cNvPr id="39" name="Text 30"/>
          <p:cNvSpPr txBox="1"/>
          <p:nvPr/>
        </p:nvSpPr>
        <p:spPr>
          <a:xfrm>
            <a:off x="1280160" y="4472534"/>
            <a:ext cx="1564538"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Govern &amp; Upskill</a:t>
            </a:r>
            <a:endParaRPr lang="en-US" sz="1600"/>
          </a:p>
        </p:txBody>
      </p:sp>
      <p:sp>
        <p:nvSpPr>
          <p:cNvPr id="40" name="Text 31"/>
          <p:cNvSpPr txBox="1"/>
          <p:nvPr/>
        </p:nvSpPr>
        <p:spPr>
          <a:xfrm>
            <a:off x="838505" y="490575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Sprint accountability via Pod Manager. Monthly AI upskilling in J2W Labs. Weekly performance telemetry.</a:t>
            </a:r>
            <a:endParaRPr lang="en-US" sz="1000"/>
          </a:p>
        </p:txBody>
      </p:sp>
      <p:pic>
        <p:nvPicPr>
          <p:cNvPr id="41" name="Image 7" descr="gen-dedup-68afaceb726e7c14c8688760b973252d.png"/>
          <p:cNvPicPr>
            <a:picLocks noChangeAspect="1"/>
          </p:cNvPicPr>
          <p:nvPr/>
        </p:nvPicPr>
        <p:blipFill>
          <a:blip r:embed="rId7"/>
          <a:srcRect l="-13360" r="-13360"/>
          <a:stretch/>
        </p:blipFill>
        <p:spPr>
          <a:xfrm>
            <a:off x="4062679" y="5124298"/>
            <a:ext cx="181051" cy="228600"/>
          </a:xfrm>
          <a:prstGeom prst="rect">
            <a:avLst/>
          </a:prstGeom>
        </p:spPr>
      </p:pic>
      <p:sp>
        <p:nvSpPr>
          <p:cNvPr id="42" name="Text 32"/>
          <p:cNvSpPr txBox="1"/>
          <p:nvPr/>
        </p:nvSpPr>
        <p:spPr>
          <a:xfrm>
            <a:off x="4705502" y="4457700"/>
            <a:ext cx="385877" cy="305410"/>
          </a:xfrm>
          <a:prstGeom prst="rect">
            <a:avLst/>
          </a:prstGeom>
          <a:noFill/>
          <a:ln/>
        </p:spPr>
        <p:txBody>
          <a:bodyPr wrap="none" lIns="0" tIns="0" rIns="0" bIns="0" rtlCol="0" anchor="ctr"/>
          <a:lstStyle/>
          <a:p>
            <a:pPr marL="0" indent="0" algn="l">
              <a:buNone/>
            </a:pPr>
            <a:r>
              <a:rPr lang="en-US" sz="2400" b="1">
                <a:solidFill>
                  <a:srgbClr val="2A9D8F"/>
                </a:solidFill>
                <a:latin typeface="Oswald" pitchFamily="34" charset="0"/>
                <a:ea typeface="Oswald" pitchFamily="34" charset="-122"/>
                <a:cs typeface="Oswald" pitchFamily="34" charset="-120"/>
              </a:rPr>
              <a:t>05</a:t>
            </a:r>
            <a:endParaRPr lang="en-US" sz="2400"/>
          </a:p>
        </p:txBody>
      </p:sp>
      <p:sp>
        <p:nvSpPr>
          <p:cNvPr id="43" name="Text 33"/>
          <p:cNvSpPr txBox="1"/>
          <p:nvPr/>
        </p:nvSpPr>
        <p:spPr>
          <a:xfrm>
            <a:off x="5142586" y="4472534"/>
            <a:ext cx="2018081"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POFU - 90-Day Funnel</a:t>
            </a:r>
            <a:endParaRPr lang="en-US" sz="1600"/>
          </a:p>
        </p:txBody>
      </p:sp>
      <p:sp>
        <p:nvSpPr>
          <p:cNvPr id="44" name="Text 34"/>
          <p:cNvSpPr txBox="1"/>
          <p:nvPr/>
        </p:nvSpPr>
        <p:spPr>
          <a:xfrm>
            <a:off x="4705502" y="4905756"/>
            <a:ext cx="2781605" cy="800100"/>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Post-Offer Follow-Up: milestone touchpoints, counter-offer inoculation, manager connects. Dropout rate → single digits.</a:t>
            </a:r>
            <a:endParaRPr lang="en-US" sz="1000"/>
          </a:p>
        </p:txBody>
      </p:sp>
      <p:pic>
        <p:nvPicPr>
          <p:cNvPr id="45" name="Image 8" descr="gen-dedup-68afaceb726e7c14c8688760b973252d.png"/>
          <p:cNvPicPr>
            <a:picLocks noChangeAspect="1"/>
          </p:cNvPicPr>
          <p:nvPr/>
        </p:nvPicPr>
        <p:blipFill>
          <a:blip r:embed="rId7"/>
          <a:srcRect l="-13360" r="-13360"/>
          <a:stretch/>
        </p:blipFill>
        <p:spPr>
          <a:xfrm>
            <a:off x="7929677" y="5124298"/>
            <a:ext cx="181051" cy="228600"/>
          </a:xfrm>
          <a:prstGeom prst="rect">
            <a:avLst/>
          </a:prstGeom>
        </p:spPr>
      </p:pic>
      <p:sp>
        <p:nvSpPr>
          <p:cNvPr id="46" name="Text 35"/>
          <p:cNvSpPr txBox="1"/>
          <p:nvPr/>
        </p:nvSpPr>
        <p:spPr>
          <a:xfrm>
            <a:off x="8572500" y="4457700"/>
            <a:ext cx="391363" cy="305410"/>
          </a:xfrm>
          <a:prstGeom prst="rect">
            <a:avLst/>
          </a:prstGeom>
          <a:noFill/>
          <a:ln/>
        </p:spPr>
        <p:txBody>
          <a:bodyPr wrap="none" lIns="0" tIns="0" rIns="0" bIns="0" rtlCol="0" anchor="ctr"/>
          <a:lstStyle/>
          <a:p>
            <a:pPr marL="0" indent="0" algn="l">
              <a:buNone/>
            </a:pPr>
            <a:r>
              <a:rPr lang="en-US" sz="2400" b="1">
                <a:solidFill>
                  <a:srgbClr val="D62839"/>
                </a:solidFill>
                <a:latin typeface="Oswald" pitchFamily="34" charset="0"/>
                <a:ea typeface="Oswald" pitchFamily="34" charset="-122"/>
                <a:cs typeface="Oswald" pitchFamily="34" charset="-120"/>
              </a:rPr>
              <a:t>06</a:t>
            </a:r>
            <a:endParaRPr lang="en-US" sz="2400"/>
          </a:p>
        </p:txBody>
      </p:sp>
      <p:sp>
        <p:nvSpPr>
          <p:cNvPr id="47" name="Text 36"/>
          <p:cNvSpPr txBox="1"/>
          <p:nvPr/>
        </p:nvSpPr>
        <p:spPr>
          <a:xfrm>
            <a:off x="9018727" y="4472534"/>
            <a:ext cx="1598371" cy="247802"/>
          </a:xfrm>
          <a:prstGeom prst="rect">
            <a:avLst/>
          </a:prstGeom>
          <a:noFill/>
          <a:ln/>
        </p:spPr>
        <p:txBody>
          <a:bodyPr wrap="non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Scale or Convert</a:t>
            </a:r>
            <a:endParaRPr lang="en-US" sz="1600"/>
          </a:p>
        </p:txBody>
      </p:sp>
      <p:sp>
        <p:nvSpPr>
          <p:cNvPr id="48" name="Text 37"/>
          <p:cNvSpPr txBox="1"/>
          <p:nvPr/>
        </p:nvSpPr>
        <p:spPr>
          <a:xfrm>
            <a:off x="8572500" y="4905756"/>
            <a:ext cx="2781605" cy="600761"/>
          </a:xfrm>
          <a:prstGeom prst="rect">
            <a:avLst/>
          </a:prstGeom>
          <a:noFill/>
          <a:ln/>
        </p:spPr>
        <p:txBody>
          <a:bodyPr wrap="square" lIns="0" tIns="0" rIns="0" bIns="0" rtlCol="0" anchor="ctr"/>
          <a:lstStyle/>
          <a:p>
            <a:pPr marL="0" indent="0" algn="l">
              <a:buNone/>
            </a:pPr>
            <a:r>
              <a:rPr lang="en-US" sz="1000">
                <a:solidFill>
                  <a:srgbClr val="4B5563"/>
                </a:solidFill>
                <a:latin typeface="Raleway" pitchFamily="34" charset="0"/>
                <a:ea typeface="Raleway" pitchFamily="34" charset="-122"/>
                <a:cs typeface="Raleway" pitchFamily="34" charset="-120"/>
              </a:rPr>
              <a:t>C2H → permanent conversion on Day 91. Scale the pod up or down. Quarterly Business Review with ROI data.</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cad3a534ee2971c6a497c9faf59fb5cd.png"/>
          <p:cNvPicPr>
            <a:picLocks noChangeAspect="1"/>
          </p:cNvPicPr>
          <p:nvPr/>
        </p:nvPicPr>
        <p:blipFill>
          <a:blip r:embed="rId3"/>
          <a:srcRect l="-202" r="-202"/>
          <a:stretch/>
        </p:blipFill>
        <p:spPr>
          <a:xfrm>
            <a:off x="0" y="0"/>
            <a:ext cx="8128102" cy="75895"/>
          </a:xfrm>
          <a:prstGeom prst="rect">
            <a:avLst/>
          </a:prstGeom>
        </p:spPr>
      </p:pic>
      <p:pic>
        <p:nvPicPr>
          <p:cNvPr id="5" name="Image 1" descr="gen-dedup-64882feb7a832238af77b962fc7a8538.png"/>
          <p:cNvPicPr>
            <a:picLocks noChangeAspect="1"/>
          </p:cNvPicPr>
          <p:nvPr/>
        </p:nvPicPr>
        <p:blipFill>
          <a:blip r:embed="rId4"/>
          <a:srcRect l="-197" r="-197"/>
          <a:stretch/>
        </p:blipFill>
        <p:spPr>
          <a:xfrm>
            <a:off x="8128102" y="0"/>
            <a:ext cx="4063594" cy="75895"/>
          </a:xfrm>
          <a:prstGeom prst="rect">
            <a:avLst/>
          </a:prstGeom>
        </p:spPr>
      </p:pic>
      <p:sp>
        <p:nvSpPr>
          <p:cNvPr id="6" name="Shape 2"/>
          <p:cNvSpPr/>
          <p:nvPr/>
        </p:nvSpPr>
        <p:spPr>
          <a:xfrm>
            <a:off x="9905695" y="-571500"/>
            <a:ext cx="2857500" cy="2857500"/>
          </a:xfrm>
          <a:prstGeom prst="ellipse">
            <a:avLst/>
          </a:prstGeom>
          <a:solidFill>
            <a:srgbClr val="2A9D8F">
              <a:alpha val="4000"/>
            </a:srgbClr>
          </a:solidFill>
          <a:ln w="12700">
            <a:solidFill>
              <a:srgbClr val="FFFFFF">
                <a:alpha val="0"/>
              </a:srgbClr>
            </a:solidFill>
            <a:prstDash val="solid"/>
          </a:ln>
        </p:spPr>
        <p:txBody>
          <a:bodyPr/>
          <a:lstStyle/>
          <a:p>
            <a:endParaRPr lang="en-US"/>
          </a:p>
        </p:txBody>
      </p:sp>
      <p:pic>
        <p:nvPicPr>
          <p:cNvPr id="7" name="Image 2" descr="gen-dedup-4ab2116e971fbb9400d0e99205bd0390.png"/>
          <p:cNvPicPr>
            <a:picLocks noChangeAspect="1"/>
          </p:cNvPicPr>
          <p:nvPr/>
        </p:nvPicPr>
        <p:blipFill>
          <a:blip r:embed="rId5">
            <a:alphaModFix amt="8000"/>
          </a:blip>
          <a:srcRect/>
          <a:stretch/>
        </p:blipFill>
        <p:spPr>
          <a:xfrm>
            <a:off x="-381305" y="4190695"/>
            <a:ext cx="1904695" cy="1904695"/>
          </a:xfrm>
          <a:prstGeom prst="rect">
            <a:avLst/>
          </a:prstGeom>
        </p:spPr>
      </p:pic>
      <p:sp>
        <p:nvSpPr>
          <p:cNvPr id="8" name="Shape 3"/>
          <p:cNvSpPr/>
          <p:nvPr/>
        </p:nvSpPr>
        <p:spPr>
          <a:xfrm>
            <a:off x="609905" y="2000707"/>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9" name="Shape 4"/>
          <p:cNvSpPr/>
          <p:nvPr/>
        </p:nvSpPr>
        <p:spPr>
          <a:xfrm>
            <a:off x="609905" y="2000707"/>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sp>
        <p:nvSpPr>
          <p:cNvPr id="10" name="Shape 5"/>
          <p:cNvSpPr/>
          <p:nvPr/>
        </p:nvSpPr>
        <p:spPr>
          <a:xfrm>
            <a:off x="609905" y="2952598"/>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1" name="Shape 6"/>
          <p:cNvSpPr/>
          <p:nvPr/>
        </p:nvSpPr>
        <p:spPr>
          <a:xfrm>
            <a:off x="609905" y="2952598"/>
            <a:ext cx="57607" cy="857707"/>
          </a:xfrm>
          <a:prstGeom prst="roundRect">
            <a:avLst>
              <a:gd name="adj" fmla="val 66667"/>
            </a:avLst>
          </a:prstGeom>
          <a:solidFill>
            <a:srgbClr val="D62839"/>
          </a:solidFill>
          <a:ln w="12700">
            <a:solidFill>
              <a:srgbClr val="D62839">
                <a:alpha val="0"/>
              </a:srgbClr>
            </a:solidFill>
            <a:prstDash val="solid"/>
          </a:ln>
        </p:spPr>
        <p:txBody>
          <a:bodyPr/>
          <a:lstStyle/>
          <a:p>
            <a:endParaRPr lang="en-US"/>
          </a:p>
        </p:txBody>
      </p:sp>
      <p:sp>
        <p:nvSpPr>
          <p:cNvPr id="12" name="Shape 7"/>
          <p:cNvSpPr/>
          <p:nvPr/>
        </p:nvSpPr>
        <p:spPr>
          <a:xfrm>
            <a:off x="609905" y="3905402"/>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3" name="Shape 8"/>
          <p:cNvSpPr/>
          <p:nvPr/>
        </p:nvSpPr>
        <p:spPr>
          <a:xfrm>
            <a:off x="609905" y="3905402"/>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sp>
        <p:nvSpPr>
          <p:cNvPr id="14" name="Shape 9"/>
          <p:cNvSpPr/>
          <p:nvPr/>
        </p:nvSpPr>
        <p:spPr>
          <a:xfrm>
            <a:off x="609905" y="4858207"/>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5" name="Shape 10"/>
          <p:cNvSpPr/>
          <p:nvPr/>
        </p:nvSpPr>
        <p:spPr>
          <a:xfrm>
            <a:off x="609905" y="4858207"/>
            <a:ext cx="57607" cy="857707"/>
          </a:xfrm>
          <a:prstGeom prst="roundRect">
            <a:avLst>
              <a:gd name="adj" fmla="val 66667"/>
            </a:avLst>
          </a:prstGeom>
          <a:solidFill>
            <a:srgbClr val="D62839"/>
          </a:solidFill>
          <a:ln w="12700">
            <a:solidFill>
              <a:srgbClr val="D62839">
                <a:alpha val="0"/>
              </a:srgbClr>
            </a:solidFill>
            <a:prstDash val="solid"/>
          </a:ln>
        </p:spPr>
        <p:txBody>
          <a:bodyPr/>
          <a:lstStyle/>
          <a:p>
            <a:endParaRPr lang="en-US"/>
          </a:p>
        </p:txBody>
      </p:sp>
      <p:sp>
        <p:nvSpPr>
          <p:cNvPr id="16" name="Shape 11"/>
          <p:cNvSpPr/>
          <p:nvPr/>
        </p:nvSpPr>
        <p:spPr>
          <a:xfrm>
            <a:off x="609905" y="5810098"/>
            <a:ext cx="11030407" cy="857707"/>
          </a:xfrm>
          <a:prstGeom prst="roundRect">
            <a:avLst>
              <a:gd name="adj" fmla="val 4478"/>
            </a:avLst>
          </a:prstGeom>
          <a:solidFill>
            <a:srgbClr val="FFFFFF"/>
          </a:solidFill>
          <a:ln/>
          <a:effectLst>
            <a:outerShdw blurRad="76200" dist="25400" dir="16200000" algn="bl" rotWithShape="0">
              <a:srgbClr val="000000">
                <a:alpha val="6000"/>
              </a:srgbClr>
            </a:outerShdw>
          </a:effectLst>
        </p:spPr>
        <p:txBody>
          <a:bodyPr/>
          <a:lstStyle/>
          <a:p>
            <a:endParaRPr lang="en-US"/>
          </a:p>
        </p:txBody>
      </p:sp>
      <p:sp>
        <p:nvSpPr>
          <p:cNvPr id="17" name="Shape 12"/>
          <p:cNvSpPr/>
          <p:nvPr/>
        </p:nvSpPr>
        <p:spPr>
          <a:xfrm>
            <a:off x="609905" y="5810098"/>
            <a:ext cx="57607" cy="857707"/>
          </a:xfrm>
          <a:prstGeom prst="roundRect">
            <a:avLst>
              <a:gd name="adj" fmla="val 66667"/>
            </a:avLst>
          </a:prstGeom>
          <a:solidFill>
            <a:srgbClr val="2A9D8F"/>
          </a:solidFill>
          <a:ln w="12700">
            <a:solidFill>
              <a:srgbClr val="2A9D8F">
                <a:alpha val="0"/>
              </a:srgbClr>
            </a:solidFill>
            <a:prstDash val="solid"/>
          </a:ln>
        </p:spPr>
        <p:txBody>
          <a:bodyPr/>
          <a:lstStyle/>
          <a:p>
            <a:endParaRPr lang="en-US"/>
          </a:p>
        </p:txBody>
      </p:sp>
      <p:pic>
        <p:nvPicPr>
          <p:cNvPr id="20" name="Image 3" descr="gen-dedup-f40e183725d285eac3acdddf8d8f823b.png"/>
          <p:cNvPicPr>
            <a:picLocks noChangeAspect="1"/>
          </p:cNvPicPr>
          <p:nvPr/>
        </p:nvPicPr>
        <p:blipFill>
          <a:blip r:embed="rId6"/>
          <a:srcRect l="-369" r="-369"/>
          <a:stretch/>
        </p:blipFill>
        <p:spPr>
          <a:xfrm>
            <a:off x="609905" y="448970"/>
            <a:ext cx="57607" cy="495605"/>
          </a:xfrm>
          <a:prstGeom prst="rect">
            <a:avLst/>
          </a:prstGeom>
        </p:spPr>
      </p:pic>
      <p:sp>
        <p:nvSpPr>
          <p:cNvPr id="21" name="Text 15"/>
          <p:cNvSpPr txBox="1"/>
          <p:nvPr/>
        </p:nvSpPr>
        <p:spPr>
          <a:xfrm>
            <a:off x="819302" y="381305"/>
            <a:ext cx="4499762" cy="409651"/>
          </a:xfrm>
          <a:prstGeom prst="rect">
            <a:avLst/>
          </a:prstGeom>
          <a:noFill/>
          <a:ln/>
        </p:spPr>
        <p:txBody>
          <a:bodyPr wrap="none" lIns="0" tIns="0" rIns="0" bIns="0" rtlCol="0" anchor="ctr"/>
          <a:lstStyle/>
          <a:p>
            <a:pPr marL="0" indent="0" algn="l">
              <a:buNone/>
            </a:pPr>
            <a:r>
              <a:rPr lang="en-US" sz="2800" b="1">
                <a:solidFill>
                  <a:srgbClr val="111827"/>
                </a:solidFill>
                <a:latin typeface="Oswald" pitchFamily="34" charset="0"/>
                <a:ea typeface="Oswald" pitchFamily="34" charset="-122"/>
                <a:cs typeface="Oswald" pitchFamily="34" charset="-120"/>
              </a:rPr>
              <a:t>STRUCTURAL DIFFERENTIATION</a:t>
            </a:r>
            <a:endParaRPr lang="en-US" sz="2800"/>
          </a:p>
        </p:txBody>
      </p:sp>
      <p:sp>
        <p:nvSpPr>
          <p:cNvPr id="22" name="Text 16"/>
          <p:cNvSpPr txBox="1"/>
          <p:nvPr/>
        </p:nvSpPr>
        <p:spPr>
          <a:xfrm>
            <a:off x="819302" y="821131"/>
            <a:ext cx="3610051" cy="191110"/>
          </a:xfrm>
          <a:prstGeom prst="rect">
            <a:avLst/>
          </a:prstGeom>
          <a:noFill/>
          <a:ln/>
        </p:spPr>
        <p:txBody>
          <a:bodyPr wrap="none" lIns="0" tIns="0" rIns="0" bIns="0" rtlCol="0" anchor="ctr"/>
          <a:lstStyle/>
          <a:p>
            <a:pPr marL="0" indent="0" algn="l">
              <a:buNone/>
            </a:pPr>
            <a:r>
              <a:rPr lang="en-US" sz="1300" b="1" kern="0" spc="66">
                <a:solidFill>
                  <a:srgbClr val="2A9D8F"/>
                </a:solidFill>
                <a:latin typeface="Roboto Condensed" pitchFamily="34" charset="0"/>
                <a:ea typeface="Roboto Condensed" pitchFamily="34" charset="-122"/>
                <a:cs typeface="Roboto Condensed" pitchFamily="34" charset="-120"/>
              </a:rPr>
              <a:t>WORKFORCE SOLUTIONS</a:t>
            </a:r>
          </a:p>
        </p:txBody>
      </p:sp>
      <p:sp>
        <p:nvSpPr>
          <p:cNvPr id="23" name="Text 17"/>
          <p:cNvSpPr txBox="1"/>
          <p:nvPr/>
        </p:nvSpPr>
        <p:spPr>
          <a:xfrm>
            <a:off x="609905" y="1380744"/>
            <a:ext cx="10972800" cy="267005"/>
          </a:xfrm>
          <a:prstGeom prst="rect">
            <a:avLst/>
          </a:prstGeom>
          <a:noFill/>
          <a:ln/>
        </p:spPr>
        <p:txBody>
          <a:bodyPr wrap="none" lIns="0" tIns="0" rIns="0" bIns="0" rtlCol="0" anchor="ctr"/>
          <a:lstStyle/>
          <a:p>
            <a:pPr marL="0" indent="0" algn="l">
              <a:buNone/>
            </a:pPr>
            <a:r>
              <a:rPr lang="en-US" sz="1500" b="1">
                <a:solidFill>
                  <a:srgbClr val="D62839"/>
                </a:solidFill>
                <a:latin typeface="Raleway" pitchFamily="34" charset="0"/>
                <a:ea typeface="Raleway" pitchFamily="34" charset="-122"/>
                <a:cs typeface="Raleway" pitchFamily="34" charset="-120"/>
              </a:rPr>
              <a:t>Five structural differences that change the engagement from transactional to transformational.</a:t>
            </a:r>
            <a:endParaRPr lang="en-US" sz="1500"/>
          </a:p>
        </p:txBody>
      </p:sp>
      <p:sp>
        <p:nvSpPr>
          <p:cNvPr id="24" name="Text 18"/>
          <p:cNvSpPr txBox="1"/>
          <p:nvPr/>
        </p:nvSpPr>
        <p:spPr>
          <a:xfrm>
            <a:off x="1037844" y="2148840"/>
            <a:ext cx="1904695"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No Subcontracting</a:t>
            </a:r>
            <a:endParaRPr lang="en-US" sz="1400"/>
          </a:p>
        </p:txBody>
      </p:sp>
      <p:sp>
        <p:nvSpPr>
          <p:cNvPr id="25" name="Text 19"/>
          <p:cNvSpPr txBox="1"/>
          <p:nvPr/>
        </p:nvSpPr>
        <p:spPr>
          <a:xfrm>
            <a:off x="800100" y="2491740"/>
            <a:ext cx="11278210" cy="219456"/>
          </a:xfrm>
          <a:prstGeom prst="rect">
            <a:avLst/>
          </a:prstGeom>
          <a:noFill/>
          <a:ln/>
        </p:spPr>
        <p:txBody>
          <a:bodyPr wrap="non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300+ in-house recruiters. 7,200+ professionals on J2W payroll. Zero subcontracting layer diluting quality, speed, or accountability.</a:t>
            </a:r>
            <a:endParaRPr lang="en-US" sz="1300"/>
          </a:p>
        </p:txBody>
      </p:sp>
      <p:pic>
        <p:nvPicPr>
          <p:cNvPr id="26" name="Image 4" descr="gen-dedup-928b248bf773cd1fca0141b5a5721735.png"/>
          <p:cNvPicPr>
            <a:picLocks noChangeAspect="1"/>
          </p:cNvPicPr>
          <p:nvPr/>
        </p:nvPicPr>
        <p:blipFill>
          <a:blip r:embed="rId7"/>
          <a:srcRect t="-6603" b="-6603"/>
          <a:stretch/>
        </p:blipFill>
        <p:spPr>
          <a:xfrm>
            <a:off x="800100" y="2211934"/>
            <a:ext cx="161849" cy="209398"/>
          </a:xfrm>
          <a:prstGeom prst="rect">
            <a:avLst/>
          </a:prstGeom>
        </p:spPr>
      </p:pic>
      <p:sp>
        <p:nvSpPr>
          <p:cNvPr id="27" name="Text 20"/>
          <p:cNvSpPr txBox="1"/>
          <p:nvPr/>
        </p:nvSpPr>
        <p:spPr>
          <a:xfrm>
            <a:off x="1037844" y="2991917"/>
            <a:ext cx="2414930" cy="305410"/>
          </a:xfrm>
          <a:prstGeom prst="rect">
            <a:avLst/>
          </a:prstGeom>
          <a:noFill/>
          <a:ln/>
        </p:spPr>
        <p:txBody>
          <a:bodyPr wrap="none" lIns="0" tIns="0" rIns="0" bIns="0" rtlCol="0" anchor="ctr"/>
          <a:lstStyle/>
          <a:p>
            <a:pPr marL="0" indent="0" algn="l">
              <a:buNone/>
            </a:pPr>
            <a:r>
              <a:rPr lang="en-US" sz="1400" b="1">
                <a:solidFill>
                  <a:srgbClr val="D62839"/>
                </a:solidFill>
                <a:latin typeface="Oswald" pitchFamily="34" charset="0"/>
                <a:ea typeface="Oswald" pitchFamily="34" charset="-122"/>
                <a:cs typeface="Oswald" pitchFamily="34" charset="-120"/>
              </a:rPr>
              <a:t>GCC-Native Intelligence</a:t>
            </a:r>
            <a:endParaRPr lang="en-US" sz="1400"/>
          </a:p>
        </p:txBody>
      </p:sp>
      <p:sp>
        <p:nvSpPr>
          <p:cNvPr id="28" name="Text 21"/>
          <p:cNvSpPr txBox="1"/>
          <p:nvPr/>
        </p:nvSpPr>
        <p:spPr>
          <a:xfrm>
            <a:off x="800100" y="3334817"/>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Forged through 300+ active GCC deployments. We see the next problem before it shows up because we have already solved it somewhere else.</a:t>
            </a:r>
            <a:endParaRPr lang="en-US" sz="1300"/>
          </a:p>
        </p:txBody>
      </p:sp>
      <p:pic>
        <p:nvPicPr>
          <p:cNvPr id="29" name="Image 5" descr="gen-dedup-0c58ce2f3d3941653435c84e3cc91c65.png"/>
          <p:cNvPicPr>
            <a:picLocks noChangeAspect="1"/>
          </p:cNvPicPr>
          <p:nvPr/>
        </p:nvPicPr>
        <p:blipFill>
          <a:blip r:embed="rId8"/>
          <a:srcRect t="-14689" b="-14689"/>
          <a:stretch/>
        </p:blipFill>
        <p:spPr>
          <a:xfrm>
            <a:off x="800100" y="3055925"/>
            <a:ext cx="161849" cy="209398"/>
          </a:xfrm>
          <a:prstGeom prst="rect">
            <a:avLst/>
          </a:prstGeom>
        </p:spPr>
      </p:pic>
      <p:sp>
        <p:nvSpPr>
          <p:cNvPr id="30" name="Text 22"/>
          <p:cNvSpPr txBox="1"/>
          <p:nvPr/>
        </p:nvSpPr>
        <p:spPr>
          <a:xfrm>
            <a:off x="1037844" y="3944722"/>
            <a:ext cx="1633118"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AI at Every Step</a:t>
            </a:r>
            <a:endParaRPr lang="en-US" sz="1400"/>
          </a:p>
        </p:txBody>
      </p:sp>
      <p:sp>
        <p:nvSpPr>
          <p:cNvPr id="31" name="Text 23"/>
          <p:cNvSpPr txBox="1"/>
          <p:nvPr/>
        </p:nvSpPr>
        <p:spPr>
          <a:xfrm>
            <a:off x="800100" y="4287622"/>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TalentAI + TalentSphere: AI-ranked pools, voice-agent screening, skill graphs, predictive placement. Every tool passed our 40% improvement gate internally.</a:t>
            </a:r>
            <a:endParaRPr lang="en-US" sz="1300"/>
          </a:p>
        </p:txBody>
      </p:sp>
      <p:pic>
        <p:nvPicPr>
          <p:cNvPr id="32" name="Image 6" descr="gen-dedup-da669e206ac26c7983b1f8612c832ea6.png"/>
          <p:cNvPicPr>
            <a:picLocks noChangeAspect="1"/>
          </p:cNvPicPr>
          <p:nvPr/>
        </p:nvPicPr>
        <p:blipFill>
          <a:blip r:embed="rId9"/>
          <a:srcRect t="-30861" b="-30861"/>
          <a:stretch/>
        </p:blipFill>
        <p:spPr>
          <a:xfrm>
            <a:off x="800100" y="4008730"/>
            <a:ext cx="161849" cy="209398"/>
          </a:xfrm>
          <a:prstGeom prst="rect">
            <a:avLst/>
          </a:prstGeom>
        </p:spPr>
      </p:pic>
      <p:sp>
        <p:nvSpPr>
          <p:cNvPr id="33" name="Text 24"/>
          <p:cNvSpPr txBox="1"/>
          <p:nvPr/>
        </p:nvSpPr>
        <p:spPr>
          <a:xfrm>
            <a:off x="1037844" y="4897526"/>
            <a:ext cx="2460650" cy="305410"/>
          </a:xfrm>
          <a:prstGeom prst="rect">
            <a:avLst/>
          </a:prstGeom>
          <a:noFill/>
          <a:ln/>
        </p:spPr>
        <p:txBody>
          <a:bodyPr wrap="none" lIns="0" tIns="0" rIns="0" bIns="0" rtlCol="0" anchor="ctr"/>
          <a:lstStyle/>
          <a:p>
            <a:pPr marL="0" indent="0" algn="l">
              <a:buNone/>
            </a:pPr>
            <a:r>
              <a:rPr lang="en-US" sz="1400" b="1">
                <a:solidFill>
                  <a:srgbClr val="D62839"/>
                </a:solidFill>
                <a:latin typeface="Oswald" pitchFamily="34" charset="0"/>
                <a:ea typeface="Oswald" pitchFamily="34" charset="-122"/>
                <a:cs typeface="Oswald" pitchFamily="34" charset="-120"/>
              </a:rPr>
              <a:t>Pod Governance Built In</a:t>
            </a:r>
            <a:endParaRPr lang="en-US" sz="1400"/>
          </a:p>
        </p:txBody>
      </p:sp>
      <p:sp>
        <p:nvSpPr>
          <p:cNvPr id="34" name="Text 25"/>
          <p:cNvSpPr txBox="1"/>
          <p:nvPr/>
        </p:nvSpPr>
        <p:spPr>
          <a:xfrm>
            <a:off x="800100" y="5240426"/>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A dedicated Pod Manager - not billed to client - owns sprint governance, performance tracking, and L&amp;D coordination. This is a pod, not a staffing drop.</a:t>
            </a:r>
            <a:endParaRPr lang="en-US" sz="1300"/>
          </a:p>
        </p:txBody>
      </p:sp>
      <p:pic>
        <p:nvPicPr>
          <p:cNvPr id="35" name="Image 7" descr="gen-dedup-5d8964838ee5ef7b6e1692b5297312cd.png"/>
          <p:cNvPicPr>
            <a:picLocks noChangeAspect="1"/>
          </p:cNvPicPr>
          <p:nvPr/>
        </p:nvPicPr>
        <p:blipFill>
          <a:blip r:embed="rId10"/>
          <a:srcRect t="-30861" b="-30861"/>
          <a:stretch/>
        </p:blipFill>
        <p:spPr>
          <a:xfrm>
            <a:off x="800100" y="4960620"/>
            <a:ext cx="161849" cy="209398"/>
          </a:xfrm>
          <a:prstGeom prst="rect">
            <a:avLst/>
          </a:prstGeom>
        </p:spPr>
      </p:pic>
      <p:sp>
        <p:nvSpPr>
          <p:cNvPr id="36" name="Text 26"/>
          <p:cNvSpPr txBox="1"/>
          <p:nvPr/>
        </p:nvSpPr>
        <p:spPr>
          <a:xfrm>
            <a:off x="1037844" y="5849417"/>
            <a:ext cx="2051914" cy="305410"/>
          </a:xfrm>
          <a:prstGeom prst="rect">
            <a:avLst/>
          </a:prstGeom>
          <a:noFill/>
          <a:ln/>
        </p:spPr>
        <p:txBody>
          <a:bodyPr wrap="none" lIns="0" tIns="0" rIns="0" bIns="0" rtlCol="0" anchor="ctr"/>
          <a:lstStyle/>
          <a:p>
            <a:pPr marL="0" indent="0" algn="l">
              <a:buNone/>
            </a:pPr>
            <a:r>
              <a:rPr lang="en-US" sz="1400" b="1">
                <a:solidFill>
                  <a:srgbClr val="2A9D8F"/>
                </a:solidFill>
                <a:latin typeface="Oswald" pitchFamily="34" charset="0"/>
                <a:ea typeface="Oswald" pitchFamily="34" charset="-122"/>
                <a:cs typeface="Oswald" pitchFamily="34" charset="-120"/>
              </a:rPr>
              <a:t>Validated Playbooks</a:t>
            </a:r>
            <a:endParaRPr lang="en-US" sz="1400"/>
          </a:p>
        </p:txBody>
      </p:sp>
      <p:sp>
        <p:nvSpPr>
          <p:cNvPr id="37" name="Text 27"/>
          <p:cNvSpPr txBox="1"/>
          <p:nvPr/>
        </p:nvSpPr>
        <p:spPr>
          <a:xfrm>
            <a:off x="800100" y="6192317"/>
            <a:ext cx="10592410" cy="438912"/>
          </a:xfrm>
          <a:prstGeom prst="rect">
            <a:avLst/>
          </a:prstGeom>
          <a:noFill/>
          <a:ln/>
        </p:spPr>
        <p:txBody>
          <a:bodyPr wrap="square" lIns="0" tIns="0" rIns="0" bIns="0" rtlCol="0" anchor="ctr"/>
          <a:lstStyle/>
          <a:p>
            <a:pPr marL="0" indent="0" algn="l">
              <a:buNone/>
            </a:pPr>
            <a:r>
              <a:rPr lang="en-US" sz="1300">
                <a:solidFill>
                  <a:srgbClr val="4B5563"/>
                </a:solidFill>
                <a:latin typeface="Raleway" pitchFamily="34" charset="0"/>
                <a:ea typeface="Raleway" pitchFamily="34" charset="-122"/>
                <a:cs typeface="Raleway" pitchFamily="34" charset="-120"/>
              </a:rPr>
              <a:t>Every tool, process, and accelerator has passed our internal 40% improvement gate. Clients benefit from completed learning - not our experimentation.</a:t>
            </a:r>
            <a:endParaRPr lang="en-US" sz="1300"/>
          </a:p>
        </p:txBody>
      </p:sp>
      <p:pic>
        <p:nvPicPr>
          <p:cNvPr id="38" name="Image 8" descr="gen-dedup-001fb79ce367df5df5f79805d3e188cd.png"/>
          <p:cNvPicPr>
            <a:picLocks noChangeAspect="1"/>
          </p:cNvPicPr>
          <p:nvPr/>
        </p:nvPicPr>
        <p:blipFill>
          <a:blip r:embed="rId11"/>
          <a:srcRect t="-22775" b="-22775"/>
          <a:stretch/>
        </p:blipFill>
        <p:spPr>
          <a:xfrm>
            <a:off x="800100" y="5913425"/>
            <a:ext cx="161849" cy="2093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4" name="Shape 2"/>
          <p:cNvSpPr/>
          <p:nvPr/>
        </p:nvSpPr>
        <p:spPr>
          <a:xfrm>
            <a:off x="8382305" y="0"/>
            <a:ext cx="3810305" cy="3810305"/>
          </a:xfrm>
          <a:prstGeom prst="ellipse">
            <a:avLst/>
          </a:prstGeom>
          <a:solidFill>
            <a:srgbClr val="2A9D8F">
              <a:alpha val="3000"/>
            </a:srgbClr>
          </a:solidFill>
          <a:ln w="12700">
            <a:solidFill>
              <a:srgbClr val="FFFFFF">
                <a:alpha val="0"/>
              </a:srgbClr>
            </a:solidFill>
            <a:prstDash val="solid"/>
          </a:ln>
        </p:spPr>
        <p:txBody>
          <a:bodyPr/>
          <a:lstStyle/>
          <a:p>
            <a:endParaRPr lang="en-US"/>
          </a:p>
        </p:txBody>
      </p:sp>
      <p:sp>
        <p:nvSpPr>
          <p:cNvPr id="5" name="Shape 3"/>
          <p:cNvSpPr/>
          <p:nvPr/>
        </p:nvSpPr>
        <p:spPr>
          <a:xfrm>
            <a:off x="-476402" y="3524098"/>
            <a:ext cx="2381098" cy="2381098"/>
          </a:xfrm>
          <a:prstGeom prst="ellipse">
            <a:avLst/>
          </a:prstGeom>
          <a:solidFill>
            <a:srgbClr val="D62839">
              <a:alpha val="2000"/>
            </a:srgbClr>
          </a:solidFill>
          <a:ln w="12700">
            <a:solidFill>
              <a:srgbClr val="FFFFFF">
                <a:alpha val="0"/>
              </a:srgbClr>
            </a:solidFill>
            <a:prstDash val="solid"/>
          </a:ln>
        </p:spPr>
        <p:txBody>
          <a:bodyPr/>
          <a:lstStyle/>
          <a:p>
            <a:endParaRPr lang="en-US"/>
          </a:p>
        </p:txBody>
      </p:sp>
      <p:pic>
        <p:nvPicPr>
          <p:cNvPr id="6" name="Image 0" descr="gen-dedup-37abb9d8cc081a24feb608c288538026.png"/>
          <p:cNvPicPr>
            <a:picLocks noChangeAspect="1"/>
          </p:cNvPicPr>
          <p:nvPr/>
        </p:nvPicPr>
        <p:blipFill>
          <a:blip r:embed="rId3"/>
          <a:srcRect l="-198" r="-198"/>
          <a:stretch/>
        </p:blipFill>
        <p:spPr>
          <a:xfrm>
            <a:off x="0" y="0"/>
            <a:ext cx="8124444" cy="75895"/>
          </a:xfrm>
          <a:prstGeom prst="rect">
            <a:avLst/>
          </a:prstGeom>
        </p:spPr>
      </p:pic>
      <p:pic>
        <p:nvPicPr>
          <p:cNvPr id="7" name="Image 1" descr="gen-dedup-c2c9136402f20c216bf7cbcc052ad1a0.png"/>
          <p:cNvPicPr>
            <a:picLocks noChangeAspect="1"/>
          </p:cNvPicPr>
          <p:nvPr/>
        </p:nvPicPr>
        <p:blipFill>
          <a:blip r:embed="rId4"/>
          <a:srcRect l="-202" r="-202"/>
          <a:stretch/>
        </p:blipFill>
        <p:spPr>
          <a:xfrm>
            <a:off x="8124444" y="0"/>
            <a:ext cx="4067251" cy="75895"/>
          </a:xfrm>
          <a:prstGeom prst="rect">
            <a:avLst/>
          </a:prstGeom>
        </p:spPr>
      </p:pic>
      <p:pic>
        <p:nvPicPr>
          <p:cNvPr id="8" name="Image 2" descr="gen-dedup-50f81f9bdcb5400074144f35c0ecb91c.png"/>
          <p:cNvPicPr>
            <a:picLocks noChangeAspect="1"/>
          </p:cNvPicPr>
          <p:nvPr/>
        </p:nvPicPr>
        <p:blipFill>
          <a:blip r:embed="rId5"/>
          <a:srcRect l="-7" r="-7"/>
          <a:stretch/>
        </p:blipFill>
        <p:spPr>
          <a:xfrm>
            <a:off x="2704795" y="1238098"/>
            <a:ext cx="3143707" cy="4457700"/>
          </a:xfrm>
          <a:prstGeom prst="rect">
            <a:avLst/>
          </a:prstGeom>
        </p:spPr>
      </p:pic>
      <p:sp>
        <p:nvSpPr>
          <p:cNvPr id="9" name="Shape 4"/>
          <p:cNvSpPr/>
          <p:nvPr/>
        </p:nvSpPr>
        <p:spPr>
          <a:xfrm>
            <a:off x="609905" y="5762549"/>
            <a:ext cx="10992002" cy="847649"/>
          </a:xfrm>
          <a:prstGeom prst="roundRect">
            <a:avLst>
              <a:gd name="adj" fmla="val 19393"/>
            </a:avLst>
          </a:prstGeom>
          <a:solidFill>
            <a:srgbClr val="F8FAFC"/>
          </a:solidFill>
          <a:ln w="12700">
            <a:solidFill>
              <a:srgbClr val="E2E8F0"/>
            </a:solidFill>
            <a:prstDash val="solid"/>
          </a:ln>
          <a:effectLst>
            <a:outerShdw blurRad="63500" dist="38100" dir="16200000" algn="bl" rotWithShape="0">
              <a:srgbClr val="000000">
                <a:alpha val="2000"/>
              </a:srgbClr>
            </a:outerShdw>
          </a:effectLst>
        </p:spPr>
        <p:txBody>
          <a:bodyPr/>
          <a:lstStyle/>
          <a:p>
            <a:endParaRPr lang="en-US"/>
          </a:p>
        </p:txBody>
      </p:sp>
      <p:pic>
        <p:nvPicPr>
          <p:cNvPr id="10" name="Image 3" descr="gen-dedup-1004aa64a550a79a04cd74d7f57c96c1.png"/>
          <p:cNvPicPr>
            <a:picLocks noChangeAspect="1"/>
          </p:cNvPicPr>
          <p:nvPr/>
        </p:nvPicPr>
        <p:blipFill>
          <a:blip r:embed="rId6"/>
          <a:srcRect l="-2083" r="-2083"/>
          <a:stretch/>
        </p:blipFill>
        <p:spPr>
          <a:xfrm>
            <a:off x="609905" y="2467051"/>
            <a:ext cx="10972800" cy="9144"/>
          </a:xfrm>
          <a:prstGeom prst="rect">
            <a:avLst/>
          </a:prstGeom>
        </p:spPr>
      </p:pic>
      <p:pic>
        <p:nvPicPr>
          <p:cNvPr id="11" name="Image 4" descr="gen-dedup-1004aa64a550a79a04cd74d7f57c96c1.png"/>
          <p:cNvPicPr>
            <a:picLocks noChangeAspect="1"/>
          </p:cNvPicPr>
          <p:nvPr/>
        </p:nvPicPr>
        <p:blipFill>
          <a:blip r:embed="rId6"/>
          <a:srcRect l="-2083" r="-2083"/>
          <a:stretch/>
        </p:blipFill>
        <p:spPr>
          <a:xfrm>
            <a:off x="609905" y="3267151"/>
            <a:ext cx="10972800" cy="9144"/>
          </a:xfrm>
          <a:prstGeom prst="rect">
            <a:avLst/>
          </a:prstGeom>
        </p:spPr>
      </p:pic>
      <p:pic>
        <p:nvPicPr>
          <p:cNvPr id="12" name="Image 5" descr="gen-dedup-1004aa64a550a79a04cd74d7f57c96c1.png"/>
          <p:cNvPicPr>
            <a:picLocks noChangeAspect="1"/>
          </p:cNvPicPr>
          <p:nvPr/>
        </p:nvPicPr>
        <p:blipFill>
          <a:blip r:embed="rId6"/>
          <a:srcRect l="-2083" r="-2083"/>
          <a:stretch/>
        </p:blipFill>
        <p:spPr>
          <a:xfrm>
            <a:off x="609905" y="4067251"/>
            <a:ext cx="10972800" cy="9144"/>
          </a:xfrm>
          <a:prstGeom prst="rect">
            <a:avLst/>
          </a:prstGeom>
        </p:spPr>
      </p:pic>
      <p:pic>
        <p:nvPicPr>
          <p:cNvPr id="13" name="Image 6" descr="gen-dedup-1004aa64a550a79a04cd74d7f57c96c1.png"/>
          <p:cNvPicPr>
            <a:picLocks noChangeAspect="1"/>
          </p:cNvPicPr>
          <p:nvPr/>
        </p:nvPicPr>
        <p:blipFill>
          <a:blip r:embed="rId6"/>
          <a:srcRect l="-2083" r="-2083"/>
          <a:stretch/>
        </p:blipFill>
        <p:spPr>
          <a:xfrm>
            <a:off x="609905" y="4867351"/>
            <a:ext cx="10972800" cy="9144"/>
          </a:xfrm>
          <a:prstGeom prst="rect">
            <a:avLst/>
          </a:prstGeom>
        </p:spPr>
      </p:pic>
      <p:pic>
        <p:nvPicPr>
          <p:cNvPr id="14" name="Image 7" descr="gen-dedup-06e3d16aa0e9246458a784af17ea21a8.png"/>
          <p:cNvPicPr>
            <a:picLocks noChangeAspect="1"/>
          </p:cNvPicPr>
          <p:nvPr/>
        </p:nvPicPr>
        <p:blipFill>
          <a:blip r:embed="rId7"/>
          <a:srcRect l="-437" r="-437"/>
          <a:stretch/>
        </p:blipFill>
        <p:spPr>
          <a:xfrm>
            <a:off x="609905" y="390449"/>
            <a:ext cx="57607" cy="418795"/>
          </a:xfrm>
          <a:prstGeom prst="rect">
            <a:avLst/>
          </a:prstGeom>
        </p:spPr>
      </p:pic>
      <p:sp>
        <p:nvSpPr>
          <p:cNvPr id="15" name="Text 5"/>
          <p:cNvSpPr txBox="1"/>
          <p:nvPr/>
        </p:nvSpPr>
        <p:spPr>
          <a:xfrm>
            <a:off x="819302" y="390449"/>
            <a:ext cx="10478110" cy="381305"/>
          </a:xfrm>
          <a:prstGeom prst="rect">
            <a:avLst/>
          </a:prstGeom>
          <a:noFill/>
          <a:ln/>
        </p:spPr>
        <p:txBody>
          <a:bodyPr wrap="square" lIns="0" tIns="0" rIns="0" bIns="0" rtlCol="0" anchor="ctr"/>
          <a:lstStyle/>
          <a:p>
            <a:pPr marL="0" indent="0" algn="l">
              <a:buNone/>
            </a:pPr>
            <a:r>
              <a:rPr lang="en-US" sz="2700" b="1">
                <a:solidFill>
                  <a:srgbClr val="111827"/>
                </a:solidFill>
                <a:latin typeface="Oswald" pitchFamily="34" charset="0"/>
                <a:ea typeface="Oswald" pitchFamily="34" charset="-122"/>
                <a:cs typeface="Oswald" pitchFamily="34" charset="-120"/>
              </a:rPr>
              <a:t>WHY J2W - NOT THE BIG 4 OR LARGE SIs</a:t>
            </a:r>
            <a:endParaRPr lang="en-US" sz="2700"/>
          </a:p>
        </p:txBody>
      </p:sp>
      <p:sp>
        <p:nvSpPr>
          <p:cNvPr id="16" name="Text 6"/>
          <p:cNvSpPr txBox="1"/>
          <p:nvPr/>
        </p:nvSpPr>
        <p:spPr>
          <a:xfrm>
            <a:off x="819302" y="824789"/>
            <a:ext cx="10478110" cy="181051"/>
          </a:xfrm>
          <a:prstGeom prst="rect">
            <a:avLst/>
          </a:prstGeom>
          <a:noFill/>
          <a:ln/>
        </p:spPr>
        <p:txBody>
          <a:bodyPr wrap="square" lIns="0" tIns="0" rIns="0" bIns="0" rtlCol="0" anchor="ctr"/>
          <a:lstStyle/>
          <a:p>
            <a:pPr marL="0" indent="0" algn="l">
              <a:buNone/>
            </a:pPr>
            <a:r>
              <a:rPr lang="en-US" sz="1200" b="1" kern="0" spc="60">
                <a:solidFill>
                  <a:srgbClr val="2A9D8F"/>
                </a:solidFill>
                <a:latin typeface="Roboto Condensed" pitchFamily="34" charset="0"/>
                <a:ea typeface="Roboto Condensed" pitchFamily="34" charset="-122"/>
                <a:cs typeface="Roboto Condensed" pitchFamily="34" charset="-120"/>
              </a:rPr>
              <a:t>THE SMARTER CHOICE FOR AI &amp; DIGITAL TRANSFORMATION AT SCALE</a:t>
            </a:r>
            <a:endParaRPr lang="en-US" sz="1200"/>
          </a:p>
        </p:txBody>
      </p:sp>
      <p:sp>
        <p:nvSpPr>
          <p:cNvPr id="17" name="Text 7"/>
          <p:cNvSpPr txBox="1"/>
          <p:nvPr/>
        </p:nvSpPr>
        <p:spPr>
          <a:xfrm>
            <a:off x="2704795" y="1333195"/>
            <a:ext cx="3143707" cy="286207"/>
          </a:xfrm>
          <a:prstGeom prst="rect">
            <a:avLst/>
          </a:prstGeom>
          <a:noFill/>
          <a:ln/>
        </p:spPr>
        <p:txBody>
          <a:bodyPr wrap="square" lIns="0" tIns="0" rIns="0" bIns="0" rtlCol="0" anchor="ctr"/>
          <a:lstStyle/>
          <a:p>
            <a:pPr marL="0" indent="0" algn="ctr">
              <a:buNone/>
            </a:pPr>
            <a:r>
              <a:rPr lang="en-US" sz="1500" b="1">
                <a:solidFill>
                  <a:srgbClr val="111827"/>
                </a:solidFill>
                <a:latin typeface="Oswald" pitchFamily="34" charset="0"/>
                <a:ea typeface="Oswald" pitchFamily="34" charset="-122"/>
                <a:cs typeface="Oswald" pitchFamily="34" charset="-120"/>
              </a:rPr>
              <a:t>JoulesToWatts + J2W</a:t>
            </a:r>
            <a:endParaRPr lang="en-US" sz="1500"/>
          </a:p>
        </p:txBody>
      </p:sp>
      <p:sp>
        <p:nvSpPr>
          <p:cNvPr id="18" name="Text 8"/>
          <p:cNvSpPr txBox="1"/>
          <p:nvPr/>
        </p:nvSpPr>
        <p:spPr>
          <a:xfrm>
            <a:off x="5848502" y="1333195"/>
            <a:ext cx="2857500" cy="286207"/>
          </a:xfrm>
          <a:prstGeom prst="rect">
            <a:avLst/>
          </a:prstGeom>
          <a:noFill/>
          <a:ln/>
        </p:spPr>
        <p:txBody>
          <a:bodyPr wrap="square" lIns="0" tIns="0" rIns="0" bIns="0" rtlCol="0" anchor="ctr"/>
          <a:lstStyle/>
          <a:p>
            <a:pPr marL="0" indent="0" algn="ctr">
              <a:buNone/>
            </a:pPr>
            <a:r>
              <a:rPr lang="en-US" sz="1500" b="1">
                <a:solidFill>
                  <a:srgbClr val="64748B"/>
                </a:solidFill>
                <a:latin typeface="Oswald" pitchFamily="34" charset="0"/>
                <a:ea typeface="Oswald" pitchFamily="34" charset="-122"/>
                <a:cs typeface="Oswald" pitchFamily="34" charset="-120"/>
              </a:rPr>
              <a:t>Big 4 / Top IT SIs</a:t>
            </a:r>
            <a:endParaRPr lang="en-US" sz="1500"/>
          </a:p>
        </p:txBody>
      </p:sp>
      <p:sp>
        <p:nvSpPr>
          <p:cNvPr id="19" name="Text 9"/>
          <p:cNvSpPr txBox="1"/>
          <p:nvPr/>
        </p:nvSpPr>
        <p:spPr>
          <a:xfrm>
            <a:off x="8706002" y="1333195"/>
            <a:ext cx="2876702" cy="286207"/>
          </a:xfrm>
          <a:prstGeom prst="rect">
            <a:avLst/>
          </a:prstGeom>
          <a:noFill/>
          <a:ln/>
        </p:spPr>
        <p:txBody>
          <a:bodyPr wrap="square" lIns="0" tIns="0" rIns="0" bIns="0" rtlCol="0" anchor="ctr"/>
          <a:lstStyle/>
          <a:p>
            <a:pPr marL="0" indent="0" algn="ctr">
              <a:buNone/>
            </a:pPr>
            <a:r>
              <a:rPr lang="en-US" sz="1500" b="1">
                <a:solidFill>
                  <a:srgbClr val="64748B"/>
                </a:solidFill>
                <a:latin typeface="Oswald" pitchFamily="34" charset="0"/>
                <a:ea typeface="Oswald" pitchFamily="34" charset="-122"/>
                <a:cs typeface="Oswald" pitchFamily="34" charset="-120"/>
              </a:rPr>
              <a:t>Staffing Agencies</a:t>
            </a:r>
            <a:endParaRPr lang="en-US" sz="1500"/>
          </a:p>
        </p:txBody>
      </p:sp>
      <p:sp>
        <p:nvSpPr>
          <p:cNvPr id="20" name="Text 10"/>
          <p:cNvSpPr txBox="1"/>
          <p:nvPr/>
        </p:nvSpPr>
        <p:spPr>
          <a:xfrm>
            <a:off x="609905" y="19906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ROI &amp; Outcome Model</a:t>
            </a:r>
            <a:endParaRPr lang="en-US" sz="1000"/>
          </a:p>
        </p:txBody>
      </p:sp>
      <p:sp>
        <p:nvSpPr>
          <p:cNvPr id="21" name="Text 11"/>
          <p:cNvSpPr txBox="1"/>
          <p:nvPr/>
        </p:nvSpPr>
        <p:spPr>
          <a:xfrm>
            <a:off x="2895905" y="18068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Outcome-driven from Day 1 - aligned to your milestones, CXO ROI expectations &amp; project KPIs</a:t>
            </a:r>
            <a:endParaRPr lang="en-US" sz="1000"/>
          </a:p>
        </p:txBody>
      </p:sp>
      <p:sp>
        <p:nvSpPr>
          <p:cNvPr id="22" name="Text 12"/>
          <p:cNvSpPr txBox="1"/>
          <p:nvPr/>
        </p:nvSpPr>
        <p:spPr>
          <a:xfrm>
            <a:off x="6038698" y="18068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Heavy retainers + longer payback cycles. High technical debt risk on failed transformations</a:t>
            </a:r>
            <a:endParaRPr lang="en-US" sz="1000"/>
          </a:p>
        </p:txBody>
      </p:sp>
      <p:sp>
        <p:nvSpPr>
          <p:cNvPr id="23" name="Text 13"/>
          <p:cNvSpPr txBox="1"/>
          <p:nvPr/>
        </p:nvSpPr>
        <p:spPr>
          <a:xfrm>
            <a:off x="8896198" y="1893722"/>
            <a:ext cx="2496312"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Headcount model only. Zero delivery ownership or outcome accountability</a:t>
            </a:r>
            <a:endParaRPr lang="en-US" sz="1000"/>
          </a:p>
        </p:txBody>
      </p:sp>
      <p:sp>
        <p:nvSpPr>
          <p:cNvPr id="24" name="Text 14"/>
          <p:cNvSpPr txBox="1"/>
          <p:nvPr/>
        </p:nvSpPr>
        <p:spPr>
          <a:xfrm>
            <a:off x="609905" y="27907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Time-To-Value</a:t>
            </a:r>
            <a:endParaRPr lang="en-US" sz="1000"/>
          </a:p>
        </p:txBody>
      </p:sp>
      <p:sp>
        <p:nvSpPr>
          <p:cNvPr id="25" name="Text 15"/>
          <p:cNvSpPr txBox="1"/>
          <p:nvPr/>
        </p:nvSpPr>
        <p:spPr>
          <a:xfrm>
            <a:off x="2895905" y="26069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Production-ready Gen &amp; Agentic AI PoCs in weeks via 50+ accelerators across SAP, Oracle, ServiceNow &amp; more</a:t>
            </a:r>
            <a:endParaRPr lang="en-US" sz="1000"/>
          </a:p>
        </p:txBody>
      </p:sp>
      <p:sp>
        <p:nvSpPr>
          <p:cNvPr id="26" name="Text 16"/>
          <p:cNvSpPr txBox="1"/>
          <p:nvPr/>
        </p:nvSpPr>
        <p:spPr>
          <a:xfrm>
            <a:off x="6038698" y="26069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Lengthy consulting cycles with SI-driven models - higher costs &amp; slower results</a:t>
            </a:r>
            <a:endParaRPr lang="en-US" sz="1000"/>
          </a:p>
        </p:txBody>
      </p:sp>
      <p:sp>
        <p:nvSpPr>
          <p:cNvPr id="27" name="Text 17"/>
          <p:cNvSpPr txBox="1"/>
          <p:nvPr/>
        </p:nvSpPr>
        <p:spPr>
          <a:xfrm>
            <a:off x="8896198" y="27806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28" name="Text 18"/>
          <p:cNvSpPr txBox="1"/>
          <p:nvPr/>
        </p:nvSpPr>
        <p:spPr>
          <a:xfrm>
            <a:off x="609905" y="35908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AI / Data Governance</a:t>
            </a:r>
            <a:endParaRPr lang="en-US" sz="1000"/>
          </a:p>
        </p:txBody>
      </p:sp>
      <p:sp>
        <p:nvSpPr>
          <p:cNvPr id="29" name="Text 19"/>
          <p:cNvSpPr txBox="1"/>
          <p:nvPr/>
        </p:nvSpPr>
        <p:spPr>
          <a:xfrm>
            <a:off x="2895905" y="3321101"/>
            <a:ext cx="2762402" cy="695858"/>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Pre-built guardrails. Mission-critical delivery in regulated industries (Fortune 500 MedTech). Data stays in your environment</a:t>
            </a:r>
            <a:endParaRPr lang="en-US" sz="1000"/>
          </a:p>
        </p:txBody>
      </p:sp>
      <p:sp>
        <p:nvSpPr>
          <p:cNvPr id="30" name="Text 20"/>
          <p:cNvSpPr txBox="1"/>
          <p:nvPr/>
        </p:nvSpPr>
        <p:spPr>
          <a:xfrm>
            <a:off x="6038698" y="3407054"/>
            <a:ext cx="2477110" cy="523951"/>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Claims excellence, but multiple public incidents (e.g. Deloitte AU govt penalties) undermine credibility</a:t>
            </a:r>
            <a:endParaRPr lang="en-US" sz="1000"/>
          </a:p>
        </p:txBody>
      </p:sp>
      <p:sp>
        <p:nvSpPr>
          <p:cNvPr id="31" name="Text 21"/>
          <p:cNvSpPr txBox="1"/>
          <p:nvPr/>
        </p:nvSpPr>
        <p:spPr>
          <a:xfrm>
            <a:off x="8896198" y="35807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32" name="Text 22"/>
          <p:cNvSpPr txBox="1"/>
          <p:nvPr/>
        </p:nvSpPr>
        <p:spPr>
          <a:xfrm>
            <a:off x="609905" y="4390949"/>
            <a:ext cx="1905610"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AI OPEX Optimisation</a:t>
            </a:r>
            <a:endParaRPr lang="en-US" sz="1000"/>
          </a:p>
        </p:txBody>
      </p:sp>
      <p:sp>
        <p:nvSpPr>
          <p:cNvPr id="33" name="Text 23"/>
          <p:cNvSpPr txBox="1"/>
          <p:nvPr/>
        </p:nvSpPr>
        <p:spPr>
          <a:xfrm>
            <a:off x="2895905" y="42071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30-40% reduction in AI OPEX via Query Routing, Semantic Caching, Precision RAG &amp; in-house SLMs</a:t>
            </a:r>
            <a:endParaRPr lang="en-US" sz="1000"/>
          </a:p>
        </p:txBody>
      </p:sp>
      <p:sp>
        <p:nvSpPr>
          <p:cNvPr id="34" name="Text 24"/>
          <p:cNvSpPr txBox="1"/>
          <p:nvPr/>
        </p:nvSpPr>
        <p:spPr>
          <a:xfrm>
            <a:off x="6038698" y="4294022"/>
            <a:ext cx="2477110"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SI </a:t>
            </a:r>
            <a:r>
              <a:rPr lang="en-US" sz="1000" err="1">
                <a:solidFill>
                  <a:srgbClr val="475569"/>
                </a:solidFill>
                <a:latin typeface="Raleway" pitchFamily="34" charset="0"/>
                <a:ea typeface="Raleway" pitchFamily="34" charset="-122"/>
                <a:cs typeface="Raleway" pitchFamily="34" charset="-120"/>
              </a:rPr>
              <a:t>incentivised</a:t>
            </a:r>
            <a:r>
              <a:rPr lang="en-US" sz="1000">
                <a:solidFill>
                  <a:srgbClr val="475569"/>
                </a:solidFill>
                <a:latin typeface="Raleway" pitchFamily="34" charset="0"/>
                <a:ea typeface="Raleway" pitchFamily="34" charset="-122"/>
                <a:cs typeface="Raleway" pitchFamily="34" charset="-120"/>
              </a:rPr>
              <a:t> to </a:t>
            </a:r>
            <a:r>
              <a:rPr lang="en-US" sz="1000" err="1">
                <a:solidFill>
                  <a:srgbClr val="475569"/>
                </a:solidFill>
                <a:latin typeface="Raleway" pitchFamily="34" charset="0"/>
                <a:ea typeface="Raleway" pitchFamily="34" charset="-122"/>
                <a:cs typeface="Raleway" pitchFamily="34" charset="-120"/>
              </a:rPr>
              <a:t>maximise</a:t>
            </a:r>
            <a:r>
              <a:rPr lang="en-US" sz="1000">
                <a:solidFill>
                  <a:srgbClr val="475569"/>
                </a:solidFill>
                <a:latin typeface="Raleway" pitchFamily="34" charset="0"/>
                <a:ea typeface="Raleway" pitchFamily="34" charset="-122"/>
                <a:cs typeface="Raleway" pitchFamily="34" charset="-120"/>
              </a:rPr>
              <a:t> </a:t>
            </a:r>
            <a:r>
              <a:rPr lang="en-US" sz="1000" err="1">
                <a:solidFill>
                  <a:srgbClr val="475569"/>
                </a:solidFill>
                <a:latin typeface="Raleway" pitchFamily="34" charset="0"/>
                <a:ea typeface="Raleway" pitchFamily="34" charset="-122"/>
                <a:cs typeface="Raleway" pitchFamily="34" charset="-120"/>
              </a:rPr>
              <a:t>licences</a:t>
            </a:r>
            <a:r>
              <a:rPr lang="en-US" sz="1000">
                <a:solidFill>
                  <a:srgbClr val="475569"/>
                </a:solidFill>
                <a:latin typeface="Raleway" pitchFamily="34" charset="0"/>
                <a:ea typeface="Raleway" pitchFamily="34" charset="-122"/>
                <a:cs typeface="Raleway" pitchFamily="34" charset="-120"/>
              </a:rPr>
              <a:t> &amp; tokens - not to </a:t>
            </a:r>
            <a:r>
              <a:rPr lang="en-US" sz="1000" err="1">
                <a:solidFill>
                  <a:srgbClr val="475569"/>
                </a:solidFill>
                <a:latin typeface="Raleway" pitchFamily="34" charset="0"/>
                <a:ea typeface="Raleway" pitchFamily="34" charset="-122"/>
                <a:cs typeface="Raleway" pitchFamily="34" charset="-120"/>
              </a:rPr>
              <a:t>optimise</a:t>
            </a:r>
            <a:r>
              <a:rPr lang="en-US" sz="1000">
                <a:solidFill>
                  <a:srgbClr val="475569"/>
                </a:solidFill>
                <a:latin typeface="Raleway" pitchFamily="34" charset="0"/>
                <a:ea typeface="Raleway" pitchFamily="34" charset="-122"/>
                <a:cs typeface="Raleway" pitchFamily="34" charset="-120"/>
              </a:rPr>
              <a:t> your cost</a:t>
            </a:r>
            <a:endParaRPr lang="en-US" sz="1000"/>
          </a:p>
        </p:txBody>
      </p:sp>
      <p:sp>
        <p:nvSpPr>
          <p:cNvPr id="35" name="Text 25"/>
          <p:cNvSpPr txBox="1"/>
          <p:nvPr/>
        </p:nvSpPr>
        <p:spPr>
          <a:xfrm>
            <a:off x="8896198" y="4380890"/>
            <a:ext cx="2496312" cy="181051"/>
          </a:xfrm>
          <a:prstGeom prst="rect">
            <a:avLst/>
          </a:prstGeom>
          <a:noFill/>
          <a:ln/>
        </p:spPr>
        <p:txBody>
          <a:bodyPr wrap="square" lIns="0" tIns="0" rIns="0" bIns="0" rtlCol="0" anchor="ctr"/>
          <a:lstStyle/>
          <a:p>
            <a:pPr marL="0" indent="0" algn="l">
              <a:buNone/>
            </a:pPr>
            <a:r>
              <a:rPr lang="en-US" sz="1000" i="1">
                <a:solidFill>
                  <a:srgbClr val="94A3B8"/>
                </a:solidFill>
                <a:latin typeface="Raleway" pitchFamily="34" charset="0"/>
                <a:ea typeface="Raleway" pitchFamily="34" charset="-122"/>
                <a:cs typeface="Raleway" pitchFamily="34" charset="-120"/>
              </a:rPr>
              <a:t>Not offered</a:t>
            </a:r>
            <a:endParaRPr lang="en-US" sz="1000"/>
          </a:p>
        </p:txBody>
      </p:sp>
      <p:sp>
        <p:nvSpPr>
          <p:cNvPr id="36" name="Text 26"/>
          <p:cNvSpPr txBox="1"/>
          <p:nvPr/>
        </p:nvSpPr>
        <p:spPr>
          <a:xfrm>
            <a:off x="609905" y="5191049"/>
            <a:ext cx="2143354" cy="152705"/>
          </a:xfrm>
          <a:prstGeom prst="rect">
            <a:avLst/>
          </a:prstGeom>
          <a:noFill/>
          <a:ln/>
        </p:spPr>
        <p:txBody>
          <a:bodyPr wrap="square" lIns="0" tIns="0" rIns="0" bIns="0" rtlCol="0" anchor="ctr"/>
          <a:lstStyle/>
          <a:p>
            <a:pPr marL="0" indent="0" algn="l">
              <a:buNone/>
            </a:pPr>
            <a:r>
              <a:rPr lang="en-US" sz="1000" b="1">
                <a:solidFill>
                  <a:srgbClr val="334155"/>
                </a:solidFill>
                <a:latin typeface="Roboto Condensed" pitchFamily="34" charset="0"/>
                <a:ea typeface="Roboto Condensed" pitchFamily="34" charset="-122"/>
                <a:cs typeface="Roboto Condensed" pitchFamily="34" charset="-120"/>
              </a:rPr>
              <a:t>Talent &amp; Managed Services</a:t>
            </a:r>
            <a:endParaRPr lang="en-US" sz="1000"/>
          </a:p>
        </p:txBody>
      </p:sp>
      <p:sp>
        <p:nvSpPr>
          <p:cNvPr id="37" name="Text 27"/>
          <p:cNvSpPr txBox="1"/>
          <p:nvPr/>
        </p:nvSpPr>
        <p:spPr>
          <a:xfrm>
            <a:off x="2895905" y="5007254"/>
            <a:ext cx="2762402" cy="523951"/>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7,200+ in-house consultants · 300+ recruiters · 2 proprietary hiring platforms · No subcontracting</a:t>
            </a:r>
            <a:endParaRPr lang="en-US" sz="1000"/>
          </a:p>
        </p:txBody>
      </p:sp>
      <p:sp>
        <p:nvSpPr>
          <p:cNvPr id="38" name="Text 28"/>
          <p:cNvSpPr txBox="1"/>
          <p:nvPr/>
        </p:nvSpPr>
        <p:spPr>
          <a:xfrm>
            <a:off x="6038698" y="5094122"/>
            <a:ext cx="2477110"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Frequently subcontract. No proprietary hiring platforms</a:t>
            </a:r>
            <a:endParaRPr lang="en-US" sz="1000"/>
          </a:p>
        </p:txBody>
      </p:sp>
      <p:sp>
        <p:nvSpPr>
          <p:cNvPr id="39" name="Text 29"/>
          <p:cNvSpPr txBox="1"/>
          <p:nvPr/>
        </p:nvSpPr>
        <p:spPr>
          <a:xfrm>
            <a:off x="8896198" y="5094122"/>
            <a:ext cx="2496312" cy="352958"/>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Lacks SME depth &amp; governance. Outcome ownership absent</a:t>
            </a:r>
            <a:endParaRPr lang="en-US" sz="1000"/>
          </a:p>
        </p:txBody>
      </p:sp>
      <p:sp>
        <p:nvSpPr>
          <p:cNvPr id="40" name="Shape 30"/>
          <p:cNvSpPr/>
          <p:nvPr/>
        </p:nvSpPr>
        <p:spPr>
          <a:xfrm>
            <a:off x="2315261" y="5762549"/>
            <a:ext cx="9144" cy="828446"/>
          </a:xfrm>
          <a:prstGeom prst="rect">
            <a:avLst/>
          </a:prstGeom>
          <a:solidFill>
            <a:srgbClr val="E2E8F0"/>
          </a:solidFill>
          <a:ln w="12700">
            <a:solidFill>
              <a:srgbClr val="E2E8F0">
                <a:alpha val="0"/>
              </a:srgbClr>
            </a:solidFill>
            <a:prstDash val="solid"/>
          </a:ln>
        </p:spPr>
        <p:txBody>
          <a:bodyPr/>
          <a:lstStyle/>
          <a:p>
            <a:endParaRPr lang="en-US"/>
          </a:p>
        </p:txBody>
      </p:sp>
      <p:sp>
        <p:nvSpPr>
          <p:cNvPr id="41" name="Text 31"/>
          <p:cNvSpPr txBox="1"/>
          <p:nvPr/>
        </p:nvSpPr>
        <p:spPr>
          <a:xfrm>
            <a:off x="1185062" y="6072530"/>
            <a:ext cx="1043330" cy="210312"/>
          </a:xfrm>
          <a:prstGeom prst="rect">
            <a:avLst/>
          </a:prstGeom>
          <a:noFill/>
          <a:ln/>
        </p:spPr>
        <p:txBody>
          <a:bodyPr wrap="square" lIns="0" tIns="0" rIns="0" bIns="0" rtlCol="0" anchor="ctr"/>
          <a:lstStyle/>
          <a:p>
            <a:pPr marL="0" indent="0" algn="l">
              <a:buNone/>
            </a:pPr>
            <a:r>
              <a:rPr lang="en-US" sz="1100" b="1" kern="0" spc="56">
                <a:solidFill>
                  <a:srgbClr val="64748B"/>
                </a:solidFill>
                <a:latin typeface="Oswald" pitchFamily="34" charset="0"/>
                <a:ea typeface="Oswald" pitchFamily="34" charset="-122"/>
                <a:cs typeface="Oswald" pitchFamily="34" charset="-120"/>
              </a:rPr>
              <a:t> KEY METRICS</a:t>
            </a:r>
            <a:endParaRPr lang="en-US" sz="1100"/>
          </a:p>
        </p:txBody>
      </p:sp>
      <p:pic>
        <p:nvPicPr>
          <p:cNvPr id="42" name="Image 8" descr="gen-dedup-0bed6a635fcb1d23b7a23c5aaedf5133.png"/>
          <p:cNvPicPr>
            <a:picLocks noChangeAspect="1"/>
          </p:cNvPicPr>
          <p:nvPr/>
        </p:nvPicPr>
        <p:blipFill>
          <a:blip r:embed="rId8"/>
          <a:srcRect l="-3526" r="-3526"/>
          <a:stretch/>
        </p:blipFill>
        <p:spPr>
          <a:xfrm>
            <a:off x="913486" y="6118250"/>
            <a:ext cx="152705" cy="142646"/>
          </a:xfrm>
          <a:prstGeom prst="rect">
            <a:avLst/>
          </a:prstGeom>
        </p:spPr>
      </p:pic>
      <p:sp>
        <p:nvSpPr>
          <p:cNvPr id="43" name="Text 32"/>
          <p:cNvSpPr txBox="1"/>
          <p:nvPr/>
        </p:nvSpPr>
        <p:spPr>
          <a:xfrm>
            <a:off x="2506370"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5,500</a:t>
            </a:r>
            <a:endParaRPr lang="en-US" sz="1800"/>
          </a:p>
        </p:txBody>
      </p:sp>
      <p:sp>
        <p:nvSpPr>
          <p:cNvPr id="44" name="Text 33"/>
          <p:cNvSpPr txBox="1"/>
          <p:nvPr/>
        </p:nvSpPr>
        <p:spPr>
          <a:xfrm>
            <a:off x="2506370"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In-house Consultants</a:t>
            </a:r>
            <a:endParaRPr lang="en-US" sz="800"/>
          </a:p>
        </p:txBody>
      </p:sp>
      <p:pic>
        <p:nvPicPr>
          <p:cNvPr id="45" name="Image 9" descr="gen-dedup-bc499f386c10f37c45470adccc65c0cd.png"/>
          <p:cNvPicPr>
            <a:picLocks noChangeAspect="1"/>
          </p:cNvPicPr>
          <p:nvPr/>
        </p:nvPicPr>
        <p:blipFill>
          <a:blip r:embed="rId9"/>
          <a:srcRect t="-2165" b="-2165"/>
          <a:stretch/>
        </p:blipFill>
        <p:spPr>
          <a:xfrm>
            <a:off x="4225442" y="6034126"/>
            <a:ext cx="9144" cy="286207"/>
          </a:xfrm>
          <a:prstGeom prst="rect">
            <a:avLst/>
          </a:prstGeom>
        </p:spPr>
      </p:pic>
      <p:sp>
        <p:nvSpPr>
          <p:cNvPr id="46" name="Text 34"/>
          <p:cNvSpPr txBox="1"/>
          <p:nvPr/>
        </p:nvSpPr>
        <p:spPr>
          <a:xfrm>
            <a:off x="4321454" y="5981090"/>
            <a:ext cx="1638605" cy="228600"/>
          </a:xfrm>
          <a:prstGeom prst="rect">
            <a:avLst/>
          </a:prstGeom>
          <a:noFill/>
          <a:ln/>
        </p:spPr>
        <p:txBody>
          <a:bodyPr wrap="square" lIns="0" tIns="0" rIns="0" bIns="0" rtlCol="0" anchor="ctr"/>
          <a:lstStyle/>
          <a:p>
            <a:pPr marL="0" indent="0" algn="ctr">
              <a:buNone/>
            </a:pPr>
            <a:r>
              <a:rPr lang="en-US" b="1">
                <a:solidFill>
                  <a:srgbClr val="2A9D8F"/>
                </a:solidFill>
                <a:latin typeface="Oswald" pitchFamily="34" charset="0"/>
                <a:ea typeface="Oswald" pitchFamily="34" charset="-122"/>
                <a:cs typeface="Oswald" pitchFamily="34" charset="-120"/>
              </a:rPr>
              <a:t>6</a:t>
            </a:r>
            <a:r>
              <a:rPr lang="en-US" sz="1800" b="1">
                <a:solidFill>
                  <a:srgbClr val="2A9D8F"/>
                </a:solidFill>
                <a:latin typeface="Oswald" pitchFamily="34" charset="0"/>
                <a:ea typeface="Oswald" pitchFamily="34" charset="-122"/>
                <a:cs typeface="Oswald" pitchFamily="34" charset="-120"/>
              </a:rPr>
              <a:t>0+</a:t>
            </a:r>
            <a:endParaRPr lang="en-US" sz="1800"/>
          </a:p>
        </p:txBody>
      </p:sp>
      <p:sp>
        <p:nvSpPr>
          <p:cNvPr id="47" name="Text 35"/>
          <p:cNvSpPr txBox="1"/>
          <p:nvPr/>
        </p:nvSpPr>
        <p:spPr>
          <a:xfrm>
            <a:off x="4321454"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AI Accelerators</a:t>
            </a:r>
            <a:endParaRPr lang="en-US" sz="800"/>
          </a:p>
        </p:txBody>
      </p:sp>
      <p:pic>
        <p:nvPicPr>
          <p:cNvPr id="48" name="Image 10" descr="gen-dedup-bc499f386c10f37c45470adccc65c0cd.png"/>
          <p:cNvPicPr>
            <a:picLocks noChangeAspect="1"/>
          </p:cNvPicPr>
          <p:nvPr/>
        </p:nvPicPr>
        <p:blipFill>
          <a:blip r:embed="rId9"/>
          <a:srcRect t="-2165" b="-2165"/>
          <a:stretch/>
        </p:blipFill>
        <p:spPr>
          <a:xfrm>
            <a:off x="6040526" y="6034126"/>
            <a:ext cx="9144" cy="286207"/>
          </a:xfrm>
          <a:prstGeom prst="rect">
            <a:avLst/>
          </a:prstGeom>
        </p:spPr>
      </p:pic>
      <p:sp>
        <p:nvSpPr>
          <p:cNvPr id="49" name="Text 36"/>
          <p:cNvSpPr txBox="1"/>
          <p:nvPr/>
        </p:nvSpPr>
        <p:spPr>
          <a:xfrm>
            <a:off x="6137453"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30-40%</a:t>
            </a:r>
            <a:endParaRPr lang="en-US" sz="1800"/>
          </a:p>
        </p:txBody>
      </p:sp>
      <p:sp>
        <p:nvSpPr>
          <p:cNvPr id="50" name="Text 37"/>
          <p:cNvSpPr txBox="1"/>
          <p:nvPr/>
        </p:nvSpPr>
        <p:spPr>
          <a:xfrm>
            <a:off x="6137453"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AI OPEX Reduction</a:t>
            </a:r>
            <a:endParaRPr lang="en-US" sz="800"/>
          </a:p>
        </p:txBody>
      </p:sp>
      <p:pic>
        <p:nvPicPr>
          <p:cNvPr id="51" name="Image 11" descr="gen-dedup-bc499f386c10f37c45470adccc65c0cd.png"/>
          <p:cNvPicPr>
            <a:picLocks noChangeAspect="1"/>
          </p:cNvPicPr>
          <p:nvPr/>
        </p:nvPicPr>
        <p:blipFill>
          <a:blip r:embed="rId9"/>
          <a:srcRect t="-2165" b="-2165"/>
          <a:stretch/>
        </p:blipFill>
        <p:spPr>
          <a:xfrm>
            <a:off x="7856525" y="6034126"/>
            <a:ext cx="9144" cy="286207"/>
          </a:xfrm>
          <a:prstGeom prst="rect">
            <a:avLst/>
          </a:prstGeom>
        </p:spPr>
      </p:pic>
      <p:sp>
        <p:nvSpPr>
          <p:cNvPr id="52" name="Text 38"/>
          <p:cNvSpPr txBox="1"/>
          <p:nvPr/>
        </p:nvSpPr>
        <p:spPr>
          <a:xfrm>
            <a:off x="7952537" y="5981090"/>
            <a:ext cx="1638605" cy="228600"/>
          </a:xfrm>
          <a:prstGeom prst="rect">
            <a:avLst/>
          </a:prstGeom>
          <a:noFill/>
          <a:ln/>
        </p:spPr>
        <p:txBody>
          <a:bodyPr wrap="square" lIns="0" tIns="0" rIns="0" bIns="0" rtlCol="0" anchor="ctr"/>
          <a:lstStyle/>
          <a:p>
            <a:pPr marL="0" indent="0" algn="ctr">
              <a:buNone/>
            </a:pPr>
            <a:r>
              <a:rPr lang="en-US" sz="1800" b="1">
                <a:solidFill>
                  <a:srgbClr val="2A9D8F"/>
                </a:solidFill>
                <a:latin typeface="Oswald" pitchFamily="34" charset="0"/>
                <a:ea typeface="Oswald" pitchFamily="34" charset="-122"/>
                <a:cs typeface="Oswald" pitchFamily="34" charset="-120"/>
              </a:rPr>
              <a:t>Weeks</a:t>
            </a:r>
            <a:endParaRPr lang="en-US" sz="1800"/>
          </a:p>
        </p:txBody>
      </p:sp>
      <p:sp>
        <p:nvSpPr>
          <p:cNvPr id="53" name="Text 39"/>
          <p:cNvSpPr txBox="1"/>
          <p:nvPr/>
        </p:nvSpPr>
        <p:spPr>
          <a:xfrm>
            <a:off x="7952537"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PoC to Production</a:t>
            </a:r>
            <a:endParaRPr lang="en-US" sz="800"/>
          </a:p>
        </p:txBody>
      </p:sp>
      <p:pic>
        <p:nvPicPr>
          <p:cNvPr id="54" name="Image 12" descr="gen-dedup-bc499f386c10f37c45470adccc65c0cd.png"/>
          <p:cNvPicPr>
            <a:picLocks noChangeAspect="1"/>
          </p:cNvPicPr>
          <p:nvPr/>
        </p:nvPicPr>
        <p:blipFill>
          <a:blip r:embed="rId9"/>
          <a:srcRect t="-2165" b="-2165"/>
          <a:stretch/>
        </p:blipFill>
        <p:spPr>
          <a:xfrm>
            <a:off x="9671609" y="6034126"/>
            <a:ext cx="9144" cy="286207"/>
          </a:xfrm>
          <a:prstGeom prst="rect">
            <a:avLst/>
          </a:prstGeom>
        </p:spPr>
      </p:pic>
      <p:sp>
        <p:nvSpPr>
          <p:cNvPr id="55" name="Text 40"/>
          <p:cNvSpPr txBox="1"/>
          <p:nvPr/>
        </p:nvSpPr>
        <p:spPr>
          <a:xfrm>
            <a:off x="9767621" y="5981090"/>
            <a:ext cx="1638605" cy="228600"/>
          </a:xfrm>
          <a:prstGeom prst="rect">
            <a:avLst/>
          </a:prstGeom>
          <a:noFill/>
          <a:ln/>
        </p:spPr>
        <p:txBody>
          <a:bodyPr wrap="square" lIns="0" tIns="0" rIns="0" bIns="0" rtlCol="0" anchor="ctr"/>
          <a:lstStyle/>
          <a:p>
            <a:pPr marL="0" indent="0" algn="ctr">
              <a:buNone/>
            </a:pPr>
            <a:r>
              <a:rPr lang="en-US" sz="1800" b="1">
                <a:solidFill>
                  <a:srgbClr val="D62839"/>
                </a:solidFill>
                <a:latin typeface="Oswald" pitchFamily="34" charset="0"/>
                <a:ea typeface="Oswald" pitchFamily="34" charset="-122"/>
                <a:cs typeface="Oswald" pitchFamily="34" charset="-120"/>
              </a:rPr>
              <a:t>0</a:t>
            </a:r>
            <a:endParaRPr lang="en-US" sz="1800"/>
          </a:p>
        </p:txBody>
      </p:sp>
      <p:sp>
        <p:nvSpPr>
          <p:cNvPr id="56" name="Text 41"/>
          <p:cNvSpPr txBox="1"/>
          <p:nvPr/>
        </p:nvSpPr>
        <p:spPr>
          <a:xfrm>
            <a:off x="9767621" y="6247181"/>
            <a:ext cx="1638605" cy="133502"/>
          </a:xfrm>
          <a:prstGeom prst="rect">
            <a:avLst/>
          </a:prstGeom>
          <a:noFill/>
          <a:ln/>
        </p:spPr>
        <p:txBody>
          <a:bodyPr wrap="square" lIns="0" tIns="0" rIns="0" bIns="0" rtlCol="0" anchor="ctr"/>
          <a:lstStyle/>
          <a:p>
            <a:pPr marL="0" indent="0" algn="ctr">
              <a:buNone/>
            </a:pPr>
            <a:r>
              <a:rPr lang="en-US" sz="800" b="1">
                <a:solidFill>
                  <a:srgbClr val="475569"/>
                </a:solidFill>
                <a:latin typeface="Raleway" pitchFamily="34" charset="0"/>
                <a:ea typeface="Raleway" pitchFamily="34" charset="-122"/>
                <a:cs typeface="Raleway" pitchFamily="34" charset="-120"/>
              </a:rPr>
              <a:t>Subcontracting</a:t>
            </a:r>
            <a:endParaRPr lang="en-US" sz="800"/>
          </a:p>
        </p:txBody>
      </p:sp>
    </p:spTree>
    <p:extLst>
      <p:ext uri="{BB962C8B-B14F-4D97-AF65-F5344CB8AC3E}">
        <p14:creationId xmlns:p14="http://schemas.microsoft.com/office/powerpoint/2010/main" val="30727688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C0392B"/>
          </a:solidFill>
          <a:ln w="12700">
            <a:solidFill>
              <a:srgbClr val="C0392B"/>
            </a:solidFill>
            <a:prstDash val="solid"/>
          </a:ln>
        </p:spPr>
        <p:txBody>
          <a:bodyPr/>
          <a:lstStyle/>
          <a:p>
            <a:endParaRPr lang="en-US"/>
          </a:p>
        </p:txBody>
      </p:sp>
      <p:sp>
        <p:nvSpPr>
          <p:cNvPr id="3" name="Shape 1"/>
          <p:cNvSpPr/>
          <p:nvPr/>
        </p:nvSpPr>
        <p:spPr>
          <a:xfrm>
            <a:off x="0" y="64008"/>
            <a:ext cx="109728" cy="1417320"/>
          </a:xfrm>
          <a:prstGeom prst="rect">
            <a:avLst/>
          </a:prstGeom>
          <a:solidFill>
            <a:srgbClr val="C0392B"/>
          </a:solidFill>
          <a:ln w="12700">
            <a:solidFill>
              <a:srgbClr val="C0392B"/>
            </a:solidFill>
            <a:prstDash val="solid"/>
          </a:ln>
        </p:spPr>
        <p:txBody>
          <a:bodyPr/>
          <a:lstStyle/>
          <a:p>
            <a:endParaRPr lang="en-US"/>
          </a:p>
        </p:txBody>
      </p:sp>
      <p:sp>
        <p:nvSpPr>
          <p:cNvPr id="4" name="Text 2"/>
          <p:cNvSpPr/>
          <p:nvPr/>
        </p:nvSpPr>
        <p:spPr>
          <a:xfrm>
            <a:off x="201168" y="91440"/>
            <a:ext cx="11430000" cy="713232"/>
          </a:xfrm>
          <a:prstGeom prst="rect">
            <a:avLst/>
          </a:prstGeom>
          <a:noFill/>
          <a:ln/>
        </p:spPr>
        <p:txBody>
          <a:bodyPr wrap="square" lIns="0" tIns="0" rIns="0" bIns="0" rtlCol="0" anchor="ctr"/>
          <a:lstStyle/>
          <a:p>
            <a:pPr marL="0" indent="0">
              <a:buNone/>
            </a:pPr>
            <a:r>
              <a:rPr lang="en-US" sz="2800" b="1" dirty="0">
                <a:solidFill>
                  <a:srgbClr val="1C1C1C"/>
                </a:solidFill>
                <a:latin typeface="Calibri" pitchFamily="34" charset="0"/>
                <a:ea typeface="Calibri" pitchFamily="34" charset="-122"/>
                <a:cs typeface="Calibri" pitchFamily="34" charset="-120"/>
              </a:rPr>
              <a:t>GREENFIELD TO APAC INNOVATION HUB — 15-YEAR BFSI EVOLUTION</a:t>
            </a:r>
            <a:endParaRPr lang="en-US" sz="2800" dirty="0"/>
          </a:p>
        </p:txBody>
      </p:sp>
      <p:sp>
        <p:nvSpPr>
          <p:cNvPr id="5" name="Text 3"/>
          <p:cNvSpPr/>
          <p:nvPr/>
        </p:nvSpPr>
        <p:spPr>
          <a:xfrm>
            <a:off x="201168" y="822960"/>
            <a:ext cx="11430000" cy="292608"/>
          </a:xfrm>
          <a:prstGeom prst="rect">
            <a:avLst/>
          </a:prstGeom>
          <a:noFill/>
          <a:ln/>
        </p:spPr>
        <p:txBody>
          <a:bodyPr wrap="square" lIns="0" tIns="0" rIns="0" bIns="0" rtlCol="0" anchor="ctr"/>
          <a:lstStyle/>
          <a:p>
            <a:pPr marL="0" indent="0">
              <a:buNone/>
            </a:pPr>
            <a:r>
              <a:rPr lang="en-US" sz="1100" b="1" dirty="0">
                <a:solidFill>
                  <a:srgbClr val="007A7A"/>
                </a:solidFill>
                <a:latin typeface="Calibri" pitchFamily="34" charset="0"/>
                <a:ea typeface="Calibri" pitchFamily="34" charset="-122"/>
                <a:cs typeface="Calibri" pitchFamily="34" charset="-120"/>
              </a:rPr>
              <a:t>GCC  ·  APAC  ·  Banking  ·  AI Credit Risk  ·  KYC/AML  ·  Multi-City</a:t>
            </a:r>
            <a:endParaRPr lang="en-US" sz="1100" dirty="0"/>
          </a:p>
        </p:txBody>
      </p:sp>
      <p:sp>
        <p:nvSpPr>
          <p:cNvPr id="6" name="Shape 4"/>
          <p:cNvSpPr/>
          <p:nvPr/>
        </p:nvSpPr>
        <p:spPr>
          <a:xfrm>
            <a:off x="0" y="1143000"/>
            <a:ext cx="12188952" cy="22860"/>
          </a:xfrm>
          <a:prstGeom prst="rect">
            <a:avLst/>
          </a:prstGeom>
          <a:solidFill>
            <a:srgbClr val="DDDDDD"/>
          </a:solidFill>
          <a:ln w="12700">
            <a:solidFill>
              <a:srgbClr val="DDDDDD"/>
            </a:solidFill>
            <a:prstDash val="solid"/>
          </a:ln>
        </p:spPr>
        <p:txBody>
          <a:bodyPr/>
          <a:lstStyle/>
          <a:p>
            <a:endParaRPr lang="en-US"/>
          </a:p>
        </p:txBody>
      </p:sp>
      <p:sp>
        <p:nvSpPr>
          <p:cNvPr id="7" name="Text 5"/>
          <p:cNvSpPr/>
          <p:nvPr/>
        </p:nvSpPr>
        <p:spPr>
          <a:xfrm>
            <a:off x="201168" y="1170432"/>
            <a:ext cx="11430000" cy="274320"/>
          </a:xfrm>
          <a:prstGeom prst="rect">
            <a:avLst/>
          </a:prstGeom>
          <a:noFill/>
          <a:ln/>
        </p:spPr>
        <p:txBody>
          <a:bodyPr wrap="square" lIns="0" tIns="0" rIns="0" bIns="0" rtlCol="0" anchor="ctr"/>
          <a:lstStyle/>
          <a:p>
            <a:pPr marL="0" indent="0">
              <a:buNone/>
            </a:pPr>
            <a:r>
              <a:rPr lang="en-US" sz="950" i="1" dirty="0">
                <a:solidFill>
                  <a:srgbClr val="555555"/>
                </a:solidFill>
                <a:latin typeface="Calibri" pitchFamily="34" charset="0"/>
                <a:ea typeface="Calibri" pitchFamily="34" charset="-122"/>
                <a:cs typeface="Calibri" pitchFamily="34" charset="-120"/>
              </a:rPr>
              <a:t>Client: Global Banking Leader, APAC   |   Domain: Banking &amp; Financial Services   |   Function: GCC &amp; ODC Setup</a:t>
            </a:r>
            <a:endParaRPr lang="en-US" sz="950" dirty="0"/>
          </a:p>
        </p:txBody>
      </p:sp>
      <p:sp>
        <p:nvSpPr>
          <p:cNvPr id="8" name="Shape 6"/>
          <p:cNvSpPr/>
          <p:nvPr/>
        </p:nvSpPr>
        <p:spPr>
          <a:xfrm>
            <a:off x="137160" y="1508760"/>
            <a:ext cx="5865876" cy="1371600"/>
          </a:xfrm>
          <a:prstGeom prst="rect">
            <a:avLst/>
          </a:prstGeom>
          <a:solidFill>
            <a:srgbClr val="F7F9F9"/>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pic>
        <p:nvPicPr>
          <p:cNvPr id="9" name="Image 0" descr="preencoded.png"/>
          <p:cNvPicPr>
            <a:picLocks noChangeAspect="1"/>
          </p:cNvPicPr>
          <p:nvPr/>
        </p:nvPicPr>
        <p:blipFill>
          <a:blip r:embed="rId3"/>
          <a:stretch>
            <a:fillRect/>
          </a:stretch>
        </p:blipFill>
        <p:spPr>
          <a:xfrm>
            <a:off x="256032" y="1600200"/>
            <a:ext cx="256032" cy="256032"/>
          </a:xfrm>
          <a:prstGeom prst="rect">
            <a:avLst/>
          </a:prstGeom>
        </p:spPr>
      </p:pic>
      <p:sp>
        <p:nvSpPr>
          <p:cNvPr id="10" name="Text 7"/>
          <p:cNvSpPr/>
          <p:nvPr/>
        </p:nvSpPr>
        <p:spPr>
          <a:xfrm>
            <a:off x="566928" y="1581912"/>
            <a:ext cx="5362956" cy="274320"/>
          </a:xfrm>
          <a:prstGeom prst="rect">
            <a:avLst/>
          </a:prstGeom>
          <a:noFill/>
          <a:ln/>
        </p:spPr>
        <p:txBody>
          <a:bodyPr wrap="square" lIns="0" tIns="0" rIns="0" bIns="0" rtlCol="0" anchor="ctr"/>
          <a:lstStyle/>
          <a:p>
            <a:pPr marL="0" indent="0">
              <a:buNone/>
            </a:pPr>
            <a:r>
              <a:rPr lang="en-US" sz="1000" b="1" dirty="0">
                <a:solidFill>
                  <a:srgbClr val="C0392B"/>
                </a:solidFill>
                <a:latin typeface="Calibri" pitchFamily="34" charset="0"/>
                <a:ea typeface="Calibri" pitchFamily="34" charset="-122"/>
                <a:cs typeface="Calibri" pitchFamily="34" charset="-120"/>
              </a:rPr>
              <a:t>THE CHALLENGE</a:t>
            </a:r>
            <a:endParaRPr lang="en-US" sz="1000" dirty="0"/>
          </a:p>
        </p:txBody>
      </p:sp>
      <p:sp>
        <p:nvSpPr>
          <p:cNvPr id="11" name="Text 8"/>
          <p:cNvSpPr/>
          <p:nvPr/>
        </p:nvSpPr>
        <p:spPr>
          <a:xfrm>
            <a:off x="256032" y="1892808"/>
            <a:ext cx="5664708" cy="896112"/>
          </a:xfrm>
          <a:prstGeom prst="rect">
            <a:avLst/>
          </a:prstGeom>
          <a:noFill/>
          <a:ln/>
        </p:spPr>
        <p:txBody>
          <a:bodyPr wrap="square" lIns="0" tIns="0" rIns="0" bIns="0" rtlCol="0" anchor="t"/>
          <a:lstStyle/>
          <a:p>
            <a:pPr marL="0" indent="0">
              <a:buNone/>
            </a:pPr>
            <a:r>
              <a:rPr lang="en-US" sz="950" dirty="0">
                <a:solidFill>
                  <a:srgbClr val="1C1C1C"/>
                </a:solidFill>
                <a:latin typeface="Calibri" pitchFamily="34" charset="0"/>
                <a:ea typeface="Calibri" pitchFamily="34" charset="-122"/>
                <a:cs typeface="Calibri" pitchFamily="34" charset="-120"/>
              </a:rPr>
              <a:t>Global bank needed to build, evolve, and scale a multi-city APAC hub across 15+ years — from lean greenfield foundation to fully automated excellence hub supporting €1.3 trillion in assets across 15 countries, with increasing compliance and AI integration requirements.</a:t>
            </a:r>
            <a:endParaRPr lang="en-US" sz="950" dirty="0"/>
          </a:p>
        </p:txBody>
      </p:sp>
      <p:sp>
        <p:nvSpPr>
          <p:cNvPr id="12" name="Shape 9"/>
          <p:cNvSpPr/>
          <p:nvPr/>
        </p:nvSpPr>
        <p:spPr>
          <a:xfrm>
            <a:off x="6185916" y="1508760"/>
            <a:ext cx="5865876" cy="1371600"/>
          </a:xfrm>
          <a:prstGeom prst="rect">
            <a:avLst/>
          </a:prstGeom>
          <a:solidFill>
            <a:srgbClr val="E6F4F4"/>
          </a:solidFill>
          <a:ln w="6350">
            <a:solidFill>
              <a:srgbClr val="008080"/>
            </a:solidFill>
            <a:prstDash val="solid"/>
          </a:ln>
          <a:effectLst>
            <a:outerShdw blurRad="63500" dist="25400" dir="2700000" algn="bl" rotWithShape="0">
              <a:srgbClr val="000000">
                <a:alpha val="10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6304788" y="1600200"/>
            <a:ext cx="256032" cy="256032"/>
          </a:xfrm>
          <a:prstGeom prst="rect">
            <a:avLst/>
          </a:prstGeom>
        </p:spPr>
      </p:pic>
      <p:sp>
        <p:nvSpPr>
          <p:cNvPr id="14" name="Text 10"/>
          <p:cNvSpPr/>
          <p:nvPr/>
        </p:nvSpPr>
        <p:spPr>
          <a:xfrm>
            <a:off x="6615684" y="1581912"/>
            <a:ext cx="5362956" cy="274320"/>
          </a:xfrm>
          <a:prstGeom prst="rect">
            <a:avLst/>
          </a:prstGeom>
          <a:noFill/>
          <a:ln/>
        </p:spPr>
        <p:txBody>
          <a:bodyPr wrap="square" lIns="0" tIns="0" rIns="0" bIns="0" rtlCol="0" anchor="ctr"/>
          <a:lstStyle/>
          <a:p>
            <a:pPr marL="0" indent="0">
              <a:buNone/>
            </a:pPr>
            <a:r>
              <a:rPr lang="en-US" sz="1000" b="1" dirty="0">
                <a:solidFill>
                  <a:srgbClr val="008080"/>
                </a:solidFill>
                <a:latin typeface="Calibri" pitchFamily="34" charset="0"/>
                <a:ea typeface="Calibri" pitchFamily="34" charset="-122"/>
                <a:cs typeface="Calibri" pitchFamily="34" charset="-120"/>
              </a:rPr>
              <a:t>THE SOLUTION</a:t>
            </a:r>
            <a:endParaRPr lang="en-US" sz="1000" dirty="0"/>
          </a:p>
        </p:txBody>
      </p:sp>
      <p:sp>
        <p:nvSpPr>
          <p:cNvPr id="15" name="Text 11"/>
          <p:cNvSpPr/>
          <p:nvPr/>
        </p:nvSpPr>
        <p:spPr>
          <a:xfrm>
            <a:off x="6304788" y="1892808"/>
            <a:ext cx="5664708" cy="896112"/>
          </a:xfrm>
          <a:prstGeom prst="rect">
            <a:avLst/>
          </a:prstGeom>
          <a:noFill/>
          <a:ln/>
        </p:spPr>
        <p:txBody>
          <a:bodyPr wrap="square" lIns="0" tIns="0" rIns="0" bIns="0" rtlCol="0" anchor="t"/>
          <a:lstStyle/>
          <a:p>
            <a:pPr marL="0" indent="0">
              <a:buNone/>
            </a:pPr>
            <a:r>
              <a:rPr lang="en-US" sz="950" dirty="0">
                <a:solidFill>
                  <a:srgbClr val="1C1C1C"/>
                </a:solidFill>
                <a:latin typeface="Calibri" pitchFamily="34" charset="0"/>
                <a:ea typeface="Calibri" pitchFamily="34" charset="-122"/>
                <a:cs typeface="Calibri" pitchFamily="34" charset="-120"/>
              </a:rPr>
              <a:t>Phase 1: 120 professionals, core BFSI CoE. Phase 2: 450+ specialists, AI-driven risk automation, 98% fraud detection. Phase 3: 700+ professionals across APAC with automated KYC/AML, real-time reporting, $1.2B annual value generation.</a:t>
            </a:r>
            <a:endParaRPr lang="en-US" sz="950" dirty="0"/>
          </a:p>
        </p:txBody>
      </p:sp>
      <p:sp>
        <p:nvSpPr>
          <p:cNvPr id="16" name="Text 12"/>
          <p:cNvSpPr/>
          <p:nvPr/>
        </p:nvSpPr>
        <p:spPr>
          <a:xfrm>
            <a:off x="137160" y="3017520"/>
            <a:ext cx="4572000" cy="201168"/>
          </a:xfrm>
          <a:prstGeom prst="rect">
            <a:avLst/>
          </a:prstGeom>
          <a:noFill/>
          <a:ln/>
        </p:spPr>
        <p:txBody>
          <a:bodyPr wrap="square" lIns="0" tIns="0" rIns="0" bIns="0" rtlCol="0" anchor="ctr"/>
          <a:lstStyle/>
          <a:p>
            <a:pPr marL="0" indent="0">
              <a:buNone/>
            </a:pPr>
            <a:r>
              <a:rPr lang="en-US" sz="900" b="1" kern="0" spc="100" dirty="0">
                <a:solidFill>
                  <a:srgbClr val="555555"/>
                </a:solidFill>
                <a:latin typeface="Calibri" pitchFamily="34" charset="0"/>
                <a:ea typeface="Calibri" pitchFamily="34" charset="-122"/>
                <a:cs typeface="Calibri" pitchFamily="34" charset="-120"/>
              </a:rPr>
              <a:t>⚙  KEY CAPABILITIES</a:t>
            </a:r>
            <a:endParaRPr lang="en-US" sz="900" dirty="0"/>
          </a:p>
        </p:txBody>
      </p:sp>
      <p:sp>
        <p:nvSpPr>
          <p:cNvPr id="17" name="Shape 13"/>
          <p:cNvSpPr/>
          <p:nvPr/>
        </p:nvSpPr>
        <p:spPr>
          <a:xfrm>
            <a:off x="137160"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18" name="Shape 14"/>
          <p:cNvSpPr/>
          <p:nvPr/>
        </p:nvSpPr>
        <p:spPr>
          <a:xfrm>
            <a:off x="137160"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19" name="Text 15"/>
          <p:cNvSpPr/>
          <p:nvPr/>
        </p:nvSpPr>
        <p:spPr>
          <a:xfrm>
            <a:off x="210312"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Phase 1 Banking GCC Foundation</a:t>
            </a:r>
            <a:endParaRPr lang="en-US" sz="950" dirty="0"/>
          </a:p>
        </p:txBody>
      </p:sp>
      <p:sp>
        <p:nvSpPr>
          <p:cNvPr id="20" name="Text 16"/>
          <p:cNvSpPr/>
          <p:nvPr/>
        </p:nvSpPr>
        <p:spPr>
          <a:xfrm>
            <a:off x="210312"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120 professionals establishing core BFSI CoE operations with compliance engine and risk framework.</a:t>
            </a:r>
            <a:endParaRPr lang="en-US" sz="850" dirty="0"/>
          </a:p>
        </p:txBody>
      </p:sp>
      <p:sp>
        <p:nvSpPr>
          <p:cNvPr id="21" name="Shape 17"/>
          <p:cNvSpPr/>
          <p:nvPr/>
        </p:nvSpPr>
        <p:spPr>
          <a:xfrm>
            <a:off x="4047744"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22" name="Shape 18"/>
          <p:cNvSpPr/>
          <p:nvPr/>
        </p:nvSpPr>
        <p:spPr>
          <a:xfrm>
            <a:off x="4047744"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23" name="Text 19"/>
          <p:cNvSpPr/>
          <p:nvPr/>
        </p:nvSpPr>
        <p:spPr>
          <a:xfrm>
            <a:off x="4120896"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Phase 2 Digital Transformation</a:t>
            </a:r>
            <a:endParaRPr lang="en-US" sz="950" dirty="0"/>
          </a:p>
        </p:txBody>
      </p:sp>
      <p:sp>
        <p:nvSpPr>
          <p:cNvPr id="24" name="Text 20"/>
          <p:cNvSpPr/>
          <p:nvPr/>
        </p:nvSpPr>
        <p:spPr>
          <a:xfrm>
            <a:off x="4120896"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450+ specialists driving AI-powered risk accuracy improvement of 30% and retail banking automation of 45%.</a:t>
            </a:r>
            <a:endParaRPr lang="en-US" sz="850" dirty="0"/>
          </a:p>
        </p:txBody>
      </p:sp>
      <p:sp>
        <p:nvSpPr>
          <p:cNvPr id="25" name="Shape 21"/>
          <p:cNvSpPr/>
          <p:nvPr/>
        </p:nvSpPr>
        <p:spPr>
          <a:xfrm>
            <a:off x="7958328"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26" name="Shape 22"/>
          <p:cNvSpPr/>
          <p:nvPr/>
        </p:nvSpPr>
        <p:spPr>
          <a:xfrm>
            <a:off x="7958328"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27" name="Text 23"/>
          <p:cNvSpPr/>
          <p:nvPr/>
        </p:nvSpPr>
        <p:spPr>
          <a:xfrm>
            <a:off x="8031480"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Phase 3 APAC Excellence Hub</a:t>
            </a:r>
            <a:endParaRPr lang="en-US" sz="950" dirty="0"/>
          </a:p>
        </p:txBody>
      </p:sp>
      <p:sp>
        <p:nvSpPr>
          <p:cNvPr id="28" name="Text 24"/>
          <p:cNvSpPr/>
          <p:nvPr/>
        </p:nvSpPr>
        <p:spPr>
          <a:xfrm>
            <a:off x="8031480"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700+ professionals across multi-city hub with automated KYC/AML and real-time reporting across 15 countries.</a:t>
            </a:r>
            <a:endParaRPr lang="en-US" sz="850" dirty="0"/>
          </a:p>
        </p:txBody>
      </p:sp>
      <p:sp>
        <p:nvSpPr>
          <p:cNvPr id="29" name="Shape 25"/>
          <p:cNvSpPr/>
          <p:nvPr/>
        </p:nvSpPr>
        <p:spPr>
          <a:xfrm>
            <a:off x="137160"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0" name="Shape 26"/>
          <p:cNvSpPr/>
          <p:nvPr/>
        </p:nvSpPr>
        <p:spPr>
          <a:xfrm>
            <a:off x="137160"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1" name="Text 27"/>
          <p:cNvSpPr/>
          <p:nvPr/>
        </p:nvSpPr>
        <p:spPr>
          <a:xfrm>
            <a:off x="210312"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AI-Powered Credit Risk Modelling</a:t>
            </a:r>
            <a:endParaRPr lang="en-US" sz="950" dirty="0"/>
          </a:p>
        </p:txBody>
      </p:sp>
      <p:sp>
        <p:nvSpPr>
          <p:cNvPr id="32" name="Text 28"/>
          <p:cNvSpPr/>
          <p:nvPr/>
        </p:nvSpPr>
        <p:spPr>
          <a:xfrm>
            <a:off x="210312"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92% accuracy in AI-driven credit risk modelling supporting enterprise-scale financial decision-making.</a:t>
            </a:r>
            <a:endParaRPr lang="en-US" sz="850" dirty="0"/>
          </a:p>
        </p:txBody>
      </p:sp>
      <p:sp>
        <p:nvSpPr>
          <p:cNvPr id="33" name="Shape 29"/>
          <p:cNvSpPr/>
          <p:nvPr/>
        </p:nvSpPr>
        <p:spPr>
          <a:xfrm>
            <a:off x="4047744"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4" name="Shape 30"/>
          <p:cNvSpPr/>
          <p:nvPr/>
        </p:nvSpPr>
        <p:spPr>
          <a:xfrm>
            <a:off x="4047744"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5" name="Text 31"/>
          <p:cNvSpPr/>
          <p:nvPr/>
        </p:nvSpPr>
        <p:spPr>
          <a:xfrm>
            <a:off x="4120896"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Regulatory Compliance at Scale</a:t>
            </a:r>
            <a:endParaRPr lang="en-US" sz="950" dirty="0"/>
          </a:p>
        </p:txBody>
      </p:sp>
      <p:sp>
        <p:nvSpPr>
          <p:cNvPr id="36" name="Text 32"/>
          <p:cNvSpPr/>
          <p:nvPr/>
        </p:nvSpPr>
        <p:spPr>
          <a:xfrm>
            <a:off x="4120896"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100% regulatory compliance maintained across all APAC jurisdictions throughout every phase.</a:t>
            </a:r>
            <a:endParaRPr lang="en-US" sz="850" dirty="0"/>
          </a:p>
        </p:txBody>
      </p:sp>
      <p:sp>
        <p:nvSpPr>
          <p:cNvPr id="37" name="Shape 33"/>
          <p:cNvSpPr/>
          <p:nvPr/>
        </p:nvSpPr>
        <p:spPr>
          <a:xfrm>
            <a:off x="7958328"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8" name="Shape 34"/>
          <p:cNvSpPr/>
          <p:nvPr/>
        </p:nvSpPr>
        <p:spPr>
          <a:xfrm>
            <a:off x="7958328"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9" name="Text 35"/>
          <p:cNvSpPr/>
          <p:nvPr/>
        </p:nvSpPr>
        <p:spPr>
          <a:xfrm>
            <a:off x="8031480"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Continuous Innovation Engine</a:t>
            </a:r>
            <a:endParaRPr lang="en-US" sz="950" dirty="0"/>
          </a:p>
        </p:txBody>
      </p:sp>
      <p:sp>
        <p:nvSpPr>
          <p:cNvPr id="40" name="Text 36"/>
          <p:cNvSpPr/>
          <p:nvPr/>
        </p:nvSpPr>
        <p:spPr>
          <a:xfrm>
            <a:off x="8031480"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Sustainable innovation frameworks ensuring the hub remains at the forefront of BFSI operations.</a:t>
            </a:r>
            <a:endParaRPr lang="en-US" sz="850" dirty="0"/>
          </a:p>
        </p:txBody>
      </p:sp>
      <p:sp>
        <p:nvSpPr>
          <p:cNvPr id="41" name="Shape 37"/>
          <p:cNvSpPr/>
          <p:nvPr/>
        </p:nvSpPr>
        <p:spPr>
          <a:xfrm>
            <a:off x="0" y="5943600"/>
            <a:ext cx="4062984" cy="914400"/>
          </a:xfrm>
          <a:prstGeom prst="rect">
            <a:avLst/>
          </a:prstGeom>
          <a:solidFill>
            <a:srgbClr val="006B6B"/>
          </a:solidFill>
          <a:ln w="12700">
            <a:solidFill>
              <a:srgbClr val="006B6B"/>
            </a:solidFill>
            <a:prstDash val="solid"/>
          </a:ln>
        </p:spPr>
        <p:txBody>
          <a:bodyPr/>
          <a:lstStyle/>
          <a:p>
            <a:endParaRPr lang="en-US"/>
          </a:p>
        </p:txBody>
      </p:sp>
      <p:sp>
        <p:nvSpPr>
          <p:cNvPr id="42" name="Text 38"/>
          <p:cNvSpPr/>
          <p:nvPr/>
        </p:nvSpPr>
        <p:spPr>
          <a:xfrm>
            <a:off x="91440"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700+</a:t>
            </a:r>
            <a:endParaRPr lang="en-US" sz="2000" dirty="0"/>
          </a:p>
        </p:txBody>
      </p:sp>
      <p:sp>
        <p:nvSpPr>
          <p:cNvPr id="43" name="Text 39"/>
          <p:cNvSpPr/>
          <p:nvPr/>
        </p:nvSpPr>
        <p:spPr>
          <a:xfrm>
            <a:off x="91440"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Professionals Across APAC</a:t>
            </a:r>
            <a:endParaRPr lang="en-US" sz="850" dirty="0"/>
          </a:p>
        </p:txBody>
      </p:sp>
      <p:sp>
        <p:nvSpPr>
          <p:cNvPr id="44" name="Shape 40"/>
          <p:cNvSpPr/>
          <p:nvPr/>
        </p:nvSpPr>
        <p:spPr>
          <a:xfrm>
            <a:off x="4062984" y="5943600"/>
            <a:ext cx="4062984" cy="914400"/>
          </a:xfrm>
          <a:prstGeom prst="rect">
            <a:avLst/>
          </a:prstGeom>
          <a:solidFill>
            <a:srgbClr val="008080"/>
          </a:solidFill>
          <a:ln w="12700">
            <a:solidFill>
              <a:srgbClr val="008080"/>
            </a:solidFill>
            <a:prstDash val="solid"/>
          </a:ln>
        </p:spPr>
        <p:txBody>
          <a:bodyPr/>
          <a:lstStyle/>
          <a:p>
            <a:endParaRPr lang="en-US"/>
          </a:p>
        </p:txBody>
      </p:sp>
      <p:sp>
        <p:nvSpPr>
          <p:cNvPr id="45" name="Text 41"/>
          <p:cNvSpPr/>
          <p:nvPr/>
        </p:nvSpPr>
        <p:spPr>
          <a:xfrm>
            <a:off x="4154424"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92%</a:t>
            </a:r>
            <a:endParaRPr lang="en-US" sz="2000" dirty="0"/>
          </a:p>
        </p:txBody>
      </p:sp>
      <p:sp>
        <p:nvSpPr>
          <p:cNvPr id="46" name="Text 42"/>
          <p:cNvSpPr/>
          <p:nvPr/>
        </p:nvSpPr>
        <p:spPr>
          <a:xfrm>
            <a:off x="4154424"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AI Credit-Risk Modeling Accuracy</a:t>
            </a:r>
            <a:endParaRPr lang="en-US" sz="850" dirty="0"/>
          </a:p>
        </p:txBody>
      </p:sp>
      <p:sp>
        <p:nvSpPr>
          <p:cNvPr id="47" name="Shape 43"/>
          <p:cNvSpPr/>
          <p:nvPr/>
        </p:nvSpPr>
        <p:spPr>
          <a:xfrm>
            <a:off x="8125968" y="5943600"/>
            <a:ext cx="4062984" cy="914400"/>
          </a:xfrm>
          <a:prstGeom prst="rect">
            <a:avLst/>
          </a:prstGeom>
          <a:solidFill>
            <a:srgbClr val="006B6B"/>
          </a:solidFill>
          <a:ln w="12700">
            <a:solidFill>
              <a:srgbClr val="006B6B"/>
            </a:solidFill>
            <a:prstDash val="solid"/>
          </a:ln>
        </p:spPr>
        <p:txBody>
          <a:bodyPr/>
          <a:lstStyle/>
          <a:p>
            <a:endParaRPr lang="en-US"/>
          </a:p>
        </p:txBody>
      </p:sp>
      <p:sp>
        <p:nvSpPr>
          <p:cNvPr id="48" name="Text 44"/>
          <p:cNvSpPr/>
          <p:nvPr/>
        </p:nvSpPr>
        <p:spPr>
          <a:xfrm>
            <a:off x="8217408"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$1.2B</a:t>
            </a:r>
            <a:endParaRPr lang="en-US" sz="2000" dirty="0"/>
          </a:p>
        </p:txBody>
      </p:sp>
      <p:sp>
        <p:nvSpPr>
          <p:cNvPr id="49" name="Text 45"/>
          <p:cNvSpPr/>
          <p:nvPr/>
        </p:nvSpPr>
        <p:spPr>
          <a:xfrm>
            <a:off x="8217408"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Annual Value Generation</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C0392B"/>
          </a:solidFill>
          <a:ln w="12700">
            <a:solidFill>
              <a:srgbClr val="C0392B"/>
            </a:solidFill>
            <a:prstDash val="solid"/>
          </a:ln>
        </p:spPr>
        <p:txBody>
          <a:bodyPr/>
          <a:lstStyle/>
          <a:p>
            <a:endParaRPr lang="en-US"/>
          </a:p>
        </p:txBody>
      </p:sp>
      <p:sp>
        <p:nvSpPr>
          <p:cNvPr id="3" name="Shape 1"/>
          <p:cNvSpPr/>
          <p:nvPr/>
        </p:nvSpPr>
        <p:spPr>
          <a:xfrm>
            <a:off x="0" y="64008"/>
            <a:ext cx="109728" cy="1417320"/>
          </a:xfrm>
          <a:prstGeom prst="rect">
            <a:avLst/>
          </a:prstGeom>
          <a:solidFill>
            <a:srgbClr val="C0392B"/>
          </a:solidFill>
          <a:ln w="12700">
            <a:solidFill>
              <a:srgbClr val="C0392B"/>
            </a:solidFill>
            <a:prstDash val="solid"/>
          </a:ln>
        </p:spPr>
        <p:txBody>
          <a:bodyPr/>
          <a:lstStyle/>
          <a:p>
            <a:endParaRPr lang="en-US"/>
          </a:p>
        </p:txBody>
      </p:sp>
      <p:sp>
        <p:nvSpPr>
          <p:cNvPr id="4" name="Text 2"/>
          <p:cNvSpPr/>
          <p:nvPr/>
        </p:nvSpPr>
        <p:spPr>
          <a:xfrm>
            <a:off x="201168" y="91440"/>
            <a:ext cx="11430000" cy="713232"/>
          </a:xfrm>
          <a:prstGeom prst="rect">
            <a:avLst/>
          </a:prstGeom>
          <a:noFill/>
          <a:ln/>
        </p:spPr>
        <p:txBody>
          <a:bodyPr wrap="square" lIns="0" tIns="0" rIns="0" bIns="0" rtlCol="0" anchor="ctr"/>
          <a:lstStyle/>
          <a:p>
            <a:pPr marL="0" indent="0">
              <a:buNone/>
            </a:pPr>
            <a:r>
              <a:rPr lang="en-US" sz="2800" b="1" dirty="0">
                <a:solidFill>
                  <a:srgbClr val="1C1C1C"/>
                </a:solidFill>
                <a:latin typeface="Calibri" pitchFamily="34" charset="0"/>
                <a:ea typeface="Calibri" pitchFamily="34" charset="-122"/>
                <a:cs typeface="Calibri" pitchFamily="34" charset="-120"/>
              </a:rPr>
              <a:t>FINANCE &amp; TECHNOLOGY COE BUILD — GLOBAL INDUSTRIAL LEADER (SULZER)</a:t>
            </a:r>
            <a:endParaRPr lang="en-US" sz="2800" dirty="0"/>
          </a:p>
        </p:txBody>
      </p:sp>
      <p:sp>
        <p:nvSpPr>
          <p:cNvPr id="5" name="Text 3"/>
          <p:cNvSpPr/>
          <p:nvPr/>
        </p:nvSpPr>
        <p:spPr>
          <a:xfrm>
            <a:off x="201168" y="822960"/>
            <a:ext cx="11430000" cy="292608"/>
          </a:xfrm>
          <a:prstGeom prst="rect">
            <a:avLst/>
          </a:prstGeom>
          <a:noFill/>
          <a:ln/>
        </p:spPr>
        <p:txBody>
          <a:bodyPr wrap="square" lIns="0" tIns="0" rIns="0" bIns="0" rtlCol="0" anchor="ctr"/>
          <a:lstStyle/>
          <a:p>
            <a:pPr marL="0" indent="0">
              <a:buNone/>
            </a:pPr>
            <a:r>
              <a:rPr lang="en-US" sz="1100" b="1" dirty="0">
                <a:solidFill>
                  <a:srgbClr val="007A7A"/>
                </a:solidFill>
                <a:latin typeface="Calibri" pitchFamily="34" charset="0"/>
                <a:ea typeface="Calibri" pitchFamily="34" charset="-122"/>
                <a:cs typeface="Calibri" pitchFamily="34" charset="-120"/>
              </a:rPr>
              <a:t>BOT Model  ·  150 Hires  ·  RPA  ·  Finance  ·  ServiceNow  ·  GCC</a:t>
            </a:r>
            <a:endParaRPr lang="en-US" sz="1100" dirty="0"/>
          </a:p>
        </p:txBody>
      </p:sp>
      <p:sp>
        <p:nvSpPr>
          <p:cNvPr id="6" name="Shape 4"/>
          <p:cNvSpPr/>
          <p:nvPr/>
        </p:nvSpPr>
        <p:spPr>
          <a:xfrm>
            <a:off x="0" y="1143000"/>
            <a:ext cx="12188952" cy="22860"/>
          </a:xfrm>
          <a:prstGeom prst="rect">
            <a:avLst/>
          </a:prstGeom>
          <a:solidFill>
            <a:srgbClr val="DDDDDD"/>
          </a:solidFill>
          <a:ln w="12700">
            <a:solidFill>
              <a:srgbClr val="DDDDDD"/>
            </a:solidFill>
            <a:prstDash val="solid"/>
          </a:ln>
        </p:spPr>
        <p:txBody>
          <a:bodyPr/>
          <a:lstStyle/>
          <a:p>
            <a:endParaRPr lang="en-US"/>
          </a:p>
        </p:txBody>
      </p:sp>
      <p:sp>
        <p:nvSpPr>
          <p:cNvPr id="7" name="Text 5"/>
          <p:cNvSpPr/>
          <p:nvPr/>
        </p:nvSpPr>
        <p:spPr>
          <a:xfrm>
            <a:off x="201168" y="1170432"/>
            <a:ext cx="11430000" cy="274320"/>
          </a:xfrm>
          <a:prstGeom prst="rect">
            <a:avLst/>
          </a:prstGeom>
          <a:noFill/>
          <a:ln/>
        </p:spPr>
        <p:txBody>
          <a:bodyPr wrap="square" lIns="0" tIns="0" rIns="0" bIns="0" rtlCol="0" anchor="ctr"/>
          <a:lstStyle/>
          <a:p>
            <a:pPr marL="0" indent="0">
              <a:buNone/>
            </a:pPr>
            <a:r>
              <a:rPr lang="en-US" sz="950" i="1" dirty="0">
                <a:solidFill>
                  <a:srgbClr val="555555"/>
                </a:solidFill>
                <a:latin typeface="Calibri" pitchFamily="34" charset="0"/>
                <a:ea typeface="Calibri" pitchFamily="34" charset="-122"/>
                <a:cs typeface="Calibri" pitchFamily="34" charset="-120"/>
              </a:rPr>
              <a:t>Client: Global Industrial Engineering Leader (Sulzer)   |   Domain: Industrial Engineering   |   Function: GCC &amp; ODC Setup</a:t>
            </a:r>
            <a:endParaRPr lang="en-US" sz="950" dirty="0"/>
          </a:p>
        </p:txBody>
      </p:sp>
      <p:sp>
        <p:nvSpPr>
          <p:cNvPr id="8" name="Shape 6"/>
          <p:cNvSpPr/>
          <p:nvPr/>
        </p:nvSpPr>
        <p:spPr>
          <a:xfrm>
            <a:off x="137160" y="1508760"/>
            <a:ext cx="5865876" cy="1371600"/>
          </a:xfrm>
          <a:prstGeom prst="rect">
            <a:avLst/>
          </a:prstGeom>
          <a:solidFill>
            <a:srgbClr val="F7F9F9"/>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pic>
        <p:nvPicPr>
          <p:cNvPr id="9" name="Image 0" descr="preencoded.png"/>
          <p:cNvPicPr>
            <a:picLocks noChangeAspect="1"/>
          </p:cNvPicPr>
          <p:nvPr/>
        </p:nvPicPr>
        <p:blipFill>
          <a:blip r:embed="rId3"/>
          <a:stretch>
            <a:fillRect/>
          </a:stretch>
        </p:blipFill>
        <p:spPr>
          <a:xfrm>
            <a:off x="256032" y="1600200"/>
            <a:ext cx="256032" cy="256032"/>
          </a:xfrm>
          <a:prstGeom prst="rect">
            <a:avLst/>
          </a:prstGeom>
        </p:spPr>
      </p:pic>
      <p:sp>
        <p:nvSpPr>
          <p:cNvPr id="10" name="Text 7"/>
          <p:cNvSpPr/>
          <p:nvPr/>
        </p:nvSpPr>
        <p:spPr>
          <a:xfrm>
            <a:off x="566928" y="1581912"/>
            <a:ext cx="5362956" cy="274320"/>
          </a:xfrm>
          <a:prstGeom prst="rect">
            <a:avLst/>
          </a:prstGeom>
          <a:noFill/>
          <a:ln/>
        </p:spPr>
        <p:txBody>
          <a:bodyPr wrap="square" lIns="0" tIns="0" rIns="0" bIns="0" rtlCol="0" anchor="ctr"/>
          <a:lstStyle/>
          <a:p>
            <a:pPr marL="0" indent="0">
              <a:buNone/>
            </a:pPr>
            <a:r>
              <a:rPr lang="en-US" sz="1000" b="1" dirty="0">
                <a:solidFill>
                  <a:srgbClr val="C0392B"/>
                </a:solidFill>
                <a:latin typeface="Calibri" pitchFamily="34" charset="0"/>
                <a:ea typeface="Calibri" pitchFamily="34" charset="-122"/>
                <a:cs typeface="Calibri" pitchFamily="34" charset="-120"/>
              </a:rPr>
              <a:t>THE CHALLENGE</a:t>
            </a:r>
            <a:endParaRPr lang="en-US" sz="1000" dirty="0"/>
          </a:p>
        </p:txBody>
      </p:sp>
      <p:sp>
        <p:nvSpPr>
          <p:cNvPr id="11" name="Text 8"/>
          <p:cNvSpPr/>
          <p:nvPr/>
        </p:nvSpPr>
        <p:spPr>
          <a:xfrm>
            <a:off x="256032" y="1892808"/>
            <a:ext cx="5664708" cy="896112"/>
          </a:xfrm>
          <a:prstGeom prst="rect">
            <a:avLst/>
          </a:prstGeom>
          <a:noFill/>
          <a:ln/>
        </p:spPr>
        <p:txBody>
          <a:bodyPr wrap="square" lIns="0" tIns="0" rIns="0" bIns="0" rtlCol="0" anchor="t"/>
          <a:lstStyle/>
          <a:p>
            <a:pPr marL="0" indent="0">
              <a:buNone/>
            </a:pPr>
            <a:r>
              <a:rPr lang="en-US" sz="950" dirty="0">
                <a:solidFill>
                  <a:srgbClr val="1C1C1C"/>
                </a:solidFill>
                <a:latin typeface="Calibri" pitchFamily="34" charset="0"/>
                <a:ea typeface="Calibri" pitchFamily="34" charset="-122"/>
                <a:cs typeface="Calibri" pitchFamily="34" charset="-120"/>
              </a:rPr>
              <a:t>Global industrial leader needed 150-member India CoE across Finance and Technology within 6 months — niche roles including ServiceNow engineers, SAP architects, finance transformation specialists, and data engineering leads requiring rapid scaling and operational maturity.</a:t>
            </a:r>
            <a:endParaRPr lang="en-US" sz="950" dirty="0"/>
          </a:p>
        </p:txBody>
      </p:sp>
      <p:sp>
        <p:nvSpPr>
          <p:cNvPr id="12" name="Shape 9"/>
          <p:cNvSpPr/>
          <p:nvPr/>
        </p:nvSpPr>
        <p:spPr>
          <a:xfrm>
            <a:off x="6185916" y="1508760"/>
            <a:ext cx="5865876" cy="1371600"/>
          </a:xfrm>
          <a:prstGeom prst="rect">
            <a:avLst/>
          </a:prstGeom>
          <a:solidFill>
            <a:srgbClr val="E6F4F4"/>
          </a:solidFill>
          <a:ln w="6350">
            <a:solidFill>
              <a:srgbClr val="008080"/>
            </a:solidFill>
            <a:prstDash val="solid"/>
          </a:ln>
          <a:effectLst>
            <a:outerShdw blurRad="63500" dist="25400" dir="2700000" algn="bl" rotWithShape="0">
              <a:srgbClr val="000000">
                <a:alpha val="10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6304788" y="1600200"/>
            <a:ext cx="256032" cy="256032"/>
          </a:xfrm>
          <a:prstGeom prst="rect">
            <a:avLst/>
          </a:prstGeom>
        </p:spPr>
      </p:pic>
      <p:sp>
        <p:nvSpPr>
          <p:cNvPr id="14" name="Text 10"/>
          <p:cNvSpPr/>
          <p:nvPr/>
        </p:nvSpPr>
        <p:spPr>
          <a:xfrm>
            <a:off x="6615684" y="1581912"/>
            <a:ext cx="5362956" cy="274320"/>
          </a:xfrm>
          <a:prstGeom prst="rect">
            <a:avLst/>
          </a:prstGeom>
          <a:noFill/>
          <a:ln/>
        </p:spPr>
        <p:txBody>
          <a:bodyPr wrap="square" lIns="0" tIns="0" rIns="0" bIns="0" rtlCol="0" anchor="ctr"/>
          <a:lstStyle/>
          <a:p>
            <a:pPr marL="0" indent="0">
              <a:buNone/>
            </a:pPr>
            <a:r>
              <a:rPr lang="en-US" sz="1000" b="1" dirty="0">
                <a:solidFill>
                  <a:srgbClr val="008080"/>
                </a:solidFill>
                <a:latin typeface="Calibri" pitchFamily="34" charset="0"/>
                <a:ea typeface="Calibri" pitchFamily="34" charset="-122"/>
                <a:cs typeface="Calibri" pitchFamily="34" charset="-120"/>
              </a:rPr>
              <a:t>THE SOLUTION</a:t>
            </a:r>
            <a:endParaRPr lang="en-US" sz="1000" dirty="0"/>
          </a:p>
        </p:txBody>
      </p:sp>
      <p:sp>
        <p:nvSpPr>
          <p:cNvPr id="15" name="Text 11"/>
          <p:cNvSpPr/>
          <p:nvPr/>
        </p:nvSpPr>
        <p:spPr>
          <a:xfrm>
            <a:off x="6304788" y="1892808"/>
            <a:ext cx="5664708" cy="896112"/>
          </a:xfrm>
          <a:prstGeom prst="rect">
            <a:avLst/>
          </a:prstGeom>
          <a:noFill/>
          <a:ln/>
        </p:spPr>
        <p:txBody>
          <a:bodyPr wrap="square" lIns="0" tIns="0" rIns="0" bIns="0" rtlCol="0" anchor="t"/>
          <a:lstStyle/>
          <a:p>
            <a:pPr marL="0" indent="0">
              <a:buNone/>
            </a:pPr>
            <a:r>
              <a:rPr lang="en-US" sz="950" dirty="0">
                <a:solidFill>
                  <a:srgbClr val="1C1C1C"/>
                </a:solidFill>
                <a:latin typeface="Calibri" pitchFamily="34" charset="0"/>
                <a:ea typeface="Calibri" pitchFamily="34" charset="-122"/>
                <a:cs typeface="Calibri" pitchFamily="34" charset="-120"/>
              </a:rPr>
              <a:t>Build-Operate-Transfer model across 3 phases: infrastructure + 100% recruitment (months 1-2), knowledge transfer + RPA rollout (months 2-4), operational maturity with controlled transfer (months 4-6). Client Vantage dashboard integrated for real-time visibility.</a:t>
            </a:r>
            <a:endParaRPr lang="en-US" sz="950" dirty="0"/>
          </a:p>
        </p:txBody>
      </p:sp>
      <p:sp>
        <p:nvSpPr>
          <p:cNvPr id="16" name="Text 12"/>
          <p:cNvSpPr/>
          <p:nvPr/>
        </p:nvSpPr>
        <p:spPr>
          <a:xfrm>
            <a:off x="137160" y="3017520"/>
            <a:ext cx="4572000" cy="201168"/>
          </a:xfrm>
          <a:prstGeom prst="rect">
            <a:avLst/>
          </a:prstGeom>
          <a:noFill/>
          <a:ln/>
        </p:spPr>
        <p:txBody>
          <a:bodyPr wrap="square" lIns="0" tIns="0" rIns="0" bIns="0" rtlCol="0" anchor="ctr"/>
          <a:lstStyle/>
          <a:p>
            <a:pPr marL="0" indent="0">
              <a:buNone/>
            </a:pPr>
            <a:r>
              <a:rPr lang="en-US" sz="900" b="1" kern="0" spc="100" dirty="0">
                <a:solidFill>
                  <a:srgbClr val="555555"/>
                </a:solidFill>
                <a:latin typeface="Calibri" pitchFamily="34" charset="0"/>
                <a:ea typeface="Calibri" pitchFamily="34" charset="-122"/>
                <a:cs typeface="Calibri" pitchFamily="34" charset="-120"/>
              </a:rPr>
              <a:t>⚙  KEY CAPABILITIES</a:t>
            </a:r>
            <a:endParaRPr lang="en-US" sz="900" dirty="0"/>
          </a:p>
        </p:txBody>
      </p:sp>
      <p:sp>
        <p:nvSpPr>
          <p:cNvPr id="17" name="Shape 13"/>
          <p:cNvSpPr/>
          <p:nvPr/>
        </p:nvSpPr>
        <p:spPr>
          <a:xfrm>
            <a:off x="137160"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18" name="Shape 14"/>
          <p:cNvSpPr/>
          <p:nvPr/>
        </p:nvSpPr>
        <p:spPr>
          <a:xfrm>
            <a:off x="137160"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19" name="Text 15"/>
          <p:cNvSpPr/>
          <p:nvPr/>
        </p:nvSpPr>
        <p:spPr>
          <a:xfrm>
            <a:off x="210312"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BOT Operating Model</a:t>
            </a:r>
            <a:endParaRPr lang="en-US" sz="950" dirty="0"/>
          </a:p>
        </p:txBody>
      </p:sp>
      <p:sp>
        <p:nvSpPr>
          <p:cNvPr id="20" name="Text 16"/>
          <p:cNvSpPr/>
          <p:nvPr/>
        </p:nvSpPr>
        <p:spPr>
          <a:xfrm>
            <a:off x="210312"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Build-Operate-Transfer structure with Sulzer assuming control at month 6 and advisory continuing post-transfer.</a:t>
            </a:r>
            <a:endParaRPr lang="en-US" sz="850" dirty="0"/>
          </a:p>
        </p:txBody>
      </p:sp>
      <p:sp>
        <p:nvSpPr>
          <p:cNvPr id="21" name="Shape 17"/>
          <p:cNvSpPr/>
          <p:nvPr/>
        </p:nvSpPr>
        <p:spPr>
          <a:xfrm>
            <a:off x="4047744"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22" name="Shape 18"/>
          <p:cNvSpPr/>
          <p:nvPr/>
        </p:nvSpPr>
        <p:spPr>
          <a:xfrm>
            <a:off x="4047744"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23" name="Text 19"/>
          <p:cNvSpPr/>
          <p:nvPr/>
        </p:nvSpPr>
        <p:spPr>
          <a:xfrm>
            <a:off x="4120896"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Finance Tower Excellence</a:t>
            </a:r>
            <a:endParaRPr lang="en-US" sz="950" dirty="0"/>
          </a:p>
        </p:txBody>
      </p:sp>
      <p:sp>
        <p:nvSpPr>
          <p:cNvPr id="24" name="Text 20"/>
          <p:cNvSpPr/>
          <p:nvPr/>
        </p:nvSpPr>
        <p:spPr>
          <a:xfrm>
            <a:off x="4120896"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O2C, P2P, R2R, and FP&amp;A each built with embedded control frameworks, compliance, and efficiency benchmarks.</a:t>
            </a:r>
            <a:endParaRPr lang="en-US" sz="850" dirty="0"/>
          </a:p>
        </p:txBody>
      </p:sp>
      <p:sp>
        <p:nvSpPr>
          <p:cNvPr id="25" name="Shape 21"/>
          <p:cNvSpPr/>
          <p:nvPr/>
        </p:nvSpPr>
        <p:spPr>
          <a:xfrm>
            <a:off x="7958328"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26" name="Shape 22"/>
          <p:cNvSpPr/>
          <p:nvPr/>
        </p:nvSpPr>
        <p:spPr>
          <a:xfrm>
            <a:off x="7958328"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27" name="Text 23"/>
          <p:cNvSpPr/>
          <p:nvPr/>
        </p:nvSpPr>
        <p:spPr>
          <a:xfrm>
            <a:off x="8031480"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C2H for Critical Roles</a:t>
            </a:r>
            <a:endParaRPr lang="en-US" sz="950" dirty="0"/>
          </a:p>
        </p:txBody>
      </p:sp>
      <p:sp>
        <p:nvSpPr>
          <p:cNvPr id="28" name="Text 24"/>
          <p:cNvSpPr/>
          <p:nvPr/>
        </p:nvSpPr>
        <p:spPr>
          <a:xfrm>
            <a:off x="8031480"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Contract-to-Hire at 45-50% of year-1 compensation with 85% mis-hire risk reduction and day-91 permanent conversion.</a:t>
            </a:r>
            <a:endParaRPr lang="en-US" sz="850" dirty="0"/>
          </a:p>
        </p:txBody>
      </p:sp>
      <p:sp>
        <p:nvSpPr>
          <p:cNvPr id="29" name="Shape 25"/>
          <p:cNvSpPr/>
          <p:nvPr/>
        </p:nvSpPr>
        <p:spPr>
          <a:xfrm>
            <a:off x="137160"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0" name="Shape 26"/>
          <p:cNvSpPr/>
          <p:nvPr/>
        </p:nvSpPr>
        <p:spPr>
          <a:xfrm>
            <a:off x="137160"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1" name="Text 27"/>
          <p:cNvSpPr/>
          <p:nvPr/>
        </p:nvSpPr>
        <p:spPr>
          <a:xfrm>
            <a:off x="210312"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RPA &amp; AI Workflow Automation</a:t>
            </a:r>
            <a:endParaRPr lang="en-US" sz="950" dirty="0"/>
          </a:p>
        </p:txBody>
      </p:sp>
      <p:sp>
        <p:nvSpPr>
          <p:cNvPr id="32" name="Text 28"/>
          <p:cNvSpPr/>
          <p:nvPr/>
        </p:nvSpPr>
        <p:spPr>
          <a:xfrm>
            <a:off x="210312"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SAP P2P, O2C, R2R automation targeting 25-30% manual effort reduction across all Finance towers.</a:t>
            </a:r>
            <a:endParaRPr lang="en-US" sz="850" dirty="0"/>
          </a:p>
        </p:txBody>
      </p:sp>
      <p:sp>
        <p:nvSpPr>
          <p:cNvPr id="33" name="Shape 29"/>
          <p:cNvSpPr/>
          <p:nvPr/>
        </p:nvSpPr>
        <p:spPr>
          <a:xfrm>
            <a:off x="4047744"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4" name="Shape 30"/>
          <p:cNvSpPr/>
          <p:nvPr/>
        </p:nvSpPr>
        <p:spPr>
          <a:xfrm>
            <a:off x="4047744"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5" name="Text 31"/>
          <p:cNvSpPr/>
          <p:nvPr/>
        </p:nvSpPr>
        <p:spPr>
          <a:xfrm>
            <a:off x="4120896"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Client Vantage Dashboard</a:t>
            </a:r>
            <a:endParaRPr lang="en-US" sz="950" dirty="0"/>
          </a:p>
        </p:txBody>
      </p:sp>
      <p:sp>
        <p:nvSpPr>
          <p:cNvPr id="36" name="Text 32"/>
          <p:cNvSpPr/>
          <p:nvPr/>
        </p:nvSpPr>
        <p:spPr>
          <a:xfrm>
            <a:off x="4120896"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Real-time performance visibility and predictive pipeline analytics from day 1 for leadership oversight.</a:t>
            </a:r>
            <a:endParaRPr lang="en-US" sz="850" dirty="0"/>
          </a:p>
        </p:txBody>
      </p:sp>
      <p:sp>
        <p:nvSpPr>
          <p:cNvPr id="37" name="Shape 33"/>
          <p:cNvSpPr/>
          <p:nvPr/>
        </p:nvSpPr>
        <p:spPr>
          <a:xfrm>
            <a:off x="7958328"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8" name="Shape 34"/>
          <p:cNvSpPr/>
          <p:nvPr/>
        </p:nvSpPr>
        <p:spPr>
          <a:xfrm>
            <a:off x="7958328"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9" name="Text 35"/>
          <p:cNvSpPr/>
          <p:nvPr/>
        </p:nvSpPr>
        <p:spPr>
          <a:xfrm>
            <a:off x="8031480"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ServiceNow &amp; Cloud Enablement</a:t>
            </a:r>
            <a:endParaRPr lang="en-US" sz="950" dirty="0"/>
          </a:p>
        </p:txBody>
      </p:sp>
      <p:sp>
        <p:nvSpPr>
          <p:cNvPr id="40" name="Text 36"/>
          <p:cNvSpPr/>
          <p:nvPr/>
        </p:nvSpPr>
        <p:spPr>
          <a:xfrm>
            <a:off x="8031480"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Full deployment and CRM optimization for the 50-person technology track.</a:t>
            </a:r>
            <a:endParaRPr lang="en-US" sz="850" dirty="0"/>
          </a:p>
        </p:txBody>
      </p:sp>
      <p:sp>
        <p:nvSpPr>
          <p:cNvPr id="41" name="Shape 37"/>
          <p:cNvSpPr/>
          <p:nvPr/>
        </p:nvSpPr>
        <p:spPr>
          <a:xfrm>
            <a:off x="0" y="5943600"/>
            <a:ext cx="4062984" cy="914400"/>
          </a:xfrm>
          <a:prstGeom prst="rect">
            <a:avLst/>
          </a:prstGeom>
          <a:solidFill>
            <a:srgbClr val="006B6B"/>
          </a:solidFill>
          <a:ln w="12700">
            <a:solidFill>
              <a:srgbClr val="006B6B"/>
            </a:solidFill>
            <a:prstDash val="solid"/>
          </a:ln>
        </p:spPr>
        <p:txBody>
          <a:bodyPr/>
          <a:lstStyle/>
          <a:p>
            <a:endParaRPr lang="en-US"/>
          </a:p>
        </p:txBody>
      </p:sp>
      <p:sp>
        <p:nvSpPr>
          <p:cNvPr id="42" name="Text 38"/>
          <p:cNvSpPr/>
          <p:nvPr/>
        </p:nvSpPr>
        <p:spPr>
          <a:xfrm>
            <a:off x="91440"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150</a:t>
            </a:r>
            <a:endParaRPr lang="en-US" sz="2000" dirty="0"/>
          </a:p>
        </p:txBody>
      </p:sp>
      <p:sp>
        <p:nvSpPr>
          <p:cNvPr id="43" name="Text 39"/>
          <p:cNvSpPr/>
          <p:nvPr/>
        </p:nvSpPr>
        <p:spPr>
          <a:xfrm>
            <a:off x="91440"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Hires Completed in 6 Months</a:t>
            </a:r>
            <a:endParaRPr lang="en-US" sz="850" dirty="0"/>
          </a:p>
        </p:txBody>
      </p:sp>
      <p:sp>
        <p:nvSpPr>
          <p:cNvPr id="44" name="Shape 40"/>
          <p:cNvSpPr/>
          <p:nvPr/>
        </p:nvSpPr>
        <p:spPr>
          <a:xfrm>
            <a:off x="4062984" y="5943600"/>
            <a:ext cx="4062984" cy="914400"/>
          </a:xfrm>
          <a:prstGeom prst="rect">
            <a:avLst/>
          </a:prstGeom>
          <a:solidFill>
            <a:srgbClr val="008080"/>
          </a:solidFill>
          <a:ln w="12700">
            <a:solidFill>
              <a:srgbClr val="008080"/>
            </a:solidFill>
            <a:prstDash val="solid"/>
          </a:ln>
        </p:spPr>
        <p:txBody>
          <a:bodyPr/>
          <a:lstStyle/>
          <a:p>
            <a:endParaRPr lang="en-US"/>
          </a:p>
        </p:txBody>
      </p:sp>
      <p:sp>
        <p:nvSpPr>
          <p:cNvPr id="45" name="Text 41"/>
          <p:cNvSpPr/>
          <p:nvPr/>
        </p:nvSpPr>
        <p:spPr>
          <a:xfrm>
            <a:off x="4154424"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25-30%</a:t>
            </a:r>
            <a:endParaRPr lang="en-US" sz="2000" dirty="0"/>
          </a:p>
        </p:txBody>
      </p:sp>
      <p:sp>
        <p:nvSpPr>
          <p:cNvPr id="46" name="Text 42"/>
          <p:cNvSpPr/>
          <p:nvPr/>
        </p:nvSpPr>
        <p:spPr>
          <a:xfrm>
            <a:off x="4154424"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Manual Effort Reduction</a:t>
            </a:r>
            <a:endParaRPr lang="en-US" sz="850" dirty="0"/>
          </a:p>
        </p:txBody>
      </p:sp>
      <p:sp>
        <p:nvSpPr>
          <p:cNvPr id="47" name="Shape 43"/>
          <p:cNvSpPr/>
          <p:nvPr/>
        </p:nvSpPr>
        <p:spPr>
          <a:xfrm>
            <a:off x="8125968" y="5943600"/>
            <a:ext cx="4062984" cy="914400"/>
          </a:xfrm>
          <a:prstGeom prst="rect">
            <a:avLst/>
          </a:prstGeom>
          <a:solidFill>
            <a:srgbClr val="006B6B"/>
          </a:solidFill>
          <a:ln w="12700">
            <a:solidFill>
              <a:srgbClr val="006B6B"/>
            </a:solidFill>
            <a:prstDash val="solid"/>
          </a:ln>
        </p:spPr>
        <p:txBody>
          <a:bodyPr/>
          <a:lstStyle/>
          <a:p>
            <a:endParaRPr lang="en-US"/>
          </a:p>
        </p:txBody>
      </p:sp>
      <p:sp>
        <p:nvSpPr>
          <p:cNvPr id="48" name="Text 44"/>
          <p:cNvSpPr/>
          <p:nvPr/>
        </p:nvSpPr>
        <p:spPr>
          <a:xfrm>
            <a:off x="8217408"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15-20%</a:t>
            </a:r>
            <a:endParaRPr lang="en-US" sz="2000" dirty="0"/>
          </a:p>
        </p:txBody>
      </p:sp>
      <p:sp>
        <p:nvSpPr>
          <p:cNvPr id="49" name="Text 45"/>
          <p:cNvSpPr/>
          <p:nvPr/>
        </p:nvSpPr>
        <p:spPr>
          <a:xfrm>
            <a:off x="8217408"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Improvement in Operational Leverage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4008"/>
          </a:xfrm>
          <a:prstGeom prst="rect">
            <a:avLst/>
          </a:prstGeom>
          <a:solidFill>
            <a:srgbClr val="C0392B"/>
          </a:solidFill>
          <a:ln w="12700">
            <a:solidFill>
              <a:srgbClr val="C0392B"/>
            </a:solidFill>
            <a:prstDash val="solid"/>
          </a:ln>
        </p:spPr>
        <p:txBody>
          <a:bodyPr/>
          <a:lstStyle/>
          <a:p>
            <a:endParaRPr lang="en-US"/>
          </a:p>
        </p:txBody>
      </p:sp>
      <p:sp>
        <p:nvSpPr>
          <p:cNvPr id="3" name="Shape 1"/>
          <p:cNvSpPr/>
          <p:nvPr/>
        </p:nvSpPr>
        <p:spPr>
          <a:xfrm>
            <a:off x="0" y="64008"/>
            <a:ext cx="109728" cy="1417320"/>
          </a:xfrm>
          <a:prstGeom prst="rect">
            <a:avLst/>
          </a:prstGeom>
          <a:solidFill>
            <a:srgbClr val="C0392B"/>
          </a:solidFill>
          <a:ln w="12700">
            <a:solidFill>
              <a:srgbClr val="C0392B"/>
            </a:solidFill>
            <a:prstDash val="solid"/>
          </a:ln>
        </p:spPr>
        <p:txBody>
          <a:bodyPr/>
          <a:lstStyle/>
          <a:p>
            <a:endParaRPr lang="en-US"/>
          </a:p>
        </p:txBody>
      </p:sp>
      <p:sp>
        <p:nvSpPr>
          <p:cNvPr id="4" name="Text 2"/>
          <p:cNvSpPr/>
          <p:nvPr/>
        </p:nvSpPr>
        <p:spPr>
          <a:xfrm>
            <a:off x="201168" y="91440"/>
            <a:ext cx="11430000" cy="713232"/>
          </a:xfrm>
          <a:prstGeom prst="rect">
            <a:avLst/>
          </a:prstGeom>
          <a:noFill/>
          <a:ln/>
        </p:spPr>
        <p:txBody>
          <a:bodyPr wrap="square" lIns="0" tIns="0" rIns="0" bIns="0" rtlCol="0" anchor="ctr"/>
          <a:lstStyle/>
          <a:p>
            <a:pPr marL="0" indent="0">
              <a:buNone/>
            </a:pPr>
            <a:r>
              <a:rPr lang="en-US" sz="2800" b="1" dirty="0">
                <a:solidFill>
                  <a:srgbClr val="1C1C1C"/>
                </a:solidFill>
                <a:latin typeface="Calibri" pitchFamily="34" charset="0"/>
                <a:ea typeface="Calibri" pitchFamily="34" charset="-122"/>
                <a:cs typeface="Calibri" pitchFamily="34" charset="-120"/>
              </a:rPr>
              <a:t>CA &amp; FINANCE TALENT PIPELINE — GLOBAL ALTERNATIVE ASSET MANAGER</a:t>
            </a:r>
            <a:endParaRPr lang="en-US" sz="2800" dirty="0"/>
          </a:p>
        </p:txBody>
      </p:sp>
      <p:sp>
        <p:nvSpPr>
          <p:cNvPr id="5" name="Text 3"/>
          <p:cNvSpPr/>
          <p:nvPr/>
        </p:nvSpPr>
        <p:spPr>
          <a:xfrm>
            <a:off x="201168" y="822960"/>
            <a:ext cx="11430000" cy="292608"/>
          </a:xfrm>
          <a:prstGeom prst="rect">
            <a:avLst/>
          </a:prstGeom>
          <a:noFill/>
          <a:ln/>
        </p:spPr>
        <p:txBody>
          <a:bodyPr wrap="square" lIns="0" tIns="0" rIns="0" bIns="0" rtlCol="0" anchor="ctr"/>
          <a:lstStyle/>
          <a:p>
            <a:pPr marL="0" indent="0">
              <a:buNone/>
            </a:pPr>
            <a:r>
              <a:rPr lang="en-US" sz="1100" b="1" dirty="0">
                <a:solidFill>
                  <a:srgbClr val="007A7A"/>
                </a:solidFill>
                <a:latin typeface="Calibri" pitchFamily="34" charset="0"/>
                <a:ea typeface="Calibri" pitchFamily="34" charset="-122"/>
                <a:cs typeface="Calibri" pitchFamily="34" charset="-120"/>
              </a:rPr>
              <a:t>CA Hiring  ·  RPO  ·  TalentAI  ·  POFU  ·  GCC  ·  Finance Talent</a:t>
            </a:r>
            <a:endParaRPr lang="en-US" sz="1100" dirty="0"/>
          </a:p>
        </p:txBody>
      </p:sp>
      <p:sp>
        <p:nvSpPr>
          <p:cNvPr id="6" name="Shape 4"/>
          <p:cNvSpPr/>
          <p:nvPr/>
        </p:nvSpPr>
        <p:spPr>
          <a:xfrm>
            <a:off x="0" y="1143000"/>
            <a:ext cx="12188952" cy="22860"/>
          </a:xfrm>
          <a:prstGeom prst="rect">
            <a:avLst/>
          </a:prstGeom>
          <a:solidFill>
            <a:srgbClr val="DDDDDD"/>
          </a:solidFill>
          <a:ln w="12700">
            <a:solidFill>
              <a:srgbClr val="DDDDDD"/>
            </a:solidFill>
            <a:prstDash val="solid"/>
          </a:ln>
        </p:spPr>
        <p:txBody>
          <a:bodyPr/>
          <a:lstStyle/>
          <a:p>
            <a:endParaRPr lang="en-US"/>
          </a:p>
        </p:txBody>
      </p:sp>
      <p:sp>
        <p:nvSpPr>
          <p:cNvPr id="7" name="Text 5"/>
          <p:cNvSpPr/>
          <p:nvPr/>
        </p:nvSpPr>
        <p:spPr>
          <a:xfrm>
            <a:off x="201168" y="1170432"/>
            <a:ext cx="11430000" cy="274320"/>
          </a:xfrm>
          <a:prstGeom prst="rect">
            <a:avLst/>
          </a:prstGeom>
          <a:noFill/>
          <a:ln/>
        </p:spPr>
        <p:txBody>
          <a:bodyPr wrap="square" lIns="0" tIns="0" rIns="0" bIns="0" rtlCol="0" anchor="ctr"/>
          <a:lstStyle/>
          <a:p>
            <a:pPr marL="0" indent="0">
              <a:buNone/>
            </a:pPr>
            <a:r>
              <a:rPr lang="en-US" sz="950" i="1" dirty="0">
                <a:solidFill>
                  <a:srgbClr val="555555"/>
                </a:solidFill>
                <a:latin typeface="Calibri" pitchFamily="34" charset="0"/>
                <a:ea typeface="Calibri" pitchFamily="34" charset="-122"/>
                <a:cs typeface="Calibri" pitchFamily="34" charset="-120"/>
              </a:rPr>
              <a:t>Client: Leading Global Alternative Asset Manager   |   Domain: Banking &amp; Financial Services   |   Function: Talent Acquisition &amp; Deployment</a:t>
            </a:r>
            <a:endParaRPr lang="en-US" sz="950" dirty="0"/>
          </a:p>
        </p:txBody>
      </p:sp>
      <p:sp>
        <p:nvSpPr>
          <p:cNvPr id="8" name="Shape 6"/>
          <p:cNvSpPr/>
          <p:nvPr/>
        </p:nvSpPr>
        <p:spPr>
          <a:xfrm>
            <a:off x="137160" y="1508760"/>
            <a:ext cx="5865876" cy="1371600"/>
          </a:xfrm>
          <a:prstGeom prst="rect">
            <a:avLst/>
          </a:prstGeom>
          <a:solidFill>
            <a:srgbClr val="F7F9F9"/>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pic>
        <p:nvPicPr>
          <p:cNvPr id="9" name="Image 0" descr="preencoded.png"/>
          <p:cNvPicPr>
            <a:picLocks noChangeAspect="1"/>
          </p:cNvPicPr>
          <p:nvPr/>
        </p:nvPicPr>
        <p:blipFill>
          <a:blip r:embed="rId3"/>
          <a:stretch>
            <a:fillRect/>
          </a:stretch>
        </p:blipFill>
        <p:spPr>
          <a:xfrm>
            <a:off x="256032" y="1600200"/>
            <a:ext cx="256032" cy="256032"/>
          </a:xfrm>
          <a:prstGeom prst="rect">
            <a:avLst/>
          </a:prstGeom>
        </p:spPr>
      </p:pic>
      <p:sp>
        <p:nvSpPr>
          <p:cNvPr id="10" name="Text 7"/>
          <p:cNvSpPr/>
          <p:nvPr/>
        </p:nvSpPr>
        <p:spPr>
          <a:xfrm>
            <a:off x="566928" y="1581912"/>
            <a:ext cx="5362956" cy="274320"/>
          </a:xfrm>
          <a:prstGeom prst="rect">
            <a:avLst/>
          </a:prstGeom>
          <a:noFill/>
          <a:ln/>
        </p:spPr>
        <p:txBody>
          <a:bodyPr wrap="square" lIns="0" tIns="0" rIns="0" bIns="0" rtlCol="0" anchor="ctr"/>
          <a:lstStyle/>
          <a:p>
            <a:pPr marL="0" indent="0">
              <a:buNone/>
            </a:pPr>
            <a:r>
              <a:rPr lang="en-US" sz="1000" b="1" dirty="0">
                <a:solidFill>
                  <a:srgbClr val="C0392B"/>
                </a:solidFill>
                <a:latin typeface="Calibri" pitchFamily="34" charset="0"/>
                <a:ea typeface="Calibri" pitchFamily="34" charset="-122"/>
                <a:cs typeface="Calibri" pitchFamily="34" charset="-120"/>
              </a:rPr>
              <a:t>THE CHALLENGE</a:t>
            </a:r>
            <a:endParaRPr lang="en-US" sz="1000" dirty="0"/>
          </a:p>
        </p:txBody>
      </p:sp>
      <p:sp>
        <p:nvSpPr>
          <p:cNvPr id="11" name="Text 8"/>
          <p:cNvSpPr/>
          <p:nvPr/>
        </p:nvSpPr>
        <p:spPr>
          <a:xfrm>
            <a:off x="256032" y="1892808"/>
            <a:ext cx="5664708" cy="896112"/>
          </a:xfrm>
          <a:prstGeom prst="rect">
            <a:avLst/>
          </a:prstGeom>
          <a:noFill/>
          <a:ln/>
        </p:spPr>
        <p:txBody>
          <a:bodyPr wrap="square" lIns="0" tIns="0" rIns="0" bIns="0" rtlCol="0" anchor="t"/>
          <a:lstStyle/>
          <a:p>
            <a:pPr marL="0" indent="0">
              <a:buNone/>
            </a:pPr>
            <a:r>
              <a:rPr lang="en-US" sz="950" dirty="0">
                <a:solidFill>
                  <a:srgbClr val="1C1C1C"/>
                </a:solidFill>
                <a:latin typeface="Calibri" pitchFamily="34" charset="0"/>
                <a:ea typeface="Calibri" pitchFamily="34" charset="-122"/>
                <a:cs typeface="Calibri" pitchFamily="34" charset="-120"/>
              </a:rPr>
              <a:t>India GCC faced 17-18% offer dropout rate from long notice periods, mandatory WFO, competition from Big 4, and fragmented hiring demand. Traditional partners couldn't address structural causes of dropout at required scale.</a:t>
            </a:r>
            <a:endParaRPr lang="en-US" sz="950" dirty="0"/>
          </a:p>
        </p:txBody>
      </p:sp>
      <p:sp>
        <p:nvSpPr>
          <p:cNvPr id="12" name="Shape 9"/>
          <p:cNvSpPr/>
          <p:nvPr/>
        </p:nvSpPr>
        <p:spPr>
          <a:xfrm>
            <a:off x="6185916" y="1508760"/>
            <a:ext cx="5865876" cy="1371600"/>
          </a:xfrm>
          <a:prstGeom prst="rect">
            <a:avLst/>
          </a:prstGeom>
          <a:solidFill>
            <a:srgbClr val="E6F4F4"/>
          </a:solidFill>
          <a:ln w="6350">
            <a:solidFill>
              <a:srgbClr val="008080"/>
            </a:solidFill>
            <a:prstDash val="solid"/>
          </a:ln>
          <a:effectLst>
            <a:outerShdw blurRad="63500" dist="25400" dir="2700000" algn="bl" rotWithShape="0">
              <a:srgbClr val="000000">
                <a:alpha val="10000"/>
              </a:srgbClr>
            </a:outerShdw>
          </a:effectLst>
        </p:spPr>
        <p:txBody>
          <a:bodyPr/>
          <a:lstStyle/>
          <a:p>
            <a:endParaRPr lang="en-US"/>
          </a:p>
        </p:txBody>
      </p:sp>
      <p:pic>
        <p:nvPicPr>
          <p:cNvPr id="13" name="Image 1" descr="preencoded.png"/>
          <p:cNvPicPr>
            <a:picLocks noChangeAspect="1"/>
          </p:cNvPicPr>
          <p:nvPr/>
        </p:nvPicPr>
        <p:blipFill>
          <a:blip r:embed="rId4"/>
          <a:stretch>
            <a:fillRect/>
          </a:stretch>
        </p:blipFill>
        <p:spPr>
          <a:xfrm>
            <a:off x="6304788" y="1600200"/>
            <a:ext cx="256032" cy="256032"/>
          </a:xfrm>
          <a:prstGeom prst="rect">
            <a:avLst/>
          </a:prstGeom>
        </p:spPr>
      </p:pic>
      <p:sp>
        <p:nvSpPr>
          <p:cNvPr id="14" name="Text 10"/>
          <p:cNvSpPr/>
          <p:nvPr/>
        </p:nvSpPr>
        <p:spPr>
          <a:xfrm>
            <a:off x="6615684" y="1581912"/>
            <a:ext cx="5362956" cy="274320"/>
          </a:xfrm>
          <a:prstGeom prst="rect">
            <a:avLst/>
          </a:prstGeom>
          <a:noFill/>
          <a:ln/>
        </p:spPr>
        <p:txBody>
          <a:bodyPr wrap="square" lIns="0" tIns="0" rIns="0" bIns="0" rtlCol="0" anchor="ctr"/>
          <a:lstStyle/>
          <a:p>
            <a:pPr marL="0" indent="0">
              <a:buNone/>
            </a:pPr>
            <a:r>
              <a:rPr lang="en-US" sz="1000" b="1" dirty="0">
                <a:solidFill>
                  <a:srgbClr val="008080"/>
                </a:solidFill>
                <a:latin typeface="Calibri" pitchFamily="34" charset="0"/>
                <a:ea typeface="Calibri" pitchFamily="34" charset="-122"/>
                <a:cs typeface="Calibri" pitchFamily="34" charset="-120"/>
              </a:rPr>
              <a:t>THE SOLUTION</a:t>
            </a:r>
            <a:endParaRPr lang="en-US" sz="1000" dirty="0"/>
          </a:p>
        </p:txBody>
      </p:sp>
      <p:sp>
        <p:nvSpPr>
          <p:cNvPr id="15" name="Text 11"/>
          <p:cNvSpPr/>
          <p:nvPr/>
        </p:nvSpPr>
        <p:spPr>
          <a:xfrm>
            <a:off x="6304788" y="1892808"/>
            <a:ext cx="5664708" cy="896112"/>
          </a:xfrm>
          <a:prstGeom prst="rect">
            <a:avLst/>
          </a:prstGeom>
          <a:noFill/>
          <a:ln/>
        </p:spPr>
        <p:txBody>
          <a:bodyPr wrap="square" lIns="0" tIns="0" rIns="0" bIns="0" rtlCol="0" anchor="t"/>
          <a:lstStyle/>
          <a:p>
            <a:pPr marL="0" indent="0">
              <a:buNone/>
            </a:pPr>
            <a:r>
              <a:rPr lang="en-US" sz="950" dirty="0">
                <a:solidFill>
                  <a:srgbClr val="1C1C1C"/>
                </a:solidFill>
                <a:latin typeface="Calibri" pitchFamily="34" charset="0"/>
                <a:ea typeface="Calibri" pitchFamily="34" charset="-122"/>
                <a:cs typeface="Calibri" pitchFamily="34" charset="-120"/>
              </a:rPr>
              <a:t>4-pillar talent engine: pre-mapped CA warm bench, structured 90-day POFU rhythm, WFO employer brand strategy, and Managed RPO consolidating recruitment across all business units. TalentAI and TalentSphere for AI-ranked sourcing.</a:t>
            </a:r>
            <a:endParaRPr lang="en-US" sz="950" dirty="0"/>
          </a:p>
        </p:txBody>
      </p:sp>
      <p:sp>
        <p:nvSpPr>
          <p:cNvPr id="16" name="Text 12"/>
          <p:cNvSpPr/>
          <p:nvPr/>
        </p:nvSpPr>
        <p:spPr>
          <a:xfrm>
            <a:off x="137160" y="3017520"/>
            <a:ext cx="4572000" cy="201168"/>
          </a:xfrm>
          <a:prstGeom prst="rect">
            <a:avLst/>
          </a:prstGeom>
          <a:noFill/>
          <a:ln/>
        </p:spPr>
        <p:txBody>
          <a:bodyPr wrap="square" lIns="0" tIns="0" rIns="0" bIns="0" rtlCol="0" anchor="ctr"/>
          <a:lstStyle/>
          <a:p>
            <a:pPr marL="0" indent="0">
              <a:buNone/>
            </a:pPr>
            <a:r>
              <a:rPr lang="en-US" sz="900" b="1" kern="0" spc="100" dirty="0">
                <a:solidFill>
                  <a:srgbClr val="555555"/>
                </a:solidFill>
                <a:latin typeface="Calibri" pitchFamily="34" charset="0"/>
                <a:ea typeface="Calibri" pitchFamily="34" charset="-122"/>
                <a:cs typeface="Calibri" pitchFamily="34" charset="-120"/>
              </a:rPr>
              <a:t>⚙  KEY CAPABILITIES</a:t>
            </a:r>
            <a:endParaRPr lang="en-US" sz="900" dirty="0"/>
          </a:p>
        </p:txBody>
      </p:sp>
      <p:sp>
        <p:nvSpPr>
          <p:cNvPr id="17" name="Shape 13"/>
          <p:cNvSpPr/>
          <p:nvPr/>
        </p:nvSpPr>
        <p:spPr>
          <a:xfrm>
            <a:off x="137160"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18" name="Shape 14"/>
          <p:cNvSpPr/>
          <p:nvPr/>
        </p:nvSpPr>
        <p:spPr>
          <a:xfrm>
            <a:off x="137160"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19" name="Text 15"/>
          <p:cNvSpPr/>
          <p:nvPr/>
        </p:nvSpPr>
        <p:spPr>
          <a:xfrm>
            <a:off x="210312"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Pre-Vetted Immediate Joiners Pipeline</a:t>
            </a:r>
            <a:endParaRPr lang="en-US" sz="950" dirty="0"/>
          </a:p>
        </p:txBody>
      </p:sp>
      <p:sp>
        <p:nvSpPr>
          <p:cNvPr id="20" name="Text 16"/>
          <p:cNvSpPr/>
          <p:nvPr/>
        </p:nvSpPr>
        <p:spPr>
          <a:xfrm>
            <a:off x="210312"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Warm bench of CAs mapped and ready before demand hits, drawn from campus, Big 4, and competitor pools.</a:t>
            </a:r>
            <a:endParaRPr lang="en-US" sz="850" dirty="0"/>
          </a:p>
        </p:txBody>
      </p:sp>
      <p:sp>
        <p:nvSpPr>
          <p:cNvPr id="21" name="Shape 17"/>
          <p:cNvSpPr/>
          <p:nvPr/>
        </p:nvSpPr>
        <p:spPr>
          <a:xfrm>
            <a:off x="4047744"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22" name="Shape 18"/>
          <p:cNvSpPr/>
          <p:nvPr/>
        </p:nvSpPr>
        <p:spPr>
          <a:xfrm>
            <a:off x="4047744"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23" name="Text 19"/>
          <p:cNvSpPr/>
          <p:nvPr/>
        </p:nvSpPr>
        <p:spPr>
          <a:xfrm>
            <a:off x="4120896"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90-Day POFU Rhythm</a:t>
            </a:r>
            <a:endParaRPr lang="en-US" sz="950" dirty="0"/>
          </a:p>
        </p:txBody>
      </p:sp>
      <p:sp>
        <p:nvSpPr>
          <p:cNvPr id="24" name="Text 20"/>
          <p:cNvSpPr/>
          <p:nvPr/>
        </p:nvSpPr>
        <p:spPr>
          <a:xfrm>
            <a:off x="4120896"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Structured post-offer follow-up with milestone touchpoints, manager connects, and counter-offer inoculation.</a:t>
            </a:r>
            <a:endParaRPr lang="en-US" sz="850" dirty="0"/>
          </a:p>
        </p:txBody>
      </p:sp>
      <p:sp>
        <p:nvSpPr>
          <p:cNvPr id="25" name="Shape 21"/>
          <p:cNvSpPr/>
          <p:nvPr/>
        </p:nvSpPr>
        <p:spPr>
          <a:xfrm>
            <a:off x="7958328" y="3273552"/>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26" name="Shape 22"/>
          <p:cNvSpPr/>
          <p:nvPr/>
        </p:nvSpPr>
        <p:spPr>
          <a:xfrm>
            <a:off x="7958328" y="3273552"/>
            <a:ext cx="3819144" cy="50292"/>
          </a:xfrm>
          <a:prstGeom prst="rect">
            <a:avLst/>
          </a:prstGeom>
          <a:solidFill>
            <a:srgbClr val="C0392B"/>
          </a:solidFill>
          <a:ln w="12700">
            <a:solidFill>
              <a:srgbClr val="C0392B"/>
            </a:solidFill>
            <a:prstDash val="solid"/>
          </a:ln>
        </p:spPr>
        <p:txBody>
          <a:bodyPr/>
          <a:lstStyle/>
          <a:p>
            <a:endParaRPr lang="en-US"/>
          </a:p>
        </p:txBody>
      </p:sp>
      <p:sp>
        <p:nvSpPr>
          <p:cNvPr id="27" name="Text 23"/>
          <p:cNvSpPr/>
          <p:nvPr/>
        </p:nvSpPr>
        <p:spPr>
          <a:xfrm>
            <a:off x="8031480" y="3337560"/>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WFO Employer Brand Strategy</a:t>
            </a:r>
            <a:endParaRPr lang="en-US" sz="950" dirty="0"/>
          </a:p>
        </p:txBody>
      </p:sp>
      <p:sp>
        <p:nvSpPr>
          <p:cNvPr id="28" name="Text 24"/>
          <p:cNvSpPr/>
          <p:nvPr/>
        </p:nvSpPr>
        <p:spPr>
          <a:xfrm>
            <a:off x="8031480" y="3547872"/>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Repositioned 5-day office as career accelerator with same-role-as-HQ messaging.</a:t>
            </a:r>
            <a:endParaRPr lang="en-US" sz="850" dirty="0"/>
          </a:p>
        </p:txBody>
      </p:sp>
      <p:sp>
        <p:nvSpPr>
          <p:cNvPr id="29" name="Shape 25"/>
          <p:cNvSpPr/>
          <p:nvPr/>
        </p:nvSpPr>
        <p:spPr>
          <a:xfrm>
            <a:off x="137160"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0" name="Shape 26"/>
          <p:cNvSpPr/>
          <p:nvPr/>
        </p:nvSpPr>
        <p:spPr>
          <a:xfrm>
            <a:off x="137160"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1" name="Text 27"/>
          <p:cNvSpPr/>
          <p:nvPr/>
        </p:nvSpPr>
        <p:spPr>
          <a:xfrm>
            <a:off x="210312"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Managed RPO Partnership</a:t>
            </a:r>
            <a:endParaRPr lang="en-US" sz="950" dirty="0"/>
          </a:p>
        </p:txBody>
      </p:sp>
      <p:sp>
        <p:nvSpPr>
          <p:cNvPr id="32" name="Text 28"/>
          <p:cNvSpPr/>
          <p:nvPr/>
        </p:nvSpPr>
        <p:spPr>
          <a:xfrm>
            <a:off x="210312"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Consolidated recruitment across all business units with dedicated team eliminating vendor fragmentation.</a:t>
            </a:r>
            <a:endParaRPr lang="en-US" sz="850" dirty="0"/>
          </a:p>
        </p:txBody>
      </p:sp>
      <p:sp>
        <p:nvSpPr>
          <p:cNvPr id="33" name="Shape 29"/>
          <p:cNvSpPr/>
          <p:nvPr/>
        </p:nvSpPr>
        <p:spPr>
          <a:xfrm>
            <a:off x="4047744"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4" name="Shape 30"/>
          <p:cNvSpPr/>
          <p:nvPr/>
        </p:nvSpPr>
        <p:spPr>
          <a:xfrm>
            <a:off x="4047744"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5" name="Text 31"/>
          <p:cNvSpPr/>
          <p:nvPr/>
        </p:nvSpPr>
        <p:spPr>
          <a:xfrm>
            <a:off x="4120896"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TalentAI &amp; TalentSphere</a:t>
            </a:r>
            <a:endParaRPr lang="en-US" sz="950" dirty="0"/>
          </a:p>
        </p:txBody>
      </p:sp>
      <p:sp>
        <p:nvSpPr>
          <p:cNvPr id="36" name="Text 32"/>
          <p:cNvSpPr/>
          <p:nvPr/>
        </p:nvSpPr>
        <p:spPr>
          <a:xfrm>
            <a:off x="4120896"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AI-ranked candidate pools with skill-graph matching and voice-agent pre-screening for faster, higher-quality shortlisting.</a:t>
            </a:r>
            <a:endParaRPr lang="en-US" sz="850" dirty="0"/>
          </a:p>
        </p:txBody>
      </p:sp>
      <p:sp>
        <p:nvSpPr>
          <p:cNvPr id="37" name="Shape 33"/>
          <p:cNvSpPr/>
          <p:nvPr/>
        </p:nvSpPr>
        <p:spPr>
          <a:xfrm>
            <a:off x="7958328" y="4078224"/>
            <a:ext cx="3819144" cy="749808"/>
          </a:xfrm>
          <a:prstGeom prst="rect">
            <a:avLst/>
          </a:prstGeom>
          <a:solidFill>
            <a:srgbClr val="FFFFFF"/>
          </a:solidFill>
          <a:ln w="6350">
            <a:solidFill>
              <a:srgbClr val="DDDDDD"/>
            </a:solidFill>
            <a:prstDash val="solid"/>
          </a:ln>
          <a:effectLst>
            <a:outerShdw blurRad="63500" dist="25400" dir="2700000" algn="bl" rotWithShape="0">
              <a:srgbClr val="000000">
                <a:alpha val="10000"/>
              </a:srgbClr>
            </a:outerShdw>
          </a:effectLst>
        </p:spPr>
        <p:txBody>
          <a:bodyPr/>
          <a:lstStyle/>
          <a:p>
            <a:endParaRPr lang="en-US"/>
          </a:p>
        </p:txBody>
      </p:sp>
      <p:sp>
        <p:nvSpPr>
          <p:cNvPr id="38" name="Shape 34"/>
          <p:cNvSpPr/>
          <p:nvPr/>
        </p:nvSpPr>
        <p:spPr>
          <a:xfrm>
            <a:off x="7958328" y="4078224"/>
            <a:ext cx="3819144" cy="50292"/>
          </a:xfrm>
          <a:prstGeom prst="rect">
            <a:avLst/>
          </a:prstGeom>
          <a:solidFill>
            <a:srgbClr val="C0392B"/>
          </a:solidFill>
          <a:ln w="12700">
            <a:solidFill>
              <a:srgbClr val="C0392B"/>
            </a:solidFill>
            <a:prstDash val="solid"/>
          </a:ln>
        </p:spPr>
        <p:txBody>
          <a:bodyPr/>
          <a:lstStyle/>
          <a:p>
            <a:endParaRPr lang="en-US"/>
          </a:p>
        </p:txBody>
      </p:sp>
      <p:sp>
        <p:nvSpPr>
          <p:cNvPr id="39" name="Text 35"/>
          <p:cNvSpPr/>
          <p:nvPr/>
        </p:nvSpPr>
        <p:spPr>
          <a:xfrm>
            <a:off x="8031480" y="4142232"/>
            <a:ext cx="3654552" cy="201168"/>
          </a:xfrm>
          <a:prstGeom prst="rect">
            <a:avLst/>
          </a:prstGeom>
          <a:noFill/>
          <a:ln/>
        </p:spPr>
        <p:txBody>
          <a:bodyPr wrap="square" lIns="0" tIns="0" rIns="0" bIns="0" rtlCol="0" anchor="ctr"/>
          <a:lstStyle/>
          <a:p>
            <a:pPr marL="0" indent="0">
              <a:buNone/>
            </a:pPr>
            <a:r>
              <a:rPr lang="en-US" sz="950" b="1" dirty="0">
                <a:solidFill>
                  <a:srgbClr val="1C1C1C"/>
                </a:solidFill>
                <a:latin typeface="Calibri" pitchFamily="34" charset="0"/>
                <a:ea typeface="Calibri" pitchFamily="34" charset="-122"/>
                <a:cs typeface="Calibri" pitchFamily="34" charset="-120"/>
              </a:rPr>
              <a:t>Zero Subcontracting Policy</a:t>
            </a:r>
            <a:endParaRPr lang="en-US" sz="950" dirty="0"/>
          </a:p>
        </p:txBody>
      </p:sp>
      <p:sp>
        <p:nvSpPr>
          <p:cNvPr id="40" name="Text 36"/>
          <p:cNvSpPr/>
          <p:nvPr/>
        </p:nvSpPr>
        <p:spPr>
          <a:xfrm>
            <a:off x="8031480" y="4352544"/>
            <a:ext cx="3654552" cy="420624"/>
          </a:xfrm>
          <a:prstGeom prst="rect">
            <a:avLst/>
          </a:prstGeom>
          <a:noFill/>
          <a:ln/>
        </p:spPr>
        <p:txBody>
          <a:bodyPr wrap="square" lIns="0" tIns="0" rIns="0" bIns="0" rtlCol="0" anchor="t"/>
          <a:lstStyle/>
          <a:p>
            <a:pPr marL="0" indent="0">
              <a:buNone/>
            </a:pPr>
            <a:r>
              <a:rPr lang="en-US" sz="850" dirty="0">
                <a:solidFill>
                  <a:srgbClr val="555555"/>
                </a:solidFill>
                <a:latin typeface="Calibri" pitchFamily="34" charset="0"/>
                <a:ea typeface="Calibri" pitchFamily="34" charset="-122"/>
                <a:cs typeface="Calibri" pitchFamily="34" charset="-120"/>
              </a:rPr>
              <a:t>300+ in-house recruiters handling all sourcing with no subcontracting layer diluting quality.</a:t>
            </a:r>
            <a:endParaRPr lang="en-US" sz="850" dirty="0"/>
          </a:p>
        </p:txBody>
      </p:sp>
      <p:sp>
        <p:nvSpPr>
          <p:cNvPr id="41" name="Shape 37"/>
          <p:cNvSpPr/>
          <p:nvPr/>
        </p:nvSpPr>
        <p:spPr>
          <a:xfrm>
            <a:off x="0" y="5943600"/>
            <a:ext cx="4062984" cy="914400"/>
          </a:xfrm>
          <a:prstGeom prst="rect">
            <a:avLst/>
          </a:prstGeom>
          <a:solidFill>
            <a:srgbClr val="006B6B"/>
          </a:solidFill>
          <a:ln w="12700">
            <a:solidFill>
              <a:srgbClr val="006B6B"/>
            </a:solidFill>
            <a:prstDash val="solid"/>
          </a:ln>
        </p:spPr>
        <p:txBody>
          <a:bodyPr/>
          <a:lstStyle/>
          <a:p>
            <a:endParaRPr lang="en-US"/>
          </a:p>
        </p:txBody>
      </p:sp>
      <p:sp>
        <p:nvSpPr>
          <p:cNvPr id="42" name="Text 38"/>
          <p:cNvSpPr/>
          <p:nvPr/>
        </p:nvSpPr>
        <p:spPr>
          <a:xfrm>
            <a:off x="91440"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&lt;5%</a:t>
            </a:r>
            <a:endParaRPr lang="en-US" sz="2000" dirty="0"/>
          </a:p>
        </p:txBody>
      </p:sp>
      <p:sp>
        <p:nvSpPr>
          <p:cNvPr id="43" name="Text 39"/>
          <p:cNvSpPr/>
          <p:nvPr/>
        </p:nvSpPr>
        <p:spPr>
          <a:xfrm>
            <a:off x="91440"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Offer Dropout (Down from 17-18%)</a:t>
            </a:r>
            <a:endParaRPr lang="en-US" sz="850" dirty="0"/>
          </a:p>
        </p:txBody>
      </p:sp>
      <p:sp>
        <p:nvSpPr>
          <p:cNvPr id="44" name="Shape 40"/>
          <p:cNvSpPr/>
          <p:nvPr/>
        </p:nvSpPr>
        <p:spPr>
          <a:xfrm>
            <a:off x="4062984" y="5943600"/>
            <a:ext cx="4062984" cy="914400"/>
          </a:xfrm>
          <a:prstGeom prst="rect">
            <a:avLst/>
          </a:prstGeom>
          <a:solidFill>
            <a:srgbClr val="008080"/>
          </a:solidFill>
          <a:ln w="12700">
            <a:solidFill>
              <a:srgbClr val="008080"/>
            </a:solidFill>
            <a:prstDash val="solid"/>
          </a:ln>
        </p:spPr>
        <p:txBody>
          <a:bodyPr/>
          <a:lstStyle/>
          <a:p>
            <a:endParaRPr lang="en-US"/>
          </a:p>
        </p:txBody>
      </p:sp>
      <p:sp>
        <p:nvSpPr>
          <p:cNvPr id="45" name="Text 41"/>
          <p:cNvSpPr/>
          <p:nvPr/>
        </p:nvSpPr>
        <p:spPr>
          <a:xfrm>
            <a:off x="4154424"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24 Hrs</a:t>
            </a:r>
            <a:endParaRPr lang="en-US" sz="2000" dirty="0"/>
          </a:p>
        </p:txBody>
      </p:sp>
      <p:sp>
        <p:nvSpPr>
          <p:cNvPr id="46" name="Text 42"/>
          <p:cNvSpPr/>
          <p:nvPr/>
        </p:nvSpPr>
        <p:spPr>
          <a:xfrm>
            <a:off x="4154424"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Time to First Shortlist</a:t>
            </a:r>
            <a:endParaRPr lang="en-US" sz="850" dirty="0"/>
          </a:p>
        </p:txBody>
      </p:sp>
      <p:sp>
        <p:nvSpPr>
          <p:cNvPr id="47" name="Shape 43"/>
          <p:cNvSpPr/>
          <p:nvPr/>
        </p:nvSpPr>
        <p:spPr>
          <a:xfrm>
            <a:off x="8125968" y="5943600"/>
            <a:ext cx="4062984" cy="914400"/>
          </a:xfrm>
          <a:prstGeom prst="rect">
            <a:avLst/>
          </a:prstGeom>
          <a:solidFill>
            <a:srgbClr val="006B6B"/>
          </a:solidFill>
          <a:ln w="12700">
            <a:solidFill>
              <a:srgbClr val="006B6B"/>
            </a:solidFill>
            <a:prstDash val="solid"/>
          </a:ln>
        </p:spPr>
        <p:txBody>
          <a:bodyPr/>
          <a:lstStyle/>
          <a:p>
            <a:endParaRPr lang="en-US"/>
          </a:p>
        </p:txBody>
      </p:sp>
      <p:sp>
        <p:nvSpPr>
          <p:cNvPr id="48" name="Text 44"/>
          <p:cNvSpPr/>
          <p:nvPr/>
        </p:nvSpPr>
        <p:spPr>
          <a:xfrm>
            <a:off x="8217408" y="5989320"/>
            <a:ext cx="3880104" cy="438912"/>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100%</a:t>
            </a:r>
            <a:endParaRPr lang="en-US" sz="2000" dirty="0"/>
          </a:p>
        </p:txBody>
      </p:sp>
      <p:sp>
        <p:nvSpPr>
          <p:cNvPr id="49" name="Text 45"/>
          <p:cNvSpPr/>
          <p:nvPr/>
        </p:nvSpPr>
        <p:spPr>
          <a:xfrm>
            <a:off x="8217408" y="6419088"/>
            <a:ext cx="3880104" cy="347472"/>
          </a:xfrm>
          <a:prstGeom prst="rect">
            <a:avLst/>
          </a:prstGeom>
          <a:noFill/>
          <a:ln/>
        </p:spPr>
        <p:txBody>
          <a:bodyPr wrap="square" lIns="0" tIns="0" rIns="0" bIns="0" rtlCol="0" anchor="t"/>
          <a:lstStyle/>
          <a:p>
            <a:pPr marL="0" indent="0" algn="ctr">
              <a:buNone/>
            </a:pPr>
            <a:r>
              <a:rPr lang="en-US" sz="850" dirty="0">
                <a:solidFill>
                  <a:srgbClr val="CCFFFF"/>
                </a:solidFill>
                <a:latin typeface="Calibri" pitchFamily="34" charset="0"/>
                <a:ea typeface="Calibri" pitchFamily="34" charset="-122"/>
                <a:cs typeface="Calibri" pitchFamily="34" charset="-120"/>
              </a:rPr>
              <a:t>Candidates Double-Screened</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lang="en-US"/>
          </a:p>
        </p:txBody>
      </p:sp>
      <p:pic>
        <p:nvPicPr>
          <p:cNvPr id="4" name="Image 0" descr="gen-dedup-9663ecf744b06e35d4c2cebaab92a2ea.png"/>
          <p:cNvPicPr>
            <a:picLocks noChangeAspect="1"/>
          </p:cNvPicPr>
          <p:nvPr/>
        </p:nvPicPr>
        <p:blipFill>
          <a:blip r:embed="rId3"/>
          <a:srcRect l="-202" r="-202"/>
          <a:stretch/>
        </p:blipFill>
        <p:spPr>
          <a:xfrm>
            <a:off x="0" y="0"/>
            <a:ext cx="4067251" cy="75895"/>
          </a:xfrm>
          <a:prstGeom prst="rect">
            <a:avLst/>
          </a:prstGeom>
        </p:spPr>
      </p:pic>
      <p:pic>
        <p:nvPicPr>
          <p:cNvPr id="5" name="Image 1" descr="gen-dedup-323228122ff92d2332e711a84ca3b40c.png"/>
          <p:cNvPicPr>
            <a:picLocks noChangeAspect="1"/>
          </p:cNvPicPr>
          <p:nvPr/>
        </p:nvPicPr>
        <p:blipFill>
          <a:blip r:embed="rId4"/>
          <a:srcRect l="-198" r="-198"/>
          <a:stretch/>
        </p:blipFill>
        <p:spPr>
          <a:xfrm>
            <a:off x="4067251" y="0"/>
            <a:ext cx="8124444" cy="75895"/>
          </a:xfrm>
          <a:prstGeom prst="rect">
            <a:avLst/>
          </a:prstGeom>
        </p:spPr>
      </p:pic>
      <p:sp>
        <p:nvSpPr>
          <p:cNvPr id="6" name="Shape 2"/>
          <p:cNvSpPr/>
          <p:nvPr/>
        </p:nvSpPr>
        <p:spPr>
          <a:xfrm>
            <a:off x="9334195" y="-476402"/>
            <a:ext cx="3810305" cy="3810305"/>
          </a:xfrm>
          <a:prstGeom prst="ellipse">
            <a:avLst/>
          </a:prstGeom>
          <a:solidFill>
            <a:srgbClr val="2A9D8F">
              <a:alpha val="2000"/>
            </a:srgbClr>
          </a:solidFill>
          <a:ln w="12700">
            <a:solidFill>
              <a:srgbClr val="FFFFFF">
                <a:alpha val="0"/>
              </a:srgbClr>
            </a:solidFill>
            <a:prstDash val="solid"/>
          </a:ln>
        </p:spPr>
        <p:txBody>
          <a:bodyPr/>
          <a:lstStyle/>
          <a:p>
            <a:endParaRPr lang="en-US"/>
          </a:p>
        </p:txBody>
      </p:sp>
      <p:sp>
        <p:nvSpPr>
          <p:cNvPr id="7" name="Shape 3"/>
          <p:cNvSpPr/>
          <p:nvPr/>
        </p:nvSpPr>
        <p:spPr>
          <a:xfrm>
            <a:off x="-1429207" y="3047695"/>
            <a:ext cx="3333902" cy="3333902"/>
          </a:xfrm>
          <a:prstGeom prst="ellipse">
            <a:avLst/>
          </a:prstGeom>
          <a:solidFill>
            <a:srgbClr val="D62839">
              <a:alpha val="2000"/>
            </a:srgbClr>
          </a:solidFill>
          <a:ln w="12700">
            <a:solidFill>
              <a:srgbClr val="FFFFFF">
                <a:alpha val="0"/>
              </a:srgbClr>
            </a:solidFill>
            <a:prstDash val="solid"/>
          </a:ln>
        </p:spPr>
        <p:txBody>
          <a:bodyPr/>
          <a:lstStyle/>
          <a:p>
            <a:endParaRPr lang="en-US"/>
          </a:p>
        </p:txBody>
      </p:sp>
      <p:sp>
        <p:nvSpPr>
          <p:cNvPr id="8" name="Shape 4"/>
          <p:cNvSpPr/>
          <p:nvPr/>
        </p:nvSpPr>
        <p:spPr>
          <a:xfrm>
            <a:off x="647395" y="4619549"/>
            <a:ext cx="10916107" cy="1781251"/>
          </a:xfrm>
          <a:prstGeom prst="roundRect">
            <a:avLst>
              <a:gd name="adj" fmla="val 4392"/>
            </a:avLst>
          </a:prstGeom>
          <a:solidFill>
            <a:srgbClr val="F8FAFC"/>
          </a:solidFill>
          <a:ln w="12700">
            <a:solidFill>
              <a:srgbClr val="E2E8F0"/>
            </a:solidFill>
            <a:prstDash val="solid"/>
          </a:ln>
        </p:spPr>
        <p:txBody>
          <a:bodyPr/>
          <a:lstStyle/>
          <a:p>
            <a:endParaRPr lang="en-US"/>
          </a:p>
        </p:txBody>
      </p:sp>
      <p:sp>
        <p:nvSpPr>
          <p:cNvPr id="9" name="Shape 5"/>
          <p:cNvSpPr/>
          <p:nvPr/>
        </p:nvSpPr>
        <p:spPr>
          <a:xfrm>
            <a:off x="64739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0" name="Shape 6"/>
          <p:cNvSpPr/>
          <p:nvPr/>
        </p:nvSpPr>
        <p:spPr>
          <a:xfrm>
            <a:off x="647395" y="1571854"/>
            <a:ext cx="3524098" cy="38405"/>
          </a:xfrm>
          <a:prstGeom prst="roundRect">
            <a:avLst>
              <a:gd name="adj" fmla="val 96852"/>
            </a:avLst>
          </a:prstGeom>
          <a:solidFill>
            <a:srgbClr val="2A9D8F"/>
          </a:solidFill>
          <a:ln w="12700">
            <a:solidFill>
              <a:srgbClr val="2A9D8F">
                <a:alpha val="0"/>
              </a:srgbClr>
            </a:solidFill>
            <a:prstDash val="solid"/>
          </a:ln>
        </p:spPr>
        <p:txBody>
          <a:bodyPr/>
          <a:lstStyle/>
          <a:p>
            <a:endParaRPr lang="en-US"/>
          </a:p>
        </p:txBody>
      </p:sp>
      <p:sp>
        <p:nvSpPr>
          <p:cNvPr id="11" name="Shape 7"/>
          <p:cNvSpPr/>
          <p:nvPr/>
        </p:nvSpPr>
        <p:spPr>
          <a:xfrm>
            <a:off x="4343400"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2" name="Shape 8"/>
          <p:cNvSpPr/>
          <p:nvPr/>
        </p:nvSpPr>
        <p:spPr>
          <a:xfrm>
            <a:off x="4343400" y="1571854"/>
            <a:ext cx="3524098" cy="38405"/>
          </a:xfrm>
          <a:prstGeom prst="roundRect">
            <a:avLst>
              <a:gd name="adj" fmla="val 96852"/>
            </a:avLst>
          </a:prstGeom>
          <a:solidFill>
            <a:srgbClr val="D62839"/>
          </a:solidFill>
          <a:ln w="12700">
            <a:solidFill>
              <a:srgbClr val="D62839">
                <a:alpha val="0"/>
              </a:srgbClr>
            </a:solidFill>
            <a:prstDash val="solid"/>
          </a:ln>
        </p:spPr>
        <p:txBody>
          <a:bodyPr/>
          <a:lstStyle/>
          <a:p>
            <a:endParaRPr lang="en-US"/>
          </a:p>
        </p:txBody>
      </p:sp>
      <p:sp>
        <p:nvSpPr>
          <p:cNvPr id="13" name="Shape 9"/>
          <p:cNvSpPr/>
          <p:nvPr/>
        </p:nvSpPr>
        <p:spPr>
          <a:xfrm>
            <a:off x="8039405" y="1571854"/>
            <a:ext cx="3524098" cy="2809951"/>
          </a:xfrm>
          <a:prstGeom prst="roundRect">
            <a:avLst>
              <a:gd name="adj" fmla="val 1324"/>
            </a:avLst>
          </a:prstGeom>
          <a:solidFill>
            <a:srgbClr val="FFFFFF"/>
          </a:solidFill>
          <a:ln w="12700">
            <a:solidFill>
              <a:srgbClr val="E2E8F0"/>
            </a:solidFill>
            <a:prstDash val="solid"/>
          </a:ln>
          <a:effectLst>
            <a:outerShdw blurRad="139700" dist="38100" dir="16200000" algn="bl" rotWithShape="0">
              <a:srgbClr val="000000">
                <a:alpha val="3000"/>
              </a:srgbClr>
            </a:outerShdw>
          </a:effectLst>
        </p:spPr>
        <p:txBody>
          <a:bodyPr/>
          <a:lstStyle/>
          <a:p>
            <a:endParaRPr lang="en-US"/>
          </a:p>
        </p:txBody>
      </p:sp>
      <p:sp>
        <p:nvSpPr>
          <p:cNvPr id="14" name="Shape 10"/>
          <p:cNvSpPr/>
          <p:nvPr/>
        </p:nvSpPr>
        <p:spPr>
          <a:xfrm>
            <a:off x="8039405" y="1571854"/>
            <a:ext cx="3524098" cy="38405"/>
          </a:xfrm>
          <a:prstGeom prst="roundRect">
            <a:avLst>
              <a:gd name="adj" fmla="val 96852"/>
            </a:avLst>
          </a:prstGeom>
          <a:solidFill>
            <a:srgbClr val="111827"/>
          </a:solidFill>
          <a:ln w="12700">
            <a:solidFill>
              <a:srgbClr val="111827">
                <a:alpha val="0"/>
              </a:srgbClr>
            </a:solidFill>
            <a:prstDash val="solid"/>
          </a:ln>
        </p:spPr>
        <p:txBody>
          <a:bodyPr/>
          <a:lstStyle/>
          <a:p>
            <a:endParaRPr lang="en-US"/>
          </a:p>
        </p:txBody>
      </p:sp>
      <p:sp>
        <p:nvSpPr>
          <p:cNvPr id="15" name="Shape 11"/>
          <p:cNvSpPr/>
          <p:nvPr/>
        </p:nvSpPr>
        <p:spPr>
          <a:xfrm>
            <a:off x="90525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6" name="Shape 12"/>
          <p:cNvSpPr/>
          <p:nvPr/>
        </p:nvSpPr>
        <p:spPr>
          <a:xfrm>
            <a:off x="3666744"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7" name="Shape 13"/>
          <p:cNvSpPr/>
          <p:nvPr/>
        </p:nvSpPr>
        <p:spPr>
          <a:xfrm>
            <a:off x="6429146" y="5143500"/>
            <a:ext cx="2467051"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sp>
        <p:nvSpPr>
          <p:cNvPr id="18" name="Shape 14"/>
          <p:cNvSpPr/>
          <p:nvPr/>
        </p:nvSpPr>
        <p:spPr>
          <a:xfrm>
            <a:off x="9191549" y="5143500"/>
            <a:ext cx="2180844" cy="1114654"/>
          </a:xfrm>
          <a:prstGeom prst="roundRect">
            <a:avLst>
              <a:gd name="adj" fmla="val 5609"/>
            </a:avLst>
          </a:prstGeom>
          <a:solidFill>
            <a:srgbClr val="FFFFFF"/>
          </a:solidFill>
          <a:ln w="12700">
            <a:solidFill>
              <a:srgbClr val="E2E8F0"/>
            </a:solidFill>
            <a:prstDash val="solid"/>
          </a:ln>
          <a:effectLst>
            <a:outerShdw blurRad="76200" dist="25400" dir="16200000" algn="bl" rotWithShape="0">
              <a:srgbClr val="000000">
                <a:alpha val="2000"/>
              </a:srgbClr>
            </a:outerShdw>
          </a:effectLst>
        </p:spPr>
        <p:txBody>
          <a:bodyPr/>
          <a:lstStyle/>
          <a:p>
            <a:endParaRPr lang="en-US"/>
          </a:p>
        </p:txBody>
      </p:sp>
      <p:pic>
        <p:nvPicPr>
          <p:cNvPr id="19" name="Image 2" descr="gen-dedup-06e3d16aa0e9246458a784af17ea21a8.png"/>
          <p:cNvPicPr>
            <a:picLocks noChangeAspect="1"/>
          </p:cNvPicPr>
          <p:nvPr/>
        </p:nvPicPr>
        <p:blipFill>
          <a:blip r:embed="rId5"/>
          <a:srcRect l="-437" r="-437"/>
          <a:stretch/>
        </p:blipFill>
        <p:spPr>
          <a:xfrm>
            <a:off x="647395" y="743407"/>
            <a:ext cx="57607" cy="418795"/>
          </a:xfrm>
          <a:prstGeom prst="rect">
            <a:avLst/>
          </a:prstGeom>
        </p:spPr>
      </p:pic>
      <p:sp>
        <p:nvSpPr>
          <p:cNvPr id="20" name="Text 15"/>
          <p:cNvSpPr txBox="1"/>
          <p:nvPr/>
        </p:nvSpPr>
        <p:spPr>
          <a:xfrm>
            <a:off x="857707" y="685800"/>
            <a:ext cx="10478110" cy="419710"/>
          </a:xfrm>
          <a:prstGeom prst="rect">
            <a:avLst/>
          </a:prstGeom>
          <a:noFill/>
          <a:ln/>
        </p:spPr>
        <p:txBody>
          <a:bodyPr wrap="square" lIns="0" tIns="0" rIns="0" bIns="0" rtlCol="0" anchor="ctr"/>
          <a:lstStyle/>
          <a:p>
            <a:pPr marL="0" indent="0" algn="l">
              <a:buNone/>
            </a:pPr>
            <a:r>
              <a:rPr lang="en-US" sz="3000" b="1" dirty="0">
                <a:solidFill>
                  <a:srgbClr val="111827"/>
                </a:solidFill>
                <a:latin typeface="Oswald" pitchFamily="34" charset="0"/>
                <a:ea typeface="Oswald" pitchFamily="34" charset="-122"/>
                <a:cs typeface="Oswald" pitchFamily="34" charset="-120"/>
              </a:rPr>
              <a:t>NEXT STEPS</a:t>
            </a:r>
            <a:endParaRPr lang="en-US" sz="3000" dirty="0"/>
          </a:p>
        </p:txBody>
      </p:sp>
      <p:sp>
        <p:nvSpPr>
          <p:cNvPr id="21" name="Text 16"/>
          <p:cNvSpPr txBox="1"/>
          <p:nvPr/>
        </p:nvSpPr>
        <p:spPr>
          <a:xfrm>
            <a:off x="857707" y="1143000"/>
            <a:ext cx="10478110" cy="181051"/>
          </a:xfrm>
          <a:prstGeom prst="rect">
            <a:avLst/>
          </a:prstGeom>
          <a:noFill/>
          <a:ln/>
        </p:spPr>
        <p:txBody>
          <a:bodyPr wrap="square" lIns="0" tIns="0" rIns="0" bIns="0" rtlCol="0" anchor="ctr"/>
          <a:lstStyle/>
          <a:p>
            <a:pPr marL="0" indent="0" algn="l">
              <a:buNone/>
            </a:pPr>
            <a:r>
              <a:rPr lang="en-US" sz="1200" b="1" kern="0" spc="60" dirty="0">
                <a:solidFill>
                  <a:srgbClr val="2A9D8F"/>
                </a:solidFill>
                <a:latin typeface="Roboto Condensed" pitchFamily="34" charset="0"/>
                <a:ea typeface="Roboto Condensed" pitchFamily="34" charset="-122"/>
                <a:cs typeface="Roboto Condensed" pitchFamily="34" charset="-120"/>
              </a:rPr>
              <a:t>FLEXIBLE ENGAGEMENT MODELS TAILORED TO YOUR THREE-YEAR ROADMAP</a:t>
            </a:r>
            <a:endParaRPr lang="en-US" sz="1200" dirty="0"/>
          </a:p>
        </p:txBody>
      </p:sp>
      <p:sp>
        <p:nvSpPr>
          <p:cNvPr id="22" name="Shape 17"/>
          <p:cNvSpPr/>
          <p:nvPr/>
        </p:nvSpPr>
        <p:spPr>
          <a:xfrm>
            <a:off x="838505" y="1762049"/>
            <a:ext cx="457200" cy="457200"/>
          </a:xfrm>
          <a:prstGeom prst="roundRect">
            <a:avLst>
              <a:gd name="adj" fmla="val 66667"/>
            </a:avLst>
          </a:prstGeom>
          <a:solidFill>
            <a:srgbClr val="E6F3F1"/>
          </a:solidFill>
          <a:ln w="12700">
            <a:solidFill>
              <a:srgbClr val="FFFFFF">
                <a:alpha val="0"/>
              </a:srgbClr>
            </a:solidFill>
            <a:prstDash val="solid"/>
          </a:ln>
        </p:spPr>
        <p:txBody>
          <a:bodyPr/>
          <a:lstStyle/>
          <a:p>
            <a:endParaRPr lang="en-US"/>
          </a:p>
        </p:txBody>
      </p:sp>
      <p:pic>
        <p:nvPicPr>
          <p:cNvPr id="23" name="Image 3" descr="gen-dedup-fa5d0b435e79f3035aaec6593bf7cfb3.png"/>
          <p:cNvPicPr>
            <a:picLocks noChangeAspect="1"/>
          </p:cNvPicPr>
          <p:nvPr/>
        </p:nvPicPr>
        <p:blipFill>
          <a:blip r:embed="rId6"/>
          <a:srcRect l="-3526" r="-3526"/>
          <a:stretch/>
        </p:blipFill>
        <p:spPr>
          <a:xfrm>
            <a:off x="990295" y="1895551"/>
            <a:ext cx="152705" cy="190195"/>
          </a:xfrm>
          <a:prstGeom prst="rect">
            <a:avLst/>
          </a:prstGeom>
        </p:spPr>
      </p:pic>
      <p:sp>
        <p:nvSpPr>
          <p:cNvPr id="24" name="Text 18"/>
          <p:cNvSpPr txBox="1"/>
          <p:nvPr/>
        </p:nvSpPr>
        <p:spPr>
          <a:xfrm>
            <a:off x="1447495" y="1794967"/>
            <a:ext cx="1995221"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Discovery Workshop</a:t>
            </a:r>
            <a:endParaRPr lang="en-US" sz="1600"/>
          </a:p>
        </p:txBody>
      </p:sp>
      <p:sp>
        <p:nvSpPr>
          <p:cNvPr id="25" name="Text 19"/>
          <p:cNvSpPr txBox="1"/>
          <p:nvPr/>
        </p:nvSpPr>
        <p:spPr>
          <a:xfrm>
            <a:off x="1447495" y="2043684"/>
            <a:ext cx="1677010"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~90 Minutes</a:t>
            </a:r>
            <a:endParaRPr lang="en-US" sz="900"/>
          </a:p>
        </p:txBody>
      </p:sp>
      <p:sp>
        <p:nvSpPr>
          <p:cNvPr id="26" name="Shape 20"/>
          <p:cNvSpPr/>
          <p:nvPr/>
        </p:nvSpPr>
        <p:spPr>
          <a:xfrm>
            <a:off x="3259836" y="1762049"/>
            <a:ext cx="705002" cy="256946"/>
          </a:xfrm>
          <a:prstGeom prst="roundRect">
            <a:avLst>
              <a:gd name="adj" fmla="val 316331"/>
            </a:avLst>
          </a:prstGeom>
          <a:solidFill>
            <a:srgbClr val="E6F3F1"/>
          </a:solidFill>
          <a:ln w="12700">
            <a:solidFill>
              <a:srgbClr val="FFFFFF">
                <a:alpha val="0"/>
              </a:srgbClr>
            </a:solidFill>
            <a:prstDash val="solid"/>
          </a:ln>
        </p:spPr>
        <p:txBody>
          <a:bodyPr/>
          <a:lstStyle/>
          <a:p>
            <a:endParaRPr lang="en-US"/>
          </a:p>
        </p:txBody>
      </p:sp>
      <p:sp>
        <p:nvSpPr>
          <p:cNvPr id="27" name="Text 21"/>
          <p:cNvSpPr txBox="1"/>
          <p:nvPr/>
        </p:nvSpPr>
        <p:spPr>
          <a:xfrm>
            <a:off x="83850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28" name="Image 4" descr="gen-dedup-2910efa1624004b251a6644ba5a6ae47.png"/>
          <p:cNvPicPr>
            <a:picLocks noChangeAspect="1"/>
          </p:cNvPicPr>
          <p:nvPr/>
        </p:nvPicPr>
        <p:blipFill>
          <a:blip r:embed="rId7"/>
          <a:srcRect t="-27726" b="-27726"/>
          <a:stretch/>
        </p:blipFill>
        <p:spPr>
          <a:xfrm>
            <a:off x="838505" y="2734056"/>
            <a:ext cx="85954" cy="152705"/>
          </a:xfrm>
          <a:prstGeom prst="rect">
            <a:avLst/>
          </a:prstGeom>
        </p:spPr>
      </p:pic>
      <p:sp>
        <p:nvSpPr>
          <p:cNvPr id="29" name="Text 22"/>
          <p:cNvSpPr txBox="1"/>
          <p:nvPr/>
        </p:nvSpPr>
        <p:spPr>
          <a:xfrm>
            <a:off x="1019556" y="2695651"/>
            <a:ext cx="2732227"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Use case identification &amp; prioritization</a:t>
            </a:r>
            <a:endParaRPr lang="en-US" sz="1000"/>
          </a:p>
        </p:txBody>
      </p:sp>
      <p:pic>
        <p:nvPicPr>
          <p:cNvPr id="30" name="Image 5" descr="gen-dedup-2910efa1624004b251a6644ba5a6ae47.png"/>
          <p:cNvPicPr>
            <a:picLocks noChangeAspect="1"/>
          </p:cNvPicPr>
          <p:nvPr/>
        </p:nvPicPr>
        <p:blipFill>
          <a:blip r:embed="rId7"/>
          <a:srcRect t="-27726" b="-27726"/>
          <a:stretch/>
        </p:blipFill>
        <p:spPr>
          <a:xfrm>
            <a:off x="838505" y="3019349"/>
            <a:ext cx="85954" cy="152705"/>
          </a:xfrm>
          <a:prstGeom prst="rect">
            <a:avLst/>
          </a:prstGeom>
        </p:spPr>
      </p:pic>
      <p:sp>
        <p:nvSpPr>
          <p:cNvPr id="31" name="Text 23"/>
          <p:cNvSpPr txBox="1"/>
          <p:nvPr/>
        </p:nvSpPr>
        <p:spPr>
          <a:xfrm>
            <a:off x="1019556" y="2980944"/>
            <a:ext cx="1972361"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Value hypothesis definition</a:t>
            </a:r>
            <a:endParaRPr lang="en-US" sz="1000"/>
          </a:p>
        </p:txBody>
      </p:sp>
      <p:pic>
        <p:nvPicPr>
          <p:cNvPr id="32" name="Image 6" descr="gen-dedup-2910efa1624004b251a6644ba5a6ae47.png"/>
          <p:cNvPicPr>
            <a:picLocks noChangeAspect="1"/>
          </p:cNvPicPr>
          <p:nvPr/>
        </p:nvPicPr>
        <p:blipFill>
          <a:blip r:embed="rId7"/>
          <a:srcRect t="-27726" b="-27726"/>
          <a:stretch/>
        </p:blipFill>
        <p:spPr>
          <a:xfrm>
            <a:off x="838505" y="3305556"/>
            <a:ext cx="85954" cy="152705"/>
          </a:xfrm>
          <a:prstGeom prst="rect">
            <a:avLst/>
          </a:prstGeom>
        </p:spPr>
      </p:pic>
      <p:sp>
        <p:nvSpPr>
          <p:cNvPr id="33" name="Text 24"/>
          <p:cNvSpPr txBox="1"/>
          <p:nvPr/>
        </p:nvSpPr>
        <p:spPr>
          <a:xfrm>
            <a:off x="1019556" y="3267151"/>
            <a:ext cx="3377794" cy="191110"/>
          </a:xfrm>
          <a:prstGeom prst="rect">
            <a:avLst/>
          </a:prstGeom>
          <a:noFill/>
          <a:ln/>
        </p:spPr>
        <p:txBody>
          <a:bodyPr wrap="square" lIns="0" tIns="0" rIns="0" bIns="0" rtlCol="0" anchor="ctr"/>
          <a:lstStyle/>
          <a:p>
            <a:pPr marL="0" indent="0" algn="l">
              <a:buNone/>
            </a:pPr>
            <a:r>
              <a:rPr lang="en-US" sz="1000">
                <a:solidFill>
                  <a:srgbClr val="475569"/>
                </a:solidFill>
                <a:latin typeface="Raleway" pitchFamily="34" charset="0"/>
                <a:ea typeface="Raleway" pitchFamily="34" charset="-122"/>
                <a:cs typeface="Raleway" pitchFamily="34" charset="-120"/>
              </a:rPr>
              <a:t>High-level roadmap aligned to 70/30 strategy</a:t>
            </a:r>
            <a:endParaRPr lang="en-US" sz="1000"/>
          </a:p>
        </p:txBody>
      </p:sp>
      <p:sp>
        <p:nvSpPr>
          <p:cNvPr id="34" name="Text 25"/>
          <p:cNvSpPr txBox="1"/>
          <p:nvPr/>
        </p:nvSpPr>
        <p:spPr>
          <a:xfrm>
            <a:off x="3354934" y="1848002"/>
            <a:ext cx="662026" cy="124358"/>
          </a:xfrm>
          <a:prstGeom prst="rect">
            <a:avLst/>
          </a:prstGeom>
          <a:noFill/>
          <a:ln/>
        </p:spPr>
        <p:txBody>
          <a:bodyPr wrap="square" lIns="0" tIns="0" rIns="0" bIns="0" rtlCol="0" anchor="ctr"/>
          <a:lstStyle/>
          <a:p>
            <a:pPr marL="0" indent="0" algn="l">
              <a:buNone/>
            </a:pPr>
            <a:r>
              <a:rPr lang="en-US" sz="800" b="1">
                <a:solidFill>
                  <a:srgbClr val="2A9D8F"/>
                </a:solidFill>
                <a:latin typeface="Roboto Condensed" pitchFamily="34" charset="0"/>
                <a:ea typeface="Roboto Condensed" pitchFamily="34" charset="-122"/>
                <a:cs typeface="Roboto Condensed" pitchFamily="34" charset="-120"/>
              </a:rPr>
              <a:t>LOW TOUCH</a:t>
            </a:r>
            <a:endParaRPr lang="en-US" sz="800"/>
          </a:p>
        </p:txBody>
      </p:sp>
      <p:sp>
        <p:nvSpPr>
          <p:cNvPr id="35" name="Shape 26"/>
          <p:cNvSpPr/>
          <p:nvPr/>
        </p:nvSpPr>
        <p:spPr>
          <a:xfrm>
            <a:off x="4533595" y="1762049"/>
            <a:ext cx="457200" cy="457200"/>
          </a:xfrm>
          <a:prstGeom prst="roundRect">
            <a:avLst>
              <a:gd name="adj" fmla="val 66667"/>
            </a:avLst>
          </a:prstGeom>
          <a:solidFill>
            <a:srgbClr val="FBE6E8"/>
          </a:solidFill>
          <a:ln w="12700">
            <a:solidFill>
              <a:srgbClr val="FFFFFF">
                <a:alpha val="0"/>
              </a:srgbClr>
            </a:solidFill>
            <a:prstDash val="solid"/>
          </a:ln>
        </p:spPr>
        <p:txBody>
          <a:bodyPr/>
          <a:lstStyle/>
          <a:p>
            <a:endParaRPr lang="en-US"/>
          </a:p>
        </p:txBody>
      </p:sp>
      <p:pic>
        <p:nvPicPr>
          <p:cNvPr id="36" name="Image 7" descr="gen-dedup-302cf04975ca72dffec5134ed5b99fbe.png"/>
          <p:cNvPicPr>
            <a:picLocks noChangeAspect="1"/>
          </p:cNvPicPr>
          <p:nvPr/>
        </p:nvPicPr>
        <p:blipFill>
          <a:blip r:embed="rId8"/>
          <a:srcRect t="-4491" b="-4491"/>
          <a:stretch/>
        </p:blipFill>
        <p:spPr>
          <a:xfrm>
            <a:off x="4686300" y="1895551"/>
            <a:ext cx="152705" cy="190195"/>
          </a:xfrm>
          <a:prstGeom prst="rect">
            <a:avLst/>
          </a:prstGeom>
        </p:spPr>
      </p:pic>
      <p:sp>
        <p:nvSpPr>
          <p:cNvPr id="37" name="Text 27"/>
          <p:cNvSpPr txBox="1"/>
          <p:nvPr/>
        </p:nvSpPr>
        <p:spPr>
          <a:xfrm>
            <a:off x="5143500" y="1794967"/>
            <a:ext cx="1825142"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Assessment &amp; PoC</a:t>
            </a:r>
            <a:endParaRPr lang="en-US" sz="1600"/>
          </a:p>
        </p:txBody>
      </p:sp>
      <p:sp>
        <p:nvSpPr>
          <p:cNvPr id="38" name="Text 28"/>
          <p:cNvSpPr txBox="1"/>
          <p:nvPr/>
        </p:nvSpPr>
        <p:spPr>
          <a:xfrm>
            <a:off x="5143500" y="2043684"/>
            <a:ext cx="1534363"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4 Weeks</a:t>
            </a:r>
            <a:endParaRPr lang="en-US" sz="900"/>
          </a:p>
        </p:txBody>
      </p:sp>
      <p:sp>
        <p:nvSpPr>
          <p:cNvPr id="39" name="Shape 29"/>
          <p:cNvSpPr/>
          <p:nvPr/>
        </p:nvSpPr>
        <p:spPr>
          <a:xfrm>
            <a:off x="6982358" y="1762049"/>
            <a:ext cx="676656" cy="256946"/>
          </a:xfrm>
          <a:prstGeom prst="roundRect">
            <a:avLst>
              <a:gd name="adj" fmla="val 316331"/>
            </a:avLst>
          </a:prstGeom>
          <a:solidFill>
            <a:srgbClr val="FBE6E8"/>
          </a:solidFill>
          <a:ln w="12700">
            <a:solidFill>
              <a:srgbClr val="FFFFFF">
                <a:alpha val="0"/>
              </a:srgbClr>
            </a:solidFill>
            <a:prstDash val="solid"/>
          </a:ln>
        </p:spPr>
        <p:txBody>
          <a:bodyPr/>
          <a:lstStyle/>
          <a:p>
            <a:endParaRPr lang="en-US"/>
          </a:p>
        </p:txBody>
      </p:sp>
      <p:sp>
        <p:nvSpPr>
          <p:cNvPr id="40" name="Text 30"/>
          <p:cNvSpPr txBox="1"/>
          <p:nvPr/>
        </p:nvSpPr>
        <p:spPr>
          <a:xfrm>
            <a:off x="4533595"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KEY DELIVERABLES</a:t>
            </a:r>
            <a:endParaRPr lang="en-US" sz="900"/>
          </a:p>
        </p:txBody>
      </p:sp>
      <p:pic>
        <p:nvPicPr>
          <p:cNvPr id="41" name="Image 8" descr="gen-dedup-3f480c66afa147b2245dea2610bb3896.png"/>
          <p:cNvPicPr>
            <a:picLocks noChangeAspect="1"/>
          </p:cNvPicPr>
          <p:nvPr/>
        </p:nvPicPr>
        <p:blipFill>
          <a:blip r:embed="rId9"/>
          <a:srcRect t="-12832" b="-12832"/>
          <a:stretch/>
        </p:blipFill>
        <p:spPr>
          <a:xfrm>
            <a:off x="4533595" y="2734056"/>
            <a:ext cx="85954" cy="123444"/>
          </a:xfrm>
          <a:prstGeom prst="rect">
            <a:avLst/>
          </a:prstGeom>
        </p:spPr>
      </p:pic>
      <p:sp>
        <p:nvSpPr>
          <p:cNvPr id="42" name="Text 31"/>
          <p:cNvSpPr txBox="1"/>
          <p:nvPr/>
        </p:nvSpPr>
        <p:spPr>
          <a:xfrm>
            <a:off x="4714646" y="2695651"/>
            <a:ext cx="215432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Target state architecture design</a:t>
            </a:r>
            <a:endParaRPr lang="en-US" sz="900"/>
          </a:p>
        </p:txBody>
      </p:sp>
      <p:pic>
        <p:nvPicPr>
          <p:cNvPr id="43" name="Image 9" descr="gen-dedup-3f480c66afa147b2245dea2610bb3896.png"/>
          <p:cNvPicPr>
            <a:picLocks noChangeAspect="1"/>
          </p:cNvPicPr>
          <p:nvPr/>
        </p:nvPicPr>
        <p:blipFill>
          <a:blip r:embed="rId9"/>
          <a:srcRect t="-12832" b="-12832"/>
          <a:stretch/>
        </p:blipFill>
        <p:spPr>
          <a:xfrm>
            <a:off x="4533595" y="2971800"/>
            <a:ext cx="85954" cy="123444"/>
          </a:xfrm>
          <a:prstGeom prst="rect">
            <a:avLst/>
          </a:prstGeom>
        </p:spPr>
      </p:pic>
      <p:sp>
        <p:nvSpPr>
          <p:cNvPr id="44" name="Text 32"/>
          <p:cNvSpPr txBox="1"/>
          <p:nvPr/>
        </p:nvSpPr>
        <p:spPr>
          <a:xfrm>
            <a:off x="4714646" y="2933395"/>
            <a:ext cx="250545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Working pilot / MVP implementation</a:t>
            </a:r>
            <a:endParaRPr lang="en-US" sz="900"/>
          </a:p>
        </p:txBody>
      </p:sp>
      <p:pic>
        <p:nvPicPr>
          <p:cNvPr id="45" name="Image 10" descr="gen-dedup-3f480c66afa147b2245dea2610bb3896.png"/>
          <p:cNvPicPr>
            <a:picLocks noChangeAspect="1"/>
          </p:cNvPicPr>
          <p:nvPr/>
        </p:nvPicPr>
        <p:blipFill>
          <a:blip r:embed="rId9"/>
          <a:srcRect t="-12832" b="-12832"/>
          <a:stretch/>
        </p:blipFill>
        <p:spPr>
          <a:xfrm>
            <a:off x="4533595" y="3209544"/>
            <a:ext cx="85954" cy="123444"/>
          </a:xfrm>
          <a:prstGeom prst="rect">
            <a:avLst/>
          </a:prstGeom>
        </p:spPr>
      </p:pic>
      <p:sp>
        <p:nvSpPr>
          <p:cNvPr id="46" name="Text 33"/>
          <p:cNvSpPr txBox="1"/>
          <p:nvPr/>
        </p:nvSpPr>
        <p:spPr>
          <a:xfrm>
            <a:off x="4714646" y="3172054"/>
            <a:ext cx="2278685"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Detailed ROI model &amp; rollout plan</a:t>
            </a:r>
            <a:endParaRPr lang="en-US" sz="900"/>
          </a:p>
        </p:txBody>
      </p:sp>
      <p:pic>
        <p:nvPicPr>
          <p:cNvPr id="47" name="Image 11" descr="gen-dedup-3f480c66afa147b2245dea2610bb3896.png"/>
          <p:cNvPicPr>
            <a:picLocks noChangeAspect="1"/>
          </p:cNvPicPr>
          <p:nvPr/>
        </p:nvPicPr>
        <p:blipFill>
          <a:blip r:embed="rId9"/>
          <a:srcRect t="-12832" b="-12832"/>
          <a:stretch/>
        </p:blipFill>
        <p:spPr>
          <a:xfrm>
            <a:off x="4533595" y="3448202"/>
            <a:ext cx="85954" cy="123444"/>
          </a:xfrm>
          <a:prstGeom prst="rect">
            <a:avLst/>
          </a:prstGeom>
        </p:spPr>
      </p:pic>
      <p:sp>
        <p:nvSpPr>
          <p:cNvPr id="48" name="Text 34"/>
          <p:cNvSpPr txBox="1"/>
          <p:nvPr/>
        </p:nvSpPr>
        <p:spPr>
          <a:xfrm>
            <a:off x="4714646" y="3409798"/>
            <a:ext cx="2108606" cy="162763"/>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Vendor integration assessment</a:t>
            </a:r>
            <a:endParaRPr lang="en-US" sz="900"/>
          </a:p>
        </p:txBody>
      </p:sp>
      <p:sp>
        <p:nvSpPr>
          <p:cNvPr id="49" name="Text 35"/>
          <p:cNvSpPr txBox="1"/>
          <p:nvPr/>
        </p:nvSpPr>
        <p:spPr>
          <a:xfrm>
            <a:off x="7077456" y="1848002"/>
            <a:ext cx="658368" cy="124358"/>
          </a:xfrm>
          <a:prstGeom prst="rect">
            <a:avLst/>
          </a:prstGeom>
          <a:noFill/>
          <a:ln/>
        </p:spPr>
        <p:txBody>
          <a:bodyPr wrap="square" lIns="0" tIns="0" rIns="0" bIns="0" rtlCol="0" anchor="ctr"/>
          <a:lstStyle/>
          <a:p>
            <a:pPr marL="0" indent="0" algn="l">
              <a:buNone/>
            </a:pPr>
            <a:r>
              <a:rPr lang="en-US" sz="800" b="1">
                <a:solidFill>
                  <a:srgbClr val="D62839"/>
                </a:solidFill>
                <a:latin typeface="Roboto Condensed" pitchFamily="34" charset="0"/>
                <a:ea typeface="Roboto Condensed" pitchFamily="34" charset="-122"/>
                <a:cs typeface="Roboto Condensed" pitchFamily="34" charset="-120"/>
              </a:rPr>
              <a:t>STRATEGIC</a:t>
            </a:r>
            <a:endParaRPr lang="en-US" sz="800"/>
          </a:p>
        </p:txBody>
      </p:sp>
      <p:sp>
        <p:nvSpPr>
          <p:cNvPr id="50" name="Shape 36"/>
          <p:cNvSpPr/>
          <p:nvPr/>
        </p:nvSpPr>
        <p:spPr>
          <a:xfrm>
            <a:off x="8229600" y="1762049"/>
            <a:ext cx="457200" cy="457200"/>
          </a:xfrm>
          <a:prstGeom prst="roundRect">
            <a:avLst>
              <a:gd name="adj" fmla="val 66667"/>
            </a:avLst>
          </a:prstGeom>
          <a:solidFill>
            <a:srgbClr val="F1F5F9"/>
          </a:solidFill>
          <a:ln w="12700">
            <a:solidFill>
              <a:srgbClr val="FFFFFF">
                <a:alpha val="0"/>
              </a:srgbClr>
            </a:solidFill>
            <a:prstDash val="solid"/>
          </a:ln>
        </p:spPr>
        <p:txBody>
          <a:bodyPr/>
          <a:lstStyle/>
          <a:p>
            <a:endParaRPr lang="en-US"/>
          </a:p>
        </p:txBody>
      </p:sp>
      <p:pic>
        <p:nvPicPr>
          <p:cNvPr id="51" name="Image 12" descr="gen-dedup-e104b6e838315a11dc2d3bf260faf00b.png"/>
          <p:cNvPicPr>
            <a:picLocks noChangeAspect="1"/>
          </p:cNvPicPr>
          <p:nvPr/>
        </p:nvPicPr>
        <p:blipFill>
          <a:blip r:embed="rId10"/>
          <a:srcRect t="-27844" b="-27844"/>
          <a:stretch/>
        </p:blipFill>
        <p:spPr>
          <a:xfrm>
            <a:off x="8382305" y="1895551"/>
            <a:ext cx="152705" cy="190195"/>
          </a:xfrm>
          <a:prstGeom prst="rect">
            <a:avLst/>
          </a:prstGeom>
        </p:spPr>
      </p:pic>
      <p:sp>
        <p:nvSpPr>
          <p:cNvPr id="52" name="Text 37"/>
          <p:cNvSpPr txBox="1"/>
          <p:nvPr/>
        </p:nvSpPr>
        <p:spPr>
          <a:xfrm>
            <a:off x="8839505" y="1794967"/>
            <a:ext cx="1938528" cy="238658"/>
          </a:xfrm>
          <a:prstGeom prst="rect">
            <a:avLst/>
          </a:prstGeom>
          <a:noFill/>
          <a:ln/>
        </p:spPr>
        <p:txBody>
          <a:bodyPr wrap="square" lIns="0" tIns="0" rIns="0" bIns="0" rtlCol="0" anchor="ctr"/>
          <a:lstStyle/>
          <a:p>
            <a:pPr marL="0" indent="0" algn="l">
              <a:buNone/>
            </a:pPr>
            <a:r>
              <a:rPr lang="en-US" sz="1600" b="1">
                <a:solidFill>
                  <a:srgbClr val="111827"/>
                </a:solidFill>
                <a:latin typeface="Oswald" pitchFamily="34" charset="0"/>
                <a:ea typeface="Oswald" pitchFamily="34" charset="-122"/>
                <a:cs typeface="Oswald" pitchFamily="34" charset="-120"/>
              </a:rPr>
              <a:t>Build &amp; Run Models</a:t>
            </a:r>
            <a:endParaRPr lang="en-US" sz="1600"/>
          </a:p>
        </p:txBody>
      </p:sp>
      <p:sp>
        <p:nvSpPr>
          <p:cNvPr id="53" name="Text 38"/>
          <p:cNvSpPr txBox="1"/>
          <p:nvPr/>
        </p:nvSpPr>
        <p:spPr>
          <a:xfrm>
            <a:off x="8839505" y="2043684"/>
            <a:ext cx="1629461" cy="143561"/>
          </a:xfrm>
          <a:prstGeom prst="rect">
            <a:avLst/>
          </a:prstGeom>
          <a:noFill/>
          <a:ln/>
        </p:spPr>
        <p:txBody>
          <a:bodyPr wrap="square" lIns="0" tIns="0" rIns="0" bIns="0" rtlCol="0" anchor="ctr"/>
          <a:lstStyle/>
          <a:p>
            <a:pPr marL="0" indent="0" algn="l">
              <a:buNone/>
            </a:pPr>
            <a:r>
              <a:rPr lang="en-US" sz="900">
                <a:solidFill>
                  <a:srgbClr val="64748B"/>
                </a:solidFill>
                <a:latin typeface="Raleway" pitchFamily="34" charset="0"/>
                <a:ea typeface="Raleway" pitchFamily="34" charset="-122"/>
                <a:cs typeface="Raleway" pitchFamily="34" charset="-120"/>
              </a:rPr>
              <a:t>Duration: Multi-Year</a:t>
            </a:r>
            <a:endParaRPr lang="en-US" sz="900"/>
          </a:p>
        </p:txBody>
      </p:sp>
      <p:sp>
        <p:nvSpPr>
          <p:cNvPr id="54" name="Shape 39"/>
          <p:cNvSpPr/>
          <p:nvPr/>
        </p:nvSpPr>
        <p:spPr>
          <a:xfrm>
            <a:off x="10555834" y="1762049"/>
            <a:ext cx="800100" cy="256946"/>
          </a:xfrm>
          <a:prstGeom prst="roundRect">
            <a:avLst>
              <a:gd name="adj" fmla="val 316331"/>
            </a:avLst>
          </a:prstGeom>
          <a:solidFill>
            <a:srgbClr val="F1F5F9"/>
          </a:solidFill>
          <a:ln w="12700">
            <a:solidFill>
              <a:srgbClr val="FFFFFF">
                <a:alpha val="0"/>
              </a:srgbClr>
            </a:solidFill>
            <a:prstDash val="solid"/>
          </a:ln>
        </p:spPr>
        <p:txBody>
          <a:bodyPr/>
          <a:lstStyle/>
          <a:p>
            <a:endParaRPr lang="en-US"/>
          </a:p>
        </p:txBody>
      </p:sp>
      <p:sp>
        <p:nvSpPr>
          <p:cNvPr id="55" name="Text 40"/>
          <p:cNvSpPr txBox="1"/>
          <p:nvPr/>
        </p:nvSpPr>
        <p:spPr>
          <a:xfrm>
            <a:off x="8229600" y="2447849"/>
            <a:ext cx="3124505" cy="133502"/>
          </a:xfrm>
          <a:prstGeom prst="rect">
            <a:avLst/>
          </a:prstGeom>
          <a:noFill/>
          <a:ln/>
        </p:spPr>
        <p:txBody>
          <a:bodyPr wrap="square" lIns="0" tIns="0" rIns="0" bIns="0" rtlCol="0" anchor="ctr"/>
          <a:lstStyle/>
          <a:p>
            <a:pPr marL="0" indent="0" algn="l">
              <a:buNone/>
            </a:pPr>
            <a:r>
              <a:rPr lang="en-US" sz="900" b="1" kern="0" spc="45">
                <a:solidFill>
                  <a:srgbClr val="94A3B8"/>
                </a:solidFill>
                <a:latin typeface="Roboto Condensed" pitchFamily="34" charset="0"/>
                <a:ea typeface="Roboto Condensed" pitchFamily="34" charset="-122"/>
                <a:cs typeface="Roboto Condensed" pitchFamily="34" charset="-120"/>
              </a:rPr>
              <a:t>COMMERCIAL MODELS</a:t>
            </a:r>
            <a:endParaRPr lang="en-US" sz="900"/>
          </a:p>
        </p:txBody>
      </p:sp>
      <p:pic>
        <p:nvPicPr>
          <p:cNvPr id="56" name="Image 13" descr="gen-dedup-06c19e2f143b52e69c4653630769d291.png"/>
          <p:cNvPicPr>
            <a:picLocks noChangeAspect="1"/>
          </p:cNvPicPr>
          <p:nvPr/>
        </p:nvPicPr>
        <p:blipFill>
          <a:blip r:embed="rId11"/>
          <a:srcRect t="-27726" b="-27726"/>
          <a:stretch/>
        </p:blipFill>
        <p:spPr>
          <a:xfrm>
            <a:off x="8229600" y="2734056"/>
            <a:ext cx="85954" cy="152705"/>
          </a:xfrm>
          <a:prstGeom prst="rect">
            <a:avLst/>
          </a:prstGeom>
        </p:spPr>
      </p:pic>
      <p:sp>
        <p:nvSpPr>
          <p:cNvPr id="57" name="Text 41"/>
          <p:cNvSpPr txBox="1"/>
          <p:nvPr/>
        </p:nvSpPr>
        <p:spPr>
          <a:xfrm>
            <a:off x="8410651" y="2695651"/>
            <a:ext cx="2879446"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Fixed Scope:</a:t>
            </a:r>
            <a:r>
              <a:rPr lang="en-US" sz="1000">
                <a:solidFill>
                  <a:srgbClr val="475569"/>
                </a:solidFill>
                <a:latin typeface="Raleway" pitchFamily="34" charset="0"/>
                <a:ea typeface="Raleway" pitchFamily="34" charset="-122"/>
                <a:cs typeface="Raleway" pitchFamily="34" charset="-120"/>
              </a:rPr>
              <a:t> For defined project builds</a:t>
            </a:r>
            <a:endParaRPr lang="en-US" sz="1000"/>
          </a:p>
        </p:txBody>
      </p:sp>
      <p:pic>
        <p:nvPicPr>
          <p:cNvPr id="58" name="Image 14" descr="gen-dedup-06c19e2f143b52e69c4653630769d291.png"/>
          <p:cNvPicPr>
            <a:picLocks noChangeAspect="1"/>
          </p:cNvPicPr>
          <p:nvPr/>
        </p:nvPicPr>
        <p:blipFill>
          <a:blip r:embed="rId11"/>
          <a:srcRect t="-27726" b="-27726"/>
          <a:stretch/>
        </p:blipFill>
        <p:spPr>
          <a:xfrm>
            <a:off x="8229600" y="3038551"/>
            <a:ext cx="85954" cy="152705"/>
          </a:xfrm>
          <a:prstGeom prst="rect">
            <a:avLst/>
          </a:prstGeom>
        </p:spPr>
      </p:pic>
      <p:sp>
        <p:nvSpPr>
          <p:cNvPr id="59" name="Text 42"/>
          <p:cNvSpPr txBox="1"/>
          <p:nvPr/>
        </p:nvSpPr>
        <p:spPr>
          <a:xfrm>
            <a:off x="8410651" y="3000146"/>
            <a:ext cx="3038551" cy="191110"/>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Managed Service:</a:t>
            </a:r>
            <a:r>
              <a:rPr lang="en-US" sz="1000">
                <a:solidFill>
                  <a:srgbClr val="475569"/>
                </a:solidFill>
                <a:latin typeface="Raleway" pitchFamily="34" charset="0"/>
                <a:ea typeface="Raleway" pitchFamily="34" charset="-122"/>
                <a:cs typeface="Raleway" pitchFamily="34" charset="-120"/>
              </a:rPr>
              <a:t> SLA-driven operations</a:t>
            </a:r>
            <a:endParaRPr lang="en-US" sz="1000"/>
          </a:p>
        </p:txBody>
      </p:sp>
      <p:pic>
        <p:nvPicPr>
          <p:cNvPr id="60" name="Image 15" descr="gen-dedup-3678629b4a5ad6139a7cc5dcf1ee97ee.png"/>
          <p:cNvPicPr>
            <a:picLocks noChangeAspect="1"/>
          </p:cNvPicPr>
          <p:nvPr/>
        </p:nvPicPr>
        <p:blipFill>
          <a:blip r:embed="rId12"/>
          <a:srcRect t="-119879" b="-119879"/>
          <a:stretch/>
        </p:blipFill>
        <p:spPr>
          <a:xfrm>
            <a:off x="8229600" y="3343046"/>
            <a:ext cx="85954" cy="333756"/>
          </a:xfrm>
          <a:prstGeom prst="rect">
            <a:avLst/>
          </a:prstGeom>
        </p:spPr>
      </p:pic>
      <p:sp>
        <p:nvSpPr>
          <p:cNvPr id="61" name="Text 43"/>
          <p:cNvSpPr txBox="1"/>
          <p:nvPr/>
        </p:nvSpPr>
        <p:spPr>
          <a:xfrm>
            <a:off x="8410651" y="3305556"/>
            <a:ext cx="2943454" cy="381305"/>
          </a:xfrm>
          <a:prstGeom prst="rect">
            <a:avLst/>
          </a:prstGeom>
          <a:noFill/>
          <a:ln/>
        </p:spPr>
        <p:txBody>
          <a:bodyPr wrap="square" lIns="0" tIns="0" rIns="0" bIns="0" rtlCol="0" anchor="ctr"/>
          <a:lstStyle/>
          <a:p>
            <a:pPr marL="0" indent="0" algn="l">
              <a:buNone/>
            </a:pPr>
            <a:r>
              <a:rPr lang="en-US" sz="1000" b="1">
                <a:solidFill>
                  <a:srgbClr val="111827"/>
                </a:solidFill>
                <a:latin typeface="Raleway" pitchFamily="34" charset="0"/>
                <a:ea typeface="Raleway" pitchFamily="34" charset="-122"/>
                <a:cs typeface="Raleway" pitchFamily="34" charset="-120"/>
              </a:rPr>
              <a:t>Outcome-Based:</a:t>
            </a:r>
            <a:r>
              <a:rPr lang="en-US" sz="1000">
                <a:solidFill>
                  <a:srgbClr val="475569"/>
                </a:solidFill>
                <a:latin typeface="Raleway" pitchFamily="34" charset="0"/>
                <a:ea typeface="Raleway" pitchFamily="34" charset="-122"/>
                <a:cs typeface="Raleway" pitchFamily="34" charset="-120"/>
              </a:rPr>
              <a:t> Gain-share pricing tied to value</a:t>
            </a:r>
            <a:endParaRPr lang="en-US" sz="1000"/>
          </a:p>
        </p:txBody>
      </p:sp>
      <p:sp>
        <p:nvSpPr>
          <p:cNvPr id="62" name="Text 44"/>
          <p:cNvSpPr txBox="1"/>
          <p:nvPr/>
        </p:nvSpPr>
        <p:spPr>
          <a:xfrm>
            <a:off x="10650931" y="1848002"/>
            <a:ext cx="806501" cy="124358"/>
          </a:xfrm>
          <a:prstGeom prst="rect">
            <a:avLst/>
          </a:prstGeom>
          <a:noFill/>
          <a:ln/>
        </p:spPr>
        <p:txBody>
          <a:bodyPr wrap="square" lIns="0" tIns="0" rIns="0" bIns="0" rtlCol="0" anchor="ctr"/>
          <a:lstStyle/>
          <a:p>
            <a:pPr marL="0" indent="0" algn="l">
              <a:buNone/>
            </a:pPr>
            <a:r>
              <a:rPr lang="en-US" sz="800" b="1">
                <a:solidFill>
                  <a:srgbClr val="334155"/>
                </a:solidFill>
                <a:latin typeface="Roboto Condensed" pitchFamily="34" charset="0"/>
                <a:ea typeface="Roboto Condensed" pitchFamily="34" charset="-122"/>
                <a:cs typeface="Roboto Condensed" pitchFamily="34" charset="-120"/>
              </a:rPr>
              <a:t>PARTNERSHIP</a:t>
            </a:r>
            <a:endParaRPr lang="en-US" sz="800"/>
          </a:p>
        </p:txBody>
      </p:sp>
      <p:pic>
        <p:nvPicPr>
          <p:cNvPr id="63" name="Image 16" descr="gen-dedup-a2699a036d9634824b4953ceddf6835e.png"/>
          <p:cNvPicPr>
            <a:picLocks noChangeAspect="1"/>
          </p:cNvPicPr>
          <p:nvPr/>
        </p:nvPicPr>
        <p:blipFill>
          <a:blip r:embed="rId13"/>
          <a:srcRect t="-16800" b="-16800"/>
          <a:stretch/>
        </p:blipFill>
        <p:spPr>
          <a:xfrm>
            <a:off x="905256" y="4809744"/>
            <a:ext cx="114300" cy="152705"/>
          </a:xfrm>
          <a:prstGeom prst="rect">
            <a:avLst/>
          </a:prstGeom>
        </p:spPr>
      </p:pic>
      <p:sp>
        <p:nvSpPr>
          <p:cNvPr id="64" name="Text 45"/>
          <p:cNvSpPr txBox="1"/>
          <p:nvPr/>
        </p:nvSpPr>
        <p:spPr>
          <a:xfrm>
            <a:off x="1114654" y="4762195"/>
            <a:ext cx="3151937" cy="247802"/>
          </a:xfrm>
          <a:prstGeom prst="rect">
            <a:avLst/>
          </a:prstGeom>
          <a:noFill/>
          <a:ln/>
        </p:spPr>
        <p:txBody>
          <a:bodyPr wrap="square" lIns="0" tIns="0" rIns="0" bIns="0" rtlCol="0" anchor="ctr"/>
          <a:lstStyle/>
          <a:p>
            <a:pPr marL="0" indent="0" algn="l">
              <a:buNone/>
            </a:pPr>
            <a:r>
              <a:rPr lang="en-US" sz="1300" b="1" kern="0" spc="27">
                <a:solidFill>
                  <a:srgbClr val="1E293B"/>
                </a:solidFill>
                <a:latin typeface="Oswald" pitchFamily="34" charset="0"/>
                <a:ea typeface="Oswald" pitchFamily="34" charset="-122"/>
                <a:cs typeface="Oswald" pitchFamily="34" charset="-120"/>
              </a:rPr>
              <a:t>SAMPLE IMPLEMENTATION ROADMAP</a:t>
            </a:r>
            <a:endParaRPr lang="en-US" sz="1300"/>
          </a:p>
        </p:txBody>
      </p:sp>
      <p:sp>
        <p:nvSpPr>
          <p:cNvPr id="65" name="Text 46"/>
          <p:cNvSpPr txBox="1"/>
          <p:nvPr/>
        </p:nvSpPr>
        <p:spPr>
          <a:xfrm>
            <a:off x="1047902" y="5315407"/>
            <a:ext cx="719633" cy="133502"/>
          </a:xfrm>
          <a:prstGeom prst="rect">
            <a:avLst/>
          </a:prstGeom>
          <a:noFill/>
          <a:ln/>
        </p:spPr>
        <p:txBody>
          <a:bodyPr wrap="square" lIns="0" tIns="0" rIns="0" bIns="0" rtlCol="0" anchor="ctr"/>
          <a:lstStyle/>
          <a:p>
            <a:pPr marL="0" indent="0" algn="l">
              <a:buNone/>
            </a:pPr>
            <a:r>
              <a:rPr lang="en-US" sz="900" b="1">
                <a:solidFill>
                  <a:srgbClr val="2A9D8F"/>
                </a:solidFill>
                <a:latin typeface="Roboto Condensed" pitchFamily="34" charset="0"/>
                <a:ea typeface="Roboto Condensed" pitchFamily="34" charset="-122"/>
                <a:cs typeface="Roboto Condensed" pitchFamily="34" charset="-120"/>
              </a:rPr>
              <a:t>DISCOVERY</a:t>
            </a:r>
            <a:endParaRPr lang="en-US" sz="900"/>
          </a:p>
        </p:txBody>
      </p:sp>
      <p:sp>
        <p:nvSpPr>
          <p:cNvPr id="66" name="Text 47"/>
          <p:cNvSpPr txBox="1"/>
          <p:nvPr/>
        </p:nvSpPr>
        <p:spPr>
          <a:xfrm>
            <a:off x="3063240" y="5238598"/>
            <a:ext cx="18196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Q1</a:t>
            </a:r>
            <a:endParaRPr lang="en-US" sz="1200"/>
          </a:p>
        </p:txBody>
      </p:sp>
      <p:sp>
        <p:nvSpPr>
          <p:cNvPr id="67" name="Text 48"/>
          <p:cNvSpPr txBox="1"/>
          <p:nvPr/>
        </p:nvSpPr>
        <p:spPr>
          <a:xfrm>
            <a:off x="1047902"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Assess readiness, define scope, select initial use cases</a:t>
            </a:r>
            <a:endParaRPr lang="en-US" sz="900"/>
          </a:p>
        </p:txBody>
      </p:sp>
      <p:sp>
        <p:nvSpPr>
          <p:cNvPr id="68" name="Shape 49"/>
          <p:cNvSpPr/>
          <p:nvPr/>
        </p:nvSpPr>
        <p:spPr>
          <a:xfrm>
            <a:off x="1047902" y="6117336"/>
            <a:ext cx="562356" cy="9144"/>
          </a:xfrm>
          <a:prstGeom prst="rect">
            <a:avLst/>
          </a:prstGeom>
          <a:solidFill>
            <a:srgbClr val="E6F3F1"/>
          </a:solidFill>
          <a:ln w="12700">
            <a:solidFill>
              <a:srgbClr val="E6F3F1">
                <a:alpha val="0"/>
              </a:srgbClr>
            </a:solidFill>
            <a:prstDash val="solid"/>
          </a:ln>
        </p:spPr>
        <p:txBody>
          <a:bodyPr/>
          <a:lstStyle/>
          <a:p>
            <a:endParaRPr lang="en-US"/>
          </a:p>
        </p:txBody>
      </p:sp>
      <p:sp>
        <p:nvSpPr>
          <p:cNvPr id="69" name="Text 50"/>
          <p:cNvSpPr txBox="1"/>
          <p:nvPr/>
        </p:nvSpPr>
        <p:spPr>
          <a:xfrm>
            <a:off x="1104595" y="5964631"/>
            <a:ext cx="716890" cy="124358"/>
          </a:xfrm>
          <a:prstGeom prst="rect">
            <a:avLst/>
          </a:prstGeom>
          <a:noFill/>
          <a:ln/>
        </p:spPr>
        <p:txBody>
          <a:bodyPr wrap="square" lIns="0" tIns="0" rIns="0" bIns="0" rtlCol="0" anchor="ctr"/>
          <a:lstStyle/>
          <a:p>
            <a:pPr marL="0" indent="0" algn="l">
              <a:buNone/>
            </a:pPr>
            <a:r>
              <a:rPr lang="en-US" sz="800" b="1">
                <a:solidFill>
                  <a:srgbClr val="2A9D8F"/>
                </a:solidFill>
                <a:latin typeface="Raleway" pitchFamily="34" charset="0"/>
                <a:ea typeface="Raleway" pitchFamily="34" charset="-122"/>
                <a:cs typeface="Raleway" pitchFamily="34" charset="-120"/>
              </a:rPr>
              <a:t>Initiation</a:t>
            </a:r>
            <a:endParaRPr lang="en-US" sz="800"/>
          </a:p>
        </p:txBody>
      </p:sp>
      <p:pic>
        <p:nvPicPr>
          <p:cNvPr id="70" name="Image 17" descr="gen-dedup-6bab9f986820d248c4d42c53288c0e5d.png"/>
          <p:cNvPicPr>
            <a:picLocks noChangeAspect="1"/>
          </p:cNvPicPr>
          <p:nvPr/>
        </p:nvPicPr>
        <p:blipFill>
          <a:blip r:embed="rId14"/>
          <a:srcRect t="-5544" b="-5544"/>
          <a:stretch/>
        </p:blipFill>
        <p:spPr>
          <a:xfrm>
            <a:off x="3452774" y="5627218"/>
            <a:ext cx="105156" cy="133502"/>
          </a:xfrm>
          <a:prstGeom prst="rect">
            <a:avLst/>
          </a:prstGeom>
        </p:spPr>
      </p:pic>
      <p:sp>
        <p:nvSpPr>
          <p:cNvPr id="71" name="Text 51"/>
          <p:cNvSpPr txBox="1"/>
          <p:nvPr/>
        </p:nvSpPr>
        <p:spPr>
          <a:xfrm>
            <a:off x="3810305" y="5315407"/>
            <a:ext cx="864108" cy="133502"/>
          </a:xfrm>
          <a:prstGeom prst="rect">
            <a:avLst/>
          </a:prstGeom>
          <a:noFill/>
          <a:ln/>
        </p:spPr>
        <p:txBody>
          <a:bodyPr wrap="square" lIns="0" tIns="0" rIns="0" bIns="0" rtlCol="0" anchor="ctr"/>
          <a:lstStyle/>
          <a:p>
            <a:pPr marL="0" indent="0" algn="l">
              <a:buNone/>
            </a:pPr>
            <a:r>
              <a:rPr lang="en-US" sz="900" b="1">
                <a:solidFill>
                  <a:srgbClr val="D62839"/>
                </a:solidFill>
                <a:latin typeface="Roboto Condensed" pitchFamily="34" charset="0"/>
                <a:ea typeface="Roboto Condensed" pitchFamily="34" charset="-122"/>
                <a:cs typeface="Roboto Condensed" pitchFamily="34" charset="-120"/>
              </a:rPr>
              <a:t>PILOT / POC</a:t>
            </a:r>
            <a:endParaRPr lang="en-US" sz="900"/>
          </a:p>
        </p:txBody>
      </p:sp>
      <p:sp>
        <p:nvSpPr>
          <p:cNvPr id="72" name="Text 52"/>
          <p:cNvSpPr txBox="1"/>
          <p:nvPr/>
        </p:nvSpPr>
        <p:spPr>
          <a:xfrm>
            <a:off x="5807354"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Q2</a:t>
            </a:r>
            <a:endParaRPr lang="en-US" sz="1200"/>
          </a:p>
        </p:txBody>
      </p:sp>
      <p:sp>
        <p:nvSpPr>
          <p:cNvPr id="73" name="Text 53"/>
          <p:cNvSpPr txBox="1"/>
          <p:nvPr/>
        </p:nvSpPr>
        <p:spPr>
          <a:xfrm>
            <a:off x="3810305"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MVP build, user testing, architecture validation</a:t>
            </a:r>
            <a:endParaRPr lang="en-US" sz="900"/>
          </a:p>
        </p:txBody>
      </p:sp>
      <p:sp>
        <p:nvSpPr>
          <p:cNvPr id="74" name="Shape 54"/>
          <p:cNvSpPr/>
          <p:nvPr/>
        </p:nvSpPr>
        <p:spPr>
          <a:xfrm>
            <a:off x="3810305" y="5897880"/>
            <a:ext cx="629107" cy="219456"/>
          </a:xfrm>
          <a:prstGeom prst="roundRect">
            <a:avLst>
              <a:gd name="adj" fmla="val 144928"/>
            </a:avLst>
          </a:prstGeom>
          <a:solidFill>
            <a:srgbClr val="FEF2F2"/>
          </a:solidFill>
          <a:ln w="12700">
            <a:solidFill>
              <a:srgbClr val="FFFFFF">
                <a:alpha val="0"/>
              </a:srgbClr>
            </a:solidFill>
            <a:prstDash val="solid"/>
          </a:ln>
        </p:spPr>
        <p:txBody>
          <a:bodyPr/>
          <a:lstStyle/>
          <a:p>
            <a:endParaRPr lang="en-US"/>
          </a:p>
        </p:txBody>
      </p:sp>
      <p:sp>
        <p:nvSpPr>
          <p:cNvPr id="75" name="Text 55"/>
          <p:cNvSpPr txBox="1"/>
          <p:nvPr/>
        </p:nvSpPr>
        <p:spPr>
          <a:xfrm>
            <a:off x="3866998" y="5964631"/>
            <a:ext cx="726948" cy="124358"/>
          </a:xfrm>
          <a:prstGeom prst="rect">
            <a:avLst/>
          </a:prstGeom>
          <a:noFill/>
          <a:ln/>
        </p:spPr>
        <p:txBody>
          <a:bodyPr wrap="square" lIns="0" tIns="0" rIns="0" bIns="0" rtlCol="0" anchor="ctr"/>
          <a:lstStyle/>
          <a:p>
            <a:pPr marL="0" indent="0" algn="l">
              <a:buNone/>
            </a:pPr>
            <a:r>
              <a:rPr lang="en-US" sz="800" b="1">
                <a:solidFill>
                  <a:srgbClr val="D62839"/>
                </a:solidFill>
                <a:latin typeface="Raleway" pitchFamily="34" charset="0"/>
                <a:ea typeface="Raleway" pitchFamily="34" charset="-122"/>
                <a:cs typeface="Raleway" pitchFamily="34" charset="-120"/>
              </a:rPr>
              <a:t>Validation</a:t>
            </a:r>
            <a:endParaRPr lang="en-US" sz="800"/>
          </a:p>
        </p:txBody>
      </p:sp>
      <p:pic>
        <p:nvPicPr>
          <p:cNvPr id="76" name="Image 18" descr="gen-dedup-6bab9f986820d248c4d42c53288c0e5d.png"/>
          <p:cNvPicPr>
            <a:picLocks noChangeAspect="1"/>
          </p:cNvPicPr>
          <p:nvPr/>
        </p:nvPicPr>
        <p:blipFill>
          <a:blip r:embed="rId14"/>
          <a:srcRect t="-5544" b="-5544"/>
          <a:stretch/>
        </p:blipFill>
        <p:spPr>
          <a:xfrm>
            <a:off x="6215177" y="5627218"/>
            <a:ext cx="105156" cy="133502"/>
          </a:xfrm>
          <a:prstGeom prst="rect">
            <a:avLst/>
          </a:prstGeom>
        </p:spPr>
      </p:pic>
      <p:sp>
        <p:nvSpPr>
          <p:cNvPr id="77" name="Text 56"/>
          <p:cNvSpPr txBox="1"/>
          <p:nvPr/>
        </p:nvSpPr>
        <p:spPr>
          <a:xfrm>
            <a:off x="6572707" y="5315407"/>
            <a:ext cx="402336"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SCALE</a:t>
            </a:r>
            <a:endParaRPr lang="en-US" sz="900"/>
          </a:p>
        </p:txBody>
      </p:sp>
      <p:sp>
        <p:nvSpPr>
          <p:cNvPr id="78" name="Text 57"/>
          <p:cNvSpPr txBox="1"/>
          <p:nvPr/>
        </p:nvSpPr>
        <p:spPr>
          <a:xfrm>
            <a:off x="8569757"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Q3</a:t>
            </a:r>
            <a:endParaRPr lang="en-US" sz="1200"/>
          </a:p>
        </p:txBody>
      </p:sp>
      <p:sp>
        <p:nvSpPr>
          <p:cNvPr id="79" name="Text 58"/>
          <p:cNvSpPr txBox="1"/>
          <p:nvPr/>
        </p:nvSpPr>
        <p:spPr>
          <a:xfrm>
            <a:off x="6572707" y="5505602"/>
            <a:ext cx="2162556"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Production deployment, integration, vendor onboarding</a:t>
            </a:r>
            <a:endParaRPr lang="en-US" sz="900"/>
          </a:p>
        </p:txBody>
      </p:sp>
      <p:sp>
        <p:nvSpPr>
          <p:cNvPr id="80" name="Shape 59"/>
          <p:cNvSpPr/>
          <p:nvPr/>
        </p:nvSpPr>
        <p:spPr>
          <a:xfrm>
            <a:off x="6572707" y="5897880"/>
            <a:ext cx="619049" cy="219456"/>
          </a:xfrm>
          <a:prstGeom prst="roundRect">
            <a:avLst>
              <a:gd name="adj" fmla="val 144928"/>
            </a:avLst>
          </a:prstGeom>
          <a:solidFill>
            <a:srgbClr val="F1F5F9"/>
          </a:solidFill>
          <a:ln w="12700">
            <a:solidFill>
              <a:srgbClr val="FFFFFF">
                <a:alpha val="0"/>
              </a:srgbClr>
            </a:solidFill>
            <a:prstDash val="solid"/>
          </a:ln>
        </p:spPr>
        <p:txBody>
          <a:bodyPr/>
          <a:lstStyle/>
          <a:p>
            <a:endParaRPr lang="en-US"/>
          </a:p>
        </p:txBody>
      </p:sp>
      <p:sp>
        <p:nvSpPr>
          <p:cNvPr id="81" name="Text 60"/>
          <p:cNvSpPr txBox="1"/>
          <p:nvPr/>
        </p:nvSpPr>
        <p:spPr>
          <a:xfrm>
            <a:off x="6629400" y="5964631"/>
            <a:ext cx="661111" cy="124358"/>
          </a:xfrm>
          <a:prstGeom prst="rect">
            <a:avLst/>
          </a:prstGeom>
          <a:noFill/>
          <a:ln/>
        </p:spPr>
        <p:txBody>
          <a:bodyPr wrap="square" lIns="0" tIns="0" rIns="0" bIns="0" rtlCol="0" anchor="ctr"/>
          <a:lstStyle/>
          <a:p>
            <a:pPr marL="0" indent="0" algn="l">
              <a:buNone/>
            </a:pPr>
            <a:r>
              <a:rPr lang="en-US" sz="800" b="1">
                <a:solidFill>
                  <a:srgbClr val="475569"/>
                </a:solidFill>
                <a:latin typeface="Raleway" pitchFamily="34" charset="0"/>
                <a:ea typeface="Raleway" pitchFamily="34" charset="-122"/>
                <a:cs typeface="Raleway" pitchFamily="34" charset="-120"/>
              </a:rPr>
              <a:t>Execution</a:t>
            </a:r>
            <a:endParaRPr lang="en-US" sz="800"/>
          </a:p>
        </p:txBody>
      </p:sp>
      <p:pic>
        <p:nvPicPr>
          <p:cNvPr id="82" name="Image 19" descr="gen-dedup-6bab9f986820d248c4d42c53288c0e5d.png"/>
          <p:cNvPicPr>
            <a:picLocks noChangeAspect="1"/>
          </p:cNvPicPr>
          <p:nvPr/>
        </p:nvPicPr>
        <p:blipFill>
          <a:blip r:embed="rId14"/>
          <a:srcRect t="-5544" b="-5544"/>
          <a:stretch/>
        </p:blipFill>
        <p:spPr>
          <a:xfrm>
            <a:off x="8977579" y="5627218"/>
            <a:ext cx="105156" cy="133502"/>
          </a:xfrm>
          <a:prstGeom prst="rect">
            <a:avLst/>
          </a:prstGeom>
        </p:spPr>
      </p:pic>
      <p:sp>
        <p:nvSpPr>
          <p:cNvPr id="83" name="Text 61"/>
          <p:cNvSpPr txBox="1"/>
          <p:nvPr/>
        </p:nvSpPr>
        <p:spPr>
          <a:xfrm>
            <a:off x="9334195" y="5315407"/>
            <a:ext cx="637337" cy="133502"/>
          </a:xfrm>
          <a:prstGeom prst="rect">
            <a:avLst/>
          </a:prstGeom>
          <a:noFill/>
          <a:ln/>
        </p:spPr>
        <p:txBody>
          <a:bodyPr wrap="square" lIns="0" tIns="0" rIns="0" bIns="0" rtlCol="0" anchor="ctr"/>
          <a:lstStyle/>
          <a:p>
            <a:pPr marL="0" indent="0" algn="l">
              <a:buNone/>
            </a:pPr>
            <a:r>
              <a:rPr lang="en-US" sz="900" b="1">
                <a:solidFill>
                  <a:srgbClr val="1E293B"/>
                </a:solidFill>
                <a:latin typeface="Roboto Condensed" pitchFamily="34" charset="0"/>
                <a:ea typeface="Roboto Condensed" pitchFamily="34" charset="-122"/>
                <a:cs typeface="Roboto Condensed" pitchFamily="34" charset="-120"/>
              </a:rPr>
              <a:t>OPTIMIZE</a:t>
            </a:r>
            <a:endParaRPr lang="en-US" sz="900"/>
          </a:p>
        </p:txBody>
      </p:sp>
      <p:sp>
        <p:nvSpPr>
          <p:cNvPr id="84" name="Text 62"/>
          <p:cNvSpPr txBox="1"/>
          <p:nvPr/>
        </p:nvSpPr>
        <p:spPr>
          <a:xfrm>
            <a:off x="11044123" y="5238598"/>
            <a:ext cx="196596" cy="228600"/>
          </a:xfrm>
          <a:prstGeom prst="rect">
            <a:avLst/>
          </a:prstGeom>
          <a:noFill/>
          <a:ln/>
        </p:spPr>
        <p:txBody>
          <a:bodyPr wrap="square" lIns="0" tIns="0" rIns="0" bIns="0" rtlCol="0" anchor="ctr"/>
          <a:lstStyle/>
          <a:p>
            <a:pPr marL="0" indent="0" algn="l">
              <a:buNone/>
            </a:pPr>
            <a:r>
              <a:rPr lang="en-US" sz="1200" b="1">
                <a:solidFill>
                  <a:srgbClr val="CBD5E1"/>
                </a:solidFill>
                <a:latin typeface="Oswald" pitchFamily="34" charset="0"/>
                <a:ea typeface="Oswald" pitchFamily="34" charset="-122"/>
                <a:cs typeface="Oswald" pitchFamily="34" charset="-120"/>
              </a:rPr>
              <a:t>Q4</a:t>
            </a:r>
            <a:endParaRPr lang="en-US" sz="1200"/>
          </a:p>
        </p:txBody>
      </p:sp>
      <p:sp>
        <p:nvSpPr>
          <p:cNvPr id="85" name="Text 63"/>
          <p:cNvSpPr txBox="1"/>
          <p:nvPr/>
        </p:nvSpPr>
        <p:spPr>
          <a:xfrm>
            <a:off x="9334195" y="5505602"/>
            <a:ext cx="1877263" cy="305410"/>
          </a:xfrm>
          <a:prstGeom prst="rect">
            <a:avLst/>
          </a:prstGeom>
          <a:noFill/>
          <a:ln/>
        </p:spPr>
        <p:txBody>
          <a:bodyPr wrap="square" lIns="0" tIns="0" rIns="0" bIns="0" rtlCol="0" anchor="ctr"/>
          <a:lstStyle/>
          <a:p>
            <a:pPr marL="0" indent="0" algn="l">
              <a:buNone/>
            </a:pPr>
            <a:r>
              <a:rPr lang="en-US" sz="900">
                <a:solidFill>
                  <a:srgbClr val="475569"/>
                </a:solidFill>
                <a:latin typeface="Raleway" pitchFamily="34" charset="0"/>
                <a:ea typeface="Raleway" pitchFamily="34" charset="-122"/>
                <a:cs typeface="Raleway" pitchFamily="34" charset="-120"/>
              </a:rPr>
              <a:t>Run ops, process tuning, continuous improvement</a:t>
            </a:r>
            <a:endParaRPr lang="en-US" sz="900"/>
          </a:p>
        </p:txBody>
      </p:sp>
      <p:sp>
        <p:nvSpPr>
          <p:cNvPr id="86" name="Text 64"/>
          <p:cNvSpPr txBox="1"/>
          <p:nvPr/>
        </p:nvSpPr>
        <p:spPr>
          <a:xfrm>
            <a:off x="9391802" y="5964631"/>
            <a:ext cx="737006" cy="124358"/>
          </a:xfrm>
          <a:prstGeom prst="rect">
            <a:avLst/>
          </a:prstGeom>
          <a:noFill/>
          <a:ln/>
        </p:spPr>
        <p:txBody>
          <a:bodyPr wrap="square" lIns="0" tIns="0" rIns="0" bIns="0" rtlCol="0" anchor="ctr"/>
          <a:lstStyle/>
          <a:p>
            <a:pPr marL="0" indent="0" algn="l">
              <a:buNone/>
            </a:pPr>
            <a:r>
              <a:rPr lang="en-US" sz="800" b="1">
                <a:solidFill>
                  <a:srgbClr val="64748B"/>
                </a:solidFill>
                <a:latin typeface="Raleway" pitchFamily="34" charset="0"/>
                <a:ea typeface="Raleway" pitchFamily="34" charset="-122"/>
                <a:cs typeface="Raleway" pitchFamily="34" charset="-120"/>
              </a:rPr>
              <a:t>Refinement</a:t>
            </a:r>
            <a:endParaRPr lang="en-US" sz="800"/>
          </a:p>
        </p:txBody>
      </p:sp>
    </p:spTree>
    <p:extLst>
      <p:ext uri="{BB962C8B-B14F-4D97-AF65-F5344CB8AC3E}">
        <p14:creationId xmlns:p14="http://schemas.microsoft.com/office/powerpoint/2010/main" val="1153050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8382305" y="-1429207"/>
            <a:ext cx="4762195" cy="4762195"/>
          </a:xfrm>
          <a:prstGeom prst="ellipse">
            <a:avLst/>
          </a:prstGeom>
          <a:solidFill>
            <a:srgbClr val="2A9D8F">
              <a:alpha val="3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952805" y="4476902"/>
            <a:ext cx="3810305" cy="3810305"/>
          </a:xfrm>
          <a:prstGeom prst="ellipse">
            <a:avLst/>
          </a:prstGeom>
          <a:solidFill>
            <a:srgbClr val="D62839">
              <a:alpha val="2000"/>
            </a:srgbClr>
          </a:solidFill>
          <a:ln w="12700">
            <a:solidFill>
              <a:srgbClr val="FFFFFF">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Image 0" descr="preencoded.png"/>
          <p:cNvPicPr>
            <a:picLocks noChangeAspect="1"/>
          </p:cNvPicPr>
          <p:nvPr/>
        </p:nvPicPr>
        <p:blipFill>
          <a:blip r:embed="rId3"/>
          <a:srcRect l="-202" r="-202"/>
          <a:stretch/>
        </p:blipFill>
        <p:spPr>
          <a:xfrm>
            <a:off x="0" y="6782105"/>
            <a:ext cx="8128102" cy="75895"/>
          </a:xfrm>
          <a:prstGeom prst="rect">
            <a:avLst/>
          </a:prstGeom>
        </p:spPr>
      </p:pic>
      <p:pic>
        <p:nvPicPr>
          <p:cNvPr id="7" name="Image 1" descr="preencoded.png"/>
          <p:cNvPicPr>
            <a:picLocks noChangeAspect="1"/>
          </p:cNvPicPr>
          <p:nvPr/>
        </p:nvPicPr>
        <p:blipFill>
          <a:blip r:embed="rId4"/>
          <a:srcRect l="-197" r="-197"/>
          <a:stretch/>
        </p:blipFill>
        <p:spPr>
          <a:xfrm>
            <a:off x="8128102" y="6782105"/>
            <a:ext cx="4063594" cy="75895"/>
          </a:xfrm>
          <a:prstGeom prst="rect">
            <a:avLst/>
          </a:prstGeom>
        </p:spPr>
      </p:pic>
      <p:pic>
        <p:nvPicPr>
          <p:cNvPr id="8" name="Image 2" descr="preencoded.png"/>
          <p:cNvPicPr>
            <a:picLocks noChangeAspect="1"/>
          </p:cNvPicPr>
          <p:nvPr/>
        </p:nvPicPr>
        <p:blipFill>
          <a:blip r:embed="rId5"/>
          <a:srcRect t="60" b="60"/>
          <a:stretch/>
        </p:blipFill>
        <p:spPr>
          <a:xfrm>
            <a:off x="4121201" y="914400"/>
            <a:ext cx="3952951" cy="1904695"/>
          </a:xfrm>
          <a:prstGeom prst="rect">
            <a:avLst/>
          </a:prstGeom>
        </p:spPr>
      </p:pic>
      <p:pic>
        <p:nvPicPr>
          <p:cNvPr id="9" name="Image 3" descr="preencoded.png"/>
          <p:cNvPicPr>
            <a:picLocks noChangeAspect="1"/>
          </p:cNvPicPr>
          <p:nvPr/>
        </p:nvPicPr>
        <p:blipFill>
          <a:blip r:embed="rId6"/>
          <a:srcRect t="-420" b="-420"/>
          <a:stretch/>
        </p:blipFill>
        <p:spPr>
          <a:xfrm>
            <a:off x="5715000" y="3276295"/>
            <a:ext cx="761695" cy="38405"/>
          </a:xfrm>
          <a:prstGeom prst="rect">
            <a:avLst/>
          </a:prstGeom>
        </p:spPr>
      </p:pic>
      <p:sp>
        <p:nvSpPr>
          <p:cNvPr id="10" name="Text 4"/>
          <p:cNvSpPr txBox="1"/>
          <p:nvPr/>
        </p:nvSpPr>
        <p:spPr>
          <a:xfrm>
            <a:off x="3536899" y="3619195"/>
            <a:ext cx="5125212" cy="5715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000" b="0" i="1" u="none" strike="noStrike" kern="0" cap="none" spc="150" normalizeH="0" baseline="0" noProof="0">
                <a:ln>
                  <a:noFill/>
                </a:ln>
                <a:solidFill>
                  <a:srgbClr val="4B5563"/>
                </a:solidFill>
                <a:effectLst/>
                <a:uLnTx/>
                <a:uFillTx/>
                <a:latin typeface="Raleway" pitchFamily="34" charset="0"/>
                <a:ea typeface="Raleway" pitchFamily="34" charset="-122"/>
                <a:cs typeface="Raleway" pitchFamily="34" charset="-120"/>
              </a:rPr>
              <a:t>"Let's win together"</a:t>
            </a:r>
            <a:endParaRPr kumimoji="0" lang="en-US" sz="30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4" descr="preencoded.png"/>
          <p:cNvPicPr>
            <a:picLocks noChangeAspect="1"/>
          </p:cNvPicPr>
          <p:nvPr/>
        </p:nvPicPr>
        <p:blipFill>
          <a:blip r:embed="rId7"/>
          <a:srcRect/>
          <a:stretch/>
        </p:blipFill>
        <p:spPr>
          <a:xfrm>
            <a:off x="761695" y="5410505"/>
            <a:ext cx="761695" cy="761695"/>
          </a:xfrm>
          <a:prstGeom prst="rect">
            <a:avLst/>
          </a:prstGeom>
        </p:spPr>
      </p:pic>
      <p:pic>
        <p:nvPicPr>
          <p:cNvPr id="12" name="Image 5" descr="preencoded.png"/>
          <p:cNvPicPr>
            <a:picLocks noChangeAspect="1"/>
          </p:cNvPicPr>
          <p:nvPr/>
        </p:nvPicPr>
        <p:blipFill>
          <a:blip r:embed="rId8"/>
          <a:srcRect l="81" r="81"/>
          <a:stretch/>
        </p:blipFill>
        <p:spPr>
          <a:xfrm>
            <a:off x="3189427" y="5658307"/>
            <a:ext cx="809244" cy="267005"/>
          </a:xfrm>
          <a:prstGeom prst="rect">
            <a:avLst/>
          </a:prstGeom>
        </p:spPr>
      </p:pic>
      <p:pic>
        <p:nvPicPr>
          <p:cNvPr id="13" name="Image 6" descr="preencoded.png"/>
          <p:cNvPicPr>
            <a:picLocks noChangeAspect="1"/>
          </p:cNvPicPr>
          <p:nvPr/>
        </p:nvPicPr>
        <p:blipFill>
          <a:blip r:embed="rId9"/>
          <a:srcRect l="7" r="7"/>
          <a:stretch/>
        </p:blipFill>
        <p:spPr>
          <a:xfrm>
            <a:off x="5665622" y="5453482"/>
            <a:ext cx="724205" cy="676656"/>
          </a:xfrm>
          <a:prstGeom prst="rect">
            <a:avLst/>
          </a:prstGeom>
        </p:spPr>
      </p:pic>
      <p:pic>
        <p:nvPicPr>
          <p:cNvPr id="14" name="Image 7" descr="preencoded.png"/>
          <p:cNvPicPr>
            <a:picLocks noChangeAspect="1"/>
          </p:cNvPicPr>
          <p:nvPr/>
        </p:nvPicPr>
        <p:blipFill>
          <a:blip r:embed="rId10"/>
          <a:srcRect t="236" b="236"/>
          <a:stretch/>
        </p:blipFill>
        <p:spPr>
          <a:xfrm>
            <a:off x="8054950" y="5410505"/>
            <a:ext cx="1257300" cy="761695"/>
          </a:xfrm>
          <a:prstGeom prst="rect">
            <a:avLst/>
          </a:prstGeom>
        </p:spPr>
      </p:pic>
      <p:pic>
        <p:nvPicPr>
          <p:cNvPr id="15" name="Image 8" descr="preencoded.png"/>
          <p:cNvPicPr>
            <a:picLocks noChangeAspect="1"/>
          </p:cNvPicPr>
          <p:nvPr/>
        </p:nvPicPr>
        <p:blipFill>
          <a:blip r:embed="rId11"/>
          <a:srcRect t="23" b="24"/>
          <a:stretch/>
        </p:blipFill>
        <p:spPr>
          <a:xfrm>
            <a:off x="10972800" y="5548579"/>
            <a:ext cx="457200" cy="485546"/>
          </a:xfrm>
          <a:prstGeom prst="rect">
            <a:avLst/>
          </a:prstGeom>
        </p:spPr>
      </p:pic>
      <p:pic>
        <p:nvPicPr>
          <p:cNvPr id="16" name="Image 9" descr="preencoded.png"/>
          <p:cNvPicPr>
            <a:picLocks noChangeAspect="1"/>
          </p:cNvPicPr>
          <p:nvPr/>
        </p:nvPicPr>
        <p:blipFill>
          <a:blip r:embed="rId4"/>
          <a:srcRect l="-197" r="-197"/>
          <a:stretch/>
        </p:blipFill>
        <p:spPr>
          <a:xfrm>
            <a:off x="0" y="0"/>
            <a:ext cx="4063594" cy="75895"/>
          </a:xfrm>
          <a:prstGeom prst="rect">
            <a:avLst/>
          </a:prstGeom>
        </p:spPr>
      </p:pic>
      <p:pic>
        <p:nvPicPr>
          <p:cNvPr id="17" name="Image 10" descr="preencoded.png"/>
          <p:cNvPicPr>
            <a:picLocks noChangeAspect="1"/>
          </p:cNvPicPr>
          <p:nvPr/>
        </p:nvPicPr>
        <p:blipFill>
          <a:blip r:embed="rId3"/>
          <a:srcRect l="-202" r="-202"/>
          <a:stretch/>
        </p:blipFill>
        <p:spPr>
          <a:xfrm>
            <a:off x="4063594" y="0"/>
            <a:ext cx="8128102" cy="75895"/>
          </a:xfrm>
          <a:prstGeom prst="rect">
            <a:avLst/>
          </a:prstGeom>
        </p:spPr>
      </p:pic>
    </p:spTree>
    <p:extLst>
      <p:ext uri="{BB962C8B-B14F-4D97-AF65-F5344CB8AC3E}">
        <p14:creationId xmlns:p14="http://schemas.microsoft.com/office/powerpoint/2010/main" val="2467474755"/>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a:p>
        </p:txBody>
      </p:sp>
      <p:sp>
        <p:nvSpPr>
          <p:cNvPr id="3"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a:p>
        </p:txBody>
      </p:sp>
      <p:sp>
        <p:nvSpPr>
          <p:cNvPr id="6" name="Shape 2"/>
          <p:cNvSpPr/>
          <p:nvPr/>
        </p:nvSpPr>
        <p:spPr>
          <a:xfrm>
            <a:off x="611002" y="1429207"/>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7" name="Shape 3"/>
          <p:cNvSpPr/>
          <p:nvPr/>
        </p:nvSpPr>
        <p:spPr>
          <a:xfrm>
            <a:off x="611002" y="1429207"/>
            <a:ext cx="3211738" cy="38405"/>
          </a:xfrm>
          <a:prstGeom prst="roundRect">
            <a:avLst>
              <a:gd name="adj" fmla="val 197618"/>
            </a:avLst>
          </a:prstGeom>
          <a:solidFill>
            <a:srgbClr val="D62839"/>
          </a:solidFill>
          <a:ln w="12700">
            <a:solidFill>
              <a:srgbClr val="D62839">
                <a:alpha val="0"/>
              </a:srgbClr>
            </a:solidFill>
            <a:prstDash val="solid"/>
          </a:ln>
        </p:spPr>
        <p:txBody>
          <a:bodyPr/>
          <a:lstStyle/>
          <a:p>
            <a:endParaRPr/>
          </a:p>
        </p:txBody>
      </p:sp>
      <p:sp>
        <p:nvSpPr>
          <p:cNvPr id="8" name="Shape 4"/>
          <p:cNvSpPr/>
          <p:nvPr/>
        </p:nvSpPr>
        <p:spPr>
          <a:xfrm>
            <a:off x="3993916" y="1429207"/>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9" name="Shape 5"/>
          <p:cNvSpPr/>
          <p:nvPr/>
        </p:nvSpPr>
        <p:spPr>
          <a:xfrm>
            <a:off x="3993916" y="1429207"/>
            <a:ext cx="3211738" cy="38405"/>
          </a:xfrm>
          <a:prstGeom prst="roundRect">
            <a:avLst>
              <a:gd name="adj" fmla="val 197618"/>
            </a:avLst>
          </a:prstGeom>
          <a:solidFill>
            <a:srgbClr val="2A9D8F"/>
          </a:solidFill>
          <a:ln w="12700">
            <a:solidFill>
              <a:srgbClr val="2A9D8F">
                <a:alpha val="0"/>
              </a:srgbClr>
            </a:solidFill>
            <a:prstDash val="solid"/>
          </a:ln>
        </p:spPr>
        <p:txBody>
          <a:bodyPr/>
          <a:lstStyle/>
          <a:p>
            <a:endParaRPr/>
          </a:p>
        </p:txBody>
      </p:sp>
      <p:sp>
        <p:nvSpPr>
          <p:cNvPr id="10" name="Shape 6"/>
          <p:cNvSpPr/>
          <p:nvPr/>
        </p:nvSpPr>
        <p:spPr>
          <a:xfrm>
            <a:off x="611002" y="3286354"/>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11" name="Shape 7"/>
          <p:cNvSpPr/>
          <p:nvPr/>
        </p:nvSpPr>
        <p:spPr>
          <a:xfrm>
            <a:off x="611002" y="3286354"/>
            <a:ext cx="3211738" cy="38405"/>
          </a:xfrm>
          <a:prstGeom prst="roundRect">
            <a:avLst>
              <a:gd name="adj" fmla="val 197618"/>
            </a:avLst>
          </a:prstGeom>
          <a:solidFill>
            <a:srgbClr val="0F172A"/>
          </a:solidFill>
          <a:ln w="12700">
            <a:solidFill>
              <a:srgbClr val="0F172A">
                <a:alpha val="0"/>
              </a:srgbClr>
            </a:solidFill>
            <a:prstDash val="solid"/>
          </a:ln>
        </p:spPr>
        <p:txBody>
          <a:bodyPr/>
          <a:lstStyle/>
          <a:p>
            <a:endParaRPr/>
          </a:p>
        </p:txBody>
      </p:sp>
      <p:sp>
        <p:nvSpPr>
          <p:cNvPr id="12" name="Shape 8"/>
          <p:cNvSpPr/>
          <p:nvPr/>
        </p:nvSpPr>
        <p:spPr>
          <a:xfrm>
            <a:off x="3993916" y="3286354"/>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13" name="Shape 9"/>
          <p:cNvSpPr/>
          <p:nvPr/>
        </p:nvSpPr>
        <p:spPr>
          <a:xfrm>
            <a:off x="3993916" y="3286354"/>
            <a:ext cx="3211738" cy="38405"/>
          </a:xfrm>
          <a:prstGeom prst="roundRect">
            <a:avLst>
              <a:gd name="adj" fmla="val 197618"/>
            </a:avLst>
          </a:prstGeom>
          <a:solidFill>
            <a:srgbClr val="D62839"/>
          </a:solidFill>
          <a:ln w="12700">
            <a:solidFill>
              <a:srgbClr val="D62839">
                <a:alpha val="0"/>
              </a:srgbClr>
            </a:solidFill>
            <a:prstDash val="solid"/>
          </a:ln>
        </p:spPr>
        <p:txBody>
          <a:bodyPr/>
          <a:lstStyle/>
          <a:p>
            <a:endParaRPr/>
          </a:p>
        </p:txBody>
      </p:sp>
      <p:sp>
        <p:nvSpPr>
          <p:cNvPr id="14" name="Shape 10"/>
          <p:cNvSpPr/>
          <p:nvPr/>
        </p:nvSpPr>
        <p:spPr>
          <a:xfrm>
            <a:off x="609905" y="5143500"/>
            <a:ext cx="10992002" cy="1209751"/>
          </a:xfrm>
          <a:prstGeom prst="roundRect">
            <a:avLst>
              <a:gd name="adj" fmla="val 6274"/>
            </a:avLst>
          </a:prstGeom>
          <a:solidFill>
            <a:srgbClr val="FFFFFF"/>
          </a:solidFill>
          <a:ln w="12700">
            <a:solidFill>
              <a:srgbClr val="E2E8F0"/>
            </a:solidFill>
            <a:prstDash val="solid"/>
          </a:ln>
        </p:spPr>
        <p:txBody>
          <a:bodyPr/>
          <a:lstStyle/>
          <a:p>
            <a:endParaRPr/>
          </a:p>
        </p:txBody>
      </p:sp>
      <p:sp>
        <p:nvSpPr>
          <p:cNvPr id="15" name="Shape 11"/>
          <p:cNvSpPr/>
          <p:nvPr/>
        </p:nvSpPr>
        <p:spPr>
          <a:xfrm>
            <a:off x="0" y="6524244"/>
            <a:ext cx="12191695" cy="333756"/>
          </a:xfrm>
          <a:prstGeom prst="rect">
            <a:avLst/>
          </a:prstGeom>
          <a:solidFill>
            <a:srgbClr val="0F172A"/>
          </a:solidFill>
          <a:ln w="12700">
            <a:solidFill>
              <a:srgbClr val="FFFFFF">
                <a:alpha val="0"/>
              </a:srgbClr>
            </a:solidFill>
            <a:prstDash val="solid"/>
          </a:ln>
        </p:spPr>
        <p:txBody>
          <a:bodyPr/>
          <a:lstStyle/>
          <a:p>
            <a:endParaRPr/>
          </a:p>
        </p:txBody>
      </p:sp>
      <p:sp>
        <p:nvSpPr>
          <p:cNvPr id="21" name="Text 12"/>
          <p:cNvSpPr txBox="1"/>
          <p:nvPr/>
        </p:nvSpPr>
        <p:spPr>
          <a:xfrm>
            <a:off x="819302" y="295351"/>
            <a:ext cx="10478110" cy="419710"/>
          </a:xfrm>
          <a:prstGeom prst="rect">
            <a:avLst/>
          </a:prstGeom>
          <a:noFill/>
          <a:ln/>
        </p:spPr>
        <p:txBody>
          <a:bodyPr wrap="none" lIns="0" tIns="0" rIns="0" bIns="0" rtlCol="0" anchor="ctr"/>
          <a:lstStyle/>
          <a:p>
            <a:pPr marL="0" indent="0" algn="l">
              <a:buNone/>
            </a:pPr>
            <a:r>
              <a:rPr lang="en-US" sz="2700" b="1" dirty="0">
                <a:solidFill>
                  <a:srgbClr val="111827"/>
                </a:solidFill>
                <a:latin typeface="Oswald" pitchFamily="34" charset="0"/>
                <a:ea typeface="Oswald" pitchFamily="34" charset="-122"/>
                <a:cs typeface="Oswald" pitchFamily="34" charset="-120"/>
              </a:rPr>
              <a:t>OUR STRENGTH IN Test Automation</a:t>
            </a:r>
            <a:endParaRPr lang="en-US" sz="2700" dirty="0"/>
          </a:p>
        </p:txBody>
      </p:sp>
      <p:sp>
        <p:nvSpPr>
          <p:cNvPr id="22" name="Text 13"/>
          <p:cNvSpPr txBox="1"/>
          <p:nvPr/>
        </p:nvSpPr>
        <p:spPr>
          <a:xfrm>
            <a:off x="819302" y="744322"/>
            <a:ext cx="10478110" cy="247802"/>
          </a:xfrm>
          <a:prstGeom prst="rect">
            <a:avLst/>
          </a:prstGeom>
          <a:noFill/>
          <a:ln/>
        </p:spPr>
        <p:txBody>
          <a:bodyPr wrap="none" lIns="0" tIns="0" rIns="0" bIns="0" rtlCol="0" anchor="ctr"/>
          <a:lstStyle/>
          <a:p>
            <a:pPr marL="0" indent="0" algn="l">
              <a:buNone/>
            </a:pPr>
            <a:r>
              <a:rPr lang="en-US" sz="1300" b="1" dirty="0">
                <a:solidFill>
                  <a:srgbClr val="475569"/>
                </a:solidFill>
                <a:latin typeface="Raleway" pitchFamily="34" charset="0"/>
                <a:ea typeface="Raleway" pitchFamily="34" charset="-122"/>
                <a:cs typeface="Raleway" pitchFamily="34" charset="-120"/>
              </a:rPr>
              <a:t>Proven Test Automation capability, ready to deploy</a:t>
            </a:r>
            <a:endParaRPr lang="en-US" sz="1300" dirty="0"/>
          </a:p>
        </p:txBody>
      </p:sp>
      <p:sp>
        <p:nvSpPr>
          <p:cNvPr id="23" name="Text 14"/>
          <p:cNvSpPr txBox="1"/>
          <p:nvPr/>
        </p:nvSpPr>
        <p:spPr>
          <a:xfrm>
            <a:off x="782178" y="1571854"/>
            <a:ext cx="3924421" cy="553212"/>
          </a:xfrm>
          <a:prstGeom prst="rect">
            <a:avLst/>
          </a:prstGeom>
          <a:noFill/>
          <a:ln/>
        </p:spPr>
        <p:txBody>
          <a:bodyPr wrap="none" lIns="0" tIns="0" rIns="0" bIns="0" rtlCol="0" anchor="ctr"/>
          <a:lstStyle/>
          <a:p>
            <a:pPr marL="0" indent="0" algn="l">
              <a:buNone/>
            </a:pPr>
            <a:r>
              <a:rPr lang="en-US" sz="3900" b="1" kern="0" spc="-39" dirty="0">
                <a:solidFill>
                  <a:srgbClr val="D62839"/>
                </a:solidFill>
                <a:latin typeface="Oswald" pitchFamily="34" charset="0"/>
                <a:ea typeface="Oswald" pitchFamily="34" charset="-122"/>
                <a:cs typeface="Oswald" pitchFamily="34" charset="-120"/>
              </a:rPr>
              <a:t>38</a:t>
            </a:r>
            <a:endParaRPr lang="en-US" sz="3900" dirty="0"/>
          </a:p>
        </p:txBody>
      </p:sp>
      <p:sp>
        <p:nvSpPr>
          <p:cNvPr id="24" name="Text 15"/>
          <p:cNvSpPr txBox="1"/>
          <p:nvPr/>
        </p:nvSpPr>
        <p:spPr>
          <a:xfrm>
            <a:off x="782178" y="2192731"/>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Specialists Across J2W</a:t>
            </a:r>
            <a:endParaRPr lang="en-US" sz="1400" dirty="0"/>
          </a:p>
        </p:txBody>
      </p:sp>
      <p:sp>
        <p:nvSpPr>
          <p:cNvPr id="25" name="Text 16"/>
          <p:cNvSpPr txBox="1"/>
          <p:nvPr/>
        </p:nvSpPr>
        <p:spPr>
          <a:xfrm>
            <a:off x="4165640" y="1571854"/>
            <a:ext cx="3018068" cy="553212"/>
          </a:xfrm>
          <a:prstGeom prst="rect">
            <a:avLst/>
          </a:prstGeom>
          <a:noFill/>
          <a:ln/>
        </p:spPr>
        <p:txBody>
          <a:bodyPr wrap="none" lIns="0" tIns="0" rIns="0" bIns="0" rtlCol="0" anchor="ctr"/>
          <a:lstStyle/>
          <a:p>
            <a:pPr marL="0" indent="0" algn="l">
              <a:buNone/>
            </a:pPr>
            <a:r>
              <a:rPr lang="en-US" sz="3900" b="1" kern="0" spc="-39" dirty="0">
                <a:solidFill>
                  <a:srgbClr val="2A9D8F"/>
                </a:solidFill>
                <a:latin typeface="Oswald" pitchFamily="34" charset="0"/>
                <a:ea typeface="Oswald" pitchFamily="34" charset="-122"/>
                <a:cs typeface="Oswald" pitchFamily="34" charset="-120"/>
              </a:rPr>
              <a:t>12</a:t>
            </a:r>
            <a:endParaRPr lang="en-US" sz="3900" dirty="0"/>
          </a:p>
        </p:txBody>
      </p:sp>
      <p:sp>
        <p:nvSpPr>
          <p:cNvPr id="26" name="Text 17"/>
          <p:cNvSpPr txBox="1"/>
          <p:nvPr/>
        </p:nvSpPr>
        <p:spPr>
          <a:xfrm>
            <a:off x="4165640" y="2192731"/>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Senior / Expert-Level</a:t>
            </a:r>
            <a:endParaRPr lang="en-US" sz="1400" dirty="0"/>
          </a:p>
        </p:txBody>
      </p:sp>
      <p:sp>
        <p:nvSpPr>
          <p:cNvPr id="27" name="Text 18"/>
          <p:cNvSpPr txBox="1"/>
          <p:nvPr/>
        </p:nvSpPr>
        <p:spPr>
          <a:xfrm>
            <a:off x="782178" y="3429000"/>
            <a:ext cx="3924421" cy="553212"/>
          </a:xfrm>
          <a:prstGeom prst="rect">
            <a:avLst/>
          </a:prstGeom>
          <a:noFill/>
          <a:ln/>
        </p:spPr>
        <p:txBody>
          <a:bodyPr wrap="none" lIns="0" tIns="0" rIns="0" bIns="0" rtlCol="0" anchor="ctr"/>
          <a:lstStyle/>
          <a:p>
            <a:pPr marL="0" indent="0" algn="l">
              <a:buNone/>
            </a:pPr>
            <a:r>
              <a:rPr lang="en-US" sz="3900" b="1" kern="0" spc="-39" dirty="0">
                <a:solidFill>
                  <a:srgbClr val="0F172A"/>
                </a:solidFill>
                <a:latin typeface="Oswald" pitchFamily="34" charset="0"/>
                <a:ea typeface="Oswald" pitchFamily="34" charset="-122"/>
                <a:cs typeface="Oswald" pitchFamily="34" charset="-120"/>
              </a:rPr>
              <a:t>3 WEEKS</a:t>
            </a:r>
            <a:r>
              <a:rPr lang="en-US" sz="2100" b="1" kern="0" spc="-39" dirty="0">
                <a:solidFill>
                  <a:srgbClr val="64748B"/>
                </a:solidFill>
                <a:latin typeface="Oswald" pitchFamily="34" charset="0"/>
                <a:ea typeface="Oswald" pitchFamily="34" charset="-122"/>
                <a:cs typeface="Oswald" pitchFamily="34" charset="-120"/>
              </a:rPr>
              <a:t/>
            </a:r>
            <a:endParaRPr lang="en-US" sz="3900" dirty="0"/>
          </a:p>
        </p:txBody>
      </p:sp>
      <p:sp>
        <p:nvSpPr>
          <p:cNvPr id="28" name="Text 19"/>
          <p:cNvSpPr txBox="1"/>
          <p:nvPr/>
        </p:nvSpPr>
        <p:spPr>
          <a:xfrm>
            <a:off x="782178" y="4049878"/>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Average Ramp-Up Time</a:t>
            </a:r>
            <a:endParaRPr lang="en-US" sz="1400" dirty="0"/>
          </a:p>
        </p:txBody>
      </p:sp>
      <p:sp>
        <p:nvSpPr>
          <p:cNvPr id="29" name="Text 20"/>
          <p:cNvSpPr txBox="1"/>
          <p:nvPr/>
        </p:nvSpPr>
        <p:spPr>
          <a:xfrm>
            <a:off x="4165640" y="3429000"/>
            <a:ext cx="3199119" cy="553212"/>
          </a:xfrm>
          <a:prstGeom prst="rect">
            <a:avLst/>
          </a:prstGeom>
          <a:noFill/>
          <a:ln/>
        </p:spPr>
        <p:txBody>
          <a:bodyPr wrap="none" lIns="0" tIns="0" rIns="0" bIns="0" rtlCol="0" anchor="ctr"/>
          <a:lstStyle/>
          <a:p>
            <a:pPr marL="0" indent="0" algn="l">
              <a:buNone/>
            </a:pPr>
            <a:r>
              <a:rPr lang="en-US" sz="3900" b="1" kern="0" spc="-39" dirty="0">
                <a:solidFill>
                  <a:srgbClr val="D62839"/>
                </a:solidFill>
                <a:latin typeface="Oswald" pitchFamily="34" charset="0"/>
                <a:ea typeface="Oswald" pitchFamily="34" charset="-122"/>
                <a:cs typeface="Oswald" pitchFamily="34" charset="-120"/>
              </a:rPr>
              <a:t>9</a:t>
            </a:r>
            <a:endParaRPr lang="en-US" sz="3900" dirty="0"/>
          </a:p>
        </p:txBody>
      </p:sp>
      <p:sp>
        <p:nvSpPr>
          <p:cNvPr id="30" name="Text 21"/>
          <p:cNvSpPr txBox="1"/>
          <p:nvPr/>
        </p:nvSpPr>
        <p:spPr>
          <a:xfrm>
            <a:off x="4165640" y="4049878"/>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Available to Deploy Now</a:t>
            </a:r>
            <a:endParaRPr lang="en-US" sz="1400" dirty="0"/>
          </a:p>
        </p:txBody>
      </p:sp>
      <p:sp>
        <p:nvSpPr>
          <p:cNvPr id="32" name="Text 22"/>
          <p:cNvSpPr txBox="1"/>
          <p:nvPr/>
        </p:nvSpPr>
        <p:spPr>
          <a:xfrm>
            <a:off x="1200607" y="5315407"/>
            <a:ext cx="1780337" cy="238658"/>
          </a:xfrm>
          <a:prstGeom prst="rect">
            <a:avLst/>
          </a:prstGeom>
          <a:noFill/>
          <a:ln/>
        </p:spPr>
        <p:txBody>
          <a:bodyPr wrap="none" lIns="0" tIns="0" rIns="0" bIns="0" rtlCol="0" anchor="ctr"/>
          <a:lstStyle/>
          <a:p>
            <a:pPr marL="0" indent="0" algn="l">
              <a:buNone/>
            </a:pPr>
            <a:r>
              <a:rPr lang="en-US" sz="1200" b="1" kern="0" spc="64" dirty="0">
                <a:solidFill>
                  <a:srgbClr val="1E293B"/>
                </a:solidFill>
                <a:latin typeface="Oswald" pitchFamily="34" charset="0"/>
                <a:ea typeface="Oswald" pitchFamily="34" charset="-122"/>
                <a:cs typeface="Oswald" pitchFamily="34" charset="-120"/>
              </a:rPr>
              <a:t>INDUSTRIES SERVED:</a:t>
            </a:r>
            <a:endParaRPr lang="en-US" sz="1200" dirty="0"/>
          </a:p>
        </p:txBody>
      </p:sp>
      <p:sp>
        <p:nvSpPr>
          <p:cNvPr id="33" name="Text 23"/>
          <p:cNvSpPr txBox="1"/>
          <p:nvPr/>
        </p:nvSpPr>
        <p:spPr>
          <a:xfrm>
            <a:off x="4206240" y="5315407"/>
            <a:ext cx="7498079" cy="200254"/>
          </a:xfrm>
          <a:prstGeom prst="rect">
            <a:avLst/>
          </a:prstGeom>
          <a:noFill/>
          <a:ln/>
        </p:spPr>
        <p:txBody>
          <a:bodyPr wrap="none" lIns="0" tIns="0" rIns="0" bIns="0" rtlCol="0" anchor="ctr"/>
          <a:lstStyle/>
          <a:p>
            <a:pPr marL="0" indent="0" algn="l">
              <a:buNone/>
            </a:pPr>
            <a:r>
              <a:rPr lang="en-US" sz="1200" dirty="0">
                <a:solidFill>
                  <a:srgbClr val="475569"/>
                </a:solidFill>
                <a:latin typeface="Raleway" pitchFamily="34" charset="0"/>
                <a:ea typeface="Raleway" pitchFamily="34" charset="-122"/>
                <a:cs typeface="Raleway" pitchFamily="34" charset="-120"/>
              </a:rPr>
              <a:t>BFSI · Manufacturing · Healthcare</a:t>
            </a:r>
            <a:endParaRPr lang="en-US" sz="1200" dirty="0"/>
          </a:p>
        </p:txBody>
      </p:sp>
      <p:sp>
        <p:nvSpPr>
          <p:cNvPr id="36" name="Text 24"/>
          <p:cNvSpPr txBox="1"/>
          <p:nvPr/>
        </p:nvSpPr>
        <p:spPr>
          <a:xfrm>
            <a:off x="1190549" y="5829300"/>
            <a:ext cx="2097634" cy="238658"/>
          </a:xfrm>
          <a:prstGeom prst="rect">
            <a:avLst/>
          </a:prstGeom>
          <a:noFill/>
          <a:ln/>
        </p:spPr>
        <p:txBody>
          <a:bodyPr wrap="none" lIns="0" tIns="0" rIns="0" bIns="0" rtlCol="0" anchor="ctr"/>
          <a:lstStyle/>
          <a:p>
            <a:pPr marL="0" indent="0" algn="l">
              <a:buNone/>
            </a:pPr>
            <a:r>
              <a:rPr lang="en-US" sz="1200" b="1" kern="0" spc="64" dirty="0">
                <a:solidFill>
                  <a:srgbClr val="1E293B"/>
                </a:solidFill>
                <a:latin typeface="Oswald" pitchFamily="34" charset="0"/>
                <a:ea typeface="Oswald" pitchFamily="34" charset="-122"/>
                <a:cs typeface="Oswald" pitchFamily="34" charset="-120"/>
              </a:rPr>
              <a:t>EXAMPLE ENGAGEMENTS:</a:t>
            </a:r>
            <a:endParaRPr lang="en-US" sz="1200" dirty="0"/>
          </a:p>
        </p:txBody>
      </p:sp>
      <p:sp>
        <p:nvSpPr>
          <p:cNvPr id="37" name="Text 25"/>
          <p:cNvSpPr txBox="1"/>
          <p:nvPr/>
        </p:nvSpPr>
        <p:spPr>
          <a:xfrm>
            <a:off x="4206240" y="5829300"/>
            <a:ext cx="7498079" cy="200254"/>
          </a:xfrm>
          <a:prstGeom prst="rect">
            <a:avLst/>
          </a:prstGeom>
          <a:noFill/>
          <a:ln/>
        </p:spPr>
        <p:txBody>
          <a:bodyPr wrap="none" lIns="0" tIns="0" rIns="0" bIns="0" rtlCol="0" anchor="ctr"/>
          <a:lstStyle/>
          <a:p>
            <a:pPr marL="0" indent="0" algn="l">
              <a:buNone/>
            </a:pPr>
            <a:r>
              <a:rPr lang="en-US" sz="1200" dirty="0">
                <a:solidFill>
                  <a:srgbClr val="475569"/>
                </a:solidFill>
                <a:latin typeface="Raleway" pitchFamily="34" charset="0"/>
                <a:ea typeface="Raleway" pitchFamily="34" charset="-122"/>
                <a:cs typeface="Raleway" pitchFamily="34" charset="-120"/>
              </a:rPr>
              <a:t>Carrier · Koch · SocGen</a:t>
            </a:r>
            <a:endParaRPr lang="en-US" sz="1200" dirty="0"/>
          </a:p>
        </p:txBody>
      </p:sp>
      <p:sp>
        <p:nvSpPr>
          <p:cNvPr id="38" name="Text 26"/>
          <p:cNvSpPr txBox="1"/>
          <p:nvPr/>
        </p:nvSpPr>
        <p:spPr>
          <a:xfrm>
            <a:off x="609905" y="6610198"/>
            <a:ext cx="10972800" cy="133502"/>
          </a:xfrm>
          <a:prstGeom prst="rect">
            <a:avLst/>
          </a:prstGeom>
          <a:noFill/>
          <a:ln/>
        </p:spPr>
        <p:txBody>
          <a:bodyPr wrap="none" lIns="0" tIns="0" rIns="0" bIns="0" rtlCol="0" anchor="ctr"/>
          <a:lstStyle/>
          <a:p>
            <a:pPr marL="0" indent="0" algn="l">
              <a:buNone/>
            </a:pPr>
            <a:r>
              <a:rPr lang="en-US" sz="900" kern="0" spc="45" dirty="0">
                <a:solidFill>
                  <a:srgbClr val="94A3B8"/>
                </a:solidFill>
                <a:latin typeface="Roboto Condensed" pitchFamily="34" charset="0"/>
                <a:ea typeface="Roboto Condensed" pitchFamily="34" charset="-122"/>
                <a:cs typeface="Roboto Condensed" pitchFamily="34" charset="-120"/>
              </a:rPr>
              <a:t>Capability snapshot </a:t>
            </a:r>
            <a:r>
              <a:rPr lang="en-US" sz="900" kern="0" spc="45" dirty="0">
                <a:solidFill>
                  <a:srgbClr val="4FD1C5"/>
                </a:solidFill>
                <a:latin typeface="Roboto Condensed" pitchFamily="34" charset="0"/>
                <a:ea typeface="Roboto Condensed" pitchFamily="34" charset="-122"/>
                <a:cs typeface="Roboto Condensed" pitchFamily="34" charset="-120"/>
              </a:rPr>
              <a:t>—</a:t>
            </a:r>
            <a:r>
              <a:rPr lang="en-US" sz="900" kern="0" spc="45" dirty="0">
                <a:solidFill>
                  <a:srgbClr val="94A3B8"/>
                </a:solidFill>
                <a:latin typeface="Roboto Condensed" pitchFamily="34" charset="0"/>
                <a:ea typeface="Roboto Condensed" pitchFamily="34" charset="-122"/>
                <a:cs typeface="Roboto Condensed" pitchFamily="34" charset="-120"/>
              </a:rPr>
              <a:t> figures reflect current J2W capacity.</a:t>
            </a:r>
            <a:endParaRPr lang="en-US" sz="900" dirty="0"/>
          </a:p>
        </p:txBody>
      </p:sp>
      <p:graphicFrame>
        <p:nvGraphicFramePr>
          <p:cNvPr id="39" name="Chart 38"/>
          <p:cNvGraphicFramePr>
            <a:graphicFrameLocks noGrp="1"/>
          </p:cNvGraphicFramePr>
          <p:nvPr/>
        </p:nvGraphicFramePr>
        <p:xfrm>
          <a:off x="7589520" y="1554480"/>
          <a:ext cx="4023360" cy="3383280"/>
        </p:xfrm>
        <a:graphic>
          <a:graphicData uri="http://schemas.openxmlformats.org/drawingml/2006/chart">
            <c:chart xmlns:c="http://schemas.openxmlformats.org/drawingml/2006/chart" r:id="rId2"/>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a:p>
        </p:txBody>
      </p:sp>
      <p:sp>
        <p:nvSpPr>
          <p:cNvPr id="3"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a:p>
        </p:txBody>
      </p:sp>
      <p:sp>
        <p:nvSpPr>
          <p:cNvPr id="6" name="Shape 2"/>
          <p:cNvSpPr/>
          <p:nvPr/>
        </p:nvSpPr>
        <p:spPr>
          <a:xfrm>
            <a:off x="611002" y="1429207"/>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7" name="Shape 3"/>
          <p:cNvSpPr/>
          <p:nvPr/>
        </p:nvSpPr>
        <p:spPr>
          <a:xfrm>
            <a:off x="611002" y="1429207"/>
            <a:ext cx="3211738" cy="38405"/>
          </a:xfrm>
          <a:prstGeom prst="roundRect">
            <a:avLst>
              <a:gd name="adj" fmla="val 197618"/>
            </a:avLst>
          </a:prstGeom>
          <a:solidFill>
            <a:srgbClr val="D62839"/>
          </a:solidFill>
          <a:ln w="12700">
            <a:solidFill>
              <a:srgbClr val="D62839">
                <a:alpha val="0"/>
              </a:srgbClr>
            </a:solidFill>
            <a:prstDash val="solid"/>
          </a:ln>
        </p:spPr>
        <p:txBody>
          <a:bodyPr/>
          <a:lstStyle/>
          <a:p>
            <a:endParaRPr/>
          </a:p>
        </p:txBody>
      </p:sp>
      <p:sp>
        <p:nvSpPr>
          <p:cNvPr id="8" name="Shape 4"/>
          <p:cNvSpPr/>
          <p:nvPr/>
        </p:nvSpPr>
        <p:spPr>
          <a:xfrm>
            <a:off x="3993916" y="1429207"/>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9" name="Shape 5"/>
          <p:cNvSpPr/>
          <p:nvPr/>
        </p:nvSpPr>
        <p:spPr>
          <a:xfrm>
            <a:off x="3993916" y="1429207"/>
            <a:ext cx="3211738" cy="38405"/>
          </a:xfrm>
          <a:prstGeom prst="roundRect">
            <a:avLst>
              <a:gd name="adj" fmla="val 197618"/>
            </a:avLst>
          </a:prstGeom>
          <a:solidFill>
            <a:srgbClr val="2A9D8F"/>
          </a:solidFill>
          <a:ln w="12700">
            <a:solidFill>
              <a:srgbClr val="2A9D8F">
                <a:alpha val="0"/>
              </a:srgbClr>
            </a:solidFill>
            <a:prstDash val="solid"/>
          </a:ln>
        </p:spPr>
        <p:txBody>
          <a:bodyPr/>
          <a:lstStyle/>
          <a:p>
            <a:endParaRPr/>
          </a:p>
        </p:txBody>
      </p:sp>
      <p:sp>
        <p:nvSpPr>
          <p:cNvPr id="10" name="Shape 6"/>
          <p:cNvSpPr/>
          <p:nvPr/>
        </p:nvSpPr>
        <p:spPr>
          <a:xfrm>
            <a:off x="611002" y="3286354"/>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11" name="Shape 7"/>
          <p:cNvSpPr/>
          <p:nvPr/>
        </p:nvSpPr>
        <p:spPr>
          <a:xfrm>
            <a:off x="611002" y="3286354"/>
            <a:ext cx="3211738" cy="38405"/>
          </a:xfrm>
          <a:prstGeom prst="roundRect">
            <a:avLst>
              <a:gd name="adj" fmla="val 197618"/>
            </a:avLst>
          </a:prstGeom>
          <a:solidFill>
            <a:srgbClr val="0F172A"/>
          </a:solidFill>
          <a:ln w="12700">
            <a:solidFill>
              <a:srgbClr val="0F172A">
                <a:alpha val="0"/>
              </a:srgbClr>
            </a:solidFill>
            <a:prstDash val="solid"/>
          </a:ln>
        </p:spPr>
        <p:txBody>
          <a:bodyPr/>
          <a:lstStyle/>
          <a:p>
            <a:endParaRPr/>
          </a:p>
        </p:txBody>
      </p:sp>
      <p:sp>
        <p:nvSpPr>
          <p:cNvPr id="12" name="Shape 8"/>
          <p:cNvSpPr/>
          <p:nvPr/>
        </p:nvSpPr>
        <p:spPr>
          <a:xfrm>
            <a:off x="3993916" y="3286354"/>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13" name="Shape 9"/>
          <p:cNvSpPr/>
          <p:nvPr/>
        </p:nvSpPr>
        <p:spPr>
          <a:xfrm>
            <a:off x="3993916" y="3286354"/>
            <a:ext cx="3211738" cy="38405"/>
          </a:xfrm>
          <a:prstGeom prst="roundRect">
            <a:avLst>
              <a:gd name="adj" fmla="val 197618"/>
            </a:avLst>
          </a:prstGeom>
          <a:solidFill>
            <a:srgbClr val="D62839"/>
          </a:solidFill>
          <a:ln w="12700">
            <a:solidFill>
              <a:srgbClr val="D62839">
                <a:alpha val="0"/>
              </a:srgbClr>
            </a:solidFill>
            <a:prstDash val="solid"/>
          </a:ln>
        </p:spPr>
        <p:txBody>
          <a:bodyPr/>
          <a:lstStyle/>
          <a:p>
            <a:endParaRPr/>
          </a:p>
        </p:txBody>
      </p:sp>
      <p:sp>
        <p:nvSpPr>
          <p:cNvPr id="14" name="Shape 10"/>
          <p:cNvSpPr/>
          <p:nvPr/>
        </p:nvSpPr>
        <p:spPr>
          <a:xfrm>
            <a:off x="609905" y="5143500"/>
            <a:ext cx="10992002" cy="1209751"/>
          </a:xfrm>
          <a:prstGeom prst="roundRect">
            <a:avLst>
              <a:gd name="adj" fmla="val 6274"/>
            </a:avLst>
          </a:prstGeom>
          <a:solidFill>
            <a:srgbClr val="FFFFFF"/>
          </a:solidFill>
          <a:ln w="12700">
            <a:solidFill>
              <a:srgbClr val="E2E8F0"/>
            </a:solidFill>
            <a:prstDash val="solid"/>
          </a:ln>
        </p:spPr>
        <p:txBody>
          <a:bodyPr/>
          <a:lstStyle/>
          <a:p>
            <a:endParaRPr/>
          </a:p>
        </p:txBody>
      </p:sp>
      <p:sp>
        <p:nvSpPr>
          <p:cNvPr id="15" name="Shape 11"/>
          <p:cNvSpPr/>
          <p:nvPr/>
        </p:nvSpPr>
        <p:spPr>
          <a:xfrm>
            <a:off x="0" y="6524244"/>
            <a:ext cx="12191695" cy="333756"/>
          </a:xfrm>
          <a:prstGeom prst="rect">
            <a:avLst/>
          </a:prstGeom>
          <a:solidFill>
            <a:srgbClr val="0F172A"/>
          </a:solidFill>
          <a:ln w="12700">
            <a:solidFill>
              <a:srgbClr val="FFFFFF">
                <a:alpha val="0"/>
              </a:srgbClr>
            </a:solidFill>
            <a:prstDash val="solid"/>
          </a:ln>
        </p:spPr>
        <p:txBody>
          <a:bodyPr/>
          <a:lstStyle/>
          <a:p>
            <a:endParaRPr/>
          </a:p>
        </p:txBody>
      </p:sp>
      <p:sp>
        <p:nvSpPr>
          <p:cNvPr id="21" name="Text 12"/>
          <p:cNvSpPr txBox="1"/>
          <p:nvPr/>
        </p:nvSpPr>
        <p:spPr>
          <a:xfrm>
            <a:off x="819302" y="295351"/>
            <a:ext cx="10478110" cy="419710"/>
          </a:xfrm>
          <a:prstGeom prst="rect">
            <a:avLst/>
          </a:prstGeom>
          <a:noFill/>
          <a:ln/>
        </p:spPr>
        <p:txBody>
          <a:bodyPr wrap="none" lIns="0" tIns="0" rIns="0" bIns="0" rtlCol="0" anchor="ctr"/>
          <a:lstStyle/>
          <a:p>
            <a:pPr marL="0" indent="0" algn="l">
              <a:buNone/>
            </a:pPr>
            <a:r>
              <a:rPr lang="en-US" sz="2700" b="1" dirty="0">
                <a:solidFill>
                  <a:srgbClr val="111827"/>
                </a:solidFill>
                <a:latin typeface="Oswald" pitchFamily="34" charset="0"/>
                <a:ea typeface="Oswald" pitchFamily="34" charset="-122"/>
                <a:cs typeface="Oswald" pitchFamily="34" charset="-120"/>
              </a:rPr>
              <a:t>OUR STRENGTH IN Performance Engineering</a:t>
            </a:r>
            <a:endParaRPr lang="en-US" sz="2700" dirty="0"/>
          </a:p>
        </p:txBody>
      </p:sp>
      <p:sp>
        <p:nvSpPr>
          <p:cNvPr id="22" name="Text 13"/>
          <p:cNvSpPr txBox="1"/>
          <p:nvPr/>
        </p:nvSpPr>
        <p:spPr>
          <a:xfrm>
            <a:off x="819302" y="744322"/>
            <a:ext cx="10478110" cy="247802"/>
          </a:xfrm>
          <a:prstGeom prst="rect">
            <a:avLst/>
          </a:prstGeom>
          <a:noFill/>
          <a:ln/>
        </p:spPr>
        <p:txBody>
          <a:bodyPr wrap="none" lIns="0" tIns="0" rIns="0" bIns="0" rtlCol="0" anchor="ctr"/>
          <a:lstStyle/>
          <a:p>
            <a:pPr marL="0" indent="0" algn="l">
              <a:buNone/>
            </a:pPr>
            <a:r>
              <a:rPr lang="en-US" sz="1300" b="1" dirty="0">
                <a:solidFill>
                  <a:srgbClr val="475569"/>
                </a:solidFill>
                <a:latin typeface="Raleway" pitchFamily="34" charset="0"/>
                <a:ea typeface="Raleway" pitchFamily="34" charset="-122"/>
                <a:cs typeface="Raleway" pitchFamily="34" charset="-120"/>
              </a:rPr>
              <a:t>Proven Performance Engineering capability, ready to deploy</a:t>
            </a:r>
            <a:endParaRPr lang="en-US" sz="1300" dirty="0"/>
          </a:p>
        </p:txBody>
      </p:sp>
      <p:sp>
        <p:nvSpPr>
          <p:cNvPr id="23" name="Text 14"/>
          <p:cNvSpPr txBox="1"/>
          <p:nvPr/>
        </p:nvSpPr>
        <p:spPr>
          <a:xfrm>
            <a:off x="782178" y="1571854"/>
            <a:ext cx="3924421" cy="553212"/>
          </a:xfrm>
          <a:prstGeom prst="rect">
            <a:avLst/>
          </a:prstGeom>
          <a:noFill/>
          <a:ln/>
        </p:spPr>
        <p:txBody>
          <a:bodyPr wrap="none" lIns="0" tIns="0" rIns="0" bIns="0" rtlCol="0" anchor="ctr"/>
          <a:lstStyle/>
          <a:p>
            <a:pPr marL="0" indent="0" algn="l">
              <a:buNone/>
            </a:pPr>
            <a:r>
              <a:rPr lang="en-US" sz="3900" b="1" kern="0" spc="-39" dirty="0">
                <a:solidFill>
                  <a:srgbClr val="D62839"/>
                </a:solidFill>
                <a:latin typeface="Oswald" pitchFamily="34" charset="0"/>
                <a:ea typeface="Oswald" pitchFamily="34" charset="-122"/>
                <a:cs typeface="Oswald" pitchFamily="34" charset="-120"/>
              </a:rPr>
              <a:t>22</a:t>
            </a:r>
            <a:endParaRPr lang="en-US" sz="3900" dirty="0"/>
          </a:p>
        </p:txBody>
      </p:sp>
      <p:sp>
        <p:nvSpPr>
          <p:cNvPr id="24" name="Text 15"/>
          <p:cNvSpPr txBox="1"/>
          <p:nvPr/>
        </p:nvSpPr>
        <p:spPr>
          <a:xfrm>
            <a:off x="782178" y="2192731"/>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Specialists Across J2W</a:t>
            </a:r>
            <a:endParaRPr lang="en-US" sz="1400" dirty="0"/>
          </a:p>
        </p:txBody>
      </p:sp>
      <p:sp>
        <p:nvSpPr>
          <p:cNvPr id="25" name="Text 16"/>
          <p:cNvSpPr txBox="1"/>
          <p:nvPr/>
        </p:nvSpPr>
        <p:spPr>
          <a:xfrm>
            <a:off x="4165640" y="1571854"/>
            <a:ext cx="3018068" cy="553212"/>
          </a:xfrm>
          <a:prstGeom prst="rect">
            <a:avLst/>
          </a:prstGeom>
          <a:noFill/>
          <a:ln/>
        </p:spPr>
        <p:txBody>
          <a:bodyPr wrap="none" lIns="0" tIns="0" rIns="0" bIns="0" rtlCol="0" anchor="ctr"/>
          <a:lstStyle/>
          <a:p>
            <a:pPr marL="0" indent="0" algn="l">
              <a:buNone/>
            </a:pPr>
            <a:r>
              <a:rPr lang="en-US" sz="3900" b="1" kern="0" spc="-39" dirty="0">
                <a:solidFill>
                  <a:srgbClr val="2A9D8F"/>
                </a:solidFill>
                <a:latin typeface="Oswald" pitchFamily="34" charset="0"/>
                <a:ea typeface="Oswald" pitchFamily="34" charset="-122"/>
                <a:cs typeface="Oswald" pitchFamily="34" charset="-120"/>
              </a:rPr>
              <a:t>7</a:t>
            </a:r>
            <a:endParaRPr lang="en-US" sz="3900" dirty="0"/>
          </a:p>
        </p:txBody>
      </p:sp>
      <p:sp>
        <p:nvSpPr>
          <p:cNvPr id="26" name="Text 17"/>
          <p:cNvSpPr txBox="1"/>
          <p:nvPr/>
        </p:nvSpPr>
        <p:spPr>
          <a:xfrm>
            <a:off x="4165640" y="2192731"/>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Senior / Expert-Level</a:t>
            </a:r>
            <a:endParaRPr lang="en-US" sz="1400" dirty="0"/>
          </a:p>
        </p:txBody>
      </p:sp>
      <p:sp>
        <p:nvSpPr>
          <p:cNvPr id="27" name="Text 18"/>
          <p:cNvSpPr txBox="1"/>
          <p:nvPr/>
        </p:nvSpPr>
        <p:spPr>
          <a:xfrm>
            <a:off x="782178" y="3429000"/>
            <a:ext cx="3924421" cy="553212"/>
          </a:xfrm>
          <a:prstGeom prst="rect">
            <a:avLst/>
          </a:prstGeom>
          <a:noFill/>
          <a:ln/>
        </p:spPr>
        <p:txBody>
          <a:bodyPr wrap="none" lIns="0" tIns="0" rIns="0" bIns="0" rtlCol="0" anchor="ctr"/>
          <a:lstStyle/>
          <a:p>
            <a:pPr marL="0" indent="0" algn="l">
              <a:buNone/>
            </a:pPr>
            <a:r>
              <a:rPr lang="en-US" sz="3900" b="1" kern="0" spc="-39" dirty="0">
                <a:solidFill>
                  <a:srgbClr val="0F172A"/>
                </a:solidFill>
                <a:latin typeface="Oswald" pitchFamily="34" charset="0"/>
                <a:ea typeface="Oswald" pitchFamily="34" charset="-122"/>
                <a:cs typeface="Oswald" pitchFamily="34" charset="-120"/>
              </a:rPr>
              <a:t>4 WEEKS</a:t>
            </a:r>
            <a:r>
              <a:rPr lang="en-US" sz="2100" b="1" kern="0" spc="-39" dirty="0">
                <a:solidFill>
                  <a:srgbClr val="64748B"/>
                </a:solidFill>
                <a:latin typeface="Oswald" pitchFamily="34" charset="0"/>
                <a:ea typeface="Oswald" pitchFamily="34" charset="-122"/>
                <a:cs typeface="Oswald" pitchFamily="34" charset="-120"/>
              </a:rPr>
              <a:t/>
            </a:r>
            <a:endParaRPr lang="en-US" sz="3900" dirty="0"/>
          </a:p>
        </p:txBody>
      </p:sp>
      <p:sp>
        <p:nvSpPr>
          <p:cNvPr id="28" name="Text 19"/>
          <p:cNvSpPr txBox="1"/>
          <p:nvPr/>
        </p:nvSpPr>
        <p:spPr>
          <a:xfrm>
            <a:off x="782178" y="4049878"/>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Average Ramp-Up Time</a:t>
            </a:r>
            <a:endParaRPr lang="en-US" sz="1400" dirty="0"/>
          </a:p>
        </p:txBody>
      </p:sp>
      <p:sp>
        <p:nvSpPr>
          <p:cNvPr id="29" name="Text 20"/>
          <p:cNvSpPr txBox="1"/>
          <p:nvPr/>
        </p:nvSpPr>
        <p:spPr>
          <a:xfrm>
            <a:off x="4165640" y="3429000"/>
            <a:ext cx="3199119" cy="553212"/>
          </a:xfrm>
          <a:prstGeom prst="rect">
            <a:avLst/>
          </a:prstGeom>
          <a:noFill/>
          <a:ln/>
        </p:spPr>
        <p:txBody>
          <a:bodyPr wrap="none" lIns="0" tIns="0" rIns="0" bIns="0" rtlCol="0" anchor="ctr"/>
          <a:lstStyle/>
          <a:p>
            <a:pPr marL="0" indent="0" algn="l">
              <a:buNone/>
            </a:pPr>
            <a:r>
              <a:rPr lang="en-US" sz="3900" b="1" kern="0" spc="-39" dirty="0">
                <a:solidFill>
                  <a:srgbClr val="D62839"/>
                </a:solidFill>
                <a:latin typeface="Oswald" pitchFamily="34" charset="0"/>
                <a:ea typeface="Oswald" pitchFamily="34" charset="-122"/>
                <a:cs typeface="Oswald" pitchFamily="34" charset="-120"/>
              </a:rPr>
              <a:t>5</a:t>
            </a:r>
            <a:endParaRPr lang="en-US" sz="3900" dirty="0"/>
          </a:p>
        </p:txBody>
      </p:sp>
      <p:sp>
        <p:nvSpPr>
          <p:cNvPr id="30" name="Text 21"/>
          <p:cNvSpPr txBox="1"/>
          <p:nvPr/>
        </p:nvSpPr>
        <p:spPr>
          <a:xfrm>
            <a:off x="4165640" y="4049878"/>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Available to Deploy Now</a:t>
            </a:r>
            <a:endParaRPr lang="en-US" sz="1400" dirty="0"/>
          </a:p>
        </p:txBody>
      </p:sp>
      <p:sp>
        <p:nvSpPr>
          <p:cNvPr id="32" name="Text 22"/>
          <p:cNvSpPr txBox="1"/>
          <p:nvPr/>
        </p:nvSpPr>
        <p:spPr>
          <a:xfrm>
            <a:off x="1200607" y="5315407"/>
            <a:ext cx="1780337" cy="238658"/>
          </a:xfrm>
          <a:prstGeom prst="rect">
            <a:avLst/>
          </a:prstGeom>
          <a:noFill/>
          <a:ln/>
        </p:spPr>
        <p:txBody>
          <a:bodyPr wrap="none" lIns="0" tIns="0" rIns="0" bIns="0" rtlCol="0" anchor="ctr"/>
          <a:lstStyle/>
          <a:p>
            <a:pPr marL="0" indent="0" algn="l">
              <a:buNone/>
            </a:pPr>
            <a:r>
              <a:rPr lang="en-US" sz="1200" b="1" kern="0" spc="64" dirty="0">
                <a:solidFill>
                  <a:srgbClr val="1E293B"/>
                </a:solidFill>
                <a:latin typeface="Oswald" pitchFamily="34" charset="0"/>
                <a:ea typeface="Oswald" pitchFamily="34" charset="-122"/>
                <a:cs typeface="Oswald" pitchFamily="34" charset="-120"/>
              </a:rPr>
              <a:t>INDUSTRIES SERVED:</a:t>
            </a:r>
            <a:endParaRPr lang="en-US" sz="1200" dirty="0"/>
          </a:p>
        </p:txBody>
      </p:sp>
      <p:sp>
        <p:nvSpPr>
          <p:cNvPr id="33" name="Text 23"/>
          <p:cNvSpPr txBox="1"/>
          <p:nvPr/>
        </p:nvSpPr>
        <p:spPr>
          <a:xfrm>
            <a:off x="4206240" y="5315407"/>
            <a:ext cx="7498079" cy="200254"/>
          </a:xfrm>
          <a:prstGeom prst="rect">
            <a:avLst/>
          </a:prstGeom>
          <a:noFill/>
          <a:ln/>
        </p:spPr>
        <p:txBody>
          <a:bodyPr wrap="none" lIns="0" tIns="0" rIns="0" bIns="0" rtlCol="0" anchor="ctr"/>
          <a:lstStyle/>
          <a:p>
            <a:pPr marL="0" indent="0" algn="l">
              <a:buNone/>
            </a:pPr>
            <a:r>
              <a:rPr lang="en-US" sz="1200" dirty="0">
                <a:solidFill>
                  <a:srgbClr val="475569"/>
                </a:solidFill>
                <a:latin typeface="Raleway" pitchFamily="34" charset="0"/>
                <a:ea typeface="Raleway" pitchFamily="34" charset="-122"/>
                <a:cs typeface="Raleway" pitchFamily="34" charset="-120"/>
              </a:rPr>
              <a:t>BFSI · Telecom · Retail</a:t>
            </a:r>
            <a:endParaRPr lang="en-US" sz="1200" dirty="0"/>
          </a:p>
        </p:txBody>
      </p:sp>
      <p:sp>
        <p:nvSpPr>
          <p:cNvPr id="36" name="Text 24"/>
          <p:cNvSpPr txBox="1"/>
          <p:nvPr/>
        </p:nvSpPr>
        <p:spPr>
          <a:xfrm>
            <a:off x="1190549" y="5829300"/>
            <a:ext cx="2097634" cy="238658"/>
          </a:xfrm>
          <a:prstGeom prst="rect">
            <a:avLst/>
          </a:prstGeom>
          <a:noFill/>
          <a:ln/>
        </p:spPr>
        <p:txBody>
          <a:bodyPr wrap="none" lIns="0" tIns="0" rIns="0" bIns="0" rtlCol="0" anchor="ctr"/>
          <a:lstStyle/>
          <a:p>
            <a:pPr marL="0" indent="0" algn="l">
              <a:buNone/>
            </a:pPr>
            <a:r>
              <a:rPr lang="en-US" sz="1200" b="1" kern="0" spc="64" dirty="0">
                <a:solidFill>
                  <a:srgbClr val="1E293B"/>
                </a:solidFill>
                <a:latin typeface="Oswald" pitchFamily="34" charset="0"/>
                <a:ea typeface="Oswald" pitchFamily="34" charset="-122"/>
                <a:cs typeface="Oswald" pitchFamily="34" charset="-120"/>
              </a:rPr>
              <a:t>EXAMPLE ENGAGEMENTS:</a:t>
            </a:r>
            <a:endParaRPr lang="en-US" sz="1200" dirty="0"/>
          </a:p>
        </p:txBody>
      </p:sp>
      <p:sp>
        <p:nvSpPr>
          <p:cNvPr id="37" name="Text 25"/>
          <p:cNvSpPr txBox="1"/>
          <p:nvPr/>
        </p:nvSpPr>
        <p:spPr>
          <a:xfrm>
            <a:off x="4206240" y="5829300"/>
            <a:ext cx="7498079" cy="200254"/>
          </a:xfrm>
          <a:prstGeom prst="rect">
            <a:avLst/>
          </a:prstGeom>
          <a:noFill/>
          <a:ln/>
        </p:spPr>
        <p:txBody>
          <a:bodyPr wrap="none" lIns="0" tIns="0" rIns="0" bIns="0" rtlCol="0" anchor="ctr"/>
          <a:lstStyle/>
          <a:p>
            <a:pPr marL="0" indent="0" algn="l">
              <a:buNone/>
            </a:pPr>
            <a:r>
              <a:rPr lang="en-US" sz="1200" dirty="0">
                <a:solidFill>
                  <a:srgbClr val="475569"/>
                </a:solidFill>
                <a:latin typeface="Raleway" pitchFamily="34" charset="0"/>
                <a:ea typeface="Raleway" pitchFamily="34" charset="-122"/>
                <a:cs typeface="Raleway" pitchFamily="34" charset="-120"/>
              </a:rPr>
              <a:t>SocGen · AB InBev</a:t>
            </a:r>
            <a:endParaRPr lang="en-US" sz="1200" dirty="0"/>
          </a:p>
        </p:txBody>
      </p:sp>
      <p:sp>
        <p:nvSpPr>
          <p:cNvPr id="38" name="Text 26"/>
          <p:cNvSpPr txBox="1"/>
          <p:nvPr/>
        </p:nvSpPr>
        <p:spPr>
          <a:xfrm>
            <a:off x="609905" y="6610198"/>
            <a:ext cx="10972800" cy="133502"/>
          </a:xfrm>
          <a:prstGeom prst="rect">
            <a:avLst/>
          </a:prstGeom>
          <a:noFill/>
          <a:ln/>
        </p:spPr>
        <p:txBody>
          <a:bodyPr wrap="none" lIns="0" tIns="0" rIns="0" bIns="0" rtlCol="0" anchor="ctr"/>
          <a:lstStyle/>
          <a:p>
            <a:pPr marL="0" indent="0" algn="l">
              <a:buNone/>
            </a:pPr>
            <a:r>
              <a:rPr lang="en-US" sz="900" kern="0" spc="45" dirty="0">
                <a:solidFill>
                  <a:srgbClr val="94A3B8"/>
                </a:solidFill>
                <a:latin typeface="Roboto Condensed" pitchFamily="34" charset="0"/>
                <a:ea typeface="Roboto Condensed" pitchFamily="34" charset="-122"/>
                <a:cs typeface="Roboto Condensed" pitchFamily="34" charset="-120"/>
              </a:rPr>
              <a:t>Capability snapshot </a:t>
            </a:r>
            <a:r>
              <a:rPr lang="en-US" sz="900" kern="0" spc="45" dirty="0">
                <a:solidFill>
                  <a:srgbClr val="4FD1C5"/>
                </a:solidFill>
                <a:latin typeface="Roboto Condensed" pitchFamily="34" charset="0"/>
                <a:ea typeface="Roboto Condensed" pitchFamily="34" charset="-122"/>
                <a:cs typeface="Roboto Condensed" pitchFamily="34" charset="-120"/>
              </a:rPr>
              <a:t>—</a:t>
            </a:r>
            <a:r>
              <a:rPr lang="en-US" sz="900" kern="0" spc="45" dirty="0">
                <a:solidFill>
                  <a:srgbClr val="94A3B8"/>
                </a:solidFill>
                <a:latin typeface="Roboto Condensed" pitchFamily="34" charset="0"/>
                <a:ea typeface="Roboto Condensed" pitchFamily="34" charset="-122"/>
                <a:cs typeface="Roboto Condensed" pitchFamily="34" charset="-120"/>
              </a:rPr>
              <a:t> figures reflect current J2W capacity.</a:t>
            </a:r>
            <a:endParaRPr lang="en-US" sz="900" dirty="0"/>
          </a:p>
        </p:txBody>
      </p:sp>
      <p:graphicFrame>
        <p:nvGraphicFramePr>
          <p:cNvPr id="39" name="Chart 38"/>
          <p:cNvGraphicFramePr>
            <a:graphicFrameLocks noGrp="1"/>
          </p:cNvGraphicFramePr>
          <p:nvPr/>
        </p:nvGraphicFramePr>
        <p:xfrm>
          <a:off x="7589520" y="1554480"/>
          <a:ext cx="4023360" cy="3383280"/>
        </p:xfrm>
        <a:graphic>
          <a:graphicData uri="http://schemas.openxmlformats.org/drawingml/2006/chart">
            <c:chart xmlns:c="http://schemas.openxmlformats.org/drawingml/2006/chart" r:id="rId2"/>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a:p>
        </p:txBody>
      </p:sp>
      <p:sp>
        <p:nvSpPr>
          <p:cNvPr id="3"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endParaRPr/>
          </a:p>
        </p:txBody>
      </p:sp>
      <p:sp>
        <p:nvSpPr>
          <p:cNvPr id="6" name="Shape 2"/>
          <p:cNvSpPr/>
          <p:nvPr/>
        </p:nvSpPr>
        <p:spPr>
          <a:xfrm>
            <a:off x="611002" y="1429207"/>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7" name="Shape 3"/>
          <p:cNvSpPr/>
          <p:nvPr/>
        </p:nvSpPr>
        <p:spPr>
          <a:xfrm>
            <a:off x="611002" y="1429207"/>
            <a:ext cx="3211738" cy="38405"/>
          </a:xfrm>
          <a:prstGeom prst="roundRect">
            <a:avLst>
              <a:gd name="adj" fmla="val 197618"/>
            </a:avLst>
          </a:prstGeom>
          <a:solidFill>
            <a:srgbClr val="D62839"/>
          </a:solidFill>
          <a:ln w="12700">
            <a:solidFill>
              <a:srgbClr val="D62839">
                <a:alpha val="0"/>
              </a:srgbClr>
            </a:solidFill>
            <a:prstDash val="solid"/>
          </a:ln>
        </p:spPr>
        <p:txBody>
          <a:bodyPr/>
          <a:lstStyle/>
          <a:p>
            <a:endParaRPr/>
          </a:p>
        </p:txBody>
      </p:sp>
      <p:sp>
        <p:nvSpPr>
          <p:cNvPr id="8" name="Shape 4"/>
          <p:cNvSpPr/>
          <p:nvPr/>
        </p:nvSpPr>
        <p:spPr>
          <a:xfrm>
            <a:off x="3993916" y="1429207"/>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9" name="Shape 5"/>
          <p:cNvSpPr/>
          <p:nvPr/>
        </p:nvSpPr>
        <p:spPr>
          <a:xfrm>
            <a:off x="3993916" y="1429207"/>
            <a:ext cx="3211738" cy="38405"/>
          </a:xfrm>
          <a:prstGeom prst="roundRect">
            <a:avLst>
              <a:gd name="adj" fmla="val 197618"/>
            </a:avLst>
          </a:prstGeom>
          <a:solidFill>
            <a:srgbClr val="2A9D8F"/>
          </a:solidFill>
          <a:ln w="12700">
            <a:solidFill>
              <a:srgbClr val="2A9D8F">
                <a:alpha val="0"/>
              </a:srgbClr>
            </a:solidFill>
            <a:prstDash val="solid"/>
          </a:ln>
        </p:spPr>
        <p:txBody>
          <a:bodyPr/>
          <a:lstStyle/>
          <a:p>
            <a:endParaRPr/>
          </a:p>
        </p:txBody>
      </p:sp>
      <p:sp>
        <p:nvSpPr>
          <p:cNvPr id="10" name="Shape 6"/>
          <p:cNvSpPr/>
          <p:nvPr/>
        </p:nvSpPr>
        <p:spPr>
          <a:xfrm>
            <a:off x="611002" y="3286354"/>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11" name="Shape 7"/>
          <p:cNvSpPr/>
          <p:nvPr/>
        </p:nvSpPr>
        <p:spPr>
          <a:xfrm>
            <a:off x="611002" y="3286354"/>
            <a:ext cx="3211738" cy="38405"/>
          </a:xfrm>
          <a:prstGeom prst="roundRect">
            <a:avLst>
              <a:gd name="adj" fmla="val 197618"/>
            </a:avLst>
          </a:prstGeom>
          <a:solidFill>
            <a:srgbClr val="0F172A"/>
          </a:solidFill>
          <a:ln w="12700">
            <a:solidFill>
              <a:srgbClr val="0F172A">
                <a:alpha val="0"/>
              </a:srgbClr>
            </a:solidFill>
            <a:prstDash val="solid"/>
          </a:ln>
        </p:spPr>
        <p:txBody>
          <a:bodyPr/>
          <a:lstStyle/>
          <a:p>
            <a:endParaRPr/>
          </a:p>
        </p:txBody>
      </p:sp>
      <p:sp>
        <p:nvSpPr>
          <p:cNvPr id="12" name="Shape 8"/>
          <p:cNvSpPr/>
          <p:nvPr/>
        </p:nvSpPr>
        <p:spPr>
          <a:xfrm>
            <a:off x="3993916" y="3286354"/>
            <a:ext cx="3211738" cy="1714500"/>
          </a:xfrm>
          <a:prstGeom prst="roundRect">
            <a:avLst>
              <a:gd name="adj" fmla="val 4427"/>
            </a:avLst>
          </a:prstGeom>
          <a:solidFill>
            <a:srgbClr val="FFFFFF"/>
          </a:solidFill>
          <a:ln w="12700">
            <a:solidFill>
              <a:srgbClr val="E2E8F0"/>
            </a:solidFill>
            <a:prstDash val="solid"/>
          </a:ln>
          <a:effectLst>
            <a:outerShdw blurRad="63500" dist="38100" dir="16200000" algn="bl" rotWithShape="0">
              <a:srgbClr val="000000">
                <a:alpha val="2000"/>
              </a:srgbClr>
            </a:outerShdw>
          </a:effectLst>
        </p:spPr>
        <p:txBody>
          <a:bodyPr/>
          <a:lstStyle/>
          <a:p>
            <a:endParaRPr/>
          </a:p>
        </p:txBody>
      </p:sp>
      <p:sp>
        <p:nvSpPr>
          <p:cNvPr id="13" name="Shape 9"/>
          <p:cNvSpPr/>
          <p:nvPr/>
        </p:nvSpPr>
        <p:spPr>
          <a:xfrm>
            <a:off x="3993916" y="3286354"/>
            <a:ext cx="3211738" cy="38405"/>
          </a:xfrm>
          <a:prstGeom prst="roundRect">
            <a:avLst>
              <a:gd name="adj" fmla="val 197618"/>
            </a:avLst>
          </a:prstGeom>
          <a:solidFill>
            <a:srgbClr val="D62839"/>
          </a:solidFill>
          <a:ln w="12700">
            <a:solidFill>
              <a:srgbClr val="D62839">
                <a:alpha val="0"/>
              </a:srgbClr>
            </a:solidFill>
            <a:prstDash val="solid"/>
          </a:ln>
        </p:spPr>
        <p:txBody>
          <a:bodyPr/>
          <a:lstStyle/>
          <a:p>
            <a:endParaRPr/>
          </a:p>
        </p:txBody>
      </p:sp>
      <p:sp>
        <p:nvSpPr>
          <p:cNvPr id="14" name="Shape 10"/>
          <p:cNvSpPr/>
          <p:nvPr/>
        </p:nvSpPr>
        <p:spPr>
          <a:xfrm>
            <a:off x="609905" y="5143500"/>
            <a:ext cx="10992002" cy="1209751"/>
          </a:xfrm>
          <a:prstGeom prst="roundRect">
            <a:avLst>
              <a:gd name="adj" fmla="val 6274"/>
            </a:avLst>
          </a:prstGeom>
          <a:solidFill>
            <a:srgbClr val="FFFFFF"/>
          </a:solidFill>
          <a:ln w="12700">
            <a:solidFill>
              <a:srgbClr val="E2E8F0"/>
            </a:solidFill>
            <a:prstDash val="solid"/>
          </a:ln>
        </p:spPr>
        <p:txBody>
          <a:bodyPr/>
          <a:lstStyle/>
          <a:p>
            <a:endParaRPr/>
          </a:p>
        </p:txBody>
      </p:sp>
      <p:sp>
        <p:nvSpPr>
          <p:cNvPr id="15" name="Shape 11"/>
          <p:cNvSpPr/>
          <p:nvPr/>
        </p:nvSpPr>
        <p:spPr>
          <a:xfrm>
            <a:off x="0" y="6524244"/>
            <a:ext cx="12191695" cy="333756"/>
          </a:xfrm>
          <a:prstGeom prst="rect">
            <a:avLst/>
          </a:prstGeom>
          <a:solidFill>
            <a:srgbClr val="0F172A"/>
          </a:solidFill>
          <a:ln w="12700">
            <a:solidFill>
              <a:srgbClr val="FFFFFF">
                <a:alpha val="0"/>
              </a:srgbClr>
            </a:solidFill>
            <a:prstDash val="solid"/>
          </a:ln>
        </p:spPr>
        <p:txBody>
          <a:bodyPr/>
          <a:lstStyle/>
          <a:p>
            <a:endParaRPr/>
          </a:p>
        </p:txBody>
      </p:sp>
      <p:sp>
        <p:nvSpPr>
          <p:cNvPr id="21" name="Text 12"/>
          <p:cNvSpPr txBox="1"/>
          <p:nvPr/>
        </p:nvSpPr>
        <p:spPr>
          <a:xfrm>
            <a:off x="819302" y="295351"/>
            <a:ext cx="10478110" cy="419710"/>
          </a:xfrm>
          <a:prstGeom prst="rect">
            <a:avLst/>
          </a:prstGeom>
          <a:noFill/>
          <a:ln/>
        </p:spPr>
        <p:txBody>
          <a:bodyPr wrap="none" lIns="0" tIns="0" rIns="0" bIns="0" rtlCol="0" anchor="ctr"/>
          <a:lstStyle/>
          <a:p>
            <a:pPr marL="0" indent="0" algn="l">
              <a:buNone/>
            </a:pPr>
            <a:r>
              <a:rPr lang="en-US" sz="2700" b="1" dirty="0">
                <a:solidFill>
                  <a:srgbClr val="111827"/>
                </a:solidFill>
                <a:latin typeface="Oswald" pitchFamily="34" charset="0"/>
                <a:ea typeface="Oswald" pitchFamily="34" charset="-122"/>
                <a:cs typeface="Oswald" pitchFamily="34" charset="-120"/>
              </a:rPr>
              <a:t>OUR STRENGTH IN DevSecOps / CI-CD</a:t>
            </a:r>
            <a:endParaRPr lang="en-US" sz="2700" dirty="0"/>
          </a:p>
        </p:txBody>
      </p:sp>
      <p:sp>
        <p:nvSpPr>
          <p:cNvPr id="22" name="Text 13"/>
          <p:cNvSpPr txBox="1"/>
          <p:nvPr/>
        </p:nvSpPr>
        <p:spPr>
          <a:xfrm>
            <a:off x="819302" y="744322"/>
            <a:ext cx="10478110" cy="247802"/>
          </a:xfrm>
          <a:prstGeom prst="rect">
            <a:avLst/>
          </a:prstGeom>
          <a:noFill/>
          <a:ln/>
        </p:spPr>
        <p:txBody>
          <a:bodyPr wrap="none" lIns="0" tIns="0" rIns="0" bIns="0" rtlCol="0" anchor="ctr"/>
          <a:lstStyle/>
          <a:p>
            <a:pPr marL="0" indent="0" algn="l">
              <a:buNone/>
            </a:pPr>
            <a:r>
              <a:rPr lang="en-US" sz="1300" b="1" dirty="0">
                <a:solidFill>
                  <a:srgbClr val="475569"/>
                </a:solidFill>
                <a:latin typeface="Raleway" pitchFamily="34" charset="0"/>
                <a:ea typeface="Raleway" pitchFamily="34" charset="-122"/>
                <a:cs typeface="Raleway" pitchFamily="34" charset="-120"/>
              </a:rPr>
              <a:t>Proven DevSecOps / CI-CD capability, ready to deploy</a:t>
            </a:r>
            <a:endParaRPr lang="en-US" sz="1300" dirty="0"/>
          </a:p>
        </p:txBody>
      </p:sp>
      <p:sp>
        <p:nvSpPr>
          <p:cNvPr id="23" name="Text 14"/>
          <p:cNvSpPr txBox="1"/>
          <p:nvPr/>
        </p:nvSpPr>
        <p:spPr>
          <a:xfrm>
            <a:off x="782178" y="1571854"/>
            <a:ext cx="3924421" cy="553212"/>
          </a:xfrm>
          <a:prstGeom prst="rect">
            <a:avLst/>
          </a:prstGeom>
          <a:noFill/>
          <a:ln/>
        </p:spPr>
        <p:txBody>
          <a:bodyPr wrap="none" lIns="0" tIns="0" rIns="0" bIns="0" rtlCol="0" anchor="ctr"/>
          <a:lstStyle/>
          <a:p>
            <a:pPr marL="0" indent="0" algn="l">
              <a:buNone/>
            </a:pPr>
            <a:r>
              <a:rPr lang="en-US" sz="3900" b="1" kern="0" spc="-39" dirty="0">
                <a:solidFill>
                  <a:srgbClr val="D62839"/>
                </a:solidFill>
                <a:latin typeface="Oswald" pitchFamily="34" charset="0"/>
                <a:ea typeface="Oswald" pitchFamily="34" charset="-122"/>
                <a:cs typeface="Oswald" pitchFamily="34" charset="-120"/>
              </a:rPr>
              <a:t>29</a:t>
            </a:r>
            <a:endParaRPr lang="en-US" sz="3900" dirty="0"/>
          </a:p>
        </p:txBody>
      </p:sp>
      <p:sp>
        <p:nvSpPr>
          <p:cNvPr id="24" name="Text 15"/>
          <p:cNvSpPr txBox="1"/>
          <p:nvPr/>
        </p:nvSpPr>
        <p:spPr>
          <a:xfrm>
            <a:off x="782178" y="2192731"/>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Specialists Across J2W</a:t>
            </a:r>
            <a:endParaRPr lang="en-US" sz="1400" dirty="0"/>
          </a:p>
        </p:txBody>
      </p:sp>
      <p:sp>
        <p:nvSpPr>
          <p:cNvPr id="25" name="Text 16"/>
          <p:cNvSpPr txBox="1"/>
          <p:nvPr/>
        </p:nvSpPr>
        <p:spPr>
          <a:xfrm>
            <a:off x="4165640" y="1571854"/>
            <a:ext cx="3018068" cy="553212"/>
          </a:xfrm>
          <a:prstGeom prst="rect">
            <a:avLst/>
          </a:prstGeom>
          <a:noFill/>
          <a:ln/>
        </p:spPr>
        <p:txBody>
          <a:bodyPr wrap="none" lIns="0" tIns="0" rIns="0" bIns="0" rtlCol="0" anchor="ctr"/>
          <a:lstStyle/>
          <a:p>
            <a:pPr marL="0" indent="0" algn="l">
              <a:buNone/>
            </a:pPr>
            <a:r>
              <a:rPr lang="en-US" sz="3900" b="1" kern="0" spc="-39" dirty="0">
                <a:solidFill>
                  <a:srgbClr val="2A9D8F"/>
                </a:solidFill>
                <a:latin typeface="Oswald" pitchFamily="34" charset="0"/>
                <a:ea typeface="Oswald" pitchFamily="34" charset="-122"/>
                <a:cs typeface="Oswald" pitchFamily="34" charset="-120"/>
              </a:rPr>
              <a:t>9</a:t>
            </a:r>
            <a:endParaRPr lang="en-US" sz="3900" dirty="0"/>
          </a:p>
        </p:txBody>
      </p:sp>
      <p:sp>
        <p:nvSpPr>
          <p:cNvPr id="26" name="Text 17"/>
          <p:cNvSpPr txBox="1"/>
          <p:nvPr/>
        </p:nvSpPr>
        <p:spPr>
          <a:xfrm>
            <a:off x="4165640" y="2192731"/>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Senior / Expert-Level</a:t>
            </a:r>
            <a:endParaRPr lang="en-US" sz="1400" dirty="0"/>
          </a:p>
        </p:txBody>
      </p:sp>
      <p:sp>
        <p:nvSpPr>
          <p:cNvPr id="27" name="Text 18"/>
          <p:cNvSpPr txBox="1"/>
          <p:nvPr/>
        </p:nvSpPr>
        <p:spPr>
          <a:xfrm>
            <a:off x="782178" y="3429000"/>
            <a:ext cx="3924421" cy="553212"/>
          </a:xfrm>
          <a:prstGeom prst="rect">
            <a:avLst/>
          </a:prstGeom>
          <a:noFill/>
          <a:ln/>
        </p:spPr>
        <p:txBody>
          <a:bodyPr wrap="none" lIns="0" tIns="0" rIns="0" bIns="0" rtlCol="0" anchor="ctr"/>
          <a:lstStyle/>
          <a:p>
            <a:pPr marL="0" indent="0" algn="l">
              <a:buNone/>
            </a:pPr>
            <a:r>
              <a:rPr lang="en-US" sz="3900" b="1" kern="0" spc="-39" dirty="0">
                <a:solidFill>
                  <a:srgbClr val="0F172A"/>
                </a:solidFill>
                <a:latin typeface="Oswald" pitchFamily="34" charset="0"/>
                <a:ea typeface="Oswald" pitchFamily="34" charset="-122"/>
                <a:cs typeface="Oswald" pitchFamily="34" charset="-120"/>
              </a:rPr>
              <a:t>3 WEEKS</a:t>
            </a:r>
            <a:r>
              <a:rPr lang="en-US" sz="2100" b="1" kern="0" spc="-39" dirty="0">
                <a:solidFill>
                  <a:srgbClr val="64748B"/>
                </a:solidFill>
                <a:latin typeface="Oswald" pitchFamily="34" charset="0"/>
                <a:ea typeface="Oswald" pitchFamily="34" charset="-122"/>
                <a:cs typeface="Oswald" pitchFamily="34" charset="-120"/>
              </a:rPr>
              <a:t/>
            </a:r>
            <a:endParaRPr lang="en-US" sz="3900" dirty="0"/>
          </a:p>
        </p:txBody>
      </p:sp>
      <p:sp>
        <p:nvSpPr>
          <p:cNvPr id="28" name="Text 19"/>
          <p:cNvSpPr txBox="1"/>
          <p:nvPr/>
        </p:nvSpPr>
        <p:spPr>
          <a:xfrm>
            <a:off x="782178" y="4049878"/>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Average Ramp-Up Time</a:t>
            </a:r>
            <a:endParaRPr lang="en-US" sz="1400" dirty="0"/>
          </a:p>
        </p:txBody>
      </p:sp>
      <p:sp>
        <p:nvSpPr>
          <p:cNvPr id="29" name="Text 20"/>
          <p:cNvSpPr txBox="1"/>
          <p:nvPr/>
        </p:nvSpPr>
        <p:spPr>
          <a:xfrm>
            <a:off x="4165640" y="3429000"/>
            <a:ext cx="3199119" cy="553212"/>
          </a:xfrm>
          <a:prstGeom prst="rect">
            <a:avLst/>
          </a:prstGeom>
          <a:noFill/>
          <a:ln/>
        </p:spPr>
        <p:txBody>
          <a:bodyPr wrap="none" lIns="0" tIns="0" rIns="0" bIns="0" rtlCol="0" anchor="ctr"/>
          <a:lstStyle/>
          <a:p>
            <a:pPr marL="0" indent="0" algn="l">
              <a:buNone/>
            </a:pPr>
            <a:r>
              <a:rPr lang="en-US" sz="3900" b="1" kern="0" spc="-39" dirty="0">
                <a:solidFill>
                  <a:srgbClr val="D62839"/>
                </a:solidFill>
                <a:latin typeface="Oswald" pitchFamily="34" charset="0"/>
                <a:ea typeface="Oswald" pitchFamily="34" charset="-122"/>
                <a:cs typeface="Oswald" pitchFamily="34" charset="-120"/>
              </a:rPr>
              <a:t>7</a:t>
            </a:r>
            <a:endParaRPr lang="en-US" sz="3900" dirty="0"/>
          </a:p>
        </p:txBody>
      </p:sp>
      <p:sp>
        <p:nvSpPr>
          <p:cNvPr id="30" name="Text 21"/>
          <p:cNvSpPr txBox="1"/>
          <p:nvPr/>
        </p:nvSpPr>
        <p:spPr>
          <a:xfrm>
            <a:off x="4165640" y="4049878"/>
            <a:ext cx="2857866" cy="267005"/>
          </a:xfrm>
          <a:prstGeom prst="rect">
            <a:avLst/>
          </a:prstGeom>
          <a:noFill/>
          <a:ln/>
        </p:spPr>
        <p:txBody>
          <a:bodyPr wrap="none" lIns="0" tIns="0" rIns="0" bIns="0" rtlCol="0" anchor="ctr"/>
          <a:lstStyle/>
          <a:p>
            <a:pPr marL="0" indent="0" algn="l">
              <a:buNone/>
            </a:pPr>
            <a:r>
              <a:rPr lang="en-US" sz="1400" b="1" kern="0" spc="71" dirty="0">
                <a:solidFill>
                  <a:srgbClr val="1E293B"/>
                </a:solidFill>
                <a:latin typeface="Oswald" pitchFamily="34" charset="0"/>
                <a:ea typeface="Oswald" pitchFamily="34" charset="-122"/>
                <a:cs typeface="Oswald" pitchFamily="34" charset="-120"/>
              </a:rPr>
              <a:t>Available to Deploy Now</a:t>
            </a:r>
            <a:endParaRPr lang="en-US" sz="1400" dirty="0"/>
          </a:p>
        </p:txBody>
      </p:sp>
      <p:sp>
        <p:nvSpPr>
          <p:cNvPr id="32" name="Text 22"/>
          <p:cNvSpPr txBox="1"/>
          <p:nvPr/>
        </p:nvSpPr>
        <p:spPr>
          <a:xfrm>
            <a:off x="1200607" y="5315407"/>
            <a:ext cx="1780337" cy="238658"/>
          </a:xfrm>
          <a:prstGeom prst="rect">
            <a:avLst/>
          </a:prstGeom>
          <a:noFill/>
          <a:ln/>
        </p:spPr>
        <p:txBody>
          <a:bodyPr wrap="none" lIns="0" tIns="0" rIns="0" bIns="0" rtlCol="0" anchor="ctr"/>
          <a:lstStyle/>
          <a:p>
            <a:pPr marL="0" indent="0" algn="l">
              <a:buNone/>
            </a:pPr>
            <a:r>
              <a:rPr lang="en-US" sz="1200" b="1" kern="0" spc="64" dirty="0">
                <a:solidFill>
                  <a:srgbClr val="1E293B"/>
                </a:solidFill>
                <a:latin typeface="Oswald" pitchFamily="34" charset="0"/>
                <a:ea typeface="Oswald" pitchFamily="34" charset="-122"/>
                <a:cs typeface="Oswald" pitchFamily="34" charset="-120"/>
              </a:rPr>
              <a:t>INDUSTRIES SERVED:</a:t>
            </a:r>
            <a:endParaRPr lang="en-US" sz="1200" dirty="0"/>
          </a:p>
        </p:txBody>
      </p:sp>
      <p:sp>
        <p:nvSpPr>
          <p:cNvPr id="33" name="Text 23"/>
          <p:cNvSpPr txBox="1"/>
          <p:nvPr/>
        </p:nvSpPr>
        <p:spPr>
          <a:xfrm>
            <a:off x="4206240" y="5315407"/>
            <a:ext cx="7498079" cy="200254"/>
          </a:xfrm>
          <a:prstGeom prst="rect">
            <a:avLst/>
          </a:prstGeom>
          <a:noFill/>
          <a:ln/>
        </p:spPr>
        <p:txBody>
          <a:bodyPr wrap="none" lIns="0" tIns="0" rIns="0" bIns="0" rtlCol="0" anchor="ctr"/>
          <a:lstStyle/>
          <a:p>
            <a:pPr marL="0" indent="0" algn="l">
              <a:buNone/>
            </a:pPr>
            <a:r>
              <a:rPr lang="en-US" sz="1200" dirty="0">
                <a:solidFill>
                  <a:srgbClr val="475569"/>
                </a:solidFill>
                <a:latin typeface="Raleway" pitchFamily="34" charset="0"/>
                <a:ea typeface="Raleway" pitchFamily="34" charset="-122"/>
                <a:cs typeface="Raleway" pitchFamily="34" charset="-120"/>
              </a:rPr>
              <a:t>Technology · BFSI · Automotive</a:t>
            </a:r>
            <a:endParaRPr lang="en-US" sz="1200" dirty="0"/>
          </a:p>
        </p:txBody>
      </p:sp>
      <p:sp>
        <p:nvSpPr>
          <p:cNvPr id="36" name="Text 24"/>
          <p:cNvSpPr txBox="1"/>
          <p:nvPr/>
        </p:nvSpPr>
        <p:spPr>
          <a:xfrm>
            <a:off x="1190549" y="5829300"/>
            <a:ext cx="2097634" cy="238658"/>
          </a:xfrm>
          <a:prstGeom prst="rect">
            <a:avLst/>
          </a:prstGeom>
          <a:noFill/>
          <a:ln/>
        </p:spPr>
        <p:txBody>
          <a:bodyPr wrap="none" lIns="0" tIns="0" rIns="0" bIns="0" rtlCol="0" anchor="ctr"/>
          <a:lstStyle/>
          <a:p>
            <a:pPr marL="0" indent="0" algn="l">
              <a:buNone/>
            </a:pPr>
            <a:r>
              <a:rPr lang="en-US" sz="1200" b="1" kern="0" spc="64" dirty="0">
                <a:solidFill>
                  <a:srgbClr val="1E293B"/>
                </a:solidFill>
                <a:latin typeface="Oswald" pitchFamily="34" charset="0"/>
                <a:ea typeface="Oswald" pitchFamily="34" charset="-122"/>
                <a:cs typeface="Oswald" pitchFamily="34" charset="-120"/>
              </a:rPr>
              <a:t>EXAMPLE ENGAGEMENTS:</a:t>
            </a:r>
            <a:endParaRPr lang="en-US" sz="1200" dirty="0"/>
          </a:p>
        </p:txBody>
      </p:sp>
      <p:sp>
        <p:nvSpPr>
          <p:cNvPr id="37" name="Text 25"/>
          <p:cNvSpPr txBox="1"/>
          <p:nvPr/>
        </p:nvSpPr>
        <p:spPr>
          <a:xfrm>
            <a:off x="4206240" y="5829300"/>
            <a:ext cx="7498079" cy="200254"/>
          </a:xfrm>
          <a:prstGeom prst="rect">
            <a:avLst/>
          </a:prstGeom>
          <a:noFill/>
          <a:ln/>
        </p:spPr>
        <p:txBody>
          <a:bodyPr wrap="none" lIns="0" tIns="0" rIns="0" bIns="0" rtlCol="0" anchor="ctr"/>
          <a:lstStyle/>
          <a:p>
            <a:pPr marL="0" indent="0" algn="l">
              <a:buNone/>
            </a:pPr>
            <a:r>
              <a:rPr lang="en-US" sz="1200" dirty="0">
                <a:solidFill>
                  <a:srgbClr val="475569"/>
                </a:solidFill>
                <a:latin typeface="Raleway" pitchFamily="34" charset="0"/>
                <a:ea typeface="Raleway" pitchFamily="34" charset="-122"/>
                <a:cs typeface="Raleway" pitchFamily="34" charset="-120"/>
              </a:rPr>
              <a:t>Qualizen · Verifone</a:t>
            </a:r>
            <a:endParaRPr lang="en-US" sz="1200" dirty="0"/>
          </a:p>
        </p:txBody>
      </p:sp>
      <p:sp>
        <p:nvSpPr>
          <p:cNvPr id="38" name="Text 26"/>
          <p:cNvSpPr txBox="1"/>
          <p:nvPr/>
        </p:nvSpPr>
        <p:spPr>
          <a:xfrm>
            <a:off x="609905" y="6610198"/>
            <a:ext cx="10972800" cy="133502"/>
          </a:xfrm>
          <a:prstGeom prst="rect">
            <a:avLst/>
          </a:prstGeom>
          <a:noFill/>
          <a:ln/>
        </p:spPr>
        <p:txBody>
          <a:bodyPr wrap="none" lIns="0" tIns="0" rIns="0" bIns="0" rtlCol="0" anchor="ctr"/>
          <a:lstStyle/>
          <a:p>
            <a:pPr marL="0" indent="0" algn="l">
              <a:buNone/>
            </a:pPr>
            <a:r>
              <a:rPr lang="en-US" sz="900" kern="0" spc="45" dirty="0">
                <a:solidFill>
                  <a:srgbClr val="94A3B8"/>
                </a:solidFill>
                <a:latin typeface="Roboto Condensed" pitchFamily="34" charset="0"/>
                <a:ea typeface="Roboto Condensed" pitchFamily="34" charset="-122"/>
                <a:cs typeface="Roboto Condensed" pitchFamily="34" charset="-120"/>
              </a:rPr>
              <a:t>Capability snapshot </a:t>
            </a:r>
            <a:r>
              <a:rPr lang="en-US" sz="900" kern="0" spc="45" dirty="0">
                <a:solidFill>
                  <a:srgbClr val="4FD1C5"/>
                </a:solidFill>
                <a:latin typeface="Roboto Condensed" pitchFamily="34" charset="0"/>
                <a:ea typeface="Roboto Condensed" pitchFamily="34" charset="-122"/>
                <a:cs typeface="Roboto Condensed" pitchFamily="34" charset="-120"/>
              </a:rPr>
              <a:t>—</a:t>
            </a:r>
            <a:r>
              <a:rPr lang="en-US" sz="900" kern="0" spc="45" dirty="0">
                <a:solidFill>
                  <a:srgbClr val="94A3B8"/>
                </a:solidFill>
                <a:latin typeface="Roboto Condensed" pitchFamily="34" charset="0"/>
                <a:ea typeface="Roboto Condensed" pitchFamily="34" charset="-122"/>
                <a:cs typeface="Roboto Condensed" pitchFamily="34" charset="-120"/>
              </a:rPr>
              <a:t> figures reflect current J2W capacity.</a:t>
            </a:r>
            <a:endParaRPr lang="en-US" sz="900" dirty="0"/>
          </a:p>
        </p:txBody>
      </p:sp>
      <p:graphicFrame>
        <p:nvGraphicFramePr>
          <p:cNvPr id="39" name="Chart 38"/>
          <p:cNvGraphicFramePr>
            <a:graphicFrameLocks noGrp="1"/>
          </p:cNvGraphicFramePr>
          <p:nvPr/>
        </p:nvGraphicFramePr>
        <p:xfrm>
          <a:off x="7589520" y="1554480"/>
          <a:ext cx="4023360" cy="3383280"/>
        </p:xfrm>
        <a:graphic>
          <a:graphicData uri="http://schemas.openxmlformats.org/drawingml/2006/chart">
            <c:chart xmlns:c="http://schemas.openxmlformats.org/drawingml/2006/chart" r:id="rId2"/>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640080"/>
          </a:xfrm>
          <a:prstGeom prst="rect">
            <a:avLst/>
          </a:prstGeom>
          <a:noFill/>
        </p:spPr>
        <p:txBody>
          <a:bodyPr wrap="square">
            <a:spAutoFit/>
          </a:bodyPr>
          <a:lstStyle/>
          <a:p>
            <a:r>
              <a:rPr sz="2600" b="1" i="0">
                <a:solidFill>
                  <a:srgbClr val="2C6E66"/>
                </a:solidFill>
              </a:rPr>
              <a:t>Reducing Fraud False Positives for a Retail Bank</a:t>
            </a:r>
          </a:p>
        </p:txBody>
      </p:sp>
      <p:sp>
        <p:nvSpPr>
          <p:cNvPr id="3" name="TextBox 2"/>
          <p:cNvSpPr txBox="1"/>
          <p:nvPr/>
        </p:nvSpPr>
        <p:spPr>
          <a:xfrm>
            <a:off x="548640" y="960120"/>
            <a:ext cx="11064240" cy="365760"/>
          </a:xfrm>
          <a:prstGeom prst="rect">
            <a:avLst/>
          </a:prstGeom>
          <a:noFill/>
        </p:spPr>
        <p:txBody>
          <a:bodyPr wrap="square">
            <a:spAutoFit/>
          </a:bodyPr>
          <a:lstStyle/>
          <a:p>
            <a:r>
              <a:rPr sz="1300" b="0" i="1">
                <a:solidFill>
                  <a:srgbClr val="6B7280"/>
                </a:solidFill>
              </a:rPr>
              <a:t>Client: Leading Retail Bank | Domain: BFSI | Function: Risk Management</a:t>
            </a:r>
          </a:p>
        </p:txBody>
      </p:sp>
      <p:sp>
        <p:nvSpPr>
          <p:cNvPr id="4" name="TextBox 3"/>
          <p:cNvSpPr txBox="1"/>
          <p:nvPr/>
        </p:nvSpPr>
        <p:spPr>
          <a:xfrm>
            <a:off x="548640" y="1600200"/>
            <a:ext cx="5394960" cy="274320"/>
          </a:xfrm>
          <a:prstGeom prst="rect">
            <a:avLst/>
          </a:prstGeom>
          <a:noFill/>
        </p:spPr>
        <p:txBody>
          <a:bodyPr wrap="square">
            <a:spAutoFit/>
          </a:bodyPr>
          <a:lstStyle/>
          <a:p>
            <a:r>
              <a:rPr sz="1200" b="1" i="0">
                <a:solidFill>
                  <a:srgbClr val="2C6E66"/>
                </a:solidFill>
              </a:rPr>
              <a:t>THE CHALLENGE</a:t>
            </a:r>
          </a:p>
        </p:txBody>
      </p:sp>
      <p:sp>
        <p:nvSpPr>
          <p:cNvPr id="5" name="TextBox 4"/>
          <p:cNvSpPr txBox="1"/>
          <p:nvPr/>
        </p:nvSpPr>
        <p:spPr>
          <a:xfrm>
            <a:off x="548640" y="1901952"/>
            <a:ext cx="5394960" cy="1554480"/>
          </a:xfrm>
          <a:prstGeom prst="rect">
            <a:avLst/>
          </a:prstGeom>
          <a:noFill/>
        </p:spPr>
        <p:txBody>
          <a:bodyPr wrap="square">
            <a:spAutoFit/>
          </a:bodyPr>
          <a:lstStyle/>
          <a:p>
            <a:r>
              <a:rPr sz="1200" b="0" i="0">
                <a:solidFill>
                  <a:srgbClr val="111110"/>
                </a:solidFill>
              </a:rPr>
              <a:t>A large retail bank faced significant challenges with their transaction fraud detection system. Their existing rules flagged many legitimate transactions, leading to customer frustration and overwhelming the review team. This inefficiency hindered their ability to manage risk effectively and maintain customer satisfaction.</a:t>
            </a:r>
          </a:p>
        </p:txBody>
      </p:sp>
      <p:sp>
        <p:nvSpPr>
          <p:cNvPr id="6" name="TextBox 5"/>
          <p:cNvSpPr txBox="1"/>
          <p:nvPr/>
        </p:nvSpPr>
        <p:spPr>
          <a:xfrm>
            <a:off x="548640" y="3611880"/>
            <a:ext cx="5394960" cy="274320"/>
          </a:xfrm>
          <a:prstGeom prst="rect">
            <a:avLst/>
          </a:prstGeom>
          <a:noFill/>
        </p:spPr>
        <p:txBody>
          <a:bodyPr wrap="square">
            <a:spAutoFit/>
          </a:bodyPr>
          <a:lstStyle/>
          <a:p>
            <a:r>
              <a:rPr sz="1200" b="1" i="0">
                <a:solidFill>
                  <a:srgbClr val="2C6E66"/>
                </a:solidFill>
              </a:rPr>
              <a:t>THE SOLUTION</a:t>
            </a:r>
          </a:p>
        </p:txBody>
      </p:sp>
      <p:sp>
        <p:nvSpPr>
          <p:cNvPr id="7" name="TextBox 6"/>
          <p:cNvSpPr txBox="1"/>
          <p:nvPr/>
        </p:nvSpPr>
        <p:spPr>
          <a:xfrm>
            <a:off x="548640" y="3913632"/>
            <a:ext cx="5394960" cy="1554480"/>
          </a:xfrm>
          <a:prstGeom prst="rect">
            <a:avLst/>
          </a:prstGeom>
          <a:noFill/>
        </p:spPr>
        <p:txBody>
          <a:bodyPr wrap="square">
            <a:spAutoFit/>
          </a:bodyPr>
          <a:lstStyle/>
          <a:p>
            <a:r>
              <a:rPr sz="1200" b="0" i="0">
                <a:solidFill>
                  <a:srgbClr val="111110"/>
                </a:solidFill>
              </a:rPr>
              <a:t>We implemented a real-time transaction scoring model tailored to their operations. This advanced approach significantly reduced false positives, allowing the bank to improve customer experience and streamline their fraud review process. The bank can now efficiently focus on genuine fraud cases while enhancing overall operational efficiency.</a:t>
            </a:r>
          </a:p>
        </p:txBody>
      </p:sp>
      <p:sp>
        <p:nvSpPr>
          <p:cNvPr id="8" name="TextBox 7"/>
          <p:cNvSpPr txBox="1"/>
          <p:nvPr/>
        </p:nvSpPr>
        <p:spPr>
          <a:xfrm>
            <a:off x="6217920" y="1600200"/>
            <a:ext cx="5394960" cy="274320"/>
          </a:xfrm>
          <a:prstGeom prst="rect">
            <a:avLst/>
          </a:prstGeom>
          <a:noFill/>
        </p:spPr>
        <p:txBody>
          <a:bodyPr wrap="square">
            <a:spAutoFit/>
          </a:bodyPr>
          <a:lstStyle/>
          <a:p>
            <a:r>
              <a:rPr sz="1200" b="1" i="0">
                <a:solidFill>
                  <a:srgbClr val="2C6E66"/>
                </a:solidFill>
              </a:rPr>
              <a:t>KEY CAPABILITIES</a:t>
            </a:r>
          </a:p>
        </p:txBody>
      </p:sp>
      <p:sp>
        <p:nvSpPr>
          <p:cNvPr id="9" name="TextBox 8"/>
          <p:cNvSpPr txBox="1"/>
          <p:nvPr/>
        </p:nvSpPr>
        <p:spPr>
          <a:xfrm>
            <a:off x="6217920" y="1901952"/>
            <a:ext cx="5394960" cy="2468880"/>
          </a:xfrm>
          <a:prstGeom prst="rect">
            <a:avLst/>
          </a:prstGeom>
          <a:noFill/>
        </p:spPr>
        <p:txBody>
          <a:bodyPr wrap="square">
            <a:spAutoFit/>
          </a:bodyPr>
          <a:lstStyle/>
          <a:p>
            <a:r>
              <a:t>• Risk Assessment: Enhanced evaluation of transaction legitimacy in real-time.</a:t>
            </a:r>
          </a:p>
          <a:p>
            <a:r>
              <a:t>• Operational Efficiency: Streamlined fraud review processes to reduce workload.</a:t>
            </a:r>
          </a:p>
          <a:p>
            <a:r>
              <a:t>• Customer Experience: Improved satisfaction by minimizing unnecessary transaction declines.</a:t>
            </a:r>
          </a:p>
          <a:p>
            <a:r>
              <a:t>• Data Analytics: Leveraged data insights to refine fraud detection parameters.</a:t>
            </a:r>
          </a:p>
          <a:p>
            <a:r>
              <a:t>• Compliance Management: Ensured adherence to regulatory standards in fraud detection.</a:t>
            </a:r>
          </a:p>
          <a:p>
            <a:r>
              <a:t>• Performance Monitoring: Continuously assessed model effectiveness and adjusted strategies.</a:t>
            </a:r>
          </a:p>
        </p:txBody>
      </p:sp>
      <p:sp>
        <p:nvSpPr>
          <p:cNvPr id="10" name="TextBox 9"/>
          <p:cNvSpPr txBox="1"/>
          <p:nvPr/>
        </p:nvSpPr>
        <p:spPr>
          <a:xfrm>
            <a:off x="6217920" y="4526280"/>
            <a:ext cx="5394960" cy="274320"/>
          </a:xfrm>
          <a:prstGeom prst="rect">
            <a:avLst/>
          </a:prstGeom>
          <a:noFill/>
        </p:spPr>
        <p:txBody>
          <a:bodyPr wrap="square">
            <a:spAutoFit/>
          </a:bodyPr>
          <a:lstStyle/>
          <a:p>
            <a:r>
              <a:rPr sz="1200" b="1" i="0">
                <a:solidFill>
                  <a:srgbClr val="2C6E66"/>
                </a:solidFill>
              </a:rPr>
              <a:t>RESULTS</a:t>
            </a:r>
          </a:p>
        </p:txBody>
      </p:sp>
      <p:sp>
        <p:nvSpPr>
          <p:cNvPr id="11" name="TextBox 10"/>
          <p:cNvSpPr txBox="1"/>
          <p:nvPr/>
        </p:nvSpPr>
        <p:spPr>
          <a:xfrm>
            <a:off x="6217920" y="4828032"/>
            <a:ext cx="5394960" cy="1280160"/>
          </a:xfrm>
          <a:prstGeom prst="rect">
            <a:avLst/>
          </a:prstGeom>
          <a:noFill/>
        </p:spPr>
        <p:txBody>
          <a:bodyPr wrap="square">
            <a:spAutoFit/>
          </a:bodyPr>
          <a:lstStyle/>
          <a:p>
            <a:r>
              <a:t>• False positives dropped by 40%, significantly enhancing transaction approval rates.</a:t>
            </a:r>
          </a:p>
          <a:p>
            <a:r>
              <a:t>• Operational costs reduced as review team workload decreased substantially.</a:t>
            </a:r>
          </a:p>
          <a:p>
            <a:r>
              <a:t>• Increased confidence in fraud detection led to better decision-making.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32819</Words>
  <Application>Microsoft Office PowerPoint</Application>
  <PresentationFormat>Widescreen</PresentationFormat>
  <Paragraphs>3575</Paragraphs>
  <Slides>138</Slides>
  <Notes>138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138</vt:i4>
      </vt:variant>
    </vt:vector>
  </HeadingPairs>
  <TitlesOfParts>
    <vt:vector size="145" baseType="lpstr">
      <vt:lpstr>Aptos</vt:lpstr>
      <vt:lpstr>Arial</vt:lpstr>
      <vt:lpstr>Calibri</vt:lpstr>
      <vt:lpstr>Oswald</vt:lpstr>
      <vt:lpstr>Raleway</vt:lpstr>
      <vt:lpstr>Roboto Condensed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Master Case Study Portfolio</dc:title>
  <dc:subject>PptxGenJS Presentation</dc:subject>
  <dc:creator>J2W</dc:creator>
  <cp:lastModifiedBy>Athithia Krishna</cp:lastModifiedBy>
  <cp:revision>5</cp:revision>
  <dcterms:created xsi:type="dcterms:W3CDTF">2026-06-22T10:46:20Z</dcterms:created>
  <dcterms:modified xsi:type="dcterms:W3CDTF">2026-06-24T11:39:04Z</dcterms:modified>
</cp:coreProperties>
</file>