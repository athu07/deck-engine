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  <p:sldId id="2147483329" r:id="rId3"/>
    <p:sldId id="2147483330" r:id="rId12"/>
    <p:sldId id="2147483331" r:id="rId13"/>
    <p:sldId id="2147483332" r:id="rId14"/>
    <p:sldId id="2147483305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dPt>
            <c:idx val="0"/>
            <c:spPr>
              <a:solidFill>
                <a:srgbClr val="2C6E66"/>
              </a:solidFill>
            </c:spPr>
          </c:dPt>
          <c:dPt>
            <c:idx val="1"/>
            <c:spPr>
              <a:solidFill>
                <a:srgbClr val="7FB2A9"/>
              </a:solidFill>
            </c:spPr>
          </c:dPt>
          <c:dPt>
            <c:idx val="2"/>
            <c:spPr>
              <a:solidFill>
                <a:srgbClr val="CFE7E2"/>
              </a:solidFill>
            </c:spPr>
          </c:dPt>
          <c:dPt>
            <c:idx val="3"/>
            <c:spPr>
              <a:solidFill>
                <a:srgbClr val="111110"/>
              </a:solidFill>
            </c:spPr>
          </c:dPt>
          <c:dPt>
            <c:idx val="4"/>
            <c:spPr>
              <a:solidFill>
                <a:srgbClr val="4A9E94"/>
              </a:solidFill>
            </c:spPr>
          </c:dPt>
          <c:dPt>
            <c:idx val="5"/>
            <c:spPr>
              <a:solidFill>
                <a:srgbClr val="A5CCC6"/>
              </a:solidFill>
            </c:spPr>
          </c:dPt>
          <c:dPt>
            <c:idx val="6"/>
            <c:spPr>
              <a:solidFill>
                <a:srgbClr val="1E4D47"/>
              </a:solidFill>
            </c:spPr>
          </c:dPt>
          <c:cat>
            <c:strRef>
              <c:f>Sheet1!$A$2:$A$8</c:f>
              <c:strCache>
                <c:ptCount val="7"/>
                <c:pt idx="0">
                  <c:v>Other / Specialist</c:v>
                </c:pt>
                <c:pt idx="1">
                  <c:v>Software Engineering</c:v>
                </c:pt>
                <c:pt idx="2">
                  <c:v>Data &amp; Analytics</c:v>
                </c:pt>
                <c:pt idx="3">
                  <c:v>Infrastructure &amp; Networking</c:v>
                </c:pt>
                <c:pt idx="4">
                  <c:v>Business &amp; Operations</c:v>
                </c:pt>
                <c:pt idx="5">
                  <c:v>Quality Engineering &amp; Testing</c:v>
                </c:pt>
                <c:pt idx="6">
                  <c:v>Customer &amp; Technical Support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</c:v>
                </c:pt>
                <c:pt idx="1">
                  <c:v>54</c:v>
                </c:pt>
                <c:pt idx="2">
                  <c:v>16</c:v>
                </c:pt>
                <c:pt idx="3">
                  <c:v>10</c:v>
                </c:pt>
                <c:pt idx="4">
                  <c:v>7</c:v>
                </c:pt>
                <c:pt idx="5">
                  <c:v>6</c:v>
                </c:pt>
                <c:pt idx="6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Sheet1!$A$2:$A$3</c:f>
              <c:strCache>
                <c:ptCount val="2"/>
                <c:pt idx="0">
                  <c:v>Java</c:v>
                </c:pt>
                <c:pt idx="1">
                  <c:v>QA &amp; Testing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</c:v>
                </c:pt>
                <c:pt idx="1">
                  <c:v>108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Sheet1!$A$2:$A$7</c:f>
              <c:strCache>
                <c:ptCount val="6"/>
                <c:pt idx="0">
                  <c:v>Software Engineering</c:v>
                </c:pt>
                <c:pt idx="1">
                  <c:v>Other / Specialist</c:v>
                </c:pt>
                <c:pt idx="2">
                  <c:v>Data &amp; Analytics</c:v>
                </c:pt>
                <c:pt idx="3">
                  <c:v>Business &amp; Operations</c:v>
                </c:pt>
                <c:pt idx="4">
                  <c:v>Infrastructure &amp; Networking</c:v>
                </c:pt>
                <c:pt idx="5">
                  <c:v>Quality Engineering &amp; Testing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35</c:v>
                </c:pt>
                <c:pt idx="2">
                  <c:v>11</c:v>
                </c:pt>
                <c:pt idx="3">
                  <c:v>7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51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63.pn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67.jpeg"/><Relationship Id="rId11" Type="http://schemas.openxmlformats.org/officeDocument/2006/relationships/image" Target="../media/image6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9663ecf744b06e35d4c2cebaab92a2ea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4067251" cy="75895"/>
          </a:xfrm>
          <a:prstGeom prst="rect">
            <a:avLst/>
          </a:prstGeom>
        </p:spPr>
      </p:pic>
      <p:pic>
        <p:nvPicPr>
          <p:cNvPr id="5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4067251" y="0"/>
            <a:ext cx="812444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34195" y="-476402"/>
            <a:ext cx="3810305" cy="3810305"/>
          </a:xfrm>
          <a:prstGeom prst="ellipse">
            <a:avLst/>
          </a:prstGeom>
          <a:solidFill>
            <a:srgbClr val="2A9D8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-1429207" y="3047695"/>
            <a:ext cx="3333902" cy="3333902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7395" y="4619549"/>
            <a:ext cx="10916107" cy="1781251"/>
          </a:xfrm>
          <a:prstGeom prst="roundRect">
            <a:avLst>
              <a:gd name="adj" fmla="val 43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739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739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43400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3940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3940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525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66744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2914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5143500"/>
            <a:ext cx="218084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gen-dedup-06e3d16aa0e9246458a784af17ea21a8.png"/>
          <p:cNvPicPr>
            <a:picLocks noChangeAspect="1"/>
          </p:cNvPicPr>
          <p:nvPr/>
        </p:nvPicPr>
        <p:blipFill>
          <a:blip r:embed="rId5"/>
          <a:srcRect l="-437" r="-437"/>
          <a:stretch/>
        </p:blipFill>
        <p:spPr>
          <a:xfrm>
            <a:off x="647395" y="743407"/>
            <a:ext cx="57607" cy="418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" y="685800"/>
            <a:ext cx="10478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" y="1143000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ENGAGEMENT MODELS TAILORED TO YOUR THREE-YEAR ROADMAP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850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gen-dedup-fa5d0b435e79f3035aaec6593bf7cfb3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990295" y="1895551"/>
            <a:ext cx="15270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7495" y="1794967"/>
            <a:ext cx="19952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Discovery Workshop</a:t>
            </a:r>
            <a:endParaRPr lang="en-US" sz="1600"/>
          </a:p>
        </p:txBody>
      </p:sp>
      <p:sp>
        <p:nvSpPr>
          <p:cNvPr id="25" name="Text 19"/>
          <p:cNvSpPr txBox="1"/>
          <p:nvPr/>
        </p:nvSpPr>
        <p:spPr>
          <a:xfrm>
            <a:off x="1447495" y="2043684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~90 Minutes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3259836" y="1762049"/>
            <a:ext cx="705002" cy="256946"/>
          </a:xfrm>
          <a:prstGeom prst="roundRect">
            <a:avLst>
              <a:gd name="adj" fmla="val 316331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3850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28" name="Image 4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2734056"/>
            <a:ext cx="85954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9556" y="269565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 identification &amp; prioritization</a:t>
            </a:r>
            <a:endParaRPr lang="en-US" sz="1000"/>
          </a:p>
        </p:txBody>
      </p:sp>
      <p:pic>
        <p:nvPicPr>
          <p:cNvPr id="30" name="Image 5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019349"/>
            <a:ext cx="85954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9556" y="29809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hypothesis definition</a:t>
            </a:r>
            <a:endParaRPr lang="en-US" sz="1000"/>
          </a:p>
        </p:txBody>
      </p:sp>
      <p:pic>
        <p:nvPicPr>
          <p:cNvPr id="32" name="Image 6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305556"/>
            <a:ext cx="85954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9556" y="3267151"/>
            <a:ext cx="3377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roadmap aligned to 70/30 strategy</a:t>
            </a:r>
            <a:endParaRPr lang="en-US" sz="1000"/>
          </a:p>
        </p:txBody>
      </p:sp>
      <p:sp>
        <p:nvSpPr>
          <p:cNvPr id="34" name="Text 25"/>
          <p:cNvSpPr txBox="1"/>
          <p:nvPr/>
        </p:nvSpPr>
        <p:spPr>
          <a:xfrm>
            <a:off x="3354934" y="1848002"/>
            <a:ext cx="66202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 TOUCH</a:t>
            </a:r>
            <a:endParaRPr lang="en-US" sz="800"/>
          </a:p>
        </p:txBody>
      </p:sp>
      <p:sp>
        <p:nvSpPr>
          <p:cNvPr id="35" name="Shape 26"/>
          <p:cNvSpPr/>
          <p:nvPr/>
        </p:nvSpPr>
        <p:spPr>
          <a:xfrm>
            <a:off x="453359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gen-dedup-302cf04975ca72dffec5134ed5b99fbe.png"/>
          <p:cNvPicPr>
            <a:picLocks noChangeAspect="1"/>
          </p:cNvPicPr>
          <p:nvPr/>
        </p:nvPicPr>
        <p:blipFill>
          <a:blip r:embed="rId8"/>
          <a:srcRect t="-4491" b="-4491"/>
          <a:stretch/>
        </p:blipFill>
        <p:spPr>
          <a:xfrm>
            <a:off x="4686300" y="1895551"/>
            <a:ext cx="15270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43500" y="1794967"/>
            <a:ext cx="18251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Assessment &amp; PoC</a:t>
            </a:r>
            <a:endParaRPr lang="en-US" sz="1600"/>
          </a:p>
        </p:txBody>
      </p:sp>
      <p:sp>
        <p:nvSpPr>
          <p:cNvPr id="38" name="Text 28"/>
          <p:cNvSpPr txBox="1"/>
          <p:nvPr/>
        </p:nvSpPr>
        <p:spPr>
          <a:xfrm>
            <a:off x="5143500" y="2043684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4 Weeks</a:t>
            </a:r>
            <a:endParaRPr lang="en-US" sz="900"/>
          </a:p>
        </p:txBody>
      </p:sp>
      <p:sp>
        <p:nvSpPr>
          <p:cNvPr id="39" name="Shape 29"/>
          <p:cNvSpPr/>
          <p:nvPr/>
        </p:nvSpPr>
        <p:spPr>
          <a:xfrm>
            <a:off x="6982358" y="1762049"/>
            <a:ext cx="676656" cy="256946"/>
          </a:xfrm>
          <a:prstGeom prst="roundRect">
            <a:avLst>
              <a:gd name="adj" fmla="val 316331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453359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41" name="Image 8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734056"/>
            <a:ext cx="85954" cy="1234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14646" y="2695651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 architecture design</a:t>
            </a:r>
            <a:endParaRPr lang="en-US" sz="900"/>
          </a:p>
        </p:txBody>
      </p:sp>
      <p:pic>
        <p:nvPicPr>
          <p:cNvPr id="43" name="Image 9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971800"/>
            <a:ext cx="85954" cy="1234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14646" y="2933395"/>
            <a:ext cx="2505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pilot / MVP implementation</a:t>
            </a:r>
            <a:endParaRPr lang="en-US" sz="900"/>
          </a:p>
        </p:txBody>
      </p:sp>
      <p:pic>
        <p:nvPicPr>
          <p:cNvPr id="45" name="Image 10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209544"/>
            <a:ext cx="85954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714646" y="3172054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ROI model &amp; rollout plan</a:t>
            </a:r>
            <a:endParaRPr lang="en-US" sz="900"/>
          </a:p>
        </p:txBody>
      </p:sp>
      <p:pic>
        <p:nvPicPr>
          <p:cNvPr id="47" name="Image 11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448202"/>
            <a:ext cx="85954" cy="1234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714646" y="3409798"/>
            <a:ext cx="21086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integration assessment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7077456" y="1848002"/>
            <a:ext cx="65836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</a:t>
            </a:r>
            <a:endParaRPr lang="en-US" sz="800"/>
          </a:p>
        </p:txBody>
      </p:sp>
      <p:sp>
        <p:nvSpPr>
          <p:cNvPr id="50" name="Shape 36"/>
          <p:cNvSpPr/>
          <p:nvPr/>
        </p:nvSpPr>
        <p:spPr>
          <a:xfrm>
            <a:off x="8229600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2" descr="gen-dedup-e104b6e838315a11dc2d3bf260faf00b.png"/>
          <p:cNvPicPr>
            <a:picLocks noChangeAspect="1"/>
          </p:cNvPicPr>
          <p:nvPr/>
        </p:nvPicPr>
        <p:blipFill>
          <a:blip r:embed="rId10"/>
          <a:srcRect t="-27844" b="-27844"/>
          <a:stretch/>
        </p:blipFill>
        <p:spPr>
          <a:xfrm>
            <a:off x="8382305" y="1895551"/>
            <a:ext cx="152705" cy="19019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39505" y="1794967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&amp; Run Models</a:t>
            </a:r>
            <a:endParaRPr lang="en-US" sz="1600"/>
          </a:p>
        </p:txBody>
      </p:sp>
      <p:sp>
        <p:nvSpPr>
          <p:cNvPr id="53" name="Text 38"/>
          <p:cNvSpPr txBox="1"/>
          <p:nvPr/>
        </p:nvSpPr>
        <p:spPr>
          <a:xfrm>
            <a:off x="8839505" y="2043684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Multi-Year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10555834" y="1762049"/>
            <a:ext cx="800100" cy="256946"/>
          </a:xfrm>
          <a:prstGeom prst="roundRect">
            <a:avLst>
              <a:gd name="adj" fmla="val 3163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 txBox="1"/>
          <p:nvPr/>
        </p:nvSpPr>
        <p:spPr>
          <a:xfrm>
            <a:off x="8229600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MODELS</a:t>
            </a:r>
            <a:endParaRPr lang="en-US" sz="900"/>
          </a:p>
        </p:txBody>
      </p:sp>
      <p:pic>
        <p:nvPicPr>
          <p:cNvPr id="56" name="Image 13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2734056"/>
            <a:ext cx="85954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10651" y="2695651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Scope: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defined project builds</a:t>
            </a:r>
            <a:endParaRPr lang="en-US" sz="1000"/>
          </a:p>
        </p:txBody>
      </p:sp>
      <p:pic>
        <p:nvPicPr>
          <p:cNvPr id="58" name="Image 14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3038551"/>
            <a:ext cx="85954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410651" y="3000146"/>
            <a:ext cx="3038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Managed Service: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SLA-driven operations</a:t>
            </a:r>
            <a:endParaRPr lang="en-US" sz="1000"/>
          </a:p>
        </p:txBody>
      </p:sp>
      <p:pic>
        <p:nvPicPr>
          <p:cNvPr id="60" name="Image 15" descr="gen-dedup-3678629b4a5ad6139a7cc5dcf1ee97ee.png"/>
          <p:cNvPicPr>
            <a:picLocks noChangeAspect="1"/>
          </p:cNvPicPr>
          <p:nvPr/>
        </p:nvPicPr>
        <p:blipFill>
          <a:blip r:embed="rId12"/>
          <a:srcRect t="-119879" b="-119879"/>
          <a:stretch/>
        </p:blipFill>
        <p:spPr>
          <a:xfrm>
            <a:off x="8229600" y="3343046"/>
            <a:ext cx="85954" cy="333756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10651" y="3305556"/>
            <a:ext cx="29434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Outcome-Based: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Gain-share pricing tied to value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10650931" y="1848002"/>
            <a:ext cx="8065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PARTNERSHIP</a:t>
            </a:r>
            <a:endParaRPr lang="en-US" sz="800"/>
          </a:p>
        </p:txBody>
      </p:sp>
      <p:pic>
        <p:nvPicPr>
          <p:cNvPr id="63" name="Image 16" descr="gen-dedup-a2699a036d9634824b4953ceddf6835e.png"/>
          <p:cNvPicPr>
            <a:picLocks noChangeAspect="1"/>
          </p:cNvPicPr>
          <p:nvPr/>
        </p:nvPicPr>
        <p:blipFill>
          <a:blip r:embed="rId13"/>
          <a:srcRect t="-16800" b="-16800"/>
          <a:stretch/>
        </p:blipFill>
        <p:spPr>
          <a:xfrm>
            <a:off x="905256" y="4809744"/>
            <a:ext cx="114300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114654" y="4762195"/>
            <a:ext cx="31519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7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SAMPLE IMPLEMENTATION ROADMAP</a:t>
            </a:r>
            <a:endParaRPr lang="en-US" sz="1300"/>
          </a:p>
        </p:txBody>
      </p:sp>
      <p:sp>
        <p:nvSpPr>
          <p:cNvPr id="65" name="Text 46"/>
          <p:cNvSpPr txBox="1"/>
          <p:nvPr/>
        </p:nvSpPr>
        <p:spPr>
          <a:xfrm>
            <a:off x="1047902" y="5315407"/>
            <a:ext cx="7196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DISCOVERY</a:t>
            </a:r>
            <a:endParaRPr lang="en-US" sz="900"/>
          </a:p>
        </p:txBody>
      </p:sp>
      <p:sp>
        <p:nvSpPr>
          <p:cNvPr id="66" name="Text 47"/>
          <p:cNvSpPr txBox="1"/>
          <p:nvPr/>
        </p:nvSpPr>
        <p:spPr>
          <a:xfrm>
            <a:off x="3063240" y="5238598"/>
            <a:ext cx="181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Q1</a:t>
            </a:r>
            <a:endParaRPr lang="en-US" sz="1200"/>
          </a:p>
        </p:txBody>
      </p:sp>
      <p:sp>
        <p:nvSpPr>
          <p:cNvPr id="67" name="Text 48"/>
          <p:cNvSpPr txBox="1"/>
          <p:nvPr/>
        </p:nvSpPr>
        <p:spPr>
          <a:xfrm>
            <a:off x="1047902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Assess readiness, define scope, select initial use cases</a:t>
            </a:r>
            <a:endParaRPr lang="en-US" sz="900"/>
          </a:p>
        </p:txBody>
      </p:sp>
      <p:sp>
        <p:nvSpPr>
          <p:cNvPr id="68" name="Shape 49"/>
          <p:cNvSpPr/>
          <p:nvPr/>
        </p:nvSpPr>
        <p:spPr>
          <a:xfrm>
            <a:off x="1047902" y="6117336"/>
            <a:ext cx="562356" cy="9144"/>
          </a:xfrm>
          <a:prstGeom prst="rect">
            <a:avLst/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0"/>
          <p:cNvSpPr txBox="1"/>
          <p:nvPr/>
        </p:nvSpPr>
        <p:spPr>
          <a:xfrm>
            <a:off x="1104595" y="5964631"/>
            <a:ext cx="7168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Initiation</a:t>
            </a:r>
            <a:endParaRPr lang="en-US" sz="800"/>
          </a:p>
        </p:txBody>
      </p:sp>
      <p:pic>
        <p:nvPicPr>
          <p:cNvPr id="70" name="Image 17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3452774" y="5627218"/>
            <a:ext cx="105156" cy="133502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810305" y="5315407"/>
            <a:ext cx="8641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PILOT / POC</a:t>
            </a:r>
            <a:endParaRPr lang="en-US" sz="900"/>
          </a:p>
        </p:txBody>
      </p:sp>
      <p:sp>
        <p:nvSpPr>
          <p:cNvPr id="72" name="Text 52"/>
          <p:cNvSpPr txBox="1"/>
          <p:nvPr/>
        </p:nvSpPr>
        <p:spPr>
          <a:xfrm>
            <a:off x="5807354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Q2</a:t>
            </a:r>
            <a:endParaRPr lang="en-US" sz="1200"/>
          </a:p>
        </p:txBody>
      </p:sp>
      <p:sp>
        <p:nvSpPr>
          <p:cNvPr id="73" name="Text 53"/>
          <p:cNvSpPr txBox="1"/>
          <p:nvPr/>
        </p:nvSpPr>
        <p:spPr>
          <a:xfrm>
            <a:off x="3810305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build, user testing, architecture validation</a:t>
            </a:r>
            <a:endParaRPr lang="en-US" sz="900"/>
          </a:p>
        </p:txBody>
      </p:sp>
      <p:sp>
        <p:nvSpPr>
          <p:cNvPr id="74" name="Shape 54"/>
          <p:cNvSpPr/>
          <p:nvPr/>
        </p:nvSpPr>
        <p:spPr>
          <a:xfrm>
            <a:off x="3810305" y="5897880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5"/>
          <p:cNvSpPr txBox="1"/>
          <p:nvPr/>
        </p:nvSpPr>
        <p:spPr>
          <a:xfrm>
            <a:off x="3866998" y="5964631"/>
            <a:ext cx="7269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800"/>
          </a:p>
        </p:txBody>
      </p:sp>
      <p:pic>
        <p:nvPicPr>
          <p:cNvPr id="76" name="Image 18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6215177" y="5627218"/>
            <a:ext cx="105156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6572707" y="5315407"/>
            <a:ext cx="4023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</a:t>
            </a:r>
            <a:endParaRPr lang="en-US" sz="900"/>
          </a:p>
        </p:txBody>
      </p:sp>
      <p:sp>
        <p:nvSpPr>
          <p:cNvPr id="78" name="Text 57"/>
          <p:cNvSpPr txBox="1"/>
          <p:nvPr/>
        </p:nvSpPr>
        <p:spPr>
          <a:xfrm>
            <a:off x="8569757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Q3</a:t>
            </a:r>
            <a:endParaRPr lang="en-US" sz="1200"/>
          </a:p>
        </p:txBody>
      </p:sp>
      <p:sp>
        <p:nvSpPr>
          <p:cNvPr id="79" name="Text 58"/>
          <p:cNvSpPr txBox="1"/>
          <p:nvPr/>
        </p:nvSpPr>
        <p:spPr>
          <a:xfrm>
            <a:off x="6572707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deployment, integration, vendor onboarding</a:t>
            </a:r>
            <a:endParaRPr lang="en-US" sz="900"/>
          </a:p>
        </p:txBody>
      </p:sp>
      <p:sp>
        <p:nvSpPr>
          <p:cNvPr id="80" name="Shape 59"/>
          <p:cNvSpPr/>
          <p:nvPr/>
        </p:nvSpPr>
        <p:spPr>
          <a:xfrm>
            <a:off x="6572707" y="5897880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0"/>
          <p:cNvSpPr txBox="1"/>
          <p:nvPr/>
        </p:nvSpPr>
        <p:spPr>
          <a:xfrm>
            <a:off x="6629400" y="5964631"/>
            <a:ext cx="66111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</a:t>
            </a:r>
            <a:endParaRPr lang="en-US" sz="800"/>
          </a:p>
        </p:txBody>
      </p:sp>
      <p:pic>
        <p:nvPicPr>
          <p:cNvPr id="82" name="Image 19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8977579" y="5627218"/>
            <a:ext cx="105156" cy="133502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9334195" y="5315407"/>
            <a:ext cx="63733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OPTIMIZE</a:t>
            </a:r>
            <a:endParaRPr lang="en-US" sz="900"/>
          </a:p>
        </p:txBody>
      </p:sp>
      <p:sp>
        <p:nvSpPr>
          <p:cNvPr id="84" name="Text 62"/>
          <p:cNvSpPr txBox="1"/>
          <p:nvPr/>
        </p:nvSpPr>
        <p:spPr>
          <a:xfrm>
            <a:off x="11044123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Q4</a:t>
            </a:r>
            <a:endParaRPr lang="en-US" sz="1200"/>
          </a:p>
        </p:txBody>
      </p:sp>
      <p:sp>
        <p:nvSpPr>
          <p:cNvPr id="85" name="Text 63"/>
          <p:cNvSpPr txBox="1"/>
          <p:nvPr/>
        </p:nvSpPr>
        <p:spPr>
          <a:xfrm>
            <a:off x="9334195" y="5505602"/>
            <a:ext cx="1877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ops, process tuning, continuous improvement</a:t>
            </a:r>
            <a:endParaRPr lang="en-US" sz="900"/>
          </a:p>
        </p:txBody>
      </p:sp>
      <p:sp>
        <p:nvSpPr>
          <p:cNvPr id="86" name="Text 64"/>
          <p:cNvSpPr txBox="1"/>
          <p:nvPr/>
        </p:nvSpPr>
        <p:spPr>
          <a:xfrm>
            <a:off x="9391802" y="5964631"/>
            <a:ext cx="73700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Refinement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30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6782105"/>
            <a:ext cx="8128102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6782105"/>
            <a:ext cx="4063594" cy="758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60" b="60"/>
          <a:stretch/>
        </p:blipFill>
        <p:spPr>
          <a:xfrm>
            <a:off x="4121201" y="914400"/>
            <a:ext cx="3952951" cy="1904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276295"/>
            <a:ext cx="761695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536899" y="3619195"/>
            <a:ext cx="5125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"Let's win together"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1050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81" r="81"/>
          <a:stretch/>
        </p:blipFill>
        <p:spPr>
          <a:xfrm>
            <a:off x="3189427" y="5658307"/>
            <a:ext cx="809244" cy="2670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7" r="7"/>
          <a:stretch/>
        </p:blipFill>
        <p:spPr>
          <a:xfrm>
            <a:off x="5665622" y="5453482"/>
            <a:ext cx="724205" cy="67665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t="236" b="236"/>
          <a:stretch/>
        </p:blipFill>
        <p:spPr>
          <a:xfrm>
            <a:off x="8054950" y="5410505"/>
            <a:ext cx="1257300" cy="76169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t="23" b="24"/>
          <a:stretch/>
        </p:blipFill>
        <p:spPr>
          <a:xfrm>
            <a:off x="10972800" y="5548579"/>
            <a:ext cx="457200" cy="4855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0" y="0"/>
            <a:ext cx="4063594" cy="7589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4063594" y="0"/>
            <a:ext cx="8128102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475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333195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0990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3372307" y="1333195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3372307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09905" y="3095244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09905" y="3095244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372307" y="3095244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372307" y="3095244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286500" y="1333195"/>
            <a:ext cx="5333695" cy="2066544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86500" y="3524098"/>
            <a:ext cx="5333695" cy="2734056"/>
          </a:xfrm>
          <a:prstGeom prst="roundRect">
            <a:avLst>
              <a:gd name="adj" fmla="val 27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8" name="Image 2" descr="gen-dedup-c86e8c174ca8fa1030f905d340dc1437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9302" y="295351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DELIVERY FOOTPRINT IN Banking &amp; Financial Services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819302" y="750722"/>
            <a:ext cx="10478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J2W delivery track record in this industry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76402" y="1524305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163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705002" y="1935785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Consultants deployed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5002" y="2168042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Banking &amp; Financial Services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3238805" y="1524305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3467405" y="1935785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Companies served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3467405" y="2168042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this sector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76402" y="3286354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2400" dirty="0"/>
          </a:p>
        </p:txBody>
      </p:sp>
      <p:sp>
        <p:nvSpPr>
          <p:cNvPr id="28" name="Text 23"/>
          <p:cNvSpPr txBox="1"/>
          <p:nvPr/>
        </p:nvSpPr>
        <p:spPr>
          <a:xfrm>
            <a:off x="705002" y="3697834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Functions delivered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05002" y="3930091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across projects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3296412" y="3286354"/>
            <a:ext cx="27422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39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3467405" y="3697834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Distinct skills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3467405" y="3930091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deployed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896405" y="1524305"/>
            <a:ext cx="44394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TOP 3 FREQUENTLY HIRED SKILLS</a:t>
            </a:r>
            <a:endParaRPr lang="en-US" sz="1500" dirty="0"/>
          </a:p>
        </p:txBody>
      </p:sp>
      <p:pic>
        <p:nvPicPr>
          <p:cNvPr id="34" name="Image 3" descr="gen-dedup-0ce6ab29f0d9f121446c79eac8a1539d.png">    </p:cNvPr>
          <p:cNvPicPr>
            <a:picLocks noChangeAspect="1"/>
          </p:cNvPicPr>
          <p:nvPr/>
        </p:nvPicPr>
        <p:blipFill>
          <a:blip r:embed="rId5"/>
          <a:srcRect l="-3419" r="-3419" t="0" b="0"/>
          <a:stretch/>
        </p:blipFill>
        <p:spPr>
          <a:xfrm>
            <a:off x="6572707" y="1585570"/>
            <a:ext cx="228600" cy="190195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572707" y="1952244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Shape 30"/>
          <p:cNvSpPr/>
          <p:nvPr/>
        </p:nvSpPr>
        <p:spPr>
          <a:xfrm>
            <a:off x="6572707" y="1952244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6715354" y="2009851"/>
            <a:ext cx="267005" cy="267005"/>
          </a:xfrm>
          <a:prstGeom prst="ellipse">
            <a:avLst/>
          </a:prstGeom>
          <a:solidFill>
            <a:srgbClr val="D62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 txBox="1"/>
          <p:nvPr/>
        </p:nvSpPr>
        <p:spPr>
          <a:xfrm>
            <a:off x="6822338" y="2042770"/>
            <a:ext cx="9144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7095744" y="2057400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  (4 companies)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572707" y="2428646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" name="Shape 35"/>
          <p:cNvSpPr/>
          <p:nvPr/>
        </p:nvSpPr>
        <p:spPr>
          <a:xfrm>
            <a:off x="6572707" y="2428646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6"/>
          <p:cNvSpPr/>
          <p:nvPr/>
        </p:nvSpPr>
        <p:spPr>
          <a:xfrm>
            <a:off x="6715354" y="2486254"/>
            <a:ext cx="267005" cy="267005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37"/>
          <p:cNvSpPr txBox="1"/>
          <p:nvPr/>
        </p:nvSpPr>
        <p:spPr>
          <a:xfrm>
            <a:off x="6815023" y="2519172"/>
            <a:ext cx="941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7095744" y="2533802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 / Databases  (4 companies)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572707" y="2905049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6" name="Shape 40"/>
          <p:cNvSpPr/>
          <p:nvPr/>
        </p:nvSpPr>
        <p:spPr>
          <a:xfrm>
            <a:off x="6572707" y="2905049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6715354" y="2962656"/>
            <a:ext cx="267005" cy="2670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2"/>
          <p:cNvSpPr txBox="1"/>
          <p:nvPr/>
        </p:nvSpPr>
        <p:spPr>
          <a:xfrm>
            <a:off x="6815023" y="2995574"/>
            <a:ext cx="941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7095744" y="3010205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Analytics  (3 companies)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6829654" y="3666744"/>
            <a:ext cx="45061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Distribution</a:t>
            </a:r>
            <a:endParaRPr lang="en-US" sz="1200" dirty="0"/>
          </a:p>
        </p:txBody>
      </p:sp>
      <p:pic>
        <p:nvPicPr>
          <p:cNvPr id="51" name="Image 4" descr="gen-dedup-1f53efc11363e834752a682b072f9a01.png">    </p:cNvPr>
          <p:cNvPicPr>
            <a:picLocks noChangeAspect="1"/>
          </p:cNvPicPr>
          <p:nvPr/>
        </p:nvPicPr>
        <p:blipFill>
          <a:blip r:embed="rId6"/>
          <a:srcRect l="-2694" r="-2694" t="0" b="0"/>
          <a:stretch/>
        </p:blipFill>
        <p:spPr>
          <a:xfrm>
            <a:off x="6572707" y="3715207"/>
            <a:ext cx="181051" cy="152705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609905" y="6590995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45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Industry delivery snapshot — figures reflect current J2W capacity in Banking &amp; Financial Services</a:t>
            </a:r>
            <a:pPr algn="ctr" indent="0" marL="0">
              <a:buNone/>
            </a:pPr>
            <a:r>
              <a:rPr lang="en-US" sz="900" spc="45" kern="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/>
            </a:r>
            <a:pPr algn="ctr" indent="0" marL="0">
              <a:buNone/>
            </a:pPr>
            <a:r>
              <a:rPr lang="en-US" sz="900" spc="45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/>
            </a:r>
            <a:endParaRPr lang="en-US" sz="900" dirty="0"/>
          </a:p>
        </p:txBody>
      </p:sp>
      <p:graphicFrame>
        <p:nvGraphicFramePr>
          <p:cNvPr id="53" name="Chart 52"/>
          <p:cNvGraphicFramePr>
            <a:graphicFrameLocks noGrp="1"/>
          </p:cNvGraphicFramePr>
          <p:nvPr/>
        </p:nvGraphicFramePr>
        <p:xfrm>
          <a:off x="6327648" y="4005072"/>
          <a:ext cx="5239512" cy="217627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238098"/>
            <a:ext cx="10992002" cy="4972507"/>
          </a:xfrm>
          <a:prstGeom prst="roundRect">
            <a:avLst>
              <a:gd name="adj" fmla="val 1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5467198" y="1809598"/>
            <a:ext cx="5943600" cy="4019702"/>
          </a:xfrm>
          <a:prstGeom prst="roundRect">
            <a:avLst>
              <a:gd name="adj" fmla="val 18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Shape 4"/>
          <p:cNvSpPr/>
          <p:nvPr/>
        </p:nvSpPr>
        <p:spPr>
          <a:xfrm>
            <a:off x="0" y="6524244"/>
            <a:ext cx="12191695" cy="3429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0" y="6524244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" name="Image 3" descr="gen-dedup-c86e8c174ca8fa1030f905d340dc1437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9302" y="247802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J2W HAS DELIVERED — Java  ·  QA &amp; Testing</a:t>
            </a:r>
            <a:endParaRPr lang="en-US" sz="2700" dirty="0"/>
          </a:p>
        </p:txBody>
      </p:sp>
      <p:sp>
        <p:nvSpPr>
          <p:cNvPr id="13" name="Text 7"/>
          <p:cNvSpPr txBox="1"/>
          <p:nvPr/>
        </p:nvSpPr>
        <p:spPr>
          <a:xfrm>
            <a:off x="819302" y="696773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Skills J2W has deployed — track record &amp; reach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1085393" y="1429207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DEPLOYMENT SUMMARY</a:t>
            </a:r>
            <a:endParaRPr lang="en-US" sz="1000" dirty="0"/>
          </a:p>
        </p:txBody>
      </p:sp>
      <p:pic>
        <p:nvPicPr>
          <p:cNvPr id="15" name="Image 4" descr="gen-dedup-e37ca0d3c582fe1ce2e6a0850327acaf.png">    </p:cNvPr>
          <p:cNvPicPr>
            <a:picLocks noChangeAspect="1"/>
          </p:cNvPicPr>
          <p:nvPr/>
        </p:nvPicPr>
        <p:blipFill>
          <a:blip r:embed="rId6"/>
          <a:srcRect l="0" r="0" t="-15700" b="-15700"/>
          <a:stretch/>
        </p:blipFill>
        <p:spPr>
          <a:xfrm>
            <a:off x="895198" y="1438351"/>
            <a:ext cx="114300" cy="13350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95198" y="1809598"/>
            <a:ext cx="4286707" cy="4000500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7" name="Shape 10"/>
          <p:cNvSpPr/>
          <p:nvPr/>
        </p:nvSpPr>
        <p:spPr>
          <a:xfrm>
            <a:off x="895198" y="1809598"/>
            <a:ext cx="28346" cy="4000500"/>
          </a:xfrm>
          <a:prstGeom prst="roundRect">
            <a:avLst>
              <a:gd name="adj" fmla="val 2032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2"/>
          <p:cNvSpPr txBox="1"/>
          <p:nvPr/>
        </p:nvSpPr>
        <p:spPr>
          <a:xfrm>
            <a:off x="1152144" y="2476195"/>
            <a:ext cx="38011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Java  —  123 consultants  ·  23 companies
   Flipkart (28), GE Healthcare (27), Coupang (24), SocGen (12)  +19 more
▸ QA &amp; Testing  —  108 consultants  ·  32 companies
   GE Healthcare (15), Infosys Consulting (12), Boston Scientific (9), Infosys ADM (7)  +28 more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1152144" y="3086100"/>
            <a:ext cx="114300" cy="114300"/>
          </a:xfrm>
          <a:prstGeom prst="ellipse">
            <a:avLst/>
          </a:prstGeom>
          <a:solidFill>
            <a:srgbClr val="D62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16"/>
          <p:cNvSpPr/>
          <p:nvPr/>
        </p:nvSpPr>
        <p:spPr>
          <a:xfrm>
            <a:off x="1152144" y="3448202"/>
            <a:ext cx="114300" cy="1143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1152144" y="3810305"/>
            <a:ext cx="114300" cy="1143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1152144" y="5067605"/>
            <a:ext cx="3800246" cy="514807"/>
          </a:xfrm>
          <a:prstGeom prst="roundRect">
            <a:avLst>
              <a:gd name="adj" fmla="val 1119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1" name="Image 5" descr="gen-dedup-551bb7553781d393dd316893e8835fd3.png">    </p:cNvPr>
          <p:cNvPicPr>
            <a:picLocks noChangeAspect="1"/>
          </p:cNvPicPr>
          <p:nvPr/>
        </p:nvPicPr>
        <p:blipFill>
          <a:blip r:embed="rId7"/>
          <a:srcRect l="0" r="0" t="-14904" b="-14904"/>
          <a:stretch/>
        </p:blipFill>
        <p:spPr>
          <a:xfrm>
            <a:off x="1266444" y="5187391"/>
            <a:ext cx="95098" cy="123444"/>
          </a:xfrm>
          <a:prstGeom prst="rect">
            <a:avLst/>
          </a:prstGeom>
        </p:spPr>
      </p:pic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623560" y="1920240"/>
          <a:ext cx="5669280" cy="3749039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0990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3372307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3372307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133795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13379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8896198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8896198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09905" y="2714854"/>
            <a:ext cx="5352898" cy="359084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48095" y="2714854"/>
            <a:ext cx="5352898" cy="359084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2" descr="gen-dedup-c86e8c174ca8fa1030f905d340dc1437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" y="390449"/>
            <a:ext cx="123087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PARTNERSHIP WITH SocGen — DELIVERY OVERVIEW</a:t>
            </a:r>
            <a:endParaRPr lang="en-US" sz="2700" dirty="0"/>
          </a:p>
        </p:txBody>
      </p:sp>
      <p:sp>
        <p:nvSpPr>
          <p:cNvPr id="19" name="Text 14"/>
          <p:cNvSpPr txBox="1"/>
          <p:nvPr/>
        </p:nvSpPr>
        <p:spPr>
          <a:xfrm>
            <a:off x="819302" y="840334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existing J2W relationship — people, skills &amp; engagement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76402" y="1476756"/>
            <a:ext cx="285658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101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919886" y="1846174"/>
            <a:ext cx="197144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Consultants deployed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467405" y="1476756"/>
            <a:ext cx="24003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3728923" y="2139696"/>
            <a:ext cx="188183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Functions delivered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1476756"/>
            <a:ext cx="285658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31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6689750" y="1846174"/>
            <a:ext cx="148132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Distinct skills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797442" y="1476756"/>
            <a:ext cx="278892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Existing client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447581" y="1804111"/>
            <a:ext cx="14987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Engagement type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95451" y="2857500"/>
            <a:ext cx="46579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68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BREAKDOWN</a:t>
            </a:r>
            <a:endParaRPr lang="en-US" sz="1300" dirty="0"/>
          </a:p>
        </p:txBody>
      </p:sp>
      <p:pic>
        <p:nvPicPr>
          <p:cNvPr id="29" name="Image 3" descr="gen-dedup-4d583a16244f5fc9a8734b2dde11dde1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800100" y="2907792"/>
            <a:ext cx="200254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00100" y="3286354"/>
            <a:ext cx="4953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Software Engineering:  45
▸ Other / Specialist:  35
▸ Data &amp; Analytics:  11
▸ Business &amp; Operations:  7
▸ Infrastructure &amp; Networking:  2
▸ Quality Engineering &amp; Testing:  1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715354" y="2857500"/>
            <a:ext cx="46771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68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DISTRIBUTION</a:t>
            </a:r>
            <a:endParaRPr lang="en-US" sz="1300" dirty="0"/>
          </a:p>
        </p:txBody>
      </p:sp>
      <p:pic>
        <p:nvPicPr>
          <p:cNvPr id="32" name="Image 4" descr="gen-dedup-fd04f7312b60d4a567185c3712409f54.png">    </p:cNvPr>
          <p:cNvPicPr>
            <a:picLocks noChangeAspect="1"/>
          </p:cNvPicPr>
          <p:nvPr/>
        </p:nvPicPr>
        <p:blipFill>
          <a:blip r:embed="rId6"/>
          <a:srcRect l="-2660" r="-2660" t="0" b="0"/>
          <a:stretch/>
        </p:blipFill>
        <p:spPr>
          <a:xfrm>
            <a:off x="6439205" y="2907792"/>
            <a:ext cx="181051" cy="171907"/>
          </a:xfrm>
          <a:prstGeom prst="rect">
            <a:avLst/>
          </a:prstGeom>
        </p:spPr>
      </p:pic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572707" y="3238805"/>
          <a:ext cx="4724705" cy="28575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