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4"/>
  </p:notesMasterIdLst>
  <p:sldIdLst>
    <p:sldId id="2147483328" r:id="rId2"/>
    <p:sldId id="2147483431" r:id="rId19"/>
    <p:sldId id="214748343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984CD-E0AE-483E-8716-12DE2F9F24C4}" v="3" dt="2026-06-22T11:16:53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134" Type="http://schemas.openxmlformats.org/officeDocument/2006/relationships/notesMaster" Target="notesMasters/notesMaster1.xml"/><Relationship Id="rId135" Type="http://schemas.openxmlformats.org/officeDocument/2006/relationships/presProps" Target="presProps.xml"/><Relationship Id="rId136" Type="http://schemas.openxmlformats.org/officeDocument/2006/relationships/viewProps" Target="viewProps.xml"/><Relationship Id="rId137" Type="http://schemas.openxmlformats.org/officeDocument/2006/relationships/theme" Target="theme/theme1.xml"/><Relationship Id="rId138" Type="http://schemas.openxmlformats.org/officeDocument/2006/relationships/tableStyles" Target="tableStyles.xml"/><Relationship Id="rId13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83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3899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290097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Relationship Id="rId21" Type="http://schemas.openxmlformats.org/officeDocument/2006/relationships/image" Target="../media/image19.jpe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122.png"/><Relationship Id="rId7" Type="http://schemas.openxmlformats.org/officeDocument/2006/relationships/image" Target="../media/image123.png"/><Relationship Id="rId8" Type="http://schemas.openxmlformats.org/officeDocument/2006/relationships/image" Target="../media/image124.png"/><Relationship Id="rId9" Type="http://schemas.openxmlformats.org/officeDocument/2006/relationships/image" Target="../media/image1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Relationship Id="rId4" Type="http://schemas.openxmlformats.org/officeDocument/2006/relationships/image" Target="../media/image126.png"/><Relationship Id="rId5" Type="http://schemas.openxmlformats.org/officeDocument/2006/relationships/image" Target="../media/image127.png"/><Relationship Id="rId6" Type="http://schemas.openxmlformats.org/officeDocument/2006/relationships/image" Target="../media/image128.png"/><Relationship Id="rId7" Type="http://schemas.openxmlformats.org/officeDocument/2006/relationships/image" Target="../media/image129.png"/><Relationship Id="rId8" Type="http://schemas.openxmlformats.org/officeDocument/2006/relationships/image" Target="../media/image130.png"/><Relationship Id="rId9" Type="http://schemas.openxmlformats.org/officeDocument/2006/relationships/image" Target="../media/image131.png"/><Relationship Id="rId10" Type="http://schemas.openxmlformats.org/officeDocument/2006/relationships/image" Target="../media/image132.png"/><Relationship Id="rId11" Type="http://schemas.openxmlformats.org/officeDocument/2006/relationships/image" Target="../media/image133.png"/><Relationship Id="rId12" Type="http://schemas.openxmlformats.org/officeDocument/2006/relationships/image" Target="../media/image134.png"/><Relationship Id="rId13" Type="http://schemas.openxmlformats.org/officeDocument/2006/relationships/image" Target="../media/image135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195" y="0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05195"/>
            <a:ext cx="3810305" cy="952805"/>
          </a:xfrm>
          <a:custGeom>
            <a:avLst/>
            <a:gdLst/>
            <a:ahLst/>
            <a:cxnLst/>
            <a:rect l="l" t="t" r="r" b="b"/>
            <a:pathLst>
              <a:path w="3810305" h="952805">
                <a:moveTo>
                  <a:pt x="0" y="952805"/>
                </a:moveTo>
                <a:lnTo>
                  <a:pt x="3810305" y="952805"/>
                </a:lnTo>
                <a:lnTo>
                  <a:pt x="0" y="0"/>
                </a:lnTo>
                <a:close/>
              </a:path>
            </a:pathLst>
          </a:custGeom>
          <a:solidFill>
            <a:srgbClr val="D62839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74290" y="3881628"/>
            <a:ext cx="6648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BUSINESS DRIVERS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TECHNOLOGY ACCELERATORS 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GAME CHANGERS </a:t>
            </a:r>
            <a:endParaRPr lang="en-US" sz="1200"/>
          </a:p>
        </p:txBody>
      </p:sp>
      <p:sp>
        <p:nvSpPr>
          <p:cNvPr id="9" name="Text 4"/>
          <p:cNvSpPr txBox="1"/>
          <p:nvPr/>
        </p:nvSpPr>
        <p:spPr>
          <a:xfrm>
            <a:off x="4153205" y="4262933"/>
            <a:ext cx="389351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Energy. Excellence. Innovation.</a:t>
            </a:r>
            <a:endParaRPr lang="en-US" sz="18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141" r="141"/>
          <a:stretch/>
        </p:blipFill>
        <p:spPr>
          <a:xfrm>
            <a:off x="4629607" y="447142"/>
            <a:ext cx="2933395" cy="1419149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287018" y="2262226"/>
            <a:ext cx="947592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Building the Enterprise Operating Model​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 the Next Decade​</a:t>
            </a: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5639105" y="3596335"/>
            <a:ext cx="914400" cy="57607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0" y="5238598"/>
            <a:ext cx="12191695" cy="161940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7"/>
          <p:cNvSpPr/>
          <p:nvPr/>
        </p:nvSpPr>
        <p:spPr>
          <a:xfrm>
            <a:off x="0" y="5238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10201961" y="5362956"/>
            <a:ext cx="9144" cy="13807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 txBox="1"/>
          <p:nvPr/>
        </p:nvSpPr>
        <p:spPr>
          <a:xfrm>
            <a:off x="457200" y="5362956"/>
            <a:ext cx="9630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Trusted by:</a:t>
            </a:r>
            <a:endParaRPr lang="en-US" sz="1000"/>
          </a:p>
        </p:txBody>
      </p:sp>
      <p:sp>
        <p:nvSpPr>
          <p:cNvPr id="17" name="Shape 10"/>
          <p:cNvSpPr/>
          <p:nvPr/>
        </p:nvSpPr>
        <p:spPr>
          <a:xfrm>
            <a:off x="10362895" y="560527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7779" y="5672023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767974" y="5605272"/>
            <a:ext cx="8101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ISO 9001:2015</a:t>
            </a:r>
            <a:endParaRPr lang="en-US" sz="900"/>
          </a:p>
        </p:txBody>
      </p:sp>
      <p:sp>
        <p:nvSpPr>
          <p:cNvPr id="20" name="Shape 12"/>
          <p:cNvSpPr/>
          <p:nvPr/>
        </p:nvSpPr>
        <p:spPr>
          <a:xfrm>
            <a:off x="10362895" y="5928970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54919" y="5995721"/>
            <a:ext cx="114300" cy="1143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745114" y="5928970"/>
            <a:ext cx="857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CMMI Certified</a:t>
            </a:r>
            <a:endParaRPr lang="en-US" sz="900"/>
          </a:p>
        </p:txBody>
      </p:sp>
      <p:sp>
        <p:nvSpPr>
          <p:cNvPr id="23" name="Shape 14"/>
          <p:cNvSpPr/>
          <p:nvPr/>
        </p:nvSpPr>
        <p:spPr>
          <a:xfrm>
            <a:off x="10362895" y="625358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10537546" y="6319418"/>
            <a:ext cx="85954" cy="1143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0699394" y="6253582"/>
            <a:ext cx="924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Women-Owned</a:t>
            </a:r>
            <a:endParaRPr lang="en-US" sz="90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>
            <a:alphaModFix amt="90000"/>
          </a:blip>
          <a:srcRect/>
          <a:stretch/>
        </p:blipFill>
        <p:spPr>
          <a:xfrm>
            <a:off x="457200" y="5700370"/>
            <a:ext cx="428854" cy="428854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>
            <a:alphaModFix amt="90000"/>
          </a:blip>
          <a:srcRect l="2016" r="2016"/>
          <a:stretch/>
        </p:blipFill>
        <p:spPr>
          <a:xfrm>
            <a:off x="1578254" y="5805526"/>
            <a:ext cx="1143000" cy="228600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3">
            <a:alphaModFix amt="90000"/>
          </a:blip>
          <a:srcRect t="569" b="569"/>
          <a:stretch/>
        </p:blipFill>
        <p:spPr>
          <a:xfrm>
            <a:off x="3413455" y="5639105"/>
            <a:ext cx="838505" cy="552298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>
            <a:alphaModFix amt="90000"/>
          </a:blip>
          <a:srcRect t="563" b="563"/>
          <a:stretch/>
        </p:blipFill>
        <p:spPr>
          <a:xfrm>
            <a:off x="4935017" y="5648249"/>
            <a:ext cx="809244" cy="533095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5">
            <a:alphaModFix amt="90000"/>
          </a:blip>
          <a:srcRect t="267" b="267"/>
          <a:stretch/>
        </p:blipFill>
        <p:spPr>
          <a:xfrm>
            <a:off x="6427318" y="5648249"/>
            <a:ext cx="952805" cy="533095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>
            <a:alphaModFix amt="90000"/>
          </a:blip>
          <a:srcRect/>
          <a:stretch/>
        </p:blipFill>
        <p:spPr>
          <a:xfrm>
            <a:off x="8067751" y="5662879"/>
            <a:ext cx="504749" cy="504749"/>
          </a:xfrm>
          <a:prstGeom prst="rect">
            <a:avLst/>
          </a:prstGeom>
        </p:spPr>
      </p:pic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7">
            <a:alphaModFix amt="90000"/>
          </a:blip>
          <a:srcRect t="525" b="525"/>
          <a:stretch/>
        </p:blipFill>
        <p:spPr>
          <a:xfrm>
            <a:off x="9265615" y="5662879"/>
            <a:ext cx="714146" cy="504749"/>
          </a:xfrm>
          <a:prstGeom prst="rect">
            <a:avLst/>
          </a:prstGeom>
        </p:spPr>
      </p:pic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8">
            <a:alphaModFix amt="90000"/>
          </a:blip>
          <a:srcRect l="688" r="688"/>
          <a:stretch/>
        </p:blipFill>
        <p:spPr>
          <a:xfrm>
            <a:off x="457200" y="6445606"/>
            <a:ext cx="1067105" cy="190195"/>
          </a:xfrm>
          <a:prstGeom prst="rect">
            <a:avLst/>
          </a:prstGeom>
        </p:spPr>
      </p:pic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9">
            <a:alphaModFix amt="90000"/>
          </a:blip>
          <a:srcRect l="960" r="960"/>
          <a:stretch/>
        </p:blipFill>
        <p:spPr>
          <a:xfrm>
            <a:off x="2056486" y="6390742"/>
            <a:ext cx="1466698" cy="304495"/>
          </a:xfrm>
          <a:prstGeom prst="rect">
            <a:avLst/>
          </a:prstGeom>
        </p:spPr>
      </p:pic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20">
            <a:alphaModFix amt="90000"/>
          </a:blip>
          <a:srcRect t="311" b="311"/>
          <a:stretch/>
        </p:blipFill>
        <p:spPr>
          <a:xfrm>
            <a:off x="4055364" y="6325819"/>
            <a:ext cx="828446" cy="428854"/>
          </a:xfrm>
          <a:prstGeom prst="rect">
            <a:avLst/>
          </a:prstGeom>
        </p:spPr>
      </p:pic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t="385" b="385"/>
          <a:stretch/>
        </p:blipFill>
        <p:spPr>
          <a:xfrm>
            <a:off x="5410505" y="6325819"/>
            <a:ext cx="771754" cy="428854"/>
          </a:xfrm>
          <a:prstGeom prst="rect">
            <a:avLst/>
          </a:prstGeom>
        </p:spPr>
      </p:pic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22">
            <a:alphaModFix amt="90000"/>
          </a:blip>
          <a:srcRect/>
          <a:stretch/>
        </p:blipFill>
        <p:spPr>
          <a:xfrm>
            <a:off x="6708038" y="6325819"/>
            <a:ext cx="428854" cy="428854"/>
          </a:xfrm>
          <a:prstGeom prst="rect">
            <a:avLst/>
          </a:prstGeom>
        </p:spPr>
      </p:pic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23">
            <a:alphaModFix amt="90000"/>
          </a:blip>
          <a:srcRect t="77" b="77"/>
          <a:stretch/>
        </p:blipFill>
        <p:spPr>
          <a:xfrm>
            <a:off x="7669073" y="6368796"/>
            <a:ext cx="629107" cy="342900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24">
            <a:alphaModFix amt="90000"/>
          </a:blip>
          <a:srcRect l="1712" r="1712"/>
          <a:stretch/>
        </p:blipFill>
        <p:spPr>
          <a:xfrm>
            <a:off x="8829446" y="6420002"/>
            <a:ext cx="1143000" cy="2478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gen-dedup-323228122ff92d2332e711a84ca3b40c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0"/>
            <a:ext cx="8127187" cy="75895"/>
          </a:xfrm>
          <a:prstGeom prst="rect">
            <a:avLst/>
          </a:prstGeom>
        </p:spPr>
      </p:pic>
      <p:pic>
        <p:nvPicPr>
          <p:cNvPr id="5" name="Image 1" descr="gen-dedup-64882feb7a832238af77b962fc7a8538.png"/>
          <p:cNvPicPr>
            <a:picLocks noChangeAspect="1"/>
          </p:cNvPicPr>
          <p:nvPr/>
        </p:nvPicPr>
        <p:blipFill>
          <a:blip r:embed="rId4"/>
          <a:srcRect l="-203" r="-203"/>
          <a:stretch/>
        </p:blipFill>
        <p:spPr>
          <a:xfrm>
            <a:off x="8127187" y="0"/>
            <a:ext cx="4063594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905695" y="-571500"/>
            <a:ext cx="2857500" cy="2857500"/>
          </a:xfrm>
          <a:prstGeom prst="ellipse">
            <a:avLst/>
          </a:prstGeom>
          <a:solidFill>
            <a:srgbClr val="2A9D8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2" descr="gen-dedup-6da70c599291e253314366a10c094ffa.png"/>
          <p:cNvPicPr>
            <a:picLocks noChangeAspect="1"/>
          </p:cNvPicPr>
          <p:nvPr/>
        </p:nvPicPr>
        <p:blipFill>
          <a:blip r:embed="rId5">
            <a:alphaModFix amt="15000"/>
          </a:blip>
          <a:srcRect/>
          <a:stretch/>
        </p:blipFill>
        <p:spPr>
          <a:xfrm>
            <a:off x="381305" y="1143000"/>
            <a:ext cx="1429207" cy="1429207"/>
          </a:xfrm>
          <a:prstGeom prst="rect">
            <a:avLst/>
          </a:prstGeom>
        </p:spPr>
      </p:pic>
      <p:pic>
        <p:nvPicPr>
          <p:cNvPr id="8" name="Image 3" descr="gen-dedup-c72c85b07e3f177762516dd89615ea68.png"/>
          <p:cNvPicPr>
            <a:picLocks noChangeAspect="1"/>
          </p:cNvPicPr>
          <p:nvPr/>
        </p:nvPicPr>
        <p:blipFill>
          <a:blip r:embed="rId6"/>
          <a:srcRect t="-217" b="-217"/>
          <a:stretch/>
        </p:blipFill>
        <p:spPr>
          <a:xfrm>
            <a:off x="609905" y="544982"/>
            <a:ext cx="75895" cy="476402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75995" y="381305"/>
            <a:ext cx="7105802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82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Managed Service Solutions</a:t>
            </a:r>
            <a:endParaRPr lang="en-US" sz="3300"/>
          </a:p>
        </p:txBody>
      </p:sp>
      <p:sp>
        <p:nvSpPr>
          <p:cNvPr id="10" name="Text 4"/>
          <p:cNvSpPr txBox="1"/>
          <p:nvPr/>
        </p:nvSpPr>
        <p:spPr>
          <a:xfrm>
            <a:off x="875995" y="898855"/>
            <a:ext cx="779160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OUTCOME-BOUND DELIVERY - NOT JUST A VENDOR WITH A STATEMENT OF WORK.</a:t>
            </a:r>
            <a:endParaRPr lang="en-US" sz="1500"/>
          </a:p>
        </p:txBody>
      </p:sp>
      <p:sp>
        <p:nvSpPr>
          <p:cNvPr id="11" name="Shape 5"/>
          <p:cNvSpPr/>
          <p:nvPr/>
        </p:nvSpPr>
        <p:spPr>
          <a:xfrm>
            <a:off x="609905" y="1524305"/>
            <a:ext cx="5524805" cy="1028700"/>
          </a:xfrm>
          <a:prstGeom prst="roundRect">
            <a:avLst>
              <a:gd name="adj" fmla="val 131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609905" y="1524305"/>
            <a:ext cx="38405" cy="1028700"/>
          </a:xfrm>
          <a:prstGeom prst="roundRect">
            <a:avLst>
              <a:gd name="adj" fmla="val 352732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609905" y="2699308"/>
            <a:ext cx="5524805" cy="1028700"/>
          </a:xfrm>
          <a:prstGeom prst="roundRect">
            <a:avLst>
              <a:gd name="adj" fmla="val 131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609905" y="2699308"/>
            <a:ext cx="38405" cy="1028700"/>
          </a:xfrm>
          <a:prstGeom prst="roundRect">
            <a:avLst>
              <a:gd name="adj" fmla="val 352732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609905" y="3823105"/>
            <a:ext cx="5524805" cy="1162202"/>
          </a:xfrm>
          <a:prstGeom prst="roundRect">
            <a:avLst>
              <a:gd name="adj" fmla="val 103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609905" y="3823105"/>
            <a:ext cx="38405" cy="1162202"/>
          </a:xfrm>
          <a:prstGeom prst="roundRect">
            <a:avLst>
              <a:gd name="adj" fmla="val 312254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6381598" y="1524305"/>
            <a:ext cx="5201107" cy="4572000"/>
          </a:xfrm>
          <a:prstGeom prst="roundRect">
            <a:avLst>
              <a:gd name="adj" fmla="val 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6391656" y="1533449"/>
            <a:ext cx="5181905" cy="552298"/>
          </a:xfrm>
          <a:prstGeom prst="roundRect">
            <a:avLst>
              <a:gd name="adj" fmla="val 45672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 txBox="1"/>
          <p:nvPr/>
        </p:nvSpPr>
        <p:spPr>
          <a:xfrm>
            <a:off x="6543446" y="1593692"/>
            <a:ext cx="48774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Service Model Comparison</a:t>
            </a:r>
            <a:endParaRPr lang="en-US" sz="1100"/>
          </a:p>
        </p:txBody>
      </p:sp>
      <p:sp>
        <p:nvSpPr>
          <p:cNvPr id="22" name="Shape 16"/>
          <p:cNvSpPr/>
          <p:nvPr/>
        </p:nvSpPr>
        <p:spPr>
          <a:xfrm>
            <a:off x="609905" y="6229807"/>
            <a:ext cx="10972800" cy="437998"/>
          </a:xfrm>
          <a:prstGeom prst="roundRect">
            <a:avLst>
              <a:gd name="adj" fmla="val 3630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609905" y="6229807"/>
            <a:ext cx="38405" cy="437998"/>
          </a:xfrm>
          <a:prstGeom prst="roundRect">
            <a:avLst>
              <a:gd name="adj" fmla="val 414077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 txBox="1"/>
          <p:nvPr/>
        </p:nvSpPr>
        <p:spPr>
          <a:xfrm>
            <a:off x="981151" y="1638605"/>
            <a:ext cx="500085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Solution Accelerators</a:t>
            </a:r>
            <a:endParaRPr lang="en-US" sz="1400"/>
          </a:p>
        </p:txBody>
      </p:sp>
      <p:sp>
        <p:nvSpPr>
          <p:cNvPr id="25" name="Text 19"/>
          <p:cNvSpPr txBox="1"/>
          <p:nvPr/>
        </p:nvSpPr>
        <p:spPr>
          <a:xfrm>
            <a:off x="761695" y="1950415"/>
            <a:ext cx="522031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60+ pre-built accelerators across SAP, ServiceNow, Salesforce, and industry stacks - deployed fast, customized to fit, never forced.</a:t>
            </a:r>
            <a:endParaRPr lang="en-US" sz="1100"/>
          </a:p>
        </p:txBody>
      </p:sp>
      <p:pic>
        <p:nvPicPr>
          <p:cNvPr id="26" name="Image 4" descr="gen-dedup-aaaf743a9627457c5a8ecc39eba03c50.png"/>
          <p:cNvPicPr>
            <a:picLocks noChangeAspect="1"/>
          </p:cNvPicPr>
          <p:nvPr/>
        </p:nvPicPr>
        <p:blipFill>
          <a:blip r:embed="rId7"/>
          <a:srcRect t="-13462" b="-13462"/>
          <a:stretch/>
        </p:blipFill>
        <p:spPr>
          <a:xfrm>
            <a:off x="761695" y="1689811"/>
            <a:ext cx="142646" cy="181051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81151" y="2813608"/>
            <a:ext cx="500085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Cross-Function Coverage</a:t>
            </a:r>
            <a:endParaRPr lang="en-US" sz="1400"/>
          </a:p>
        </p:txBody>
      </p:sp>
      <p:sp>
        <p:nvSpPr>
          <p:cNvPr id="31" name="Text 23"/>
          <p:cNvSpPr txBox="1"/>
          <p:nvPr/>
        </p:nvSpPr>
        <p:spPr>
          <a:xfrm>
            <a:off x="761695" y="3125418"/>
            <a:ext cx="522031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AI CoE and Data CoE to Digital Engineering, Quality, and Cybersecurity - we operate across the full enterprise function map, not just the easy wins.</a:t>
            </a:r>
            <a:endParaRPr lang="en-US" sz="1100"/>
          </a:p>
        </p:txBody>
      </p:sp>
      <p:pic>
        <p:nvPicPr>
          <p:cNvPr id="32" name="Image 6" descr="gen-dedup-f27d894a2aa16499d7ef79199ddd11dd.png"/>
          <p:cNvPicPr>
            <a:picLocks noChangeAspect="1"/>
          </p:cNvPicPr>
          <p:nvPr/>
        </p:nvPicPr>
        <p:blipFill>
          <a:blip r:embed="rId8"/>
          <a:srcRect t="-21395" b="-21395"/>
          <a:stretch/>
        </p:blipFill>
        <p:spPr>
          <a:xfrm>
            <a:off x="761695" y="2864814"/>
            <a:ext cx="142646" cy="181051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81151" y="3937405"/>
            <a:ext cx="5000854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Proven ROI, Not Projections</a:t>
            </a:r>
            <a:endParaRPr lang="en-US" sz="1400"/>
          </a:p>
        </p:txBody>
      </p:sp>
      <p:sp>
        <p:nvSpPr>
          <p:cNvPr id="34" name="Text 25"/>
          <p:cNvSpPr txBox="1"/>
          <p:nvPr/>
        </p:nvSpPr>
        <p:spPr>
          <a:xfrm>
            <a:off x="761695" y="4249216"/>
            <a:ext cx="522031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 accelerator comes with a benchmark from prior deployments. 80% reduction in reporting effort. 55% faster month-end close. 65% faster testing cycles. Numbers you inherit, not numbers we promise.</a:t>
            </a:r>
            <a:endParaRPr lang="en-US" sz="1100"/>
          </a:p>
        </p:txBody>
      </p:sp>
      <p:pic>
        <p:nvPicPr>
          <p:cNvPr id="35" name="Image 7" descr="gen-dedup-0d12da8ebc0b959d48949b1e6044d332.png"/>
          <p:cNvPicPr>
            <a:picLocks noChangeAspect="1"/>
          </p:cNvPicPr>
          <p:nvPr/>
        </p:nvPicPr>
        <p:blipFill>
          <a:blip r:embed="rId9"/>
          <a:srcRect t="-13462" b="-13462"/>
          <a:stretch/>
        </p:blipFill>
        <p:spPr>
          <a:xfrm>
            <a:off x="761695" y="3988612"/>
            <a:ext cx="142646" cy="181051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6381598" y="1952244"/>
            <a:ext cx="5201107" cy="599846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7"/>
          <p:cNvSpPr/>
          <p:nvPr/>
        </p:nvSpPr>
        <p:spPr>
          <a:xfrm>
            <a:off x="6381598" y="2532888"/>
            <a:ext cx="5201107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8"/>
          <p:cNvSpPr txBox="1"/>
          <p:nvPr/>
        </p:nvSpPr>
        <p:spPr>
          <a:xfrm>
            <a:off x="6534302" y="2048256"/>
            <a:ext cx="122895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Dimension</a:t>
            </a:r>
            <a:endParaRPr lang="en-US" sz="1000"/>
          </a:p>
        </p:txBody>
      </p:sp>
      <p:sp>
        <p:nvSpPr>
          <p:cNvPr id="39" name="Text 29"/>
          <p:cNvSpPr txBox="1"/>
          <p:nvPr/>
        </p:nvSpPr>
        <p:spPr>
          <a:xfrm>
            <a:off x="7757770" y="2048256"/>
            <a:ext cx="171450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Traditional Managed Services</a:t>
            </a:r>
            <a:endParaRPr lang="en-US" sz="1000"/>
          </a:p>
        </p:txBody>
      </p:sp>
      <p:sp>
        <p:nvSpPr>
          <p:cNvPr id="40" name="Text 30"/>
          <p:cNvSpPr txBox="1"/>
          <p:nvPr/>
        </p:nvSpPr>
        <p:spPr>
          <a:xfrm>
            <a:off x="9471355" y="2048256"/>
            <a:ext cx="196230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J2W Managed Solutions</a:t>
            </a:r>
            <a:endParaRPr lang="en-US" sz="1000"/>
          </a:p>
        </p:txBody>
      </p:sp>
      <p:sp>
        <p:nvSpPr>
          <p:cNvPr id="41" name="Shape 31"/>
          <p:cNvSpPr/>
          <p:nvPr/>
        </p:nvSpPr>
        <p:spPr>
          <a:xfrm>
            <a:off x="6381598" y="3134563"/>
            <a:ext cx="52011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2"/>
          <p:cNvSpPr txBox="1"/>
          <p:nvPr/>
        </p:nvSpPr>
        <p:spPr>
          <a:xfrm>
            <a:off x="6534302" y="2667305"/>
            <a:ext cx="12289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Engagement </a:t>
            </a:r>
          </a:p>
          <a:p>
            <a:pPr marL="0" indent="0" algn="l">
              <a:buNone/>
            </a:pPr>
            <a:r>
              <a:rPr lang="en-US" sz="1000" b="1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</a:t>
            </a:r>
            <a:endParaRPr lang="en-US" sz="1000"/>
          </a:p>
        </p:txBody>
      </p:sp>
      <p:sp>
        <p:nvSpPr>
          <p:cNvPr id="43" name="Text 33"/>
          <p:cNvSpPr txBox="1"/>
          <p:nvPr/>
        </p:nvSpPr>
        <p:spPr>
          <a:xfrm>
            <a:off x="7757770" y="2667305"/>
            <a:ext cx="1714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SOW-based, scope-</a:t>
            </a:r>
          </a:p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locked</a:t>
            </a:r>
            <a:endParaRPr lang="en-US" sz="1000"/>
          </a:p>
        </p:txBody>
      </p:sp>
      <p:sp>
        <p:nvSpPr>
          <p:cNvPr id="44" name="Text 34"/>
          <p:cNvSpPr txBox="1"/>
          <p:nvPr/>
        </p:nvSpPr>
        <p:spPr>
          <a:xfrm>
            <a:off x="9471355" y="2667305"/>
            <a:ext cx="19623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Outcome-bound, SLO-governed</a:t>
            </a:r>
            <a:endParaRPr lang="en-US" sz="1000"/>
          </a:p>
        </p:txBody>
      </p:sp>
      <p:sp>
        <p:nvSpPr>
          <p:cNvPr id="45" name="Shape 35"/>
          <p:cNvSpPr/>
          <p:nvPr/>
        </p:nvSpPr>
        <p:spPr>
          <a:xfrm>
            <a:off x="6381598" y="3143707"/>
            <a:ext cx="5201107" cy="590702"/>
          </a:xfrm>
          <a:prstGeom prst="rect">
            <a:avLst/>
          </a:prstGeom>
          <a:solidFill>
            <a:srgbClr val="2A9D8F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6"/>
          <p:cNvSpPr/>
          <p:nvPr/>
        </p:nvSpPr>
        <p:spPr>
          <a:xfrm>
            <a:off x="6381598" y="3725266"/>
            <a:ext cx="52011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7"/>
          <p:cNvSpPr txBox="1"/>
          <p:nvPr/>
        </p:nvSpPr>
        <p:spPr>
          <a:xfrm>
            <a:off x="6534302" y="3258007"/>
            <a:ext cx="12289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Starting Point</a:t>
            </a:r>
            <a:endParaRPr lang="en-US" sz="1000"/>
          </a:p>
        </p:txBody>
      </p:sp>
      <p:sp>
        <p:nvSpPr>
          <p:cNvPr id="48" name="Text 38"/>
          <p:cNvSpPr txBox="1"/>
          <p:nvPr/>
        </p:nvSpPr>
        <p:spPr>
          <a:xfrm>
            <a:off x="7757770" y="3258007"/>
            <a:ext cx="1714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from scratch</a:t>
            </a:r>
            <a:endParaRPr lang="en-US" sz="1000"/>
          </a:p>
        </p:txBody>
      </p:sp>
      <p:sp>
        <p:nvSpPr>
          <p:cNvPr id="49" name="Text 39"/>
          <p:cNvSpPr txBox="1"/>
          <p:nvPr/>
        </p:nvSpPr>
        <p:spPr>
          <a:xfrm>
            <a:off x="9471355" y="3258007"/>
            <a:ext cx="19623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60+ accelerators, deploy in weeks</a:t>
            </a:r>
            <a:endParaRPr lang="en-US" sz="1000"/>
          </a:p>
        </p:txBody>
      </p:sp>
      <p:sp>
        <p:nvSpPr>
          <p:cNvPr id="50" name="Shape 40"/>
          <p:cNvSpPr/>
          <p:nvPr/>
        </p:nvSpPr>
        <p:spPr>
          <a:xfrm>
            <a:off x="6381598" y="4315054"/>
            <a:ext cx="52011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1"/>
          <p:cNvSpPr txBox="1"/>
          <p:nvPr/>
        </p:nvSpPr>
        <p:spPr>
          <a:xfrm>
            <a:off x="6534302" y="3847795"/>
            <a:ext cx="12289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Standard</a:t>
            </a:r>
            <a:endParaRPr lang="en-US" sz="1000"/>
          </a:p>
        </p:txBody>
      </p:sp>
      <p:sp>
        <p:nvSpPr>
          <p:cNvPr id="52" name="Text 42"/>
          <p:cNvSpPr txBox="1"/>
          <p:nvPr/>
        </p:nvSpPr>
        <p:spPr>
          <a:xfrm>
            <a:off x="7757770" y="3847795"/>
            <a:ext cx="1714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Contractual minimums</a:t>
            </a:r>
            <a:endParaRPr lang="en-US" sz="1000"/>
          </a:p>
        </p:txBody>
      </p:sp>
      <p:sp>
        <p:nvSpPr>
          <p:cNvPr id="53" name="Text 43"/>
          <p:cNvSpPr txBox="1"/>
          <p:nvPr/>
        </p:nvSpPr>
        <p:spPr>
          <a:xfrm>
            <a:off x="9471355" y="3847795"/>
            <a:ext cx="19623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40% improvement threshold</a:t>
            </a:r>
            <a:endParaRPr lang="en-US" sz="1000"/>
          </a:p>
        </p:txBody>
      </p:sp>
      <p:sp>
        <p:nvSpPr>
          <p:cNvPr id="54" name="Shape 44"/>
          <p:cNvSpPr/>
          <p:nvPr/>
        </p:nvSpPr>
        <p:spPr>
          <a:xfrm>
            <a:off x="6381598" y="4324198"/>
            <a:ext cx="5201107" cy="590702"/>
          </a:xfrm>
          <a:prstGeom prst="rect">
            <a:avLst/>
          </a:prstGeom>
          <a:solidFill>
            <a:srgbClr val="2A9D8F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45"/>
          <p:cNvSpPr/>
          <p:nvPr/>
        </p:nvSpPr>
        <p:spPr>
          <a:xfrm>
            <a:off x="6381598" y="4905756"/>
            <a:ext cx="52011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6"/>
          <p:cNvSpPr txBox="1"/>
          <p:nvPr/>
        </p:nvSpPr>
        <p:spPr>
          <a:xfrm>
            <a:off x="6534302" y="4438498"/>
            <a:ext cx="12289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Coverage</a:t>
            </a:r>
            <a:endParaRPr lang="en-US" sz="1000"/>
          </a:p>
        </p:txBody>
      </p:sp>
      <p:sp>
        <p:nvSpPr>
          <p:cNvPr id="57" name="Text 47"/>
          <p:cNvSpPr txBox="1"/>
          <p:nvPr/>
        </p:nvSpPr>
        <p:spPr>
          <a:xfrm>
            <a:off x="7757770" y="4438498"/>
            <a:ext cx="1714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Single-function specialization</a:t>
            </a:r>
            <a:endParaRPr lang="en-US" sz="1000"/>
          </a:p>
        </p:txBody>
      </p:sp>
      <p:sp>
        <p:nvSpPr>
          <p:cNvPr id="58" name="Text 48"/>
          <p:cNvSpPr txBox="1"/>
          <p:nvPr/>
        </p:nvSpPr>
        <p:spPr>
          <a:xfrm>
            <a:off x="9471355" y="4438498"/>
            <a:ext cx="19623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Cross-stack: SAP, ServiceNow, Salesforce + more</a:t>
            </a:r>
            <a:endParaRPr lang="en-US" sz="1000"/>
          </a:p>
        </p:txBody>
      </p:sp>
      <p:sp>
        <p:nvSpPr>
          <p:cNvPr id="59" name="Shape 49"/>
          <p:cNvSpPr/>
          <p:nvPr/>
        </p:nvSpPr>
        <p:spPr>
          <a:xfrm>
            <a:off x="6381598" y="5496458"/>
            <a:ext cx="5201107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0"/>
          <p:cNvSpPr txBox="1"/>
          <p:nvPr/>
        </p:nvSpPr>
        <p:spPr>
          <a:xfrm>
            <a:off x="6534302" y="5029200"/>
            <a:ext cx="12289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Knowledge Retention</a:t>
            </a:r>
            <a:endParaRPr lang="en-US" sz="1000"/>
          </a:p>
        </p:txBody>
      </p:sp>
      <p:sp>
        <p:nvSpPr>
          <p:cNvPr id="61" name="Text 51"/>
          <p:cNvSpPr txBox="1"/>
          <p:nvPr/>
        </p:nvSpPr>
        <p:spPr>
          <a:xfrm>
            <a:off x="7757770" y="5029200"/>
            <a:ext cx="17145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Exits with the team</a:t>
            </a:r>
            <a:endParaRPr lang="en-US" sz="1000"/>
          </a:p>
        </p:txBody>
      </p:sp>
      <p:sp>
        <p:nvSpPr>
          <p:cNvPr id="62" name="Text 52"/>
          <p:cNvSpPr txBox="1"/>
          <p:nvPr/>
        </p:nvSpPr>
        <p:spPr>
          <a:xfrm>
            <a:off x="9471355" y="5029200"/>
            <a:ext cx="19623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Captured, compounding, stays with you</a:t>
            </a:r>
            <a:endParaRPr lang="en-US" sz="1000"/>
          </a:p>
        </p:txBody>
      </p:sp>
      <p:sp>
        <p:nvSpPr>
          <p:cNvPr id="63" name="Shape 53"/>
          <p:cNvSpPr/>
          <p:nvPr/>
        </p:nvSpPr>
        <p:spPr>
          <a:xfrm>
            <a:off x="6381598" y="5505602"/>
            <a:ext cx="5201107" cy="590702"/>
          </a:xfrm>
          <a:prstGeom prst="rect">
            <a:avLst/>
          </a:prstGeom>
          <a:solidFill>
            <a:srgbClr val="2A9D8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4"/>
          <p:cNvSpPr txBox="1"/>
          <p:nvPr/>
        </p:nvSpPr>
        <p:spPr>
          <a:xfrm>
            <a:off x="6534302" y="5619902"/>
            <a:ext cx="12289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7415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Readiness</a:t>
            </a:r>
            <a:endParaRPr lang="en-US" sz="1000"/>
          </a:p>
        </p:txBody>
      </p:sp>
      <p:sp>
        <p:nvSpPr>
          <p:cNvPr id="65" name="Text 55"/>
          <p:cNvSpPr txBox="1"/>
          <p:nvPr/>
        </p:nvSpPr>
        <p:spPr>
          <a:xfrm>
            <a:off x="7757770" y="5619902"/>
            <a:ext cx="1714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7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Optional add-on</a:t>
            </a:r>
            <a:endParaRPr lang="en-US" sz="1000"/>
          </a:p>
        </p:txBody>
      </p:sp>
      <p:sp>
        <p:nvSpPr>
          <p:cNvPr id="66" name="Text 56"/>
          <p:cNvSpPr txBox="1"/>
          <p:nvPr/>
        </p:nvSpPr>
        <p:spPr>
          <a:xfrm>
            <a:off x="9471355" y="5619902"/>
            <a:ext cx="19623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Embedded from Day 1</a:t>
            </a:r>
            <a:endParaRPr lang="en-US" sz="1000"/>
          </a:p>
        </p:txBody>
      </p:sp>
      <p:sp>
        <p:nvSpPr>
          <p:cNvPr id="67" name="Text 57"/>
          <p:cNvSpPr txBox="1"/>
          <p:nvPr/>
        </p:nvSpPr>
        <p:spPr>
          <a:xfrm>
            <a:off x="800100" y="6245352"/>
            <a:ext cx="105924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scattered pilots to governed programs. From manual reporting to real-time intelligence. From legacy stacks to modernized platforms. </a:t>
            </a:r>
            <a:r>
              <a:rPr lang="en-US" sz="1100" b="1">
                <a:solidFill>
                  <a:srgbClr val="2A9D8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J2W Managed Solutions operate until the outcome is real - then keep compounding.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743683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382305" y="-1429207"/>
            <a:ext cx="4762195" cy="4762195"/>
          </a:xfrm>
          <a:prstGeom prst="ellipse">
            <a:avLst/>
          </a:prstGeom>
          <a:noFill/>
          <a:ln w="508000">
            <a:solidFill>
              <a:srgbClr val="D62839">
                <a:alpha val="3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60" r="-360"/>
          <a:stretch/>
        </p:blipFill>
        <p:spPr>
          <a:xfrm>
            <a:off x="609905" y="514807"/>
            <a:ext cx="57607" cy="3813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9302" y="381305"/>
            <a:ext cx="60103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-56" normalizeH="0" baseline="0" noProof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Strategic Managed Services Offerings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19302" y="761695"/>
            <a:ext cx="60103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68" normalizeH="0" baseline="0" noProof="0">
                <a:ln>
                  <a:noFill/>
                </a:ln>
                <a:solidFill>
                  <a:srgbClr val="2A9D8F"/>
                </a:solidFill>
                <a:effectLst/>
                <a:uLnTx/>
                <a:uFillTx/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COMPREHENSIVE CAPABILITIES DRIVING DIGITAL TRANSFORMATION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09905" y="1257300"/>
            <a:ext cx="5372100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09905" y="1257300"/>
            <a:ext cx="38405" cy="952805"/>
          </a:xfrm>
          <a:prstGeom prst="roundRect">
            <a:avLst>
              <a:gd name="adj" fmla="val 380950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0956" y="1380744"/>
            <a:ext cx="400507" cy="400507"/>
          </a:xfrm>
          <a:prstGeom prst="ellipse">
            <a:avLst/>
          </a:prstGeom>
          <a:solidFill>
            <a:srgbClr val="2A9D8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5256" y="1495044"/>
            <a:ext cx="171907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26287" y="1819656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2A9D8F">
                    <a:alpha val="60000"/>
                  </a:srgbClr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1371600" y="1380744"/>
            <a:ext cx="4601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4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AI Solutions (AI CoE)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1371600" y="1602029"/>
            <a:ext cx="45628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GenAI strategies, agents, LLM workflows, predictive models, knowledge bots, and enterprise-grade AI governance &amp; value realization frameworks.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210605" y="1257300"/>
            <a:ext cx="5372100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210605" y="1257300"/>
            <a:ext cx="38405" cy="952805"/>
          </a:xfrm>
          <a:prstGeom prst="roundRect">
            <a:avLst>
              <a:gd name="adj" fmla="val 380950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391656" y="1380744"/>
            <a:ext cx="400507" cy="400507"/>
          </a:xfrm>
          <a:prstGeom prst="ellipse">
            <a:avLst/>
          </a:prstGeom>
          <a:solidFill>
            <a:srgbClr val="D62839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05956" y="1495044"/>
            <a:ext cx="171907" cy="17190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16929" y="1819656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D62839">
                    <a:alpha val="60000"/>
                  </a:srgbClr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06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6972300" y="1380744"/>
            <a:ext cx="4601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4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Quality Engineering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6972300" y="1602029"/>
            <a:ext cx="45628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Intelligent QA and Test Automation at scale - covering functional, performance, security, CI/CD pipelines, and TaaS delivery pods.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609905" y="2324405"/>
            <a:ext cx="5372100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09905" y="2324405"/>
            <a:ext cx="38405" cy="952805"/>
          </a:xfrm>
          <a:prstGeom prst="roundRect">
            <a:avLst>
              <a:gd name="adj" fmla="val 380950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790956" y="2447849"/>
            <a:ext cx="400507" cy="400507"/>
          </a:xfrm>
          <a:prstGeom prst="ellipse">
            <a:avLst/>
          </a:prstGeom>
          <a:solidFill>
            <a:srgbClr val="D62839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t="-2725" b="-2725"/>
          <a:stretch/>
        </p:blipFill>
        <p:spPr>
          <a:xfrm>
            <a:off x="918972" y="2562149"/>
            <a:ext cx="142646" cy="17190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18058" y="2885846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D62839">
                    <a:alpha val="60000"/>
                  </a:srgbClr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1"/>
          <p:cNvSpPr txBox="1"/>
          <p:nvPr/>
        </p:nvSpPr>
        <p:spPr>
          <a:xfrm>
            <a:off x="1371600" y="2447849"/>
            <a:ext cx="4601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4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Data Migration &amp; Infra Support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1371600" y="2669134"/>
            <a:ext cx="45628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Seamless migration across on-prem &amp; cloud, with data quality, cleansing, secure pipelines, infra ops, and cloud governance across AWS/Azure/GCP.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6210605" y="2324405"/>
            <a:ext cx="5372100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6210605" y="2324405"/>
            <a:ext cx="38405" cy="952805"/>
          </a:xfrm>
          <a:prstGeom prst="roundRect">
            <a:avLst>
              <a:gd name="adj" fmla="val 380950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6391656" y="2447849"/>
            <a:ext cx="400507" cy="400507"/>
          </a:xfrm>
          <a:prstGeom prst="ellipse">
            <a:avLst/>
          </a:prstGeom>
          <a:solidFill>
            <a:srgbClr val="2A9D8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05956" y="2562149"/>
            <a:ext cx="171907" cy="171907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523330" y="2885846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2A9D8F">
                    <a:alpha val="60000"/>
                  </a:srgbClr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07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7"/>
          <p:cNvSpPr txBox="1"/>
          <p:nvPr/>
        </p:nvSpPr>
        <p:spPr>
          <a:xfrm>
            <a:off x="6972300" y="2447849"/>
            <a:ext cx="4601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4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Call Centre Optimization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8"/>
          <p:cNvSpPr txBox="1"/>
          <p:nvPr/>
        </p:nvSpPr>
        <p:spPr>
          <a:xfrm>
            <a:off x="6972300" y="2669134"/>
            <a:ext cx="45628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Transforming contact centers through operational assessment, workforce analytics, real-time dashboards, agent assist AI, and IVA-based automation.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609905" y="3390595"/>
            <a:ext cx="5372100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609905" y="3390595"/>
            <a:ext cx="38405" cy="952805"/>
          </a:xfrm>
          <a:prstGeom prst="roundRect">
            <a:avLst>
              <a:gd name="adj" fmla="val 380950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1"/>
          <p:cNvSpPr/>
          <p:nvPr/>
        </p:nvSpPr>
        <p:spPr>
          <a:xfrm>
            <a:off x="790956" y="3514954"/>
            <a:ext cx="400507" cy="400507"/>
          </a:xfrm>
          <a:prstGeom prst="ellipse">
            <a:avLst/>
          </a:prstGeom>
          <a:solidFill>
            <a:srgbClr val="2A9D8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05256" y="3629254"/>
            <a:ext cx="171907" cy="171907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918058" y="395295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2A9D8F">
                    <a:alpha val="60000"/>
                  </a:srgbClr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3"/>
          <p:cNvSpPr txBox="1"/>
          <p:nvPr/>
        </p:nvSpPr>
        <p:spPr>
          <a:xfrm>
            <a:off x="1371600" y="3514954"/>
            <a:ext cx="4601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4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Cybersecurity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4"/>
          <p:cNvSpPr txBox="1"/>
          <p:nvPr/>
        </p:nvSpPr>
        <p:spPr>
          <a:xfrm>
            <a:off x="1371600" y="3735324"/>
            <a:ext cx="45628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Full-spectrum security including assessment, red-team, cloud security, managed SOC/MDR, compliance (ISO, PCI, RBI), incident response &amp; digital forensics.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6210605" y="3390595"/>
            <a:ext cx="5372100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6210605" y="3390595"/>
            <a:ext cx="38405" cy="952805"/>
          </a:xfrm>
          <a:prstGeom prst="roundRect">
            <a:avLst>
              <a:gd name="adj" fmla="val 380950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6391656" y="3514954"/>
            <a:ext cx="400507" cy="400507"/>
          </a:xfrm>
          <a:prstGeom prst="ellipse">
            <a:avLst/>
          </a:prstGeom>
          <a:solidFill>
            <a:srgbClr val="D62839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rcRect t="-2725" b="-2725"/>
          <a:stretch/>
        </p:blipFill>
        <p:spPr>
          <a:xfrm>
            <a:off x="6519672" y="3629254"/>
            <a:ext cx="142646" cy="171907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6517843" y="3952951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D62839">
                    <a:alpha val="60000"/>
                  </a:srgbClr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08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39"/>
          <p:cNvSpPr txBox="1"/>
          <p:nvPr/>
        </p:nvSpPr>
        <p:spPr>
          <a:xfrm>
            <a:off x="6972300" y="3514954"/>
            <a:ext cx="4601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4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SAP Services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0"/>
          <p:cNvSpPr txBox="1"/>
          <p:nvPr/>
        </p:nvSpPr>
        <p:spPr>
          <a:xfrm>
            <a:off x="6972300" y="3735324"/>
            <a:ext cx="45628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End-to-end SAP modernization - from S/4HANA migrations to BTP, Fiori, SuccessFactors, and enterprise-wide rollout with managed SAP support.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1"/>
          <p:cNvSpPr/>
          <p:nvPr/>
        </p:nvSpPr>
        <p:spPr>
          <a:xfrm>
            <a:off x="609905" y="4457700"/>
            <a:ext cx="5372100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2"/>
          <p:cNvSpPr/>
          <p:nvPr/>
        </p:nvSpPr>
        <p:spPr>
          <a:xfrm>
            <a:off x="609905" y="4457700"/>
            <a:ext cx="38405" cy="952805"/>
          </a:xfrm>
          <a:prstGeom prst="roundRect">
            <a:avLst>
              <a:gd name="adj" fmla="val 380950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43"/>
          <p:cNvSpPr/>
          <p:nvPr/>
        </p:nvSpPr>
        <p:spPr>
          <a:xfrm>
            <a:off x="790956" y="4581144"/>
            <a:ext cx="400507" cy="400507"/>
          </a:xfrm>
          <a:prstGeom prst="ellipse">
            <a:avLst/>
          </a:prstGeom>
          <a:solidFill>
            <a:srgbClr val="D62839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0"/>
          <a:srcRect t="-1310" b="-1310"/>
          <a:stretch/>
        </p:blipFill>
        <p:spPr>
          <a:xfrm>
            <a:off x="886054" y="4695444"/>
            <a:ext cx="209398" cy="171907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917143" y="5020056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D62839">
                    <a:alpha val="60000"/>
                  </a:srgbClr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45"/>
          <p:cNvSpPr txBox="1"/>
          <p:nvPr/>
        </p:nvSpPr>
        <p:spPr>
          <a:xfrm>
            <a:off x="1371600" y="4581144"/>
            <a:ext cx="4601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4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Digital Engineering &amp; Automation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46"/>
          <p:cNvSpPr txBox="1"/>
          <p:nvPr/>
        </p:nvSpPr>
        <p:spPr>
          <a:xfrm>
            <a:off x="1371600" y="4802429"/>
            <a:ext cx="45628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Spanning full-stack &amp; UI/UX development, intelligent automation, AI-augmented RPA, and end-to-end process orchestration.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47"/>
          <p:cNvSpPr/>
          <p:nvPr/>
        </p:nvSpPr>
        <p:spPr>
          <a:xfrm>
            <a:off x="6210605" y="4457700"/>
            <a:ext cx="5372100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48"/>
          <p:cNvSpPr/>
          <p:nvPr/>
        </p:nvSpPr>
        <p:spPr>
          <a:xfrm>
            <a:off x="6210605" y="4457700"/>
            <a:ext cx="38405" cy="952805"/>
          </a:xfrm>
          <a:prstGeom prst="roundRect">
            <a:avLst>
              <a:gd name="adj" fmla="val 380950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49"/>
          <p:cNvSpPr/>
          <p:nvPr/>
        </p:nvSpPr>
        <p:spPr>
          <a:xfrm>
            <a:off x="6391656" y="4581144"/>
            <a:ext cx="400507" cy="400507"/>
          </a:xfrm>
          <a:prstGeom prst="ellipse">
            <a:avLst/>
          </a:prstGeom>
          <a:solidFill>
            <a:srgbClr val="2A9D8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0" name="Image 8" descr="preencoded.png"/>
          <p:cNvPicPr>
            <a:picLocks noChangeAspect="1"/>
          </p:cNvPicPr>
          <p:nvPr/>
        </p:nvPicPr>
        <p:blipFill>
          <a:blip r:embed="rId11"/>
          <a:srcRect t="-1310" b="-1310"/>
          <a:stretch/>
        </p:blipFill>
        <p:spPr>
          <a:xfrm>
            <a:off x="6486754" y="4695444"/>
            <a:ext cx="209398" cy="171907"/>
          </a:xfrm>
          <a:prstGeom prst="rect">
            <a:avLst/>
          </a:prstGeom>
        </p:spPr>
      </p:pic>
      <p:sp>
        <p:nvSpPr>
          <p:cNvPr id="61" name="Text 50"/>
          <p:cNvSpPr txBox="1"/>
          <p:nvPr/>
        </p:nvSpPr>
        <p:spPr>
          <a:xfrm>
            <a:off x="6516929" y="5020056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2A9D8F">
                    <a:alpha val="60000"/>
                  </a:srgbClr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09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51"/>
          <p:cNvSpPr txBox="1"/>
          <p:nvPr/>
        </p:nvSpPr>
        <p:spPr>
          <a:xfrm>
            <a:off x="6972300" y="4581144"/>
            <a:ext cx="4601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4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Salesforce Services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52"/>
          <p:cNvSpPr txBox="1"/>
          <p:nvPr/>
        </p:nvSpPr>
        <p:spPr>
          <a:xfrm>
            <a:off x="6972300" y="4802429"/>
            <a:ext cx="45628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Complete Salesforce transformation across Sales, Service, Marketing, Financial Services Cloud, and MuleSoft - backed by org audits and managed support.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53"/>
          <p:cNvSpPr/>
          <p:nvPr/>
        </p:nvSpPr>
        <p:spPr>
          <a:xfrm>
            <a:off x="609905" y="5524805"/>
            <a:ext cx="5372100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54"/>
          <p:cNvSpPr/>
          <p:nvPr/>
        </p:nvSpPr>
        <p:spPr>
          <a:xfrm>
            <a:off x="609905" y="5524805"/>
            <a:ext cx="38405" cy="952805"/>
          </a:xfrm>
          <a:prstGeom prst="roundRect">
            <a:avLst>
              <a:gd name="adj" fmla="val 380950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55"/>
          <p:cNvSpPr/>
          <p:nvPr/>
        </p:nvSpPr>
        <p:spPr>
          <a:xfrm>
            <a:off x="790956" y="5648249"/>
            <a:ext cx="400507" cy="400507"/>
          </a:xfrm>
          <a:prstGeom prst="ellipse">
            <a:avLst/>
          </a:prstGeom>
          <a:solidFill>
            <a:srgbClr val="2A9D8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7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05256" y="5762549"/>
            <a:ext cx="171907" cy="171907"/>
          </a:xfrm>
          <a:prstGeom prst="rect">
            <a:avLst/>
          </a:prstGeom>
        </p:spPr>
      </p:pic>
      <p:sp>
        <p:nvSpPr>
          <p:cNvPr id="68" name="Text 56"/>
          <p:cNvSpPr txBox="1"/>
          <p:nvPr/>
        </p:nvSpPr>
        <p:spPr>
          <a:xfrm>
            <a:off x="918058" y="6086246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2A9D8F">
                    <a:alpha val="60000"/>
                  </a:srgbClr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57"/>
          <p:cNvSpPr txBox="1"/>
          <p:nvPr/>
        </p:nvSpPr>
        <p:spPr>
          <a:xfrm>
            <a:off x="1371600" y="5648249"/>
            <a:ext cx="4601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4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Data Analytics &amp; Dashboarding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58"/>
          <p:cNvSpPr txBox="1"/>
          <p:nvPr/>
        </p:nvSpPr>
        <p:spPr>
          <a:xfrm>
            <a:off x="1371600" y="5869534"/>
            <a:ext cx="45628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dashboards across Power BI, Tableau, and Qlik - enabling real-time operational, financial, and leadership insights.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59"/>
          <p:cNvSpPr/>
          <p:nvPr/>
        </p:nvSpPr>
        <p:spPr>
          <a:xfrm>
            <a:off x="6210605" y="5524805"/>
            <a:ext cx="5372100" cy="952805"/>
          </a:xfrm>
          <a:prstGeom prst="roundRect">
            <a:avLst>
              <a:gd name="adj" fmla="val 15355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60"/>
          <p:cNvSpPr/>
          <p:nvPr/>
        </p:nvSpPr>
        <p:spPr>
          <a:xfrm>
            <a:off x="6210605" y="5524805"/>
            <a:ext cx="38405" cy="952805"/>
          </a:xfrm>
          <a:prstGeom prst="roundRect">
            <a:avLst>
              <a:gd name="adj" fmla="val 380950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61"/>
          <p:cNvSpPr/>
          <p:nvPr/>
        </p:nvSpPr>
        <p:spPr>
          <a:xfrm>
            <a:off x="6391656" y="5648249"/>
            <a:ext cx="400507" cy="400507"/>
          </a:xfrm>
          <a:prstGeom prst="ellipse">
            <a:avLst/>
          </a:prstGeom>
          <a:solidFill>
            <a:srgbClr val="D62839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4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505956" y="5762549"/>
            <a:ext cx="171907" cy="171907"/>
          </a:xfrm>
          <a:prstGeom prst="rect">
            <a:avLst/>
          </a:prstGeom>
        </p:spPr>
      </p:pic>
      <p:sp>
        <p:nvSpPr>
          <p:cNvPr id="75" name="Text 62"/>
          <p:cNvSpPr txBox="1"/>
          <p:nvPr/>
        </p:nvSpPr>
        <p:spPr>
          <a:xfrm>
            <a:off x="6526987" y="6086246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D62839">
                    <a:alpha val="60000"/>
                  </a:srgbClr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10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 63"/>
          <p:cNvSpPr txBox="1"/>
          <p:nvPr/>
        </p:nvSpPr>
        <p:spPr>
          <a:xfrm>
            <a:off x="6972300" y="5648249"/>
            <a:ext cx="4601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4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swald" pitchFamily="34" charset="0"/>
                <a:ea typeface="Oswald" pitchFamily="34" charset="-122"/>
                <a:cs typeface="Oswald" pitchFamily="34" charset="-120"/>
              </a:rPr>
              <a:t>ServiceNow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64"/>
          <p:cNvSpPr txBox="1"/>
          <p:nvPr/>
        </p:nvSpPr>
        <p:spPr>
          <a:xfrm>
            <a:off x="6972300" y="5869534"/>
            <a:ext cx="45628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End-to-end ServiceNow enablement across ITSM, ITOM, CSM, CMDB, automation workflows, and CoE setup for scalable, multi-instance operations.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8" name="Image 11" descr="preencoded.png"/>
          <p:cNvPicPr>
            <a:picLocks noChangeAspect="1"/>
          </p:cNvPicPr>
          <p:nvPr/>
        </p:nvPicPr>
        <p:blipFill>
          <a:blip r:embed="rId14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79" name="Image 12" descr="preencoded.png"/>
          <p:cNvPicPr>
            <a:picLocks noChangeAspect="1"/>
          </p:cNvPicPr>
          <p:nvPr/>
        </p:nvPicPr>
        <p:blipFill>
          <a:blip r:embed="rId15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767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31952</Words>
  <Application>Microsoft Office PowerPoint</Application>
  <PresentationFormat>Widescreen</PresentationFormat>
  <Paragraphs>3438</Paragraphs>
  <Slides>132</Slides>
  <Notes>132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39" baseType="lpstr">
      <vt:lpstr>Aptos</vt:lpstr>
      <vt:lpstr>Arial</vt:lpstr>
      <vt:lpstr>Calibri</vt:lpstr>
      <vt:lpstr>Oswald</vt:lpstr>
      <vt:lpstr>Raleway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Case Study Portfolio</dc:title>
  <dc:subject>PptxGenJS Presentation</dc:subject>
  <dc:creator>J2W</dc:creator>
  <cp:lastModifiedBy>Athithia Krishna</cp:lastModifiedBy>
  <cp:revision>4</cp:revision>
  <dcterms:created xsi:type="dcterms:W3CDTF">2026-06-22T10:46:20Z</dcterms:created>
  <dcterms:modified xsi:type="dcterms:W3CDTF">2026-06-23T05:19:06Z</dcterms:modified>
</cp:coreProperties>
</file>