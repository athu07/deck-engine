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J2W_TEMPLATE: case_study_v2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5852160" cy="9144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852160" y="0"/>
            <a:ext cx="6336792" cy="9144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8600" y="310896"/>
            <a:ext cx="59436" cy="73152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310896"/>
            <a:ext cx="11384280" cy="731520"/>
          </a:xfrm>
          <a:prstGeom prst="rect">
            <a:avLst/>
          </a:prstGeom>
          <a:noFill/>
        </p:spPr>
        <p:txBody>
          <a:bodyPr wrap="square" tIns="0" bIns="0" lIns="0" rIns="0">
            <a:spAutoFit/>
          </a:bodyPr>
          <a:lstStyle/>
          <a:p>
            <a:pPr algn="l"/>
            <a:r>
              <a:rPr sz="2400" b="1">
                <a:solidFill>
                  <a:srgbClr val="C02026"/>
                </a:solidFill>
                <a:latin typeface="Oswald"/>
              </a:rPr>
              <a:t>CASE STUDY: </a:t>
            </a:r>
            <a:r>
              <a:rPr sz="2400" b="1">
                <a:solidFill>
                  <a:srgbClr val="111110"/>
                </a:solidFill>
                <a:latin typeface="Oswald"/>
              </a:rPr>
              <a:t>PROCUREMENT CYCLE COMPRESSION</a:t>
            </a:r>
          </a:p>
        </p:txBody>
      </p:sp>
      <p:sp>
        <p:nvSpPr>
          <p:cNvPr id="6" name="TextBox 5"/>
          <p:cNvSpPr txBox="1"/>
          <p:nvPr/>
        </p:nvSpPr>
        <p:spPr>
          <a:xfrm>
            <a:off x="402336" y="804672"/>
            <a:ext cx="11384280" cy="274320"/>
          </a:xfrm>
          <a:prstGeom prst="rect">
            <a:avLst/>
          </a:prstGeom>
          <a:noFill/>
        </p:spPr>
        <p:txBody>
          <a:bodyPr wrap="square" tIns="0" bIns="0" lIns="0" rIns="0">
            <a:spAutoFit/>
          </a:bodyPr>
          <a:lstStyle/>
          <a:p>
            <a:pPr algn="l"/>
            <a:r>
              <a:rPr sz="1500" b="1">
                <a:solidFill>
                  <a:srgbClr val="3A8B82"/>
                </a:solidFill>
                <a:latin typeface="Oswald"/>
              </a:rPr>
              <a:t>CLIENT: Leading Manufacturing Enterprise  |  DOMAIN: Manufacturing</a:t>
            </a:r>
          </a:p>
        </p:txBody>
      </p:sp>
      <p:sp>
        <p:nvSpPr>
          <p:cNvPr id="7" name="Rectangle 6"/>
          <p:cNvSpPr/>
          <p:nvPr/>
        </p:nvSpPr>
        <p:spPr>
          <a:xfrm>
            <a:off x="228600" y="1280160"/>
            <a:ext cx="59436" cy="1828800"/>
          </a:xfrm>
          <a:prstGeom prst="rect">
            <a:avLst/>
          </a:prstGeom>
          <a:solidFill>
            <a:srgbClr val="C020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88036" y="1280160"/>
            <a:ext cx="53949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344168"/>
            <a:ext cx="5166360" cy="292608"/>
          </a:xfrm>
          <a:prstGeom prst="rect">
            <a:avLst/>
          </a:prstGeom>
          <a:noFill/>
        </p:spPr>
        <p:txBody>
          <a:bodyPr wrap="square" tIns="0" bIns="0" lIns="0" rIns="0">
            <a:spAutoFit/>
          </a:bodyPr>
          <a:lstStyle/>
          <a:p>
            <a:pPr algn="l"/>
            <a:r>
              <a:rPr sz="1300" b="1">
                <a:solidFill>
                  <a:srgbClr val="111110"/>
                </a:solidFill>
                <a:latin typeface="Helvetica"/>
              </a:rPr>
              <a:t>The Challenge</a:t>
            </a:r>
          </a:p>
        </p:txBody>
      </p:sp>
      <p:sp>
        <p:nvSpPr>
          <p:cNvPr id="10" name="TextBox 9"/>
          <p:cNvSpPr txBox="1"/>
          <p:nvPr/>
        </p:nvSpPr>
        <p:spPr>
          <a:xfrm>
            <a:off x="411480" y="1691640"/>
            <a:ext cx="5166360" cy="1353312"/>
          </a:xfrm>
          <a:prstGeom prst="rect">
            <a:avLst/>
          </a:prstGeom>
          <a:noFill/>
        </p:spPr>
        <p:txBody>
          <a:bodyPr wrap="square" tIns="0" bIns="0" lIns="0" rIns="0">
            <a:normAutofit/>
          </a:bodyPr>
          <a:lstStyle/>
          <a:p>
            <a:pPr algn="l"/>
            <a:r>
              <a:rPr sz="1100" b="0">
                <a:solidFill>
                  <a:srgbClr val="3E3E3E"/>
                </a:solidFill>
                <a:latin typeface="Helvetica"/>
              </a:rPr>
              <a:t>A manufacturing company in active scale-up was running its entire procurement operation on calls, emails, and spreadsheets maintained by individual buyers. Vendor quotes arrived in different formats, approval chains had no single owner, and PO status existed only in people's heads. Fragmentation was invisible until production timelines started slipping, not because of supply failures, but because internal procurement had become the bottleneck. A missed approval or untracked PO became a line stoppage.</a:t>
            </a:r>
          </a:p>
        </p:txBody>
      </p:sp>
      <p:sp>
        <p:nvSpPr>
          <p:cNvPr id="11" name="Rectangle 10"/>
          <p:cNvSpPr/>
          <p:nvPr/>
        </p:nvSpPr>
        <p:spPr>
          <a:xfrm>
            <a:off x="6007607" y="1280160"/>
            <a:ext cx="59436" cy="1828800"/>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67044" y="1280160"/>
            <a:ext cx="5852160" cy="1828800"/>
          </a:xfrm>
          <a:prstGeom prst="rect">
            <a:avLst/>
          </a:prstGeom>
          <a:solidFill>
            <a:srgbClr val="FFFFFF"/>
          </a:solidFill>
          <a:ln w="635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85916" y="1344168"/>
            <a:ext cx="5614416" cy="292608"/>
          </a:xfrm>
          <a:prstGeom prst="rect">
            <a:avLst/>
          </a:prstGeom>
          <a:noFill/>
        </p:spPr>
        <p:txBody>
          <a:bodyPr wrap="square" tIns="0" bIns="0" lIns="0" rIns="0">
            <a:spAutoFit/>
          </a:bodyPr>
          <a:lstStyle/>
          <a:p>
            <a:pPr algn="l"/>
            <a:r>
              <a:rPr sz="1300" b="1">
                <a:solidFill>
                  <a:srgbClr val="111110"/>
                </a:solidFill>
                <a:latin typeface="Helvetica"/>
              </a:rPr>
              <a:t>The Solution</a:t>
            </a:r>
          </a:p>
        </p:txBody>
      </p:sp>
      <p:sp>
        <p:nvSpPr>
          <p:cNvPr id="14" name="TextBox 13"/>
          <p:cNvSpPr txBox="1"/>
          <p:nvPr/>
        </p:nvSpPr>
        <p:spPr>
          <a:xfrm>
            <a:off x="6185916" y="1691640"/>
            <a:ext cx="5614416" cy="1353312"/>
          </a:xfrm>
          <a:prstGeom prst="rect">
            <a:avLst/>
          </a:prstGeom>
          <a:noFill/>
        </p:spPr>
        <p:txBody>
          <a:bodyPr wrap="square" tIns="0" bIns="0" lIns="0" rIns="0">
            <a:normAutofit/>
          </a:bodyPr>
          <a:lstStyle/>
          <a:p>
            <a:pPr algn="l"/>
            <a:r>
              <a:rPr sz="1100" b="0">
                <a:solidFill>
                  <a:srgbClr val="3E3E3E"/>
                </a:solidFill>
                <a:latin typeface="Helvetica"/>
              </a:rPr>
              <a:t>A fully digitized procure-to-pay system replaced the manual chain from indent to payment. Vendors receive structured RFQs through WhatsApp and respond in a format the system reads directly. Approval routing executes against the client's actual hierarchy without chasing. Every PO moves through a tracked lifecycle with real-time visibility at each stage. The procurement team now operates from one platform instead of a scatter of inboxes and files.</a:t>
            </a:r>
          </a:p>
        </p:txBody>
      </p:sp>
      <p:sp>
        <p:nvSpPr>
          <p:cNvPr id="15" name="TextBox 14"/>
          <p:cNvSpPr txBox="1"/>
          <p:nvPr/>
        </p:nvSpPr>
        <p:spPr>
          <a:xfrm>
            <a:off x="256032" y="3200400"/>
            <a:ext cx="6400800" cy="256032"/>
          </a:xfrm>
          <a:prstGeom prst="rect">
            <a:avLst/>
          </a:prstGeom>
          <a:noFill/>
        </p:spPr>
        <p:txBody>
          <a:bodyPr wrap="square" tIns="0" bIns="0" lIns="0" rIns="0">
            <a:spAutoFit/>
          </a:bodyPr>
          <a:lstStyle/>
          <a:p>
            <a:pPr algn="l"/>
            <a:r>
              <a:rPr sz="1400" b="0">
                <a:solidFill>
                  <a:srgbClr val="3A8B82"/>
                </a:solidFill>
                <a:latin typeface="Helvetica"/>
              </a:rPr>
              <a:t>Key Capabilities Developed</a:t>
            </a:r>
          </a:p>
        </p:txBody>
      </p:sp>
      <p:sp>
        <p:nvSpPr>
          <p:cNvPr id="16" name="Rectangle 15"/>
          <p:cNvSpPr/>
          <p:nvPr/>
        </p:nvSpPr>
        <p:spPr>
          <a:xfrm>
            <a:off x="256032"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3575303"/>
            <a:ext cx="3611880" cy="237744"/>
          </a:xfrm>
          <a:prstGeom prst="rect">
            <a:avLst/>
          </a:prstGeom>
          <a:noFill/>
        </p:spPr>
        <p:txBody>
          <a:bodyPr wrap="square" tIns="0" bIns="0" lIns="0" rIns="0">
            <a:spAutoFit/>
          </a:bodyPr>
          <a:lstStyle/>
          <a:p>
            <a:pPr algn="l"/>
            <a:r>
              <a:rPr sz="1300" b="1">
                <a:solidFill>
                  <a:srgbClr val="111110"/>
                </a:solidFill>
                <a:latin typeface="Helvetica"/>
              </a:rPr>
              <a:t>End-to-End Procurement Execution</a:t>
            </a:r>
          </a:p>
        </p:txBody>
      </p:sp>
      <p:sp>
        <p:nvSpPr>
          <p:cNvPr id="18" name="TextBox 17"/>
          <p:cNvSpPr txBox="1"/>
          <p:nvPr/>
        </p:nvSpPr>
        <p:spPr>
          <a:xfrm>
            <a:off x="365760" y="3840480"/>
            <a:ext cx="3611880" cy="512064"/>
          </a:xfrm>
          <a:prstGeom prst="rect">
            <a:avLst/>
          </a:prstGeom>
          <a:noFill/>
        </p:spPr>
        <p:txBody>
          <a:bodyPr wrap="square" tIns="0" bIns="0" lIns="0" rIns="0">
            <a:normAutofit/>
          </a:bodyPr>
          <a:lstStyle/>
          <a:p>
            <a:pPr algn="l"/>
            <a:r>
              <a:rPr sz="1100" b="0">
                <a:solidFill>
                  <a:srgbClr val="3E3E3E"/>
                </a:solidFill>
                <a:latin typeface="Helvetica"/>
              </a:rPr>
              <a:t>Covers the full cycle from requisition to final payment on one platform, eliminating handoff gaps between steps.</a:t>
            </a:r>
          </a:p>
        </p:txBody>
      </p:sp>
      <p:sp>
        <p:nvSpPr>
          <p:cNvPr id="19" name="Rectangle 18"/>
          <p:cNvSpPr/>
          <p:nvPr/>
        </p:nvSpPr>
        <p:spPr>
          <a:xfrm>
            <a:off x="4183380"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3108" y="3575303"/>
            <a:ext cx="3611880" cy="237744"/>
          </a:xfrm>
          <a:prstGeom prst="rect">
            <a:avLst/>
          </a:prstGeom>
          <a:noFill/>
        </p:spPr>
        <p:txBody>
          <a:bodyPr wrap="square" tIns="0" bIns="0" lIns="0" rIns="0">
            <a:spAutoFit/>
          </a:bodyPr>
          <a:lstStyle/>
          <a:p>
            <a:pPr algn="l"/>
            <a:r>
              <a:rPr sz="1300" b="1">
                <a:solidFill>
                  <a:srgbClr val="111110"/>
                </a:solidFill>
                <a:latin typeface="Helvetica"/>
              </a:rPr>
              <a:t>Vendor Quote Collection via WhatsApp</a:t>
            </a:r>
          </a:p>
        </p:txBody>
      </p:sp>
      <p:sp>
        <p:nvSpPr>
          <p:cNvPr id="21" name="TextBox 20"/>
          <p:cNvSpPr txBox="1"/>
          <p:nvPr/>
        </p:nvSpPr>
        <p:spPr>
          <a:xfrm>
            <a:off x="4293108" y="3840480"/>
            <a:ext cx="3611880" cy="512064"/>
          </a:xfrm>
          <a:prstGeom prst="rect">
            <a:avLst/>
          </a:prstGeom>
          <a:noFill/>
        </p:spPr>
        <p:txBody>
          <a:bodyPr wrap="square" tIns="0" bIns="0" lIns="0" rIns="0">
            <a:normAutofit/>
          </a:bodyPr>
          <a:lstStyle/>
          <a:p>
            <a:pPr algn="l"/>
            <a:r>
              <a:rPr sz="1100" b="0">
                <a:solidFill>
                  <a:srgbClr val="3E3E3E"/>
                </a:solidFill>
                <a:latin typeface="Helvetica"/>
              </a:rPr>
              <a:t>Sends structured RFQs to suppliers and captures responses in a standard format, removing manual collation.</a:t>
            </a:r>
          </a:p>
        </p:txBody>
      </p:sp>
      <p:sp>
        <p:nvSpPr>
          <p:cNvPr id="22" name="Rectangle 21"/>
          <p:cNvSpPr/>
          <p:nvPr/>
        </p:nvSpPr>
        <p:spPr>
          <a:xfrm>
            <a:off x="8110728" y="3511296"/>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456" y="3575303"/>
            <a:ext cx="3611880" cy="237744"/>
          </a:xfrm>
          <a:prstGeom prst="rect">
            <a:avLst/>
          </a:prstGeom>
          <a:noFill/>
        </p:spPr>
        <p:txBody>
          <a:bodyPr wrap="square" tIns="0" bIns="0" lIns="0" rIns="0">
            <a:spAutoFit/>
          </a:bodyPr>
          <a:lstStyle/>
          <a:p>
            <a:pPr algn="l"/>
            <a:r>
              <a:rPr sz="1300" b="1">
                <a:solidFill>
                  <a:srgbClr val="111110"/>
                </a:solidFill>
                <a:latin typeface="Helvetica"/>
              </a:rPr>
              <a:t>Automated Approval Routing</a:t>
            </a:r>
          </a:p>
        </p:txBody>
      </p:sp>
      <p:sp>
        <p:nvSpPr>
          <p:cNvPr id="24" name="TextBox 23"/>
          <p:cNvSpPr txBox="1"/>
          <p:nvPr/>
        </p:nvSpPr>
        <p:spPr>
          <a:xfrm>
            <a:off x="8220456" y="3840480"/>
            <a:ext cx="3611880" cy="512064"/>
          </a:xfrm>
          <a:prstGeom prst="rect">
            <a:avLst/>
          </a:prstGeom>
          <a:noFill/>
        </p:spPr>
        <p:txBody>
          <a:bodyPr wrap="square" tIns="0" bIns="0" lIns="0" rIns="0">
            <a:normAutofit/>
          </a:bodyPr>
          <a:lstStyle/>
          <a:p>
            <a:pPr algn="l"/>
            <a:r>
              <a:rPr sz="1100" b="0">
                <a:solidFill>
                  <a:srgbClr val="3E3E3E"/>
                </a:solidFill>
                <a:latin typeface="Helvetica"/>
              </a:rPr>
              <a:t>Configurable chains trigger and escalate automatically by value, category, and department, with no follow-up required.</a:t>
            </a:r>
          </a:p>
        </p:txBody>
      </p:sp>
      <p:sp>
        <p:nvSpPr>
          <p:cNvPr id="25" name="Rectangle 24"/>
          <p:cNvSpPr/>
          <p:nvPr/>
        </p:nvSpPr>
        <p:spPr>
          <a:xfrm>
            <a:off x="256032"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4590288"/>
            <a:ext cx="3611880" cy="237744"/>
          </a:xfrm>
          <a:prstGeom prst="rect">
            <a:avLst/>
          </a:prstGeom>
          <a:noFill/>
        </p:spPr>
        <p:txBody>
          <a:bodyPr wrap="square" tIns="0" bIns="0" lIns="0" rIns="0">
            <a:spAutoFit/>
          </a:bodyPr>
          <a:lstStyle/>
          <a:p>
            <a:pPr algn="l"/>
            <a:r>
              <a:rPr sz="1300" b="1">
                <a:solidFill>
                  <a:srgbClr val="111110"/>
                </a:solidFill>
                <a:latin typeface="Helvetica"/>
              </a:rPr>
              <a:t>Purchase Order Lifecycle Tracking</a:t>
            </a:r>
          </a:p>
        </p:txBody>
      </p:sp>
      <p:sp>
        <p:nvSpPr>
          <p:cNvPr id="27" name="TextBox 26"/>
          <p:cNvSpPr txBox="1"/>
          <p:nvPr/>
        </p:nvSpPr>
        <p:spPr>
          <a:xfrm>
            <a:off x="365760" y="4855464"/>
            <a:ext cx="3611880" cy="512064"/>
          </a:xfrm>
          <a:prstGeom prst="rect">
            <a:avLst/>
          </a:prstGeom>
          <a:noFill/>
        </p:spPr>
        <p:txBody>
          <a:bodyPr wrap="square" tIns="0" bIns="0" lIns="0" rIns="0">
            <a:normAutofit/>
          </a:bodyPr>
          <a:lstStyle/>
          <a:p>
            <a:pPr algn="l"/>
            <a:r>
              <a:rPr sz="1100" b="0">
                <a:solidFill>
                  <a:srgbClr val="3E3E3E"/>
                </a:solidFill>
                <a:latin typeface="Helvetica"/>
              </a:rPr>
              <a:t>Real-time visibility from PO creation to goods receipt, so delays surface before they hit the line.</a:t>
            </a:r>
          </a:p>
        </p:txBody>
      </p:sp>
      <p:sp>
        <p:nvSpPr>
          <p:cNvPr id="28" name="Rectangle 27"/>
          <p:cNvSpPr/>
          <p:nvPr/>
        </p:nvSpPr>
        <p:spPr>
          <a:xfrm>
            <a:off x="4183380"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3108" y="4590288"/>
            <a:ext cx="3611880" cy="237744"/>
          </a:xfrm>
          <a:prstGeom prst="rect">
            <a:avLst/>
          </a:prstGeom>
          <a:noFill/>
        </p:spPr>
        <p:txBody>
          <a:bodyPr wrap="square" tIns="0" bIns="0" lIns="0" rIns="0">
            <a:spAutoFit/>
          </a:bodyPr>
          <a:lstStyle/>
          <a:p>
            <a:pPr algn="l"/>
            <a:r>
              <a:rPr sz="1300" b="1">
                <a:solidFill>
                  <a:srgbClr val="111110"/>
                </a:solidFill>
                <a:latin typeface="Helvetica"/>
              </a:rPr>
              <a:t>Vendor Performance Scoring</a:t>
            </a:r>
          </a:p>
        </p:txBody>
      </p:sp>
      <p:sp>
        <p:nvSpPr>
          <p:cNvPr id="30" name="TextBox 29"/>
          <p:cNvSpPr txBox="1"/>
          <p:nvPr/>
        </p:nvSpPr>
        <p:spPr>
          <a:xfrm>
            <a:off x="4293108" y="4855464"/>
            <a:ext cx="3611880" cy="512064"/>
          </a:xfrm>
          <a:prstGeom prst="rect">
            <a:avLst/>
          </a:prstGeom>
          <a:noFill/>
        </p:spPr>
        <p:txBody>
          <a:bodyPr wrap="square" tIns="0" bIns="0" lIns="0" rIns="0">
            <a:normAutofit/>
          </a:bodyPr>
          <a:lstStyle/>
          <a:p>
            <a:pPr algn="l"/>
            <a:r>
              <a:rPr sz="1100" b="0">
                <a:solidFill>
                  <a:srgbClr val="3E3E3E"/>
                </a:solidFill>
                <a:latin typeface="Helvetica"/>
              </a:rPr>
              <a:t>Tracks delivery reliability, quality, and pricing trends per supplier to inform future sourcing decisions.</a:t>
            </a:r>
          </a:p>
        </p:txBody>
      </p:sp>
      <p:sp>
        <p:nvSpPr>
          <p:cNvPr id="31" name="Rectangle 30"/>
          <p:cNvSpPr/>
          <p:nvPr/>
        </p:nvSpPr>
        <p:spPr>
          <a:xfrm>
            <a:off x="8110728" y="4526280"/>
            <a:ext cx="3831336" cy="914400"/>
          </a:xfrm>
          <a:prstGeom prst="rect">
            <a:avLst/>
          </a:prstGeom>
          <a:solidFill>
            <a:srgbClr val="F5F5F5"/>
          </a:solidFill>
          <a:ln w="5080">
            <a:solidFill>
              <a:srgbClr val="DEDE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0456" y="4590288"/>
            <a:ext cx="3611880" cy="237744"/>
          </a:xfrm>
          <a:prstGeom prst="rect">
            <a:avLst/>
          </a:prstGeom>
          <a:noFill/>
        </p:spPr>
        <p:txBody>
          <a:bodyPr wrap="square" tIns="0" bIns="0" lIns="0" rIns="0">
            <a:spAutoFit/>
          </a:bodyPr>
          <a:lstStyle/>
          <a:p>
            <a:pPr algn="l"/>
            <a:r>
              <a:rPr sz="1300" b="1">
                <a:solidFill>
                  <a:srgbClr val="111110"/>
                </a:solidFill>
                <a:latin typeface="Helvetica"/>
              </a:rPr>
              <a:t>Spend and Savings Analytics</a:t>
            </a:r>
          </a:p>
        </p:txBody>
      </p:sp>
      <p:sp>
        <p:nvSpPr>
          <p:cNvPr id="33" name="TextBox 32"/>
          <p:cNvSpPr txBox="1"/>
          <p:nvPr/>
        </p:nvSpPr>
        <p:spPr>
          <a:xfrm>
            <a:off x="8220456" y="4855464"/>
            <a:ext cx="3611880" cy="512064"/>
          </a:xfrm>
          <a:prstGeom prst="rect">
            <a:avLst/>
          </a:prstGeom>
          <a:noFill/>
        </p:spPr>
        <p:txBody>
          <a:bodyPr wrap="square" tIns="0" bIns="0" lIns="0" rIns="0">
            <a:normAutofit/>
          </a:bodyPr>
          <a:lstStyle/>
          <a:p>
            <a:pPr algn="l"/>
            <a:r>
              <a:rPr sz="1100" b="0">
                <a:solidFill>
                  <a:srgbClr val="3E3E3E"/>
                </a:solidFill>
                <a:latin typeface="Helvetica"/>
              </a:rPr>
              <a:t>Aggregates procurement data into spend analysis and vendor comparisons, making cost patterns visible for the first time.</a:t>
            </a:r>
          </a:p>
        </p:txBody>
      </p:sp>
      <p:sp>
        <p:nvSpPr>
          <p:cNvPr id="34" name="Rectangle 33"/>
          <p:cNvSpPr/>
          <p:nvPr/>
        </p:nvSpPr>
        <p:spPr>
          <a:xfrm>
            <a:off x="0" y="5669280"/>
            <a:ext cx="12188952" cy="1188719"/>
          </a:xfrm>
          <a:prstGeom prst="rect">
            <a:avLst/>
          </a:prstGeom>
          <a:solidFill>
            <a:srgbClr val="3A8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82880" y="5815584"/>
            <a:ext cx="3697223" cy="475488"/>
          </a:xfrm>
          <a:prstGeom prst="rect">
            <a:avLst/>
          </a:prstGeom>
          <a:noFill/>
        </p:spPr>
        <p:txBody>
          <a:bodyPr wrap="square" tIns="0" bIns="0" lIns="0" rIns="0">
            <a:spAutoFit/>
          </a:bodyPr>
          <a:lstStyle/>
          <a:p>
            <a:pPr algn="ctr"/>
            <a:r>
              <a:rPr sz="2500" b="1">
                <a:solidFill>
                  <a:srgbClr val="FFFFFF"/>
                </a:solidFill>
                <a:latin typeface="Helvetica"/>
              </a:rPr>
              <a:t>70%</a:t>
            </a:r>
          </a:p>
        </p:txBody>
      </p:sp>
      <p:sp>
        <p:nvSpPr>
          <p:cNvPr id="36" name="TextBox 35"/>
          <p:cNvSpPr txBox="1"/>
          <p:nvPr/>
        </p:nvSpPr>
        <p:spPr>
          <a:xfrm>
            <a:off x="137160" y="6272784"/>
            <a:ext cx="3788664" cy="548640"/>
          </a:xfrm>
          <a:prstGeom prst="rect">
            <a:avLst/>
          </a:prstGeom>
          <a:noFill/>
        </p:spPr>
        <p:txBody>
          <a:bodyPr wrap="square" tIns="0" bIns="0" lIns="0" rIns="0">
            <a:spAutoFit/>
          </a:bodyPr>
          <a:lstStyle/>
          <a:p>
            <a:pPr algn="ctr"/>
            <a:r>
              <a:rPr sz="1200" b="0">
                <a:solidFill>
                  <a:srgbClr val="FFFFFF"/>
                </a:solidFill>
                <a:latin typeface="Helvetica"/>
              </a:rPr>
              <a:t>reduction in procurement cycle time</a:t>
            </a:r>
          </a:p>
        </p:txBody>
      </p:sp>
      <p:sp>
        <p:nvSpPr>
          <p:cNvPr id="37" name="TextBox 36"/>
          <p:cNvSpPr txBox="1"/>
          <p:nvPr/>
        </p:nvSpPr>
        <p:spPr>
          <a:xfrm>
            <a:off x="4245864" y="5815584"/>
            <a:ext cx="3697223" cy="475488"/>
          </a:xfrm>
          <a:prstGeom prst="rect">
            <a:avLst/>
          </a:prstGeom>
          <a:noFill/>
        </p:spPr>
        <p:txBody>
          <a:bodyPr wrap="square" tIns="0" bIns="0" lIns="0" rIns="0">
            <a:spAutoFit/>
          </a:bodyPr>
          <a:lstStyle/>
          <a:p>
            <a:pPr algn="ctr"/>
            <a:r>
              <a:rPr sz="2500" b="1">
                <a:solidFill>
                  <a:srgbClr val="FFFFFF"/>
                </a:solidFill>
                <a:latin typeface="Helvetica"/>
              </a:rPr>
              <a:t>Automated</a:t>
            </a:r>
          </a:p>
        </p:txBody>
      </p:sp>
      <p:sp>
        <p:nvSpPr>
          <p:cNvPr id="38" name="TextBox 37"/>
          <p:cNvSpPr txBox="1"/>
          <p:nvPr/>
        </p:nvSpPr>
        <p:spPr>
          <a:xfrm>
            <a:off x="4200144" y="6272784"/>
            <a:ext cx="3788664" cy="548640"/>
          </a:xfrm>
          <a:prstGeom prst="rect">
            <a:avLst/>
          </a:prstGeom>
          <a:noFill/>
        </p:spPr>
        <p:txBody>
          <a:bodyPr wrap="square" tIns="0" bIns="0" lIns="0" rIns="0">
            <a:spAutoFit/>
          </a:bodyPr>
          <a:lstStyle/>
          <a:p>
            <a:pPr algn="ctr"/>
            <a:r>
              <a:rPr sz="1200" b="0">
                <a:solidFill>
                  <a:srgbClr val="FFFFFF"/>
                </a:solidFill>
                <a:latin typeface="Helvetica"/>
              </a:rPr>
              <a:t>approval workflows with zero manual chasing</a:t>
            </a:r>
          </a:p>
        </p:txBody>
      </p:sp>
      <p:sp>
        <p:nvSpPr>
          <p:cNvPr id="39" name="TextBox 38"/>
          <p:cNvSpPr txBox="1"/>
          <p:nvPr/>
        </p:nvSpPr>
        <p:spPr>
          <a:xfrm>
            <a:off x="8308847" y="5815584"/>
            <a:ext cx="3697223" cy="475488"/>
          </a:xfrm>
          <a:prstGeom prst="rect">
            <a:avLst/>
          </a:prstGeom>
          <a:noFill/>
        </p:spPr>
        <p:txBody>
          <a:bodyPr wrap="square" tIns="0" bIns="0" lIns="0" rIns="0">
            <a:spAutoFit/>
          </a:bodyPr>
          <a:lstStyle/>
          <a:p>
            <a:pPr algn="ctr"/>
            <a:r>
              <a:rPr sz="2500" b="1">
                <a:solidFill>
                  <a:srgbClr val="FFFFFF"/>
                </a:solidFill>
                <a:latin typeface="Helvetica"/>
              </a:rPr>
              <a:t>Single platform</a:t>
            </a:r>
          </a:p>
        </p:txBody>
      </p:sp>
      <p:sp>
        <p:nvSpPr>
          <p:cNvPr id="40" name="TextBox 39"/>
          <p:cNvSpPr txBox="1"/>
          <p:nvPr/>
        </p:nvSpPr>
        <p:spPr>
          <a:xfrm>
            <a:off x="8263128" y="6272784"/>
            <a:ext cx="3788664" cy="548640"/>
          </a:xfrm>
          <a:prstGeom prst="rect">
            <a:avLst/>
          </a:prstGeom>
          <a:noFill/>
        </p:spPr>
        <p:txBody>
          <a:bodyPr wrap="square" tIns="0" bIns="0" lIns="0" rIns="0">
            <a:spAutoFit/>
          </a:bodyPr>
          <a:lstStyle/>
          <a:p>
            <a:pPr algn="ctr"/>
            <a:r>
              <a:rPr sz="1200" b="0">
                <a:solidFill>
                  <a:srgbClr val="FFFFFF"/>
                </a:solidFill>
                <a:latin typeface="Helvetica"/>
              </a:rPr>
              <a:t>indent-to-payment visibility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