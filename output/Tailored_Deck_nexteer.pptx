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4"/>
  </p:notesMasterIdLst>
  <p:sldIdLst>
    <p:sldId id="2147483328" r:id="rId2"/>
    <p:sldId id="2147483329" r:id="rId3"/>
    <p:sldId id="2147483330" r:id="rId4"/>
    <p:sldId id="2147483327" r:id="rId5"/>
    <p:sldId id="2147483332" r:id="rId6"/>
    <p:sldId id="2147483331" r:id="rId7"/>
    <p:sldId id="2147483305" r:id="rId8"/>
    <p:sldId id="29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34" Type="http://schemas.openxmlformats.org/officeDocument/2006/relationships/notesMaster" Target="notesMasters/notesMaster1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Relationship Id="rId13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58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11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5518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jpeg"/><Relationship Id="rId6" Type="http://schemas.openxmlformats.org/officeDocument/2006/relationships/image" Target="../media/image32.png"/><Relationship Id="rId7" Type="http://schemas.openxmlformats.org/officeDocument/2006/relationships/image" Target="../media/image33.jpeg"/><Relationship Id="rId8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63.pn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Relationship Id="rId10" Type="http://schemas.openxmlformats.org/officeDocument/2006/relationships/image" Target="../media/image67.jpeg"/><Relationship Id="rId11" Type="http://schemas.openxmlformats.org/officeDocument/2006/relationships/image" Target="../media/image6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-381305" y="3715207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513893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387090"/>
            <a:ext cx="10972190" cy="1450129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387090"/>
            <a:ext cx="47549" cy="1450129"/>
          </a:xfrm>
          <a:prstGeom prst="roundRect">
            <a:avLst>
              <a:gd name="adj" fmla="val 13262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609905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43400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076895" y="32388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609905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343400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8076895" y="49533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19302" y="466344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19302" y="858622"/>
            <a:ext cx="44961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5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AI-native GCC platform - a decade in the making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1465380"/>
            <a:ext cx="696716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is the AI-native GCC platform for the Fortune 1000 and beyond.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990294" y="1977901"/>
            <a:ext cx="9144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 years building nothing but GCCs - so we solve the next problem before it shows up, deliver ROI in weeks where the industry takes quarters, and turn the GCC from a cost line into an innovation engine.</a:t>
            </a:r>
            <a:endParaRPr lang="en-US" sz="1100" dirty="0"/>
          </a:p>
        </p:txBody>
      </p:sp>
      <p:pic>
        <p:nvPicPr>
          <p:cNvPr id="21" name="Image 4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00100" y="3476549"/>
            <a:ext cx="38405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0295" y="3476549"/>
            <a:ext cx="1552651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10+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90295" y="3993185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Years GCC leadership</a:t>
            </a:r>
            <a:endParaRPr lang="en-US" sz="1200" dirty="0"/>
          </a:p>
        </p:txBody>
      </p:sp>
      <p:pic>
        <p:nvPicPr>
          <p:cNvPr id="24" name="Image 5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4533595" y="3476549"/>
            <a:ext cx="38405" cy="5715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24705" y="3476549"/>
            <a:ext cx="17913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320+</a:t>
            </a:r>
            <a:endParaRPr lang="en-US" sz="3100" dirty="0"/>
          </a:p>
        </p:txBody>
      </p:sp>
      <p:sp>
        <p:nvSpPr>
          <p:cNvPr id="26" name="Text 18"/>
          <p:cNvSpPr txBox="1"/>
          <p:nvPr/>
        </p:nvSpPr>
        <p:spPr>
          <a:xfrm>
            <a:off x="4724705" y="3993185"/>
            <a:ext cx="213146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clients served</a:t>
            </a:r>
            <a:endParaRPr lang="en-US" sz="1200" dirty="0"/>
          </a:p>
        </p:txBody>
      </p:sp>
      <p:pic>
        <p:nvPicPr>
          <p:cNvPr id="27" name="Image 6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268005" y="3476549"/>
            <a:ext cx="38405" cy="5715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58200" y="3476549"/>
            <a:ext cx="252465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300+</a:t>
            </a:r>
            <a:endParaRPr lang="en-US" sz="3100" dirty="0"/>
          </a:p>
        </p:txBody>
      </p:sp>
      <p:sp>
        <p:nvSpPr>
          <p:cNvPr id="29" name="Text 20"/>
          <p:cNvSpPr txBox="1"/>
          <p:nvPr/>
        </p:nvSpPr>
        <p:spPr>
          <a:xfrm>
            <a:off x="8458200" y="3993185"/>
            <a:ext cx="300380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GCCs built: greenfield &amp; brownfield</a:t>
            </a:r>
            <a:endParaRPr lang="en-US" sz="1200" dirty="0"/>
          </a:p>
        </p:txBody>
      </p:sp>
      <p:pic>
        <p:nvPicPr>
          <p:cNvPr id="30" name="Image 7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00100" y="5191049"/>
            <a:ext cx="38405" cy="5715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90295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5,500+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&amp; tech experts</a:t>
            </a:r>
            <a:endParaRPr lang="en-US" sz="1200" dirty="0"/>
          </a:p>
        </p:txBody>
      </p:sp>
      <p:pic>
        <p:nvPicPr>
          <p:cNvPr id="33" name="Image 8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4533595" y="5191049"/>
            <a:ext cx="38405" cy="5715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24705" y="5191049"/>
            <a:ext cx="17053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3100" dirty="0"/>
          </a:p>
        </p:txBody>
      </p:sp>
      <p:sp>
        <p:nvSpPr>
          <p:cNvPr id="35" name="Text 24"/>
          <p:cNvSpPr txBox="1"/>
          <p:nvPr/>
        </p:nvSpPr>
        <p:spPr>
          <a:xfrm>
            <a:off x="4724705" y="5707685"/>
            <a:ext cx="20290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Countries with footprint</a:t>
            </a:r>
            <a:endParaRPr lang="en-US" sz="1200" dirty="0"/>
          </a:p>
        </p:txBody>
      </p:sp>
      <p:pic>
        <p:nvPicPr>
          <p:cNvPr id="36" name="Image 9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268005" y="5191049"/>
            <a:ext cx="38405" cy="5715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</a:t>
            </a:r>
            <a:endParaRPr lang="en-US" sz="3100" dirty="0"/>
          </a:p>
        </p:txBody>
      </p:sp>
      <p:sp>
        <p:nvSpPr>
          <p:cNvPr id="38" name="Text 26"/>
          <p:cNvSpPr txBox="1"/>
          <p:nvPr/>
        </p:nvSpPr>
        <p:spPr>
          <a:xfrm>
            <a:off x="8458200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AI-enabled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430207" y="-571500"/>
            <a:ext cx="3333902" cy="3333902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60" r="-360"/>
          <a:stretch/>
        </p:blipFill>
        <p:spPr>
          <a:xfrm>
            <a:off x="609905" y="485546"/>
            <a:ext cx="57607" cy="3813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9302" y="342900"/>
            <a:ext cx="59125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Architects of Transformation</a:t>
            </a:r>
            <a:endParaRPr lang="en-US" sz="2700"/>
          </a:p>
        </p:txBody>
      </p:sp>
      <p:sp>
        <p:nvSpPr>
          <p:cNvPr id="7" name="Text 4"/>
          <p:cNvSpPr txBox="1"/>
          <p:nvPr/>
        </p:nvSpPr>
        <p:spPr>
          <a:xfrm>
            <a:off x="819302" y="743407"/>
            <a:ext cx="5811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VISIONARY LEADERSHIP DRIVING ENTERPRISE EXCELLENCE</a:t>
            </a:r>
            <a:endParaRPr lang="en-US" sz="15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609905" y="1123798"/>
            <a:ext cx="5372100" cy="37152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9886" y="1339596"/>
            <a:ext cx="809244" cy="809244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8233" y="1367942"/>
            <a:ext cx="752551" cy="7525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17474" y="2224735"/>
            <a:ext cx="1020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Priti Sawant</a:t>
            </a:r>
            <a:endParaRPr lang="en-US" sz="1300"/>
          </a:p>
        </p:txBody>
      </p:sp>
      <p:sp>
        <p:nvSpPr>
          <p:cNvPr id="12" name="Text 7"/>
          <p:cNvSpPr txBox="1"/>
          <p:nvPr/>
        </p:nvSpPr>
        <p:spPr>
          <a:xfrm>
            <a:off x="789127" y="2457907"/>
            <a:ext cx="10744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2025396" y="1557311"/>
            <a:ext cx="3867912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Priti Sawant is a serial entrepreneur, category creator, and a pioneer of India’s Global Capability Center (GCC) ecosystem. With 20+ years of experience, she has built and scaled businesses at the intersection of technology and enterprise transformation. She began her journey at Accenture and later led Magna Infotech-scaling it from pre-revenue to a market leader, creating India’s first GCC-focused model, and delivering a successful exit and public listing (IPO). She is a 2-time entrepreneur, having built two successful, leading companies solving for GCCs in India.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2025396" y="3527888"/>
            <a:ext cx="3867912" cy="138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She founded JoulestoWatts, backed by Manipal Global Education Services. Today, J2W operates across 8 countries, enabling 300+ GCCs, deploying 5,200+ professionals, and building 4 in-house products, with strong Fortune 500 partnerships. Recognised by Forbes Japan, she is also a TiE Charter Member, startup mentor, and a strong advocate of gender diversity, having built organisations with 40%+ women representation and 50% women-led leadership roles.</a:t>
            </a:r>
            <a:endParaRPr lang="en-US" sz="110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6210605" y="1123798"/>
            <a:ext cx="5372100" cy="371520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20586" y="1339596"/>
            <a:ext cx="809244" cy="809244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b="1042"/>
          <a:stretch/>
        </p:blipFill>
        <p:spPr>
          <a:xfrm>
            <a:off x="6548933" y="1367942"/>
            <a:ext cx="752551" cy="75255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411773" y="2224735"/>
            <a:ext cx="1032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Priya Mohan</a:t>
            </a:r>
            <a:endParaRPr lang="en-US" sz="1300"/>
          </a:p>
        </p:txBody>
      </p:sp>
      <p:sp>
        <p:nvSpPr>
          <p:cNvPr id="19" name="Text 12"/>
          <p:cNvSpPr txBox="1"/>
          <p:nvPr/>
        </p:nvSpPr>
        <p:spPr>
          <a:xfrm>
            <a:off x="6781190" y="2457907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2" dirty="0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coo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7626096" y="1557311"/>
            <a:ext cx="3867912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Priya Mohan is a seasoned operator, investor, and entrepreneur with 20+ years spanning venture capital, high-growth startups, and investment banking. She was most recently a Partner at General Catalyst India, where she led India investments and co-creation opportunities across transformative, economy-shaping companies. Previously, as Managing Partner at Venture Highway, she held board seats across marquee portfolio companies in multiple sectors. Before investing, she co-founded Vidyartha, an EdTech platform which she successfully exited to Byju's.</a:t>
            </a:r>
            <a:endParaRPr lang="en-US" sz="1100"/>
          </a:p>
        </p:txBody>
      </p:sp>
      <p:sp>
        <p:nvSpPr>
          <p:cNvPr id="21" name="Text 14"/>
          <p:cNvSpPr txBox="1"/>
          <p:nvPr/>
        </p:nvSpPr>
        <p:spPr>
          <a:xfrm>
            <a:off x="7626096" y="3527888"/>
            <a:ext cx="3867912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 earlier career included 9 years in investment banking and equity research - structuring and executing complex transactions across private equity raises, secondary sales, and buyouts. A Chartered Accountant and Management Graduate from the Indian School of Business (ISB), Priya was a state guest of the United States under the IVLP program and is a member of the Kamalnayan Bajaj Aspen Fellowship (Cohort X).</a:t>
            </a:r>
            <a:endParaRPr lang="en-US" sz="11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8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9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cad3a534ee2971c6a497c9faf59fb5c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5" name="Image 1" descr="gen-dedup-64882feb7a832238af77b962fc7a8538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905695" y="-571500"/>
            <a:ext cx="2857500" cy="2857500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gen-dedup-6da70c599291e253314366a10c094ffa.png"/>
          <p:cNvPicPr>
            <a:picLocks noChangeAspect="1"/>
          </p:cNvPicPr>
          <p:nvPr/>
        </p:nvPicPr>
        <p:blipFill>
          <a:blip r:embed="rId5">
            <a:alphaModFix amt="15000"/>
          </a:blip>
          <a:srcRect/>
          <a:stretch/>
        </p:blipFill>
        <p:spPr>
          <a:xfrm>
            <a:off x="381305" y="1143000"/>
            <a:ext cx="1429207" cy="1429207"/>
          </a:xfrm>
          <a:prstGeom prst="rect">
            <a:avLst/>
          </a:prstGeom>
        </p:spPr>
      </p:pic>
      <p:pic>
        <p:nvPicPr>
          <p:cNvPr id="8" name="Image 3" descr="gen-dedup-b81d2082573e6d8de64df87af639bbf0.png"/>
          <p:cNvPicPr>
            <a:picLocks noChangeAspect="1"/>
          </p:cNvPicPr>
          <p:nvPr/>
        </p:nvPicPr>
        <p:blipFill>
          <a:blip r:embed="rId6"/>
          <a:srcRect l="-360" r="-360"/>
          <a:stretch/>
        </p:blipFill>
        <p:spPr>
          <a:xfrm>
            <a:off x="609905" y="533095"/>
            <a:ext cx="57607" cy="3813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19302" y="381305"/>
            <a:ext cx="387157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OFFER</a:t>
            </a:r>
            <a:endParaRPr lang="en-US" sz="2700" dirty="0"/>
          </a:p>
        </p:txBody>
      </p:sp>
      <p:sp>
        <p:nvSpPr>
          <p:cNvPr id="10" name="Text 4"/>
          <p:cNvSpPr txBox="1"/>
          <p:nvPr/>
        </p:nvSpPr>
        <p:spPr>
          <a:xfrm>
            <a:off x="819302" y="800100"/>
            <a:ext cx="418978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THREE INTERLOCKING REVENUE ENGINES</a:t>
            </a:r>
            <a:endParaRPr lang="en-US" sz="1500" dirty="0"/>
          </a:p>
        </p:txBody>
      </p:sp>
      <p:sp>
        <p:nvSpPr>
          <p:cNvPr id="11" name="Shape 5"/>
          <p:cNvSpPr/>
          <p:nvPr/>
        </p:nvSpPr>
        <p:spPr>
          <a:xfrm>
            <a:off x="609905" y="1524305"/>
            <a:ext cx="3333902" cy="4952390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6"/>
          <p:cNvSpPr/>
          <p:nvPr/>
        </p:nvSpPr>
        <p:spPr>
          <a:xfrm>
            <a:off x="619049" y="1533449"/>
            <a:ext cx="3314700" cy="1047902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1411834" y="2033626"/>
            <a:ext cx="173461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Workforce Solutions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19302" y="2691079"/>
            <a:ext cx="2934310" cy="3001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Domain-deep engineers - not generic coders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Verticals: IT and Cloud Computing · BFSI · more 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Deployed in 10 days or less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Pod governance + sprint accountability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Contract-to-hire flexibility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2116836" y="1652321"/>
            <a:ext cx="3291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1570025" y="2309774"/>
            <a:ext cx="142097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>
                    <a:alpha val="90000"/>
                  </a:srgbClr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Volume Engine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419295" y="1524305"/>
            <a:ext cx="3333902" cy="4952390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429354" y="1533449"/>
            <a:ext cx="3314700" cy="1047902"/>
          </a:xfrm>
          <a:prstGeom prst="rect">
            <a:avLst/>
          </a:prstGeom>
          <a:solidFill>
            <a:srgbClr val="D628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386730" y="2033626"/>
            <a:ext cx="140634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AI Pods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619549" y="4204760"/>
            <a:ext cx="29343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AI-first engineering pods, embedded tech lead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engineer AI-certified before Day 1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J2W AI Labs - continuous monthly upskilling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AI-assisted code, test &amp; docs from Day 1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Compounding productivity, not static seats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5905195" y="1652321"/>
            <a:ext cx="3630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200" dirty="0"/>
          </a:p>
        </p:txBody>
      </p:sp>
      <p:sp>
        <p:nvSpPr>
          <p:cNvPr id="34" name="Text 28"/>
          <p:cNvSpPr txBox="1"/>
          <p:nvPr/>
        </p:nvSpPr>
        <p:spPr>
          <a:xfrm>
            <a:off x="5079492" y="2309774"/>
            <a:ext cx="201808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>
                    <a:alpha val="90000"/>
                  </a:srgbClr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Margin Expansion Engine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8229600" y="1524305"/>
            <a:ext cx="3333902" cy="4952390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8238744" y="1533449"/>
            <a:ext cx="3314700" cy="1047902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85886" y="2033626"/>
            <a:ext cx="242590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Managed Service Solutions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8429854" y="4158691"/>
            <a:ext cx="29343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Dedicated pods owning outcomes, not tasks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Operate to outcome-bound SLOs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60+ pre-built solution accelerators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 SAP, ServiceNow &amp; industry stacks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40% improvement threshold - our standard</a:t>
            </a:r>
            <a:endParaRPr lang="en-US" sz="1400" dirty="0"/>
          </a:p>
        </p:txBody>
      </p:sp>
      <p:sp>
        <p:nvSpPr>
          <p:cNvPr id="45" name="Text 39"/>
          <p:cNvSpPr txBox="1"/>
          <p:nvPr/>
        </p:nvSpPr>
        <p:spPr>
          <a:xfrm>
            <a:off x="9715500" y="1652321"/>
            <a:ext cx="3630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200" dirty="0"/>
          </a:p>
        </p:txBody>
      </p:sp>
      <p:sp>
        <p:nvSpPr>
          <p:cNvPr id="46" name="Text 40"/>
          <p:cNvSpPr txBox="1"/>
          <p:nvPr/>
        </p:nvSpPr>
        <p:spPr>
          <a:xfrm>
            <a:off x="8956548" y="2309774"/>
            <a:ext cx="188183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>
                    <a:alpha val="90000"/>
                  </a:srgbClr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Strategic Value Engine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323228122ff92d2332e711a84ca3b40c.png"/>
          <p:cNvPicPr>
            <a:picLocks noChangeAspect="1"/>
          </p:cNvPicPr>
          <p:nvPr/>
        </p:nvPicPr>
        <p:blipFill>
          <a:blip r:embed="rId3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9663ecf744b06e35d4c2cebaab92a2ea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525305" y="4762195"/>
            <a:ext cx="3810305" cy="3810305"/>
          </a:xfrm>
          <a:prstGeom prst="ellipse">
            <a:avLst/>
          </a:prstGeom>
          <a:noFill/>
          <a:ln w="508000">
            <a:solidFill>
              <a:srgbClr val="D62839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gen-dedup-b81d2082573e6d8de64df87af639bbf0.png"/>
          <p:cNvPicPr>
            <a:picLocks noChangeAspect="1"/>
          </p:cNvPicPr>
          <p:nvPr/>
        </p:nvPicPr>
        <p:blipFill>
          <a:blip r:embed="rId5"/>
          <a:srcRect l="-360" r="-360"/>
          <a:stretch/>
        </p:blipFill>
        <p:spPr>
          <a:xfrm>
            <a:off x="609905" y="381305"/>
            <a:ext cx="57607" cy="38130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09905" y="1524305"/>
            <a:ext cx="2609698" cy="3877056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609905" y="1524305"/>
            <a:ext cx="2609698" cy="57607"/>
          </a:xfrm>
          <a:prstGeom prst="roundRect">
            <a:avLst>
              <a:gd name="adj" fmla="val 139034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3429000" y="1524305"/>
            <a:ext cx="2609698" cy="3877056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3429000" y="1524305"/>
            <a:ext cx="2609698" cy="57607"/>
          </a:xfrm>
          <a:prstGeom prst="roundRect">
            <a:avLst>
              <a:gd name="adj" fmla="val 139034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248095" y="1524305"/>
            <a:ext cx="2609698" cy="3877056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6248095" y="1524305"/>
            <a:ext cx="2609698" cy="57607"/>
          </a:xfrm>
          <a:prstGeom prst="roundRect">
            <a:avLst>
              <a:gd name="adj" fmla="val 139034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9068105" y="1524305"/>
            <a:ext cx="2609698" cy="3877056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068105" y="1524305"/>
            <a:ext cx="2609698" cy="57607"/>
          </a:xfrm>
          <a:prstGeom prst="roundRect">
            <a:avLst>
              <a:gd name="adj" fmla="val 139034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gen-dedup-c79c8869390c39dd2ec5734755e72ea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609905" y="5715000"/>
            <a:ext cx="11011205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09905" y="5905195"/>
            <a:ext cx="11058754" cy="685800"/>
          </a:xfrm>
          <a:prstGeom prst="roundRect">
            <a:avLst>
              <a:gd name="adj" fmla="val 29630"/>
            </a:avLst>
          </a:prstGeom>
          <a:solidFill>
            <a:srgbClr val="2A9D8F">
              <a:alpha val="5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09905" y="5905195"/>
            <a:ext cx="38405" cy="685800"/>
          </a:xfrm>
          <a:prstGeom prst="roundRect">
            <a:avLst>
              <a:gd name="adj" fmla="val 52909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gen-dedup-1bf8b7c2ed0132a588bc6493359d36f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157460" y="3543605"/>
            <a:ext cx="323698" cy="323698"/>
          </a:xfrm>
          <a:prstGeom prst="rect">
            <a:avLst/>
          </a:prstGeom>
        </p:spPr>
      </p:pic>
      <p:pic>
        <p:nvPicPr>
          <p:cNvPr id="20" name="Image 5" descr="gen-dedup-4f3b576989a6b43ea9ecd09ca0f289b1.png"/>
          <p:cNvPicPr>
            <a:picLocks noChangeAspect="1"/>
          </p:cNvPicPr>
          <p:nvPr/>
        </p:nvPicPr>
        <p:blipFill>
          <a:blip r:embed="rId8"/>
          <a:srcRect t="-5544" b="-5544"/>
          <a:stretch/>
        </p:blipFill>
        <p:spPr>
          <a:xfrm>
            <a:off x="3266274" y="3638702"/>
            <a:ext cx="105156" cy="133502"/>
          </a:xfrm>
          <a:prstGeom prst="rect">
            <a:avLst/>
          </a:prstGeom>
        </p:spPr>
      </p:pic>
      <p:pic>
        <p:nvPicPr>
          <p:cNvPr id="21" name="Image 6" descr="gen-dedup-1bf8b7c2ed0132a588bc6493359d36f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76555" y="3543605"/>
            <a:ext cx="323698" cy="323698"/>
          </a:xfrm>
          <a:prstGeom prst="rect">
            <a:avLst/>
          </a:prstGeom>
        </p:spPr>
      </p:pic>
      <p:pic>
        <p:nvPicPr>
          <p:cNvPr id="22" name="Image 7" descr="gen-dedup-4f3b576989a6b43ea9ecd09ca0f289b1.png"/>
          <p:cNvPicPr>
            <a:picLocks noChangeAspect="1"/>
          </p:cNvPicPr>
          <p:nvPr/>
        </p:nvPicPr>
        <p:blipFill>
          <a:blip r:embed="rId8"/>
          <a:srcRect t="-5544" b="-5544"/>
          <a:stretch/>
        </p:blipFill>
        <p:spPr>
          <a:xfrm>
            <a:off x="6086283" y="3638702"/>
            <a:ext cx="105156" cy="133502"/>
          </a:xfrm>
          <a:prstGeom prst="rect">
            <a:avLst/>
          </a:prstGeom>
        </p:spPr>
      </p:pic>
      <p:pic>
        <p:nvPicPr>
          <p:cNvPr id="23" name="Image 8" descr="gen-dedup-1bf8b7c2ed0132a588bc6493359d36f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95651" y="3543605"/>
            <a:ext cx="323698" cy="323698"/>
          </a:xfrm>
          <a:prstGeom prst="rect">
            <a:avLst/>
          </a:prstGeom>
        </p:spPr>
      </p:pic>
      <p:pic>
        <p:nvPicPr>
          <p:cNvPr id="24" name="Image 9" descr="gen-dedup-4f3b576989a6b43ea9ecd09ca0f289b1.png"/>
          <p:cNvPicPr>
            <a:picLocks noChangeAspect="1"/>
          </p:cNvPicPr>
          <p:nvPr/>
        </p:nvPicPr>
        <p:blipFill>
          <a:blip r:embed="rId8"/>
          <a:srcRect t="-5544" b="-5544"/>
          <a:stretch/>
        </p:blipFill>
        <p:spPr>
          <a:xfrm>
            <a:off x="8905379" y="3638702"/>
            <a:ext cx="105156" cy="133502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819302" y="304495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J2W OPERATING MODEL</a:t>
            </a:r>
            <a:endParaRPr lang="en-US" sz="2700" dirty="0"/>
          </a:p>
        </p:txBody>
      </p:sp>
      <p:sp>
        <p:nvSpPr>
          <p:cNvPr id="26" name="Text 14"/>
          <p:cNvSpPr txBox="1"/>
          <p:nvPr/>
        </p:nvSpPr>
        <p:spPr>
          <a:xfrm>
            <a:off x="819302" y="79278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don't just deploy - we embed, align, and deliver measurable outcomes.</a:t>
            </a:r>
            <a:endParaRPr lang="en-US" sz="1500" dirty="0"/>
          </a:p>
        </p:txBody>
      </p:sp>
      <p:sp>
        <p:nvSpPr>
          <p:cNvPr id="27" name="Shape 15"/>
          <p:cNvSpPr/>
          <p:nvPr/>
        </p:nvSpPr>
        <p:spPr>
          <a:xfrm>
            <a:off x="1638605" y="1819656"/>
            <a:ext cx="533095" cy="533095"/>
          </a:xfrm>
          <a:prstGeom prst="ellipse">
            <a:avLst/>
          </a:prstGeom>
          <a:solidFill>
            <a:srgbClr val="2A9D8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0" descr="gen-dedup-ac1977dfe20a87d93b03eab8a85600aa.png"/>
          <p:cNvPicPr>
            <a:picLocks noChangeAspect="1"/>
          </p:cNvPicPr>
          <p:nvPr/>
        </p:nvPicPr>
        <p:blipFill>
          <a:blip r:embed="rId9"/>
          <a:srcRect t="-13131" b="-13131"/>
          <a:stretch/>
        </p:blipFill>
        <p:spPr>
          <a:xfrm>
            <a:off x="1814170" y="1971446"/>
            <a:ext cx="181051" cy="2286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705002" y="2505456"/>
            <a:ext cx="2400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Embed.</a:t>
            </a:r>
            <a:endParaRPr lang="en-US" sz="2000" dirty="0"/>
          </a:p>
        </p:txBody>
      </p:sp>
      <p:sp>
        <p:nvSpPr>
          <p:cNvPr id="30" name="Text 17"/>
          <p:cNvSpPr txBox="1"/>
          <p:nvPr/>
        </p:nvSpPr>
        <p:spPr>
          <a:xfrm>
            <a:off x="705002" y="2968854"/>
            <a:ext cx="2400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Days 1–14</a:t>
            </a:r>
            <a:endParaRPr lang="en-US" sz="1300" dirty="0"/>
          </a:p>
        </p:txBody>
      </p:sp>
      <p:sp>
        <p:nvSpPr>
          <p:cNvPr id="31" name="Text 18"/>
          <p:cNvSpPr txBox="1"/>
          <p:nvPr/>
        </p:nvSpPr>
        <p:spPr>
          <a:xfrm>
            <a:off x="705002" y="3018434"/>
            <a:ext cx="2309775" cy="174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map your stakeholder reality before touching a single workflow — identifying the 80% we move within and the 20% that unlocks transformation.</a:t>
            </a:r>
            <a:endParaRPr lang="en-US" sz="1200" dirty="0"/>
          </a:p>
        </p:txBody>
      </p:sp>
      <p:sp>
        <p:nvSpPr>
          <p:cNvPr id="32" name="Text 19"/>
          <p:cNvSpPr txBox="1"/>
          <p:nvPr/>
        </p:nvSpPr>
        <p:spPr>
          <a:xfrm>
            <a:off x="2409444" y="1687137"/>
            <a:ext cx="6016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2A9D8F">
                    <a:alpha val="8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600" dirty="0"/>
          </a:p>
        </p:txBody>
      </p:sp>
      <p:sp>
        <p:nvSpPr>
          <p:cNvPr id="33" name="Shape 20"/>
          <p:cNvSpPr/>
          <p:nvPr/>
        </p:nvSpPr>
        <p:spPr>
          <a:xfrm>
            <a:off x="4457700" y="1819656"/>
            <a:ext cx="533095" cy="533095"/>
          </a:xfrm>
          <a:prstGeom prst="ellipse">
            <a:avLst/>
          </a:prstGeom>
          <a:solidFill>
            <a:srgbClr val="D6283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1" descr="gen-dedup-bb65f8a83efde23cd45884ce4e632f2a.png"/>
          <p:cNvPicPr>
            <a:picLocks noChangeAspect="1"/>
          </p:cNvPicPr>
          <p:nvPr/>
        </p:nvPicPr>
        <p:blipFill>
          <a:blip r:embed="rId10"/>
          <a:srcRect t="-13131" b="-13131"/>
          <a:stretch/>
        </p:blipFill>
        <p:spPr>
          <a:xfrm>
            <a:off x="4634179" y="1971446"/>
            <a:ext cx="181051" cy="228600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3524098" y="2505456"/>
            <a:ext cx="2400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Build.</a:t>
            </a:r>
            <a:endParaRPr lang="en-US" sz="2000" dirty="0"/>
          </a:p>
        </p:txBody>
      </p:sp>
      <p:sp>
        <p:nvSpPr>
          <p:cNvPr id="36" name="Text 22"/>
          <p:cNvSpPr txBox="1"/>
          <p:nvPr/>
        </p:nvSpPr>
        <p:spPr>
          <a:xfrm>
            <a:off x="3524098" y="2968854"/>
            <a:ext cx="2400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Weeks 2–6</a:t>
            </a:r>
            <a:endParaRPr lang="en-US" sz="1300" dirty="0"/>
          </a:p>
        </p:txBody>
      </p:sp>
      <p:sp>
        <p:nvSpPr>
          <p:cNvPr id="37" name="Text 23"/>
          <p:cNvSpPr txBox="1"/>
          <p:nvPr/>
        </p:nvSpPr>
        <p:spPr>
          <a:xfrm>
            <a:off x="3524098" y="3297935"/>
            <a:ext cx="2309775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deploy the closest-fit accelerator and customize where needed. Hundreds of prior engagements mean you inherit a head start, not a blank slate.</a:t>
            </a:r>
            <a:endParaRPr lang="en-US" sz="1200" dirty="0"/>
          </a:p>
        </p:txBody>
      </p:sp>
      <p:sp>
        <p:nvSpPr>
          <p:cNvPr id="38" name="Text 24"/>
          <p:cNvSpPr txBox="1"/>
          <p:nvPr/>
        </p:nvSpPr>
        <p:spPr>
          <a:xfrm>
            <a:off x="5231282" y="1687137"/>
            <a:ext cx="60716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62839">
                    <a:alpha val="8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600" dirty="0"/>
          </a:p>
        </p:txBody>
      </p:sp>
      <p:sp>
        <p:nvSpPr>
          <p:cNvPr id="39" name="Shape 25"/>
          <p:cNvSpPr/>
          <p:nvPr/>
        </p:nvSpPr>
        <p:spPr>
          <a:xfrm>
            <a:off x="7276795" y="1819656"/>
            <a:ext cx="533095" cy="533095"/>
          </a:xfrm>
          <a:prstGeom prst="ellipse">
            <a:avLst/>
          </a:prstGeom>
          <a:solidFill>
            <a:srgbClr val="2A9D8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12" descr="gen-dedup-ec7913c77fa2db42f3e898c22d604bf4.png"/>
          <p:cNvPicPr>
            <a:picLocks noChangeAspect="1"/>
          </p:cNvPicPr>
          <p:nvPr/>
        </p:nvPicPr>
        <p:blipFill>
          <a:blip r:embed="rId11"/>
          <a:srcRect t="-28914" b="-28914"/>
          <a:stretch/>
        </p:blipFill>
        <p:spPr>
          <a:xfrm>
            <a:off x="7398844" y="1895244"/>
            <a:ext cx="289681" cy="36576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6344107" y="2505456"/>
            <a:ext cx="2400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Operate.</a:t>
            </a:r>
            <a:endParaRPr lang="en-US" sz="2000" dirty="0"/>
          </a:p>
        </p:txBody>
      </p:sp>
      <p:sp>
        <p:nvSpPr>
          <p:cNvPr id="42" name="Text 27"/>
          <p:cNvSpPr txBox="1"/>
          <p:nvPr/>
        </p:nvSpPr>
        <p:spPr>
          <a:xfrm>
            <a:off x="6344107" y="2968854"/>
            <a:ext cx="2400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Month 2 onward</a:t>
            </a:r>
            <a:endParaRPr lang="en-US" sz="1300" dirty="0"/>
          </a:p>
        </p:txBody>
      </p:sp>
      <p:sp>
        <p:nvSpPr>
          <p:cNvPr id="43" name="Text 28"/>
          <p:cNvSpPr txBox="1"/>
          <p:nvPr/>
        </p:nvSpPr>
        <p:spPr>
          <a:xfrm>
            <a:off x="6344107" y="3195725"/>
            <a:ext cx="2309775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Forward-deployed engineers run AI inside your enterprise and don't rotate off. The context, accountability, and institutional memory stay with you.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8051292" y="1687137"/>
            <a:ext cx="60716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2A9D8F">
                    <a:alpha val="8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600" dirty="0"/>
          </a:p>
        </p:txBody>
      </p:sp>
      <p:sp>
        <p:nvSpPr>
          <p:cNvPr id="45" name="Shape 30"/>
          <p:cNvSpPr/>
          <p:nvPr/>
        </p:nvSpPr>
        <p:spPr>
          <a:xfrm>
            <a:off x="10096805" y="1819656"/>
            <a:ext cx="533095" cy="533095"/>
          </a:xfrm>
          <a:prstGeom prst="ellipse">
            <a:avLst/>
          </a:prstGeom>
          <a:solidFill>
            <a:srgbClr val="D6283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3" descr="gen-dedup-9fd551ffaf14ed4b68fb6cf808d818cf.png"/>
          <p:cNvPicPr>
            <a:picLocks noChangeAspect="1"/>
          </p:cNvPicPr>
          <p:nvPr/>
        </p:nvPicPr>
        <p:blipFill>
          <a:blip r:embed="rId12"/>
          <a:srcRect t="-13131" b="-13131"/>
          <a:stretch/>
        </p:blipFill>
        <p:spPr>
          <a:xfrm>
            <a:off x="10272370" y="1971446"/>
            <a:ext cx="181051" cy="228600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9163202" y="2505456"/>
            <a:ext cx="2400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Compound.</a:t>
            </a:r>
            <a:endParaRPr lang="en-US" sz="2000" dirty="0"/>
          </a:p>
        </p:txBody>
      </p:sp>
      <p:sp>
        <p:nvSpPr>
          <p:cNvPr id="48" name="Text 32"/>
          <p:cNvSpPr txBox="1"/>
          <p:nvPr/>
        </p:nvSpPr>
        <p:spPr>
          <a:xfrm>
            <a:off x="9163202" y="2968854"/>
            <a:ext cx="2400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Year one &amp; beyond</a:t>
            </a:r>
            <a:endParaRPr lang="en-US" sz="1300" dirty="0"/>
          </a:p>
        </p:txBody>
      </p:sp>
      <p:sp>
        <p:nvSpPr>
          <p:cNvPr id="49" name="Text 33"/>
          <p:cNvSpPr txBox="1"/>
          <p:nvPr/>
        </p:nvSpPr>
        <p:spPr>
          <a:xfrm>
            <a:off x="9163202" y="3285235"/>
            <a:ext cx="2309775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problem solved sharpens the platform. The system gets smarter as you scale — outcomes that compound while you sleep.</a:t>
            </a:r>
            <a:endParaRPr lang="en-US" sz="1200" dirty="0"/>
          </a:p>
        </p:txBody>
      </p:sp>
      <p:sp>
        <p:nvSpPr>
          <p:cNvPr id="50" name="Text 34"/>
          <p:cNvSpPr txBox="1"/>
          <p:nvPr/>
        </p:nvSpPr>
        <p:spPr>
          <a:xfrm>
            <a:off x="10865815" y="1687137"/>
            <a:ext cx="60716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62839">
                    <a:alpha val="8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3600" dirty="0"/>
          </a:p>
        </p:txBody>
      </p:sp>
      <p:sp>
        <p:nvSpPr>
          <p:cNvPr id="51" name="Text 35"/>
          <p:cNvSpPr txBox="1"/>
          <p:nvPr/>
        </p:nvSpPr>
        <p:spPr>
          <a:xfrm>
            <a:off x="914400" y="6048756"/>
            <a:ext cx="10401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Your business is our GTM.</a:t>
            </a:r>
            <a:r>
              <a:rPr lang="en-US" sz="13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We build with you, so your teams actually adopt, use, and grow everything we create together - not just receive it.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757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-381305" y="4095598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743407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714500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714500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4381805" y="1714500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81805" y="1714500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153705" y="1714500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8153705" y="1714500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2495398" y="3619195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2495398" y="3619195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267298" y="3619195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267298" y="3619195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09905" y="5572354"/>
            <a:ext cx="10972800" cy="571500"/>
          </a:xfrm>
          <a:prstGeom prst="roundRect">
            <a:avLst>
              <a:gd name="adj" fmla="val 42667"/>
            </a:avLst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gen-dedup-fcfcca745fa5c1c832fd66175382f504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609905" y="6286500"/>
            <a:ext cx="10972800" cy="91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9302" y="666598"/>
            <a:ext cx="5715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OWN</a:t>
            </a:r>
            <a:endParaRPr lang="en-US" sz="2700" dirty="0"/>
          </a:p>
        </p:txBody>
      </p:sp>
      <p:sp>
        <p:nvSpPr>
          <p:cNvPr id="22" name="Text 15"/>
          <p:cNvSpPr txBox="1"/>
          <p:nvPr/>
        </p:nvSpPr>
        <p:spPr>
          <a:xfrm>
            <a:off x="819302" y="1100938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proprietary stack - our moat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800100" y="195224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gen-dedup-354148c7dfe2ece024d9587c6b984377.png"/>
          <p:cNvPicPr>
            <a:picLocks noChangeAspect="1"/>
          </p:cNvPicPr>
          <p:nvPr/>
        </p:nvPicPr>
        <p:blipFill>
          <a:blip r:embed="rId8"/>
          <a:srcRect t="-16800" b="-16800"/>
          <a:stretch/>
        </p:blipFill>
        <p:spPr>
          <a:xfrm>
            <a:off x="895198" y="2029054"/>
            <a:ext cx="114300" cy="1527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38098" y="1952244"/>
            <a:ext cx="2572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Premier Lounge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800100" y="242864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Curated network of vetted experts - instant access to scarce skills.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572000" y="195224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gen-dedup-8653d22c8fc2d1668da8a16f36629000.png"/>
          <p:cNvPicPr>
            <a:picLocks noChangeAspect="1"/>
          </p:cNvPicPr>
          <p:nvPr/>
        </p:nvPicPr>
        <p:blipFill>
          <a:blip r:embed="rId9"/>
          <a:srcRect t="-25150" b="-25150"/>
          <a:stretch/>
        </p:blipFill>
        <p:spPr>
          <a:xfrm>
            <a:off x="4667098" y="2029054"/>
            <a:ext cx="114300" cy="15270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009998" y="1952244"/>
            <a:ext cx="2572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OfferLetter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4572000" y="242864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AI-driven sourcing &amp; resume parsing - onboard one engineer an hour.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343900" y="195224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7" descr="gen-dedup-fe8b3fc2b54c6cb2835c9e1123b7a343.png"/>
          <p:cNvPicPr>
            <a:picLocks noChangeAspect="1"/>
          </p:cNvPicPr>
          <p:nvPr/>
        </p:nvPicPr>
        <p:blipFill>
          <a:blip r:embed="rId10"/>
          <a:srcRect t="-25150" b="-25150"/>
          <a:stretch/>
        </p:blipFill>
        <p:spPr>
          <a:xfrm>
            <a:off x="8438998" y="2029054"/>
            <a:ext cx="114300" cy="1527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781898" y="1952244"/>
            <a:ext cx="270205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Abstraction Layer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8343900" y="242864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API gateway + real-time ETL - a single pane of glass.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2686507" y="385785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gen-dedup-e7d7166718140d8159b1663599725aa5.png"/>
          <p:cNvPicPr>
            <a:picLocks noChangeAspect="1"/>
          </p:cNvPicPr>
          <p:nvPr/>
        </p:nvPicPr>
        <p:blipFill>
          <a:blip r:embed="rId11"/>
          <a:srcRect t="-8450" b="-8450"/>
          <a:stretch/>
        </p:blipFill>
        <p:spPr>
          <a:xfrm>
            <a:off x="2781605" y="3933749"/>
            <a:ext cx="114300" cy="15270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3124505" y="3857854"/>
            <a:ext cx="2572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AI Labs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2686507" y="433425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Internal AI engine - every engineer AI-certified before Day 1.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6458407" y="385785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9" descr="gen-dedup-a3d9bb31ae14fa9101e3246a3a64819e.png"/>
          <p:cNvPicPr>
            <a:picLocks noChangeAspect="1"/>
          </p:cNvPicPr>
          <p:nvPr/>
        </p:nvPicPr>
        <p:blipFill>
          <a:blip r:embed="rId12"/>
          <a:srcRect t="-8450" b="-8450"/>
          <a:stretch/>
        </p:blipFill>
        <p:spPr>
          <a:xfrm>
            <a:off x="6553505" y="3933749"/>
            <a:ext cx="114300" cy="15270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896405" y="3857854"/>
            <a:ext cx="2572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 Accelerators</a:t>
            </a:r>
            <a:endParaRPr lang="en-US" sz="1500" dirty="0"/>
          </a:p>
        </p:txBody>
      </p:sp>
      <p:sp>
        <p:nvSpPr>
          <p:cNvPr id="42" name="Text 30"/>
          <p:cNvSpPr txBox="1"/>
          <p:nvPr/>
        </p:nvSpPr>
        <p:spPr>
          <a:xfrm>
            <a:off x="6458407" y="433425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Pre-built solutions on SAP, ServiceNow &amp; industry stacks.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800100" y="5715000"/>
            <a:ext cx="105924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75" dirty="0">
                <a:solidFill>
                  <a:srgbClr val="9CA3A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ARC FRAMEWORK</a:t>
            </a:r>
            <a:r>
              <a:rPr lang="en-US" sz="1500" b="1" kern="0" spc="75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Adaptive</a:t>
            </a:r>
            <a:r>
              <a:rPr lang="en-US" sz="1200" b="1" kern="0" spc="75" dirty="0">
                <a:solidFill>
                  <a:srgbClr val="CBD5E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(Grow)</a:t>
            </a:r>
            <a:r>
              <a:rPr lang="en-US" sz="1500" b="1" kern="0" spc="75" dirty="0">
                <a:solidFill>
                  <a:srgbClr val="6B728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</a:t>
            </a:r>
            <a:r>
              <a:rPr lang="en-US" sz="1500" b="1" kern="0" spc="75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Resilient</a:t>
            </a:r>
            <a:r>
              <a:rPr lang="en-US" sz="1200" b="1" kern="0" spc="75" dirty="0">
                <a:solidFill>
                  <a:srgbClr val="CBD5E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(Mature)</a:t>
            </a:r>
            <a:r>
              <a:rPr lang="en-US" sz="1500" b="1" kern="0" spc="75" dirty="0">
                <a:solidFill>
                  <a:srgbClr val="6B728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</a:t>
            </a:r>
            <a:r>
              <a:rPr lang="en-US" sz="1500" b="1" kern="0" spc="75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Cognitive</a:t>
            </a:r>
            <a:r>
              <a:rPr lang="en-US" sz="1200" b="1" kern="0" spc="75" dirty="0">
                <a:solidFill>
                  <a:srgbClr val="CBD5E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(Transform)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609905" y="6429146"/>
            <a:ext cx="109728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Transparent, scalable, and owned by us - </a:t>
            </a:r>
            <a:r>
              <a:rPr lang="en-US" sz="1200" b="1" dirty="0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your competitive moat, not a black box.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DD6EC7-8F41-58C5-8FE6-D76C9E660C2A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3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9663ecf744b06e35d4c2cebaab92a2ea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4067251" cy="75895"/>
          </a:xfrm>
          <a:prstGeom prst="rect">
            <a:avLst/>
          </a:prstGeom>
        </p:spPr>
      </p:pic>
      <p:pic>
        <p:nvPicPr>
          <p:cNvPr id="5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4067251" y="0"/>
            <a:ext cx="812444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34195" y="-476402"/>
            <a:ext cx="3810305" cy="3810305"/>
          </a:xfrm>
          <a:prstGeom prst="ellipse">
            <a:avLst/>
          </a:prstGeom>
          <a:solidFill>
            <a:srgbClr val="2A9D8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-1429207" y="3047695"/>
            <a:ext cx="3333902" cy="3333902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7395" y="4619549"/>
            <a:ext cx="10916107" cy="1781251"/>
          </a:xfrm>
          <a:prstGeom prst="roundRect">
            <a:avLst>
              <a:gd name="adj" fmla="val 43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4739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4739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343400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43400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3940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3940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0525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66744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2914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91549" y="5143500"/>
            <a:ext cx="2180844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gen-dedup-06e3d16aa0e9246458a784af17ea21a8.png"/>
          <p:cNvPicPr>
            <a:picLocks noChangeAspect="1"/>
          </p:cNvPicPr>
          <p:nvPr/>
        </p:nvPicPr>
        <p:blipFill>
          <a:blip r:embed="rId5"/>
          <a:srcRect l="-437" r="-437"/>
          <a:stretch/>
        </p:blipFill>
        <p:spPr>
          <a:xfrm>
            <a:off x="647395" y="743407"/>
            <a:ext cx="57607" cy="4187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7707" y="685800"/>
            <a:ext cx="10478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57707" y="1143000"/>
            <a:ext cx="10478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FLEXIBLE ENGAGEMENT MODELS TAILORED TO YOUR THREE-YEAR ROADMAP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3850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gen-dedup-fa5d0b435e79f3035aaec6593bf7cfb3.png"/>
          <p:cNvPicPr>
            <a:picLocks noChangeAspect="1"/>
          </p:cNvPicPr>
          <p:nvPr/>
        </p:nvPicPr>
        <p:blipFill>
          <a:blip r:embed="rId6"/>
          <a:srcRect l="-3526" r="-3526"/>
          <a:stretch/>
        </p:blipFill>
        <p:spPr>
          <a:xfrm>
            <a:off x="990295" y="1895551"/>
            <a:ext cx="15270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47495" y="1794967"/>
            <a:ext cx="199522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Discovery Workshop</a:t>
            </a:r>
            <a:endParaRPr lang="en-US" sz="1600"/>
          </a:p>
        </p:txBody>
      </p:sp>
      <p:sp>
        <p:nvSpPr>
          <p:cNvPr id="25" name="Text 19"/>
          <p:cNvSpPr txBox="1"/>
          <p:nvPr/>
        </p:nvSpPr>
        <p:spPr>
          <a:xfrm>
            <a:off x="1447495" y="2043684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~90 Minutes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3259836" y="1762049"/>
            <a:ext cx="705002" cy="256946"/>
          </a:xfrm>
          <a:prstGeom prst="roundRect">
            <a:avLst>
              <a:gd name="adj" fmla="val 316331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83850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28" name="Image 4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2734056"/>
            <a:ext cx="85954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19556" y="2695651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 identification &amp; prioritization</a:t>
            </a:r>
            <a:endParaRPr lang="en-US" sz="1000"/>
          </a:p>
        </p:txBody>
      </p:sp>
      <p:pic>
        <p:nvPicPr>
          <p:cNvPr id="30" name="Image 5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019349"/>
            <a:ext cx="85954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9556" y="2980944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hypothesis definition</a:t>
            </a:r>
            <a:endParaRPr lang="en-US" sz="1000"/>
          </a:p>
        </p:txBody>
      </p:sp>
      <p:pic>
        <p:nvPicPr>
          <p:cNvPr id="32" name="Image 6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305556"/>
            <a:ext cx="85954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19556" y="3267151"/>
            <a:ext cx="3377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High-level roadmap aligned to 70/30 strategy</a:t>
            </a:r>
            <a:endParaRPr lang="en-US" sz="1000"/>
          </a:p>
        </p:txBody>
      </p:sp>
      <p:sp>
        <p:nvSpPr>
          <p:cNvPr id="34" name="Text 25"/>
          <p:cNvSpPr txBox="1"/>
          <p:nvPr/>
        </p:nvSpPr>
        <p:spPr>
          <a:xfrm>
            <a:off x="3354934" y="1848002"/>
            <a:ext cx="66202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LOW TOUCH</a:t>
            </a:r>
            <a:endParaRPr lang="en-US" sz="800"/>
          </a:p>
        </p:txBody>
      </p:sp>
      <p:sp>
        <p:nvSpPr>
          <p:cNvPr id="35" name="Shape 26"/>
          <p:cNvSpPr/>
          <p:nvPr/>
        </p:nvSpPr>
        <p:spPr>
          <a:xfrm>
            <a:off x="453359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gen-dedup-302cf04975ca72dffec5134ed5b99fbe.png"/>
          <p:cNvPicPr>
            <a:picLocks noChangeAspect="1"/>
          </p:cNvPicPr>
          <p:nvPr/>
        </p:nvPicPr>
        <p:blipFill>
          <a:blip r:embed="rId8"/>
          <a:srcRect t="-4491" b="-4491"/>
          <a:stretch/>
        </p:blipFill>
        <p:spPr>
          <a:xfrm>
            <a:off x="4686300" y="1895551"/>
            <a:ext cx="15270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143500" y="1794967"/>
            <a:ext cx="182514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Assessment &amp; PoC</a:t>
            </a:r>
            <a:endParaRPr lang="en-US" sz="1600"/>
          </a:p>
        </p:txBody>
      </p:sp>
      <p:sp>
        <p:nvSpPr>
          <p:cNvPr id="38" name="Text 28"/>
          <p:cNvSpPr txBox="1"/>
          <p:nvPr/>
        </p:nvSpPr>
        <p:spPr>
          <a:xfrm>
            <a:off x="5143500" y="2043684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4 Weeks</a:t>
            </a:r>
            <a:endParaRPr lang="en-US" sz="900"/>
          </a:p>
        </p:txBody>
      </p:sp>
      <p:sp>
        <p:nvSpPr>
          <p:cNvPr id="39" name="Shape 29"/>
          <p:cNvSpPr/>
          <p:nvPr/>
        </p:nvSpPr>
        <p:spPr>
          <a:xfrm>
            <a:off x="6982358" y="1762049"/>
            <a:ext cx="676656" cy="256946"/>
          </a:xfrm>
          <a:prstGeom prst="roundRect">
            <a:avLst>
              <a:gd name="adj" fmla="val 316331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453359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41" name="Image 8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734056"/>
            <a:ext cx="85954" cy="1234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714646" y="2695651"/>
            <a:ext cx="2154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state architecture design</a:t>
            </a:r>
            <a:endParaRPr lang="en-US" sz="900"/>
          </a:p>
        </p:txBody>
      </p:sp>
      <p:pic>
        <p:nvPicPr>
          <p:cNvPr id="43" name="Image 9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971800"/>
            <a:ext cx="85954" cy="123444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714646" y="2933395"/>
            <a:ext cx="2505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pilot / MVP implementation</a:t>
            </a:r>
            <a:endParaRPr lang="en-US" sz="900"/>
          </a:p>
        </p:txBody>
      </p:sp>
      <p:pic>
        <p:nvPicPr>
          <p:cNvPr id="45" name="Image 10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209544"/>
            <a:ext cx="85954" cy="1234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714646" y="3172054"/>
            <a:ext cx="227868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Detailed ROI model &amp; rollout plan</a:t>
            </a:r>
            <a:endParaRPr lang="en-US" sz="900"/>
          </a:p>
        </p:txBody>
      </p:sp>
      <p:pic>
        <p:nvPicPr>
          <p:cNvPr id="47" name="Image 11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448202"/>
            <a:ext cx="85954" cy="123444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4714646" y="3409798"/>
            <a:ext cx="21086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 integration assessment</a:t>
            </a:r>
            <a:endParaRPr lang="en-US" sz="900"/>
          </a:p>
        </p:txBody>
      </p:sp>
      <p:sp>
        <p:nvSpPr>
          <p:cNvPr id="49" name="Text 35"/>
          <p:cNvSpPr txBox="1"/>
          <p:nvPr/>
        </p:nvSpPr>
        <p:spPr>
          <a:xfrm>
            <a:off x="7077456" y="1848002"/>
            <a:ext cx="65836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</a:t>
            </a:r>
            <a:endParaRPr lang="en-US" sz="800"/>
          </a:p>
        </p:txBody>
      </p:sp>
      <p:sp>
        <p:nvSpPr>
          <p:cNvPr id="50" name="Shape 36"/>
          <p:cNvSpPr/>
          <p:nvPr/>
        </p:nvSpPr>
        <p:spPr>
          <a:xfrm>
            <a:off x="8229600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2" descr="gen-dedup-e104b6e838315a11dc2d3bf260faf00b.png"/>
          <p:cNvPicPr>
            <a:picLocks noChangeAspect="1"/>
          </p:cNvPicPr>
          <p:nvPr/>
        </p:nvPicPr>
        <p:blipFill>
          <a:blip r:embed="rId10"/>
          <a:srcRect t="-27844" b="-27844"/>
          <a:stretch/>
        </p:blipFill>
        <p:spPr>
          <a:xfrm>
            <a:off x="8382305" y="1895551"/>
            <a:ext cx="152705" cy="19019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839505" y="1794967"/>
            <a:ext cx="1938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 &amp; Run Models</a:t>
            </a:r>
            <a:endParaRPr lang="en-US" sz="1600"/>
          </a:p>
        </p:txBody>
      </p:sp>
      <p:sp>
        <p:nvSpPr>
          <p:cNvPr id="53" name="Text 38"/>
          <p:cNvSpPr txBox="1"/>
          <p:nvPr/>
        </p:nvSpPr>
        <p:spPr>
          <a:xfrm>
            <a:off x="8839505" y="2043684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Multi-Year</a:t>
            </a:r>
            <a:endParaRPr lang="en-US" sz="900"/>
          </a:p>
        </p:txBody>
      </p:sp>
      <p:sp>
        <p:nvSpPr>
          <p:cNvPr id="54" name="Shape 39"/>
          <p:cNvSpPr/>
          <p:nvPr/>
        </p:nvSpPr>
        <p:spPr>
          <a:xfrm>
            <a:off x="10555834" y="1762049"/>
            <a:ext cx="800100" cy="256946"/>
          </a:xfrm>
          <a:prstGeom prst="roundRect">
            <a:avLst>
              <a:gd name="adj" fmla="val 3163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0"/>
          <p:cNvSpPr txBox="1"/>
          <p:nvPr/>
        </p:nvSpPr>
        <p:spPr>
          <a:xfrm>
            <a:off x="8229600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COMMERCIAL MODELS</a:t>
            </a:r>
            <a:endParaRPr lang="en-US" sz="900"/>
          </a:p>
        </p:txBody>
      </p:sp>
      <p:pic>
        <p:nvPicPr>
          <p:cNvPr id="56" name="Image 13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2734056"/>
            <a:ext cx="85954" cy="15270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410651" y="2695651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Fixed Scope: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defined project builds</a:t>
            </a:r>
            <a:endParaRPr lang="en-US" sz="1000"/>
          </a:p>
        </p:txBody>
      </p:sp>
      <p:pic>
        <p:nvPicPr>
          <p:cNvPr id="58" name="Image 14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3038551"/>
            <a:ext cx="85954" cy="152705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410651" y="3000146"/>
            <a:ext cx="3038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Managed Service: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SLA-driven operations</a:t>
            </a:r>
            <a:endParaRPr lang="en-US" sz="1000"/>
          </a:p>
        </p:txBody>
      </p:sp>
      <p:pic>
        <p:nvPicPr>
          <p:cNvPr id="60" name="Image 15" descr="gen-dedup-3678629b4a5ad6139a7cc5dcf1ee97ee.png"/>
          <p:cNvPicPr>
            <a:picLocks noChangeAspect="1"/>
          </p:cNvPicPr>
          <p:nvPr/>
        </p:nvPicPr>
        <p:blipFill>
          <a:blip r:embed="rId12"/>
          <a:srcRect t="-119879" b="-119879"/>
          <a:stretch/>
        </p:blipFill>
        <p:spPr>
          <a:xfrm>
            <a:off x="8229600" y="3343046"/>
            <a:ext cx="85954" cy="333756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410651" y="3305556"/>
            <a:ext cx="29434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Outcome-Based: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Gain-share pricing tied to value</a:t>
            </a:r>
            <a:endParaRPr lang="en-US" sz="1000"/>
          </a:p>
        </p:txBody>
      </p:sp>
      <p:sp>
        <p:nvSpPr>
          <p:cNvPr id="62" name="Text 44"/>
          <p:cNvSpPr txBox="1"/>
          <p:nvPr/>
        </p:nvSpPr>
        <p:spPr>
          <a:xfrm>
            <a:off x="10650931" y="1848002"/>
            <a:ext cx="8065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PARTNERSHIP</a:t>
            </a:r>
            <a:endParaRPr lang="en-US" sz="800"/>
          </a:p>
        </p:txBody>
      </p:sp>
      <p:pic>
        <p:nvPicPr>
          <p:cNvPr id="63" name="Image 16" descr="gen-dedup-a2699a036d9634824b4953ceddf6835e.png"/>
          <p:cNvPicPr>
            <a:picLocks noChangeAspect="1"/>
          </p:cNvPicPr>
          <p:nvPr/>
        </p:nvPicPr>
        <p:blipFill>
          <a:blip r:embed="rId13"/>
          <a:srcRect t="-16800" b="-16800"/>
          <a:stretch/>
        </p:blipFill>
        <p:spPr>
          <a:xfrm>
            <a:off x="905256" y="4809744"/>
            <a:ext cx="114300" cy="15270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114654" y="4762195"/>
            <a:ext cx="315193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7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SAMPLE IMPLEMENTATION ROADMAP</a:t>
            </a:r>
            <a:endParaRPr lang="en-US" sz="1300"/>
          </a:p>
        </p:txBody>
      </p:sp>
      <p:sp>
        <p:nvSpPr>
          <p:cNvPr id="65" name="Text 46"/>
          <p:cNvSpPr txBox="1"/>
          <p:nvPr/>
        </p:nvSpPr>
        <p:spPr>
          <a:xfrm>
            <a:off x="1047902" y="5315407"/>
            <a:ext cx="71963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DISCOVERY</a:t>
            </a:r>
            <a:endParaRPr lang="en-US" sz="900"/>
          </a:p>
        </p:txBody>
      </p:sp>
      <p:sp>
        <p:nvSpPr>
          <p:cNvPr id="66" name="Text 47"/>
          <p:cNvSpPr txBox="1"/>
          <p:nvPr/>
        </p:nvSpPr>
        <p:spPr>
          <a:xfrm>
            <a:off x="3063240" y="5238598"/>
            <a:ext cx="181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Q1</a:t>
            </a:r>
            <a:endParaRPr lang="en-US" sz="1200"/>
          </a:p>
        </p:txBody>
      </p:sp>
      <p:sp>
        <p:nvSpPr>
          <p:cNvPr id="67" name="Text 48"/>
          <p:cNvSpPr txBox="1"/>
          <p:nvPr/>
        </p:nvSpPr>
        <p:spPr>
          <a:xfrm>
            <a:off x="1047902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Assess readiness, define scope, select initial use cases</a:t>
            </a:r>
            <a:endParaRPr lang="en-US" sz="900"/>
          </a:p>
        </p:txBody>
      </p:sp>
      <p:sp>
        <p:nvSpPr>
          <p:cNvPr id="68" name="Shape 49"/>
          <p:cNvSpPr/>
          <p:nvPr/>
        </p:nvSpPr>
        <p:spPr>
          <a:xfrm>
            <a:off x="1047902" y="6117336"/>
            <a:ext cx="562356" cy="9144"/>
          </a:xfrm>
          <a:prstGeom prst="rect">
            <a:avLst/>
          </a:prstGeom>
          <a:solidFill>
            <a:srgbClr val="E6F3F1"/>
          </a:solidFill>
          <a:ln w="12700">
            <a:solidFill>
              <a:srgbClr val="E6F3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0"/>
          <p:cNvSpPr txBox="1"/>
          <p:nvPr/>
        </p:nvSpPr>
        <p:spPr>
          <a:xfrm>
            <a:off x="1104595" y="5964631"/>
            <a:ext cx="71689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Initiation</a:t>
            </a:r>
            <a:endParaRPr lang="en-US" sz="800"/>
          </a:p>
        </p:txBody>
      </p:sp>
      <p:pic>
        <p:nvPicPr>
          <p:cNvPr id="70" name="Image 17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3452774" y="5627218"/>
            <a:ext cx="105156" cy="133502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3810305" y="5315407"/>
            <a:ext cx="86410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PILOT / POC</a:t>
            </a:r>
            <a:endParaRPr lang="en-US" sz="900"/>
          </a:p>
        </p:txBody>
      </p:sp>
      <p:sp>
        <p:nvSpPr>
          <p:cNvPr id="72" name="Text 52"/>
          <p:cNvSpPr txBox="1"/>
          <p:nvPr/>
        </p:nvSpPr>
        <p:spPr>
          <a:xfrm>
            <a:off x="5807354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Q2</a:t>
            </a:r>
            <a:endParaRPr lang="en-US" sz="1200"/>
          </a:p>
        </p:txBody>
      </p:sp>
      <p:sp>
        <p:nvSpPr>
          <p:cNvPr id="73" name="Text 53"/>
          <p:cNvSpPr txBox="1"/>
          <p:nvPr/>
        </p:nvSpPr>
        <p:spPr>
          <a:xfrm>
            <a:off x="3810305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MVP build, user testing, architecture validation</a:t>
            </a:r>
            <a:endParaRPr lang="en-US" sz="900"/>
          </a:p>
        </p:txBody>
      </p:sp>
      <p:sp>
        <p:nvSpPr>
          <p:cNvPr id="74" name="Shape 54"/>
          <p:cNvSpPr/>
          <p:nvPr/>
        </p:nvSpPr>
        <p:spPr>
          <a:xfrm>
            <a:off x="3810305" y="5897880"/>
            <a:ext cx="629107" cy="219456"/>
          </a:xfrm>
          <a:prstGeom prst="roundRect">
            <a:avLst>
              <a:gd name="adj" fmla="val 14492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5"/>
          <p:cNvSpPr txBox="1"/>
          <p:nvPr/>
        </p:nvSpPr>
        <p:spPr>
          <a:xfrm>
            <a:off x="3866998" y="5964631"/>
            <a:ext cx="7269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</a:t>
            </a:r>
            <a:endParaRPr lang="en-US" sz="800"/>
          </a:p>
        </p:txBody>
      </p:sp>
      <p:pic>
        <p:nvPicPr>
          <p:cNvPr id="76" name="Image 18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6215177" y="5627218"/>
            <a:ext cx="105156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6572707" y="5315407"/>
            <a:ext cx="4023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SCALE</a:t>
            </a:r>
            <a:endParaRPr lang="en-US" sz="900"/>
          </a:p>
        </p:txBody>
      </p:sp>
      <p:sp>
        <p:nvSpPr>
          <p:cNvPr id="78" name="Text 57"/>
          <p:cNvSpPr txBox="1"/>
          <p:nvPr/>
        </p:nvSpPr>
        <p:spPr>
          <a:xfrm>
            <a:off x="8569757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Q3</a:t>
            </a:r>
            <a:endParaRPr lang="en-US" sz="1200"/>
          </a:p>
        </p:txBody>
      </p:sp>
      <p:sp>
        <p:nvSpPr>
          <p:cNvPr id="79" name="Text 58"/>
          <p:cNvSpPr txBox="1"/>
          <p:nvPr/>
        </p:nvSpPr>
        <p:spPr>
          <a:xfrm>
            <a:off x="6572707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deployment, integration, vendor onboarding</a:t>
            </a:r>
            <a:endParaRPr lang="en-US" sz="900"/>
          </a:p>
        </p:txBody>
      </p:sp>
      <p:sp>
        <p:nvSpPr>
          <p:cNvPr id="80" name="Shape 59"/>
          <p:cNvSpPr/>
          <p:nvPr/>
        </p:nvSpPr>
        <p:spPr>
          <a:xfrm>
            <a:off x="6572707" y="5897880"/>
            <a:ext cx="619049" cy="219456"/>
          </a:xfrm>
          <a:prstGeom prst="roundRect">
            <a:avLst>
              <a:gd name="adj" fmla="val 14492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60"/>
          <p:cNvSpPr txBox="1"/>
          <p:nvPr/>
        </p:nvSpPr>
        <p:spPr>
          <a:xfrm>
            <a:off x="6629400" y="5964631"/>
            <a:ext cx="66111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</a:t>
            </a:r>
            <a:endParaRPr lang="en-US" sz="800"/>
          </a:p>
        </p:txBody>
      </p:sp>
      <p:pic>
        <p:nvPicPr>
          <p:cNvPr id="82" name="Image 19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8977579" y="5627218"/>
            <a:ext cx="105156" cy="133502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9334195" y="5315407"/>
            <a:ext cx="63733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OPTIMIZE</a:t>
            </a:r>
            <a:endParaRPr lang="en-US" sz="900"/>
          </a:p>
        </p:txBody>
      </p:sp>
      <p:sp>
        <p:nvSpPr>
          <p:cNvPr id="84" name="Text 62"/>
          <p:cNvSpPr txBox="1"/>
          <p:nvPr/>
        </p:nvSpPr>
        <p:spPr>
          <a:xfrm>
            <a:off x="11044123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Q4</a:t>
            </a:r>
            <a:endParaRPr lang="en-US" sz="1200"/>
          </a:p>
        </p:txBody>
      </p:sp>
      <p:sp>
        <p:nvSpPr>
          <p:cNvPr id="85" name="Text 63"/>
          <p:cNvSpPr txBox="1"/>
          <p:nvPr/>
        </p:nvSpPr>
        <p:spPr>
          <a:xfrm>
            <a:off x="9334195" y="5505602"/>
            <a:ext cx="1877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ops, process tuning, continuous improvement</a:t>
            </a:r>
            <a:endParaRPr lang="en-US" sz="900"/>
          </a:p>
        </p:txBody>
      </p:sp>
      <p:sp>
        <p:nvSpPr>
          <p:cNvPr id="86" name="Text 64"/>
          <p:cNvSpPr txBox="1"/>
          <p:nvPr/>
        </p:nvSpPr>
        <p:spPr>
          <a:xfrm>
            <a:off x="9391802" y="5964631"/>
            <a:ext cx="73700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Refinement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5305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82305" y="-1429207"/>
            <a:ext cx="4762195" cy="476219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6782105"/>
            <a:ext cx="8128102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6782105"/>
            <a:ext cx="4063594" cy="758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60" b="60"/>
          <a:stretch/>
        </p:blipFill>
        <p:spPr>
          <a:xfrm>
            <a:off x="4121201" y="914400"/>
            <a:ext cx="3952951" cy="19046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5715000" y="3276295"/>
            <a:ext cx="761695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536899" y="3619195"/>
            <a:ext cx="51252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1" u="none" strike="noStrike" kern="0" cap="none" spc="15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"Let's win together"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410505"/>
            <a:ext cx="761695" cy="7616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l="81" r="81"/>
          <a:stretch/>
        </p:blipFill>
        <p:spPr>
          <a:xfrm>
            <a:off x="3189427" y="5658307"/>
            <a:ext cx="809244" cy="267005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7" r="7"/>
          <a:stretch/>
        </p:blipFill>
        <p:spPr>
          <a:xfrm>
            <a:off x="5665622" y="5453482"/>
            <a:ext cx="724205" cy="676656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 t="236" b="236"/>
          <a:stretch/>
        </p:blipFill>
        <p:spPr>
          <a:xfrm>
            <a:off x="8054950" y="5410505"/>
            <a:ext cx="1257300" cy="761695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rcRect t="23" b="24"/>
          <a:stretch/>
        </p:blipFill>
        <p:spPr>
          <a:xfrm>
            <a:off x="10972800" y="5548579"/>
            <a:ext cx="457200" cy="485546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0" y="0"/>
            <a:ext cx="4063594" cy="75895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4063594" y="0"/>
            <a:ext cx="8128102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74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31952</Words>
  <Application>Microsoft Office PowerPoint</Application>
  <PresentationFormat>Widescreen</PresentationFormat>
  <Paragraphs>3438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9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4</cp:revision>
  <dcterms:created xsi:type="dcterms:W3CDTF">2026-06-22T10:46:20Z</dcterms:created>
  <dcterms:modified xsi:type="dcterms:W3CDTF">2026-06-23T05:19:06Z</dcterms:modified>
</cp:coreProperties>
</file>