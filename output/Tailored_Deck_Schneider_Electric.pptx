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147483328" r:id="rId2"/>
    <p:sldId id="2147483329" r:id="rId3"/>
    <p:sldId id="2147483330" r:id="rId4"/>
    <p:sldId id="2147483327" r:id="rId5"/>
    <p:sldId id="2147483332" r:id="rId6"/>
    <p:sldId id="2147483331" r:id="rId7"/>
    <p:sldId id="2147483323" r:id="rId11"/>
    <p:sldId id="2147483416" r:id="rId12"/>
    <p:sldId id="2147483418" r:id="rId13"/>
    <p:sldId id="2147483320" r:id="rId16"/>
    <p:sldId id="2147483428" r:id="rId18"/>
    <p:sldId id="2147483429" r:id="rId19"/>
    <p:sldId id="2147483431" r:id="rId21"/>
    <p:sldId id="2147483432" r:id="rId22"/>
    <p:sldId id="2147483433" r:id="rId24"/>
    <p:sldId id="2147483434" r:id="rId25"/>
    <p:sldId id="2147483435" r:id="rId26"/>
    <p:sldId id="2147483436" r:id="rId27"/>
    <p:sldId id="2147483437" r:id="rId28"/>
    <p:sldId id="2147483438" r:id="rId29"/>
    <p:sldId id="2147483439" r:id="rId30"/>
    <p:sldId id="2147483305" r:id="rId8"/>
    <p:sldId id="29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5.xml"/><Relationship Id="rId9" Type="http://schemas.openxmlformats.org/officeDocument/2006/relationships/slide" Target="slides/slide1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6"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 Id="rId14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735871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69.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109.png"/><Relationship Id="rId6" Type="http://schemas.openxmlformats.org/officeDocument/2006/relationships/image" Target="../media/image110.png"/><Relationship Id="rId7" Type="http://schemas.openxmlformats.org/officeDocument/2006/relationships/image" Target="../media/image53.png"/><Relationship Id="rId8" Type="http://schemas.openxmlformats.org/officeDocument/2006/relationships/image" Target="../media/image111.png"/><Relationship Id="rId9" Type="http://schemas.openxmlformats.org/officeDocument/2006/relationships/image" Target="../media/image1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5.png"/><Relationship Id="rId8" Type="http://schemas.openxmlformats.org/officeDocument/2006/relationships/image" Target="../media/image116.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119.png"/><Relationship Id="rId12" Type="http://schemas.openxmlformats.org/officeDocument/2006/relationships/image" Target="../media/image1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image" Target="../media/image125.png"/><Relationship Id="rId8" Type="http://schemas.openxmlformats.org/officeDocument/2006/relationships/image" Target="../media/image126.png"/><Relationship Id="rId9" Type="http://schemas.openxmlformats.org/officeDocument/2006/relationships/image" Target="../media/image127.png"/><Relationship Id="rId10" Type="http://schemas.openxmlformats.org/officeDocument/2006/relationships/image" Target="../media/image128.png"/><Relationship Id="rId11" Type="http://schemas.openxmlformats.org/officeDocument/2006/relationships/image" Target="../media/image129.png"/><Relationship Id="rId12" Type="http://schemas.openxmlformats.org/officeDocument/2006/relationships/image" Target="../media/image130.png"/><Relationship Id="rId13" Type="http://schemas.openxmlformats.org/officeDocument/2006/relationships/image" Target="../media/image1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1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138.png"/><Relationship Id="rId7" Type="http://schemas.openxmlformats.org/officeDocument/2006/relationships/image" Target="../media/image139.png"/><Relationship Id="rId8" Type="http://schemas.openxmlformats.org/officeDocument/2006/relationships/image" Target="../media/image140.png"/><Relationship Id="rId9" Type="http://schemas.openxmlformats.org/officeDocument/2006/relationships/image" Target="../media/image141.png"/><Relationship Id="rId10" Type="http://schemas.openxmlformats.org/officeDocument/2006/relationships/image" Target="../media/image142.png"/><Relationship Id="rId11" Type="http://schemas.openxmlformats.org/officeDocument/2006/relationships/image" Target="../media/image143.png"/><Relationship Id="rId12" Type="http://schemas.openxmlformats.org/officeDocument/2006/relationships/image" Target="../media/image144.png"/><Relationship Id="rId13" Type="http://schemas.openxmlformats.org/officeDocument/2006/relationships/image" Target="../media/image145.png"/><Relationship Id="rId14" Type="http://schemas.openxmlformats.org/officeDocument/2006/relationships/image" Target="../media/image34.png"/><Relationship Id="rId15"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TECHNOLOGY ACCELERATORS </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GAME CHANGERS </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219456"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7" name="Shape 5"/>
          <p:cNvSpPr/>
          <p:nvPr/>
        </p:nvSpPr>
        <p:spPr>
          <a:xfrm>
            <a:off x="219456"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8" name="Image 0" descr="preencoded.png"/>
          <p:cNvPicPr>
            <a:picLocks noChangeAspect="1"/>
          </p:cNvPicPr>
          <p:nvPr/>
        </p:nvPicPr>
        <p:blipFill>
          <a:blip r:embed="rId3"/>
          <a:stretch>
            <a:fillRect/>
          </a:stretch>
        </p:blipFill>
        <p:spPr>
          <a:xfrm>
            <a:off x="390144" y="1341120"/>
            <a:ext cx="414528" cy="414528"/>
          </a:xfrm>
          <a:prstGeom prst="rect">
            <a:avLst/>
          </a:prstGeom>
        </p:spPr>
      </p:pic>
      <p:sp>
        <p:nvSpPr>
          <p:cNvPr id="9" name="Text 6"/>
          <p:cNvSpPr/>
          <p:nvPr/>
        </p:nvSpPr>
        <p:spPr>
          <a:xfrm>
            <a:off x="341376"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Sourcing Engine</a:t>
            </a:r>
            <a:endParaRPr lang="en-US" sz="1467">
              <a:latin typeface="Oswald" panose="00000500000000000000" pitchFamily="2" charset="0"/>
            </a:endParaRPr>
          </a:p>
        </p:txBody>
      </p:sp>
      <p:sp>
        <p:nvSpPr>
          <p:cNvPr id="10" name="Text 7"/>
          <p:cNvSpPr/>
          <p:nvPr/>
        </p:nvSpPr>
        <p:spPr>
          <a:xfrm>
            <a:off x="341376"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AI-driven talent matching across 8,500+ active consultants and 1,250+ skills - niche to mainstream.</a:t>
            </a:r>
            <a:endParaRPr lang="en-US" sz="1133">
              <a:latin typeface="Raleway" pitchFamily="2" charset="0"/>
            </a:endParaRPr>
          </a:p>
        </p:txBody>
      </p:sp>
      <p:sp>
        <p:nvSpPr>
          <p:cNvPr id="11" name="Shape 8"/>
          <p:cNvSpPr/>
          <p:nvPr/>
        </p:nvSpPr>
        <p:spPr>
          <a:xfrm>
            <a:off x="3108960"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12" name="Shape 9"/>
          <p:cNvSpPr/>
          <p:nvPr/>
        </p:nvSpPr>
        <p:spPr>
          <a:xfrm>
            <a:off x="3108960"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3279648" y="1341120"/>
            <a:ext cx="414528" cy="414528"/>
          </a:xfrm>
          <a:prstGeom prst="rect">
            <a:avLst/>
          </a:prstGeom>
        </p:spPr>
      </p:pic>
      <p:sp>
        <p:nvSpPr>
          <p:cNvPr id="14" name="Text 10"/>
          <p:cNvSpPr/>
          <p:nvPr/>
        </p:nvSpPr>
        <p:spPr>
          <a:xfrm>
            <a:off x="3230880"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Human + AI Teams</a:t>
            </a:r>
            <a:endParaRPr lang="en-US" sz="1467">
              <a:latin typeface="Oswald" panose="00000500000000000000" pitchFamily="2" charset="0"/>
            </a:endParaRPr>
          </a:p>
        </p:txBody>
      </p:sp>
      <p:sp>
        <p:nvSpPr>
          <p:cNvPr id="15" name="Text 11"/>
          <p:cNvSpPr/>
          <p:nvPr/>
        </p:nvSpPr>
        <p:spPr>
          <a:xfrm>
            <a:off x="3230880"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Blended delivery with AI productivity tools embedded from Day 1. Capability stacks over role pyramids.</a:t>
            </a:r>
            <a:endParaRPr lang="en-US" sz="1133">
              <a:latin typeface="Raleway" pitchFamily="2" charset="0"/>
            </a:endParaRPr>
          </a:p>
        </p:txBody>
      </p:sp>
      <p:sp>
        <p:nvSpPr>
          <p:cNvPr id="16" name="Shape 12"/>
          <p:cNvSpPr/>
          <p:nvPr/>
        </p:nvSpPr>
        <p:spPr>
          <a:xfrm>
            <a:off x="5998464"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17" name="Shape 13"/>
          <p:cNvSpPr/>
          <p:nvPr/>
        </p:nvSpPr>
        <p:spPr>
          <a:xfrm>
            <a:off x="5998464"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8" name="Image 2" descr="preencoded.png"/>
          <p:cNvPicPr>
            <a:picLocks noChangeAspect="1"/>
          </p:cNvPicPr>
          <p:nvPr/>
        </p:nvPicPr>
        <p:blipFill>
          <a:blip r:embed="rId5"/>
          <a:stretch>
            <a:fillRect/>
          </a:stretch>
        </p:blipFill>
        <p:spPr>
          <a:xfrm>
            <a:off x="6169152" y="1341120"/>
            <a:ext cx="414528" cy="414528"/>
          </a:xfrm>
          <a:prstGeom prst="rect">
            <a:avLst/>
          </a:prstGeom>
        </p:spPr>
      </p:pic>
      <p:sp>
        <p:nvSpPr>
          <p:cNvPr id="19" name="Text 14"/>
          <p:cNvSpPr/>
          <p:nvPr/>
        </p:nvSpPr>
        <p:spPr>
          <a:xfrm>
            <a:off x="6120384"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Fully Managed</a:t>
            </a:r>
            <a:endParaRPr lang="en-US" sz="1467">
              <a:latin typeface="Oswald" panose="00000500000000000000" pitchFamily="2" charset="0"/>
            </a:endParaRPr>
          </a:p>
        </p:txBody>
      </p:sp>
      <p:sp>
        <p:nvSpPr>
          <p:cNvPr id="20" name="Text 15"/>
          <p:cNvSpPr/>
          <p:nvPr/>
        </p:nvSpPr>
        <p:spPr>
          <a:xfrm>
            <a:off x="6120384"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J2W owns payroll, compliance, onboarding and HR. Zero admin burden on the client side.</a:t>
            </a:r>
            <a:endParaRPr lang="en-US" sz="1133">
              <a:latin typeface="Raleway" pitchFamily="2" charset="0"/>
            </a:endParaRPr>
          </a:p>
        </p:txBody>
      </p:sp>
      <p:sp>
        <p:nvSpPr>
          <p:cNvPr id="21" name="Shape 16"/>
          <p:cNvSpPr/>
          <p:nvPr/>
        </p:nvSpPr>
        <p:spPr>
          <a:xfrm>
            <a:off x="8887968"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22" name="Shape 17"/>
          <p:cNvSpPr/>
          <p:nvPr/>
        </p:nvSpPr>
        <p:spPr>
          <a:xfrm>
            <a:off x="8887968"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23" name="Image 3" descr="preencoded.png"/>
          <p:cNvPicPr>
            <a:picLocks noChangeAspect="1"/>
          </p:cNvPicPr>
          <p:nvPr/>
        </p:nvPicPr>
        <p:blipFill>
          <a:blip r:embed="rId6"/>
          <a:stretch>
            <a:fillRect/>
          </a:stretch>
        </p:blipFill>
        <p:spPr>
          <a:xfrm>
            <a:off x="9058656" y="1341120"/>
            <a:ext cx="414528" cy="414528"/>
          </a:xfrm>
          <a:prstGeom prst="rect">
            <a:avLst/>
          </a:prstGeom>
        </p:spPr>
      </p:pic>
      <p:sp>
        <p:nvSpPr>
          <p:cNvPr id="24" name="Text 18"/>
          <p:cNvSpPr/>
          <p:nvPr/>
        </p:nvSpPr>
        <p:spPr>
          <a:xfrm>
            <a:off x="9009888"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AI-First L&amp;D</a:t>
            </a:r>
            <a:endParaRPr lang="en-US" sz="1467">
              <a:latin typeface="Oswald" panose="00000500000000000000" pitchFamily="2" charset="0"/>
            </a:endParaRPr>
          </a:p>
        </p:txBody>
      </p:sp>
      <p:sp>
        <p:nvSpPr>
          <p:cNvPr id="25" name="Text 19"/>
          <p:cNvSpPr/>
          <p:nvPr/>
        </p:nvSpPr>
        <p:spPr>
          <a:xfrm>
            <a:off x="9009888"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Continuous upskilling via J2W </a:t>
            </a:r>
            <a:r>
              <a:rPr lang="en-US" sz="1133" err="1">
                <a:solidFill>
                  <a:srgbClr val="555555"/>
                </a:solidFill>
                <a:latin typeface="Raleway" pitchFamily="2" charset="0"/>
                <a:ea typeface="Calibri" pitchFamily="34" charset="-122"/>
                <a:cs typeface="Calibri" pitchFamily="34" charset="-120"/>
              </a:rPr>
              <a:t>CoE</a:t>
            </a:r>
            <a:r>
              <a:rPr lang="en-US" sz="1133">
                <a:solidFill>
                  <a:srgbClr val="555555"/>
                </a:solidFill>
                <a:latin typeface="Raleway" pitchFamily="2" charset="0"/>
                <a:ea typeface="Calibri" pitchFamily="34" charset="-122"/>
                <a:cs typeface="Calibri" pitchFamily="34" charset="-120"/>
              </a:rPr>
              <a:t> - contextual, hands-on AI training powered by Research Wing.</a:t>
            </a:r>
            <a:endParaRPr lang="en-US" sz="1133">
              <a:latin typeface="Raleway" pitchFamily="2" charset="0"/>
            </a:endParaRPr>
          </a:p>
        </p:txBody>
      </p:sp>
      <p:sp>
        <p:nvSpPr>
          <p:cNvPr id="26" name="Text 20"/>
          <p:cNvSpPr/>
          <p:nvPr/>
        </p:nvSpPr>
        <p:spPr>
          <a:xfrm>
            <a:off x="341376" y="3291840"/>
            <a:ext cx="256032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Dimension</a:t>
            </a:r>
            <a:endParaRPr lang="en-US" sz="1267">
              <a:latin typeface="Raleway" pitchFamily="2" charset="0"/>
            </a:endParaRPr>
          </a:p>
        </p:txBody>
      </p:sp>
      <p:sp>
        <p:nvSpPr>
          <p:cNvPr id="27" name="Text 21"/>
          <p:cNvSpPr/>
          <p:nvPr/>
        </p:nvSpPr>
        <p:spPr>
          <a:xfrm>
            <a:off x="2901696" y="3291840"/>
            <a:ext cx="402336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Traditional Staffing</a:t>
            </a:r>
            <a:endParaRPr lang="en-US" sz="1267">
              <a:latin typeface="Raleway" pitchFamily="2" charset="0"/>
            </a:endParaRPr>
          </a:p>
        </p:txBody>
      </p:sp>
      <p:sp>
        <p:nvSpPr>
          <p:cNvPr id="28" name="Text 22"/>
          <p:cNvSpPr/>
          <p:nvPr/>
        </p:nvSpPr>
        <p:spPr>
          <a:xfrm>
            <a:off x="6925056" y="3291840"/>
            <a:ext cx="4949952"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 Workforce</a:t>
            </a:r>
            <a:endParaRPr lang="en-US" sz="1267">
              <a:latin typeface="Raleway" pitchFamily="2" charset="0"/>
            </a:endParaRPr>
          </a:p>
        </p:txBody>
      </p:sp>
      <p:sp>
        <p:nvSpPr>
          <p:cNvPr id="29" name="Shape 23"/>
          <p:cNvSpPr/>
          <p:nvPr/>
        </p:nvSpPr>
        <p:spPr>
          <a:xfrm>
            <a:off x="219456" y="3681984"/>
            <a:ext cx="11533632" cy="0"/>
          </a:xfrm>
          <a:prstGeom prst="line">
            <a:avLst/>
          </a:prstGeom>
          <a:noFill/>
          <a:ln w="9525">
            <a:solidFill>
              <a:srgbClr val="0D9488"/>
            </a:solidFill>
            <a:prstDash val="solid"/>
          </a:ln>
        </p:spPr>
        <p:txBody>
          <a:bodyPr/>
          <a:lstStyle/>
          <a:p>
            <a:endParaRPr lang="en-US" sz="2400"/>
          </a:p>
        </p:txBody>
      </p:sp>
      <p:sp>
        <p:nvSpPr>
          <p:cNvPr id="30" name="Shape 24"/>
          <p:cNvSpPr/>
          <p:nvPr/>
        </p:nvSpPr>
        <p:spPr>
          <a:xfrm>
            <a:off x="219456" y="3681984"/>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31" name="Text 25"/>
          <p:cNvSpPr/>
          <p:nvPr/>
        </p:nvSpPr>
        <p:spPr>
          <a:xfrm>
            <a:off x="341376" y="3730752"/>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Speed to Deploy</a:t>
            </a:r>
            <a:endParaRPr lang="en-US" sz="1267">
              <a:latin typeface="Raleway" pitchFamily="2" charset="0"/>
            </a:endParaRPr>
          </a:p>
        </p:txBody>
      </p:sp>
      <p:sp>
        <p:nvSpPr>
          <p:cNvPr id="32" name="Text 26"/>
          <p:cNvSpPr/>
          <p:nvPr/>
        </p:nvSpPr>
        <p:spPr>
          <a:xfrm>
            <a:off x="2901696" y="3730752"/>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Weeks to months</a:t>
            </a:r>
            <a:endParaRPr lang="en-US" sz="1267">
              <a:latin typeface="Raleway" pitchFamily="2" charset="0"/>
            </a:endParaRPr>
          </a:p>
        </p:txBody>
      </p:sp>
      <p:pic>
        <p:nvPicPr>
          <p:cNvPr id="33" name="Image 4" descr="preencoded.png"/>
          <p:cNvPicPr>
            <a:picLocks noChangeAspect="1"/>
          </p:cNvPicPr>
          <p:nvPr/>
        </p:nvPicPr>
        <p:blipFill>
          <a:blip r:embed="rId7"/>
          <a:stretch>
            <a:fillRect/>
          </a:stretch>
        </p:blipFill>
        <p:spPr>
          <a:xfrm>
            <a:off x="6900672" y="3791712"/>
            <a:ext cx="219456" cy="219456"/>
          </a:xfrm>
          <a:prstGeom prst="rect">
            <a:avLst/>
          </a:prstGeom>
        </p:spPr>
      </p:pic>
      <p:sp>
        <p:nvSpPr>
          <p:cNvPr id="34" name="Text 27"/>
          <p:cNvSpPr/>
          <p:nvPr/>
        </p:nvSpPr>
        <p:spPr>
          <a:xfrm>
            <a:off x="7193280" y="3730752"/>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1 engineer onboarded per hour</a:t>
            </a:r>
            <a:endParaRPr lang="en-US" sz="1267">
              <a:latin typeface="Raleway" pitchFamily="2" charset="0"/>
            </a:endParaRPr>
          </a:p>
        </p:txBody>
      </p:sp>
      <p:sp>
        <p:nvSpPr>
          <p:cNvPr id="35" name="Shape 28"/>
          <p:cNvSpPr/>
          <p:nvPr/>
        </p:nvSpPr>
        <p:spPr>
          <a:xfrm>
            <a:off x="219456" y="4114800"/>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36" name="Text 29"/>
          <p:cNvSpPr/>
          <p:nvPr/>
        </p:nvSpPr>
        <p:spPr>
          <a:xfrm>
            <a:off x="341376" y="4163568"/>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Team Composition</a:t>
            </a:r>
            <a:endParaRPr lang="en-US" sz="1267">
              <a:latin typeface="Raleway" pitchFamily="2" charset="0"/>
            </a:endParaRPr>
          </a:p>
        </p:txBody>
      </p:sp>
      <p:sp>
        <p:nvSpPr>
          <p:cNvPr id="37" name="Text 30"/>
          <p:cNvSpPr/>
          <p:nvPr/>
        </p:nvSpPr>
        <p:spPr>
          <a:xfrm>
            <a:off x="2901696" y="4163568"/>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Single-role profile deployments</a:t>
            </a:r>
            <a:endParaRPr lang="en-US" sz="1267">
              <a:latin typeface="Raleway" pitchFamily="2" charset="0"/>
            </a:endParaRPr>
          </a:p>
        </p:txBody>
      </p:sp>
      <p:pic>
        <p:nvPicPr>
          <p:cNvPr id="38" name="Image 5" descr="preencoded.png"/>
          <p:cNvPicPr>
            <a:picLocks noChangeAspect="1"/>
          </p:cNvPicPr>
          <p:nvPr/>
        </p:nvPicPr>
        <p:blipFill>
          <a:blip r:embed="rId7"/>
          <a:stretch>
            <a:fillRect/>
          </a:stretch>
        </p:blipFill>
        <p:spPr>
          <a:xfrm>
            <a:off x="6900672" y="4224528"/>
            <a:ext cx="219456" cy="219456"/>
          </a:xfrm>
          <a:prstGeom prst="rect">
            <a:avLst/>
          </a:prstGeom>
        </p:spPr>
      </p:pic>
      <p:sp>
        <p:nvSpPr>
          <p:cNvPr id="39" name="Text 31"/>
          <p:cNvSpPr/>
          <p:nvPr/>
        </p:nvSpPr>
        <p:spPr>
          <a:xfrm>
            <a:off x="7193280" y="4163568"/>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Human + AI blended capability stacks</a:t>
            </a:r>
            <a:endParaRPr lang="en-US" sz="1267">
              <a:latin typeface="Raleway" pitchFamily="2" charset="0"/>
            </a:endParaRPr>
          </a:p>
        </p:txBody>
      </p:sp>
      <p:sp>
        <p:nvSpPr>
          <p:cNvPr id="40" name="Shape 32"/>
          <p:cNvSpPr/>
          <p:nvPr/>
        </p:nvSpPr>
        <p:spPr>
          <a:xfrm>
            <a:off x="219456" y="4547616"/>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41" name="Text 33"/>
          <p:cNvSpPr/>
          <p:nvPr/>
        </p:nvSpPr>
        <p:spPr>
          <a:xfrm>
            <a:off x="341376" y="4596384"/>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Governance</a:t>
            </a:r>
            <a:endParaRPr lang="en-US" sz="1267">
              <a:latin typeface="Raleway" pitchFamily="2" charset="0"/>
            </a:endParaRPr>
          </a:p>
        </p:txBody>
      </p:sp>
      <p:sp>
        <p:nvSpPr>
          <p:cNvPr id="42" name="Text 34"/>
          <p:cNvSpPr/>
          <p:nvPr/>
        </p:nvSpPr>
        <p:spPr>
          <a:xfrm>
            <a:off x="2901696" y="4596384"/>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Client's burden</a:t>
            </a:r>
            <a:endParaRPr lang="en-US" sz="1267">
              <a:latin typeface="Raleway" pitchFamily="2" charset="0"/>
            </a:endParaRPr>
          </a:p>
        </p:txBody>
      </p:sp>
      <p:pic>
        <p:nvPicPr>
          <p:cNvPr id="43" name="Image 6" descr="preencoded.png"/>
          <p:cNvPicPr>
            <a:picLocks noChangeAspect="1"/>
          </p:cNvPicPr>
          <p:nvPr/>
        </p:nvPicPr>
        <p:blipFill>
          <a:blip r:embed="rId7"/>
          <a:stretch>
            <a:fillRect/>
          </a:stretch>
        </p:blipFill>
        <p:spPr>
          <a:xfrm>
            <a:off x="6900672" y="4657344"/>
            <a:ext cx="219456" cy="219456"/>
          </a:xfrm>
          <a:prstGeom prst="rect">
            <a:avLst/>
          </a:prstGeom>
        </p:spPr>
      </p:pic>
      <p:sp>
        <p:nvSpPr>
          <p:cNvPr id="44" name="Text 35"/>
          <p:cNvSpPr/>
          <p:nvPr/>
        </p:nvSpPr>
        <p:spPr>
          <a:xfrm>
            <a:off x="7193280" y="4596384"/>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J2W-owned - HRBP implant at every site</a:t>
            </a:r>
            <a:endParaRPr lang="en-US" sz="1267">
              <a:latin typeface="Raleway" pitchFamily="2" charset="0"/>
            </a:endParaRPr>
          </a:p>
        </p:txBody>
      </p:sp>
      <p:sp>
        <p:nvSpPr>
          <p:cNvPr id="45" name="Shape 36"/>
          <p:cNvSpPr/>
          <p:nvPr/>
        </p:nvSpPr>
        <p:spPr>
          <a:xfrm>
            <a:off x="219456" y="4980432"/>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46" name="Text 37"/>
          <p:cNvSpPr/>
          <p:nvPr/>
        </p:nvSpPr>
        <p:spPr>
          <a:xfrm>
            <a:off x="341376" y="5029200"/>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Performance Issues</a:t>
            </a:r>
            <a:endParaRPr lang="en-US" sz="1267">
              <a:latin typeface="Raleway" pitchFamily="2" charset="0"/>
            </a:endParaRPr>
          </a:p>
        </p:txBody>
      </p:sp>
      <p:sp>
        <p:nvSpPr>
          <p:cNvPr id="47" name="Text 38"/>
          <p:cNvSpPr/>
          <p:nvPr/>
        </p:nvSpPr>
        <p:spPr>
          <a:xfrm>
            <a:off x="2901696" y="5029200"/>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Escalation after the fact</a:t>
            </a:r>
            <a:endParaRPr lang="en-US" sz="1267">
              <a:latin typeface="Raleway" pitchFamily="2" charset="0"/>
            </a:endParaRPr>
          </a:p>
        </p:txBody>
      </p:sp>
      <p:pic>
        <p:nvPicPr>
          <p:cNvPr id="48" name="Image 7" descr="preencoded.png"/>
          <p:cNvPicPr>
            <a:picLocks noChangeAspect="1"/>
          </p:cNvPicPr>
          <p:nvPr/>
        </p:nvPicPr>
        <p:blipFill>
          <a:blip r:embed="rId7"/>
          <a:stretch>
            <a:fillRect/>
          </a:stretch>
        </p:blipFill>
        <p:spPr>
          <a:xfrm>
            <a:off x="6900672" y="5090160"/>
            <a:ext cx="219456" cy="219456"/>
          </a:xfrm>
          <a:prstGeom prst="rect">
            <a:avLst/>
          </a:prstGeom>
        </p:spPr>
      </p:pic>
      <p:sp>
        <p:nvSpPr>
          <p:cNvPr id="49" name="Text 39"/>
          <p:cNvSpPr/>
          <p:nvPr/>
        </p:nvSpPr>
        <p:spPr>
          <a:xfrm>
            <a:off x="7193280" y="5029200"/>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Proactive monitoring &amp; intervention</a:t>
            </a:r>
            <a:endParaRPr lang="en-US" sz="1267">
              <a:latin typeface="Raleway" pitchFamily="2" charset="0"/>
            </a:endParaRPr>
          </a:p>
        </p:txBody>
      </p:sp>
      <p:sp>
        <p:nvSpPr>
          <p:cNvPr id="50" name="Shape 40"/>
          <p:cNvSpPr/>
          <p:nvPr/>
        </p:nvSpPr>
        <p:spPr>
          <a:xfrm>
            <a:off x="219456" y="5413248"/>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51" name="Text 41"/>
          <p:cNvSpPr/>
          <p:nvPr/>
        </p:nvSpPr>
        <p:spPr>
          <a:xfrm>
            <a:off x="341376" y="5462016"/>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Knowledge Retention</a:t>
            </a:r>
            <a:endParaRPr lang="en-US" sz="1267">
              <a:latin typeface="Raleway" pitchFamily="2" charset="0"/>
            </a:endParaRPr>
          </a:p>
        </p:txBody>
      </p:sp>
      <p:sp>
        <p:nvSpPr>
          <p:cNvPr id="52" name="Text 42"/>
          <p:cNvSpPr/>
          <p:nvPr/>
        </p:nvSpPr>
        <p:spPr>
          <a:xfrm>
            <a:off x="2901696" y="5462016"/>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Lost with attrition</a:t>
            </a:r>
            <a:endParaRPr lang="en-US" sz="1267">
              <a:latin typeface="Raleway" pitchFamily="2" charset="0"/>
            </a:endParaRPr>
          </a:p>
        </p:txBody>
      </p:sp>
      <p:pic>
        <p:nvPicPr>
          <p:cNvPr id="53" name="Image 8" descr="preencoded.png"/>
          <p:cNvPicPr>
            <a:picLocks noChangeAspect="1"/>
          </p:cNvPicPr>
          <p:nvPr/>
        </p:nvPicPr>
        <p:blipFill>
          <a:blip r:embed="rId7"/>
          <a:stretch>
            <a:fillRect/>
          </a:stretch>
        </p:blipFill>
        <p:spPr>
          <a:xfrm>
            <a:off x="6900672" y="5522976"/>
            <a:ext cx="219456" cy="219456"/>
          </a:xfrm>
          <a:prstGeom prst="rect">
            <a:avLst/>
          </a:prstGeom>
        </p:spPr>
      </p:pic>
      <p:sp>
        <p:nvSpPr>
          <p:cNvPr id="54" name="Text 43"/>
          <p:cNvSpPr/>
          <p:nvPr/>
        </p:nvSpPr>
        <p:spPr>
          <a:xfrm>
            <a:off x="7193280" y="5462016"/>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Captured in J2W Knowledge Repository</a:t>
            </a:r>
            <a:endParaRPr lang="en-US" sz="1267">
              <a:latin typeface="Raleway" pitchFamily="2" charset="0"/>
            </a:endParaRPr>
          </a:p>
        </p:txBody>
      </p:sp>
      <p:sp>
        <p:nvSpPr>
          <p:cNvPr id="55" name="Shape 44"/>
          <p:cNvSpPr/>
          <p:nvPr/>
        </p:nvSpPr>
        <p:spPr>
          <a:xfrm>
            <a:off x="219456" y="5846064"/>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56" name="Text 45"/>
          <p:cNvSpPr/>
          <p:nvPr/>
        </p:nvSpPr>
        <p:spPr>
          <a:xfrm>
            <a:off x="341376" y="5894832"/>
            <a:ext cx="2377440" cy="335280"/>
          </a:xfrm>
          <a:prstGeom prst="rect">
            <a:avLst/>
          </a:prstGeom>
          <a:noFill/>
          <a:ln/>
        </p:spPr>
        <p:txBody>
          <a:bodyPr wrap="square" lIns="0" tIns="0" rIns="0" bIns="0" rtlCol="0" anchor="ctr"/>
          <a:lstStyle/>
          <a:p>
            <a:r>
              <a:rPr lang="en-US" sz="1267" b="1">
                <a:solidFill>
                  <a:srgbClr val="1A1A2E"/>
                </a:solidFill>
                <a:latin typeface="Calibri" pitchFamily="34" charset="0"/>
                <a:ea typeface="Calibri" pitchFamily="34" charset="-122"/>
                <a:cs typeface="Calibri" pitchFamily="34" charset="-120"/>
              </a:rPr>
              <a:t>AI Readiness</a:t>
            </a:r>
            <a:endParaRPr lang="en-US" sz="1267"/>
          </a:p>
        </p:txBody>
      </p:sp>
      <p:sp>
        <p:nvSpPr>
          <p:cNvPr id="57" name="Text 46"/>
          <p:cNvSpPr/>
          <p:nvPr/>
        </p:nvSpPr>
        <p:spPr>
          <a:xfrm>
            <a:off x="2901696" y="5894832"/>
            <a:ext cx="3840480" cy="335280"/>
          </a:xfrm>
          <a:prstGeom prst="rect">
            <a:avLst/>
          </a:prstGeom>
          <a:noFill/>
          <a:ln/>
        </p:spPr>
        <p:txBody>
          <a:bodyPr wrap="square" lIns="0" tIns="0" rIns="0" bIns="0" rtlCol="0" anchor="ctr"/>
          <a:lstStyle/>
          <a:p>
            <a:r>
              <a:rPr lang="en-US" sz="1267">
                <a:solidFill>
                  <a:srgbClr val="888888"/>
                </a:solidFill>
                <a:latin typeface="Calibri" pitchFamily="34" charset="0"/>
                <a:ea typeface="Calibri" pitchFamily="34" charset="-122"/>
                <a:cs typeface="Calibri" pitchFamily="34" charset="-120"/>
              </a:rPr>
              <a:t>Ad hoc</a:t>
            </a:r>
            <a:endParaRPr lang="en-US" sz="1267"/>
          </a:p>
        </p:txBody>
      </p:sp>
      <p:pic>
        <p:nvPicPr>
          <p:cNvPr id="58" name="Image 9" descr="preencoded.png"/>
          <p:cNvPicPr>
            <a:picLocks noChangeAspect="1"/>
          </p:cNvPicPr>
          <p:nvPr/>
        </p:nvPicPr>
        <p:blipFill>
          <a:blip r:embed="rId7"/>
          <a:stretch>
            <a:fillRect/>
          </a:stretch>
        </p:blipFill>
        <p:spPr>
          <a:xfrm>
            <a:off x="6900672" y="5955792"/>
            <a:ext cx="219456" cy="219456"/>
          </a:xfrm>
          <a:prstGeom prst="rect">
            <a:avLst/>
          </a:prstGeom>
        </p:spPr>
      </p:pic>
      <p:sp>
        <p:nvSpPr>
          <p:cNvPr id="59" name="Text 47"/>
          <p:cNvSpPr/>
          <p:nvPr/>
        </p:nvSpPr>
        <p:spPr>
          <a:xfrm>
            <a:off x="7193280" y="5894832"/>
            <a:ext cx="4437888" cy="335280"/>
          </a:xfrm>
          <a:prstGeom prst="rect">
            <a:avLst/>
          </a:prstGeom>
          <a:noFill/>
          <a:ln/>
        </p:spPr>
        <p:txBody>
          <a:bodyPr wrap="square" lIns="0" tIns="0" rIns="0" bIns="0" rtlCol="0" anchor="ctr"/>
          <a:lstStyle/>
          <a:p>
            <a:r>
              <a:rPr lang="en-US" sz="1267" b="1">
                <a:solidFill>
                  <a:srgbClr val="C0392B"/>
                </a:solidFill>
                <a:latin typeface="Raleway" pitchFamily="2" charset="0"/>
                <a:ea typeface="Calibri" pitchFamily="34" charset="-122"/>
                <a:cs typeface="Calibri" pitchFamily="34" charset="-120"/>
              </a:rPr>
              <a:t>Embedded from Day 1</a:t>
            </a:r>
            <a:endParaRPr lang="en-US" sz="1267">
              <a:latin typeface="Raleway" pitchFamily="2" charset="0"/>
            </a:endParaRPr>
          </a:p>
        </p:txBody>
      </p:sp>
      <p:sp>
        <p:nvSpPr>
          <p:cNvPr id="60" name="Shape 48"/>
          <p:cNvSpPr/>
          <p:nvPr/>
        </p:nvSpPr>
        <p:spPr>
          <a:xfrm>
            <a:off x="0" y="6352032"/>
            <a:ext cx="12192000" cy="505968"/>
          </a:xfrm>
          <a:prstGeom prst="rect">
            <a:avLst/>
          </a:prstGeom>
          <a:solidFill>
            <a:srgbClr val="0D9488"/>
          </a:solidFill>
          <a:ln w="12700">
            <a:solidFill>
              <a:srgbClr val="0D9488"/>
            </a:solidFill>
            <a:prstDash val="solid"/>
          </a:ln>
        </p:spPr>
        <p:txBody>
          <a:bodyPr/>
          <a:lstStyle/>
          <a:p>
            <a:endParaRPr lang="en-US" sz="2400"/>
          </a:p>
        </p:txBody>
      </p:sp>
      <p:sp>
        <p:nvSpPr>
          <p:cNvPr id="61" name="Text 49"/>
          <p:cNvSpPr/>
          <p:nvPr/>
        </p:nvSpPr>
        <p:spPr>
          <a:xfrm>
            <a:off x="609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5,500+</a:t>
            </a:r>
            <a:endParaRPr lang="en-US" sz="1600"/>
          </a:p>
        </p:txBody>
      </p:sp>
      <p:sp>
        <p:nvSpPr>
          <p:cNvPr id="62" name="Text 50"/>
          <p:cNvSpPr/>
          <p:nvPr/>
        </p:nvSpPr>
        <p:spPr>
          <a:xfrm>
            <a:off x="609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Active Consultants</a:t>
            </a:r>
            <a:endParaRPr lang="en-US" sz="1000"/>
          </a:p>
        </p:txBody>
      </p:sp>
      <p:sp>
        <p:nvSpPr>
          <p:cNvPr id="63" name="Shape 51"/>
          <p:cNvSpPr/>
          <p:nvPr/>
        </p:nvSpPr>
        <p:spPr>
          <a:xfrm>
            <a:off x="2438400" y="6400800"/>
            <a:ext cx="0" cy="402336"/>
          </a:xfrm>
          <a:prstGeom prst="line">
            <a:avLst/>
          </a:prstGeom>
          <a:noFill/>
          <a:ln w="6350">
            <a:solidFill>
              <a:srgbClr val="FFFFFF">
                <a:alpha val="45000"/>
              </a:srgbClr>
            </a:solidFill>
            <a:prstDash val="solid"/>
          </a:ln>
        </p:spPr>
        <p:txBody>
          <a:bodyPr/>
          <a:lstStyle/>
          <a:p>
            <a:endParaRPr lang="en-US" sz="2400"/>
          </a:p>
        </p:txBody>
      </p:sp>
      <p:sp>
        <p:nvSpPr>
          <p:cNvPr id="64" name="Text 52"/>
          <p:cNvSpPr/>
          <p:nvPr/>
        </p:nvSpPr>
        <p:spPr>
          <a:xfrm>
            <a:off x="24993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1,250+</a:t>
            </a:r>
            <a:endParaRPr lang="en-US" sz="1600"/>
          </a:p>
        </p:txBody>
      </p:sp>
      <p:sp>
        <p:nvSpPr>
          <p:cNvPr id="65" name="Text 53"/>
          <p:cNvSpPr/>
          <p:nvPr/>
        </p:nvSpPr>
        <p:spPr>
          <a:xfrm>
            <a:off x="24993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Skills Covered</a:t>
            </a:r>
            <a:endParaRPr lang="en-US" sz="1000"/>
          </a:p>
        </p:txBody>
      </p:sp>
      <p:sp>
        <p:nvSpPr>
          <p:cNvPr id="66" name="Shape 54"/>
          <p:cNvSpPr/>
          <p:nvPr/>
        </p:nvSpPr>
        <p:spPr>
          <a:xfrm>
            <a:off x="4876800" y="6400800"/>
            <a:ext cx="0" cy="402336"/>
          </a:xfrm>
          <a:prstGeom prst="line">
            <a:avLst/>
          </a:prstGeom>
          <a:noFill/>
          <a:ln w="6350">
            <a:solidFill>
              <a:srgbClr val="FFFFFF">
                <a:alpha val="45000"/>
              </a:srgbClr>
            </a:solidFill>
            <a:prstDash val="solid"/>
          </a:ln>
        </p:spPr>
        <p:txBody>
          <a:bodyPr/>
          <a:lstStyle/>
          <a:p>
            <a:endParaRPr lang="en-US" sz="2400"/>
          </a:p>
        </p:txBody>
      </p:sp>
      <p:sp>
        <p:nvSpPr>
          <p:cNvPr id="67" name="Text 55"/>
          <p:cNvSpPr/>
          <p:nvPr/>
        </p:nvSpPr>
        <p:spPr>
          <a:xfrm>
            <a:off x="49377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320+</a:t>
            </a:r>
            <a:endParaRPr lang="en-US" sz="1600"/>
          </a:p>
        </p:txBody>
      </p:sp>
      <p:sp>
        <p:nvSpPr>
          <p:cNvPr id="68" name="Text 56"/>
          <p:cNvSpPr/>
          <p:nvPr/>
        </p:nvSpPr>
        <p:spPr>
          <a:xfrm>
            <a:off x="49377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Enterprise Clients</a:t>
            </a:r>
            <a:endParaRPr lang="en-US" sz="1000"/>
          </a:p>
        </p:txBody>
      </p:sp>
      <p:sp>
        <p:nvSpPr>
          <p:cNvPr id="69" name="Shape 57"/>
          <p:cNvSpPr/>
          <p:nvPr/>
        </p:nvSpPr>
        <p:spPr>
          <a:xfrm>
            <a:off x="7315200" y="6400800"/>
            <a:ext cx="0" cy="402336"/>
          </a:xfrm>
          <a:prstGeom prst="line">
            <a:avLst/>
          </a:prstGeom>
          <a:noFill/>
          <a:ln w="6350">
            <a:solidFill>
              <a:srgbClr val="FFFFFF">
                <a:alpha val="45000"/>
              </a:srgbClr>
            </a:solidFill>
            <a:prstDash val="solid"/>
          </a:ln>
        </p:spPr>
        <p:txBody>
          <a:bodyPr/>
          <a:lstStyle/>
          <a:p>
            <a:endParaRPr lang="en-US" sz="2400"/>
          </a:p>
        </p:txBody>
      </p:sp>
      <p:sp>
        <p:nvSpPr>
          <p:cNvPr id="70" name="Text 58"/>
          <p:cNvSpPr/>
          <p:nvPr/>
        </p:nvSpPr>
        <p:spPr>
          <a:xfrm>
            <a:off x="73761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a:t>
            </a:r>
            <a:endParaRPr lang="en-US" sz="1600"/>
          </a:p>
        </p:txBody>
      </p:sp>
      <p:sp>
        <p:nvSpPr>
          <p:cNvPr id="71" name="Text 59"/>
          <p:cNvSpPr/>
          <p:nvPr/>
        </p:nvSpPr>
        <p:spPr>
          <a:xfrm>
            <a:off x="73761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Attrition (6-Mo Pilot)</a:t>
            </a:r>
            <a:endParaRPr lang="en-US" sz="1000"/>
          </a:p>
        </p:txBody>
      </p:sp>
      <p:sp>
        <p:nvSpPr>
          <p:cNvPr id="72" name="Shape 60"/>
          <p:cNvSpPr/>
          <p:nvPr/>
        </p:nvSpPr>
        <p:spPr>
          <a:xfrm>
            <a:off x="9753600" y="6400800"/>
            <a:ext cx="0" cy="402336"/>
          </a:xfrm>
          <a:prstGeom prst="line">
            <a:avLst/>
          </a:prstGeom>
          <a:noFill/>
          <a:ln w="6350">
            <a:solidFill>
              <a:srgbClr val="FFFFFF">
                <a:alpha val="45000"/>
              </a:srgbClr>
            </a:solidFill>
            <a:prstDash val="solid"/>
          </a:ln>
        </p:spPr>
        <p:txBody>
          <a:bodyPr/>
          <a:lstStyle/>
          <a:p>
            <a:endParaRPr lang="en-US" sz="2400"/>
          </a:p>
        </p:txBody>
      </p:sp>
      <p:sp>
        <p:nvSpPr>
          <p:cNvPr id="73" name="Text 61"/>
          <p:cNvSpPr/>
          <p:nvPr/>
        </p:nvSpPr>
        <p:spPr>
          <a:xfrm>
            <a:off x="98145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1/hr</a:t>
            </a:r>
            <a:endParaRPr lang="en-US" sz="1600"/>
          </a:p>
        </p:txBody>
      </p:sp>
      <p:sp>
        <p:nvSpPr>
          <p:cNvPr id="74" name="Text 62"/>
          <p:cNvSpPr/>
          <p:nvPr/>
        </p:nvSpPr>
        <p:spPr>
          <a:xfrm>
            <a:off x="98145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Engineers Onboarded</a:t>
            </a:r>
            <a:endParaRPr lang="en-US" sz="1000"/>
          </a:p>
        </p:txBody>
      </p:sp>
      <p:pic>
        <p:nvPicPr>
          <p:cNvPr id="75" name="Image 0" descr="preencoded.png">
            <a:extLst>
              <a:ext uri="{FF2B5EF4-FFF2-40B4-BE49-F238E27FC236}">
                <a16:creationId xmlns:a16="http://schemas.microsoft.com/office/drawing/2014/main" id="{FAFFF64B-DC76-00D4-DDA1-C18459247824}"/>
              </a:ext>
            </a:extLst>
          </p:cNvPr>
          <p:cNvPicPr>
            <a:picLocks noChangeAspect="1"/>
          </p:cNvPicPr>
          <p:nvPr/>
        </p:nvPicPr>
        <p:blipFill>
          <a:blip r:embed="rId8"/>
          <a:srcRect l="-207" r="-207"/>
          <a:stretch/>
        </p:blipFill>
        <p:spPr>
          <a:xfrm>
            <a:off x="0" y="0"/>
            <a:ext cx="4058107" cy="75895"/>
          </a:xfrm>
          <a:prstGeom prst="rect">
            <a:avLst/>
          </a:prstGeom>
        </p:spPr>
      </p:pic>
      <p:pic>
        <p:nvPicPr>
          <p:cNvPr id="76" name="Image 1" descr="preencoded.png">
            <a:extLst>
              <a:ext uri="{FF2B5EF4-FFF2-40B4-BE49-F238E27FC236}">
                <a16:creationId xmlns:a16="http://schemas.microsoft.com/office/drawing/2014/main" id="{F02F145E-4174-DB5B-12FC-B946B2BEFC21}"/>
              </a:ext>
            </a:extLst>
          </p:cNvPr>
          <p:cNvPicPr>
            <a:picLocks noChangeAspect="1"/>
          </p:cNvPicPr>
          <p:nvPr/>
        </p:nvPicPr>
        <p:blipFill>
          <a:blip r:embed="rId9"/>
          <a:srcRect l="-202" r="-202"/>
          <a:stretch/>
        </p:blipFill>
        <p:spPr>
          <a:xfrm>
            <a:off x="4058107" y="0"/>
            <a:ext cx="8134502" cy="75895"/>
          </a:xfrm>
          <a:prstGeom prst="rect">
            <a:avLst/>
          </a:prstGeom>
        </p:spPr>
      </p:pic>
      <p:sp>
        <p:nvSpPr>
          <p:cNvPr id="77" name="Shape 2">
            <a:extLst>
              <a:ext uri="{FF2B5EF4-FFF2-40B4-BE49-F238E27FC236}">
                <a16:creationId xmlns:a16="http://schemas.microsoft.com/office/drawing/2014/main" id="{C1C503D5-DE04-F879-CDE8-91C26E3173B8}"/>
              </a:ext>
            </a:extLst>
          </p:cNvPr>
          <p:cNvSpPr/>
          <p:nvPr/>
        </p:nvSpPr>
        <p:spPr>
          <a:xfrm>
            <a:off x="-1380897" y="-1256081"/>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8" name="Image 4" descr="preencoded.png">
            <a:extLst>
              <a:ext uri="{FF2B5EF4-FFF2-40B4-BE49-F238E27FC236}">
                <a16:creationId xmlns:a16="http://schemas.microsoft.com/office/drawing/2014/main" id="{3FB3B60C-A4FF-CE53-9131-90677B3706CF}"/>
              </a:ext>
            </a:extLst>
          </p:cNvPr>
          <p:cNvPicPr>
            <a:picLocks noChangeAspect="1"/>
          </p:cNvPicPr>
          <p:nvPr/>
        </p:nvPicPr>
        <p:blipFill>
          <a:blip r:embed="rId10"/>
          <a:srcRect l="-400" r="-400"/>
          <a:stretch/>
        </p:blipFill>
        <p:spPr>
          <a:xfrm>
            <a:off x="609905" y="457200"/>
            <a:ext cx="57607" cy="457200"/>
          </a:xfrm>
          <a:prstGeom prst="rect">
            <a:avLst/>
          </a:prstGeom>
        </p:spPr>
      </p:pic>
      <p:sp>
        <p:nvSpPr>
          <p:cNvPr id="79" name="Text 11">
            <a:extLst>
              <a:ext uri="{FF2B5EF4-FFF2-40B4-BE49-F238E27FC236}">
                <a16:creationId xmlns:a16="http://schemas.microsoft.com/office/drawing/2014/main" id="{65F3FFE0-7460-C049-BC83-7BC32616A4C0}"/>
              </a:ext>
            </a:extLst>
          </p:cNvPr>
          <p:cNvSpPr txBox="1"/>
          <p:nvPr/>
        </p:nvSpPr>
        <p:spPr>
          <a:xfrm>
            <a:off x="819302" y="228600"/>
            <a:ext cx="9715500" cy="428854"/>
          </a:xfrm>
          <a:prstGeom prst="rect">
            <a:avLst/>
          </a:prstGeom>
          <a:noFill/>
          <a:ln/>
        </p:spPr>
        <p:txBody>
          <a:bodyPr wrap="square" lIns="0" tIns="0" rIns="0" bIns="0" rtlCol="0" anchor="ctr"/>
          <a:lstStyle/>
          <a:p>
            <a:r>
              <a:rPr lang="en-US" sz="3200" b="1">
                <a:solidFill>
                  <a:srgbClr val="1A1A2E"/>
                </a:solidFill>
                <a:latin typeface="Oswald" panose="00000500000000000000" pitchFamily="2" charset="0"/>
                <a:ea typeface="Calibri" pitchFamily="34" charset="-122"/>
                <a:cs typeface="Calibri" pitchFamily="34" charset="-120"/>
              </a:rPr>
              <a:t>Workforce &amp; Talent Solutions</a:t>
            </a:r>
            <a:endParaRPr lang="en-US" sz="3200">
              <a:latin typeface="Oswald" panose="00000500000000000000" pitchFamily="2" charset="0"/>
            </a:endParaRPr>
          </a:p>
        </p:txBody>
      </p:sp>
      <p:sp>
        <p:nvSpPr>
          <p:cNvPr id="80" name="Text 12">
            <a:extLst>
              <a:ext uri="{FF2B5EF4-FFF2-40B4-BE49-F238E27FC236}">
                <a16:creationId xmlns:a16="http://schemas.microsoft.com/office/drawing/2014/main" id="{830CE162-47E2-FB62-8B99-806E90C454F1}"/>
              </a:ext>
            </a:extLst>
          </p:cNvPr>
          <p:cNvSpPr txBox="1"/>
          <p:nvPr/>
        </p:nvSpPr>
        <p:spPr>
          <a:xfrm>
            <a:off x="819302" y="758952"/>
            <a:ext cx="9639605" cy="200254"/>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A MANAGED, AI-DRIVEN WORKFORCE UNIT - NOT JUST STAFFING WITH A WRAPPER.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a:p>
            <a:pPr marL="0" indent="0" algn="l">
              <a:buNone/>
            </a:pPr>
            <a:endParaRPr lang="en-US" sz="2500"/>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4ab2116e971fbb9400d0e99205bd0390.png"/>
          <p:cNvPicPr>
            <a:picLocks noChangeAspect="1"/>
          </p:cNvPicPr>
          <p:nvPr/>
        </p:nvPicPr>
        <p:blipFill>
          <a:blip r:embed="rId5">
            <a:alphaModFix amt="8000"/>
          </a:blip>
          <a:srcRect/>
          <a:stretch/>
        </p:blipFill>
        <p:spPr>
          <a:xfrm>
            <a:off x="-381305" y="4190695"/>
            <a:ext cx="1904695" cy="1904695"/>
          </a:xfrm>
          <a:prstGeom prst="rect">
            <a:avLst/>
          </a:prstGeom>
        </p:spPr>
      </p:pic>
      <p:sp>
        <p:nvSpPr>
          <p:cNvPr id="8" name="Shape 3"/>
          <p:cNvSpPr/>
          <p:nvPr/>
        </p:nvSpPr>
        <p:spPr>
          <a:xfrm>
            <a:off x="609905" y="20007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9" name="Shape 4"/>
          <p:cNvSpPr/>
          <p:nvPr/>
        </p:nvSpPr>
        <p:spPr>
          <a:xfrm>
            <a:off x="609905" y="2000707"/>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609905" y="29525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1" name="Shape 6"/>
          <p:cNvSpPr/>
          <p:nvPr/>
        </p:nvSpPr>
        <p:spPr>
          <a:xfrm>
            <a:off x="609905" y="2952598"/>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09905" y="3905402"/>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3" name="Shape 8"/>
          <p:cNvSpPr/>
          <p:nvPr/>
        </p:nvSpPr>
        <p:spPr>
          <a:xfrm>
            <a:off x="609905" y="3905402"/>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609905" y="48582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5" name="Shape 10"/>
          <p:cNvSpPr/>
          <p:nvPr/>
        </p:nvSpPr>
        <p:spPr>
          <a:xfrm>
            <a:off x="609905" y="4858207"/>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6" name="Shape 11"/>
          <p:cNvSpPr/>
          <p:nvPr/>
        </p:nvSpPr>
        <p:spPr>
          <a:xfrm>
            <a:off x="609905" y="58100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7" name="Shape 12"/>
          <p:cNvSpPr/>
          <p:nvPr/>
        </p:nvSpPr>
        <p:spPr>
          <a:xfrm>
            <a:off x="609905" y="5810098"/>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pic>
        <p:nvPicPr>
          <p:cNvPr id="20" name="Image 3" descr="gen-dedup-f40e183725d285eac3acdddf8d8f823b.png"/>
          <p:cNvPicPr>
            <a:picLocks noChangeAspect="1"/>
          </p:cNvPicPr>
          <p:nvPr/>
        </p:nvPicPr>
        <p:blipFill>
          <a:blip r:embed="rId6"/>
          <a:srcRect l="-369" r="-369"/>
          <a:stretch/>
        </p:blipFill>
        <p:spPr>
          <a:xfrm>
            <a:off x="609905" y="448970"/>
            <a:ext cx="57607" cy="495605"/>
          </a:xfrm>
          <a:prstGeom prst="rect">
            <a:avLst/>
          </a:prstGeom>
        </p:spPr>
      </p:pic>
      <p:sp>
        <p:nvSpPr>
          <p:cNvPr id="21" name="Text 15"/>
          <p:cNvSpPr txBox="1"/>
          <p:nvPr/>
        </p:nvSpPr>
        <p:spPr>
          <a:xfrm>
            <a:off x="819302" y="381305"/>
            <a:ext cx="4499762" cy="409651"/>
          </a:xfrm>
          <a:prstGeom prst="rect">
            <a:avLst/>
          </a:prstGeom>
          <a:noFill/>
          <a:ln/>
        </p:spPr>
        <p:txBody>
          <a:bodyPr wrap="none" lIns="0" tIns="0" rIns="0" bIns="0" rtlCol="0" anchor="ctr"/>
          <a:lstStyle/>
          <a:p>
            <a:pPr marL="0" indent="0" algn="l">
              <a:buNone/>
            </a:pPr>
            <a:r>
              <a:rPr lang="en-US" sz="2800" b="1">
                <a:solidFill>
                  <a:srgbClr val="111827"/>
                </a:solidFill>
                <a:latin typeface="Oswald" pitchFamily="34" charset="0"/>
                <a:ea typeface="Oswald" pitchFamily="34" charset="-122"/>
                <a:cs typeface="Oswald" pitchFamily="34" charset="-120"/>
              </a:rPr>
              <a:t>STRUCTURAL DIFFERENTIATION</a:t>
            </a:r>
            <a:endParaRPr lang="en-US" sz="2800"/>
          </a:p>
        </p:txBody>
      </p:sp>
      <p:sp>
        <p:nvSpPr>
          <p:cNvPr id="22" name="Text 16"/>
          <p:cNvSpPr txBox="1"/>
          <p:nvPr/>
        </p:nvSpPr>
        <p:spPr>
          <a:xfrm>
            <a:off x="819302" y="821131"/>
            <a:ext cx="3610051" cy="191110"/>
          </a:xfrm>
          <a:prstGeom prst="rect">
            <a:avLst/>
          </a:prstGeom>
          <a:noFill/>
          <a:ln/>
        </p:spPr>
        <p:txBody>
          <a:bodyPr wrap="none" lIns="0" tIns="0" rIns="0" bIns="0" rtlCol="0" anchor="ctr"/>
          <a:lstStyle/>
          <a:p>
            <a:pPr marL="0" indent="0" algn="l">
              <a:buNone/>
            </a:pPr>
            <a:r>
              <a:rPr lang="en-US" sz="1300" b="1" kern="0" spc="66">
                <a:solidFill>
                  <a:srgbClr val="2A9D8F"/>
                </a:solidFill>
                <a:latin typeface="Roboto Condensed" pitchFamily="34" charset="0"/>
                <a:ea typeface="Roboto Condensed" pitchFamily="34" charset="-122"/>
                <a:cs typeface="Roboto Condensed" pitchFamily="34" charset="-120"/>
              </a:rPr>
              <a:t>WORKFORCE SOLUTIONS</a:t>
            </a:r>
          </a:p>
        </p:txBody>
      </p:sp>
      <p:sp>
        <p:nvSpPr>
          <p:cNvPr id="23" name="Text 17"/>
          <p:cNvSpPr txBox="1"/>
          <p:nvPr/>
        </p:nvSpPr>
        <p:spPr>
          <a:xfrm>
            <a:off x="609905" y="1380744"/>
            <a:ext cx="10972800" cy="267005"/>
          </a:xfrm>
          <a:prstGeom prst="rect">
            <a:avLst/>
          </a:prstGeom>
          <a:noFill/>
          <a:ln/>
        </p:spPr>
        <p:txBody>
          <a:bodyPr wrap="none" lIns="0" tIns="0" rIns="0" bIns="0" rtlCol="0" anchor="ctr"/>
          <a:lstStyle/>
          <a:p>
            <a:pPr marL="0" indent="0" algn="l">
              <a:buNone/>
            </a:pPr>
            <a:r>
              <a:rPr lang="en-US" sz="1500" b="1">
                <a:solidFill>
                  <a:srgbClr val="D62839"/>
                </a:solidFill>
                <a:latin typeface="Raleway" pitchFamily="34" charset="0"/>
                <a:ea typeface="Raleway" pitchFamily="34" charset="-122"/>
                <a:cs typeface="Raleway" pitchFamily="34" charset="-120"/>
              </a:rPr>
              <a:t>Five structural differences that change the engagement from transactional to transformational.</a:t>
            </a:r>
            <a:endParaRPr lang="en-US" sz="1500"/>
          </a:p>
        </p:txBody>
      </p:sp>
      <p:sp>
        <p:nvSpPr>
          <p:cNvPr id="24" name="Text 18"/>
          <p:cNvSpPr txBox="1"/>
          <p:nvPr/>
        </p:nvSpPr>
        <p:spPr>
          <a:xfrm>
            <a:off x="1037844" y="2148840"/>
            <a:ext cx="1904695"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No Subcontracting</a:t>
            </a:r>
            <a:endParaRPr lang="en-US" sz="1400"/>
          </a:p>
        </p:txBody>
      </p:sp>
      <p:sp>
        <p:nvSpPr>
          <p:cNvPr id="25" name="Text 19"/>
          <p:cNvSpPr txBox="1"/>
          <p:nvPr/>
        </p:nvSpPr>
        <p:spPr>
          <a:xfrm>
            <a:off x="800100" y="2491740"/>
            <a:ext cx="11278210" cy="219456"/>
          </a:xfrm>
          <a:prstGeom prst="rect">
            <a:avLst/>
          </a:prstGeom>
          <a:no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300+ in-house recruiters. 7,200+ professionals on J2W payroll. Zero subcontracting layer diluting quality, speed, or accountability.</a:t>
            </a:r>
            <a:endParaRPr lang="en-US" sz="1300"/>
          </a:p>
        </p:txBody>
      </p:sp>
      <p:pic>
        <p:nvPicPr>
          <p:cNvPr id="26" name="Image 4" descr="gen-dedup-928b248bf773cd1fca0141b5a5721735.png"/>
          <p:cNvPicPr>
            <a:picLocks noChangeAspect="1"/>
          </p:cNvPicPr>
          <p:nvPr/>
        </p:nvPicPr>
        <p:blipFill>
          <a:blip r:embed="rId7"/>
          <a:srcRect t="-6603" b="-6603"/>
          <a:stretch/>
        </p:blipFill>
        <p:spPr>
          <a:xfrm>
            <a:off x="800100" y="2211934"/>
            <a:ext cx="161849" cy="209398"/>
          </a:xfrm>
          <a:prstGeom prst="rect">
            <a:avLst/>
          </a:prstGeom>
        </p:spPr>
      </p:pic>
      <p:sp>
        <p:nvSpPr>
          <p:cNvPr id="27" name="Text 20"/>
          <p:cNvSpPr txBox="1"/>
          <p:nvPr/>
        </p:nvSpPr>
        <p:spPr>
          <a:xfrm>
            <a:off x="1037844" y="2991917"/>
            <a:ext cx="241493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GCC-Native Intelligence</a:t>
            </a:r>
            <a:endParaRPr lang="en-US" sz="1400"/>
          </a:p>
        </p:txBody>
      </p:sp>
      <p:sp>
        <p:nvSpPr>
          <p:cNvPr id="28" name="Text 21"/>
          <p:cNvSpPr txBox="1"/>
          <p:nvPr/>
        </p:nvSpPr>
        <p:spPr>
          <a:xfrm>
            <a:off x="800100" y="33348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Forged through 300+ active GCC deployments. We see the next problem before it shows up because we have already solved it somewhere else.</a:t>
            </a:r>
            <a:endParaRPr lang="en-US" sz="1300"/>
          </a:p>
        </p:txBody>
      </p:sp>
      <p:pic>
        <p:nvPicPr>
          <p:cNvPr id="29" name="Image 5" descr="gen-dedup-0c58ce2f3d3941653435c84e3cc91c65.png"/>
          <p:cNvPicPr>
            <a:picLocks noChangeAspect="1"/>
          </p:cNvPicPr>
          <p:nvPr/>
        </p:nvPicPr>
        <p:blipFill>
          <a:blip r:embed="rId8"/>
          <a:srcRect t="-14689" b="-14689"/>
          <a:stretch/>
        </p:blipFill>
        <p:spPr>
          <a:xfrm>
            <a:off x="800100" y="3055925"/>
            <a:ext cx="161849" cy="209398"/>
          </a:xfrm>
          <a:prstGeom prst="rect">
            <a:avLst/>
          </a:prstGeom>
        </p:spPr>
      </p:pic>
      <p:sp>
        <p:nvSpPr>
          <p:cNvPr id="30" name="Text 22"/>
          <p:cNvSpPr txBox="1"/>
          <p:nvPr/>
        </p:nvSpPr>
        <p:spPr>
          <a:xfrm>
            <a:off x="1037844" y="3944722"/>
            <a:ext cx="1633118"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AI at Every Step</a:t>
            </a:r>
            <a:endParaRPr lang="en-US" sz="1400"/>
          </a:p>
        </p:txBody>
      </p:sp>
      <p:sp>
        <p:nvSpPr>
          <p:cNvPr id="31" name="Text 23"/>
          <p:cNvSpPr txBox="1"/>
          <p:nvPr/>
        </p:nvSpPr>
        <p:spPr>
          <a:xfrm>
            <a:off x="800100" y="4287622"/>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TalentAI + TalentSphere: AI-ranked pools, voice-agent screening, skill graphs, predictive placement. Every tool passed our 40% improvement gate internally.</a:t>
            </a:r>
            <a:endParaRPr lang="en-US" sz="1300"/>
          </a:p>
        </p:txBody>
      </p:sp>
      <p:pic>
        <p:nvPicPr>
          <p:cNvPr id="32" name="Image 6" descr="gen-dedup-da669e206ac26c7983b1f8612c832ea6.png"/>
          <p:cNvPicPr>
            <a:picLocks noChangeAspect="1"/>
          </p:cNvPicPr>
          <p:nvPr/>
        </p:nvPicPr>
        <p:blipFill>
          <a:blip r:embed="rId9"/>
          <a:srcRect t="-30861" b="-30861"/>
          <a:stretch/>
        </p:blipFill>
        <p:spPr>
          <a:xfrm>
            <a:off x="800100" y="4008730"/>
            <a:ext cx="161849" cy="209398"/>
          </a:xfrm>
          <a:prstGeom prst="rect">
            <a:avLst/>
          </a:prstGeom>
        </p:spPr>
      </p:pic>
      <p:sp>
        <p:nvSpPr>
          <p:cNvPr id="33" name="Text 24"/>
          <p:cNvSpPr txBox="1"/>
          <p:nvPr/>
        </p:nvSpPr>
        <p:spPr>
          <a:xfrm>
            <a:off x="1037844" y="4897526"/>
            <a:ext cx="246065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Pod Governance Built In</a:t>
            </a:r>
            <a:endParaRPr lang="en-US" sz="1400"/>
          </a:p>
        </p:txBody>
      </p:sp>
      <p:sp>
        <p:nvSpPr>
          <p:cNvPr id="34" name="Text 25"/>
          <p:cNvSpPr txBox="1"/>
          <p:nvPr/>
        </p:nvSpPr>
        <p:spPr>
          <a:xfrm>
            <a:off x="800100" y="5240426"/>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 dedicated Pod Manager - not billed to client - owns sprint governance, performance tracking, and L&amp;D coordination. This is a pod, not a staffing drop.</a:t>
            </a:r>
            <a:endParaRPr lang="en-US" sz="1300"/>
          </a:p>
        </p:txBody>
      </p:sp>
      <p:pic>
        <p:nvPicPr>
          <p:cNvPr id="35" name="Image 7" descr="gen-dedup-5d8964838ee5ef7b6e1692b5297312cd.png"/>
          <p:cNvPicPr>
            <a:picLocks noChangeAspect="1"/>
          </p:cNvPicPr>
          <p:nvPr/>
        </p:nvPicPr>
        <p:blipFill>
          <a:blip r:embed="rId10"/>
          <a:srcRect t="-30861" b="-30861"/>
          <a:stretch/>
        </p:blipFill>
        <p:spPr>
          <a:xfrm>
            <a:off x="800100" y="4960620"/>
            <a:ext cx="161849" cy="209398"/>
          </a:xfrm>
          <a:prstGeom prst="rect">
            <a:avLst/>
          </a:prstGeom>
        </p:spPr>
      </p:pic>
      <p:sp>
        <p:nvSpPr>
          <p:cNvPr id="36" name="Text 26"/>
          <p:cNvSpPr txBox="1"/>
          <p:nvPr/>
        </p:nvSpPr>
        <p:spPr>
          <a:xfrm>
            <a:off x="1037844" y="5849417"/>
            <a:ext cx="2051914"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Validated Playbooks</a:t>
            </a:r>
            <a:endParaRPr lang="en-US" sz="1400"/>
          </a:p>
        </p:txBody>
      </p:sp>
      <p:sp>
        <p:nvSpPr>
          <p:cNvPr id="37" name="Text 27"/>
          <p:cNvSpPr txBox="1"/>
          <p:nvPr/>
        </p:nvSpPr>
        <p:spPr>
          <a:xfrm>
            <a:off x="800100" y="61923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Every tool, process, and accelerator has passed our internal 40% improvement gate. Clients benefit from completed learning - not our experimentation.</a:t>
            </a:r>
            <a:endParaRPr lang="en-US" sz="1300"/>
          </a:p>
        </p:txBody>
      </p:sp>
      <p:pic>
        <p:nvPicPr>
          <p:cNvPr id="38" name="Image 8" descr="gen-dedup-001fb79ce367df5df5f79805d3e188cd.png"/>
          <p:cNvPicPr>
            <a:picLocks noChangeAspect="1"/>
          </p:cNvPicPr>
          <p:nvPr/>
        </p:nvPicPr>
        <p:blipFill>
          <a:blip r:embed="rId11"/>
          <a:srcRect t="-22775" b="-22775"/>
          <a:stretch/>
        </p:blipFill>
        <p:spPr>
          <a:xfrm>
            <a:off x="800100" y="5913425"/>
            <a:ext cx="161849" cy="20939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382305" y="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3524098"/>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8" name="Image 2" descr="gen-dedup-50f81f9bdcb5400074144f35c0ecb91c.png"/>
          <p:cNvPicPr>
            <a:picLocks noChangeAspect="1"/>
          </p:cNvPicPr>
          <p:nvPr/>
        </p:nvPicPr>
        <p:blipFill>
          <a:blip r:embed="rId5"/>
          <a:srcRect l="-7" r="-7"/>
          <a:stretch/>
        </p:blipFill>
        <p:spPr>
          <a:xfrm>
            <a:off x="2704795" y="1238098"/>
            <a:ext cx="3143707" cy="4457700"/>
          </a:xfrm>
          <a:prstGeom prst="rect">
            <a:avLst/>
          </a:prstGeom>
        </p:spPr>
      </p:pic>
      <p:sp>
        <p:nvSpPr>
          <p:cNvPr id="9" name="Shape 4"/>
          <p:cNvSpPr/>
          <p:nvPr/>
        </p:nvSpPr>
        <p:spPr>
          <a:xfrm>
            <a:off x="609905" y="5762549"/>
            <a:ext cx="10992002" cy="847649"/>
          </a:xfrm>
          <a:prstGeom prst="roundRect">
            <a:avLst>
              <a:gd name="adj" fmla="val 19393"/>
            </a:avLst>
          </a:prstGeom>
          <a:solidFill>
            <a:srgbClr val="F8FAFC"/>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pic>
        <p:nvPicPr>
          <p:cNvPr id="10" name="Image 3" descr="gen-dedup-1004aa64a550a79a04cd74d7f57c96c1.png"/>
          <p:cNvPicPr>
            <a:picLocks noChangeAspect="1"/>
          </p:cNvPicPr>
          <p:nvPr/>
        </p:nvPicPr>
        <p:blipFill>
          <a:blip r:embed="rId6"/>
          <a:srcRect l="-2083" r="-2083"/>
          <a:stretch/>
        </p:blipFill>
        <p:spPr>
          <a:xfrm>
            <a:off x="609905" y="2467051"/>
            <a:ext cx="10972800" cy="9144"/>
          </a:xfrm>
          <a:prstGeom prst="rect">
            <a:avLst/>
          </a:prstGeom>
        </p:spPr>
      </p:pic>
      <p:pic>
        <p:nvPicPr>
          <p:cNvPr id="11" name="Image 4" descr="gen-dedup-1004aa64a550a79a04cd74d7f57c96c1.png"/>
          <p:cNvPicPr>
            <a:picLocks noChangeAspect="1"/>
          </p:cNvPicPr>
          <p:nvPr/>
        </p:nvPicPr>
        <p:blipFill>
          <a:blip r:embed="rId6"/>
          <a:srcRect l="-2083" r="-2083"/>
          <a:stretch/>
        </p:blipFill>
        <p:spPr>
          <a:xfrm>
            <a:off x="609905" y="3267151"/>
            <a:ext cx="10972800" cy="9144"/>
          </a:xfrm>
          <a:prstGeom prst="rect">
            <a:avLst/>
          </a:prstGeom>
        </p:spPr>
      </p:pic>
      <p:pic>
        <p:nvPicPr>
          <p:cNvPr id="12" name="Image 5" descr="gen-dedup-1004aa64a550a79a04cd74d7f57c96c1.png"/>
          <p:cNvPicPr>
            <a:picLocks noChangeAspect="1"/>
          </p:cNvPicPr>
          <p:nvPr/>
        </p:nvPicPr>
        <p:blipFill>
          <a:blip r:embed="rId6"/>
          <a:srcRect l="-2083" r="-2083"/>
          <a:stretch/>
        </p:blipFill>
        <p:spPr>
          <a:xfrm>
            <a:off x="609905" y="4067251"/>
            <a:ext cx="10972800" cy="9144"/>
          </a:xfrm>
          <a:prstGeom prst="rect">
            <a:avLst/>
          </a:prstGeom>
        </p:spPr>
      </p:pic>
      <p:pic>
        <p:nvPicPr>
          <p:cNvPr id="13" name="Image 6" descr="gen-dedup-1004aa64a550a79a04cd74d7f57c96c1.png"/>
          <p:cNvPicPr>
            <a:picLocks noChangeAspect="1"/>
          </p:cNvPicPr>
          <p:nvPr/>
        </p:nvPicPr>
        <p:blipFill>
          <a:blip r:embed="rId6"/>
          <a:srcRect l="-2083" r="-2083"/>
          <a:stretch/>
        </p:blipFill>
        <p:spPr>
          <a:xfrm>
            <a:off x="609905" y="4867351"/>
            <a:ext cx="10972800" cy="9144"/>
          </a:xfrm>
          <a:prstGeom prst="rect">
            <a:avLst/>
          </a:prstGeom>
        </p:spPr>
      </p:pic>
      <p:pic>
        <p:nvPicPr>
          <p:cNvPr id="14" name="Image 7" descr="gen-dedup-06e3d16aa0e9246458a784af17ea21a8.png"/>
          <p:cNvPicPr>
            <a:picLocks noChangeAspect="1"/>
          </p:cNvPicPr>
          <p:nvPr/>
        </p:nvPicPr>
        <p:blipFill>
          <a:blip r:embed="rId7"/>
          <a:srcRect l="-437" r="-437"/>
          <a:stretch/>
        </p:blipFill>
        <p:spPr>
          <a:xfrm>
            <a:off x="609905" y="390449"/>
            <a:ext cx="57607" cy="418795"/>
          </a:xfrm>
          <a:prstGeom prst="rect">
            <a:avLst/>
          </a:prstGeom>
        </p:spPr>
      </p:pic>
      <p:sp>
        <p:nvSpPr>
          <p:cNvPr id="15" name="Text 5"/>
          <p:cNvSpPr txBox="1"/>
          <p:nvPr/>
        </p:nvSpPr>
        <p:spPr>
          <a:xfrm>
            <a:off x="819302" y="390449"/>
            <a:ext cx="10478110" cy="381305"/>
          </a:xfrm>
          <a:prstGeom prst="rect">
            <a:avLst/>
          </a:prstGeom>
          <a:noFill/>
          <a:ln/>
        </p:spPr>
        <p:txBody>
          <a:bodyPr wrap="squar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WHY J2W - NOT THE BIG 4 OR LARGE SIs</a:t>
            </a:r>
            <a:endParaRPr lang="en-US" sz="2700"/>
          </a:p>
        </p:txBody>
      </p:sp>
      <p:sp>
        <p:nvSpPr>
          <p:cNvPr id="16" name="Text 6"/>
          <p:cNvSpPr txBox="1"/>
          <p:nvPr/>
        </p:nvSpPr>
        <p:spPr>
          <a:xfrm>
            <a:off x="819302" y="824789"/>
            <a:ext cx="10478110" cy="181051"/>
          </a:xfrm>
          <a:prstGeom prst="rect">
            <a:avLst/>
          </a:prstGeom>
          <a:noFill/>
          <a:ln/>
        </p:spPr>
        <p:txBody>
          <a:bodyPr wrap="squar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200"/>
          </a:p>
        </p:txBody>
      </p:sp>
      <p:sp>
        <p:nvSpPr>
          <p:cNvPr id="17" name="Text 7"/>
          <p:cNvSpPr txBox="1"/>
          <p:nvPr/>
        </p:nvSpPr>
        <p:spPr>
          <a:xfrm>
            <a:off x="2704795" y="1333195"/>
            <a:ext cx="3143707" cy="286207"/>
          </a:xfrm>
          <a:prstGeom prst="rect">
            <a:avLst/>
          </a:prstGeom>
          <a:noFill/>
          <a:ln/>
        </p:spPr>
        <p:txBody>
          <a:bodyPr wrap="squar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JoulesToWatts + J2W</a:t>
            </a:r>
            <a:endParaRPr lang="en-US" sz="1500"/>
          </a:p>
        </p:txBody>
      </p:sp>
      <p:sp>
        <p:nvSpPr>
          <p:cNvPr id="18" name="Text 8"/>
          <p:cNvSpPr txBox="1"/>
          <p:nvPr/>
        </p:nvSpPr>
        <p:spPr>
          <a:xfrm>
            <a:off x="5848502" y="1333195"/>
            <a:ext cx="2857500"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Big 4 / Top IT SIs</a:t>
            </a:r>
            <a:endParaRPr lang="en-US" sz="1500"/>
          </a:p>
        </p:txBody>
      </p:sp>
      <p:sp>
        <p:nvSpPr>
          <p:cNvPr id="19" name="Text 9"/>
          <p:cNvSpPr txBox="1"/>
          <p:nvPr/>
        </p:nvSpPr>
        <p:spPr>
          <a:xfrm>
            <a:off x="8706002" y="1333195"/>
            <a:ext cx="2876702"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Staffing Agencies</a:t>
            </a:r>
            <a:endParaRPr lang="en-US" sz="1500"/>
          </a:p>
        </p:txBody>
      </p:sp>
      <p:sp>
        <p:nvSpPr>
          <p:cNvPr id="20" name="Text 10"/>
          <p:cNvSpPr txBox="1"/>
          <p:nvPr/>
        </p:nvSpPr>
        <p:spPr>
          <a:xfrm>
            <a:off x="609905" y="19906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ROI &amp; Outcome Model</a:t>
            </a:r>
            <a:endParaRPr lang="en-US" sz="1000"/>
          </a:p>
        </p:txBody>
      </p:sp>
      <p:sp>
        <p:nvSpPr>
          <p:cNvPr id="21" name="Text 11"/>
          <p:cNvSpPr txBox="1"/>
          <p:nvPr/>
        </p:nvSpPr>
        <p:spPr>
          <a:xfrm>
            <a:off x="2895905" y="18068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000"/>
          </a:p>
        </p:txBody>
      </p:sp>
      <p:sp>
        <p:nvSpPr>
          <p:cNvPr id="22" name="Text 12"/>
          <p:cNvSpPr txBox="1"/>
          <p:nvPr/>
        </p:nvSpPr>
        <p:spPr>
          <a:xfrm>
            <a:off x="6038698" y="18068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Heavy retainers + longer payback cycles. High technical debt risk on failed transformations</a:t>
            </a:r>
            <a:endParaRPr lang="en-US" sz="1000"/>
          </a:p>
        </p:txBody>
      </p:sp>
      <p:sp>
        <p:nvSpPr>
          <p:cNvPr id="23" name="Text 13"/>
          <p:cNvSpPr txBox="1"/>
          <p:nvPr/>
        </p:nvSpPr>
        <p:spPr>
          <a:xfrm>
            <a:off x="8896198" y="18937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Headcount model only. Zero delivery ownership or outcome accountability</a:t>
            </a:r>
            <a:endParaRPr lang="en-US" sz="1000"/>
          </a:p>
        </p:txBody>
      </p:sp>
      <p:sp>
        <p:nvSpPr>
          <p:cNvPr id="24" name="Text 14"/>
          <p:cNvSpPr txBox="1"/>
          <p:nvPr/>
        </p:nvSpPr>
        <p:spPr>
          <a:xfrm>
            <a:off x="609905" y="27907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Time-To-Value</a:t>
            </a:r>
            <a:endParaRPr lang="en-US" sz="1000"/>
          </a:p>
        </p:txBody>
      </p:sp>
      <p:sp>
        <p:nvSpPr>
          <p:cNvPr id="25" name="Text 15"/>
          <p:cNvSpPr txBox="1"/>
          <p:nvPr/>
        </p:nvSpPr>
        <p:spPr>
          <a:xfrm>
            <a:off x="2895905" y="26069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000"/>
          </a:p>
        </p:txBody>
      </p:sp>
      <p:sp>
        <p:nvSpPr>
          <p:cNvPr id="26" name="Text 16"/>
          <p:cNvSpPr txBox="1"/>
          <p:nvPr/>
        </p:nvSpPr>
        <p:spPr>
          <a:xfrm>
            <a:off x="6038698" y="26069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Lengthy consulting cycles with SI-driven models - higher costs &amp; slower results</a:t>
            </a:r>
            <a:endParaRPr lang="en-US" sz="1000"/>
          </a:p>
        </p:txBody>
      </p:sp>
      <p:sp>
        <p:nvSpPr>
          <p:cNvPr id="27" name="Text 17"/>
          <p:cNvSpPr txBox="1"/>
          <p:nvPr/>
        </p:nvSpPr>
        <p:spPr>
          <a:xfrm>
            <a:off x="8896198" y="27806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28" name="Text 18"/>
          <p:cNvSpPr txBox="1"/>
          <p:nvPr/>
        </p:nvSpPr>
        <p:spPr>
          <a:xfrm>
            <a:off x="609905" y="35908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 Data Governance</a:t>
            </a:r>
            <a:endParaRPr lang="en-US" sz="1000"/>
          </a:p>
        </p:txBody>
      </p:sp>
      <p:sp>
        <p:nvSpPr>
          <p:cNvPr id="29" name="Text 19"/>
          <p:cNvSpPr txBox="1"/>
          <p:nvPr/>
        </p:nvSpPr>
        <p:spPr>
          <a:xfrm>
            <a:off x="2895905" y="3321101"/>
            <a:ext cx="2762402" cy="6958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000"/>
          </a:p>
        </p:txBody>
      </p:sp>
      <p:sp>
        <p:nvSpPr>
          <p:cNvPr id="30" name="Text 20"/>
          <p:cNvSpPr txBox="1"/>
          <p:nvPr/>
        </p:nvSpPr>
        <p:spPr>
          <a:xfrm>
            <a:off x="6038698" y="34070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Claims excellence, but multiple public incidents (e.g. Deloitte AU govt penalties) undermine credibility</a:t>
            </a:r>
            <a:endParaRPr lang="en-US" sz="1000"/>
          </a:p>
        </p:txBody>
      </p:sp>
      <p:sp>
        <p:nvSpPr>
          <p:cNvPr id="31" name="Text 21"/>
          <p:cNvSpPr txBox="1"/>
          <p:nvPr/>
        </p:nvSpPr>
        <p:spPr>
          <a:xfrm>
            <a:off x="8896198" y="35807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2" name="Text 22"/>
          <p:cNvSpPr txBox="1"/>
          <p:nvPr/>
        </p:nvSpPr>
        <p:spPr>
          <a:xfrm>
            <a:off x="609905" y="43909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OPEX Optimisation</a:t>
            </a:r>
            <a:endParaRPr lang="en-US" sz="1000"/>
          </a:p>
        </p:txBody>
      </p:sp>
      <p:sp>
        <p:nvSpPr>
          <p:cNvPr id="33" name="Text 23"/>
          <p:cNvSpPr txBox="1"/>
          <p:nvPr/>
        </p:nvSpPr>
        <p:spPr>
          <a:xfrm>
            <a:off x="2895905" y="42071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000"/>
          </a:p>
        </p:txBody>
      </p:sp>
      <p:sp>
        <p:nvSpPr>
          <p:cNvPr id="34" name="Text 24"/>
          <p:cNvSpPr txBox="1"/>
          <p:nvPr/>
        </p:nvSpPr>
        <p:spPr>
          <a:xfrm>
            <a:off x="6038698" y="42940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 </a:t>
            </a:r>
            <a:r>
              <a:rPr lang="en-US" sz="1000" err="1">
                <a:solidFill>
                  <a:srgbClr val="475569"/>
                </a:solidFill>
                <a:latin typeface="Raleway" pitchFamily="34" charset="0"/>
                <a:ea typeface="Raleway" pitchFamily="34" charset="-122"/>
                <a:cs typeface="Raleway" pitchFamily="34" charset="-120"/>
              </a:rPr>
              <a:t>incentivised</a:t>
            </a:r>
            <a:r>
              <a:rPr lang="en-US" sz="1000">
                <a:solidFill>
                  <a:srgbClr val="475569"/>
                </a:solidFill>
                <a:latin typeface="Raleway" pitchFamily="34" charset="0"/>
                <a:ea typeface="Raleway" pitchFamily="34" charset="-122"/>
                <a:cs typeface="Raleway" pitchFamily="34" charset="-120"/>
              </a:rPr>
              <a:t> to </a:t>
            </a:r>
            <a:r>
              <a:rPr lang="en-US" sz="1000" err="1">
                <a:solidFill>
                  <a:srgbClr val="475569"/>
                </a:solidFill>
                <a:latin typeface="Raleway" pitchFamily="34" charset="0"/>
                <a:ea typeface="Raleway" pitchFamily="34" charset="-122"/>
                <a:cs typeface="Raleway" pitchFamily="34" charset="-120"/>
              </a:rPr>
              <a:t>maximise</a:t>
            </a:r>
            <a:r>
              <a:rPr lang="en-US" sz="1000">
                <a:solidFill>
                  <a:srgbClr val="475569"/>
                </a:solidFill>
                <a:latin typeface="Raleway" pitchFamily="34" charset="0"/>
                <a:ea typeface="Raleway" pitchFamily="34" charset="-122"/>
                <a:cs typeface="Raleway" pitchFamily="34" charset="-120"/>
              </a:rPr>
              <a:t> </a:t>
            </a:r>
            <a:r>
              <a:rPr lang="en-US" sz="1000" err="1">
                <a:solidFill>
                  <a:srgbClr val="475569"/>
                </a:solidFill>
                <a:latin typeface="Raleway" pitchFamily="34" charset="0"/>
                <a:ea typeface="Raleway" pitchFamily="34" charset="-122"/>
                <a:cs typeface="Raleway" pitchFamily="34" charset="-120"/>
              </a:rPr>
              <a:t>licences</a:t>
            </a:r>
            <a:r>
              <a:rPr lang="en-US" sz="1000">
                <a:solidFill>
                  <a:srgbClr val="475569"/>
                </a:solidFill>
                <a:latin typeface="Raleway" pitchFamily="34" charset="0"/>
                <a:ea typeface="Raleway" pitchFamily="34" charset="-122"/>
                <a:cs typeface="Raleway" pitchFamily="34" charset="-120"/>
              </a:rPr>
              <a:t> &amp; tokens - not to </a:t>
            </a:r>
            <a:r>
              <a:rPr lang="en-US" sz="1000" err="1">
                <a:solidFill>
                  <a:srgbClr val="475569"/>
                </a:solidFill>
                <a:latin typeface="Raleway" pitchFamily="34" charset="0"/>
                <a:ea typeface="Raleway" pitchFamily="34" charset="-122"/>
                <a:cs typeface="Raleway" pitchFamily="34" charset="-120"/>
              </a:rPr>
              <a:t>optimise</a:t>
            </a:r>
            <a:r>
              <a:rPr lang="en-US" sz="1000">
                <a:solidFill>
                  <a:srgbClr val="475569"/>
                </a:solidFill>
                <a:latin typeface="Raleway" pitchFamily="34" charset="0"/>
                <a:ea typeface="Raleway" pitchFamily="34" charset="-122"/>
                <a:cs typeface="Raleway" pitchFamily="34" charset="-120"/>
              </a:rPr>
              <a:t> your cost</a:t>
            </a:r>
            <a:endParaRPr lang="en-US" sz="1000"/>
          </a:p>
        </p:txBody>
      </p:sp>
      <p:sp>
        <p:nvSpPr>
          <p:cNvPr id="35" name="Text 25"/>
          <p:cNvSpPr txBox="1"/>
          <p:nvPr/>
        </p:nvSpPr>
        <p:spPr>
          <a:xfrm>
            <a:off x="8896198" y="43808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6" name="Text 26"/>
          <p:cNvSpPr txBox="1"/>
          <p:nvPr/>
        </p:nvSpPr>
        <p:spPr>
          <a:xfrm>
            <a:off x="609905" y="5191049"/>
            <a:ext cx="2143354"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Talent &amp; Managed Services</a:t>
            </a:r>
            <a:endParaRPr lang="en-US" sz="1000"/>
          </a:p>
        </p:txBody>
      </p:sp>
      <p:sp>
        <p:nvSpPr>
          <p:cNvPr id="37" name="Text 27"/>
          <p:cNvSpPr txBox="1"/>
          <p:nvPr/>
        </p:nvSpPr>
        <p:spPr>
          <a:xfrm>
            <a:off x="2895905" y="50072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7,200+ in-house consultants · 300+ recruiters · 2 proprietary hiring platforms · No subcontracting</a:t>
            </a:r>
            <a:endParaRPr lang="en-US" sz="1000"/>
          </a:p>
        </p:txBody>
      </p:sp>
      <p:sp>
        <p:nvSpPr>
          <p:cNvPr id="38" name="Text 28"/>
          <p:cNvSpPr txBox="1"/>
          <p:nvPr/>
        </p:nvSpPr>
        <p:spPr>
          <a:xfrm>
            <a:off x="6038698" y="50941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Frequently subcontract. No proprietary hiring platforms</a:t>
            </a:r>
            <a:endParaRPr lang="en-US" sz="1000"/>
          </a:p>
        </p:txBody>
      </p:sp>
      <p:sp>
        <p:nvSpPr>
          <p:cNvPr id="39" name="Text 29"/>
          <p:cNvSpPr txBox="1"/>
          <p:nvPr/>
        </p:nvSpPr>
        <p:spPr>
          <a:xfrm>
            <a:off x="8896198" y="50941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Lacks SME depth &amp; governance. Outcome ownership absent</a:t>
            </a:r>
            <a:endParaRPr lang="en-US" sz="1000"/>
          </a:p>
        </p:txBody>
      </p:sp>
      <p:sp>
        <p:nvSpPr>
          <p:cNvPr id="40" name="Shape 30"/>
          <p:cNvSpPr/>
          <p:nvPr/>
        </p:nvSpPr>
        <p:spPr>
          <a:xfrm>
            <a:off x="2315261" y="5762549"/>
            <a:ext cx="9144" cy="828446"/>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1"/>
          <p:cNvSpPr txBox="1"/>
          <p:nvPr/>
        </p:nvSpPr>
        <p:spPr>
          <a:xfrm>
            <a:off x="1185062" y="6072530"/>
            <a:ext cx="1043330" cy="210312"/>
          </a:xfrm>
          <a:prstGeom prst="rect">
            <a:avLst/>
          </a:prstGeom>
          <a:noFill/>
          <a:ln/>
        </p:spPr>
        <p:txBody>
          <a:bodyPr wrap="square" lIns="0" tIns="0" rIns="0" bIns="0" rtlCol="0" anchor="ctr"/>
          <a:lstStyle/>
          <a:p>
            <a:pPr marL="0" indent="0" algn="l">
              <a:buNone/>
            </a:pPr>
            <a:r>
              <a:rPr lang="en-US" sz="1100" b="1" kern="0" spc="56">
                <a:solidFill>
                  <a:srgbClr val="64748B"/>
                </a:solidFill>
                <a:latin typeface="Oswald" pitchFamily="34" charset="0"/>
                <a:ea typeface="Oswald" pitchFamily="34" charset="-122"/>
                <a:cs typeface="Oswald" pitchFamily="34" charset="-120"/>
              </a:rPr>
              <a:t> KEY METRICS</a:t>
            </a:r>
            <a:endParaRPr lang="en-US" sz="1100"/>
          </a:p>
        </p:txBody>
      </p:sp>
      <p:pic>
        <p:nvPicPr>
          <p:cNvPr id="42" name="Image 8" descr="gen-dedup-0bed6a635fcb1d23b7a23c5aaedf5133.png"/>
          <p:cNvPicPr>
            <a:picLocks noChangeAspect="1"/>
          </p:cNvPicPr>
          <p:nvPr/>
        </p:nvPicPr>
        <p:blipFill>
          <a:blip r:embed="rId8"/>
          <a:srcRect l="-3526" r="-3526"/>
          <a:stretch/>
        </p:blipFill>
        <p:spPr>
          <a:xfrm>
            <a:off x="913486" y="6118250"/>
            <a:ext cx="152705" cy="142646"/>
          </a:xfrm>
          <a:prstGeom prst="rect">
            <a:avLst/>
          </a:prstGeom>
        </p:spPr>
      </p:pic>
      <p:sp>
        <p:nvSpPr>
          <p:cNvPr id="43" name="Text 32"/>
          <p:cNvSpPr txBox="1"/>
          <p:nvPr/>
        </p:nvSpPr>
        <p:spPr>
          <a:xfrm>
            <a:off x="2506370"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5,500</a:t>
            </a:r>
            <a:endParaRPr lang="en-US" sz="1800"/>
          </a:p>
        </p:txBody>
      </p:sp>
      <p:sp>
        <p:nvSpPr>
          <p:cNvPr id="44" name="Text 33"/>
          <p:cNvSpPr txBox="1"/>
          <p:nvPr/>
        </p:nvSpPr>
        <p:spPr>
          <a:xfrm>
            <a:off x="2506370"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In-house Consultants</a:t>
            </a:r>
            <a:endParaRPr lang="en-US" sz="800"/>
          </a:p>
        </p:txBody>
      </p:sp>
      <p:pic>
        <p:nvPicPr>
          <p:cNvPr id="45" name="Image 9" descr="gen-dedup-bc499f386c10f37c45470adccc65c0cd.png"/>
          <p:cNvPicPr>
            <a:picLocks noChangeAspect="1"/>
          </p:cNvPicPr>
          <p:nvPr/>
        </p:nvPicPr>
        <p:blipFill>
          <a:blip r:embed="rId9"/>
          <a:srcRect t="-2165" b="-2165"/>
          <a:stretch/>
        </p:blipFill>
        <p:spPr>
          <a:xfrm>
            <a:off x="4225442" y="6034126"/>
            <a:ext cx="9144" cy="286207"/>
          </a:xfrm>
          <a:prstGeom prst="rect">
            <a:avLst/>
          </a:prstGeom>
        </p:spPr>
      </p:pic>
      <p:sp>
        <p:nvSpPr>
          <p:cNvPr id="46" name="Text 34"/>
          <p:cNvSpPr txBox="1"/>
          <p:nvPr/>
        </p:nvSpPr>
        <p:spPr>
          <a:xfrm>
            <a:off x="4321454" y="5981090"/>
            <a:ext cx="1638605" cy="228600"/>
          </a:xfrm>
          <a:prstGeom prst="rect">
            <a:avLst/>
          </a:prstGeom>
          <a:noFill/>
          <a:ln/>
        </p:spPr>
        <p:txBody>
          <a:bodyPr wrap="square" lIns="0" tIns="0" rIns="0" bIns="0" rtlCol="0" anchor="ctr"/>
          <a:lstStyle/>
          <a:p>
            <a:pPr marL="0" indent="0" algn="ctr">
              <a:buNone/>
            </a:pPr>
            <a:r>
              <a:rPr lang="en-US" b="1">
                <a:solidFill>
                  <a:srgbClr val="2A9D8F"/>
                </a:solidFill>
                <a:latin typeface="Oswald" pitchFamily="34" charset="0"/>
                <a:ea typeface="Oswald" pitchFamily="34" charset="-122"/>
                <a:cs typeface="Oswald" pitchFamily="34" charset="-120"/>
              </a:rPr>
              <a:t>6</a:t>
            </a:r>
            <a:r>
              <a:rPr lang="en-US" sz="1800" b="1">
                <a:solidFill>
                  <a:srgbClr val="2A9D8F"/>
                </a:solidFill>
                <a:latin typeface="Oswald" pitchFamily="34" charset="0"/>
                <a:ea typeface="Oswald" pitchFamily="34" charset="-122"/>
                <a:cs typeface="Oswald" pitchFamily="34" charset="-120"/>
              </a:rPr>
              <a:t>0+</a:t>
            </a:r>
            <a:endParaRPr lang="en-US" sz="1800"/>
          </a:p>
        </p:txBody>
      </p:sp>
      <p:sp>
        <p:nvSpPr>
          <p:cNvPr id="47" name="Text 35"/>
          <p:cNvSpPr txBox="1"/>
          <p:nvPr/>
        </p:nvSpPr>
        <p:spPr>
          <a:xfrm>
            <a:off x="4321454"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Accelerators</a:t>
            </a:r>
            <a:endParaRPr lang="en-US" sz="800"/>
          </a:p>
        </p:txBody>
      </p:sp>
      <p:pic>
        <p:nvPicPr>
          <p:cNvPr id="48" name="Image 10" descr="gen-dedup-bc499f386c10f37c45470adccc65c0cd.png"/>
          <p:cNvPicPr>
            <a:picLocks noChangeAspect="1"/>
          </p:cNvPicPr>
          <p:nvPr/>
        </p:nvPicPr>
        <p:blipFill>
          <a:blip r:embed="rId9"/>
          <a:srcRect t="-2165" b="-2165"/>
          <a:stretch/>
        </p:blipFill>
        <p:spPr>
          <a:xfrm>
            <a:off x="6040526" y="6034126"/>
            <a:ext cx="9144" cy="286207"/>
          </a:xfrm>
          <a:prstGeom prst="rect">
            <a:avLst/>
          </a:prstGeom>
        </p:spPr>
      </p:pic>
      <p:sp>
        <p:nvSpPr>
          <p:cNvPr id="49" name="Text 36"/>
          <p:cNvSpPr txBox="1"/>
          <p:nvPr/>
        </p:nvSpPr>
        <p:spPr>
          <a:xfrm>
            <a:off x="6137453"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30-40%</a:t>
            </a:r>
            <a:endParaRPr lang="en-US" sz="1800"/>
          </a:p>
        </p:txBody>
      </p:sp>
      <p:sp>
        <p:nvSpPr>
          <p:cNvPr id="50" name="Text 37"/>
          <p:cNvSpPr txBox="1"/>
          <p:nvPr/>
        </p:nvSpPr>
        <p:spPr>
          <a:xfrm>
            <a:off x="6137453"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OPEX Reduction</a:t>
            </a:r>
            <a:endParaRPr lang="en-US" sz="800"/>
          </a:p>
        </p:txBody>
      </p:sp>
      <p:pic>
        <p:nvPicPr>
          <p:cNvPr id="51" name="Image 11" descr="gen-dedup-bc499f386c10f37c45470adccc65c0cd.png"/>
          <p:cNvPicPr>
            <a:picLocks noChangeAspect="1"/>
          </p:cNvPicPr>
          <p:nvPr/>
        </p:nvPicPr>
        <p:blipFill>
          <a:blip r:embed="rId9"/>
          <a:srcRect t="-2165" b="-2165"/>
          <a:stretch/>
        </p:blipFill>
        <p:spPr>
          <a:xfrm>
            <a:off x="7856525" y="6034126"/>
            <a:ext cx="9144" cy="286207"/>
          </a:xfrm>
          <a:prstGeom prst="rect">
            <a:avLst/>
          </a:prstGeom>
        </p:spPr>
      </p:pic>
      <p:sp>
        <p:nvSpPr>
          <p:cNvPr id="52" name="Text 38"/>
          <p:cNvSpPr txBox="1"/>
          <p:nvPr/>
        </p:nvSpPr>
        <p:spPr>
          <a:xfrm>
            <a:off x="7952537" y="5981090"/>
            <a:ext cx="1638605" cy="228600"/>
          </a:xfrm>
          <a:prstGeom prst="rect">
            <a:avLst/>
          </a:prstGeom>
          <a:noFill/>
          <a:ln/>
        </p:spPr>
        <p:txBody>
          <a:bodyPr wrap="square" lIns="0" tIns="0" rIns="0" bIns="0" rtlCol="0" anchor="ctr"/>
          <a:lstStyle/>
          <a:p>
            <a:pPr marL="0" indent="0" algn="ctr">
              <a:buNone/>
            </a:pPr>
            <a:r>
              <a:rPr lang="en-US" sz="1800" b="1">
                <a:solidFill>
                  <a:srgbClr val="2A9D8F"/>
                </a:solidFill>
                <a:latin typeface="Oswald" pitchFamily="34" charset="0"/>
                <a:ea typeface="Oswald" pitchFamily="34" charset="-122"/>
                <a:cs typeface="Oswald" pitchFamily="34" charset="-120"/>
              </a:rPr>
              <a:t>Weeks</a:t>
            </a:r>
            <a:endParaRPr lang="en-US" sz="1800"/>
          </a:p>
        </p:txBody>
      </p:sp>
      <p:sp>
        <p:nvSpPr>
          <p:cNvPr id="53" name="Text 39"/>
          <p:cNvSpPr txBox="1"/>
          <p:nvPr/>
        </p:nvSpPr>
        <p:spPr>
          <a:xfrm>
            <a:off x="7952537"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PoC to Production</a:t>
            </a:r>
            <a:endParaRPr lang="en-US" sz="800"/>
          </a:p>
        </p:txBody>
      </p:sp>
      <p:pic>
        <p:nvPicPr>
          <p:cNvPr id="54" name="Image 12" descr="gen-dedup-bc499f386c10f37c45470adccc65c0cd.png"/>
          <p:cNvPicPr>
            <a:picLocks noChangeAspect="1"/>
          </p:cNvPicPr>
          <p:nvPr/>
        </p:nvPicPr>
        <p:blipFill>
          <a:blip r:embed="rId9"/>
          <a:srcRect t="-2165" b="-2165"/>
          <a:stretch/>
        </p:blipFill>
        <p:spPr>
          <a:xfrm>
            <a:off x="9671609" y="6034126"/>
            <a:ext cx="9144" cy="286207"/>
          </a:xfrm>
          <a:prstGeom prst="rect">
            <a:avLst/>
          </a:prstGeom>
        </p:spPr>
      </p:pic>
      <p:sp>
        <p:nvSpPr>
          <p:cNvPr id="55" name="Text 40"/>
          <p:cNvSpPr txBox="1"/>
          <p:nvPr/>
        </p:nvSpPr>
        <p:spPr>
          <a:xfrm>
            <a:off x="9767621"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0</a:t>
            </a:r>
            <a:endParaRPr lang="en-US" sz="1800"/>
          </a:p>
        </p:txBody>
      </p:sp>
      <p:sp>
        <p:nvSpPr>
          <p:cNvPr id="56" name="Text 41"/>
          <p:cNvSpPr txBox="1"/>
          <p:nvPr/>
        </p:nvSpPr>
        <p:spPr>
          <a:xfrm>
            <a:off x="9767621"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Subcontracting</a:t>
            </a:r>
            <a:endParaRPr lang="en-US" sz="800"/>
          </a:p>
        </p:txBody>
      </p:sp>
    </p:spTree>
    <p:extLst>
      <p:ext uri="{BB962C8B-B14F-4D97-AF65-F5344CB8AC3E}">
        <p14:creationId xmlns:p14="http://schemas.microsoft.com/office/powerpoint/2010/main" val="3072768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52805"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sp>
        <p:nvSpPr>
          <p:cNvPr id="7" name="Shape 3"/>
          <p:cNvSpPr/>
          <p:nvPr/>
        </p:nvSpPr>
        <p:spPr>
          <a:xfrm>
            <a:off x="9525305" y="4762195"/>
            <a:ext cx="2857500" cy="2857500"/>
          </a:xfrm>
          <a:prstGeom prst="ellipse">
            <a:avLst/>
          </a:prstGeom>
          <a:solidFill>
            <a:srgbClr val="D62839">
              <a:alpha val="3000"/>
            </a:srgbClr>
          </a:solidFill>
          <a:ln w="12700">
            <a:solidFill>
              <a:srgbClr val="FFFFFF">
                <a:alpha val="0"/>
              </a:srgbClr>
            </a:solidFill>
            <a:prstDash val="solid"/>
          </a:ln>
        </p:spPr>
        <p:txBody>
          <a:bodyPr/>
          <a:lstStyle/>
          <a:p>
            <a:endParaRPr lang="en-US"/>
          </a:p>
        </p:txBody>
      </p:sp>
      <p:pic>
        <p:nvPicPr>
          <p:cNvPr id="8" name="Image 2" descr="preencoded.png"/>
          <p:cNvPicPr>
            <a:picLocks noChangeAspect="1"/>
          </p:cNvPicPr>
          <p:nvPr/>
        </p:nvPicPr>
        <p:blipFill>
          <a:blip r:embed="rId5"/>
          <a:srcRect l="-400" r="-400"/>
          <a:stretch/>
        </p:blipFill>
        <p:spPr>
          <a:xfrm>
            <a:off x="609905" y="571500"/>
            <a:ext cx="57607" cy="571500"/>
          </a:xfrm>
          <a:prstGeom prst="rect">
            <a:avLst/>
          </a:prstGeom>
        </p:spPr>
      </p:pic>
      <p:sp>
        <p:nvSpPr>
          <p:cNvPr id="9" name="Shape 4"/>
          <p:cNvSpPr/>
          <p:nvPr/>
        </p:nvSpPr>
        <p:spPr>
          <a:xfrm>
            <a:off x="60990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5"/>
          <p:cNvSpPr/>
          <p:nvPr/>
        </p:nvSpPr>
        <p:spPr>
          <a:xfrm>
            <a:off x="60990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1" name="Shape 6"/>
          <p:cNvSpPr/>
          <p:nvPr/>
        </p:nvSpPr>
        <p:spPr>
          <a:xfrm>
            <a:off x="3372307"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7"/>
          <p:cNvSpPr/>
          <p:nvPr/>
        </p:nvSpPr>
        <p:spPr>
          <a:xfrm>
            <a:off x="3372307"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3" name="Shape 8"/>
          <p:cNvSpPr/>
          <p:nvPr/>
        </p:nvSpPr>
        <p:spPr>
          <a:xfrm>
            <a:off x="613379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9"/>
          <p:cNvSpPr/>
          <p:nvPr/>
        </p:nvSpPr>
        <p:spPr>
          <a:xfrm>
            <a:off x="613379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5" name="Shape 10"/>
          <p:cNvSpPr/>
          <p:nvPr/>
        </p:nvSpPr>
        <p:spPr>
          <a:xfrm>
            <a:off x="8896198"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1"/>
          <p:cNvSpPr/>
          <p:nvPr/>
        </p:nvSpPr>
        <p:spPr>
          <a:xfrm>
            <a:off x="8896198"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7" name="Shape 12"/>
          <p:cNvSpPr/>
          <p:nvPr/>
        </p:nvSpPr>
        <p:spPr>
          <a:xfrm>
            <a:off x="609905" y="3619195"/>
            <a:ext cx="10916107" cy="2876702"/>
          </a:xfrm>
          <a:prstGeom prst="roundRect">
            <a:avLst>
              <a:gd name="adj" fmla="val 168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pic>
        <p:nvPicPr>
          <p:cNvPr id="18" name="Image 3" descr="preencoded.png"/>
          <p:cNvPicPr>
            <a:picLocks noChangeAspect="1"/>
          </p:cNvPicPr>
          <p:nvPr/>
        </p:nvPicPr>
        <p:blipFill>
          <a:blip r:embed="rId6"/>
          <a:srcRect t="-29" b="-29"/>
          <a:stretch/>
        </p:blipFill>
        <p:spPr>
          <a:xfrm>
            <a:off x="609905" y="3619195"/>
            <a:ext cx="10896905" cy="495605"/>
          </a:xfrm>
          <a:prstGeom prst="rect">
            <a:avLst/>
          </a:prstGeom>
        </p:spPr>
      </p:pic>
      <p:sp>
        <p:nvSpPr>
          <p:cNvPr id="19" name="Shape 13"/>
          <p:cNvSpPr/>
          <p:nvPr/>
        </p:nvSpPr>
        <p:spPr>
          <a:xfrm>
            <a:off x="609905" y="4572000"/>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0" name="Shape 14"/>
          <p:cNvSpPr/>
          <p:nvPr/>
        </p:nvSpPr>
        <p:spPr>
          <a:xfrm>
            <a:off x="609905" y="4572000"/>
            <a:ext cx="10896905" cy="485546"/>
          </a:xfrm>
          <a:prstGeom prst="rect">
            <a:avLst/>
          </a:prstGeom>
          <a:solidFill>
            <a:srgbClr val="2A9D8F">
              <a:alpha val="2000"/>
            </a:srgbClr>
          </a:solidFill>
          <a:ln/>
        </p:spPr>
        <p:txBody>
          <a:bodyPr/>
          <a:lstStyle/>
          <a:p>
            <a:endParaRPr lang="en-US"/>
          </a:p>
        </p:txBody>
      </p:sp>
      <p:sp>
        <p:nvSpPr>
          <p:cNvPr id="21" name="Shape 15"/>
          <p:cNvSpPr/>
          <p:nvPr/>
        </p:nvSpPr>
        <p:spPr>
          <a:xfrm>
            <a:off x="609905" y="5048402"/>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2" name="Shape 16"/>
          <p:cNvSpPr/>
          <p:nvPr/>
        </p:nvSpPr>
        <p:spPr>
          <a:xfrm>
            <a:off x="609905" y="5524805"/>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3" name="Shape 17"/>
          <p:cNvSpPr/>
          <p:nvPr/>
        </p:nvSpPr>
        <p:spPr>
          <a:xfrm>
            <a:off x="609905" y="5524805"/>
            <a:ext cx="10896905" cy="485546"/>
          </a:xfrm>
          <a:prstGeom prst="rect">
            <a:avLst/>
          </a:prstGeom>
          <a:solidFill>
            <a:srgbClr val="2A9D8F">
              <a:alpha val="2000"/>
            </a:srgbClr>
          </a:solidFill>
          <a:ln/>
        </p:spPr>
        <p:txBody>
          <a:bodyPr/>
          <a:lstStyle/>
          <a:p>
            <a:endParaRPr lang="en-US"/>
          </a:p>
        </p:txBody>
      </p:sp>
      <p:sp>
        <p:nvSpPr>
          <p:cNvPr id="24" name="Shape 18"/>
          <p:cNvSpPr/>
          <p:nvPr/>
        </p:nvSpPr>
        <p:spPr>
          <a:xfrm>
            <a:off x="609905" y="6001207"/>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5" name="Text 19"/>
          <p:cNvSpPr txBox="1"/>
          <p:nvPr/>
        </p:nvSpPr>
        <p:spPr>
          <a:xfrm>
            <a:off x="857707" y="46634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Introducing the AI-First Pod Model</a:t>
            </a:r>
            <a:endParaRPr lang="en-US" sz="2700"/>
          </a:p>
        </p:txBody>
      </p:sp>
      <p:sp>
        <p:nvSpPr>
          <p:cNvPr id="26" name="Text 20"/>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D62839"/>
                </a:solidFill>
                <a:latin typeface="Roboto Condensed" pitchFamily="34" charset="0"/>
                <a:ea typeface="Roboto Condensed" pitchFamily="34" charset="-122"/>
                <a:cs typeface="Roboto Condensed" pitchFamily="34" charset="-120"/>
              </a:rPr>
              <a:t>A MANAGED, GOVERNED ENGINEERING UNIT - NOT JUST STAFFING WITH A WRAPPER.</a:t>
            </a:r>
            <a:endParaRPr lang="en-US" sz="1300"/>
          </a:p>
        </p:txBody>
      </p:sp>
      <p:pic>
        <p:nvPicPr>
          <p:cNvPr id="27" name="Image 4" descr="preencoded.png"/>
          <p:cNvPicPr>
            <a:picLocks noChangeAspect="1"/>
          </p:cNvPicPr>
          <p:nvPr/>
        </p:nvPicPr>
        <p:blipFill>
          <a:blip r:embed="rId7"/>
          <a:srcRect/>
          <a:stretch/>
        </p:blipFill>
        <p:spPr>
          <a:xfrm>
            <a:off x="823874" y="1772107"/>
            <a:ext cx="333756" cy="267005"/>
          </a:xfrm>
          <a:prstGeom prst="rect">
            <a:avLst/>
          </a:prstGeom>
        </p:spPr>
      </p:pic>
      <p:sp>
        <p:nvSpPr>
          <p:cNvPr id="28" name="Text 21"/>
          <p:cNvSpPr txBox="1"/>
          <p:nvPr/>
        </p:nvSpPr>
        <p:spPr>
          <a:xfrm>
            <a:off x="800100"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Engineering Team</a:t>
            </a:r>
            <a:endParaRPr lang="en-US" sz="1500"/>
          </a:p>
        </p:txBody>
      </p:sp>
      <p:sp>
        <p:nvSpPr>
          <p:cNvPr id="29" name="Text 22"/>
          <p:cNvSpPr txBox="1"/>
          <p:nvPr/>
        </p:nvSpPr>
        <p:spPr>
          <a:xfrm>
            <a:off x="800100"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Dedicated engineers (Java, Python, DevOps) - hired, vetted, and onboarded by J2W.</a:t>
            </a:r>
            <a:endParaRPr lang="en-US" sz="1000"/>
          </a:p>
        </p:txBody>
      </p:sp>
      <p:pic>
        <p:nvPicPr>
          <p:cNvPr id="30" name="Image 5" descr="preencoded.png"/>
          <p:cNvPicPr>
            <a:picLocks noChangeAspect="1"/>
          </p:cNvPicPr>
          <p:nvPr/>
        </p:nvPicPr>
        <p:blipFill>
          <a:blip r:embed="rId8"/>
          <a:srcRect l="-881" r="-881"/>
          <a:stretch/>
        </p:blipFill>
        <p:spPr>
          <a:xfrm>
            <a:off x="3633826" y="1772107"/>
            <a:ext cx="237744" cy="267005"/>
          </a:xfrm>
          <a:prstGeom prst="rect">
            <a:avLst/>
          </a:prstGeom>
        </p:spPr>
      </p:pic>
      <p:sp>
        <p:nvSpPr>
          <p:cNvPr id="31" name="Text 23"/>
          <p:cNvSpPr txBox="1"/>
          <p:nvPr/>
        </p:nvSpPr>
        <p:spPr>
          <a:xfrm>
            <a:off x="3562502"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Pod Lead</a:t>
            </a:r>
            <a:endParaRPr lang="en-US" sz="1500"/>
          </a:p>
        </p:txBody>
      </p:sp>
      <p:sp>
        <p:nvSpPr>
          <p:cNvPr id="32" name="Text 24"/>
          <p:cNvSpPr txBox="1"/>
          <p:nvPr/>
        </p:nvSpPr>
        <p:spPr>
          <a:xfrm>
            <a:off x="3562502"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A J2W program manager who owns delivery, sprint governance, and client alignment.</a:t>
            </a:r>
            <a:endParaRPr lang="en-US" sz="1000"/>
          </a:p>
        </p:txBody>
      </p:sp>
      <p:pic>
        <p:nvPicPr>
          <p:cNvPr id="33" name="Image 6" descr="preencoded.png"/>
          <p:cNvPicPr>
            <a:picLocks noChangeAspect="1"/>
          </p:cNvPicPr>
          <p:nvPr/>
        </p:nvPicPr>
        <p:blipFill>
          <a:blip r:embed="rId9"/>
          <a:srcRect/>
          <a:stretch/>
        </p:blipFill>
        <p:spPr>
          <a:xfrm>
            <a:off x="6381598" y="1772107"/>
            <a:ext cx="267005" cy="267005"/>
          </a:xfrm>
          <a:prstGeom prst="rect">
            <a:avLst/>
          </a:prstGeom>
        </p:spPr>
      </p:pic>
      <p:sp>
        <p:nvSpPr>
          <p:cNvPr id="34" name="Text 25"/>
          <p:cNvSpPr txBox="1"/>
          <p:nvPr/>
        </p:nvSpPr>
        <p:spPr>
          <a:xfrm>
            <a:off x="6324905" y="2190902"/>
            <a:ext cx="265267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Performance Governance</a:t>
            </a:r>
            <a:endParaRPr lang="en-US" sz="1500"/>
          </a:p>
        </p:txBody>
      </p:sp>
      <p:sp>
        <p:nvSpPr>
          <p:cNvPr id="35" name="Text 26"/>
          <p:cNvSpPr txBox="1"/>
          <p:nvPr/>
        </p:nvSpPr>
        <p:spPr>
          <a:xfrm>
            <a:off x="6324905" y="2514600"/>
            <a:ext cx="2305202" cy="543154"/>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Weekly performance tracking, SLA metrics, velocity monitoring, proactive resolution.</a:t>
            </a:r>
            <a:endParaRPr lang="en-US" sz="1000"/>
          </a:p>
        </p:txBody>
      </p:sp>
      <p:pic>
        <p:nvPicPr>
          <p:cNvPr id="36" name="Image 7" descr="preencoded.png"/>
          <p:cNvPicPr>
            <a:picLocks noChangeAspect="1"/>
          </p:cNvPicPr>
          <p:nvPr/>
        </p:nvPicPr>
        <p:blipFill>
          <a:blip r:embed="rId10"/>
          <a:srcRect/>
          <a:stretch/>
        </p:blipFill>
        <p:spPr>
          <a:xfrm>
            <a:off x="9144000" y="1772107"/>
            <a:ext cx="267005" cy="267005"/>
          </a:xfrm>
          <a:prstGeom prst="rect">
            <a:avLst/>
          </a:prstGeom>
        </p:spPr>
      </p:pic>
      <p:sp>
        <p:nvSpPr>
          <p:cNvPr id="37" name="Text 27"/>
          <p:cNvSpPr txBox="1"/>
          <p:nvPr/>
        </p:nvSpPr>
        <p:spPr>
          <a:xfrm>
            <a:off x="9087307" y="2190902"/>
            <a:ext cx="2451506"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AI-First L&amp;D Program</a:t>
            </a:r>
            <a:endParaRPr lang="en-US" sz="1500"/>
          </a:p>
        </p:txBody>
      </p:sp>
      <p:sp>
        <p:nvSpPr>
          <p:cNvPr id="38" name="Text 28"/>
          <p:cNvSpPr txBox="1"/>
          <p:nvPr/>
        </p:nvSpPr>
        <p:spPr>
          <a:xfrm>
            <a:off x="9087307"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Continuous AI training - hands-on, contextual upskilling powered by Research Wing.</a:t>
            </a:r>
            <a:endParaRPr lang="en-US" sz="1000"/>
          </a:p>
        </p:txBody>
      </p:sp>
      <p:sp>
        <p:nvSpPr>
          <p:cNvPr id="39" name="Text 29"/>
          <p:cNvSpPr txBox="1"/>
          <p:nvPr/>
        </p:nvSpPr>
        <p:spPr>
          <a:xfrm>
            <a:off x="800100" y="3762756"/>
            <a:ext cx="277429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Dimension</a:t>
            </a:r>
            <a:endParaRPr lang="en-US" sz="1200"/>
          </a:p>
        </p:txBody>
      </p:sp>
      <p:sp>
        <p:nvSpPr>
          <p:cNvPr id="40" name="Text 30"/>
          <p:cNvSpPr txBox="1"/>
          <p:nvPr/>
        </p:nvSpPr>
        <p:spPr>
          <a:xfrm>
            <a:off x="3657600" y="3762756"/>
            <a:ext cx="354330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Traditional Staffing</a:t>
            </a:r>
            <a:endParaRPr lang="en-US" sz="1200"/>
          </a:p>
        </p:txBody>
      </p:sp>
      <p:sp>
        <p:nvSpPr>
          <p:cNvPr id="41" name="Text 31"/>
          <p:cNvSpPr txBox="1"/>
          <p:nvPr/>
        </p:nvSpPr>
        <p:spPr>
          <a:xfrm>
            <a:off x="7276795" y="3762756"/>
            <a:ext cx="4114800" cy="228600"/>
          </a:xfrm>
          <a:prstGeom prst="rect">
            <a:avLst/>
          </a:prstGeom>
          <a:noFill/>
          <a:ln/>
        </p:spPr>
        <p:txBody>
          <a:bodyPr wrap="square" lIns="0" tIns="0" rIns="0" bIns="0" rtlCol="0" anchor="ctr"/>
          <a:lstStyle/>
          <a:p>
            <a:pPr marL="0" indent="0" algn="l">
              <a:buNone/>
            </a:pPr>
            <a:r>
              <a:rPr lang="en-US" sz="1200" b="1" kern="0" spc="75">
                <a:solidFill>
                  <a:srgbClr val="2A9D8F"/>
                </a:solidFill>
                <a:latin typeface="Oswald" pitchFamily="34" charset="0"/>
                <a:ea typeface="Oswald" pitchFamily="34" charset="-122"/>
                <a:cs typeface="Oswald" pitchFamily="34" charset="-120"/>
              </a:rPr>
              <a:t>AI-First Pod</a:t>
            </a:r>
            <a:endParaRPr lang="en-US" sz="1200"/>
          </a:p>
        </p:txBody>
      </p:sp>
      <p:sp>
        <p:nvSpPr>
          <p:cNvPr id="42" name="Text 32"/>
          <p:cNvSpPr txBox="1"/>
          <p:nvPr/>
        </p:nvSpPr>
        <p:spPr>
          <a:xfrm>
            <a:off x="800100" y="423824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Governance</a:t>
            </a:r>
            <a:endParaRPr lang="en-US" sz="1200"/>
          </a:p>
        </p:txBody>
      </p:sp>
      <p:sp>
        <p:nvSpPr>
          <p:cNvPr id="43" name="Text 33"/>
          <p:cNvSpPr txBox="1"/>
          <p:nvPr/>
        </p:nvSpPr>
        <p:spPr>
          <a:xfrm>
            <a:off x="3657600" y="423824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Client's burden</a:t>
            </a:r>
            <a:endParaRPr lang="en-US" sz="1100"/>
          </a:p>
        </p:txBody>
      </p:sp>
      <p:pic>
        <p:nvPicPr>
          <p:cNvPr id="44" name="Image 8" descr="preencoded.png"/>
          <p:cNvPicPr>
            <a:picLocks noChangeAspect="1"/>
          </p:cNvPicPr>
          <p:nvPr/>
        </p:nvPicPr>
        <p:blipFill>
          <a:blip r:embed="rId11"/>
          <a:srcRect t="-1100" b="-1100"/>
          <a:stretch/>
        </p:blipFill>
        <p:spPr>
          <a:xfrm>
            <a:off x="7276795" y="4257446"/>
            <a:ext cx="114300" cy="133502"/>
          </a:xfrm>
          <a:prstGeom prst="rect">
            <a:avLst/>
          </a:prstGeom>
        </p:spPr>
      </p:pic>
      <p:sp>
        <p:nvSpPr>
          <p:cNvPr id="45" name="Text 34"/>
          <p:cNvSpPr txBox="1"/>
          <p:nvPr/>
        </p:nvSpPr>
        <p:spPr>
          <a:xfrm>
            <a:off x="7524598" y="4238244"/>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J2W-owned</a:t>
            </a:r>
            <a:endParaRPr lang="en-US" sz="1100"/>
          </a:p>
        </p:txBody>
      </p:sp>
      <p:sp>
        <p:nvSpPr>
          <p:cNvPr id="46" name="Text 35"/>
          <p:cNvSpPr txBox="1"/>
          <p:nvPr/>
        </p:nvSpPr>
        <p:spPr>
          <a:xfrm>
            <a:off x="800100" y="4714646"/>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Upskilling</a:t>
            </a:r>
            <a:endParaRPr lang="en-US" sz="1200"/>
          </a:p>
        </p:txBody>
      </p:sp>
      <p:sp>
        <p:nvSpPr>
          <p:cNvPr id="47" name="Text 36"/>
          <p:cNvSpPr txBox="1"/>
          <p:nvPr/>
        </p:nvSpPr>
        <p:spPr>
          <a:xfrm>
            <a:off x="3657600" y="4714646"/>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Engineer's personal initiative</a:t>
            </a:r>
            <a:endParaRPr lang="en-US" sz="1100"/>
          </a:p>
        </p:txBody>
      </p:sp>
      <p:pic>
        <p:nvPicPr>
          <p:cNvPr id="48" name="Image 9" descr="preencoded.png"/>
          <p:cNvPicPr>
            <a:picLocks noChangeAspect="1"/>
          </p:cNvPicPr>
          <p:nvPr/>
        </p:nvPicPr>
        <p:blipFill>
          <a:blip r:embed="rId11"/>
          <a:srcRect t="-1100" b="-1100"/>
          <a:stretch/>
        </p:blipFill>
        <p:spPr>
          <a:xfrm>
            <a:off x="7276795" y="4733849"/>
            <a:ext cx="114300" cy="133502"/>
          </a:xfrm>
          <a:prstGeom prst="rect">
            <a:avLst/>
          </a:prstGeom>
        </p:spPr>
      </p:pic>
      <p:sp>
        <p:nvSpPr>
          <p:cNvPr id="49" name="Text 37"/>
          <p:cNvSpPr txBox="1"/>
          <p:nvPr/>
        </p:nvSpPr>
        <p:spPr>
          <a:xfrm>
            <a:off x="7524598" y="4714646"/>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Structured, continuous, AI-focused</a:t>
            </a:r>
            <a:endParaRPr lang="en-US" sz="1100"/>
          </a:p>
        </p:txBody>
      </p:sp>
      <p:sp>
        <p:nvSpPr>
          <p:cNvPr id="50" name="Text 38"/>
          <p:cNvSpPr txBox="1"/>
          <p:nvPr/>
        </p:nvSpPr>
        <p:spPr>
          <a:xfrm>
            <a:off x="800100" y="5191049"/>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Performance Issues</a:t>
            </a:r>
            <a:endParaRPr lang="en-US" sz="1200"/>
          </a:p>
        </p:txBody>
      </p:sp>
      <p:sp>
        <p:nvSpPr>
          <p:cNvPr id="51" name="Text 39"/>
          <p:cNvSpPr txBox="1"/>
          <p:nvPr/>
        </p:nvSpPr>
        <p:spPr>
          <a:xfrm>
            <a:off x="3657600" y="5191049"/>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Escalation after the fact</a:t>
            </a:r>
            <a:endParaRPr lang="en-US" sz="1100"/>
          </a:p>
        </p:txBody>
      </p:sp>
      <p:pic>
        <p:nvPicPr>
          <p:cNvPr id="52" name="Image 10" descr="preencoded.png"/>
          <p:cNvPicPr>
            <a:picLocks noChangeAspect="1"/>
          </p:cNvPicPr>
          <p:nvPr/>
        </p:nvPicPr>
        <p:blipFill>
          <a:blip r:embed="rId11"/>
          <a:srcRect t="-1100" b="-1100"/>
          <a:stretch/>
        </p:blipFill>
        <p:spPr>
          <a:xfrm>
            <a:off x="7276795" y="5210251"/>
            <a:ext cx="114300" cy="133502"/>
          </a:xfrm>
          <a:prstGeom prst="rect">
            <a:avLst/>
          </a:prstGeom>
        </p:spPr>
      </p:pic>
      <p:sp>
        <p:nvSpPr>
          <p:cNvPr id="53" name="Text 40"/>
          <p:cNvSpPr txBox="1"/>
          <p:nvPr/>
        </p:nvSpPr>
        <p:spPr>
          <a:xfrm>
            <a:off x="7524598" y="5191049"/>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Proactive monitoring &amp; intervention</a:t>
            </a:r>
            <a:endParaRPr lang="en-US" sz="1100"/>
          </a:p>
        </p:txBody>
      </p:sp>
      <p:sp>
        <p:nvSpPr>
          <p:cNvPr id="54" name="Text 41"/>
          <p:cNvSpPr txBox="1"/>
          <p:nvPr/>
        </p:nvSpPr>
        <p:spPr>
          <a:xfrm>
            <a:off x="800100" y="5667451"/>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Knowledge Retention</a:t>
            </a:r>
            <a:endParaRPr lang="en-US" sz="1200"/>
          </a:p>
        </p:txBody>
      </p:sp>
      <p:sp>
        <p:nvSpPr>
          <p:cNvPr id="55" name="Text 42"/>
          <p:cNvSpPr txBox="1"/>
          <p:nvPr/>
        </p:nvSpPr>
        <p:spPr>
          <a:xfrm>
            <a:off x="3657600" y="5667451"/>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Lost with attrition</a:t>
            </a:r>
            <a:endParaRPr lang="en-US" sz="1100"/>
          </a:p>
        </p:txBody>
      </p:sp>
      <p:pic>
        <p:nvPicPr>
          <p:cNvPr id="56" name="Image 11" descr="preencoded.png"/>
          <p:cNvPicPr>
            <a:picLocks noChangeAspect="1"/>
          </p:cNvPicPr>
          <p:nvPr/>
        </p:nvPicPr>
        <p:blipFill>
          <a:blip r:embed="rId11"/>
          <a:srcRect t="-1100" b="-1100"/>
          <a:stretch/>
        </p:blipFill>
        <p:spPr>
          <a:xfrm>
            <a:off x="7276795" y="5686654"/>
            <a:ext cx="114300" cy="133502"/>
          </a:xfrm>
          <a:prstGeom prst="rect">
            <a:avLst/>
          </a:prstGeom>
        </p:spPr>
      </p:pic>
      <p:sp>
        <p:nvSpPr>
          <p:cNvPr id="57" name="Text 43"/>
          <p:cNvSpPr txBox="1"/>
          <p:nvPr/>
        </p:nvSpPr>
        <p:spPr>
          <a:xfrm>
            <a:off x="7524598" y="5667451"/>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Captured in Knowledge Repository</a:t>
            </a:r>
            <a:endParaRPr lang="en-US" sz="1100"/>
          </a:p>
        </p:txBody>
      </p:sp>
      <p:sp>
        <p:nvSpPr>
          <p:cNvPr id="58" name="Text 44"/>
          <p:cNvSpPr txBox="1"/>
          <p:nvPr/>
        </p:nvSpPr>
        <p:spPr>
          <a:xfrm>
            <a:off x="800100" y="614385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AI Readiness</a:t>
            </a:r>
            <a:endParaRPr lang="en-US" sz="1200"/>
          </a:p>
        </p:txBody>
      </p:sp>
      <p:sp>
        <p:nvSpPr>
          <p:cNvPr id="59" name="Text 45"/>
          <p:cNvSpPr txBox="1"/>
          <p:nvPr/>
        </p:nvSpPr>
        <p:spPr>
          <a:xfrm>
            <a:off x="3657600" y="614385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Ad hoc</a:t>
            </a:r>
            <a:endParaRPr lang="en-US" sz="1100"/>
          </a:p>
        </p:txBody>
      </p:sp>
      <p:pic>
        <p:nvPicPr>
          <p:cNvPr id="60" name="Image 12" descr="preencoded.png"/>
          <p:cNvPicPr>
            <a:picLocks noChangeAspect="1"/>
          </p:cNvPicPr>
          <p:nvPr/>
        </p:nvPicPr>
        <p:blipFill>
          <a:blip r:embed="rId12"/>
          <a:srcRect t="-1100" b="-1100"/>
          <a:stretch/>
        </p:blipFill>
        <p:spPr>
          <a:xfrm>
            <a:off x="7276795" y="6163056"/>
            <a:ext cx="114300" cy="133502"/>
          </a:xfrm>
          <a:prstGeom prst="rect">
            <a:avLst/>
          </a:prstGeom>
        </p:spPr>
      </p:pic>
      <p:sp>
        <p:nvSpPr>
          <p:cNvPr id="61" name="Text 46"/>
          <p:cNvSpPr txBox="1"/>
          <p:nvPr/>
        </p:nvSpPr>
        <p:spPr>
          <a:xfrm>
            <a:off x="7524598" y="6143854"/>
            <a:ext cx="3829507" cy="171907"/>
          </a:xfrm>
          <a:prstGeom prst="rect">
            <a:avLst/>
          </a:prstGeom>
          <a:noFill/>
          <a:ln/>
        </p:spPr>
        <p:txBody>
          <a:bodyPr wrap="square" lIns="0" tIns="0" rIns="0" bIns="0" rtlCol="0" anchor="ctr"/>
          <a:lstStyle/>
          <a:p>
            <a:pPr marL="0" indent="0" algn="l">
              <a:buNone/>
            </a:pPr>
            <a:r>
              <a:rPr lang="en-US" sz="1100" b="1">
                <a:solidFill>
                  <a:srgbClr val="D62839"/>
                </a:solidFill>
                <a:latin typeface="Raleway" pitchFamily="34" charset="0"/>
                <a:ea typeface="Raleway" pitchFamily="34" charset="-122"/>
                <a:cs typeface="Raleway" pitchFamily="34" charset="-120"/>
              </a:rPr>
              <a:t>Embedded from Day 1</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334195" y="-1429207"/>
            <a:ext cx="4762195" cy="476219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preencoded.png"/>
          <p:cNvPicPr>
            <a:picLocks noChangeAspect="1"/>
          </p:cNvPicPr>
          <p:nvPr/>
        </p:nvPicPr>
        <p:blipFill>
          <a:blip r:embed="rId5">
            <a:alphaModFix amt="15000"/>
          </a:blip>
          <a:srcRect/>
          <a:stretch/>
        </p:blipFill>
        <p:spPr>
          <a:xfrm>
            <a:off x="571500" y="1143000"/>
            <a:ext cx="1429207" cy="1429207"/>
          </a:xfrm>
          <a:prstGeom prst="rect">
            <a:avLst/>
          </a:prstGeom>
        </p:spPr>
      </p:pic>
      <p:pic>
        <p:nvPicPr>
          <p:cNvPr id="8" name="Image 3" descr="preencoded.png"/>
          <p:cNvPicPr>
            <a:picLocks noChangeAspect="1"/>
          </p:cNvPicPr>
          <p:nvPr/>
        </p:nvPicPr>
        <p:blipFill>
          <a:blip r:embed="rId6"/>
          <a:srcRect l="-400" r="-400"/>
          <a:stretch/>
        </p:blipFill>
        <p:spPr>
          <a:xfrm>
            <a:off x="609905" y="571500"/>
            <a:ext cx="57607" cy="571500"/>
          </a:xfrm>
          <a:prstGeom prst="rect">
            <a:avLst/>
          </a:prstGeom>
        </p:spPr>
      </p:pic>
      <p:sp>
        <p:nvSpPr>
          <p:cNvPr id="9" name="Shape 3"/>
          <p:cNvSpPr/>
          <p:nvPr/>
        </p:nvSpPr>
        <p:spPr>
          <a:xfrm>
            <a:off x="609905" y="1524305"/>
            <a:ext cx="11039551" cy="1752905"/>
          </a:xfrm>
          <a:prstGeom prst="roundRect">
            <a:avLst>
              <a:gd name="adj" fmla="val 4536"/>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524305"/>
            <a:ext cx="57607" cy="1752905"/>
          </a:xfrm>
          <a:prstGeom prst="roundRect">
            <a:avLst>
              <a:gd name="adj" fmla="val 138027"/>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609905" y="3429000"/>
            <a:ext cx="11039551" cy="2305202"/>
          </a:xfrm>
          <a:prstGeom prst="roundRect">
            <a:avLst>
              <a:gd name="adj" fmla="val 2623"/>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609905" y="3429000"/>
            <a:ext cx="57607" cy="2305202"/>
          </a:xfrm>
          <a:prstGeom prst="roundRect">
            <a:avLst>
              <a:gd name="adj" fmla="val 104946"/>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609905" y="5905195"/>
            <a:ext cx="10972800" cy="609905"/>
          </a:xfrm>
          <a:prstGeom prst="roundRect">
            <a:avLst>
              <a:gd name="adj" fmla="val 37481"/>
            </a:avLst>
          </a:prstGeom>
          <a:solidFill>
            <a:srgbClr val="2A9D8F"/>
          </a:solidFill>
          <a:ln w="12700">
            <a:solidFill>
              <a:srgbClr val="FFFFFF">
                <a:alpha val="0"/>
              </a:srgbClr>
            </a:solidFill>
            <a:prstDash val="solid"/>
          </a:ln>
          <a:effectLst>
            <a:outerShdw blurRad="101600" dist="38100" dir="16200000" algn="bl" rotWithShape="0">
              <a:srgbClr val="2A9D8F">
                <a:alpha val="20000"/>
              </a:srgbClr>
            </a:outerShdw>
          </a:effectLst>
        </p:spPr>
        <p:txBody>
          <a:bodyPr/>
          <a:lstStyle/>
          <a:p>
            <a:endParaRPr lang="en-US"/>
          </a:p>
        </p:txBody>
      </p:sp>
      <p:sp>
        <p:nvSpPr>
          <p:cNvPr id="14" name="Text 8"/>
          <p:cNvSpPr txBox="1"/>
          <p:nvPr/>
        </p:nvSpPr>
        <p:spPr>
          <a:xfrm>
            <a:off x="857707" y="42885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The J2W AI Research Wing</a:t>
            </a:r>
            <a:endParaRPr lang="en-US" sz="2700"/>
          </a:p>
        </p:txBody>
      </p:sp>
      <p:sp>
        <p:nvSpPr>
          <p:cNvPr id="15" name="Text 9"/>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2A9D8F"/>
                </a:solidFill>
                <a:latin typeface="Roboto Condensed" pitchFamily="34" charset="0"/>
                <a:ea typeface="Roboto Condensed" pitchFamily="34" charset="-122"/>
                <a:cs typeface="Roboto Condensed" pitchFamily="34" charset="-120"/>
              </a:rPr>
              <a:t>YOUR POD'S SECRET WEAPON</a:t>
            </a:r>
            <a:endParaRPr lang="en-US" sz="1300"/>
          </a:p>
        </p:txBody>
      </p:sp>
      <p:sp>
        <p:nvSpPr>
          <p:cNvPr id="16" name="Shape 10"/>
          <p:cNvSpPr/>
          <p:nvPr/>
        </p:nvSpPr>
        <p:spPr>
          <a:xfrm>
            <a:off x="990295" y="2085746"/>
            <a:ext cx="4476902" cy="19202"/>
          </a:xfrm>
          <a:prstGeom prst="rect">
            <a:avLst/>
          </a:prstGeom>
          <a:solidFill>
            <a:srgbClr val="2A9D8F">
              <a:alpha val="20000"/>
            </a:srgbClr>
          </a:solidFill>
          <a:ln w="12700">
            <a:solidFill>
              <a:srgbClr val="2A9D8F">
                <a:alpha val="0"/>
              </a:srgbClr>
            </a:solidFill>
            <a:prstDash val="solid"/>
          </a:ln>
        </p:spPr>
        <p:txBody>
          <a:bodyPr/>
          <a:lstStyle/>
          <a:p>
            <a:endParaRPr lang="en-US"/>
          </a:p>
        </p:txBody>
      </p:sp>
      <p:sp>
        <p:nvSpPr>
          <p:cNvPr id="17" name="Text 11"/>
          <p:cNvSpPr txBox="1"/>
          <p:nvPr/>
        </p:nvSpPr>
        <p:spPr>
          <a:xfrm>
            <a:off x="990295" y="1666951"/>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What Is the AI Research Wing?</a:t>
            </a:r>
            <a:endParaRPr lang="en-US" sz="1800"/>
          </a:p>
        </p:txBody>
      </p:sp>
      <p:pic>
        <p:nvPicPr>
          <p:cNvPr id="18" name="Image 4" descr="preencoded.png"/>
          <p:cNvPicPr>
            <a:picLocks noChangeAspect="1"/>
          </p:cNvPicPr>
          <p:nvPr/>
        </p:nvPicPr>
        <p:blipFill>
          <a:blip r:embed="rId7"/>
          <a:srcRect/>
          <a:stretch/>
        </p:blipFill>
        <p:spPr>
          <a:xfrm>
            <a:off x="1019556" y="2221992"/>
            <a:ext cx="171907" cy="171907"/>
          </a:xfrm>
          <a:prstGeom prst="rect">
            <a:avLst/>
          </a:prstGeom>
        </p:spPr>
      </p:pic>
      <p:sp>
        <p:nvSpPr>
          <p:cNvPr id="19" name="Text 12"/>
          <p:cNvSpPr txBox="1"/>
          <p:nvPr/>
        </p:nvSpPr>
        <p:spPr>
          <a:xfrm>
            <a:off x="1314907" y="2190902"/>
            <a:ext cx="9982505"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A dedicated team of AI researchers and engineers working on cutting-edge enterprise AI - agentic AI systems, LLM orchestration, model governance, and applied ML</a:t>
            </a:r>
            <a:endParaRPr lang="en-US" sz="1100"/>
          </a:p>
        </p:txBody>
      </p:sp>
      <p:pic>
        <p:nvPicPr>
          <p:cNvPr id="20" name="Image 5" descr="preencoded.png"/>
          <p:cNvPicPr>
            <a:picLocks noChangeAspect="1"/>
          </p:cNvPicPr>
          <p:nvPr/>
        </p:nvPicPr>
        <p:blipFill>
          <a:blip r:embed="rId8"/>
          <a:srcRect/>
          <a:stretch/>
        </p:blipFill>
        <p:spPr>
          <a:xfrm>
            <a:off x="1019556" y="2602382"/>
            <a:ext cx="171907" cy="171907"/>
          </a:xfrm>
          <a:prstGeom prst="rect">
            <a:avLst/>
          </a:prstGeom>
        </p:spPr>
      </p:pic>
      <p:sp>
        <p:nvSpPr>
          <p:cNvPr id="21" name="Text 13"/>
          <p:cNvSpPr txBox="1"/>
          <p:nvPr/>
        </p:nvSpPr>
        <p:spPr>
          <a:xfrm>
            <a:off x="1314907" y="2572207"/>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Currently building and publishing research on agentic AI architectures, prompt engineering frameworks, and enterprise AI adoption strategies</a:t>
            </a:r>
            <a:endParaRPr lang="en-US" sz="1100"/>
          </a:p>
        </p:txBody>
      </p:sp>
      <p:pic>
        <p:nvPicPr>
          <p:cNvPr id="22" name="Image 6" descr="preencoded.png"/>
          <p:cNvPicPr>
            <a:picLocks noChangeAspect="1"/>
          </p:cNvPicPr>
          <p:nvPr/>
        </p:nvPicPr>
        <p:blipFill>
          <a:blip r:embed="rId9"/>
          <a:srcRect/>
          <a:stretch/>
        </p:blipFill>
        <p:spPr>
          <a:xfrm>
            <a:off x="1019556" y="2983687"/>
            <a:ext cx="171907" cy="171907"/>
          </a:xfrm>
          <a:prstGeom prst="rect">
            <a:avLst/>
          </a:prstGeom>
        </p:spPr>
      </p:pic>
      <p:sp>
        <p:nvSpPr>
          <p:cNvPr id="23" name="Text 14"/>
          <p:cNvSpPr txBox="1"/>
          <p:nvPr/>
        </p:nvSpPr>
        <p:spPr>
          <a:xfrm>
            <a:off x="1314907" y="2952598"/>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Powers J2W's proprietary platforms: the J2W Agentic Platform, Qualizen (GenAI-assisted quality engineering), and Talk2Data (conversational BI)</a:t>
            </a:r>
            <a:endParaRPr lang="en-US" sz="1100"/>
          </a:p>
        </p:txBody>
      </p:sp>
      <p:sp>
        <p:nvSpPr>
          <p:cNvPr id="24" name="Shape 15"/>
          <p:cNvSpPr/>
          <p:nvPr/>
        </p:nvSpPr>
        <p:spPr>
          <a:xfrm>
            <a:off x="990295" y="3990442"/>
            <a:ext cx="4476902" cy="19202"/>
          </a:xfrm>
          <a:prstGeom prst="rect">
            <a:avLst/>
          </a:prstGeom>
          <a:solidFill>
            <a:srgbClr val="D62839">
              <a:alpha val="20000"/>
            </a:srgbClr>
          </a:solidFill>
          <a:ln w="12700">
            <a:solidFill>
              <a:srgbClr val="D62839">
                <a:alpha val="0"/>
              </a:srgbClr>
            </a:solidFill>
            <a:prstDash val="solid"/>
          </a:ln>
        </p:spPr>
        <p:txBody>
          <a:bodyPr/>
          <a:lstStyle/>
          <a:p>
            <a:endParaRPr lang="en-US"/>
          </a:p>
        </p:txBody>
      </p:sp>
      <p:sp>
        <p:nvSpPr>
          <p:cNvPr id="25" name="Text 16"/>
          <p:cNvSpPr txBox="1"/>
          <p:nvPr/>
        </p:nvSpPr>
        <p:spPr>
          <a:xfrm>
            <a:off x="990295" y="3571646"/>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How Pod Members Benefit</a:t>
            </a:r>
            <a:endParaRPr lang="en-US" sz="1800"/>
          </a:p>
        </p:txBody>
      </p:sp>
      <p:pic>
        <p:nvPicPr>
          <p:cNvPr id="26" name="Image 7" descr="preencoded.png"/>
          <p:cNvPicPr>
            <a:picLocks noChangeAspect="1"/>
          </p:cNvPicPr>
          <p:nvPr/>
        </p:nvPicPr>
        <p:blipFill>
          <a:blip r:embed="rId10"/>
          <a:srcRect l="-1064" r="-1064"/>
          <a:stretch/>
        </p:blipFill>
        <p:spPr>
          <a:xfrm>
            <a:off x="995782" y="4126687"/>
            <a:ext cx="219456" cy="171907"/>
          </a:xfrm>
          <a:prstGeom prst="rect">
            <a:avLst/>
          </a:prstGeom>
        </p:spPr>
      </p:pic>
      <p:sp>
        <p:nvSpPr>
          <p:cNvPr id="27" name="Text 17"/>
          <p:cNvSpPr txBox="1"/>
          <p:nvPr/>
        </p:nvSpPr>
        <p:spPr>
          <a:xfrm>
            <a:off x="1314907" y="4095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Weekly AI workshops</a:t>
            </a:r>
            <a:r>
              <a:rPr lang="en-US" sz="1100">
                <a:solidFill>
                  <a:srgbClr val="4B5563"/>
                </a:solidFill>
                <a:latin typeface="Raleway" pitchFamily="34" charset="0"/>
                <a:ea typeface="Raleway" pitchFamily="34" charset="-122"/>
                <a:cs typeface="Raleway" pitchFamily="34" charset="-120"/>
              </a:rPr>
              <a:t> led by our research team - covering practical, project-applicable AI skills </a:t>
            </a:r>
            <a:endParaRPr lang="en-US" sz="1100"/>
          </a:p>
        </p:txBody>
      </p:sp>
      <p:pic>
        <p:nvPicPr>
          <p:cNvPr id="28" name="Image 8" descr="preencoded.png"/>
          <p:cNvPicPr>
            <a:picLocks noChangeAspect="1"/>
          </p:cNvPicPr>
          <p:nvPr/>
        </p:nvPicPr>
        <p:blipFill>
          <a:blip r:embed="rId11"/>
          <a:srcRect l="-1773" r="-1773"/>
          <a:stretch/>
        </p:blipFill>
        <p:spPr>
          <a:xfrm>
            <a:off x="1037844" y="4507992"/>
            <a:ext cx="133502" cy="171907"/>
          </a:xfrm>
          <a:prstGeom prst="rect">
            <a:avLst/>
          </a:prstGeom>
        </p:spPr>
      </p:pic>
      <p:sp>
        <p:nvSpPr>
          <p:cNvPr id="29" name="Text 18"/>
          <p:cNvSpPr txBox="1"/>
          <p:nvPr/>
        </p:nvSpPr>
        <p:spPr>
          <a:xfrm>
            <a:off x="1314907" y="4476902"/>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Access to the J2W </a:t>
            </a:r>
            <a:r>
              <a:rPr lang="en-US" sz="1100" b="1" err="1">
                <a:solidFill>
                  <a:srgbClr val="111827"/>
                </a:solidFill>
                <a:latin typeface="Raleway" pitchFamily="34" charset="0"/>
                <a:ea typeface="Raleway" pitchFamily="34" charset="-122"/>
                <a:cs typeface="Raleway" pitchFamily="34" charset="-120"/>
              </a:rPr>
              <a:t>iLAB</a:t>
            </a:r>
            <a:r>
              <a:rPr lang="en-US" sz="1100">
                <a:solidFill>
                  <a:srgbClr val="4B5563"/>
                </a:solidFill>
                <a:latin typeface="Raleway" pitchFamily="34" charset="0"/>
                <a:ea typeface="Raleway" pitchFamily="34" charset="-122"/>
                <a:cs typeface="Raleway" pitchFamily="34" charset="-120"/>
              </a:rPr>
              <a:t> - Innovation Points program for building PoCs, hackathons, and rapid prototyping </a:t>
            </a:r>
            <a:endParaRPr lang="en-US" sz="1100"/>
          </a:p>
        </p:txBody>
      </p:sp>
      <p:pic>
        <p:nvPicPr>
          <p:cNvPr id="30" name="Image 9" descr="preencoded.png"/>
          <p:cNvPicPr>
            <a:picLocks noChangeAspect="1"/>
          </p:cNvPicPr>
          <p:nvPr/>
        </p:nvPicPr>
        <p:blipFill>
          <a:blip r:embed="rId12"/>
          <a:srcRect l="-1064" r="-1064"/>
          <a:stretch/>
        </p:blipFill>
        <p:spPr>
          <a:xfrm>
            <a:off x="995782" y="4888382"/>
            <a:ext cx="219456" cy="171907"/>
          </a:xfrm>
          <a:prstGeom prst="rect">
            <a:avLst/>
          </a:prstGeom>
        </p:spPr>
      </p:pic>
      <p:sp>
        <p:nvSpPr>
          <p:cNvPr id="31" name="Text 19"/>
          <p:cNvSpPr txBox="1"/>
          <p:nvPr/>
        </p:nvSpPr>
        <p:spPr>
          <a:xfrm>
            <a:off x="1314907" y="4858207"/>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Contextual AI training</a:t>
            </a:r>
            <a:r>
              <a:rPr lang="en-US" sz="1100">
                <a:solidFill>
                  <a:srgbClr val="4B5563"/>
                </a:solidFill>
                <a:latin typeface="Raleway" pitchFamily="34" charset="0"/>
                <a:ea typeface="Raleway" pitchFamily="34" charset="-122"/>
                <a:cs typeface="Raleway" pitchFamily="34" charset="-120"/>
              </a:rPr>
              <a:t> - hands-on training tailored to the specific technology stack and domain </a:t>
            </a:r>
            <a:endParaRPr lang="en-US" sz="1100"/>
          </a:p>
        </p:txBody>
      </p:sp>
      <p:pic>
        <p:nvPicPr>
          <p:cNvPr id="32" name="Image 10" descr="preencoded.png"/>
          <p:cNvPicPr>
            <a:picLocks noChangeAspect="1"/>
          </p:cNvPicPr>
          <p:nvPr/>
        </p:nvPicPr>
        <p:blipFill>
          <a:blip r:embed="rId13"/>
          <a:srcRect/>
          <a:stretch/>
        </p:blipFill>
        <p:spPr>
          <a:xfrm>
            <a:off x="1019556" y="5269687"/>
            <a:ext cx="171907" cy="171907"/>
          </a:xfrm>
          <a:prstGeom prst="rect">
            <a:avLst/>
          </a:prstGeom>
        </p:spPr>
      </p:pic>
      <p:sp>
        <p:nvSpPr>
          <p:cNvPr id="33" name="Text 20"/>
          <p:cNvSpPr txBox="1"/>
          <p:nvPr/>
        </p:nvSpPr>
        <p:spPr>
          <a:xfrm>
            <a:off x="1314907" y="5238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Benchmarking against global best practices</a:t>
            </a:r>
            <a:r>
              <a:rPr lang="en-US" sz="1100">
                <a:solidFill>
                  <a:srgbClr val="4B5563"/>
                </a:solidFill>
                <a:latin typeface="Raleway" pitchFamily="34" charset="0"/>
                <a:ea typeface="Raleway" pitchFamily="34" charset="-122"/>
                <a:cs typeface="Raleway" pitchFamily="34" charset="-120"/>
              </a:rPr>
              <a:t> - continuous measurement against industry-leading standards </a:t>
            </a:r>
            <a:endParaRPr lang="en-US" sz="1100"/>
          </a:p>
        </p:txBody>
      </p:sp>
      <p:sp>
        <p:nvSpPr>
          <p:cNvPr id="34" name="Text 21"/>
          <p:cNvSpPr txBox="1"/>
          <p:nvPr/>
        </p:nvSpPr>
        <p:spPr>
          <a:xfrm>
            <a:off x="952805" y="6010351"/>
            <a:ext cx="10287000" cy="400507"/>
          </a:xfrm>
          <a:prstGeom prst="rect">
            <a:avLst/>
          </a:prstGeom>
          <a:noFill/>
          <a:ln/>
        </p:spPr>
        <p:txBody>
          <a:bodyPr wrap="square" lIns="0" tIns="0" rIns="0" bIns="0" rtlCol="0" anchor="ctr"/>
          <a:lstStyle/>
          <a:p>
            <a:pPr marL="0" indent="0" algn="ctr">
              <a:buNone/>
            </a:pPr>
            <a:r>
              <a:rPr lang="en-US" sz="1400" b="1">
                <a:solidFill>
                  <a:srgbClr val="FFFFFF"/>
                </a:solidFill>
                <a:latin typeface="Raleway" pitchFamily="34" charset="0"/>
                <a:ea typeface="Raleway" pitchFamily="34" charset="-122"/>
                <a:cs typeface="Raleway" pitchFamily="34" charset="-120"/>
              </a:rPr>
              <a:t>The result: Your engineers don't just work - they get better every week. And that compounding improvement is something no staffing model can deliver.</a:t>
            </a:r>
            <a:endParaRPr 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Managed Service Solutions</a:t>
            </a:r>
            <a:endParaRPr lang="en-US" sz="330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HYBRID TEST AUTOMATION FOR CLINICAL VALIDATION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Healthcare Technology Enterprise  |  DOMAIN: Healthcare Technology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leading enterprise healthcare client operated a safety-critical patient monitoring ecosystem requiring extensive manual validation before every release. Engineers configured simulators, observed monitors, cross-checked data, and wrote execution evidence by hand, stretching a single regression cycle to several days. Critical interface components, including GPU-rendered waveforms and embedded clinical displays, were unreachable through conventional automation tools, leaving significant validation gaps with every release.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unified hybrid automation platform was deployed to continuously orchestrate test execution across native, rendered, and embedded clinical interfaces from a single framework. AI-powered vision detection, self-healing test execution, and automated evidence collection run across the full validation lifecycle. Clinical regression shifted from days of manual effort to autonomous, audit-ready execution timed to every release cycle.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Hybrid Automation Orchestrator</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Routes test execution across multiple UI technologies from a single engine, eliminating framework switching and manual handoffs.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AI-Powered Visual Validation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Computer vision models interact with rendered and embedded interfaces that expose no accessibility metadata to conventional tools.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Self-Healing Test Execution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Adjusts test paths dynamically when UI layouts shift between releases, reducing brittleness and maintenance overhead.</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Collaborative Test Authoring</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Lets QA, engineering, and product teams author and validate test cases in plain language without developer involvement.</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Cross-System Data Validator</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Automatically cross-checks patient vitals across all system layers with timestamped, traceable evidence at each step.</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Fully Automated Evidence Capture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Captures screenshots, failure traces, and structured reports at every step, delivering audit-ready documentation.</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70%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regression cycle duration through end-to-end automated orchestration</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60%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manual validation effort as repetitive clinical workflows are automated</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increase in test coverage by reaching previously inaccessible interfaces through AI-powered visual automation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WELD VISION AND JOINT INTEGRITY ANALYTICS</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heavy equipment OEM verified weld joint integrity through sampled inspection, leaving subsurface defects, porosity, and incomplete fusion undetected until they surfaced as rework, structural failures, or audit escapes. At production line speeds, manual 100% inspection was not feasible. Quality teams were structurally positioned to manage defects after the fact rather than catch them at the joint.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AI vision layer was deployed at the weld station to capture and analyze every joint in real time, classifying geometry, detecting surface anomalies, and correlating findings with process parameters to isolate root cause at the joint level. Full traceability is generated automatically across every weld, operator, and production run without disrupting line speed. Inspection moved from a sample to 100% coverage at no cost to throughput.</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100% Inline Weld Vision Inspection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AI cameras capture every joint at line speed, classifying weld geometry and surface condition without sampling or line interruption.</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Porosity and Fusion Defect Detection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Detects porosity, incomplete fusion, undercut, and spattering, flagging defects before parts advance to downstream assembly.</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Process Parameter Correlation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Correlates visual defects with welding parameters to isolate root cause across wire feed, voltage, and travel speed.</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Joint Traceability and Run Logging</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Links every weld to operator, shift, and material batch, generating audit-ready traceability records.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Defect Trend and Heatmap Analytics</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Maps defect frequency across stations and shifts, surfacing systemic quality patterns before batch escapes occur.</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Closed-Loop Quality Feedback</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Routes verified defect data back to process engineering, turning every detected issue into a parameter adjustment rather than a one-off fix.</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60% reduction in weld defect escapes to downstream assembly</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45% improvement in root cause identification speed</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Audit-ready</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full joint-level traceability across production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OPERATIONAL DIGITAL TWIN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Energy Utility  |  DOMAIN: Energy</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An offshore oil and gas operator running aging platforms across the North Sea managed asset health through scheduled inspections, manual technician readings, and calendar-based maintenance. A compressor on one platform showed irregular vibration signatures for 11 days before a bearing failure took it offline, a £2.1 million unplanned shutdown requiring weather-dependent crew mobilization and 14 days off-production. The data that would have predicted it was being collected; nobody was watching it, and no engineer held a view across the full platform fleet at any given moment.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AI-embedded operational digital twin was deployed across the platform fleet, ingesting live sensor, PLC, and SCADA streams into a continuously maintained digital replica of every critical asset. Operational health scoring runs continuously against equipment performance and system interdependencies, surfacing degradation before it reaches the production threshold. Engineers now work from a unified dashboard across all platforms, seeing asset condition, trend, and warranted intervention, without leaving the control room.</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Live Asset Mirroring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Real-time sensor, PLC, and SCADA streams maintain a continuously updated digital replica across platforms and asset classes.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Operational Health Scoring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Flags degradation trajectories and failure probability before output is affected, across interdependent systems.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Predictive Maintenance</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Anticipates failures and optimal intervention windows from telemetry and load history, replacing calendar-based scheduling.</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Anomaly Detection and Root Cause Isolation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Triggers corrective workflows before cascading failures develop.</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Scenario Simulation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Tests load changes and equipment swaps against the live twin without touching real systems.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Unified Operations Dashboard</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Consolidates asset health, performance, and risk scores with drill-down visibility across platforms.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40% reduction in unplanned downtime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20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30% improvement in asset utilisation</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25</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35% faster fault detection and resolution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CYBERSECURITY TESTING FOR FINANCIAL SERVICES FIRM</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Banking Institution  |  DOMAIN: Banking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leading money management platform required robust functional and automation testing for a new suite of business applications. The testing team needed deep domain expertise in digital finance, highly efficient regression cycles to meet aggressive delivery timelines, and comprehensive coverage across both functional aspects and complex API integrations.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specialized managed testing team with significant digital finance domain experience was deployed. An end-to-end automated regression test suite covering all functional and API validations was implemented, and rigorous service delivery governance practices were established to ensure consistent quality and timely delivery.</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Domain-Specialist Testing Team</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Specialists with deep digital finance expertise overseeing and executing all critical testing activities.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Comprehensive Automated Regression Suite</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End-to-end regression covering all functional and complex API validations.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Service Delivery Governance</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Strict governance practices with fully aligned KPIs ensuring consistent, high-quality, on-time delivery.</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API Integration Validation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Thorough API testing ensuring all integration points function correctly under load and at boundary conditions.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Delivery Timeline Management</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Testing velocity maintained to meet aggressive delivery timelines without coverage compromise.</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KPI-Aligned Quality Reporting</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Quality metrics reported against defined KPIs providing transparent delivery accountability.</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70%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regression turnaround 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KPI-aligned</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quality improvement through structured delivery</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Governance-driven</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consistency across all testing outcomes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REGRESSION TESTING ACCELERATION FOR INSTANT CREDIT PLATFORM</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Banking Institution  |  DOMAIN: Banking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leading instant credit platform needed to dramatically reduce regression testing turnaround time. Existing manual processes were too slow to support rapid expansion goals, and both functional and complex API integrations required thorough, consistent validation to prevent downstream quality issues and system downtime.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The Unified Test Automation Framework was implemented through high-velocity automation sprints. An extensive Proof of Concept validated feasibility, followed by a simplified strategic approach of automating simpler test cases first. This approach achieved rapid early ROI before progressing to more complex scenarios.</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Unified Test Automation Framework</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Advanced UTAF platform automating regression testing, eliminating manual bottlenecks and enabling faster release cycles.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PoC Validation Before Scale</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Extensive Proof of Concept validating automation feasibility across key workflows before full-scale deployment.</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High-Velocity Automation Sprints</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Structured delivery in agile sprints prioritizing simpler automation first to demonstrate early business returns.</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Functional and API Validation Scripts</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Comprehensive test scripts validating core functional components and third-party API integrations.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Incremental Complexity Approach</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Automation complexity scaled progressively from simple to complex as framework matured.</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ROI-First Delivery Model</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Early automation wins documented and measured to validate investment before progressing to complex scenarios.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75%</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regression turnaround 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Immediate</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ROI from high-velocity automation releases</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Zero schedule</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variance with on-time and on-budget delivery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ENGINEERING ANALYST AUGMENTATION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automotive OEM's 2,500-strong engineering team spent a significant share of their time retrieving information from legacy documents, manuals, and past project repositories, generating standard reports and design summaries by hand, and navigating complex PLM and simulation tools to find data that already existed somewhere in the organization. None of this work required new headcount to fix, only faster access to what engineers already had.</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Gen AI engineering productivity layer was deployed across the PLM and engineering environment, providing a RAG-based knowledge assistant, automated standard reporting, a natural language interface to Teamcenter, and a cross-team knowledge graph. Engineers now query Teamcenter and past project data in plain language and receive cited answers instead of searching documentation manually. The layer integrates with Siemens Teamcenter PLM, SIMULIA/ANSYS environments, SharePoint/Confluence, and CAD repositories.</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Engineering Knowledge Assistant</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RAG-based assistant trained on documentation, standards, and past projects, delivering cited answers from authoritative sources.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Simulation and Report Automation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Converts simulation outputs into structured engineering reports and summaries automatically.</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PLM Integration Copilot</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Natural language interface to Teamcenter for querying data, comparisons, and change history.</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Change Impact Intelligence</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Identifies downstream dependencies, affected simulation runs, and validation requirements instantly.</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Cross-Team Knowledge Graph</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Maps relationships across components, engineers, projects, and solutions to prevent duplicate effort.</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Multi-System Integration</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Connects Teamcenter PLM, SIMULIA/ANSYS, SharePoint/Confluence, and CAD repositories into a single query layer.</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40% reduction in search and synthesis 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20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30% faster change impact assessments</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2,500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engineers augmented globally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PREDICTIVE MAINTENANCE INTELLIGENCE</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heavy equipment manufacturer was discovering equipment failures at the line, not in the control room. Maintenance teams worked off fixed schedules and manual inspections, missing early degradation signals already present in vibration, temperature, and runtime data. Unplanned stoppages idled shifts, compressed delivery windows, and steadily eroded MTBF benchmarks, with no predictive layer in place to intervene before failure occurred.</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AI-embedded predictive maintenance layer was deployed to continuously ingest sensor, SCADA, and MES data and detect early failure signatures across critical assets. Anomaly detection, remaining useful life forecasting, and automated work order generation shifted maintenance from calendar-based routines to condition-driven intervention aligned with actual equipment health. The system connects to existing PLC and MES infrastructure without requiring replacement.</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Anomaly Detection Engine</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Continuously monitors vibration, temperature, pressure, and runtime signals, flagging deviation patterns 7 to 14 days before failure.</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RUL Forecasting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ML models predict remaining useful life per asset, providing a quantified intervention window.</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Automated Work Orders</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Triggers prioritized maintenance work orders directly into CMMS/ERP when thresholds are crossed.</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SCADA and MES Integration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Connects to existing PLC and MES systems without rip-and-replace to ingest real-time telemetry.</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MTBF Intelligence Dashboard</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Tracks mean time between failures, highlights degradation trends, and benchmarks performance.</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Failure Mode and RCA Auto-Link</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Links detected failure modes to historical root cause records to accelerate diagnosis and prevent recurrence.</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45% reduction in unplanned downtime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20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35% improvement in MTBF</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15</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25% reduction in maintenance cost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