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J2W_TEMPLATE: case_study_v2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146304"/>
            <a:ext cx="59436" cy="786384"/>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146304"/>
            <a:ext cx="11384280" cy="749808"/>
          </a:xfrm>
          <a:prstGeom prst="rect">
            <a:avLst/>
          </a:prstGeom>
          <a:noFill/>
        </p:spPr>
        <p:txBody>
          <a:bodyPr wrap="square" tIns="0" bIns="0" lIns="0" rIns="0">
            <a:spAutoFit/>
          </a:bodyPr>
          <a:lstStyle/>
          <a:p>
            <a:pPr algn="l"/>
            <a:r>
              <a:rPr sz="2400" b="1">
                <a:solidFill>
                  <a:srgbClr val="C02026"/>
                </a:solidFill>
                <a:latin typeface="Oswald"/>
              </a:rPr>
              <a:t>CASE STUDY: </a:t>
            </a:r>
            <a:r>
              <a:rPr sz="2400" b="1">
                <a:solidFill>
                  <a:srgbClr val="111110"/>
                </a:solidFill>
                <a:latin typeface="Oswald"/>
              </a:rPr>
              <a:t>PROCUREMENT CYCLE COMPRESSION</a:t>
            </a:r>
          </a:p>
        </p:txBody>
      </p:sp>
      <p:sp>
        <p:nvSpPr>
          <p:cNvPr id="6" name="TextBox 5"/>
          <p:cNvSpPr txBox="1"/>
          <p:nvPr/>
        </p:nvSpPr>
        <p:spPr>
          <a:xfrm>
            <a:off x="402336" y="640080"/>
            <a:ext cx="11384280" cy="274320"/>
          </a:xfrm>
          <a:prstGeom prst="rect">
            <a:avLst/>
          </a:prstGeom>
          <a:noFill/>
        </p:spPr>
        <p:txBody>
          <a:bodyPr wrap="square" tIns="0" bIns="0" lIns="0" rIns="0">
            <a:spAutoFit/>
          </a:bodyPr>
          <a:lstStyle/>
          <a:p>
            <a:pPr algn="l"/>
            <a:r>
              <a:rPr sz="1500" b="1">
                <a:solidFill>
                  <a:srgbClr val="3A8B82"/>
                </a:solidFill>
                <a:latin typeface="Oswald"/>
              </a:rPr>
              <a:t>CLIENT: Leading Manufacturing Enterprise  |  DOMAIN: Manufacturing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Helvetica"/>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Helvetica"/>
              </a:rPr>
              <a:t>A manufacturing company in active scale-up was running its entire procurement operation on calls, emails, and spreadsheets maintained by individual buyers. Vendor quotes arrived in different formats, approval chains had no single owner, and PO status existed only in people's heads. Fragmentation was invisible until production timelines started slipping, not because of supply failures, but because internal procurement had become the bottleneck. A missed approval or untracked PO became a line stoppage.</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Helvetica"/>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Helvetica"/>
              </a:rPr>
              <a:t>A fully digitized procure-to-pay system replaced the manual chain from indent to payment. Vendors receive structured RFQs through WhatsApp and respond in a format the system reads directly. Approval routing executes against the client's actual hierarchy without chasing. Every PO moves through a tracked lifecycle with real-time visibility at each stage. The procurement team now operates from one platform instead of a scatter of inboxes and files.</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Helvetica"/>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Helvetica"/>
              </a:rPr>
              <a:t>End-to-End Procurement Execution</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Helvetica"/>
              </a:rPr>
              <a:t>Covers the full cycle from requisition to final payment on one platform, eliminating handoff gaps between steps.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Helvetica"/>
              </a:rPr>
              <a:t>Vendor Quote Collection via WhatsApp</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Helvetica"/>
              </a:rPr>
              <a:t>Sends structured RFQs to suppliers and captures responses in a standard format, removing manual collation.</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Helvetica"/>
              </a:rPr>
              <a:t>Automated Approval Routing</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Helvetica"/>
              </a:rPr>
              <a:t>Configurable chains trigger and escalate automatically by value, category, and department, with no follow-up required.</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Helvetica"/>
              </a:rPr>
              <a:t>Purchase Order Lifecycle Tracking</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Helvetica"/>
              </a:rPr>
              <a:t>Real-time visibility from PO creation to goods receipt, so delays surface before they hit the line.</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Helvetica"/>
              </a:rPr>
              <a:t>Vendor Performance Scoring</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Helvetica"/>
              </a:rPr>
              <a:t>Tracks delivery reliability, quality, and pricing trends per supplier to inform future sourcing decisions.</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Helvetica"/>
              </a:rPr>
              <a:t>Spend and Savings Analytics</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Helvetica"/>
              </a:rPr>
              <a:t>Aggregates procurement data into spend analysis and vendor comparisons, making cost patterns visible for the first time.</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596128"/>
            <a:ext cx="3697223" cy="566928"/>
          </a:xfrm>
          <a:prstGeom prst="rect">
            <a:avLst/>
          </a:prstGeom>
          <a:noFill/>
        </p:spPr>
        <p:txBody>
          <a:bodyPr wrap="square" tIns="0" bIns="0" lIns="0" rIns="0">
            <a:spAutoFit/>
          </a:bodyPr>
          <a:lstStyle/>
          <a:p>
            <a:pPr algn="ctr"/>
            <a:r>
              <a:rPr sz="3400" b="1">
                <a:solidFill>
                  <a:srgbClr val="FFFFFF"/>
                </a:solidFill>
                <a:latin typeface="Helvetica"/>
              </a:rPr>
              <a:t>70%</a:t>
            </a:r>
          </a:p>
        </p:txBody>
      </p:sp>
      <p:sp>
        <p:nvSpPr>
          <p:cNvPr id="36" name="TextBox 35"/>
          <p:cNvSpPr txBox="1"/>
          <p:nvPr/>
        </p:nvSpPr>
        <p:spPr>
          <a:xfrm>
            <a:off x="137160" y="6217920"/>
            <a:ext cx="3788664" cy="585216"/>
          </a:xfrm>
          <a:prstGeom prst="rect">
            <a:avLst/>
          </a:prstGeom>
          <a:noFill/>
        </p:spPr>
        <p:txBody>
          <a:bodyPr wrap="square" tIns="0" bIns="0" lIns="0" rIns="0">
            <a:spAutoFit/>
          </a:bodyPr>
          <a:lstStyle/>
          <a:p>
            <a:pPr algn="ctr"/>
            <a:r>
              <a:rPr sz="1100" b="0">
                <a:solidFill>
                  <a:srgbClr val="FFFFFF"/>
                </a:solidFill>
                <a:latin typeface="Helvetica"/>
              </a:rPr>
              <a:t>reduction in procurement cycle time</a:t>
            </a:r>
          </a:p>
        </p:txBody>
      </p:sp>
      <p:sp>
        <p:nvSpPr>
          <p:cNvPr id="37" name="TextBox 36"/>
          <p:cNvSpPr txBox="1"/>
          <p:nvPr/>
        </p:nvSpPr>
        <p:spPr>
          <a:xfrm>
            <a:off x="4245864" y="5596128"/>
            <a:ext cx="3697223" cy="566928"/>
          </a:xfrm>
          <a:prstGeom prst="rect">
            <a:avLst/>
          </a:prstGeom>
          <a:noFill/>
        </p:spPr>
        <p:txBody>
          <a:bodyPr wrap="square" tIns="0" bIns="0" lIns="0" rIns="0">
            <a:spAutoFit/>
          </a:bodyPr>
          <a:lstStyle/>
          <a:p>
            <a:pPr algn="ctr"/>
            <a:r>
              <a:rPr sz="3400" b="1">
                <a:solidFill>
                  <a:srgbClr val="FFFFFF"/>
                </a:solidFill>
                <a:latin typeface="Helvetica"/>
              </a:rPr>
              <a:t>Automated</a:t>
            </a:r>
          </a:p>
        </p:txBody>
      </p:sp>
      <p:sp>
        <p:nvSpPr>
          <p:cNvPr id="38" name="TextBox 37"/>
          <p:cNvSpPr txBox="1"/>
          <p:nvPr/>
        </p:nvSpPr>
        <p:spPr>
          <a:xfrm>
            <a:off x="4200144" y="6217920"/>
            <a:ext cx="3788664" cy="585216"/>
          </a:xfrm>
          <a:prstGeom prst="rect">
            <a:avLst/>
          </a:prstGeom>
          <a:noFill/>
        </p:spPr>
        <p:txBody>
          <a:bodyPr wrap="square" tIns="0" bIns="0" lIns="0" rIns="0">
            <a:spAutoFit/>
          </a:bodyPr>
          <a:lstStyle/>
          <a:p>
            <a:pPr algn="ctr"/>
            <a:r>
              <a:rPr sz="1100" b="0">
                <a:solidFill>
                  <a:srgbClr val="FFFFFF"/>
                </a:solidFill>
                <a:latin typeface="Helvetica"/>
              </a:rPr>
              <a:t>approval workflows with zero manual chasing</a:t>
            </a:r>
          </a:p>
        </p:txBody>
      </p:sp>
      <p:sp>
        <p:nvSpPr>
          <p:cNvPr id="39" name="TextBox 38"/>
          <p:cNvSpPr txBox="1"/>
          <p:nvPr/>
        </p:nvSpPr>
        <p:spPr>
          <a:xfrm>
            <a:off x="8308847" y="5596128"/>
            <a:ext cx="3697223" cy="566928"/>
          </a:xfrm>
          <a:prstGeom prst="rect">
            <a:avLst/>
          </a:prstGeom>
          <a:noFill/>
        </p:spPr>
        <p:txBody>
          <a:bodyPr wrap="square" tIns="0" bIns="0" lIns="0" rIns="0">
            <a:spAutoFit/>
          </a:bodyPr>
          <a:lstStyle/>
          <a:p>
            <a:pPr algn="ctr"/>
            <a:r>
              <a:rPr sz="3400" b="1">
                <a:solidFill>
                  <a:srgbClr val="FFFFFF"/>
                </a:solidFill>
                <a:latin typeface="Helvetica"/>
              </a:rPr>
              <a:t>Single platform</a:t>
            </a:r>
          </a:p>
        </p:txBody>
      </p:sp>
      <p:sp>
        <p:nvSpPr>
          <p:cNvPr id="40" name="TextBox 39"/>
          <p:cNvSpPr txBox="1"/>
          <p:nvPr/>
        </p:nvSpPr>
        <p:spPr>
          <a:xfrm>
            <a:off x="8263128" y="6217920"/>
            <a:ext cx="3788664" cy="585216"/>
          </a:xfrm>
          <a:prstGeom prst="rect">
            <a:avLst/>
          </a:prstGeom>
          <a:noFill/>
        </p:spPr>
        <p:txBody>
          <a:bodyPr wrap="square" tIns="0" bIns="0" lIns="0" rIns="0">
            <a:spAutoFit/>
          </a:bodyPr>
          <a:lstStyle/>
          <a:p>
            <a:pPr algn="ctr"/>
            <a:r>
              <a:rPr sz="1100" b="0">
                <a:solidFill>
                  <a:srgbClr val="FFFFFF"/>
                </a:solidFill>
                <a:latin typeface="Helvetica"/>
              </a:rPr>
              <a:t>indent-to-payment visibility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