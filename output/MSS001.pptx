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J2W_TEMPLATE: case_study_v2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852160" cy="9144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852160" y="0"/>
            <a:ext cx="6336792" cy="9144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310896"/>
            <a:ext cx="59436" cy="50292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2336" y="274320"/>
            <a:ext cx="8686800" cy="548640"/>
          </a:xfrm>
          <a:prstGeom prst="rect">
            <a:avLst/>
          </a:prstGeom>
          <a:noFill/>
        </p:spPr>
        <p:txBody>
          <a:bodyPr wrap="square" tIns="0" bIns="0" lIns="0" rIns="0">
            <a:spAutoFit/>
          </a:bodyPr>
          <a:lstStyle/>
          <a:p>
            <a:pPr algn="l"/>
            <a:r>
              <a:rPr sz="2400" b="1">
                <a:solidFill>
                  <a:srgbClr val="111110"/>
                </a:solidFill>
                <a:latin typeface="Calibri"/>
              </a:rPr>
              <a:t>PROCUREMENT CYCLE COMPRESSION</a:t>
            </a:r>
          </a:p>
        </p:txBody>
      </p:sp>
      <p:sp>
        <p:nvSpPr>
          <p:cNvPr id="6" name="TextBox 5"/>
          <p:cNvSpPr txBox="1"/>
          <p:nvPr/>
        </p:nvSpPr>
        <p:spPr>
          <a:xfrm>
            <a:off x="402336" y="676656"/>
            <a:ext cx="11430000" cy="310896"/>
          </a:xfrm>
          <a:prstGeom prst="rect">
            <a:avLst/>
          </a:prstGeom>
          <a:noFill/>
        </p:spPr>
        <p:txBody>
          <a:bodyPr wrap="square" tIns="0" bIns="0" lIns="0" rIns="0">
            <a:spAutoFit/>
          </a:bodyPr>
          <a:lstStyle/>
          <a:p>
            <a:pPr algn="l"/>
            <a:r>
              <a:rPr sz="1500" b="1">
                <a:solidFill>
                  <a:srgbClr val="3A8B82"/>
                </a:solidFill>
                <a:latin typeface="Calibri"/>
              </a:rPr>
              <a:t>CLIENT: Leading Manufacturing Enterprise  |  DOMAIN: Manufacturing</a:t>
            </a:r>
          </a:p>
        </p:txBody>
      </p:sp>
      <p:sp>
        <p:nvSpPr>
          <p:cNvPr id="7" name="Rectangle 6"/>
          <p:cNvSpPr/>
          <p:nvPr/>
        </p:nvSpPr>
        <p:spPr>
          <a:xfrm>
            <a:off x="228600" y="1280160"/>
            <a:ext cx="59436" cy="182880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 y="1280160"/>
            <a:ext cx="53949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44168"/>
            <a:ext cx="5166360" cy="292608"/>
          </a:xfrm>
          <a:prstGeom prst="rect">
            <a:avLst/>
          </a:prstGeom>
          <a:noFill/>
        </p:spPr>
        <p:txBody>
          <a:bodyPr wrap="square" tIns="0" bIns="0" lIns="0" rIns="0">
            <a:spAutoFit/>
          </a:bodyPr>
          <a:lstStyle/>
          <a:p>
            <a:pPr algn="l"/>
            <a:r>
              <a:rPr sz="1300" b="1">
                <a:solidFill>
                  <a:srgbClr val="111110"/>
                </a:solidFill>
                <a:latin typeface="Calibri"/>
              </a:rPr>
              <a:t>The Challenge</a:t>
            </a:r>
          </a:p>
        </p:txBody>
      </p:sp>
      <p:sp>
        <p:nvSpPr>
          <p:cNvPr id="10" name="TextBox 9"/>
          <p:cNvSpPr txBox="1"/>
          <p:nvPr/>
        </p:nvSpPr>
        <p:spPr>
          <a:xfrm>
            <a:off x="411480" y="1691640"/>
            <a:ext cx="5166360" cy="1353312"/>
          </a:xfrm>
          <a:prstGeom prst="rect">
            <a:avLst/>
          </a:prstGeom>
          <a:noFill/>
        </p:spPr>
        <p:txBody>
          <a:bodyPr wrap="square" tIns="0" bIns="0" lIns="0" rIns="0">
            <a:spAutoFit/>
          </a:bodyPr>
          <a:lstStyle/>
          <a:p>
            <a:pPr algn="l"/>
            <a:r>
              <a:rPr sz="1100" b="0">
                <a:solidFill>
                  <a:srgbClr val="3E3E3E"/>
                </a:solidFill>
                <a:latin typeface="Calibri"/>
              </a:rPr>
              <a:t>A manufacturing company in active scale-up was running its entire procurement operation on calls, emails, and spreadsheets maintained by individual buyers. Vendor quotes arrived in different formats, approval chains had no single owner, and PO status existed only in people's heads. Fragmentation was invisible until production timelines started slipping, not because of supply failures, but because internal procurement had become the bottleneck. A missed approval or untracked PO became a line stoppage.</a:t>
            </a:r>
          </a:p>
        </p:txBody>
      </p:sp>
      <p:sp>
        <p:nvSpPr>
          <p:cNvPr id="11" name="Rectangle 10"/>
          <p:cNvSpPr/>
          <p:nvPr/>
        </p:nvSpPr>
        <p:spPr>
          <a:xfrm>
            <a:off x="6007607" y="1280160"/>
            <a:ext cx="59436" cy="18288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67044" y="1280160"/>
            <a:ext cx="58521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5916" y="1344168"/>
            <a:ext cx="5614416" cy="292608"/>
          </a:xfrm>
          <a:prstGeom prst="rect">
            <a:avLst/>
          </a:prstGeom>
          <a:noFill/>
        </p:spPr>
        <p:txBody>
          <a:bodyPr wrap="square" tIns="0" bIns="0" lIns="0" rIns="0">
            <a:spAutoFit/>
          </a:bodyPr>
          <a:lstStyle/>
          <a:p>
            <a:pPr algn="l"/>
            <a:r>
              <a:rPr sz="1300" b="1">
                <a:solidFill>
                  <a:srgbClr val="111110"/>
                </a:solidFill>
                <a:latin typeface="Calibri"/>
              </a:rPr>
              <a:t>The Solution</a:t>
            </a:r>
          </a:p>
        </p:txBody>
      </p:sp>
      <p:sp>
        <p:nvSpPr>
          <p:cNvPr id="14" name="TextBox 13"/>
          <p:cNvSpPr txBox="1"/>
          <p:nvPr/>
        </p:nvSpPr>
        <p:spPr>
          <a:xfrm>
            <a:off x="6185916" y="1691640"/>
            <a:ext cx="5614416" cy="1353312"/>
          </a:xfrm>
          <a:prstGeom prst="rect">
            <a:avLst/>
          </a:prstGeom>
          <a:noFill/>
        </p:spPr>
        <p:txBody>
          <a:bodyPr wrap="square" tIns="0" bIns="0" lIns="0" rIns="0">
            <a:spAutoFit/>
          </a:bodyPr>
          <a:lstStyle/>
          <a:p>
            <a:pPr algn="l"/>
            <a:r>
              <a:rPr sz="1100" b="0">
                <a:solidFill>
                  <a:srgbClr val="3E3E3E"/>
                </a:solidFill>
                <a:latin typeface="Calibri"/>
              </a:rPr>
              <a:t>A fully digitized procure-to-pay system replaced the manual chain from indent to payment. Vendors receive structured RFQs through WhatsApp and respond in a format the system reads directly. Approval routing executes against the client's actual hierarchy without chasing. Every PO moves through a tracked lifecycle with real-time visibility at each stage. The procurement team now operates from one platform instead of a scatter of inboxes and files.</a:t>
            </a:r>
          </a:p>
        </p:txBody>
      </p:sp>
      <p:sp>
        <p:nvSpPr>
          <p:cNvPr id="15" name="TextBox 14"/>
          <p:cNvSpPr txBox="1"/>
          <p:nvPr/>
        </p:nvSpPr>
        <p:spPr>
          <a:xfrm>
            <a:off x="256032" y="3200400"/>
            <a:ext cx="6400800" cy="256032"/>
          </a:xfrm>
          <a:prstGeom prst="rect">
            <a:avLst/>
          </a:prstGeom>
          <a:noFill/>
        </p:spPr>
        <p:txBody>
          <a:bodyPr wrap="square" tIns="0" bIns="0" lIns="0" rIns="0">
            <a:spAutoFit/>
          </a:bodyPr>
          <a:lstStyle/>
          <a:p>
            <a:pPr algn="l"/>
            <a:r>
              <a:rPr sz="1400" b="0">
                <a:solidFill>
                  <a:srgbClr val="3A8B82"/>
                </a:solidFill>
                <a:latin typeface="Calibri"/>
              </a:rPr>
              <a:t>Key Capabilities Developed</a:t>
            </a:r>
          </a:p>
        </p:txBody>
      </p:sp>
      <p:sp>
        <p:nvSpPr>
          <p:cNvPr id="16" name="Rectangle 15"/>
          <p:cNvSpPr/>
          <p:nvPr/>
        </p:nvSpPr>
        <p:spPr>
          <a:xfrm>
            <a:off x="256032"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575303"/>
            <a:ext cx="3611880" cy="237744"/>
          </a:xfrm>
          <a:prstGeom prst="rect">
            <a:avLst/>
          </a:prstGeom>
          <a:noFill/>
        </p:spPr>
        <p:txBody>
          <a:bodyPr wrap="square" tIns="0" bIns="0" lIns="0" rIns="0">
            <a:spAutoFit/>
          </a:bodyPr>
          <a:lstStyle/>
          <a:p>
            <a:pPr algn="l"/>
            <a:r>
              <a:rPr sz="1300" b="1">
                <a:solidFill>
                  <a:srgbClr val="111110"/>
                </a:solidFill>
                <a:latin typeface="Calibri"/>
              </a:rPr>
              <a:t>End-to-End Procurement Execution</a:t>
            </a:r>
          </a:p>
        </p:txBody>
      </p:sp>
      <p:sp>
        <p:nvSpPr>
          <p:cNvPr id="18" name="TextBox 17"/>
          <p:cNvSpPr txBox="1"/>
          <p:nvPr/>
        </p:nvSpPr>
        <p:spPr>
          <a:xfrm>
            <a:off x="365760" y="3840480"/>
            <a:ext cx="3611880" cy="512064"/>
          </a:xfrm>
          <a:prstGeom prst="rect">
            <a:avLst/>
          </a:prstGeom>
          <a:noFill/>
        </p:spPr>
        <p:txBody>
          <a:bodyPr wrap="square" tIns="0" bIns="0" lIns="0" rIns="0">
            <a:spAutoFit/>
          </a:bodyPr>
          <a:lstStyle/>
          <a:p>
            <a:pPr algn="l"/>
            <a:r>
              <a:rPr sz="1100" b="0">
                <a:solidFill>
                  <a:srgbClr val="3E3E3E"/>
                </a:solidFill>
                <a:latin typeface="Calibri"/>
              </a:rPr>
              <a:t>Streamlined procurement process from request to payment</a:t>
            </a:r>
          </a:p>
        </p:txBody>
      </p:sp>
      <p:sp>
        <p:nvSpPr>
          <p:cNvPr id="19" name="Rectangle 18"/>
          <p:cNvSpPr/>
          <p:nvPr/>
        </p:nvSpPr>
        <p:spPr>
          <a:xfrm>
            <a:off x="4183380"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3108" y="3575303"/>
            <a:ext cx="3611880" cy="237744"/>
          </a:xfrm>
          <a:prstGeom prst="rect">
            <a:avLst/>
          </a:prstGeom>
          <a:noFill/>
        </p:spPr>
        <p:txBody>
          <a:bodyPr wrap="square" tIns="0" bIns="0" lIns="0" rIns="0">
            <a:spAutoFit/>
          </a:bodyPr>
          <a:lstStyle/>
          <a:p>
            <a:pPr algn="l"/>
            <a:r>
              <a:rPr sz="1300" b="1">
                <a:solidFill>
                  <a:srgbClr val="111110"/>
                </a:solidFill>
                <a:latin typeface="Calibri"/>
              </a:rPr>
              <a:t>Vendor Quote Collection via WhatsApp</a:t>
            </a:r>
          </a:p>
        </p:txBody>
      </p:sp>
      <p:sp>
        <p:nvSpPr>
          <p:cNvPr id="21" name="TextBox 20"/>
          <p:cNvSpPr txBox="1"/>
          <p:nvPr/>
        </p:nvSpPr>
        <p:spPr>
          <a:xfrm>
            <a:off x="4293108" y="3840480"/>
            <a:ext cx="3611880" cy="512064"/>
          </a:xfrm>
          <a:prstGeom prst="rect">
            <a:avLst/>
          </a:prstGeom>
          <a:noFill/>
        </p:spPr>
        <p:txBody>
          <a:bodyPr wrap="square" tIns="0" bIns="0" lIns="0" rIns="0">
            <a:spAutoFit/>
          </a:bodyPr>
          <a:lstStyle/>
          <a:p>
            <a:pPr algn="l"/>
            <a:r>
              <a:rPr sz="1100" b="0">
                <a:solidFill>
                  <a:srgbClr val="3E3E3E"/>
                </a:solidFill>
                <a:latin typeface="Calibri"/>
              </a:rPr>
              <a:t>Structured RFQs sent to vendors through WhatsApp</a:t>
            </a:r>
          </a:p>
        </p:txBody>
      </p:sp>
      <p:sp>
        <p:nvSpPr>
          <p:cNvPr id="22" name="Rectangle 21"/>
          <p:cNvSpPr/>
          <p:nvPr/>
        </p:nvSpPr>
        <p:spPr>
          <a:xfrm>
            <a:off x="8110728"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0456" y="3575303"/>
            <a:ext cx="3611880" cy="237744"/>
          </a:xfrm>
          <a:prstGeom prst="rect">
            <a:avLst/>
          </a:prstGeom>
          <a:noFill/>
        </p:spPr>
        <p:txBody>
          <a:bodyPr wrap="square" tIns="0" bIns="0" lIns="0" rIns="0">
            <a:spAutoFit/>
          </a:bodyPr>
          <a:lstStyle/>
          <a:p>
            <a:pPr algn="l"/>
            <a:r>
              <a:rPr sz="1300" b="1">
                <a:solidFill>
                  <a:srgbClr val="111110"/>
                </a:solidFill>
                <a:latin typeface="Calibri"/>
              </a:rPr>
              <a:t>Automated Approval Routing</a:t>
            </a:r>
          </a:p>
        </p:txBody>
      </p:sp>
      <p:sp>
        <p:nvSpPr>
          <p:cNvPr id="24" name="TextBox 23"/>
          <p:cNvSpPr txBox="1"/>
          <p:nvPr/>
        </p:nvSpPr>
        <p:spPr>
          <a:xfrm>
            <a:off x="8220456" y="3840480"/>
            <a:ext cx="3611880" cy="512064"/>
          </a:xfrm>
          <a:prstGeom prst="rect">
            <a:avLst/>
          </a:prstGeom>
          <a:noFill/>
        </p:spPr>
        <p:txBody>
          <a:bodyPr wrap="square" tIns="0" bIns="0" lIns="0" rIns="0">
            <a:spAutoFit/>
          </a:bodyPr>
          <a:lstStyle/>
          <a:p>
            <a:pPr algn="l"/>
            <a:r>
              <a:rPr sz="1100" b="0">
                <a:solidFill>
                  <a:srgbClr val="3E3E3E"/>
                </a:solidFill>
                <a:latin typeface="Calibri"/>
              </a:rPr>
              <a:t>Automated routing based on organizational hierarchy</a:t>
            </a:r>
          </a:p>
        </p:txBody>
      </p:sp>
      <p:sp>
        <p:nvSpPr>
          <p:cNvPr id="25" name="Rectangle 24"/>
          <p:cNvSpPr/>
          <p:nvPr/>
        </p:nvSpPr>
        <p:spPr>
          <a:xfrm>
            <a:off x="256032"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4590288"/>
            <a:ext cx="3611880" cy="237744"/>
          </a:xfrm>
          <a:prstGeom prst="rect">
            <a:avLst/>
          </a:prstGeom>
          <a:noFill/>
        </p:spPr>
        <p:txBody>
          <a:bodyPr wrap="square" tIns="0" bIns="0" lIns="0" rIns="0">
            <a:spAutoFit/>
          </a:bodyPr>
          <a:lstStyle/>
          <a:p>
            <a:pPr algn="l"/>
            <a:r>
              <a:rPr sz="1300" b="1">
                <a:solidFill>
                  <a:srgbClr val="111110"/>
                </a:solidFill>
                <a:latin typeface="Calibri"/>
              </a:rPr>
              <a:t>Purchase Order Lifecycle Tracking</a:t>
            </a:r>
          </a:p>
        </p:txBody>
      </p:sp>
      <p:sp>
        <p:nvSpPr>
          <p:cNvPr id="27" name="TextBox 26"/>
          <p:cNvSpPr txBox="1"/>
          <p:nvPr/>
        </p:nvSpPr>
        <p:spPr>
          <a:xfrm>
            <a:off x="365760" y="4855464"/>
            <a:ext cx="3611880" cy="512064"/>
          </a:xfrm>
          <a:prstGeom prst="rect">
            <a:avLst/>
          </a:prstGeom>
          <a:noFill/>
        </p:spPr>
        <p:txBody>
          <a:bodyPr wrap="square" tIns="0" bIns="0" lIns="0" rIns="0">
            <a:spAutoFit/>
          </a:bodyPr>
          <a:lstStyle/>
          <a:p>
            <a:pPr algn="l"/>
            <a:r>
              <a:rPr sz="1100" b="0">
                <a:solidFill>
                  <a:srgbClr val="3E3E3E"/>
                </a:solidFill>
                <a:latin typeface="Calibri"/>
              </a:rPr>
              <a:t>Real-time tracking of purchase order status</a:t>
            </a:r>
          </a:p>
        </p:txBody>
      </p:sp>
      <p:sp>
        <p:nvSpPr>
          <p:cNvPr id="28" name="Rectangle 27"/>
          <p:cNvSpPr/>
          <p:nvPr/>
        </p:nvSpPr>
        <p:spPr>
          <a:xfrm>
            <a:off x="4183380"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3108" y="4590288"/>
            <a:ext cx="3611880" cy="237744"/>
          </a:xfrm>
          <a:prstGeom prst="rect">
            <a:avLst/>
          </a:prstGeom>
          <a:noFill/>
        </p:spPr>
        <p:txBody>
          <a:bodyPr wrap="square" tIns="0" bIns="0" lIns="0" rIns="0">
            <a:spAutoFit/>
          </a:bodyPr>
          <a:lstStyle/>
          <a:p>
            <a:pPr algn="l"/>
            <a:r>
              <a:rPr sz="1300" b="1">
                <a:solidFill>
                  <a:srgbClr val="111110"/>
                </a:solidFill>
                <a:latin typeface="Calibri"/>
              </a:rPr>
              <a:t>Vendor Performance Scoring</a:t>
            </a:r>
          </a:p>
        </p:txBody>
      </p:sp>
      <p:sp>
        <p:nvSpPr>
          <p:cNvPr id="30" name="TextBox 29"/>
          <p:cNvSpPr txBox="1"/>
          <p:nvPr/>
        </p:nvSpPr>
        <p:spPr>
          <a:xfrm>
            <a:off x="4293108" y="4855464"/>
            <a:ext cx="3611880" cy="512064"/>
          </a:xfrm>
          <a:prstGeom prst="rect">
            <a:avLst/>
          </a:prstGeom>
          <a:noFill/>
        </p:spPr>
        <p:txBody>
          <a:bodyPr wrap="square" tIns="0" bIns="0" lIns="0" rIns="0">
            <a:spAutoFit/>
          </a:bodyPr>
          <a:lstStyle/>
          <a:p>
            <a:pPr algn="l"/>
            <a:r>
              <a:rPr sz="1100" b="0">
                <a:solidFill>
                  <a:srgbClr val="3E3E3E"/>
                </a:solidFill>
                <a:latin typeface="Calibri"/>
              </a:rPr>
              <a:t>Evaluation of vendor performance metrics</a:t>
            </a:r>
          </a:p>
        </p:txBody>
      </p:sp>
      <p:sp>
        <p:nvSpPr>
          <p:cNvPr id="31" name="Rectangle 30"/>
          <p:cNvSpPr/>
          <p:nvPr/>
        </p:nvSpPr>
        <p:spPr>
          <a:xfrm>
            <a:off x="8110728"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0456" y="4590288"/>
            <a:ext cx="3611880" cy="237744"/>
          </a:xfrm>
          <a:prstGeom prst="rect">
            <a:avLst/>
          </a:prstGeom>
          <a:noFill/>
        </p:spPr>
        <p:txBody>
          <a:bodyPr wrap="square" tIns="0" bIns="0" lIns="0" rIns="0">
            <a:spAutoFit/>
          </a:bodyPr>
          <a:lstStyle/>
          <a:p>
            <a:pPr algn="l"/>
            <a:r>
              <a:rPr sz="1300" b="1">
                <a:solidFill>
                  <a:srgbClr val="111110"/>
                </a:solidFill>
                <a:latin typeface="Calibri"/>
              </a:rPr>
              <a:t>Spend and Savings Analytics</a:t>
            </a:r>
          </a:p>
        </p:txBody>
      </p:sp>
      <p:sp>
        <p:nvSpPr>
          <p:cNvPr id="33" name="TextBox 32"/>
          <p:cNvSpPr txBox="1"/>
          <p:nvPr/>
        </p:nvSpPr>
        <p:spPr>
          <a:xfrm>
            <a:off x="8220456" y="4855464"/>
            <a:ext cx="3611880" cy="512064"/>
          </a:xfrm>
          <a:prstGeom prst="rect">
            <a:avLst/>
          </a:prstGeom>
          <a:noFill/>
        </p:spPr>
        <p:txBody>
          <a:bodyPr wrap="square" tIns="0" bIns="0" lIns="0" rIns="0">
            <a:spAutoFit/>
          </a:bodyPr>
          <a:lstStyle/>
          <a:p>
            <a:pPr algn="l"/>
            <a:r>
              <a:rPr sz="1100" b="0">
                <a:solidFill>
                  <a:srgbClr val="3E3E3E"/>
                </a:solidFill>
                <a:latin typeface="Calibri"/>
              </a:rPr>
              <a:t>Analysis of spending patterns and savings opportunities</a:t>
            </a:r>
          </a:p>
        </p:txBody>
      </p:sp>
      <p:sp>
        <p:nvSpPr>
          <p:cNvPr id="34" name="Rectangle 33"/>
          <p:cNvSpPr/>
          <p:nvPr/>
        </p:nvSpPr>
        <p:spPr>
          <a:xfrm>
            <a:off x="0" y="5486400"/>
            <a:ext cx="12188952" cy="13716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 y="5614416"/>
            <a:ext cx="3697223" cy="603504"/>
          </a:xfrm>
          <a:prstGeom prst="rect">
            <a:avLst/>
          </a:prstGeom>
          <a:noFill/>
        </p:spPr>
        <p:txBody>
          <a:bodyPr wrap="square" tIns="0" bIns="0" lIns="0" rIns="0">
            <a:spAutoFit/>
          </a:bodyPr>
          <a:lstStyle/>
          <a:p>
            <a:pPr algn="ctr"/>
            <a:r>
              <a:rPr sz="3400" b="1">
                <a:solidFill>
                  <a:srgbClr val="FFFFFF"/>
                </a:solidFill>
                <a:latin typeface="Calibri"/>
              </a:rPr>
              <a:t>70%</a:t>
            </a:r>
          </a:p>
        </p:txBody>
      </p:sp>
      <p:sp>
        <p:nvSpPr>
          <p:cNvPr id="36" name="TextBox 35"/>
          <p:cNvSpPr txBox="1"/>
          <p:nvPr/>
        </p:nvSpPr>
        <p:spPr>
          <a:xfrm>
            <a:off x="137160" y="6272784"/>
            <a:ext cx="3788664" cy="502920"/>
          </a:xfrm>
          <a:prstGeom prst="rect">
            <a:avLst/>
          </a:prstGeom>
          <a:noFill/>
        </p:spPr>
        <p:txBody>
          <a:bodyPr wrap="square" tIns="0" bIns="0" lIns="0" rIns="0">
            <a:spAutoFit/>
          </a:bodyPr>
          <a:lstStyle/>
          <a:p>
            <a:pPr algn="ctr"/>
            <a:r>
              <a:rPr sz="900" b="0">
                <a:solidFill>
                  <a:srgbClr val="FFFFFF"/>
                </a:solidFill>
                <a:latin typeface="Calibri"/>
              </a:rPr>
              <a:t>reduction in procurement cycle time</a:t>
            </a:r>
          </a:p>
        </p:txBody>
      </p:sp>
      <p:sp>
        <p:nvSpPr>
          <p:cNvPr id="37" name="TextBox 36"/>
          <p:cNvSpPr txBox="1"/>
          <p:nvPr/>
        </p:nvSpPr>
        <p:spPr>
          <a:xfrm>
            <a:off x="4245864" y="5614416"/>
            <a:ext cx="3697223" cy="603504"/>
          </a:xfrm>
          <a:prstGeom prst="rect">
            <a:avLst/>
          </a:prstGeom>
          <a:noFill/>
        </p:spPr>
        <p:txBody>
          <a:bodyPr wrap="square" tIns="0" bIns="0" lIns="0" rIns="0">
            <a:spAutoFit/>
          </a:bodyPr>
          <a:lstStyle/>
          <a:p>
            <a:pPr algn="ctr"/>
            <a:r>
              <a:rPr sz="3400" b="1">
                <a:solidFill>
                  <a:srgbClr val="FFFFFF"/>
                </a:solidFill>
                <a:latin typeface="Calibri"/>
              </a:rPr>
              <a:t>Automated</a:t>
            </a:r>
          </a:p>
        </p:txBody>
      </p:sp>
      <p:sp>
        <p:nvSpPr>
          <p:cNvPr id="38" name="TextBox 37"/>
          <p:cNvSpPr txBox="1"/>
          <p:nvPr/>
        </p:nvSpPr>
        <p:spPr>
          <a:xfrm>
            <a:off x="4200144" y="6272784"/>
            <a:ext cx="3788664" cy="502920"/>
          </a:xfrm>
          <a:prstGeom prst="rect">
            <a:avLst/>
          </a:prstGeom>
          <a:noFill/>
        </p:spPr>
        <p:txBody>
          <a:bodyPr wrap="square" tIns="0" bIns="0" lIns="0" rIns="0">
            <a:spAutoFit/>
          </a:bodyPr>
          <a:lstStyle/>
          <a:p>
            <a:pPr algn="ctr"/>
            <a:r>
              <a:rPr sz="900" b="0">
                <a:solidFill>
                  <a:srgbClr val="FFFFFF"/>
                </a:solidFill>
                <a:latin typeface="Calibri"/>
              </a:rPr>
              <a:t>approval workflows with zero manual chasing</a:t>
            </a:r>
          </a:p>
        </p:txBody>
      </p:sp>
      <p:sp>
        <p:nvSpPr>
          <p:cNvPr id="39" name="TextBox 38"/>
          <p:cNvSpPr txBox="1"/>
          <p:nvPr/>
        </p:nvSpPr>
        <p:spPr>
          <a:xfrm>
            <a:off x="8308847" y="5614416"/>
            <a:ext cx="3697223" cy="603504"/>
          </a:xfrm>
          <a:prstGeom prst="rect">
            <a:avLst/>
          </a:prstGeom>
          <a:noFill/>
        </p:spPr>
        <p:txBody>
          <a:bodyPr wrap="square" tIns="0" bIns="0" lIns="0" rIns="0">
            <a:spAutoFit/>
          </a:bodyPr>
          <a:lstStyle/>
          <a:p>
            <a:pPr algn="ctr"/>
            <a:r>
              <a:rPr sz="3400" b="1">
                <a:solidFill>
                  <a:srgbClr val="FFFFFF"/>
                </a:solidFill>
                <a:latin typeface="Calibri"/>
              </a:rPr>
              <a:t>Single platform</a:t>
            </a:r>
          </a:p>
        </p:txBody>
      </p:sp>
      <p:sp>
        <p:nvSpPr>
          <p:cNvPr id="40" name="TextBox 39"/>
          <p:cNvSpPr txBox="1"/>
          <p:nvPr/>
        </p:nvSpPr>
        <p:spPr>
          <a:xfrm>
            <a:off x="8263128" y="6272784"/>
            <a:ext cx="3788664" cy="502920"/>
          </a:xfrm>
          <a:prstGeom prst="rect">
            <a:avLst/>
          </a:prstGeom>
          <a:noFill/>
        </p:spPr>
        <p:txBody>
          <a:bodyPr wrap="square" tIns="0" bIns="0" lIns="0" rIns="0">
            <a:spAutoFit/>
          </a:bodyPr>
          <a:lstStyle/>
          <a:p>
            <a:pPr algn="ctr"/>
            <a:r>
              <a:rPr sz="900" b="0">
                <a:solidFill>
                  <a:srgbClr val="FFFFFF"/>
                </a:solidFill>
                <a:latin typeface="Calibri"/>
              </a:rPr>
              <a:t>indent-to-payment visibility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