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9"/>
    <p:sldId id="2147483330" r:id="rId10"/>
    <p:sldId id="214748333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dPt>
            <c:idx val="0"/>
            <c:spPr>
              <a:solidFill>
                <a:srgbClr val="E06C1F"/>
              </a:solidFill>
            </c:spPr>
          </c:dPt>
          <c:dPt>
            <c:idx val="1"/>
            <c:spPr>
              <a:solidFill>
                <a:srgbClr val="7B4EA5"/>
              </a:solidFill>
            </c:spPr>
          </c:dPt>
          <c:dPt>
            <c:idx val="2"/>
            <c:spPr>
              <a:solidFill>
                <a:srgbClr val="2A7EBC"/>
              </a:solidFill>
            </c:spPr>
          </c:dPt>
          <c:dPt>
            <c:idx val="3"/>
            <c:spPr>
              <a:solidFill>
                <a:srgbClr val="B82E2E"/>
              </a:solidFill>
            </c:spPr>
          </c:dPt>
          <c:cat>
            <c:strRef>
              <c:f>Sheet1!$A$2:$A$5</c:f>
              <c:strCache>
                <c:ptCount val="4"/>
                <c:pt idx="0">
                  <c:v>Quality Engineering</c:v>
                </c:pt>
                <c:pt idx="1">
                  <c:v>Cloud &amp; DevOps</c:v>
                </c:pt>
                <c:pt idx="2">
                  <c:v>Data &amp; AI</c:v>
                </c:pt>
                <c:pt idx="3">
                  <c:v>Engineering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330</c:v>
                </c:pt>
                <c:pt idx="2">
                  <c:v>260</c:v>
                </c:pt>
                <c:pt idx="3">
                  <c:v>230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3A8B82"/>
            </a:solidFill>
          </c:spPr>
          <c:cat>
            <c:strRef>
              <c:f>Sheet1!$A$2:$A$3</c:f>
              <c:strCache>
                <c:ptCount val="2"/>
                <c:pt idx="0">
                  <c:v>Test Automation</c:v>
                </c:pt>
                <c:pt idx="1">
                  <c:v>Cloud DevOps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</c:v>
                </c:pt>
                <c:pt idx="1">
                  <c:v>220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3A8B82"/>
            </a:solidFill>
          </c:spPr>
          <c:cat>
            <c:strRef>
              <c:f>Sheet1!$A$2:$A$5</c:f>
              <c:strCache>
                <c:ptCount val="4"/>
                <c:pt idx="0">
                  <c:v>Quality Engineering</c:v>
                </c:pt>
                <c:pt idx="1">
                  <c:v>Cloud &amp; DevOps</c:v>
                </c:pt>
                <c:pt idx="2">
                  <c:v>Data &amp; AI</c:v>
                </c:pt>
                <c:pt idx="3">
                  <c:v>Engineering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91440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0" y="0"/>
            <a:ext cx="6336792" cy="9144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Calibri"/>
              </a:rPr>
              <a:t>OUR DELIVERY FOOTPRINT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3A8B82"/>
                </a:solidFill>
                <a:latin typeface="Calibri"/>
              </a:rPr>
              <a:t>INDUSTRY:  Banking &amp; Financial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1,240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Consultants deployed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5546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5546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8698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8698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Companies 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924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Functions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7998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7998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Distinct 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5074920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560320"/>
            <a:ext cx="54864" cy="4041647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3" y="2706624"/>
            <a:ext cx="4782312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3A8B82"/>
                </a:solidFill>
                <a:latin typeface="Calibri"/>
              </a:rPr>
              <a:t>TOP HIRED SKILLS - BY COMPANIES SERVED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" y="2980944"/>
            <a:ext cx="4782312" cy="20116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3" y="3127248"/>
            <a:ext cx="4782312" cy="1072895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3" y="3127248"/>
            <a:ext cx="420624" cy="1072895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3" y="3127248"/>
            <a:ext cx="420624" cy="1072895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3182112"/>
            <a:ext cx="4197096" cy="963167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l"/>
            <a:r>
              <a:rPr sz="1100" b="0" i="0">
                <a:solidFill>
                  <a:srgbClr val="3E3E3E"/>
                </a:solidFill>
                <a:latin typeface="Calibri"/>
              </a:rPr>
              <a:t>Java Microservices  (12 companies)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3" y="4291584"/>
            <a:ext cx="4782312" cy="1072895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3" y="4291584"/>
            <a:ext cx="420624" cy="1072895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3" y="4291584"/>
            <a:ext cx="420624" cy="1072895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4346448"/>
            <a:ext cx="4197096" cy="963167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l"/>
            <a:r>
              <a:rPr sz="1100" b="0" i="0">
                <a:solidFill>
                  <a:srgbClr val="3E3E3E"/>
                </a:solidFill>
                <a:latin typeface="Calibri"/>
              </a:rPr>
              <a:t>Test Automation  (9 companies)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3" y="5455920"/>
            <a:ext cx="4782312" cy="1072895"/>
          </a:xfrm>
          <a:prstGeom prst="rect">
            <a:avLst/>
          </a:prstGeom>
          <a:solidFill>
            <a:srgbClr val="F5F5F5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3" y="5455920"/>
            <a:ext cx="420624" cy="1072895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3" y="5455920"/>
            <a:ext cx="420624" cy="1072895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5510784"/>
            <a:ext cx="4197096" cy="963167"/>
          </a:xfrm>
          <a:prstGeom prst="rect">
            <a:avLst/>
          </a:prstGeom>
          <a:noFill/>
        </p:spPr>
        <p:txBody>
          <a:bodyPr wrap="square" anchor="ctr" tIns="0" bIns="0">
            <a:spAutoFit/>
          </a:bodyPr>
          <a:lstStyle/>
          <a:p>
            <a:pPr algn="l"/>
            <a:r>
              <a:rPr sz="1100" b="0" i="0">
                <a:solidFill>
                  <a:srgbClr val="3E3E3E"/>
                </a:solidFill>
                <a:latin typeface="Calibri"/>
              </a:rPr>
              <a:t>Cloud DevOps  (7 companies)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68696" y="2560320"/>
            <a:ext cx="6345936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68696" y="2560320"/>
            <a:ext cx="6345936" cy="54864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2706624"/>
            <a:ext cx="6053328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3A8B82"/>
                </a:solidFill>
                <a:latin typeface="Calibri"/>
              </a:rPr>
              <a:t>FUNCTION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980944"/>
            <a:ext cx="6053328" cy="20116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5715000" y="3108960"/>
          <a:ext cx="6053328" cy="341985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91440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0" y="0"/>
            <a:ext cx="6336792" cy="9144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Calibri"/>
              </a:rPr>
              <a:t>WHERE J2W HAS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3A8B82"/>
                </a:solidFill>
                <a:latin typeface="Calibri"/>
              </a:rPr>
              <a:t>SKILLS DEPLOYED:  Test Automation  ·  Cloud DevOps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074920" cy="5394959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54864" cy="5394959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" y="1353312"/>
            <a:ext cx="4782312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3A8B82"/>
                </a:solidFill>
                <a:latin typeface="Calibri"/>
              </a:rPr>
              <a:t>DEPLOYMENT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" y="1627632"/>
            <a:ext cx="4782312" cy="20116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3" y="1755648"/>
            <a:ext cx="4782312" cy="4773167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 i="0">
                <a:solidFill>
                  <a:srgbClr val="3E3E3E"/>
                </a:solidFill>
                <a:latin typeface="Calibri"/>
              </a:rPr>
              <a:t>▸ Test Automation  -  310 consultants  ·  3 companies
   Co A (120), Co B (90), Co C (100)
▸ Cloud DevOps  -  220 consultants  ·  2 companies
   Co A (140), Co D (80)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8696" y="1207008"/>
            <a:ext cx="6345936" cy="5394959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68696" y="1207008"/>
            <a:ext cx="6345936" cy="54864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353312"/>
            <a:ext cx="6053328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3A8B82"/>
                </a:solidFill>
                <a:latin typeface="Calibri"/>
              </a:rPr>
              <a:t>SKILL DISTRIBUTION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1627632"/>
            <a:ext cx="6053328" cy="20116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715000" y="1755648"/>
          <a:ext cx="6053328" cy="477316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91440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0" y="0"/>
            <a:ext cx="6336792" cy="9144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74320"/>
            <a:ext cx="59436" cy="475488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37744"/>
            <a:ext cx="11338560" cy="47548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2400" b="1" i="0">
                <a:solidFill>
                  <a:srgbClr val="111110"/>
                </a:solidFill>
                <a:latin typeface="Calibri"/>
              </a:rPr>
              <a:t>OUR PARTNERSHIP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731520"/>
            <a:ext cx="11521440" cy="310896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400" b="1" i="0">
                <a:solidFill>
                  <a:srgbClr val="3A8B82"/>
                </a:solidFill>
                <a:latin typeface="Calibri"/>
              </a:rPr>
              <a:t>CLIENT:  Sample Client   |   EXISTING J2W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Consultants deployed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5546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5546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8698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8698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Functions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924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Distinct skills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7998" y="1188720"/>
            <a:ext cx="278663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7998" y="1188720"/>
            <a:ext cx="2786634" cy="45720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371600"/>
            <a:ext cx="2640330" cy="603504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2700" b="1" i="0">
                <a:solidFill>
                  <a:srgbClr val="3A8B82"/>
                </a:solidFill>
                <a:latin typeface="Calibri"/>
              </a:rPr>
              <a:t>Existing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011680"/>
            <a:ext cx="2640330" cy="292608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ctr"/>
            <a:r>
              <a:rPr sz="900" b="0" i="0">
                <a:solidFill>
                  <a:srgbClr val="6E6E69"/>
                </a:solidFill>
                <a:latin typeface="Calibri"/>
              </a:rPr>
              <a:t>Engagement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5074920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560320"/>
            <a:ext cx="54864" cy="4041647"/>
          </a:xfrm>
          <a:prstGeom prst="rect">
            <a:avLst/>
          </a:prstGeom>
          <a:solidFill>
            <a:srgbClr val="C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3" y="2706624"/>
            <a:ext cx="4782312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3A8B82"/>
                </a:solidFill>
                <a:latin typeface="Calibri"/>
              </a:rPr>
              <a:t>FUNCTION BREAKDOWN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" y="2980944"/>
            <a:ext cx="4782312" cy="20116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3" y="3108960"/>
            <a:ext cx="4782312" cy="3419855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000" b="0" i="0">
                <a:solidFill>
                  <a:srgbClr val="3E3E3E"/>
                </a:solidFill>
                <a:latin typeface="Calibri"/>
              </a:rPr>
              <a:t>▸ Quality Engineering:  32
▸ Cloud &amp; DevOps:  24
▸ Data &amp; AI:  18
▸ Engineering: 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68696" y="2560320"/>
            <a:ext cx="6345936" cy="4041647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68696" y="2560320"/>
            <a:ext cx="6345936" cy="54864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2706624"/>
            <a:ext cx="6053328" cy="256032"/>
          </a:xfrm>
          <a:prstGeom prst="rect">
            <a:avLst/>
          </a:prstGeom>
          <a:noFill/>
        </p:spPr>
        <p:txBody>
          <a:bodyPr wrap="square" anchor="t" tIns="0" bIns="0">
            <a:spAutoFit/>
          </a:bodyPr>
          <a:lstStyle/>
          <a:p>
            <a:pPr algn="l"/>
            <a:r>
              <a:rPr sz="1100" b="1" i="0">
                <a:solidFill>
                  <a:srgbClr val="3A8B82"/>
                </a:solidFill>
                <a:latin typeface="Calibri"/>
              </a:rPr>
              <a:t>FUNCTION DISTRIBUTION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2980944"/>
            <a:ext cx="6053328" cy="20116"/>
          </a:xfrm>
          <a:prstGeom prst="rect">
            <a:avLst/>
          </a:prstGeom>
          <a:solidFill>
            <a:srgbClr val="3A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5715000" y="3108960"/>
          <a:ext cx="6053328" cy="341985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