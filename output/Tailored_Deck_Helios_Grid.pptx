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3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4"/>
  </p:notesMasterIdLst>
  <p:sldIdLst>
    <p:sldId id="2147483328" r:id="rId2"/>
    <p:sldId id="2147483329" r:id="rId3"/>
    <p:sldId id="2147483330" r:id="rId4"/>
    <p:sldId id="2147483327" r:id="rId5"/>
    <p:sldId id="2147483332" r:id="rId6"/>
    <p:sldId id="2147483331" r:id="rId7"/>
    <p:sldId id="2147483323" r:id="rId11"/>
    <p:sldId id="2147483416" r:id="rId12"/>
    <p:sldId id="2147483418" r:id="rId13"/>
    <p:sldId id="2147483320" r:id="rId14"/>
    <p:sldId id="2147483428" r:id="rId16"/>
    <p:sldId id="2147483429" r:id="rId17"/>
    <p:sldId id="273" r:id="rId38"/>
    <p:sldId id="275" r:id="rId40"/>
    <p:sldId id="2147483439" r:id="rId141"/>
    <p:sldId id="2147483305" r:id="rId8"/>
    <p:sldId id="299"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16.xml"/><Relationship Id="rId9" Type="http://schemas.openxmlformats.org/officeDocument/2006/relationships/slide" Target="slides/slide17.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38" Type="http://schemas.openxmlformats.org/officeDocument/2006/relationships/slide" Target="slides/slide13.xml"/><Relationship Id="rId40" Type="http://schemas.openxmlformats.org/officeDocument/2006/relationships/slide" Target="slides/slide14.xml"/><Relationship Id="rId134" Type="http://schemas.openxmlformats.org/officeDocument/2006/relationships/notesMaster" Target="notesMasters/notesMaster1.xml"/><Relationship Id="rId135" Type="http://schemas.openxmlformats.org/officeDocument/2006/relationships/presProps" Target="presProps.xml"/><Relationship Id="rId136" Type="http://schemas.openxmlformats.org/officeDocument/2006/relationships/viewProps" Target="viewProps.xml"/><Relationship Id="rId137" Type="http://schemas.openxmlformats.org/officeDocument/2006/relationships/theme" Target="theme/theme1.xml"/><Relationship Id="rId138" Type="http://schemas.openxmlformats.org/officeDocument/2006/relationships/tableStyles" Target="tableStyles.xml"/><Relationship Id="rId139" Type="http://schemas.microsoft.com/office/2015/10/relationships/revisionInfo" Target="revisionInfo.xml"/><Relationship Id="rId14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8875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71011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9551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1735871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CS16</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CS37</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CS39</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J2W_ID: CS134</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jpeg"/><Relationship Id="rId21" Type="http://schemas.openxmlformats.org/officeDocument/2006/relationships/image" Target="../media/image19.jpe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jpeg"/><Relationship Id="rId6" Type="http://schemas.openxmlformats.org/officeDocument/2006/relationships/image" Target="../media/image32.png"/><Relationship Id="rId7" Type="http://schemas.openxmlformats.org/officeDocument/2006/relationships/image" Target="../media/image33.jpeg"/><Relationship Id="rId8" Type="http://schemas.openxmlformats.org/officeDocument/2006/relationships/image" Target="../media/image34.png"/><Relationship Id="rId9" Type="http://schemas.openxmlformats.org/officeDocument/2006/relationships/image" Target="../media/image3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image" Target="../media/image84.png"/><Relationship Id="rId9" Type="http://schemas.openxmlformats.org/officeDocument/2006/relationships/image" Target="../media/image85.png"/><Relationship Id="rId10" Type="http://schemas.openxmlformats.org/officeDocument/2006/relationships/image" Target="../media/image8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7.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88.png"/><Relationship Id="rId7" Type="http://schemas.openxmlformats.org/officeDocument/2006/relationships/image" Target="../media/image89.png"/><Relationship Id="rId8" Type="http://schemas.openxmlformats.org/officeDocument/2006/relationships/image" Target="../media/image9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69.png"/><Relationship Id="rId6"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95.png"/><Relationship Id="rId11" Type="http://schemas.openxmlformats.org/officeDocument/2006/relationships/image" Target="../media/image9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53.png"/><Relationship Id="rId8" Type="http://schemas.openxmlformats.org/officeDocument/2006/relationships/image" Target="../media/image101.png"/><Relationship Id="rId9" Type="http://schemas.openxmlformats.org/officeDocument/2006/relationships/image" Target="../media/image10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103.png"/><Relationship Id="rId6" Type="http://schemas.openxmlformats.org/officeDocument/2006/relationships/image" Target="../media/image104.png"/><Relationship Id="rId7" Type="http://schemas.openxmlformats.org/officeDocument/2006/relationships/image" Target="../media/image105.png"/><Relationship Id="rId8" Type="http://schemas.openxmlformats.org/officeDocument/2006/relationships/image" Target="../media/image106.png"/><Relationship Id="rId9" Type="http://schemas.openxmlformats.org/officeDocument/2006/relationships/image" Target="../media/image107.png"/><Relationship Id="rId10" Type="http://schemas.openxmlformats.org/officeDocument/2006/relationships/image" Target="../media/image108.png"/><Relationship Id="rId11" Type="http://schemas.openxmlformats.org/officeDocument/2006/relationships/image" Target="../media/image109.png"/><Relationship Id="rId12" Type="http://schemas.openxmlformats.org/officeDocument/2006/relationships/image" Target="../media/image1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1.png"/><Relationship Id="rId4"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image" Target="../media/image115.png"/><Relationship Id="rId8" Type="http://schemas.openxmlformats.org/officeDocument/2006/relationships/image" Target="../media/image116.png"/><Relationship Id="rId9" Type="http://schemas.openxmlformats.org/officeDocument/2006/relationships/image" Target="../media/image117.png"/><Relationship Id="rId10" Type="http://schemas.openxmlformats.org/officeDocument/2006/relationships/image" Target="../media/image118.png"/><Relationship Id="rId11" Type="http://schemas.openxmlformats.org/officeDocument/2006/relationships/image" Target="../media/image119.png"/><Relationship Id="rId12" Type="http://schemas.openxmlformats.org/officeDocument/2006/relationships/image" Target="../media/image120.png"/><Relationship Id="rId13" Type="http://schemas.openxmlformats.org/officeDocument/2006/relationships/image" Target="../media/image1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36.png"/><Relationship Id="rId4" Type="http://schemas.openxmlformats.org/officeDocument/2006/relationships/image" Target="../media/image1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36.png"/><Relationship Id="rId4" Type="http://schemas.openxmlformats.org/officeDocument/2006/relationships/image" Target="../media/image13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4.png"/><Relationship Id="rId6" Type="http://schemas.openxmlformats.org/officeDocument/2006/relationships/image" Target="../media/image63.png"/><Relationship Id="rId7" Type="http://schemas.openxmlformats.org/officeDocument/2006/relationships/image" Target="../media/image64.jpeg"/><Relationship Id="rId8" Type="http://schemas.openxmlformats.org/officeDocument/2006/relationships/image" Target="../media/image65.jpeg"/><Relationship Id="rId9" Type="http://schemas.openxmlformats.org/officeDocument/2006/relationships/image" Target="../media/image66.jpeg"/><Relationship Id="rId10" Type="http://schemas.openxmlformats.org/officeDocument/2006/relationships/image" Target="../media/image67.jpeg"/><Relationship Id="rId11" Type="http://schemas.openxmlformats.org/officeDocument/2006/relationships/image" Target="../media/image6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 TECHNOLOGY ACCELERATORS | GAME CHANGERS</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609905"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3" name="Shape 7"/>
          <p:cNvSpPr/>
          <p:nvPr/>
        </p:nvSpPr>
        <p:spPr>
          <a:xfrm>
            <a:off x="8076895" y="32388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609905"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4343400"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8076895" y="49533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21" name="Image 4" descr="gen-dedup-3d17221e8cd76f10a3e0815681bf2023.png"/>
          <p:cNvPicPr>
            <a:picLocks noChangeAspect="1"/>
          </p:cNvPicPr>
          <p:nvPr/>
        </p:nvPicPr>
        <p:blipFill>
          <a:blip r:embed="rId7"/>
          <a:srcRect l="-400" r="-400"/>
          <a:stretch/>
        </p:blipFill>
        <p:spPr>
          <a:xfrm>
            <a:off x="800100" y="3476549"/>
            <a:ext cx="38405" cy="571500"/>
          </a:xfrm>
          <a:prstGeom prst="rect">
            <a:avLst/>
          </a:prstGeom>
        </p:spPr>
      </p:pic>
      <p:sp>
        <p:nvSpPr>
          <p:cNvPr id="22" name="Text 15"/>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23" name="Text 16"/>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24" name="Image 5" descr="gen-dedup-32cd67bc95385c5507b78533d3bab6e6.png"/>
          <p:cNvPicPr>
            <a:picLocks noChangeAspect="1"/>
          </p:cNvPicPr>
          <p:nvPr/>
        </p:nvPicPr>
        <p:blipFill>
          <a:blip r:embed="rId8"/>
          <a:srcRect l="-400" r="-400"/>
          <a:stretch/>
        </p:blipFill>
        <p:spPr>
          <a:xfrm>
            <a:off x="4533595" y="3476549"/>
            <a:ext cx="38405" cy="571500"/>
          </a:xfrm>
          <a:prstGeom prst="rect">
            <a:avLst/>
          </a:prstGeom>
        </p:spPr>
      </p:pic>
      <p:sp>
        <p:nvSpPr>
          <p:cNvPr id="25" name="Text 17"/>
          <p:cNvSpPr txBox="1"/>
          <p:nvPr/>
        </p:nvSpPr>
        <p:spPr>
          <a:xfrm>
            <a:off x="4724705"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320+</a:t>
            </a:r>
            <a:endParaRPr lang="en-US" sz="3100" dirty="0"/>
          </a:p>
        </p:txBody>
      </p:sp>
      <p:sp>
        <p:nvSpPr>
          <p:cNvPr id="26" name="Text 18"/>
          <p:cNvSpPr txBox="1"/>
          <p:nvPr/>
        </p:nvSpPr>
        <p:spPr>
          <a:xfrm>
            <a:off x="4724705"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Enterprise clients served</a:t>
            </a:r>
            <a:endParaRPr lang="en-US" sz="1200" dirty="0"/>
          </a:p>
        </p:txBody>
      </p:sp>
      <p:pic>
        <p:nvPicPr>
          <p:cNvPr id="27" name="Image 6" descr="gen-dedup-3d17221e8cd76f10a3e0815681bf2023.png"/>
          <p:cNvPicPr>
            <a:picLocks noChangeAspect="1"/>
          </p:cNvPicPr>
          <p:nvPr/>
        </p:nvPicPr>
        <p:blipFill>
          <a:blip r:embed="rId7"/>
          <a:srcRect l="-400" r="-400"/>
          <a:stretch/>
        </p:blipFill>
        <p:spPr>
          <a:xfrm>
            <a:off x="8268005" y="3476549"/>
            <a:ext cx="38405" cy="571500"/>
          </a:xfrm>
          <a:prstGeom prst="rect">
            <a:avLst/>
          </a:prstGeom>
        </p:spPr>
      </p:pic>
      <p:sp>
        <p:nvSpPr>
          <p:cNvPr id="28" name="Text 19"/>
          <p:cNvSpPr txBox="1"/>
          <p:nvPr/>
        </p:nvSpPr>
        <p:spPr>
          <a:xfrm>
            <a:off x="8458200" y="3476549"/>
            <a:ext cx="2524658"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300+</a:t>
            </a:r>
            <a:endParaRPr lang="en-US" sz="3100" dirty="0"/>
          </a:p>
        </p:txBody>
      </p:sp>
      <p:sp>
        <p:nvSpPr>
          <p:cNvPr id="29" name="Text 20"/>
          <p:cNvSpPr txBox="1"/>
          <p:nvPr/>
        </p:nvSpPr>
        <p:spPr>
          <a:xfrm>
            <a:off x="8458200" y="3993185"/>
            <a:ext cx="300380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GCCs built: greenfield &amp; brownfield</a:t>
            </a:r>
            <a:endParaRPr lang="en-US" sz="1200" dirty="0"/>
          </a:p>
        </p:txBody>
      </p:sp>
      <p:pic>
        <p:nvPicPr>
          <p:cNvPr id="30" name="Image 7" descr="gen-dedup-32cd67bc95385c5507b78533d3bab6e6.png"/>
          <p:cNvPicPr>
            <a:picLocks noChangeAspect="1"/>
          </p:cNvPicPr>
          <p:nvPr/>
        </p:nvPicPr>
        <p:blipFill>
          <a:blip r:embed="rId8"/>
          <a:srcRect l="-400" r="-400"/>
          <a:stretch/>
        </p:blipFill>
        <p:spPr>
          <a:xfrm>
            <a:off x="800100" y="5191049"/>
            <a:ext cx="38405" cy="571500"/>
          </a:xfrm>
          <a:prstGeom prst="rect">
            <a:avLst/>
          </a:prstGeom>
        </p:spPr>
      </p:pic>
      <p:sp>
        <p:nvSpPr>
          <p:cNvPr id="31" name="Text 21"/>
          <p:cNvSpPr txBox="1"/>
          <p:nvPr/>
        </p:nvSpPr>
        <p:spPr>
          <a:xfrm>
            <a:off x="990295"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5,500+</a:t>
            </a:r>
            <a:endParaRPr lang="en-US" sz="3100" dirty="0"/>
          </a:p>
        </p:txBody>
      </p:sp>
      <p:sp>
        <p:nvSpPr>
          <p:cNvPr id="32" name="Text 22"/>
          <p:cNvSpPr txBox="1"/>
          <p:nvPr/>
        </p:nvSpPr>
        <p:spPr>
          <a:xfrm>
            <a:off x="990295"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Industry &amp; tech experts</a:t>
            </a:r>
            <a:endParaRPr lang="en-US" sz="1200" dirty="0"/>
          </a:p>
        </p:txBody>
      </p:sp>
      <p:pic>
        <p:nvPicPr>
          <p:cNvPr id="33" name="Image 8" descr="gen-dedup-3d17221e8cd76f10a3e0815681bf2023.png"/>
          <p:cNvPicPr>
            <a:picLocks noChangeAspect="1"/>
          </p:cNvPicPr>
          <p:nvPr/>
        </p:nvPicPr>
        <p:blipFill>
          <a:blip r:embed="rId7"/>
          <a:srcRect l="-400" r="-400"/>
          <a:stretch/>
        </p:blipFill>
        <p:spPr>
          <a:xfrm>
            <a:off x="4533595" y="5191049"/>
            <a:ext cx="38405" cy="571500"/>
          </a:xfrm>
          <a:prstGeom prst="rect">
            <a:avLst/>
          </a:prstGeom>
        </p:spPr>
      </p:pic>
      <p:sp>
        <p:nvSpPr>
          <p:cNvPr id="34" name="Text 23"/>
          <p:cNvSpPr txBox="1"/>
          <p:nvPr/>
        </p:nvSpPr>
        <p:spPr>
          <a:xfrm>
            <a:off x="4724705"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4724705"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8"/>
          <a:srcRect l="-400" r="-400"/>
          <a:stretch/>
        </p:blipFill>
        <p:spPr>
          <a:xfrm>
            <a:off x="8268005" y="5191049"/>
            <a:ext cx="38405" cy="571500"/>
          </a:xfrm>
          <a:prstGeom prst="rect">
            <a:avLst/>
          </a:prstGeom>
        </p:spPr>
      </p:pic>
      <p:sp>
        <p:nvSpPr>
          <p:cNvPr id="37" name="Text 25"/>
          <p:cNvSpPr txBox="1"/>
          <p:nvPr/>
        </p:nvSpPr>
        <p:spPr>
          <a:xfrm>
            <a:off x="845820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845820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430207" y="-571500"/>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preencoded.png"/>
          <p:cNvPicPr>
            <a:picLocks noChangeAspect="1"/>
          </p:cNvPicPr>
          <p:nvPr/>
        </p:nvPicPr>
        <p:blipFill>
          <a:blip r:embed="rId3"/>
          <a:srcRect l="-360" r="-360"/>
          <a:stretch/>
        </p:blipFill>
        <p:spPr>
          <a:xfrm>
            <a:off x="609905" y="485546"/>
            <a:ext cx="57607" cy="381305"/>
          </a:xfrm>
          <a:prstGeom prst="rect">
            <a:avLst/>
          </a:prstGeom>
        </p:spPr>
      </p:pic>
      <p:sp>
        <p:nvSpPr>
          <p:cNvPr id="6" name="Text 3"/>
          <p:cNvSpPr txBox="1"/>
          <p:nvPr/>
        </p:nvSpPr>
        <p:spPr>
          <a:xfrm>
            <a:off x="819302" y="342900"/>
            <a:ext cx="5912510" cy="381305"/>
          </a:xfrm>
          <a:prstGeom prst="rect">
            <a:avLst/>
          </a:prstGeom>
          <a:noFill/>
          <a:ln/>
        </p:spPr>
        <p:txBody>
          <a:bodyPr wrap="square" lIns="0" tIns="0" rIns="0" bIns="0" rtlCol="0" anchor="ctr"/>
          <a:lstStyle/>
          <a:p>
            <a:pPr marL="0" indent="0" algn="l">
              <a:buNone/>
            </a:pPr>
            <a:r>
              <a:rPr lang="en-US" sz="2700" b="1" kern="0" spc="-67">
                <a:solidFill>
                  <a:srgbClr val="111827"/>
                </a:solidFill>
                <a:latin typeface="Oswald" pitchFamily="34" charset="0"/>
                <a:ea typeface="Oswald" pitchFamily="34" charset="-122"/>
                <a:cs typeface="Oswald" pitchFamily="34" charset="-120"/>
              </a:rPr>
              <a:t>Architects of Transformation</a:t>
            </a:r>
            <a:endParaRPr lang="en-US" sz="2700"/>
          </a:p>
        </p:txBody>
      </p:sp>
      <p:sp>
        <p:nvSpPr>
          <p:cNvPr id="7" name="Text 4"/>
          <p:cNvSpPr txBox="1"/>
          <p:nvPr/>
        </p:nvSpPr>
        <p:spPr>
          <a:xfrm>
            <a:off x="819302" y="743407"/>
            <a:ext cx="5811012" cy="267005"/>
          </a:xfrm>
          <a:prstGeom prst="rect">
            <a:avLst/>
          </a:prstGeom>
          <a:noFill/>
          <a:ln/>
        </p:spPr>
        <p:txBody>
          <a:bodyPr wrap="squar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VISIONARY LEADERSHIP DRIVING ENTERPRISE EXCELLENCE</a:t>
            </a:r>
            <a:endParaRPr lang="en-US" sz="1500"/>
          </a:p>
        </p:txBody>
      </p:sp>
      <p:pic>
        <p:nvPicPr>
          <p:cNvPr id="8" name="Image 1" descr="preencoded.png"/>
          <p:cNvPicPr>
            <a:picLocks noChangeAspect="1"/>
          </p:cNvPicPr>
          <p:nvPr/>
        </p:nvPicPr>
        <p:blipFill>
          <a:blip r:embed="rId4"/>
          <a:srcRect t="-6" b="-6"/>
          <a:stretch/>
        </p:blipFill>
        <p:spPr>
          <a:xfrm>
            <a:off x="609905" y="1123798"/>
            <a:ext cx="5372100" cy="3715207"/>
          </a:xfrm>
          <a:prstGeom prst="rect">
            <a:avLst/>
          </a:prstGeom>
        </p:spPr>
      </p:pic>
      <p:sp>
        <p:nvSpPr>
          <p:cNvPr id="9" name="Shape 5"/>
          <p:cNvSpPr/>
          <p:nvPr/>
        </p:nvSpPr>
        <p:spPr>
          <a:xfrm>
            <a:off x="9198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0" name="Image 2" descr="preencoded.png"/>
          <p:cNvPicPr>
            <a:picLocks noChangeAspect="1"/>
          </p:cNvPicPr>
          <p:nvPr/>
        </p:nvPicPr>
        <p:blipFill>
          <a:blip r:embed="rId5"/>
          <a:srcRect/>
          <a:stretch/>
        </p:blipFill>
        <p:spPr>
          <a:xfrm>
            <a:off x="948233" y="1367942"/>
            <a:ext cx="752551" cy="752551"/>
          </a:xfrm>
          <a:prstGeom prst="rect">
            <a:avLst/>
          </a:prstGeom>
        </p:spPr>
      </p:pic>
      <p:sp>
        <p:nvSpPr>
          <p:cNvPr id="11" name="Text 6"/>
          <p:cNvSpPr txBox="1"/>
          <p:nvPr/>
        </p:nvSpPr>
        <p:spPr>
          <a:xfrm>
            <a:off x="817474" y="2224735"/>
            <a:ext cx="1020470"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Priti Sawant</a:t>
            </a:r>
            <a:endParaRPr lang="en-US" sz="1300"/>
          </a:p>
        </p:txBody>
      </p:sp>
      <p:sp>
        <p:nvSpPr>
          <p:cNvPr id="12" name="Text 7"/>
          <p:cNvSpPr txBox="1"/>
          <p:nvPr/>
        </p:nvSpPr>
        <p:spPr>
          <a:xfrm>
            <a:off x="789127" y="2457907"/>
            <a:ext cx="1074420" cy="152705"/>
          </a:xfrm>
          <a:prstGeom prst="rect">
            <a:avLst/>
          </a:prstGeom>
          <a:noFill/>
          <a:ln/>
        </p:spPr>
        <p:txBody>
          <a:bodyPr wrap="square" lIns="0" tIns="0" rIns="0" bIns="0" rtlCol="0" anchor="ctr"/>
          <a:lstStyle/>
          <a:p>
            <a:pPr marL="0" indent="0" algn="ctr">
              <a:buNone/>
            </a:pPr>
            <a:r>
              <a:rPr lang="en-US" sz="900" b="1" kern="0" spc="22" dirty="0">
                <a:solidFill>
                  <a:srgbClr val="2A9D8F"/>
                </a:solidFill>
                <a:latin typeface="Roboto Condensed" pitchFamily="34" charset="0"/>
                <a:ea typeface="Roboto Condensed" pitchFamily="34" charset="-122"/>
                <a:cs typeface="Roboto Condensed" pitchFamily="34" charset="-120"/>
              </a:rPr>
              <a:t>Founder &amp; CEO</a:t>
            </a:r>
            <a:endParaRPr lang="en-US" sz="900" dirty="0"/>
          </a:p>
        </p:txBody>
      </p:sp>
      <p:sp>
        <p:nvSpPr>
          <p:cNvPr id="13" name="Text 8"/>
          <p:cNvSpPr txBox="1"/>
          <p:nvPr/>
        </p:nvSpPr>
        <p:spPr>
          <a:xfrm>
            <a:off x="2025396" y="1557311"/>
            <a:ext cx="3867912" cy="15526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Priti Sawant is a serial entrepreneur, category creator, and a pioneer of India’s Global Capability Center (GCC) ecosystem. With 20+ years of experience, she has built and scaled businesses at the intersection of technology and enterprise transformation. She began her journey at Accenture and later led Magna Infotech-scaling it from pre-revenue to a market leader, creating India’s first GCC-focused model, and delivering a successful exit and public listing (IPO). She is a 2-time entrepreneur, having built two successful, leading companies solving for GCCs in India.</a:t>
            </a:r>
            <a:endParaRPr lang="en-US" sz="1100" dirty="0"/>
          </a:p>
        </p:txBody>
      </p:sp>
      <p:sp>
        <p:nvSpPr>
          <p:cNvPr id="14" name="Text 9"/>
          <p:cNvSpPr txBox="1"/>
          <p:nvPr/>
        </p:nvSpPr>
        <p:spPr>
          <a:xfrm>
            <a:off x="2025396" y="3527888"/>
            <a:ext cx="3867912" cy="1381658"/>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She founded JoulestoWatts, backed by Manipal Global Education Services. Today, J2W operates across 8 countries, enabling 300+ GCCs, deploying 5,200+ professionals, and building 4 in-house products, with strong Fortune 500 partnerships. Recognised by Forbes Japan, she is also a TiE Charter Member, startup mentor, and a strong advocate of gender diversity, having built organisations with 40%+ women representation and 50% women-led leadership roles.</a:t>
            </a:r>
            <a:endParaRPr lang="en-US" sz="1100"/>
          </a:p>
        </p:txBody>
      </p:sp>
      <p:pic>
        <p:nvPicPr>
          <p:cNvPr id="15" name="Image 3" descr="preencoded.png"/>
          <p:cNvPicPr>
            <a:picLocks noChangeAspect="1"/>
          </p:cNvPicPr>
          <p:nvPr/>
        </p:nvPicPr>
        <p:blipFill>
          <a:blip r:embed="rId6"/>
          <a:srcRect t="-6" b="-6"/>
          <a:stretch/>
        </p:blipFill>
        <p:spPr>
          <a:xfrm>
            <a:off x="6210605" y="1123798"/>
            <a:ext cx="5372100" cy="3715207"/>
          </a:xfrm>
          <a:prstGeom prst="rect">
            <a:avLst/>
          </a:prstGeom>
        </p:spPr>
      </p:pic>
      <p:sp>
        <p:nvSpPr>
          <p:cNvPr id="16" name="Shape 10"/>
          <p:cNvSpPr/>
          <p:nvPr/>
        </p:nvSpPr>
        <p:spPr>
          <a:xfrm>
            <a:off x="65205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7" name="Image 4" descr="preencoded.png"/>
          <p:cNvPicPr>
            <a:picLocks noChangeAspect="1"/>
          </p:cNvPicPr>
          <p:nvPr/>
        </p:nvPicPr>
        <p:blipFill>
          <a:blip r:embed="rId7"/>
          <a:srcRect b="1042"/>
          <a:stretch/>
        </p:blipFill>
        <p:spPr>
          <a:xfrm>
            <a:off x="6548933" y="1367942"/>
            <a:ext cx="752551" cy="752551"/>
          </a:xfrm>
          <a:prstGeom prst="rect">
            <a:avLst/>
          </a:prstGeom>
        </p:spPr>
      </p:pic>
      <p:sp>
        <p:nvSpPr>
          <p:cNvPr id="18" name="Text 11"/>
          <p:cNvSpPr txBox="1"/>
          <p:nvPr/>
        </p:nvSpPr>
        <p:spPr>
          <a:xfrm>
            <a:off x="6411773" y="2224735"/>
            <a:ext cx="1032358"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Priya Mohan</a:t>
            </a:r>
            <a:endParaRPr lang="en-US" sz="1300"/>
          </a:p>
        </p:txBody>
      </p:sp>
      <p:sp>
        <p:nvSpPr>
          <p:cNvPr id="19" name="Text 12"/>
          <p:cNvSpPr txBox="1"/>
          <p:nvPr/>
        </p:nvSpPr>
        <p:spPr>
          <a:xfrm>
            <a:off x="6781190" y="2457907"/>
            <a:ext cx="295351" cy="152705"/>
          </a:xfrm>
          <a:prstGeom prst="rect">
            <a:avLst/>
          </a:prstGeom>
          <a:noFill/>
          <a:ln/>
        </p:spPr>
        <p:txBody>
          <a:bodyPr wrap="square" lIns="0" tIns="0" rIns="0" bIns="0" rtlCol="0" anchor="ctr"/>
          <a:lstStyle/>
          <a:p>
            <a:pPr marL="0" indent="0" algn="ctr">
              <a:buNone/>
            </a:pPr>
            <a:r>
              <a:rPr lang="en-US" sz="1100" b="1" kern="0" spc="22" dirty="0">
                <a:solidFill>
                  <a:srgbClr val="D62839"/>
                </a:solidFill>
                <a:latin typeface="Roboto Condensed" pitchFamily="34" charset="0"/>
                <a:ea typeface="Roboto Condensed" pitchFamily="34" charset="-122"/>
                <a:cs typeface="Roboto Condensed" pitchFamily="34" charset="-120"/>
              </a:rPr>
              <a:t>coo</a:t>
            </a:r>
            <a:endParaRPr lang="en-US" sz="1100" dirty="0"/>
          </a:p>
        </p:txBody>
      </p:sp>
      <p:sp>
        <p:nvSpPr>
          <p:cNvPr id="20" name="Text 13"/>
          <p:cNvSpPr txBox="1"/>
          <p:nvPr/>
        </p:nvSpPr>
        <p:spPr>
          <a:xfrm>
            <a:off x="7626096" y="1557311"/>
            <a:ext cx="3867912" cy="1552651"/>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Priya Mohan is a seasoned operator, investor, and entrepreneur with 20+ years spanning venture capital, high-growth startups, and investment banking. She was most recently a Partner at General Catalyst India, where she led India investments and co-creation opportunities across transformative, economy-shaping companies. Previously, as Managing Partner at Venture Highway, she held board seats across marquee portfolio companies in multiple sectors. Before investing, she co-founded Vidyartha, an EdTech platform which she successfully exited to Byju's.</a:t>
            </a:r>
            <a:endParaRPr lang="en-US" sz="1100"/>
          </a:p>
        </p:txBody>
      </p:sp>
      <p:sp>
        <p:nvSpPr>
          <p:cNvPr id="21" name="Text 14"/>
          <p:cNvSpPr txBox="1"/>
          <p:nvPr/>
        </p:nvSpPr>
        <p:spPr>
          <a:xfrm>
            <a:off x="7626096" y="3527888"/>
            <a:ext cx="3867912" cy="12097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Her earlier career included 9 years in investment banking and equity research - structuring and executing complex transactions across private equity raises, secondary sales, and buyouts. A Chartered Accountant and Management Graduate from the Indian School of Business (ISB), Priya was a state guest of the United States under the IVLP program and is a member of the Kamalnayan Bajaj Aspen Fellowship (Cohort X).</a:t>
            </a:r>
            <a:endParaRPr lang="en-US" sz="1100" dirty="0"/>
          </a:p>
        </p:txBody>
      </p:sp>
      <p:pic>
        <p:nvPicPr>
          <p:cNvPr id="54" name="Image 15" descr="preencoded.png"/>
          <p:cNvPicPr>
            <a:picLocks noChangeAspect="1"/>
          </p:cNvPicPr>
          <p:nvPr/>
        </p:nvPicPr>
        <p:blipFill>
          <a:blip r:embed="rId8"/>
          <a:srcRect l="-202" r="-202"/>
          <a:stretch/>
        </p:blipFill>
        <p:spPr>
          <a:xfrm>
            <a:off x="0" y="0"/>
            <a:ext cx="8128102" cy="75895"/>
          </a:xfrm>
          <a:prstGeom prst="rect">
            <a:avLst/>
          </a:prstGeom>
        </p:spPr>
      </p:pic>
      <p:pic>
        <p:nvPicPr>
          <p:cNvPr id="55" name="Image 16" descr="preencoded.png"/>
          <p:cNvPicPr>
            <a:picLocks noChangeAspect="1"/>
          </p:cNvPicPr>
          <p:nvPr/>
        </p:nvPicPr>
        <p:blipFill>
          <a:blip r:embed="rId9"/>
          <a:srcRect l="-197" r="-197"/>
          <a:stretch/>
        </p:blipFill>
        <p:spPr>
          <a:xfrm>
            <a:off x="8128102" y="0"/>
            <a:ext cx="4063594" cy="758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b81d2082573e6d8de64df87af639bbf0.png"/>
          <p:cNvPicPr>
            <a:picLocks noChangeAspect="1"/>
          </p:cNvPicPr>
          <p:nvPr/>
        </p:nvPicPr>
        <p:blipFill>
          <a:blip r:embed="rId6"/>
          <a:srcRect l="-360" r="-360"/>
          <a:stretch/>
        </p:blipFill>
        <p:spPr>
          <a:xfrm>
            <a:off x="609905" y="533095"/>
            <a:ext cx="57607" cy="381305"/>
          </a:xfrm>
          <a:prstGeom prst="rect">
            <a:avLst/>
          </a:prstGeom>
        </p:spPr>
      </p:pic>
      <p:sp>
        <p:nvSpPr>
          <p:cNvPr id="9" name="Text 3"/>
          <p:cNvSpPr txBox="1"/>
          <p:nvPr/>
        </p:nvSpPr>
        <p:spPr>
          <a:xfrm>
            <a:off x="819302" y="381305"/>
            <a:ext cx="3871570" cy="381305"/>
          </a:xfrm>
          <a:prstGeom prst="rect">
            <a:avLst/>
          </a:prstGeom>
          <a:noFill/>
          <a:ln/>
        </p:spPr>
        <p:txBody>
          <a:bodyPr wrap="none" lIns="0" tIns="0" rIns="0" bIns="0" rtlCol="0" anchor="ctr"/>
          <a:lstStyle/>
          <a:p>
            <a:pPr marL="0" indent="0" algn="l">
              <a:buNone/>
            </a:pPr>
            <a:r>
              <a:rPr lang="en-US" sz="2700" b="1" kern="0" spc="-67" dirty="0">
                <a:solidFill>
                  <a:srgbClr val="111827"/>
                </a:solidFill>
                <a:latin typeface="Oswald" pitchFamily="34" charset="0"/>
                <a:ea typeface="Oswald" pitchFamily="34" charset="-122"/>
                <a:cs typeface="Oswald" pitchFamily="34" charset="-120"/>
              </a:rPr>
              <a:t>WHAT WE OFFER</a:t>
            </a:r>
            <a:endParaRPr lang="en-US" sz="2700" dirty="0"/>
          </a:p>
        </p:txBody>
      </p:sp>
      <p:sp>
        <p:nvSpPr>
          <p:cNvPr id="10" name="Text 4"/>
          <p:cNvSpPr txBox="1"/>
          <p:nvPr/>
        </p:nvSpPr>
        <p:spPr>
          <a:xfrm>
            <a:off x="819302" y="800100"/>
            <a:ext cx="4189781" cy="267005"/>
          </a:xfrm>
          <a:prstGeom prst="rect">
            <a:avLst/>
          </a:prstGeom>
          <a:noFill/>
          <a:ln/>
        </p:spPr>
        <p:txBody>
          <a:bodyPr wrap="non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THREE INTERLOCKING REVENUE ENGINES</a:t>
            </a:r>
            <a:endParaRPr lang="en-US" sz="1500" dirty="0"/>
          </a:p>
        </p:txBody>
      </p:sp>
      <p:sp>
        <p:nvSpPr>
          <p:cNvPr id="11" name="Shape 5"/>
          <p:cNvSpPr/>
          <p:nvPr/>
        </p:nvSpPr>
        <p:spPr>
          <a:xfrm>
            <a:off x="60990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dirty="0"/>
          </a:p>
        </p:txBody>
      </p:sp>
      <p:sp>
        <p:nvSpPr>
          <p:cNvPr id="12" name="Shape 6"/>
          <p:cNvSpPr/>
          <p:nvPr/>
        </p:nvSpPr>
        <p:spPr>
          <a:xfrm>
            <a:off x="619049"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13" name="Text 7"/>
          <p:cNvSpPr txBox="1"/>
          <p:nvPr/>
        </p:nvSpPr>
        <p:spPr>
          <a:xfrm>
            <a:off x="1411834" y="2033626"/>
            <a:ext cx="173461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Workforce Solutions</a:t>
            </a:r>
            <a:endParaRPr lang="en-US" sz="1500" dirty="0"/>
          </a:p>
        </p:txBody>
      </p:sp>
      <p:sp>
        <p:nvSpPr>
          <p:cNvPr id="14" name="Text 8"/>
          <p:cNvSpPr txBox="1"/>
          <p:nvPr/>
        </p:nvSpPr>
        <p:spPr>
          <a:xfrm>
            <a:off x="819302" y="2691079"/>
            <a:ext cx="2934310" cy="300106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Domain-deep engineers - not generic coders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Verticals: IT and Cloud Computing · BFSI · more </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Deployed in 10 days or less </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Pod governance + sprint accountability</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Contract-to-hire flexibility</a:t>
            </a:r>
            <a:endParaRPr lang="en-US" sz="1400" dirty="0"/>
          </a:p>
        </p:txBody>
      </p:sp>
      <p:sp>
        <p:nvSpPr>
          <p:cNvPr id="21" name="Text 15"/>
          <p:cNvSpPr txBox="1"/>
          <p:nvPr/>
        </p:nvSpPr>
        <p:spPr>
          <a:xfrm>
            <a:off x="2116836" y="1652321"/>
            <a:ext cx="329184"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01</a:t>
            </a:r>
            <a:endParaRPr lang="en-US" sz="2200" dirty="0"/>
          </a:p>
        </p:txBody>
      </p:sp>
      <p:sp>
        <p:nvSpPr>
          <p:cNvPr id="22" name="Text 16"/>
          <p:cNvSpPr txBox="1"/>
          <p:nvPr/>
        </p:nvSpPr>
        <p:spPr>
          <a:xfrm>
            <a:off x="1570025" y="2309774"/>
            <a:ext cx="1420978"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Volume Engine</a:t>
            </a:r>
            <a:endParaRPr lang="en-US" sz="900" dirty="0"/>
          </a:p>
        </p:txBody>
      </p:sp>
      <p:sp>
        <p:nvSpPr>
          <p:cNvPr id="23" name="Shape 17"/>
          <p:cNvSpPr/>
          <p:nvPr/>
        </p:nvSpPr>
        <p:spPr>
          <a:xfrm>
            <a:off x="441929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24" name="Shape 18"/>
          <p:cNvSpPr/>
          <p:nvPr/>
        </p:nvSpPr>
        <p:spPr>
          <a:xfrm>
            <a:off x="4429354" y="1533449"/>
            <a:ext cx="3314700" cy="1047902"/>
          </a:xfrm>
          <a:prstGeom prst="rect">
            <a:avLst/>
          </a:prstGeom>
          <a:solidFill>
            <a:srgbClr val="D62839"/>
          </a:solidFill>
          <a:ln w="12700">
            <a:solidFill>
              <a:srgbClr val="FFFFFF">
                <a:alpha val="0"/>
              </a:srgbClr>
            </a:solidFill>
            <a:prstDash val="solid"/>
          </a:ln>
        </p:spPr>
        <p:txBody>
          <a:bodyPr/>
          <a:lstStyle/>
          <a:p>
            <a:endParaRPr lang="en-US"/>
          </a:p>
        </p:txBody>
      </p:sp>
      <p:sp>
        <p:nvSpPr>
          <p:cNvPr id="25" name="Text 19"/>
          <p:cNvSpPr txBox="1"/>
          <p:nvPr/>
        </p:nvSpPr>
        <p:spPr>
          <a:xfrm>
            <a:off x="5386730" y="2033626"/>
            <a:ext cx="140634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AI Pods</a:t>
            </a:r>
            <a:endParaRPr lang="en-US" sz="1500" dirty="0"/>
          </a:p>
        </p:txBody>
      </p:sp>
      <p:sp>
        <p:nvSpPr>
          <p:cNvPr id="26" name="Text 20"/>
          <p:cNvSpPr txBox="1"/>
          <p:nvPr/>
        </p:nvSpPr>
        <p:spPr>
          <a:xfrm>
            <a:off x="4619549" y="4204760"/>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AI-first engineering pods, embedded tech lead</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Every engineer AI-certified before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J2W AI Labs - continuous monthly upskilling</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AI-assisted code, test &amp; docs from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Compounding productivity, not static seats</a:t>
            </a:r>
            <a:endParaRPr lang="en-US" sz="1400" dirty="0"/>
          </a:p>
        </p:txBody>
      </p:sp>
      <p:sp>
        <p:nvSpPr>
          <p:cNvPr id="33" name="Text 27"/>
          <p:cNvSpPr txBox="1"/>
          <p:nvPr/>
        </p:nvSpPr>
        <p:spPr>
          <a:xfrm>
            <a:off x="5905195"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02</a:t>
            </a:r>
            <a:endParaRPr lang="en-US" sz="2200" dirty="0"/>
          </a:p>
        </p:txBody>
      </p:sp>
      <p:sp>
        <p:nvSpPr>
          <p:cNvPr id="34" name="Text 28"/>
          <p:cNvSpPr txBox="1"/>
          <p:nvPr/>
        </p:nvSpPr>
        <p:spPr>
          <a:xfrm>
            <a:off x="5079492" y="2309774"/>
            <a:ext cx="2018081"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Margin Expansion Engine</a:t>
            </a:r>
            <a:endParaRPr lang="en-US" sz="900" dirty="0"/>
          </a:p>
        </p:txBody>
      </p:sp>
      <p:sp>
        <p:nvSpPr>
          <p:cNvPr id="35" name="Shape 29"/>
          <p:cNvSpPr/>
          <p:nvPr/>
        </p:nvSpPr>
        <p:spPr>
          <a:xfrm>
            <a:off x="8229600"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36" name="Shape 30"/>
          <p:cNvSpPr/>
          <p:nvPr/>
        </p:nvSpPr>
        <p:spPr>
          <a:xfrm>
            <a:off x="8238744"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37" name="Text 31"/>
          <p:cNvSpPr txBox="1"/>
          <p:nvPr/>
        </p:nvSpPr>
        <p:spPr>
          <a:xfrm>
            <a:off x="8685886" y="2033626"/>
            <a:ext cx="2425903"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Managed Service Solutions</a:t>
            </a:r>
            <a:endParaRPr lang="en-US" sz="1500" dirty="0"/>
          </a:p>
        </p:txBody>
      </p:sp>
      <p:sp>
        <p:nvSpPr>
          <p:cNvPr id="38" name="Text 32"/>
          <p:cNvSpPr txBox="1"/>
          <p:nvPr/>
        </p:nvSpPr>
        <p:spPr>
          <a:xfrm>
            <a:off x="8429854" y="4158691"/>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Dedicated pods owning outcomes, not tasks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Operate to outcome-bound SLOs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60+ pre-built solution accelerators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On SAP, ServiceNow &amp; industry stacks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40% improvement threshold - our standard</a:t>
            </a:r>
            <a:endParaRPr lang="en-US" sz="1400" dirty="0"/>
          </a:p>
        </p:txBody>
      </p:sp>
      <p:sp>
        <p:nvSpPr>
          <p:cNvPr id="45" name="Text 39"/>
          <p:cNvSpPr txBox="1"/>
          <p:nvPr/>
        </p:nvSpPr>
        <p:spPr>
          <a:xfrm>
            <a:off x="9715500"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03</a:t>
            </a:r>
            <a:endParaRPr lang="en-US" sz="2200" dirty="0"/>
          </a:p>
        </p:txBody>
      </p:sp>
      <p:sp>
        <p:nvSpPr>
          <p:cNvPr id="46" name="Text 40"/>
          <p:cNvSpPr txBox="1"/>
          <p:nvPr/>
        </p:nvSpPr>
        <p:spPr>
          <a:xfrm>
            <a:off x="8956548" y="2309774"/>
            <a:ext cx="1881835"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Strategic Value Engine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198" r="-198"/>
          <a:stretch/>
        </p:blipFill>
        <p:spPr>
          <a:xfrm>
            <a:off x="0" y="0"/>
            <a:ext cx="8124444" cy="75895"/>
          </a:xfrm>
          <a:prstGeom prst="rect">
            <a:avLst/>
          </a:prstGeom>
        </p:spPr>
      </p:pic>
      <p:pic>
        <p:nvPicPr>
          <p:cNvPr id="5" name="Image 1" descr="gen-dedup-9663ecf744b06e35d4c2cebaab92a2ea.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9525305" y="4762195"/>
            <a:ext cx="3810305" cy="3810305"/>
          </a:xfrm>
          <a:prstGeom prst="ellipse">
            <a:avLst/>
          </a:prstGeom>
          <a:noFill/>
          <a:ln w="508000">
            <a:solidFill>
              <a:srgbClr val="D62839">
                <a:alpha val="3000"/>
              </a:srgbClr>
            </a:solidFill>
            <a:prstDash val="solid"/>
          </a:ln>
        </p:spPr>
        <p:txBody>
          <a:bodyPr/>
          <a:lstStyle/>
          <a:p>
            <a:endParaRPr lang="en-US"/>
          </a:p>
        </p:txBody>
      </p:sp>
      <p:pic>
        <p:nvPicPr>
          <p:cNvPr id="7" name="Image 2" descr="gen-dedup-b81d2082573e6d8de64df87af639bbf0.png"/>
          <p:cNvPicPr>
            <a:picLocks noChangeAspect="1"/>
          </p:cNvPicPr>
          <p:nvPr/>
        </p:nvPicPr>
        <p:blipFill>
          <a:blip r:embed="rId5"/>
          <a:srcRect l="-360" r="-360"/>
          <a:stretch/>
        </p:blipFill>
        <p:spPr>
          <a:xfrm>
            <a:off x="609905" y="381305"/>
            <a:ext cx="57607" cy="381305"/>
          </a:xfrm>
          <a:prstGeom prst="rect">
            <a:avLst/>
          </a:prstGeom>
        </p:spPr>
      </p:pic>
      <p:sp>
        <p:nvSpPr>
          <p:cNvPr id="8" name="Shape 3"/>
          <p:cNvSpPr/>
          <p:nvPr/>
        </p:nvSpPr>
        <p:spPr>
          <a:xfrm>
            <a:off x="6099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4"/>
          <p:cNvSpPr/>
          <p:nvPr/>
        </p:nvSpPr>
        <p:spPr>
          <a:xfrm>
            <a:off x="60990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3429000"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6"/>
          <p:cNvSpPr/>
          <p:nvPr/>
        </p:nvSpPr>
        <p:spPr>
          <a:xfrm>
            <a:off x="3429000"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24809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8"/>
          <p:cNvSpPr/>
          <p:nvPr/>
        </p:nvSpPr>
        <p:spPr>
          <a:xfrm>
            <a:off x="624809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90681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10"/>
          <p:cNvSpPr/>
          <p:nvPr/>
        </p:nvSpPr>
        <p:spPr>
          <a:xfrm>
            <a:off x="9068105"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pic>
        <p:nvPicPr>
          <p:cNvPr id="16" name="Image 3" descr="gen-dedup-c79c8869390c39dd2ec5734755e72ead.png"/>
          <p:cNvPicPr>
            <a:picLocks noChangeAspect="1"/>
          </p:cNvPicPr>
          <p:nvPr/>
        </p:nvPicPr>
        <p:blipFill>
          <a:blip r:embed="rId6"/>
          <a:srcRect l="-2083" r="-2083"/>
          <a:stretch/>
        </p:blipFill>
        <p:spPr>
          <a:xfrm>
            <a:off x="609905" y="5715000"/>
            <a:ext cx="11011205" cy="9144"/>
          </a:xfrm>
          <a:prstGeom prst="rect">
            <a:avLst/>
          </a:prstGeom>
        </p:spPr>
      </p:pic>
      <p:sp>
        <p:nvSpPr>
          <p:cNvPr id="17" name="Shape 11"/>
          <p:cNvSpPr/>
          <p:nvPr/>
        </p:nvSpPr>
        <p:spPr>
          <a:xfrm>
            <a:off x="609905" y="5905195"/>
            <a:ext cx="11058754" cy="685800"/>
          </a:xfrm>
          <a:prstGeom prst="roundRect">
            <a:avLst>
              <a:gd name="adj" fmla="val 29630"/>
            </a:avLst>
          </a:prstGeom>
          <a:solidFill>
            <a:srgbClr val="2A9D8F">
              <a:alpha val="5000"/>
            </a:srgbClr>
          </a:solidFill>
          <a:ln w="12700">
            <a:solidFill>
              <a:srgbClr val="E5E7EB"/>
            </a:solidFill>
            <a:prstDash val="solid"/>
          </a:ln>
        </p:spPr>
        <p:txBody>
          <a:bodyPr/>
          <a:lstStyle/>
          <a:p>
            <a:endParaRPr lang="en-US"/>
          </a:p>
        </p:txBody>
      </p:sp>
      <p:sp>
        <p:nvSpPr>
          <p:cNvPr id="18" name="Shape 12"/>
          <p:cNvSpPr/>
          <p:nvPr/>
        </p:nvSpPr>
        <p:spPr>
          <a:xfrm>
            <a:off x="609905" y="5905195"/>
            <a:ext cx="38405" cy="685800"/>
          </a:xfrm>
          <a:prstGeom prst="roundRect">
            <a:avLst>
              <a:gd name="adj" fmla="val 529098"/>
            </a:avLst>
          </a:prstGeom>
          <a:solidFill>
            <a:srgbClr val="2A9D8F"/>
          </a:solidFill>
          <a:ln w="12700">
            <a:solidFill>
              <a:srgbClr val="2A9D8F">
                <a:alpha val="0"/>
              </a:srgbClr>
            </a:solidFill>
            <a:prstDash val="solid"/>
          </a:ln>
        </p:spPr>
        <p:txBody>
          <a:bodyPr/>
          <a:lstStyle/>
          <a:p>
            <a:endParaRPr lang="en-US"/>
          </a:p>
        </p:txBody>
      </p:sp>
      <p:pic>
        <p:nvPicPr>
          <p:cNvPr id="19" name="Image 4" descr="gen-dedup-1bf8b7c2ed0132a588bc6493359d36f7.png"/>
          <p:cNvPicPr>
            <a:picLocks noChangeAspect="1"/>
          </p:cNvPicPr>
          <p:nvPr/>
        </p:nvPicPr>
        <p:blipFill>
          <a:blip r:embed="rId7"/>
          <a:srcRect/>
          <a:stretch/>
        </p:blipFill>
        <p:spPr>
          <a:xfrm>
            <a:off x="3157460" y="3543605"/>
            <a:ext cx="323698" cy="323698"/>
          </a:xfrm>
          <a:prstGeom prst="rect">
            <a:avLst/>
          </a:prstGeom>
        </p:spPr>
      </p:pic>
      <p:pic>
        <p:nvPicPr>
          <p:cNvPr id="20" name="Image 5" descr="gen-dedup-4f3b576989a6b43ea9ecd09ca0f289b1.png"/>
          <p:cNvPicPr>
            <a:picLocks noChangeAspect="1"/>
          </p:cNvPicPr>
          <p:nvPr/>
        </p:nvPicPr>
        <p:blipFill>
          <a:blip r:embed="rId8"/>
          <a:srcRect t="-5544" b="-5544"/>
          <a:stretch/>
        </p:blipFill>
        <p:spPr>
          <a:xfrm>
            <a:off x="3266274" y="3638702"/>
            <a:ext cx="105156" cy="133502"/>
          </a:xfrm>
          <a:prstGeom prst="rect">
            <a:avLst/>
          </a:prstGeom>
        </p:spPr>
      </p:pic>
      <p:pic>
        <p:nvPicPr>
          <p:cNvPr id="21" name="Image 6" descr="gen-dedup-1bf8b7c2ed0132a588bc6493359d36f7.png"/>
          <p:cNvPicPr>
            <a:picLocks noChangeAspect="1"/>
          </p:cNvPicPr>
          <p:nvPr/>
        </p:nvPicPr>
        <p:blipFill>
          <a:blip r:embed="rId7"/>
          <a:srcRect/>
          <a:stretch/>
        </p:blipFill>
        <p:spPr>
          <a:xfrm>
            <a:off x="5976555" y="3543605"/>
            <a:ext cx="323698" cy="323698"/>
          </a:xfrm>
          <a:prstGeom prst="rect">
            <a:avLst/>
          </a:prstGeom>
        </p:spPr>
      </p:pic>
      <p:pic>
        <p:nvPicPr>
          <p:cNvPr id="22" name="Image 7" descr="gen-dedup-4f3b576989a6b43ea9ecd09ca0f289b1.png"/>
          <p:cNvPicPr>
            <a:picLocks noChangeAspect="1"/>
          </p:cNvPicPr>
          <p:nvPr/>
        </p:nvPicPr>
        <p:blipFill>
          <a:blip r:embed="rId8"/>
          <a:srcRect t="-5544" b="-5544"/>
          <a:stretch/>
        </p:blipFill>
        <p:spPr>
          <a:xfrm>
            <a:off x="6086283" y="3638702"/>
            <a:ext cx="105156" cy="133502"/>
          </a:xfrm>
          <a:prstGeom prst="rect">
            <a:avLst/>
          </a:prstGeom>
        </p:spPr>
      </p:pic>
      <p:pic>
        <p:nvPicPr>
          <p:cNvPr id="23" name="Image 8" descr="gen-dedup-1bf8b7c2ed0132a588bc6493359d36f7.png"/>
          <p:cNvPicPr>
            <a:picLocks noChangeAspect="1"/>
          </p:cNvPicPr>
          <p:nvPr/>
        </p:nvPicPr>
        <p:blipFill>
          <a:blip r:embed="rId7"/>
          <a:srcRect/>
          <a:stretch/>
        </p:blipFill>
        <p:spPr>
          <a:xfrm>
            <a:off x="8795651" y="3543605"/>
            <a:ext cx="323698" cy="323698"/>
          </a:xfrm>
          <a:prstGeom prst="rect">
            <a:avLst/>
          </a:prstGeom>
        </p:spPr>
      </p:pic>
      <p:pic>
        <p:nvPicPr>
          <p:cNvPr id="24" name="Image 9" descr="gen-dedup-4f3b576989a6b43ea9ecd09ca0f289b1.png"/>
          <p:cNvPicPr>
            <a:picLocks noChangeAspect="1"/>
          </p:cNvPicPr>
          <p:nvPr/>
        </p:nvPicPr>
        <p:blipFill>
          <a:blip r:embed="rId8"/>
          <a:srcRect t="-5544" b="-5544"/>
          <a:stretch/>
        </p:blipFill>
        <p:spPr>
          <a:xfrm>
            <a:off x="8905379" y="3638702"/>
            <a:ext cx="105156" cy="133502"/>
          </a:xfrm>
          <a:prstGeom prst="rect">
            <a:avLst/>
          </a:prstGeom>
        </p:spPr>
      </p:pic>
      <p:sp>
        <p:nvSpPr>
          <p:cNvPr id="25" name="Text 13"/>
          <p:cNvSpPr txBox="1"/>
          <p:nvPr/>
        </p:nvSpPr>
        <p:spPr>
          <a:xfrm>
            <a:off x="819302" y="304495"/>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THE J2W OPERATING MODEL</a:t>
            </a:r>
            <a:endParaRPr lang="en-US" sz="2700" dirty="0"/>
          </a:p>
        </p:txBody>
      </p:sp>
      <p:sp>
        <p:nvSpPr>
          <p:cNvPr id="26" name="Text 14"/>
          <p:cNvSpPr txBox="1"/>
          <p:nvPr/>
        </p:nvSpPr>
        <p:spPr>
          <a:xfrm>
            <a:off x="819302" y="792785"/>
            <a:ext cx="10478110" cy="181051"/>
          </a:xfrm>
          <a:prstGeom prst="rect">
            <a:avLst/>
          </a:prstGeom>
          <a:noFill/>
          <a:ln/>
        </p:spPr>
        <p:txBody>
          <a:bodyPr wrap="none" lIns="0" tIns="0" rIns="0" bIns="0" rtlCol="0" anchor="ctr"/>
          <a:lstStyle/>
          <a:p>
            <a:pPr marL="0" indent="0" algn="l">
              <a:buNone/>
            </a:pPr>
            <a:r>
              <a:rPr lang="en-US" sz="1500" dirty="0">
                <a:solidFill>
                  <a:srgbClr val="4B5563"/>
                </a:solidFill>
                <a:latin typeface="Raleway" pitchFamily="34" charset="0"/>
                <a:ea typeface="Raleway" pitchFamily="34" charset="-122"/>
                <a:cs typeface="Raleway" pitchFamily="34" charset="-120"/>
              </a:rPr>
              <a:t>We don't just deploy - we embed, align, and deliver measurable outcomes.</a:t>
            </a:r>
            <a:endParaRPr lang="en-US" sz="1500" dirty="0"/>
          </a:p>
        </p:txBody>
      </p:sp>
      <p:sp>
        <p:nvSpPr>
          <p:cNvPr id="27" name="Shape 15"/>
          <p:cNvSpPr/>
          <p:nvPr/>
        </p:nvSpPr>
        <p:spPr>
          <a:xfrm>
            <a:off x="163860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28" name="Image 10" descr="gen-dedup-ac1977dfe20a87d93b03eab8a85600aa.png"/>
          <p:cNvPicPr>
            <a:picLocks noChangeAspect="1"/>
          </p:cNvPicPr>
          <p:nvPr/>
        </p:nvPicPr>
        <p:blipFill>
          <a:blip r:embed="rId9"/>
          <a:srcRect t="-13131" b="-13131"/>
          <a:stretch/>
        </p:blipFill>
        <p:spPr>
          <a:xfrm>
            <a:off x="1814170" y="1971446"/>
            <a:ext cx="181051" cy="228600"/>
          </a:xfrm>
          <a:prstGeom prst="rect">
            <a:avLst/>
          </a:prstGeom>
        </p:spPr>
      </p:pic>
      <p:sp>
        <p:nvSpPr>
          <p:cNvPr id="29" name="Text 16"/>
          <p:cNvSpPr txBox="1"/>
          <p:nvPr/>
        </p:nvSpPr>
        <p:spPr>
          <a:xfrm>
            <a:off x="7050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Embed.</a:t>
            </a:r>
            <a:endParaRPr lang="en-US" sz="2000" dirty="0"/>
          </a:p>
        </p:txBody>
      </p:sp>
      <p:sp>
        <p:nvSpPr>
          <p:cNvPr id="30" name="Text 17"/>
          <p:cNvSpPr txBox="1"/>
          <p:nvPr/>
        </p:nvSpPr>
        <p:spPr>
          <a:xfrm>
            <a:off x="705002"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Days 1–14</a:t>
            </a:r>
            <a:endParaRPr lang="en-US" sz="1300" dirty="0"/>
          </a:p>
        </p:txBody>
      </p:sp>
      <p:sp>
        <p:nvSpPr>
          <p:cNvPr id="31" name="Text 18"/>
          <p:cNvSpPr txBox="1"/>
          <p:nvPr/>
        </p:nvSpPr>
        <p:spPr>
          <a:xfrm>
            <a:off x="705002" y="3018434"/>
            <a:ext cx="2309775" cy="1743761"/>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map your stakeholder reality before touching a single workflow — identifying the 80% we move within and the 20% that unlocks transformation.</a:t>
            </a:r>
            <a:endParaRPr lang="en-US" sz="1200" dirty="0"/>
          </a:p>
        </p:txBody>
      </p:sp>
      <p:sp>
        <p:nvSpPr>
          <p:cNvPr id="32" name="Text 19"/>
          <p:cNvSpPr txBox="1"/>
          <p:nvPr/>
        </p:nvSpPr>
        <p:spPr>
          <a:xfrm>
            <a:off x="2409444" y="1687137"/>
            <a:ext cx="601675"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01</a:t>
            </a:r>
            <a:endParaRPr lang="en-US" sz="3600" dirty="0"/>
          </a:p>
        </p:txBody>
      </p:sp>
      <p:sp>
        <p:nvSpPr>
          <p:cNvPr id="33" name="Shape 20"/>
          <p:cNvSpPr/>
          <p:nvPr/>
        </p:nvSpPr>
        <p:spPr>
          <a:xfrm>
            <a:off x="4457700"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34" name="Image 11" descr="gen-dedup-bb65f8a83efde23cd45884ce4e632f2a.png"/>
          <p:cNvPicPr>
            <a:picLocks noChangeAspect="1"/>
          </p:cNvPicPr>
          <p:nvPr/>
        </p:nvPicPr>
        <p:blipFill>
          <a:blip r:embed="rId10"/>
          <a:srcRect t="-13131" b="-13131"/>
          <a:stretch/>
        </p:blipFill>
        <p:spPr>
          <a:xfrm>
            <a:off x="4634179" y="1971446"/>
            <a:ext cx="181051" cy="228600"/>
          </a:xfrm>
          <a:prstGeom prst="rect">
            <a:avLst/>
          </a:prstGeom>
        </p:spPr>
      </p:pic>
      <p:sp>
        <p:nvSpPr>
          <p:cNvPr id="35" name="Text 21"/>
          <p:cNvSpPr txBox="1"/>
          <p:nvPr/>
        </p:nvSpPr>
        <p:spPr>
          <a:xfrm>
            <a:off x="3524098"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Build.</a:t>
            </a:r>
            <a:endParaRPr lang="en-US" sz="2000" dirty="0"/>
          </a:p>
        </p:txBody>
      </p:sp>
      <p:sp>
        <p:nvSpPr>
          <p:cNvPr id="36" name="Text 22"/>
          <p:cNvSpPr txBox="1"/>
          <p:nvPr/>
        </p:nvSpPr>
        <p:spPr>
          <a:xfrm>
            <a:off x="3524098"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Weeks 2–6</a:t>
            </a:r>
            <a:endParaRPr lang="en-US" sz="1300" dirty="0"/>
          </a:p>
        </p:txBody>
      </p:sp>
      <p:sp>
        <p:nvSpPr>
          <p:cNvPr id="37" name="Text 23"/>
          <p:cNvSpPr txBox="1"/>
          <p:nvPr/>
        </p:nvSpPr>
        <p:spPr>
          <a:xfrm>
            <a:off x="3524098" y="329793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deploy the closest-fit accelerator and customize where needed. Hundreds of prior engagements mean you inherit a head start, not a blank slate.</a:t>
            </a:r>
            <a:endParaRPr lang="en-US" sz="1200" dirty="0"/>
          </a:p>
        </p:txBody>
      </p:sp>
      <p:sp>
        <p:nvSpPr>
          <p:cNvPr id="38" name="Text 24"/>
          <p:cNvSpPr txBox="1"/>
          <p:nvPr/>
        </p:nvSpPr>
        <p:spPr>
          <a:xfrm>
            <a:off x="5231282"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02</a:t>
            </a:r>
            <a:endParaRPr lang="en-US" sz="3600" dirty="0"/>
          </a:p>
        </p:txBody>
      </p:sp>
      <p:sp>
        <p:nvSpPr>
          <p:cNvPr id="39" name="Shape 25"/>
          <p:cNvSpPr/>
          <p:nvPr/>
        </p:nvSpPr>
        <p:spPr>
          <a:xfrm>
            <a:off x="727679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0" name="Image 12" descr="gen-dedup-ec7913c77fa2db42f3e898c22d604bf4.png"/>
          <p:cNvPicPr>
            <a:picLocks noChangeAspect="1"/>
          </p:cNvPicPr>
          <p:nvPr/>
        </p:nvPicPr>
        <p:blipFill>
          <a:blip r:embed="rId11"/>
          <a:srcRect t="-28914" b="-28914"/>
          <a:stretch/>
        </p:blipFill>
        <p:spPr>
          <a:xfrm>
            <a:off x="7398844" y="1895244"/>
            <a:ext cx="289681" cy="365760"/>
          </a:xfrm>
          <a:prstGeom prst="rect">
            <a:avLst/>
          </a:prstGeom>
        </p:spPr>
      </p:pic>
      <p:sp>
        <p:nvSpPr>
          <p:cNvPr id="41" name="Text 26"/>
          <p:cNvSpPr txBox="1"/>
          <p:nvPr/>
        </p:nvSpPr>
        <p:spPr>
          <a:xfrm>
            <a:off x="6344107"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Operate.</a:t>
            </a:r>
            <a:endParaRPr lang="en-US" sz="2000" dirty="0"/>
          </a:p>
        </p:txBody>
      </p:sp>
      <p:sp>
        <p:nvSpPr>
          <p:cNvPr id="42" name="Text 27"/>
          <p:cNvSpPr txBox="1"/>
          <p:nvPr/>
        </p:nvSpPr>
        <p:spPr>
          <a:xfrm>
            <a:off x="6344107"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Month 2 onward</a:t>
            </a:r>
            <a:endParaRPr lang="en-US" sz="1300" dirty="0"/>
          </a:p>
        </p:txBody>
      </p:sp>
      <p:sp>
        <p:nvSpPr>
          <p:cNvPr id="43" name="Text 28"/>
          <p:cNvSpPr txBox="1"/>
          <p:nvPr/>
        </p:nvSpPr>
        <p:spPr>
          <a:xfrm>
            <a:off x="6344107" y="319572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Forward-deployed engineers run AI inside your enterprise and don't rotate off. The context, accountability, and institutional memory stay with you.</a:t>
            </a:r>
            <a:endParaRPr lang="en-US" sz="1200" dirty="0"/>
          </a:p>
        </p:txBody>
      </p:sp>
      <p:sp>
        <p:nvSpPr>
          <p:cNvPr id="44" name="Text 29"/>
          <p:cNvSpPr txBox="1"/>
          <p:nvPr/>
        </p:nvSpPr>
        <p:spPr>
          <a:xfrm>
            <a:off x="8051292" y="1687137"/>
            <a:ext cx="607162"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03</a:t>
            </a:r>
            <a:endParaRPr lang="en-US" sz="3600" dirty="0"/>
          </a:p>
        </p:txBody>
      </p:sp>
      <p:sp>
        <p:nvSpPr>
          <p:cNvPr id="45" name="Shape 30"/>
          <p:cNvSpPr/>
          <p:nvPr/>
        </p:nvSpPr>
        <p:spPr>
          <a:xfrm>
            <a:off x="10096805"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46" name="Image 13" descr="gen-dedup-9fd551ffaf14ed4b68fb6cf808d818cf.png"/>
          <p:cNvPicPr>
            <a:picLocks noChangeAspect="1"/>
          </p:cNvPicPr>
          <p:nvPr/>
        </p:nvPicPr>
        <p:blipFill>
          <a:blip r:embed="rId12"/>
          <a:srcRect t="-13131" b="-13131"/>
          <a:stretch/>
        </p:blipFill>
        <p:spPr>
          <a:xfrm>
            <a:off x="10272370" y="1971446"/>
            <a:ext cx="181051" cy="228600"/>
          </a:xfrm>
          <a:prstGeom prst="rect">
            <a:avLst/>
          </a:prstGeom>
        </p:spPr>
      </p:pic>
      <p:sp>
        <p:nvSpPr>
          <p:cNvPr id="47" name="Text 31"/>
          <p:cNvSpPr txBox="1"/>
          <p:nvPr/>
        </p:nvSpPr>
        <p:spPr>
          <a:xfrm>
            <a:off x="91632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Compound.</a:t>
            </a:r>
            <a:endParaRPr lang="en-US" sz="2000" dirty="0"/>
          </a:p>
        </p:txBody>
      </p:sp>
      <p:sp>
        <p:nvSpPr>
          <p:cNvPr id="48" name="Text 32"/>
          <p:cNvSpPr txBox="1"/>
          <p:nvPr/>
        </p:nvSpPr>
        <p:spPr>
          <a:xfrm>
            <a:off x="9163202"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Year one &amp; beyond</a:t>
            </a:r>
            <a:endParaRPr lang="en-US" sz="1300" dirty="0"/>
          </a:p>
        </p:txBody>
      </p:sp>
      <p:sp>
        <p:nvSpPr>
          <p:cNvPr id="49" name="Text 33"/>
          <p:cNvSpPr txBox="1"/>
          <p:nvPr/>
        </p:nvSpPr>
        <p:spPr>
          <a:xfrm>
            <a:off x="9163202" y="3285235"/>
            <a:ext cx="2309775" cy="1219810"/>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Every problem solved sharpens the platform. The system gets smarter as you scale — outcomes that compound while you sleep.</a:t>
            </a:r>
            <a:endParaRPr lang="en-US" sz="1200" dirty="0"/>
          </a:p>
        </p:txBody>
      </p:sp>
      <p:sp>
        <p:nvSpPr>
          <p:cNvPr id="50" name="Text 34"/>
          <p:cNvSpPr txBox="1"/>
          <p:nvPr/>
        </p:nvSpPr>
        <p:spPr>
          <a:xfrm>
            <a:off x="10865815"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04</a:t>
            </a:r>
            <a:endParaRPr lang="en-US" sz="3600" dirty="0"/>
          </a:p>
        </p:txBody>
      </p:sp>
      <p:sp>
        <p:nvSpPr>
          <p:cNvPr id="51" name="Text 35"/>
          <p:cNvSpPr txBox="1"/>
          <p:nvPr/>
        </p:nvSpPr>
        <p:spPr>
          <a:xfrm>
            <a:off x="914400" y="6048756"/>
            <a:ext cx="10401300" cy="428854"/>
          </a:xfrm>
          <a:prstGeom prst="rect">
            <a:avLst/>
          </a:prstGeom>
          <a:noFill/>
          <a:ln/>
        </p:spPr>
        <p:txBody>
          <a:bodyPr wrap="square" lIns="0" tIns="0" rIns="0" bIns="0" rtlCol="0" anchor="ctr"/>
          <a:lstStyle/>
          <a:p>
            <a:pPr marL="0" indent="0" algn="ctr">
              <a:buNone/>
            </a:pPr>
            <a:r>
              <a:rPr lang="en-US" sz="1300" b="1" dirty="0">
                <a:solidFill>
                  <a:srgbClr val="2A9D8F"/>
                </a:solidFill>
                <a:latin typeface="Raleway" pitchFamily="34" charset="0"/>
                <a:ea typeface="Raleway" pitchFamily="34" charset="-122"/>
                <a:cs typeface="Raleway" pitchFamily="34" charset="-120"/>
              </a:rPr>
              <a:t>Your business is our GTM.</a:t>
            </a:r>
            <a:r>
              <a:rPr lang="en-US" sz="1300" b="1" dirty="0">
                <a:solidFill>
                  <a:srgbClr val="1F2937"/>
                </a:solidFill>
                <a:latin typeface="Raleway" pitchFamily="34" charset="0"/>
                <a:ea typeface="Raleway" pitchFamily="34" charset="-122"/>
                <a:cs typeface="Raleway" pitchFamily="34" charset="-120"/>
              </a:rPr>
              <a:t> We build with you, so your teams actually adopt, use, and grow everything we create together - not just receive it.</a:t>
            </a:r>
            <a:endParaRPr lang="en-US" sz="1300" dirty="0"/>
          </a:p>
        </p:txBody>
      </p:sp>
    </p:spTree>
    <p:extLst>
      <p:ext uri="{BB962C8B-B14F-4D97-AF65-F5344CB8AC3E}">
        <p14:creationId xmlns:p14="http://schemas.microsoft.com/office/powerpoint/2010/main" val="177576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953805" y="-57150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5000"/>
          </a:blip>
          <a:srcRect/>
          <a:stretch/>
        </p:blipFill>
        <p:spPr>
          <a:xfrm>
            <a:off x="-381305" y="4095598"/>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743407"/>
            <a:ext cx="57607" cy="476402"/>
          </a:xfrm>
          <a:prstGeom prst="rect">
            <a:avLst/>
          </a:prstGeom>
        </p:spPr>
      </p:pic>
      <p:sp>
        <p:nvSpPr>
          <p:cNvPr id="9" name="Shape 3"/>
          <p:cNvSpPr/>
          <p:nvPr/>
        </p:nvSpPr>
        <p:spPr>
          <a:xfrm>
            <a:off x="6099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3818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2" name="Shape 6"/>
          <p:cNvSpPr/>
          <p:nvPr/>
        </p:nvSpPr>
        <p:spPr>
          <a:xfrm>
            <a:off x="4381805" y="1714500"/>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1537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4" name="Shape 8"/>
          <p:cNvSpPr/>
          <p:nvPr/>
        </p:nvSpPr>
        <p:spPr>
          <a:xfrm>
            <a:off x="81537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24953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6" name="Shape 10"/>
          <p:cNvSpPr/>
          <p:nvPr/>
        </p:nvSpPr>
        <p:spPr>
          <a:xfrm>
            <a:off x="2495398" y="3619195"/>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62672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8" name="Shape 12"/>
          <p:cNvSpPr/>
          <p:nvPr/>
        </p:nvSpPr>
        <p:spPr>
          <a:xfrm>
            <a:off x="6267298" y="3619195"/>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609905" y="5572354"/>
            <a:ext cx="10972800" cy="571500"/>
          </a:xfrm>
          <a:prstGeom prst="roundRect">
            <a:avLst>
              <a:gd name="adj" fmla="val 42667"/>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pic>
        <p:nvPicPr>
          <p:cNvPr id="20" name="Image 4" descr="gen-dedup-fcfcca745fa5c1c832fd66175382f504.png"/>
          <p:cNvPicPr>
            <a:picLocks noChangeAspect="1"/>
          </p:cNvPicPr>
          <p:nvPr/>
        </p:nvPicPr>
        <p:blipFill>
          <a:blip r:embed="rId7"/>
          <a:srcRect l="-2083" r="-2083"/>
          <a:stretch/>
        </p:blipFill>
        <p:spPr>
          <a:xfrm>
            <a:off x="609905" y="6286500"/>
            <a:ext cx="10972800" cy="9144"/>
          </a:xfrm>
          <a:prstGeom prst="rect">
            <a:avLst/>
          </a:prstGeom>
        </p:spPr>
      </p:pic>
      <p:sp>
        <p:nvSpPr>
          <p:cNvPr id="21" name="Text 14"/>
          <p:cNvSpPr txBox="1"/>
          <p:nvPr/>
        </p:nvSpPr>
        <p:spPr>
          <a:xfrm>
            <a:off x="819302" y="666598"/>
            <a:ext cx="5715000" cy="381305"/>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WHAT WE OWN</a:t>
            </a:r>
            <a:endParaRPr lang="en-US" sz="2700" dirty="0"/>
          </a:p>
        </p:txBody>
      </p:sp>
      <p:sp>
        <p:nvSpPr>
          <p:cNvPr id="22" name="Text 15"/>
          <p:cNvSpPr txBox="1"/>
          <p:nvPr/>
        </p:nvSpPr>
        <p:spPr>
          <a:xfrm>
            <a:off x="819302" y="1100938"/>
            <a:ext cx="5715000" cy="200254"/>
          </a:xfrm>
          <a:prstGeom prst="rect">
            <a:avLst/>
          </a:prstGeom>
          <a:noFill/>
          <a:ln/>
        </p:spPr>
        <p:txBody>
          <a:bodyPr wrap="none" lIns="0" tIns="0" rIns="0" bIns="0" rtlCol="0" anchor="ctr"/>
          <a:lstStyle/>
          <a:p>
            <a:pPr marL="0" indent="0" algn="l">
              <a:buNone/>
            </a:pPr>
            <a:r>
              <a:rPr lang="en-US" sz="1300" b="1" kern="0" spc="68" dirty="0">
                <a:solidFill>
                  <a:srgbClr val="2A9D8F"/>
                </a:solidFill>
                <a:latin typeface="Roboto Condensed" pitchFamily="34" charset="0"/>
                <a:ea typeface="Roboto Condensed" pitchFamily="34" charset="-122"/>
                <a:cs typeface="Roboto Condensed" pitchFamily="34" charset="-120"/>
              </a:rPr>
              <a:t>The proprietary stack - our moat</a:t>
            </a:r>
            <a:endParaRPr lang="en-US" sz="1300" dirty="0"/>
          </a:p>
        </p:txBody>
      </p:sp>
      <p:sp>
        <p:nvSpPr>
          <p:cNvPr id="23" name="Shape 16"/>
          <p:cNvSpPr/>
          <p:nvPr/>
        </p:nvSpPr>
        <p:spPr>
          <a:xfrm>
            <a:off x="8001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24" name="Image 5" descr="gen-dedup-354148c7dfe2ece024d9587c6b984377.png"/>
          <p:cNvPicPr>
            <a:picLocks noChangeAspect="1"/>
          </p:cNvPicPr>
          <p:nvPr/>
        </p:nvPicPr>
        <p:blipFill>
          <a:blip r:embed="rId8"/>
          <a:srcRect t="-16800" b="-16800"/>
          <a:stretch/>
        </p:blipFill>
        <p:spPr>
          <a:xfrm>
            <a:off x="895198" y="2029054"/>
            <a:ext cx="114300" cy="152705"/>
          </a:xfrm>
          <a:prstGeom prst="rect">
            <a:avLst/>
          </a:prstGeom>
        </p:spPr>
      </p:pic>
      <p:sp>
        <p:nvSpPr>
          <p:cNvPr id="25" name="Text 17"/>
          <p:cNvSpPr txBox="1"/>
          <p:nvPr/>
        </p:nvSpPr>
        <p:spPr>
          <a:xfrm>
            <a:off x="12380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Premier Lounge</a:t>
            </a:r>
            <a:endParaRPr lang="en-US" sz="1500" dirty="0"/>
          </a:p>
        </p:txBody>
      </p:sp>
      <p:sp>
        <p:nvSpPr>
          <p:cNvPr id="26" name="Text 18"/>
          <p:cNvSpPr txBox="1"/>
          <p:nvPr/>
        </p:nvSpPr>
        <p:spPr>
          <a:xfrm>
            <a:off x="8001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Curated network of vetted experts - instant access to scarce skills.</a:t>
            </a:r>
            <a:endParaRPr lang="en-US" sz="1200" dirty="0"/>
          </a:p>
        </p:txBody>
      </p:sp>
      <p:sp>
        <p:nvSpPr>
          <p:cNvPr id="27" name="Shape 19"/>
          <p:cNvSpPr/>
          <p:nvPr/>
        </p:nvSpPr>
        <p:spPr>
          <a:xfrm>
            <a:off x="4572000" y="195224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28" name="Image 6" descr="gen-dedup-8653d22c8fc2d1668da8a16f36629000.png"/>
          <p:cNvPicPr>
            <a:picLocks noChangeAspect="1"/>
          </p:cNvPicPr>
          <p:nvPr/>
        </p:nvPicPr>
        <p:blipFill>
          <a:blip r:embed="rId9"/>
          <a:srcRect t="-25150" b="-25150"/>
          <a:stretch/>
        </p:blipFill>
        <p:spPr>
          <a:xfrm>
            <a:off x="4667098" y="2029054"/>
            <a:ext cx="114300" cy="152705"/>
          </a:xfrm>
          <a:prstGeom prst="rect">
            <a:avLst/>
          </a:prstGeom>
        </p:spPr>
      </p:pic>
      <p:sp>
        <p:nvSpPr>
          <p:cNvPr id="29" name="Text 20"/>
          <p:cNvSpPr txBox="1"/>
          <p:nvPr/>
        </p:nvSpPr>
        <p:spPr>
          <a:xfrm>
            <a:off x="50099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OfferLetter</a:t>
            </a:r>
            <a:endParaRPr lang="en-US" sz="1500" dirty="0"/>
          </a:p>
        </p:txBody>
      </p:sp>
      <p:sp>
        <p:nvSpPr>
          <p:cNvPr id="30" name="Text 21"/>
          <p:cNvSpPr txBox="1"/>
          <p:nvPr/>
        </p:nvSpPr>
        <p:spPr>
          <a:xfrm>
            <a:off x="45720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AI-driven sourcing &amp; resume parsing - onboard one engineer an hour.</a:t>
            </a:r>
            <a:endParaRPr lang="en-US" sz="1200" dirty="0"/>
          </a:p>
        </p:txBody>
      </p:sp>
      <p:sp>
        <p:nvSpPr>
          <p:cNvPr id="31" name="Shape 22"/>
          <p:cNvSpPr/>
          <p:nvPr/>
        </p:nvSpPr>
        <p:spPr>
          <a:xfrm>
            <a:off x="83439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32" name="Image 7" descr="gen-dedup-fe8b3fc2b54c6cb2835c9e1123b7a343.png"/>
          <p:cNvPicPr>
            <a:picLocks noChangeAspect="1"/>
          </p:cNvPicPr>
          <p:nvPr/>
        </p:nvPicPr>
        <p:blipFill>
          <a:blip r:embed="rId10"/>
          <a:srcRect t="-25150" b="-25150"/>
          <a:stretch/>
        </p:blipFill>
        <p:spPr>
          <a:xfrm>
            <a:off x="8438998" y="2029054"/>
            <a:ext cx="114300" cy="152705"/>
          </a:xfrm>
          <a:prstGeom prst="rect">
            <a:avLst/>
          </a:prstGeom>
        </p:spPr>
      </p:pic>
      <p:sp>
        <p:nvSpPr>
          <p:cNvPr id="33" name="Text 23"/>
          <p:cNvSpPr txBox="1"/>
          <p:nvPr/>
        </p:nvSpPr>
        <p:spPr>
          <a:xfrm>
            <a:off x="8781898" y="1952244"/>
            <a:ext cx="2702052"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Data Abstraction Layer</a:t>
            </a:r>
            <a:endParaRPr lang="en-US" sz="1500" dirty="0"/>
          </a:p>
        </p:txBody>
      </p:sp>
      <p:sp>
        <p:nvSpPr>
          <p:cNvPr id="34" name="Text 24"/>
          <p:cNvSpPr txBox="1"/>
          <p:nvPr/>
        </p:nvSpPr>
        <p:spPr>
          <a:xfrm>
            <a:off x="83439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Unified API gateway + real-time ETL - a single pane of glass.</a:t>
            </a:r>
            <a:endParaRPr lang="en-US" sz="1200" dirty="0"/>
          </a:p>
        </p:txBody>
      </p:sp>
      <p:sp>
        <p:nvSpPr>
          <p:cNvPr id="35" name="Shape 25"/>
          <p:cNvSpPr/>
          <p:nvPr/>
        </p:nvSpPr>
        <p:spPr>
          <a:xfrm>
            <a:off x="2686507" y="385785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36" name="Image 8" descr="gen-dedup-e7d7166718140d8159b1663599725aa5.png"/>
          <p:cNvPicPr>
            <a:picLocks noChangeAspect="1"/>
          </p:cNvPicPr>
          <p:nvPr/>
        </p:nvPicPr>
        <p:blipFill>
          <a:blip r:embed="rId11"/>
          <a:srcRect t="-8450" b="-8450"/>
          <a:stretch/>
        </p:blipFill>
        <p:spPr>
          <a:xfrm>
            <a:off x="2781605" y="3933749"/>
            <a:ext cx="114300" cy="152705"/>
          </a:xfrm>
          <a:prstGeom prst="rect">
            <a:avLst/>
          </a:prstGeom>
        </p:spPr>
      </p:pic>
      <p:sp>
        <p:nvSpPr>
          <p:cNvPr id="37" name="Text 26"/>
          <p:cNvSpPr txBox="1"/>
          <p:nvPr/>
        </p:nvSpPr>
        <p:spPr>
          <a:xfrm>
            <a:off x="31245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AI Labs</a:t>
            </a:r>
            <a:endParaRPr lang="en-US" sz="1500" dirty="0"/>
          </a:p>
        </p:txBody>
      </p:sp>
      <p:sp>
        <p:nvSpPr>
          <p:cNvPr id="38" name="Text 27"/>
          <p:cNvSpPr txBox="1"/>
          <p:nvPr/>
        </p:nvSpPr>
        <p:spPr>
          <a:xfrm>
            <a:off x="26865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Internal AI engine - every engineer AI-certified before Day 1.</a:t>
            </a:r>
            <a:endParaRPr lang="en-US" sz="1200" dirty="0"/>
          </a:p>
        </p:txBody>
      </p:sp>
      <p:sp>
        <p:nvSpPr>
          <p:cNvPr id="39" name="Shape 28"/>
          <p:cNvSpPr/>
          <p:nvPr/>
        </p:nvSpPr>
        <p:spPr>
          <a:xfrm>
            <a:off x="6458407" y="385785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40" name="Image 9" descr="gen-dedup-a3d9bb31ae14fa9101e3246a3a64819e.png"/>
          <p:cNvPicPr>
            <a:picLocks noChangeAspect="1"/>
          </p:cNvPicPr>
          <p:nvPr/>
        </p:nvPicPr>
        <p:blipFill>
          <a:blip r:embed="rId12"/>
          <a:srcRect t="-8450" b="-8450"/>
          <a:stretch/>
        </p:blipFill>
        <p:spPr>
          <a:xfrm>
            <a:off x="6553505" y="3933749"/>
            <a:ext cx="114300" cy="152705"/>
          </a:xfrm>
          <a:prstGeom prst="rect">
            <a:avLst/>
          </a:prstGeom>
        </p:spPr>
      </p:pic>
      <p:sp>
        <p:nvSpPr>
          <p:cNvPr id="41" name="Text 29"/>
          <p:cNvSpPr txBox="1"/>
          <p:nvPr/>
        </p:nvSpPr>
        <p:spPr>
          <a:xfrm>
            <a:off x="68964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60+ Accelerators</a:t>
            </a:r>
            <a:endParaRPr lang="en-US" sz="1500" dirty="0"/>
          </a:p>
        </p:txBody>
      </p:sp>
      <p:sp>
        <p:nvSpPr>
          <p:cNvPr id="42" name="Text 30"/>
          <p:cNvSpPr txBox="1"/>
          <p:nvPr/>
        </p:nvSpPr>
        <p:spPr>
          <a:xfrm>
            <a:off x="64584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Pre-built solutions on SAP, ServiceNow &amp; industry stacks.</a:t>
            </a:r>
            <a:endParaRPr lang="en-US" sz="1200" dirty="0"/>
          </a:p>
        </p:txBody>
      </p:sp>
      <p:sp>
        <p:nvSpPr>
          <p:cNvPr id="43" name="Text 31"/>
          <p:cNvSpPr txBox="1"/>
          <p:nvPr/>
        </p:nvSpPr>
        <p:spPr>
          <a:xfrm>
            <a:off x="800100" y="5715000"/>
            <a:ext cx="10592410" cy="286207"/>
          </a:xfrm>
          <a:prstGeom prst="rect">
            <a:avLst/>
          </a:prstGeom>
          <a:noFill/>
          <a:ln/>
        </p:spPr>
        <p:txBody>
          <a:bodyPr wrap="none" lIns="0" tIns="0" rIns="0" bIns="0" rtlCol="0" anchor="ctr"/>
          <a:lstStyle/>
          <a:p>
            <a:pPr marL="0" indent="0" algn="ctr">
              <a:buNone/>
            </a:pPr>
            <a:r>
              <a:rPr lang="en-US" sz="1500" b="1" kern="0" spc="75" dirty="0">
                <a:solidFill>
                  <a:srgbClr val="9CA3AF"/>
                </a:solidFill>
                <a:latin typeface="Oswald" pitchFamily="34" charset="0"/>
                <a:ea typeface="Oswald" pitchFamily="34" charset="-122"/>
                <a:cs typeface="Oswald" pitchFamily="34" charset="-120"/>
              </a:rPr>
              <a:t>THE ARC FRAMEWORK</a:t>
            </a:r>
            <a:r>
              <a:rPr lang="en-US" sz="1500" b="1" kern="0" spc="75" dirty="0">
                <a:solidFill>
                  <a:srgbClr val="2A9D8F"/>
                </a:solidFill>
                <a:latin typeface="Oswald" pitchFamily="34" charset="0"/>
                <a:ea typeface="Oswald" pitchFamily="34" charset="-122"/>
                <a:cs typeface="Oswald" pitchFamily="34" charset="-120"/>
              </a:rPr>
              <a:t>Adaptive</a:t>
            </a:r>
            <a:r>
              <a:rPr lang="en-US" sz="1200" b="1" kern="0" spc="75" dirty="0">
                <a:solidFill>
                  <a:srgbClr val="CBD5E1"/>
                </a:solidFill>
                <a:latin typeface="Raleway" pitchFamily="34" charset="0"/>
                <a:ea typeface="Raleway" pitchFamily="34" charset="-122"/>
                <a:cs typeface="Raleway" pitchFamily="34" charset="-120"/>
              </a:rPr>
              <a:t>(Grow)</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D62839"/>
                </a:solidFill>
                <a:latin typeface="Oswald" pitchFamily="34" charset="0"/>
                <a:ea typeface="Oswald" pitchFamily="34" charset="-122"/>
                <a:cs typeface="Oswald" pitchFamily="34" charset="-120"/>
              </a:rPr>
              <a:t>Resilient</a:t>
            </a:r>
            <a:r>
              <a:rPr lang="en-US" sz="1200" b="1" kern="0" spc="75" dirty="0">
                <a:solidFill>
                  <a:srgbClr val="CBD5E1"/>
                </a:solidFill>
                <a:latin typeface="Raleway" pitchFamily="34" charset="0"/>
                <a:ea typeface="Raleway" pitchFamily="34" charset="-122"/>
                <a:cs typeface="Raleway" pitchFamily="34" charset="-120"/>
              </a:rPr>
              <a:t>(Mature)</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2A9D8F"/>
                </a:solidFill>
                <a:latin typeface="Oswald" pitchFamily="34" charset="0"/>
                <a:ea typeface="Oswald" pitchFamily="34" charset="-122"/>
                <a:cs typeface="Oswald" pitchFamily="34" charset="-120"/>
              </a:rPr>
              <a:t>Cognitive</a:t>
            </a:r>
            <a:r>
              <a:rPr lang="en-US" sz="1200" b="1" kern="0" spc="75" dirty="0">
                <a:solidFill>
                  <a:srgbClr val="CBD5E1"/>
                </a:solidFill>
                <a:latin typeface="Raleway" pitchFamily="34" charset="0"/>
                <a:ea typeface="Raleway" pitchFamily="34" charset="-122"/>
                <a:cs typeface="Raleway" pitchFamily="34" charset="-120"/>
              </a:rPr>
              <a:t>(Transform)</a:t>
            </a:r>
            <a:endParaRPr lang="en-US" sz="1500" dirty="0"/>
          </a:p>
        </p:txBody>
      </p:sp>
      <p:sp>
        <p:nvSpPr>
          <p:cNvPr id="44" name="Text 32"/>
          <p:cNvSpPr txBox="1"/>
          <p:nvPr/>
        </p:nvSpPr>
        <p:spPr>
          <a:xfrm>
            <a:off x="609905" y="6429146"/>
            <a:ext cx="10972800" cy="181051"/>
          </a:xfrm>
          <a:prstGeom prst="rect">
            <a:avLst/>
          </a:prstGeom>
          <a:noFill/>
          <a:ln/>
        </p:spPr>
        <p:txBody>
          <a:bodyPr wrap="none" lIns="0" tIns="0" rIns="0" bIns="0" rtlCol="0" anchor="ctr"/>
          <a:lstStyle/>
          <a:p>
            <a:pPr marL="0" indent="0" algn="ctr">
              <a:buNone/>
            </a:pPr>
            <a:r>
              <a:rPr lang="en-US" sz="1200" b="1" dirty="0">
                <a:solidFill>
                  <a:srgbClr val="374151"/>
                </a:solidFill>
                <a:latin typeface="Raleway" pitchFamily="34" charset="0"/>
                <a:ea typeface="Raleway" pitchFamily="34" charset="-122"/>
                <a:cs typeface="Raleway" pitchFamily="34" charset="-120"/>
              </a:rPr>
              <a:t>Transparent, scalable, and owned by us - </a:t>
            </a:r>
            <a:r>
              <a:rPr lang="en-US" sz="1200" b="1" dirty="0">
                <a:solidFill>
                  <a:srgbClr val="2A9D8F"/>
                </a:solidFill>
                <a:latin typeface="Raleway" pitchFamily="34" charset="0"/>
                <a:ea typeface="Raleway" pitchFamily="34" charset="-122"/>
                <a:cs typeface="Raleway" pitchFamily="34" charset="-120"/>
              </a:rPr>
              <a:t>your competitive moat, not a black box.</a:t>
            </a:r>
            <a:endParaRPr lang="en-US" sz="1200" dirty="0"/>
          </a:p>
        </p:txBody>
      </p:sp>
      <p:sp>
        <p:nvSpPr>
          <p:cNvPr id="45" name="TextBox 44">
            <a:extLst>
              <a:ext uri="{FF2B5EF4-FFF2-40B4-BE49-F238E27FC236}">
                <a16:creationId xmlns:a16="http://schemas.microsoft.com/office/drawing/2014/main" id="{25DD6EC7-8F41-58C5-8FE6-D76C9E660C2A}"/>
              </a:ext>
            </a:extLst>
          </p:cNvPr>
          <p:cNvSpPr txBox="1"/>
          <p:nvPr/>
        </p:nvSpPr>
        <p:spPr>
          <a:xfrm>
            <a:off x="3048000" y="3429000"/>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Tree>
    <p:extLst>
      <p:ext uri="{BB962C8B-B14F-4D97-AF65-F5344CB8AC3E}">
        <p14:creationId xmlns:p14="http://schemas.microsoft.com/office/powerpoint/2010/main" val="382123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219456"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7" name="Shape 5"/>
          <p:cNvSpPr/>
          <p:nvPr/>
        </p:nvSpPr>
        <p:spPr>
          <a:xfrm>
            <a:off x="219456"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8" name="Image 0" descr="preencoded.png"/>
          <p:cNvPicPr>
            <a:picLocks noChangeAspect="1"/>
          </p:cNvPicPr>
          <p:nvPr/>
        </p:nvPicPr>
        <p:blipFill>
          <a:blip r:embed="rId3"/>
          <a:stretch>
            <a:fillRect/>
          </a:stretch>
        </p:blipFill>
        <p:spPr>
          <a:xfrm>
            <a:off x="390144" y="1341120"/>
            <a:ext cx="414528" cy="414528"/>
          </a:xfrm>
          <a:prstGeom prst="rect">
            <a:avLst/>
          </a:prstGeom>
        </p:spPr>
      </p:pic>
      <p:sp>
        <p:nvSpPr>
          <p:cNvPr id="9" name="Text 6"/>
          <p:cNvSpPr/>
          <p:nvPr/>
        </p:nvSpPr>
        <p:spPr>
          <a:xfrm>
            <a:off x="341376"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Sourcing Engine</a:t>
            </a:r>
            <a:endParaRPr lang="en-US" sz="1467">
              <a:latin typeface="Oswald" panose="00000500000000000000" pitchFamily="2" charset="0"/>
            </a:endParaRPr>
          </a:p>
        </p:txBody>
      </p:sp>
      <p:sp>
        <p:nvSpPr>
          <p:cNvPr id="10" name="Text 7"/>
          <p:cNvSpPr/>
          <p:nvPr/>
        </p:nvSpPr>
        <p:spPr>
          <a:xfrm>
            <a:off x="341376"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AI-driven talent matching across 8,500+ active consultants and 1,250+ skills - niche to mainstream.</a:t>
            </a:r>
            <a:endParaRPr lang="en-US" sz="1133">
              <a:latin typeface="Raleway" pitchFamily="2" charset="0"/>
            </a:endParaRPr>
          </a:p>
        </p:txBody>
      </p:sp>
      <p:sp>
        <p:nvSpPr>
          <p:cNvPr id="11" name="Shape 8"/>
          <p:cNvSpPr/>
          <p:nvPr/>
        </p:nvSpPr>
        <p:spPr>
          <a:xfrm>
            <a:off x="3108960"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12" name="Shape 9"/>
          <p:cNvSpPr/>
          <p:nvPr/>
        </p:nvSpPr>
        <p:spPr>
          <a:xfrm>
            <a:off x="3108960"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3" name="Image 1" descr="preencoded.png"/>
          <p:cNvPicPr>
            <a:picLocks noChangeAspect="1"/>
          </p:cNvPicPr>
          <p:nvPr/>
        </p:nvPicPr>
        <p:blipFill>
          <a:blip r:embed="rId4"/>
          <a:stretch>
            <a:fillRect/>
          </a:stretch>
        </p:blipFill>
        <p:spPr>
          <a:xfrm>
            <a:off x="3279648" y="1341120"/>
            <a:ext cx="414528" cy="414528"/>
          </a:xfrm>
          <a:prstGeom prst="rect">
            <a:avLst/>
          </a:prstGeom>
        </p:spPr>
      </p:pic>
      <p:sp>
        <p:nvSpPr>
          <p:cNvPr id="14" name="Text 10"/>
          <p:cNvSpPr/>
          <p:nvPr/>
        </p:nvSpPr>
        <p:spPr>
          <a:xfrm>
            <a:off x="3230880"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Human + AI Teams</a:t>
            </a:r>
            <a:endParaRPr lang="en-US" sz="1467">
              <a:latin typeface="Oswald" panose="00000500000000000000" pitchFamily="2" charset="0"/>
            </a:endParaRPr>
          </a:p>
        </p:txBody>
      </p:sp>
      <p:sp>
        <p:nvSpPr>
          <p:cNvPr id="15" name="Text 11"/>
          <p:cNvSpPr/>
          <p:nvPr/>
        </p:nvSpPr>
        <p:spPr>
          <a:xfrm>
            <a:off x="3230880"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Blended delivery with AI productivity tools embedded from Day 1. Capability stacks over role pyramids.</a:t>
            </a:r>
            <a:endParaRPr lang="en-US" sz="1133">
              <a:latin typeface="Raleway" pitchFamily="2" charset="0"/>
            </a:endParaRPr>
          </a:p>
        </p:txBody>
      </p:sp>
      <p:sp>
        <p:nvSpPr>
          <p:cNvPr id="16" name="Shape 12"/>
          <p:cNvSpPr/>
          <p:nvPr/>
        </p:nvSpPr>
        <p:spPr>
          <a:xfrm>
            <a:off x="5998464"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17" name="Shape 13"/>
          <p:cNvSpPr/>
          <p:nvPr/>
        </p:nvSpPr>
        <p:spPr>
          <a:xfrm>
            <a:off x="5998464"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8" name="Image 2" descr="preencoded.png"/>
          <p:cNvPicPr>
            <a:picLocks noChangeAspect="1"/>
          </p:cNvPicPr>
          <p:nvPr/>
        </p:nvPicPr>
        <p:blipFill>
          <a:blip r:embed="rId5"/>
          <a:stretch>
            <a:fillRect/>
          </a:stretch>
        </p:blipFill>
        <p:spPr>
          <a:xfrm>
            <a:off x="6169152" y="1341120"/>
            <a:ext cx="414528" cy="414528"/>
          </a:xfrm>
          <a:prstGeom prst="rect">
            <a:avLst/>
          </a:prstGeom>
        </p:spPr>
      </p:pic>
      <p:sp>
        <p:nvSpPr>
          <p:cNvPr id="19" name="Text 14"/>
          <p:cNvSpPr/>
          <p:nvPr/>
        </p:nvSpPr>
        <p:spPr>
          <a:xfrm>
            <a:off x="6120384"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Fully Managed</a:t>
            </a:r>
            <a:endParaRPr lang="en-US" sz="1467">
              <a:latin typeface="Oswald" panose="00000500000000000000" pitchFamily="2" charset="0"/>
            </a:endParaRPr>
          </a:p>
        </p:txBody>
      </p:sp>
      <p:sp>
        <p:nvSpPr>
          <p:cNvPr id="20" name="Text 15"/>
          <p:cNvSpPr/>
          <p:nvPr/>
        </p:nvSpPr>
        <p:spPr>
          <a:xfrm>
            <a:off x="6120384"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J2W owns payroll, compliance, onboarding and HR. Zero admin burden on the client side.</a:t>
            </a:r>
            <a:endParaRPr lang="en-US" sz="1133">
              <a:latin typeface="Raleway" pitchFamily="2" charset="0"/>
            </a:endParaRPr>
          </a:p>
        </p:txBody>
      </p:sp>
      <p:sp>
        <p:nvSpPr>
          <p:cNvPr id="21" name="Shape 16"/>
          <p:cNvSpPr/>
          <p:nvPr/>
        </p:nvSpPr>
        <p:spPr>
          <a:xfrm>
            <a:off x="8887968"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22" name="Shape 17"/>
          <p:cNvSpPr/>
          <p:nvPr/>
        </p:nvSpPr>
        <p:spPr>
          <a:xfrm>
            <a:off x="8887968"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23" name="Image 3" descr="preencoded.png"/>
          <p:cNvPicPr>
            <a:picLocks noChangeAspect="1"/>
          </p:cNvPicPr>
          <p:nvPr/>
        </p:nvPicPr>
        <p:blipFill>
          <a:blip r:embed="rId6"/>
          <a:stretch>
            <a:fillRect/>
          </a:stretch>
        </p:blipFill>
        <p:spPr>
          <a:xfrm>
            <a:off x="9058656" y="1341120"/>
            <a:ext cx="414528" cy="414528"/>
          </a:xfrm>
          <a:prstGeom prst="rect">
            <a:avLst/>
          </a:prstGeom>
        </p:spPr>
      </p:pic>
      <p:sp>
        <p:nvSpPr>
          <p:cNvPr id="24" name="Text 18"/>
          <p:cNvSpPr/>
          <p:nvPr/>
        </p:nvSpPr>
        <p:spPr>
          <a:xfrm>
            <a:off x="9009888"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AI-First L&amp;D</a:t>
            </a:r>
            <a:endParaRPr lang="en-US" sz="1467">
              <a:latin typeface="Oswald" panose="00000500000000000000" pitchFamily="2" charset="0"/>
            </a:endParaRPr>
          </a:p>
        </p:txBody>
      </p:sp>
      <p:sp>
        <p:nvSpPr>
          <p:cNvPr id="25" name="Text 19"/>
          <p:cNvSpPr/>
          <p:nvPr/>
        </p:nvSpPr>
        <p:spPr>
          <a:xfrm>
            <a:off x="9009888"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Continuous upskilling via J2W </a:t>
            </a:r>
            <a:r>
              <a:rPr lang="en-US" sz="1133" err="1">
                <a:solidFill>
                  <a:srgbClr val="555555"/>
                </a:solidFill>
                <a:latin typeface="Raleway" pitchFamily="2" charset="0"/>
                <a:ea typeface="Calibri" pitchFamily="34" charset="-122"/>
                <a:cs typeface="Calibri" pitchFamily="34" charset="-120"/>
              </a:rPr>
              <a:t>CoE</a:t>
            </a:r>
            <a:r>
              <a:rPr lang="en-US" sz="1133">
                <a:solidFill>
                  <a:srgbClr val="555555"/>
                </a:solidFill>
                <a:latin typeface="Raleway" pitchFamily="2" charset="0"/>
                <a:ea typeface="Calibri" pitchFamily="34" charset="-122"/>
                <a:cs typeface="Calibri" pitchFamily="34" charset="-120"/>
              </a:rPr>
              <a:t> - contextual, hands-on AI training powered by Research Wing.</a:t>
            </a:r>
            <a:endParaRPr lang="en-US" sz="1133">
              <a:latin typeface="Raleway" pitchFamily="2" charset="0"/>
            </a:endParaRPr>
          </a:p>
        </p:txBody>
      </p:sp>
      <p:sp>
        <p:nvSpPr>
          <p:cNvPr id="26" name="Text 20"/>
          <p:cNvSpPr/>
          <p:nvPr/>
        </p:nvSpPr>
        <p:spPr>
          <a:xfrm>
            <a:off x="341376" y="3291840"/>
            <a:ext cx="256032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Dimension</a:t>
            </a:r>
            <a:endParaRPr lang="en-US" sz="1267">
              <a:latin typeface="Raleway" pitchFamily="2" charset="0"/>
            </a:endParaRPr>
          </a:p>
        </p:txBody>
      </p:sp>
      <p:sp>
        <p:nvSpPr>
          <p:cNvPr id="27" name="Text 21"/>
          <p:cNvSpPr/>
          <p:nvPr/>
        </p:nvSpPr>
        <p:spPr>
          <a:xfrm>
            <a:off x="2901696" y="3291840"/>
            <a:ext cx="402336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Traditional Staffing</a:t>
            </a:r>
            <a:endParaRPr lang="en-US" sz="1267">
              <a:latin typeface="Raleway" pitchFamily="2" charset="0"/>
            </a:endParaRPr>
          </a:p>
        </p:txBody>
      </p:sp>
      <p:sp>
        <p:nvSpPr>
          <p:cNvPr id="28" name="Text 22"/>
          <p:cNvSpPr/>
          <p:nvPr/>
        </p:nvSpPr>
        <p:spPr>
          <a:xfrm>
            <a:off x="6925056" y="3291840"/>
            <a:ext cx="4949952"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 Workforce</a:t>
            </a:r>
            <a:endParaRPr lang="en-US" sz="1267">
              <a:latin typeface="Raleway" pitchFamily="2" charset="0"/>
            </a:endParaRPr>
          </a:p>
        </p:txBody>
      </p:sp>
      <p:sp>
        <p:nvSpPr>
          <p:cNvPr id="29" name="Shape 23"/>
          <p:cNvSpPr/>
          <p:nvPr/>
        </p:nvSpPr>
        <p:spPr>
          <a:xfrm>
            <a:off x="219456" y="3681984"/>
            <a:ext cx="11533632" cy="0"/>
          </a:xfrm>
          <a:prstGeom prst="line">
            <a:avLst/>
          </a:prstGeom>
          <a:noFill/>
          <a:ln w="9525">
            <a:solidFill>
              <a:srgbClr val="0D9488"/>
            </a:solidFill>
            <a:prstDash val="solid"/>
          </a:ln>
        </p:spPr>
        <p:txBody>
          <a:bodyPr/>
          <a:lstStyle/>
          <a:p>
            <a:endParaRPr lang="en-US" sz="2400"/>
          </a:p>
        </p:txBody>
      </p:sp>
      <p:sp>
        <p:nvSpPr>
          <p:cNvPr id="30" name="Shape 24"/>
          <p:cNvSpPr/>
          <p:nvPr/>
        </p:nvSpPr>
        <p:spPr>
          <a:xfrm>
            <a:off x="219456" y="3681984"/>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31" name="Text 25"/>
          <p:cNvSpPr/>
          <p:nvPr/>
        </p:nvSpPr>
        <p:spPr>
          <a:xfrm>
            <a:off x="341376" y="3730752"/>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Speed to Deploy</a:t>
            </a:r>
            <a:endParaRPr lang="en-US" sz="1267">
              <a:latin typeface="Raleway" pitchFamily="2" charset="0"/>
            </a:endParaRPr>
          </a:p>
        </p:txBody>
      </p:sp>
      <p:sp>
        <p:nvSpPr>
          <p:cNvPr id="32" name="Text 26"/>
          <p:cNvSpPr/>
          <p:nvPr/>
        </p:nvSpPr>
        <p:spPr>
          <a:xfrm>
            <a:off x="2901696" y="3730752"/>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Weeks to months</a:t>
            </a:r>
            <a:endParaRPr lang="en-US" sz="1267">
              <a:latin typeface="Raleway" pitchFamily="2" charset="0"/>
            </a:endParaRPr>
          </a:p>
        </p:txBody>
      </p:sp>
      <p:pic>
        <p:nvPicPr>
          <p:cNvPr id="33" name="Image 4" descr="preencoded.png"/>
          <p:cNvPicPr>
            <a:picLocks noChangeAspect="1"/>
          </p:cNvPicPr>
          <p:nvPr/>
        </p:nvPicPr>
        <p:blipFill>
          <a:blip r:embed="rId7"/>
          <a:stretch>
            <a:fillRect/>
          </a:stretch>
        </p:blipFill>
        <p:spPr>
          <a:xfrm>
            <a:off x="6900672" y="3791712"/>
            <a:ext cx="219456" cy="219456"/>
          </a:xfrm>
          <a:prstGeom prst="rect">
            <a:avLst/>
          </a:prstGeom>
        </p:spPr>
      </p:pic>
      <p:sp>
        <p:nvSpPr>
          <p:cNvPr id="34" name="Text 27"/>
          <p:cNvSpPr/>
          <p:nvPr/>
        </p:nvSpPr>
        <p:spPr>
          <a:xfrm>
            <a:off x="7193280" y="3730752"/>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1 engineer onboarded per hour</a:t>
            </a:r>
            <a:endParaRPr lang="en-US" sz="1267">
              <a:latin typeface="Raleway" pitchFamily="2" charset="0"/>
            </a:endParaRPr>
          </a:p>
        </p:txBody>
      </p:sp>
      <p:sp>
        <p:nvSpPr>
          <p:cNvPr id="35" name="Shape 28"/>
          <p:cNvSpPr/>
          <p:nvPr/>
        </p:nvSpPr>
        <p:spPr>
          <a:xfrm>
            <a:off x="219456" y="4114800"/>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36" name="Text 29"/>
          <p:cNvSpPr/>
          <p:nvPr/>
        </p:nvSpPr>
        <p:spPr>
          <a:xfrm>
            <a:off x="341376" y="4163568"/>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Team Composition</a:t>
            </a:r>
            <a:endParaRPr lang="en-US" sz="1267">
              <a:latin typeface="Raleway" pitchFamily="2" charset="0"/>
            </a:endParaRPr>
          </a:p>
        </p:txBody>
      </p:sp>
      <p:sp>
        <p:nvSpPr>
          <p:cNvPr id="37" name="Text 30"/>
          <p:cNvSpPr/>
          <p:nvPr/>
        </p:nvSpPr>
        <p:spPr>
          <a:xfrm>
            <a:off x="2901696" y="4163568"/>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Single-role profile deployments</a:t>
            </a:r>
            <a:endParaRPr lang="en-US" sz="1267">
              <a:latin typeface="Raleway" pitchFamily="2" charset="0"/>
            </a:endParaRPr>
          </a:p>
        </p:txBody>
      </p:sp>
      <p:pic>
        <p:nvPicPr>
          <p:cNvPr id="38" name="Image 5" descr="preencoded.png"/>
          <p:cNvPicPr>
            <a:picLocks noChangeAspect="1"/>
          </p:cNvPicPr>
          <p:nvPr/>
        </p:nvPicPr>
        <p:blipFill>
          <a:blip r:embed="rId7"/>
          <a:stretch>
            <a:fillRect/>
          </a:stretch>
        </p:blipFill>
        <p:spPr>
          <a:xfrm>
            <a:off x="6900672" y="4224528"/>
            <a:ext cx="219456" cy="219456"/>
          </a:xfrm>
          <a:prstGeom prst="rect">
            <a:avLst/>
          </a:prstGeom>
        </p:spPr>
      </p:pic>
      <p:sp>
        <p:nvSpPr>
          <p:cNvPr id="39" name="Text 31"/>
          <p:cNvSpPr/>
          <p:nvPr/>
        </p:nvSpPr>
        <p:spPr>
          <a:xfrm>
            <a:off x="7193280" y="4163568"/>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Human + AI blended capability stacks</a:t>
            </a:r>
            <a:endParaRPr lang="en-US" sz="1267">
              <a:latin typeface="Raleway" pitchFamily="2" charset="0"/>
            </a:endParaRPr>
          </a:p>
        </p:txBody>
      </p:sp>
      <p:sp>
        <p:nvSpPr>
          <p:cNvPr id="40" name="Shape 32"/>
          <p:cNvSpPr/>
          <p:nvPr/>
        </p:nvSpPr>
        <p:spPr>
          <a:xfrm>
            <a:off x="219456" y="4547616"/>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41" name="Text 33"/>
          <p:cNvSpPr/>
          <p:nvPr/>
        </p:nvSpPr>
        <p:spPr>
          <a:xfrm>
            <a:off x="341376" y="4596384"/>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Governance</a:t>
            </a:r>
            <a:endParaRPr lang="en-US" sz="1267">
              <a:latin typeface="Raleway" pitchFamily="2" charset="0"/>
            </a:endParaRPr>
          </a:p>
        </p:txBody>
      </p:sp>
      <p:sp>
        <p:nvSpPr>
          <p:cNvPr id="42" name="Text 34"/>
          <p:cNvSpPr/>
          <p:nvPr/>
        </p:nvSpPr>
        <p:spPr>
          <a:xfrm>
            <a:off x="2901696" y="4596384"/>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Client's burden</a:t>
            </a:r>
            <a:endParaRPr lang="en-US" sz="1267">
              <a:latin typeface="Raleway" pitchFamily="2" charset="0"/>
            </a:endParaRPr>
          </a:p>
        </p:txBody>
      </p:sp>
      <p:pic>
        <p:nvPicPr>
          <p:cNvPr id="43" name="Image 6" descr="preencoded.png"/>
          <p:cNvPicPr>
            <a:picLocks noChangeAspect="1"/>
          </p:cNvPicPr>
          <p:nvPr/>
        </p:nvPicPr>
        <p:blipFill>
          <a:blip r:embed="rId7"/>
          <a:stretch>
            <a:fillRect/>
          </a:stretch>
        </p:blipFill>
        <p:spPr>
          <a:xfrm>
            <a:off x="6900672" y="4657344"/>
            <a:ext cx="219456" cy="219456"/>
          </a:xfrm>
          <a:prstGeom prst="rect">
            <a:avLst/>
          </a:prstGeom>
        </p:spPr>
      </p:pic>
      <p:sp>
        <p:nvSpPr>
          <p:cNvPr id="44" name="Text 35"/>
          <p:cNvSpPr/>
          <p:nvPr/>
        </p:nvSpPr>
        <p:spPr>
          <a:xfrm>
            <a:off x="7193280" y="4596384"/>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J2W-owned - HRBP implant at every site</a:t>
            </a:r>
            <a:endParaRPr lang="en-US" sz="1267">
              <a:latin typeface="Raleway" pitchFamily="2" charset="0"/>
            </a:endParaRPr>
          </a:p>
        </p:txBody>
      </p:sp>
      <p:sp>
        <p:nvSpPr>
          <p:cNvPr id="45" name="Shape 36"/>
          <p:cNvSpPr/>
          <p:nvPr/>
        </p:nvSpPr>
        <p:spPr>
          <a:xfrm>
            <a:off x="219456" y="4980432"/>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46" name="Text 37"/>
          <p:cNvSpPr/>
          <p:nvPr/>
        </p:nvSpPr>
        <p:spPr>
          <a:xfrm>
            <a:off x="341376" y="5029200"/>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Performance Issues</a:t>
            </a:r>
            <a:endParaRPr lang="en-US" sz="1267">
              <a:latin typeface="Raleway" pitchFamily="2" charset="0"/>
            </a:endParaRPr>
          </a:p>
        </p:txBody>
      </p:sp>
      <p:sp>
        <p:nvSpPr>
          <p:cNvPr id="47" name="Text 38"/>
          <p:cNvSpPr/>
          <p:nvPr/>
        </p:nvSpPr>
        <p:spPr>
          <a:xfrm>
            <a:off x="2901696" y="5029200"/>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Escalation after the fact</a:t>
            </a:r>
            <a:endParaRPr lang="en-US" sz="1267">
              <a:latin typeface="Raleway" pitchFamily="2" charset="0"/>
            </a:endParaRPr>
          </a:p>
        </p:txBody>
      </p:sp>
      <p:pic>
        <p:nvPicPr>
          <p:cNvPr id="48" name="Image 7" descr="preencoded.png"/>
          <p:cNvPicPr>
            <a:picLocks noChangeAspect="1"/>
          </p:cNvPicPr>
          <p:nvPr/>
        </p:nvPicPr>
        <p:blipFill>
          <a:blip r:embed="rId7"/>
          <a:stretch>
            <a:fillRect/>
          </a:stretch>
        </p:blipFill>
        <p:spPr>
          <a:xfrm>
            <a:off x="6900672" y="5090160"/>
            <a:ext cx="219456" cy="219456"/>
          </a:xfrm>
          <a:prstGeom prst="rect">
            <a:avLst/>
          </a:prstGeom>
        </p:spPr>
      </p:pic>
      <p:sp>
        <p:nvSpPr>
          <p:cNvPr id="49" name="Text 39"/>
          <p:cNvSpPr/>
          <p:nvPr/>
        </p:nvSpPr>
        <p:spPr>
          <a:xfrm>
            <a:off x="7193280" y="5029200"/>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Proactive monitoring &amp; intervention</a:t>
            </a:r>
            <a:endParaRPr lang="en-US" sz="1267">
              <a:latin typeface="Raleway" pitchFamily="2" charset="0"/>
            </a:endParaRPr>
          </a:p>
        </p:txBody>
      </p:sp>
      <p:sp>
        <p:nvSpPr>
          <p:cNvPr id="50" name="Shape 40"/>
          <p:cNvSpPr/>
          <p:nvPr/>
        </p:nvSpPr>
        <p:spPr>
          <a:xfrm>
            <a:off x="219456" y="5413248"/>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51" name="Text 41"/>
          <p:cNvSpPr/>
          <p:nvPr/>
        </p:nvSpPr>
        <p:spPr>
          <a:xfrm>
            <a:off x="341376" y="5462016"/>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Knowledge Retention</a:t>
            </a:r>
            <a:endParaRPr lang="en-US" sz="1267">
              <a:latin typeface="Raleway" pitchFamily="2" charset="0"/>
            </a:endParaRPr>
          </a:p>
        </p:txBody>
      </p:sp>
      <p:sp>
        <p:nvSpPr>
          <p:cNvPr id="52" name="Text 42"/>
          <p:cNvSpPr/>
          <p:nvPr/>
        </p:nvSpPr>
        <p:spPr>
          <a:xfrm>
            <a:off x="2901696" y="5462016"/>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Lost with attrition</a:t>
            </a:r>
            <a:endParaRPr lang="en-US" sz="1267">
              <a:latin typeface="Raleway" pitchFamily="2" charset="0"/>
            </a:endParaRPr>
          </a:p>
        </p:txBody>
      </p:sp>
      <p:pic>
        <p:nvPicPr>
          <p:cNvPr id="53" name="Image 8" descr="preencoded.png"/>
          <p:cNvPicPr>
            <a:picLocks noChangeAspect="1"/>
          </p:cNvPicPr>
          <p:nvPr/>
        </p:nvPicPr>
        <p:blipFill>
          <a:blip r:embed="rId7"/>
          <a:stretch>
            <a:fillRect/>
          </a:stretch>
        </p:blipFill>
        <p:spPr>
          <a:xfrm>
            <a:off x="6900672" y="5522976"/>
            <a:ext cx="219456" cy="219456"/>
          </a:xfrm>
          <a:prstGeom prst="rect">
            <a:avLst/>
          </a:prstGeom>
        </p:spPr>
      </p:pic>
      <p:sp>
        <p:nvSpPr>
          <p:cNvPr id="54" name="Text 43"/>
          <p:cNvSpPr/>
          <p:nvPr/>
        </p:nvSpPr>
        <p:spPr>
          <a:xfrm>
            <a:off x="7193280" y="5462016"/>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Captured in J2W Knowledge Repository</a:t>
            </a:r>
            <a:endParaRPr lang="en-US" sz="1267">
              <a:latin typeface="Raleway" pitchFamily="2" charset="0"/>
            </a:endParaRPr>
          </a:p>
        </p:txBody>
      </p:sp>
      <p:sp>
        <p:nvSpPr>
          <p:cNvPr id="55" name="Shape 44"/>
          <p:cNvSpPr/>
          <p:nvPr/>
        </p:nvSpPr>
        <p:spPr>
          <a:xfrm>
            <a:off x="219456" y="5846064"/>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56" name="Text 45"/>
          <p:cNvSpPr/>
          <p:nvPr/>
        </p:nvSpPr>
        <p:spPr>
          <a:xfrm>
            <a:off x="341376" y="5894832"/>
            <a:ext cx="2377440" cy="335280"/>
          </a:xfrm>
          <a:prstGeom prst="rect">
            <a:avLst/>
          </a:prstGeom>
          <a:noFill/>
          <a:ln/>
        </p:spPr>
        <p:txBody>
          <a:bodyPr wrap="square" lIns="0" tIns="0" rIns="0" bIns="0" rtlCol="0" anchor="ctr"/>
          <a:lstStyle/>
          <a:p>
            <a:r>
              <a:rPr lang="en-US" sz="1267" b="1">
                <a:solidFill>
                  <a:srgbClr val="1A1A2E"/>
                </a:solidFill>
                <a:latin typeface="Calibri" pitchFamily="34" charset="0"/>
                <a:ea typeface="Calibri" pitchFamily="34" charset="-122"/>
                <a:cs typeface="Calibri" pitchFamily="34" charset="-120"/>
              </a:rPr>
              <a:t>AI Readiness</a:t>
            </a:r>
            <a:endParaRPr lang="en-US" sz="1267"/>
          </a:p>
        </p:txBody>
      </p:sp>
      <p:sp>
        <p:nvSpPr>
          <p:cNvPr id="57" name="Text 46"/>
          <p:cNvSpPr/>
          <p:nvPr/>
        </p:nvSpPr>
        <p:spPr>
          <a:xfrm>
            <a:off x="2901696" y="5894832"/>
            <a:ext cx="3840480" cy="335280"/>
          </a:xfrm>
          <a:prstGeom prst="rect">
            <a:avLst/>
          </a:prstGeom>
          <a:noFill/>
          <a:ln/>
        </p:spPr>
        <p:txBody>
          <a:bodyPr wrap="square" lIns="0" tIns="0" rIns="0" bIns="0" rtlCol="0" anchor="ctr"/>
          <a:lstStyle/>
          <a:p>
            <a:r>
              <a:rPr lang="en-US" sz="1267">
                <a:solidFill>
                  <a:srgbClr val="888888"/>
                </a:solidFill>
                <a:latin typeface="Calibri" pitchFamily="34" charset="0"/>
                <a:ea typeface="Calibri" pitchFamily="34" charset="-122"/>
                <a:cs typeface="Calibri" pitchFamily="34" charset="-120"/>
              </a:rPr>
              <a:t>Ad hoc</a:t>
            </a:r>
            <a:endParaRPr lang="en-US" sz="1267"/>
          </a:p>
        </p:txBody>
      </p:sp>
      <p:pic>
        <p:nvPicPr>
          <p:cNvPr id="58" name="Image 9" descr="preencoded.png"/>
          <p:cNvPicPr>
            <a:picLocks noChangeAspect="1"/>
          </p:cNvPicPr>
          <p:nvPr/>
        </p:nvPicPr>
        <p:blipFill>
          <a:blip r:embed="rId7"/>
          <a:stretch>
            <a:fillRect/>
          </a:stretch>
        </p:blipFill>
        <p:spPr>
          <a:xfrm>
            <a:off x="6900672" y="5955792"/>
            <a:ext cx="219456" cy="219456"/>
          </a:xfrm>
          <a:prstGeom prst="rect">
            <a:avLst/>
          </a:prstGeom>
        </p:spPr>
      </p:pic>
      <p:sp>
        <p:nvSpPr>
          <p:cNvPr id="59" name="Text 47"/>
          <p:cNvSpPr/>
          <p:nvPr/>
        </p:nvSpPr>
        <p:spPr>
          <a:xfrm>
            <a:off x="7193280" y="5894832"/>
            <a:ext cx="4437888" cy="335280"/>
          </a:xfrm>
          <a:prstGeom prst="rect">
            <a:avLst/>
          </a:prstGeom>
          <a:noFill/>
          <a:ln/>
        </p:spPr>
        <p:txBody>
          <a:bodyPr wrap="square" lIns="0" tIns="0" rIns="0" bIns="0" rtlCol="0" anchor="ctr"/>
          <a:lstStyle/>
          <a:p>
            <a:r>
              <a:rPr lang="en-US" sz="1267" b="1">
                <a:solidFill>
                  <a:srgbClr val="C0392B"/>
                </a:solidFill>
                <a:latin typeface="Raleway" pitchFamily="2" charset="0"/>
                <a:ea typeface="Calibri" pitchFamily="34" charset="-122"/>
                <a:cs typeface="Calibri" pitchFamily="34" charset="-120"/>
              </a:rPr>
              <a:t>Embedded from Day 1</a:t>
            </a:r>
            <a:endParaRPr lang="en-US" sz="1267">
              <a:latin typeface="Raleway" pitchFamily="2" charset="0"/>
            </a:endParaRPr>
          </a:p>
        </p:txBody>
      </p:sp>
      <p:sp>
        <p:nvSpPr>
          <p:cNvPr id="60" name="Shape 48"/>
          <p:cNvSpPr/>
          <p:nvPr/>
        </p:nvSpPr>
        <p:spPr>
          <a:xfrm>
            <a:off x="0" y="6352032"/>
            <a:ext cx="12192000" cy="505968"/>
          </a:xfrm>
          <a:prstGeom prst="rect">
            <a:avLst/>
          </a:prstGeom>
          <a:solidFill>
            <a:srgbClr val="0D9488"/>
          </a:solidFill>
          <a:ln w="12700">
            <a:solidFill>
              <a:srgbClr val="0D9488"/>
            </a:solidFill>
            <a:prstDash val="solid"/>
          </a:ln>
        </p:spPr>
        <p:txBody>
          <a:bodyPr/>
          <a:lstStyle/>
          <a:p>
            <a:endParaRPr lang="en-US" sz="2400"/>
          </a:p>
        </p:txBody>
      </p:sp>
      <p:sp>
        <p:nvSpPr>
          <p:cNvPr id="61" name="Text 49"/>
          <p:cNvSpPr/>
          <p:nvPr/>
        </p:nvSpPr>
        <p:spPr>
          <a:xfrm>
            <a:off x="609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5,500+</a:t>
            </a:r>
            <a:endParaRPr lang="en-US" sz="1600"/>
          </a:p>
        </p:txBody>
      </p:sp>
      <p:sp>
        <p:nvSpPr>
          <p:cNvPr id="62" name="Text 50"/>
          <p:cNvSpPr/>
          <p:nvPr/>
        </p:nvSpPr>
        <p:spPr>
          <a:xfrm>
            <a:off x="609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Active Consultants</a:t>
            </a:r>
            <a:endParaRPr lang="en-US" sz="1000"/>
          </a:p>
        </p:txBody>
      </p:sp>
      <p:sp>
        <p:nvSpPr>
          <p:cNvPr id="63" name="Shape 51"/>
          <p:cNvSpPr/>
          <p:nvPr/>
        </p:nvSpPr>
        <p:spPr>
          <a:xfrm>
            <a:off x="2438400" y="6400800"/>
            <a:ext cx="0" cy="402336"/>
          </a:xfrm>
          <a:prstGeom prst="line">
            <a:avLst/>
          </a:prstGeom>
          <a:noFill/>
          <a:ln w="6350">
            <a:solidFill>
              <a:srgbClr val="FFFFFF">
                <a:alpha val="45000"/>
              </a:srgbClr>
            </a:solidFill>
            <a:prstDash val="solid"/>
          </a:ln>
        </p:spPr>
        <p:txBody>
          <a:bodyPr/>
          <a:lstStyle/>
          <a:p>
            <a:endParaRPr lang="en-US" sz="2400"/>
          </a:p>
        </p:txBody>
      </p:sp>
      <p:sp>
        <p:nvSpPr>
          <p:cNvPr id="64" name="Text 52"/>
          <p:cNvSpPr/>
          <p:nvPr/>
        </p:nvSpPr>
        <p:spPr>
          <a:xfrm>
            <a:off x="24993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1,250+</a:t>
            </a:r>
            <a:endParaRPr lang="en-US" sz="1600"/>
          </a:p>
        </p:txBody>
      </p:sp>
      <p:sp>
        <p:nvSpPr>
          <p:cNvPr id="65" name="Text 53"/>
          <p:cNvSpPr/>
          <p:nvPr/>
        </p:nvSpPr>
        <p:spPr>
          <a:xfrm>
            <a:off x="24993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Skills Covered</a:t>
            </a:r>
            <a:endParaRPr lang="en-US" sz="1000"/>
          </a:p>
        </p:txBody>
      </p:sp>
      <p:sp>
        <p:nvSpPr>
          <p:cNvPr id="66" name="Shape 54"/>
          <p:cNvSpPr/>
          <p:nvPr/>
        </p:nvSpPr>
        <p:spPr>
          <a:xfrm>
            <a:off x="4876800" y="6400800"/>
            <a:ext cx="0" cy="402336"/>
          </a:xfrm>
          <a:prstGeom prst="line">
            <a:avLst/>
          </a:prstGeom>
          <a:noFill/>
          <a:ln w="6350">
            <a:solidFill>
              <a:srgbClr val="FFFFFF">
                <a:alpha val="45000"/>
              </a:srgbClr>
            </a:solidFill>
            <a:prstDash val="solid"/>
          </a:ln>
        </p:spPr>
        <p:txBody>
          <a:bodyPr/>
          <a:lstStyle/>
          <a:p>
            <a:endParaRPr lang="en-US" sz="2400"/>
          </a:p>
        </p:txBody>
      </p:sp>
      <p:sp>
        <p:nvSpPr>
          <p:cNvPr id="67" name="Text 55"/>
          <p:cNvSpPr/>
          <p:nvPr/>
        </p:nvSpPr>
        <p:spPr>
          <a:xfrm>
            <a:off x="49377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320+</a:t>
            </a:r>
            <a:endParaRPr lang="en-US" sz="1600"/>
          </a:p>
        </p:txBody>
      </p:sp>
      <p:sp>
        <p:nvSpPr>
          <p:cNvPr id="68" name="Text 56"/>
          <p:cNvSpPr/>
          <p:nvPr/>
        </p:nvSpPr>
        <p:spPr>
          <a:xfrm>
            <a:off x="49377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Enterprise Clients</a:t>
            </a:r>
            <a:endParaRPr lang="en-US" sz="1000"/>
          </a:p>
        </p:txBody>
      </p:sp>
      <p:sp>
        <p:nvSpPr>
          <p:cNvPr id="69" name="Shape 57"/>
          <p:cNvSpPr/>
          <p:nvPr/>
        </p:nvSpPr>
        <p:spPr>
          <a:xfrm>
            <a:off x="7315200" y="6400800"/>
            <a:ext cx="0" cy="402336"/>
          </a:xfrm>
          <a:prstGeom prst="line">
            <a:avLst/>
          </a:prstGeom>
          <a:noFill/>
          <a:ln w="6350">
            <a:solidFill>
              <a:srgbClr val="FFFFFF">
                <a:alpha val="45000"/>
              </a:srgbClr>
            </a:solidFill>
            <a:prstDash val="solid"/>
          </a:ln>
        </p:spPr>
        <p:txBody>
          <a:bodyPr/>
          <a:lstStyle/>
          <a:p>
            <a:endParaRPr lang="en-US" sz="2400"/>
          </a:p>
        </p:txBody>
      </p:sp>
      <p:sp>
        <p:nvSpPr>
          <p:cNvPr id="70" name="Text 58"/>
          <p:cNvSpPr/>
          <p:nvPr/>
        </p:nvSpPr>
        <p:spPr>
          <a:xfrm>
            <a:off x="73761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0%</a:t>
            </a:r>
            <a:endParaRPr lang="en-US" sz="1600"/>
          </a:p>
        </p:txBody>
      </p:sp>
      <p:sp>
        <p:nvSpPr>
          <p:cNvPr id="71" name="Text 59"/>
          <p:cNvSpPr/>
          <p:nvPr/>
        </p:nvSpPr>
        <p:spPr>
          <a:xfrm>
            <a:off x="73761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Attrition (6-Mo Pilot)</a:t>
            </a:r>
            <a:endParaRPr lang="en-US" sz="1000"/>
          </a:p>
        </p:txBody>
      </p:sp>
      <p:sp>
        <p:nvSpPr>
          <p:cNvPr id="72" name="Shape 60"/>
          <p:cNvSpPr/>
          <p:nvPr/>
        </p:nvSpPr>
        <p:spPr>
          <a:xfrm>
            <a:off x="9753600" y="6400800"/>
            <a:ext cx="0" cy="402336"/>
          </a:xfrm>
          <a:prstGeom prst="line">
            <a:avLst/>
          </a:prstGeom>
          <a:noFill/>
          <a:ln w="6350">
            <a:solidFill>
              <a:srgbClr val="FFFFFF">
                <a:alpha val="45000"/>
              </a:srgbClr>
            </a:solidFill>
            <a:prstDash val="solid"/>
          </a:ln>
        </p:spPr>
        <p:txBody>
          <a:bodyPr/>
          <a:lstStyle/>
          <a:p>
            <a:endParaRPr lang="en-US" sz="2400"/>
          </a:p>
        </p:txBody>
      </p:sp>
      <p:sp>
        <p:nvSpPr>
          <p:cNvPr id="73" name="Text 61"/>
          <p:cNvSpPr/>
          <p:nvPr/>
        </p:nvSpPr>
        <p:spPr>
          <a:xfrm>
            <a:off x="98145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1/hr</a:t>
            </a:r>
            <a:endParaRPr lang="en-US" sz="1600"/>
          </a:p>
        </p:txBody>
      </p:sp>
      <p:sp>
        <p:nvSpPr>
          <p:cNvPr id="74" name="Text 62"/>
          <p:cNvSpPr/>
          <p:nvPr/>
        </p:nvSpPr>
        <p:spPr>
          <a:xfrm>
            <a:off x="98145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Engineers Onboarded</a:t>
            </a:r>
            <a:endParaRPr lang="en-US" sz="1000"/>
          </a:p>
        </p:txBody>
      </p:sp>
      <p:pic>
        <p:nvPicPr>
          <p:cNvPr id="75" name="Image 0" descr="preencoded.png">
            <a:extLst>
              <a:ext uri="{FF2B5EF4-FFF2-40B4-BE49-F238E27FC236}">
                <a16:creationId xmlns:a16="http://schemas.microsoft.com/office/drawing/2014/main" id="{FAFFF64B-DC76-00D4-DDA1-C18459247824}"/>
              </a:ext>
            </a:extLst>
          </p:cNvPr>
          <p:cNvPicPr>
            <a:picLocks noChangeAspect="1"/>
          </p:cNvPicPr>
          <p:nvPr/>
        </p:nvPicPr>
        <p:blipFill>
          <a:blip r:embed="rId8"/>
          <a:srcRect l="-207" r="-207"/>
          <a:stretch/>
        </p:blipFill>
        <p:spPr>
          <a:xfrm>
            <a:off x="0" y="0"/>
            <a:ext cx="4058107" cy="75895"/>
          </a:xfrm>
          <a:prstGeom prst="rect">
            <a:avLst/>
          </a:prstGeom>
        </p:spPr>
      </p:pic>
      <p:pic>
        <p:nvPicPr>
          <p:cNvPr id="76" name="Image 1" descr="preencoded.png">
            <a:extLst>
              <a:ext uri="{FF2B5EF4-FFF2-40B4-BE49-F238E27FC236}">
                <a16:creationId xmlns:a16="http://schemas.microsoft.com/office/drawing/2014/main" id="{F02F145E-4174-DB5B-12FC-B946B2BEFC21}"/>
              </a:ext>
            </a:extLst>
          </p:cNvPr>
          <p:cNvPicPr>
            <a:picLocks noChangeAspect="1"/>
          </p:cNvPicPr>
          <p:nvPr/>
        </p:nvPicPr>
        <p:blipFill>
          <a:blip r:embed="rId9"/>
          <a:srcRect l="-202" r="-202"/>
          <a:stretch/>
        </p:blipFill>
        <p:spPr>
          <a:xfrm>
            <a:off x="4058107" y="0"/>
            <a:ext cx="8134502" cy="75895"/>
          </a:xfrm>
          <a:prstGeom prst="rect">
            <a:avLst/>
          </a:prstGeom>
        </p:spPr>
      </p:pic>
      <p:sp>
        <p:nvSpPr>
          <p:cNvPr id="77" name="Shape 2">
            <a:extLst>
              <a:ext uri="{FF2B5EF4-FFF2-40B4-BE49-F238E27FC236}">
                <a16:creationId xmlns:a16="http://schemas.microsoft.com/office/drawing/2014/main" id="{C1C503D5-DE04-F879-CDE8-91C26E3173B8}"/>
              </a:ext>
            </a:extLst>
          </p:cNvPr>
          <p:cNvSpPr/>
          <p:nvPr/>
        </p:nvSpPr>
        <p:spPr>
          <a:xfrm>
            <a:off x="-1380897" y="-1256081"/>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8" name="Image 4" descr="preencoded.png">
            <a:extLst>
              <a:ext uri="{FF2B5EF4-FFF2-40B4-BE49-F238E27FC236}">
                <a16:creationId xmlns:a16="http://schemas.microsoft.com/office/drawing/2014/main" id="{3FB3B60C-A4FF-CE53-9131-90677B3706CF}"/>
              </a:ext>
            </a:extLst>
          </p:cNvPr>
          <p:cNvPicPr>
            <a:picLocks noChangeAspect="1"/>
          </p:cNvPicPr>
          <p:nvPr/>
        </p:nvPicPr>
        <p:blipFill>
          <a:blip r:embed="rId10"/>
          <a:srcRect l="-400" r="-400"/>
          <a:stretch/>
        </p:blipFill>
        <p:spPr>
          <a:xfrm>
            <a:off x="609905" y="457200"/>
            <a:ext cx="57607" cy="457200"/>
          </a:xfrm>
          <a:prstGeom prst="rect">
            <a:avLst/>
          </a:prstGeom>
        </p:spPr>
      </p:pic>
      <p:sp>
        <p:nvSpPr>
          <p:cNvPr id="79" name="Text 11">
            <a:extLst>
              <a:ext uri="{FF2B5EF4-FFF2-40B4-BE49-F238E27FC236}">
                <a16:creationId xmlns:a16="http://schemas.microsoft.com/office/drawing/2014/main" id="{65F3FFE0-7460-C049-BC83-7BC32616A4C0}"/>
              </a:ext>
            </a:extLst>
          </p:cNvPr>
          <p:cNvSpPr txBox="1"/>
          <p:nvPr/>
        </p:nvSpPr>
        <p:spPr>
          <a:xfrm>
            <a:off x="819302" y="228600"/>
            <a:ext cx="9715500" cy="428854"/>
          </a:xfrm>
          <a:prstGeom prst="rect">
            <a:avLst/>
          </a:prstGeom>
          <a:noFill/>
          <a:ln/>
        </p:spPr>
        <p:txBody>
          <a:bodyPr wrap="square" lIns="0" tIns="0" rIns="0" bIns="0" rtlCol="0" anchor="ctr"/>
          <a:lstStyle/>
          <a:p>
            <a:r>
              <a:rPr lang="en-US" sz="3200" b="1">
                <a:solidFill>
                  <a:srgbClr val="1A1A2E"/>
                </a:solidFill>
                <a:latin typeface="Oswald" panose="00000500000000000000" pitchFamily="2" charset="0"/>
                <a:ea typeface="Calibri" pitchFamily="34" charset="-122"/>
                <a:cs typeface="Calibri" pitchFamily="34" charset="-120"/>
              </a:rPr>
              <a:t>Workforce &amp; Talent Solutions</a:t>
            </a:r>
            <a:endParaRPr lang="en-US" sz="3200">
              <a:latin typeface="Oswald" panose="00000500000000000000" pitchFamily="2" charset="0"/>
            </a:endParaRPr>
          </a:p>
        </p:txBody>
      </p:sp>
      <p:sp>
        <p:nvSpPr>
          <p:cNvPr id="80" name="Text 12">
            <a:extLst>
              <a:ext uri="{FF2B5EF4-FFF2-40B4-BE49-F238E27FC236}">
                <a16:creationId xmlns:a16="http://schemas.microsoft.com/office/drawing/2014/main" id="{830CE162-47E2-FB62-8B99-806E90C454F1}"/>
              </a:ext>
            </a:extLst>
          </p:cNvPr>
          <p:cNvSpPr txBox="1"/>
          <p:nvPr/>
        </p:nvSpPr>
        <p:spPr>
          <a:xfrm>
            <a:off x="819302" y="758952"/>
            <a:ext cx="9639605" cy="200254"/>
          </a:xfrm>
          <a:prstGeom prst="rect">
            <a:avLst/>
          </a:prstGeom>
          <a:noFill/>
          <a:ln/>
        </p:spPr>
        <p:txBody>
          <a:bodyPr wrap="square" lIns="0" tIns="0" rIns="0" bIns="0" rtlCol="0" anchor="ctr"/>
          <a:lstStyle/>
          <a:p>
            <a:pPr marL="0" indent="0" algn="l">
              <a:buNone/>
            </a:pPr>
            <a:r>
              <a:rPr lang="en-US" sz="1300" b="1" kern="0" spc="68">
                <a:solidFill>
                  <a:srgbClr val="2A9D8F"/>
                </a:solidFill>
                <a:latin typeface="Roboto Condensed" pitchFamily="34" charset="0"/>
                <a:ea typeface="Roboto Condensed" pitchFamily="34" charset="-122"/>
                <a:cs typeface="Roboto Condensed" pitchFamily="34" charset="-120"/>
              </a:rPr>
              <a:t>A MANAGED, AI-DRIVEN WORKFORCE UNIT - NOT JUST STAFFING WITH A WRAPPER.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858707"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6000"/>
          </a:blip>
          <a:srcRect/>
          <a:stretch/>
        </p:blipFill>
        <p:spPr>
          <a:xfrm>
            <a:off x="-761695" y="4762195"/>
            <a:ext cx="2857500" cy="2857500"/>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b359e3fa59182a7dfb1cf9bffd3421a2.png"/>
          <p:cNvPicPr>
            <a:picLocks noChangeAspect="1"/>
          </p:cNvPicPr>
          <p:nvPr/>
        </p:nvPicPr>
        <p:blipFill>
          <a:blip r:embed="rId6"/>
          <a:srcRect l="-375" r="-375"/>
          <a:stretch/>
        </p:blipFill>
        <p:spPr>
          <a:xfrm>
            <a:off x="609905" y="457200"/>
            <a:ext cx="57607" cy="609905"/>
          </a:xfrm>
          <a:prstGeom prst="rect">
            <a:avLst/>
          </a:prstGeom>
        </p:spPr>
      </p:pic>
      <p:sp>
        <p:nvSpPr>
          <p:cNvPr id="9" name="Shape 3"/>
          <p:cNvSpPr/>
          <p:nvPr/>
        </p:nvSpPr>
        <p:spPr>
          <a:xfrm>
            <a:off x="609905"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476902"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4476902" y="1714500"/>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343900"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8"/>
          <p:cNvSpPr/>
          <p:nvPr/>
        </p:nvSpPr>
        <p:spPr>
          <a:xfrm>
            <a:off x="8343900"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0"/>
          <p:cNvSpPr/>
          <p:nvPr/>
        </p:nvSpPr>
        <p:spPr>
          <a:xfrm>
            <a:off x="609905"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4476902"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8" name="Shape 12"/>
          <p:cNvSpPr/>
          <p:nvPr/>
        </p:nvSpPr>
        <p:spPr>
          <a:xfrm>
            <a:off x="4476902" y="4190695"/>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8343900"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8343900"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23" name="Text 17"/>
          <p:cNvSpPr txBox="1"/>
          <p:nvPr/>
        </p:nvSpPr>
        <p:spPr>
          <a:xfrm>
            <a:off x="760780" y="577088"/>
            <a:ext cx="8438998" cy="409651"/>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WORKFORCE SOLUTIONS - HOW WE DELIVER</a:t>
            </a:r>
          </a:p>
        </p:txBody>
      </p:sp>
      <p:sp>
        <p:nvSpPr>
          <p:cNvPr id="24" name="Text 18"/>
          <p:cNvSpPr txBox="1"/>
          <p:nvPr/>
        </p:nvSpPr>
        <p:spPr>
          <a:xfrm>
            <a:off x="819302" y="822960"/>
            <a:ext cx="8097012"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From sourcing to sprint governance - a structured operating model, not a staffing drop.</a:t>
            </a:r>
          </a:p>
        </p:txBody>
      </p:sp>
      <p:sp>
        <p:nvSpPr>
          <p:cNvPr id="25" name="Text 19"/>
          <p:cNvSpPr txBox="1"/>
          <p:nvPr/>
        </p:nvSpPr>
        <p:spPr>
          <a:xfrm>
            <a:off x="819302" y="1079906"/>
            <a:ext cx="8097012" cy="152705"/>
          </a:xfrm>
          <a:prstGeom prst="rect">
            <a:avLst/>
          </a:prstGeom>
          <a:noFill/>
          <a:ln/>
        </p:spPr>
        <p:txBody>
          <a:bodyPr wrap="none" lIns="0" tIns="0" rIns="0" bIns="0" rtlCol="0" anchor="ctr"/>
          <a:lstStyle/>
          <a:p>
            <a:pPr marL="0" indent="0" algn="l">
              <a:buNone/>
            </a:pPr>
            <a:endParaRPr lang="en-US" sz="1000"/>
          </a:p>
        </p:txBody>
      </p:sp>
      <p:sp>
        <p:nvSpPr>
          <p:cNvPr id="26" name="Text 20"/>
          <p:cNvSpPr txBox="1"/>
          <p:nvPr/>
        </p:nvSpPr>
        <p:spPr>
          <a:xfrm>
            <a:off x="838505" y="1981505"/>
            <a:ext cx="34015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01</a:t>
            </a:r>
            <a:endParaRPr lang="en-US" sz="2400"/>
          </a:p>
        </p:txBody>
      </p:sp>
      <p:sp>
        <p:nvSpPr>
          <p:cNvPr id="27" name="Text 21"/>
          <p:cNvSpPr txBox="1"/>
          <p:nvPr/>
        </p:nvSpPr>
        <p:spPr>
          <a:xfrm>
            <a:off x="1237183" y="1995424"/>
            <a:ext cx="1417320"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Scope &amp; Source</a:t>
            </a:r>
            <a:endParaRPr lang="en-US" sz="1600"/>
          </a:p>
        </p:txBody>
      </p:sp>
      <p:sp>
        <p:nvSpPr>
          <p:cNvPr id="28" name="Text 22"/>
          <p:cNvSpPr txBox="1"/>
          <p:nvPr/>
        </p:nvSpPr>
        <p:spPr>
          <a:xfrm>
            <a:off x="838505"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Role definition + domain-specific talent pool activation. TalentAI matching + voice-agent pre-screen. Shortlist in 72 hrs.</a:t>
            </a:r>
            <a:endParaRPr lang="en-US" sz="1000"/>
          </a:p>
        </p:txBody>
      </p:sp>
      <p:pic>
        <p:nvPicPr>
          <p:cNvPr id="29" name="Image 4" descr="gen-dedup-68afaceb726e7c14c8688760b973252d.png"/>
          <p:cNvPicPr>
            <a:picLocks noChangeAspect="1"/>
          </p:cNvPicPr>
          <p:nvPr/>
        </p:nvPicPr>
        <p:blipFill>
          <a:blip r:embed="rId7"/>
          <a:srcRect l="-13360" r="-13360"/>
          <a:stretch/>
        </p:blipFill>
        <p:spPr>
          <a:xfrm>
            <a:off x="4062679" y="2648102"/>
            <a:ext cx="181051" cy="228600"/>
          </a:xfrm>
          <a:prstGeom prst="rect">
            <a:avLst/>
          </a:prstGeom>
        </p:spPr>
      </p:pic>
      <p:sp>
        <p:nvSpPr>
          <p:cNvPr id="30" name="Text 23"/>
          <p:cNvSpPr txBox="1"/>
          <p:nvPr/>
        </p:nvSpPr>
        <p:spPr>
          <a:xfrm>
            <a:off x="4705502" y="1981505"/>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02</a:t>
            </a:r>
            <a:endParaRPr lang="en-US" sz="2400"/>
          </a:p>
        </p:txBody>
      </p:sp>
      <p:sp>
        <p:nvSpPr>
          <p:cNvPr id="31" name="Text 24"/>
          <p:cNvSpPr txBox="1"/>
          <p:nvPr/>
        </p:nvSpPr>
        <p:spPr>
          <a:xfrm>
            <a:off x="5144414" y="1995424"/>
            <a:ext cx="839419"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AI-Assess</a:t>
            </a:r>
            <a:endParaRPr lang="en-US" sz="1600"/>
          </a:p>
        </p:txBody>
      </p:sp>
      <p:sp>
        <p:nvSpPr>
          <p:cNvPr id="32" name="Text 25"/>
          <p:cNvSpPr txBox="1"/>
          <p:nvPr/>
        </p:nvSpPr>
        <p:spPr>
          <a:xfrm>
            <a:off x="4705502"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Live coding + domain scenario assessment via TalentSphere. Technical bar validated by J2W before client interview.</a:t>
            </a:r>
            <a:endParaRPr lang="en-US" sz="1000"/>
          </a:p>
        </p:txBody>
      </p:sp>
      <p:pic>
        <p:nvPicPr>
          <p:cNvPr id="33" name="Image 5" descr="gen-dedup-68afaceb726e7c14c8688760b973252d.png"/>
          <p:cNvPicPr>
            <a:picLocks noChangeAspect="1"/>
          </p:cNvPicPr>
          <p:nvPr/>
        </p:nvPicPr>
        <p:blipFill>
          <a:blip r:embed="rId7"/>
          <a:srcRect l="-13360" r="-13360"/>
          <a:stretch/>
        </p:blipFill>
        <p:spPr>
          <a:xfrm>
            <a:off x="7929677" y="2648102"/>
            <a:ext cx="181051" cy="228600"/>
          </a:xfrm>
          <a:prstGeom prst="rect">
            <a:avLst/>
          </a:prstGeom>
        </p:spPr>
      </p:pic>
      <p:sp>
        <p:nvSpPr>
          <p:cNvPr id="34" name="Text 26"/>
          <p:cNvSpPr txBox="1"/>
          <p:nvPr/>
        </p:nvSpPr>
        <p:spPr>
          <a:xfrm>
            <a:off x="8572500" y="1981505"/>
            <a:ext cx="391363"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03</a:t>
            </a:r>
            <a:endParaRPr lang="en-US" sz="2400"/>
          </a:p>
        </p:txBody>
      </p:sp>
      <p:sp>
        <p:nvSpPr>
          <p:cNvPr id="35" name="Text 27"/>
          <p:cNvSpPr txBox="1"/>
          <p:nvPr/>
        </p:nvSpPr>
        <p:spPr>
          <a:xfrm>
            <a:off x="9011412" y="1995424"/>
            <a:ext cx="1553566"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Deploy in 10 Days</a:t>
            </a:r>
            <a:endParaRPr lang="en-US" sz="1600"/>
          </a:p>
        </p:txBody>
      </p:sp>
      <p:sp>
        <p:nvSpPr>
          <p:cNvPr id="36" name="Text 28"/>
          <p:cNvSpPr txBox="1"/>
          <p:nvPr/>
        </p:nvSpPr>
        <p:spPr>
          <a:xfrm>
            <a:off x="8572500"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Offer → onboarding → Day-1 productivity. J2W payroll, compliance, IT provisioning - fully managed.</a:t>
            </a:r>
            <a:endParaRPr lang="en-US" sz="1000"/>
          </a:p>
        </p:txBody>
      </p:sp>
      <p:pic>
        <p:nvPicPr>
          <p:cNvPr id="37" name="Image 6" descr="gen-dedup-ff9a716cc6b1850cd75acb20aeb0dc17.png"/>
          <p:cNvPicPr>
            <a:picLocks noChangeAspect="1"/>
          </p:cNvPicPr>
          <p:nvPr/>
        </p:nvPicPr>
        <p:blipFill>
          <a:blip r:embed="rId8"/>
          <a:srcRect t="-13131" b="-13131"/>
          <a:stretch/>
        </p:blipFill>
        <p:spPr>
          <a:xfrm>
            <a:off x="9872777" y="3895344"/>
            <a:ext cx="181051" cy="228600"/>
          </a:xfrm>
          <a:prstGeom prst="rect">
            <a:avLst/>
          </a:prstGeom>
        </p:spPr>
      </p:pic>
      <p:sp>
        <p:nvSpPr>
          <p:cNvPr id="38" name="Text 29"/>
          <p:cNvSpPr txBox="1"/>
          <p:nvPr/>
        </p:nvSpPr>
        <p:spPr>
          <a:xfrm>
            <a:off x="838505"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04</a:t>
            </a:r>
            <a:endParaRPr lang="en-US" sz="2400"/>
          </a:p>
        </p:txBody>
      </p:sp>
      <p:sp>
        <p:nvSpPr>
          <p:cNvPr id="39" name="Text 30"/>
          <p:cNvSpPr txBox="1"/>
          <p:nvPr/>
        </p:nvSpPr>
        <p:spPr>
          <a:xfrm>
            <a:off x="1280160" y="4472534"/>
            <a:ext cx="1564538"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Govern &amp; Upskill</a:t>
            </a:r>
            <a:endParaRPr lang="en-US" sz="1600"/>
          </a:p>
        </p:txBody>
      </p:sp>
      <p:sp>
        <p:nvSpPr>
          <p:cNvPr id="40" name="Text 31"/>
          <p:cNvSpPr txBox="1"/>
          <p:nvPr/>
        </p:nvSpPr>
        <p:spPr>
          <a:xfrm>
            <a:off x="838505"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Sprint accountability via Pod Manager. Monthly AI upskilling in J2W Labs. Weekly performance telemetry.</a:t>
            </a:r>
            <a:endParaRPr lang="en-US" sz="1000"/>
          </a:p>
        </p:txBody>
      </p:sp>
      <p:pic>
        <p:nvPicPr>
          <p:cNvPr id="41" name="Image 7" descr="gen-dedup-68afaceb726e7c14c8688760b973252d.png"/>
          <p:cNvPicPr>
            <a:picLocks noChangeAspect="1"/>
          </p:cNvPicPr>
          <p:nvPr/>
        </p:nvPicPr>
        <p:blipFill>
          <a:blip r:embed="rId7"/>
          <a:srcRect l="-13360" r="-13360"/>
          <a:stretch/>
        </p:blipFill>
        <p:spPr>
          <a:xfrm>
            <a:off x="4062679" y="5124298"/>
            <a:ext cx="181051" cy="228600"/>
          </a:xfrm>
          <a:prstGeom prst="rect">
            <a:avLst/>
          </a:prstGeom>
        </p:spPr>
      </p:pic>
      <p:sp>
        <p:nvSpPr>
          <p:cNvPr id="42" name="Text 32"/>
          <p:cNvSpPr txBox="1"/>
          <p:nvPr/>
        </p:nvSpPr>
        <p:spPr>
          <a:xfrm>
            <a:off x="4705502" y="4457700"/>
            <a:ext cx="38587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05</a:t>
            </a:r>
            <a:endParaRPr lang="en-US" sz="2400"/>
          </a:p>
        </p:txBody>
      </p:sp>
      <p:sp>
        <p:nvSpPr>
          <p:cNvPr id="43" name="Text 33"/>
          <p:cNvSpPr txBox="1"/>
          <p:nvPr/>
        </p:nvSpPr>
        <p:spPr>
          <a:xfrm>
            <a:off x="5142586" y="4472534"/>
            <a:ext cx="201808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POFU - 90-Day Funnel</a:t>
            </a:r>
            <a:endParaRPr lang="en-US" sz="1600"/>
          </a:p>
        </p:txBody>
      </p:sp>
      <p:sp>
        <p:nvSpPr>
          <p:cNvPr id="44" name="Text 34"/>
          <p:cNvSpPr txBox="1"/>
          <p:nvPr/>
        </p:nvSpPr>
        <p:spPr>
          <a:xfrm>
            <a:off x="4705502" y="4905756"/>
            <a:ext cx="2781605" cy="800100"/>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Post-Offer Follow-Up: milestone touchpoints, counter-offer inoculation, manager connects. Dropout rate → single digits.</a:t>
            </a:r>
            <a:endParaRPr lang="en-US" sz="1000"/>
          </a:p>
        </p:txBody>
      </p:sp>
      <p:pic>
        <p:nvPicPr>
          <p:cNvPr id="45" name="Image 8" descr="gen-dedup-68afaceb726e7c14c8688760b973252d.png"/>
          <p:cNvPicPr>
            <a:picLocks noChangeAspect="1"/>
          </p:cNvPicPr>
          <p:nvPr/>
        </p:nvPicPr>
        <p:blipFill>
          <a:blip r:embed="rId7"/>
          <a:srcRect l="-13360" r="-13360"/>
          <a:stretch/>
        </p:blipFill>
        <p:spPr>
          <a:xfrm>
            <a:off x="7929677" y="5124298"/>
            <a:ext cx="181051" cy="228600"/>
          </a:xfrm>
          <a:prstGeom prst="rect">
            <a:avLst/>
          </a:prstGeom>
        </p:spPr>
      </p:pic>
      <p:sp>
        <p:nvSpPr>
          <p:cNvPr id="46" name="Text 35"/>
          <p:cNvSpPr txBox="1"/>
          <p:nvPr/>
        </p:nvSpPr>
        <p:spPr>
          <a:xfrm>
            <a:off x="8572500"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06</a:t>
            </a:r>
            <a:endParaRPr lang="en-US" sz="2400"/>
          </a:p>
        </p:txBody>
      </p:sp>
      <p:sp>
        <p:nvSpPr>
          <p:cNvPr id="47" name="Text 36"/>
          <p:cNvSpPr txBox="1"/>
          <p:nvPr/>
        </p:nvSpPr>
        <p:spPr>
          <a:xfrm>
            <a:off x="9018727" y="4472534"/>
            <a:ext cx="159837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Scale or Convert</a:t>
            </a:r>
            <a:endParaRPr lang="en-US" sz="1600"/>
          </a:p>
        </p:txBody>
      </p:sp>
      <p:sp>
        <p:nvSpPr>
          <p:cNvPr id="48" name="Text 37"/>
          <p:cNvSpPr txBox="1"/>
          <p:nvPr/>
        </p:nvSpPr>
        <p:spPr>
          <a:xfrm>
            <a:off x="8572500"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C2H → permanent conversion on Day 91. Scale the pod up or down. Quarterly Business Review with ROI data.</a:t>
            </a:r>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4ab2116e971fbb9400d0e99205bd0390.png"/>
          <p:cNvPicPr>
            <a:picLocks noChangeAspect="1"/>
          </p:cNvPicPr>
          <p:nvPr/>
        </p:nvPicPr>
        <p:blipFill>
          <a:blip r:embed="rId5">
            <a:alphaModFix amt="8000"/>
          </a:blip>
          <a:srcRect/>
          <a:stretch/>
        </p:blipFill>
        <p:spPr>
          <a:xfrm>
            <a:off x="-381305" y="4190695"/>
            <a:ext cx="1904695" cy="1904695"/>
          </a:xfrm>
          <a:prstGeom prst="rect">
            <a:avLst/>
          </a:prstGeom>
        </p:spPr>
      </p:pic>
      <p:sp>
        <p:nvSpPr>
          <p:cNvPr id="8" name="Shape 3"/>
          <p:cNvSpPr/>
          <p:nvPr/>
        </p:nvSpPr>
        <p:spPr>
          <a:xfrm>
            <a:off x="609905" y="20007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9" name="Shape 4"/>
          <p:cNvSpPr/>
          <p:nvPr/>
        </p:nvSpPr>
        <p:spPr>
          <a:xfrm>
            <a:off x="609905" y="2000707"/>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609905" y="29525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1" name="Shape 6"/>
          <p:cNvSpPr/>
          <p:nvPr/>
        </p:nvSpPr>
        <p:spPr>
          <a:xfrm>
            <a:off x="609905" y="2952598"/>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09905" y="3905402"/>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3" name="Shape 8"/>
          <p:cNvSpPr/>
          <p:nvPr/>
        </p:nvSpPr>
        <p:spPr>
          <a:xfrm>
            <a:off x="609905" y="3905402"/>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609905" y="48582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5" name="Shape 10"/>
          <p:cNvSpPr/>
          <p:nvPr/>
        </p:nvSpPr>
        <p:spPr>
          <a:xfrm>
            <a:off x="609905" y="4858207"/>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6" name="Shape 11"/>
          <p:cNvSpPr/>
          <p:nvPr/>
        </p:nvSpPr>
        <p:spPr>
          <a:xfrm>
            <a:off x="609905" y="58100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7" name="Shape 12"/>
          <p:cNvSpPr/>
          <p:nvPr/>
        </p:nvSpPr>
        <p:spPr>
          <a:xfrm>
            <a:off x="609905" y="5810098"/>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pic>
        <p:nvPicPr>
          <p:cNvPr id="20" name="Image 3" descr="gen-dedup-f40e183725d285eac3acdddf8d8f823b.png"/>
          <p:cNvPicPr>
            <a:picLocks noChangeAspect="1"/>
          </p:cNvPicPr>
          <p:nvPr/>
        </p:nvPicPr>
        <p:blipFill>
          <a:blip r:embed="rId6"/>
          <a:srcRect l="-369" r="-369"/>
          <a:stretch/>
        </p:blipFill>
        <p:spPr>
          <a:xfrm>
            <a:off x="609905" y="448970"/>
            <a:ext cx="57607" cy="495605"/>
          </a:xfrm>
          <a:prstGeom prst="rect">
            <a:avLst/>
          </a:prstGeom>
        </p:spPr>
      </p:pic>
      <p:sp>
        <p:nvSpPr>
          <p:cNvPr id="21" name="Text 15"/>
          <p:cNvSpPr txBox="1"/>
          <p:nvPr/>
        </p:nvSpPr>
        <p:spPr>
          <a:xfrm>
            <a:off x="819302" y="381305"/>
            <a:ext cx="4499762" cy="409651"/>
          </a:xfrm>
          <a:prstGeom prst="rect">
            <a:avLst/>
          </a:prstGeom>
          <a:noFill/>
          <a:ln/>
        </p:spPr>
        <p:txBody>
          <a:bodyPr wrap="none" lIns="0" tIns="0" rIns="0" bIns="0" rtlCol="0" anchor="ctr"/>
          <a:lstStyle/>
          <a:p>
            <a:pPr marL="0" indent="0" algn="l">
              <a:buNone/>
            </a:pPr>
            <a:r>
              <a:rPr lang="en-US" sz="2800" b="1">
                <a:solidFill>
                  <a:srgbClr val="111827"/>
                </a:solidFill>
                <a:latin typeface="Oswald" pitchFamily="34" charset="0"/>
                <a:ea typeface="Oswald" pitchFamily="34" charset="-122"/>
                <a:cs typeface="Oswald" pitchFamily="34" charset="-120"/>
              </a:rPr>
              <a:t>STRUCTURAL DIFFERENTIATION</a:t>
            </a:r>
            <a:endParaRPr lang="en-US" sz="2800"/>
          </a:p>
        </p:txBody>
      </p:sp>
      <p:sp>
        <p:nvSpPr>
          <p:cNvPr id="22" name="Text 16"/>
          <p:cNvSpPr txBox="1"/>
          <p:nvPr/>
        </p:nvSpPr>
        <p:spPr>
          <a:xfrm>
            <a:off x="819302" y="821131"/>
            <a:ext cx="3610051" cy="191110"/>
          </a:xfrm>
          <a:prstGeom prst="rect">
            <a:avLst/>
          </a:prstGeom>
          <a:noFill/>
          <a:ln/>
        </p:spPr>
        <p:txBody>
          <a:bodyPr wrap="none" lIns="0" tIns="0" rIns="0" bIns="0" rtlCol="0" anchor="ctr"/>
          <a:lstStyle/>
          <a:p>
            <a:pPr marL="0" indent="0" algn="l">
              <a:buNone/>
            </a:pPr>
            <a:r>
              <a:rPr lang="en-US" sz="1300" b="1" kern="0" spc="66">
                <a:solidFill>
                  <a:srgbClr val="2A9D8F"/>
                </a:solidFill>
                <a:latin typeface="Roboto Condensed" pitchFamily="34" charset="0"/>
                <a:ea typeface="Roboto Condensed" pitchFamily="34" charset="-122"/>
                <a:cs typeface="Roboto Condensed" pitchFamily="34" charset="-120"/>
              </a:rPr>
              <a:t>WORKFORCE SOLUTIONS</a:t>
            </a:r>
          </a:p>
        </p:txBody>
      </p:sp>
      <p:sp>
        <p:nvSpPr>
          <p:cNvPr id="23" name="Text 17"/>
          <p:cNvSpPr txBox="1"/>
          <p:nvPr/>
        </p:nvSpPr>
        <p:spPr>
          <a:xfrm>
            <a:off x="609905" y="1380744"/>
            <a:ext cx="10972800" cy="267005"/>
          </a:xfrm>
          <a:prstGeom prst="rect">
            <a:avLst/>
          </a:prstGeom>
          <a:noFill/>
          <a:ln/>
        </p:spPr>
        <p:txBody>
          <a:bodyPr wrap="none" lIns="0" tIns="0" rIns="0" bIns="0" rtlCol="0" anchor="ctr"/>
          <a:lstStyle/>
          <a:p>
            <a:pPr marL="0" indent="0" algn="l">
              <a:buNone/>
            </a:pPr>
            <a:r>
              <a:rPr lang="en-US" sz="1500" b="1">
                <a:solidFill>
                  <a:srgbClr val="D62839"/>
                </a:solidFill>
                <a:latin typeface="Raleway" pitchFamily="34" charset="0"/>
                <a:ea typeface="Raleway" pitchFamily="34" charset="-122"/>
                <a:cs typeface="Raleway" pitchFamily="34" charset="-120"/>
              </a:rPr>
              <a:t>Five structural differences that change the engagement from transactional to transformational.</a:t>
            </a:r>
            <a:endParaRPr lang="en-US" sz="1500"/>
          </a:p>
        </p:txBody>
      </p:sp>
      <p:sp>
        <p:nvSpPr>
          <p:cNvPr id="24" name="Text 18"/>
          <p:cNvSpPr txBox="1"/>
          <p:nvPr/>
        </p:nvSpPr>
        <p:spPr>
          <a:xfrm>
            <a:off x="1037844" y="2148840"/>
            <a:ext cx="1904695"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No Subcontracting</a:t>
            </a:r>
            <a:endParaRPr lang="en-US" sz="1400"/>
          </a:p>
        </p:txBody>
      </p:sp>
      <p:sp>
        <p:nvSpPr>
          <p:cNvPr id="25" name="Text 19"/>
          <p:cNvSpPr txBox="1"/>
          <p:nvPr/>
        </p:nvSpPr>
        <p:spPr>
          <a:xfrm>
            <a:off x="800100" y="2491740"/>
            <a:ext cx="11278210" cy="219456"/>
          </a:xfrm>
          <a:prstGeom prst="rect">
            <a:avLst/>
          </a:prstGeom>
          <a:noFill/>
          <a:ln/>
        </p:spPr>
        <p:txBody>
          <a:bodyPr wrap="non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300+ in-house recruiters. 7,200+ professionals on J2W payroll. Zero subcontracting layer diluting quality, speed, or accountability.</a:t>
            </a:r>
            <a:endParaRPr lang="en-US" sz="1300"/>
          </a:p>
        </p:txBody>
      </p:sp>
      <p:pic>
        <p:nvPicPr>
          <p:cNvPr id="26" name="Image 4" descr="gen-dedup-928b248bf773cd1fca0141b5a5721735.png"/>
          <p:cNvPicPr>
            <a:picLocks noChangeAspect="1"/>
          </p:cNvPicPr>
          <p:nvPr/>
        </p:nvPicPr>
        <p:blipFill>
          <a:blip r:embed="rId7"/>
          <a:srcRect t="-6603" b="-6603"/>
          <a:stretch/>
        </p:blipFill>
        <p:spPr>
          <a:xfrm>
            <a:off x="800100" y="2211934"/>
            <a:ext cx="161849" cy="209398"/>
          </a:xfrm>
          <a:prstGeom prst="rect">
            <a:avLst/>
          </a:prstGeom>
        </p:spPr>
      </p:pic>
      <p:sp>
        <p:nvSpPr>
          <p:cNvPr id="27" name="Text 20"/>
          <p:cNvSpPr txBox="1"/>
          <p:nvPr/>
        </p:nvSpPr>
        <p:spPr>
          <a:xfrm>
            <a:off x="1037844" y="2991917"/>
            <a:ext cx="241493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GCC-Native Intelligence</a:t>
            </a:r>
            <a:endParaRPr lang="en-US" sz="1400"/>
          </a:p>
        </p:txBody>
      </p:sp>
      <p:sp>
        <p:nvSpPr>
          <p:cNvPr id="28" name="Text 21"/>
          <p:cNvSpPr txBox="1"/>
          <p:nvPr/>
        </p:nvSpPr>
        <p:spPr>
          <a:xfrm>
            <a:off x="800100" y="33348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Forged through 300+ active GCC deployments. We see the next problem before it shows up because we have already solved it somewhere else.</a:t>
            </a:r>
            <a:endParaRPr lang="en-US" sz="1300"/>
          </a:p>
        </p:txBody>
      </p:sp>
      <p:pic>
        <p:nvPicPr>
          <p:cNvPr id="29" name="Image 5" descr="gen-dedup-0c58ce2f3d3941653435c84e3cc91c65.png"/>
          <p:cNvPicPr>
            <a:picLocks noChangeAspect="1"/>
          </p:cNvPicPr>
          <p:nvPr/>
        </p:nvPicPr>
        <p:blipFill>
          <a:blip r:embed="rId8"/>
          <a:srcRect t="-14689" b="-14689"/>
          <a:stretch/>
        </p:blipFill>
        <p:spPr>
          <a:xfrm>
            <a:off x="800100" y="3055925"/>
            <a:ext cx="161849" cy="209398"/>
          </a:xfrm>
          <a:prstGeom prst="rect">
            <a:avLst/>
          </a:prstGeom>
        </p:spPr>
      </p:pic>
      <p:sp>
        <p:nvSpPr>
          <p:cNvPr id="30" name="Text 22"/>
          <p:cNvSpPr txBox="1"/>
          <p:nvPr/>
        </p:nvSpPr>
        <p:spPr>
          <a:xfrm>
            <a:off x="1037844" y="3944722"/>
            <a:ext cx="1633118"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AI at Every Step</a:t>
            </a:r>
            <a:endParaRPr lang="en-US" sz="1400"/>
          </a:p>
        </p:txBody>
      </p:sp>
      <p:sp>
        <p:nvSpPr>
          <p:cNvPr id="31" name="Text 23"/>
          <p:cNvSpPr txBox="1"/>
          <p:nvPr/>
        </p:nvSpPr>
        <p:spPr>
          <a:xfrm>
            <a:off x="800100" y="4287622"/>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TalentAI + TalentSphere: AI-ranked pools, voice-agent screening, skill graphs, predictive placement. Every tool passed our 40% improvement gate internally.</a:t>
            </a:r>
            <a:endParaRPr lang="en-US" sz="1300"/>
          </a:p>
        </p:txBody>
      </p:sp>
      <p:pic>
        <p:nvPicPr>
          <p:cNvPr id="32" name="Image 6" descr="gen-dedup-da669e206ac26c7983b1f8612c832ea6.png"/>
          <p:cNvPicPr>
            <a:picLocks noChangeAspect="1"/>
          </p:cNvPicPr>
          <p:nvPr/>
        </p:nvPicPr>
        <p:blipFill>
          <a:blip r:embed="rId9"/>
          <a:srcRect t="-30861" b="-30861"/>
          <a:stretch/>
        </p:blipFill>
        <p:spPr>
          <a:xfrm>
            <a:off x="800100" y="4008730"/>
            <a:ext cx="161849" cy="209398"/>
          </a:xfrm>
          <a:prstGeom prst="rect">
            <a:avLst/>
          </a:prstGeom>
        </p:spPr>
      </p:pic>
      <p:sp>
        <p:nvSpPr>
          <p:cNvPr id="33" name="Text 24"/>
          <p:cNvSpPr txBox="1"/>
          <p:nvPr/>
        </p:nvSpPr>
        <p:spPr>
          <a:xfrm>
            <a:off x="1037844" y="4897526"/>
            <a:ext cx="246065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Pod Governance Built In</a:t>
            </a:r>
            <a:endParaRPr lang="en-US" sz="1400"/>
          </a:p>
        </p:txBody>
      </p:sp>
      <p:sp>
        <p:nvSpPr>
          <p:cNvPr id="34" name="Text 25"/>
          <p:cNvSpPr txBox="1"/>
          <p:nvPr/>
        </p:nvSpPr>
        <p:spPr>
          <a:xfrm>
            <a:off x="800100" y="5240426"/>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A dedicated Pod Manager - not billed to client - owns sprint governance, performance tracking, and L&amp;D coordination. This is a pod, not a staffing drop.</a:t>
            </a:r>
            <a:endParaRPr lang="en-US" sz="1300"/>
          </a:p>
        </p:txBody>
      </p:sp>
      <p:pic>
        <p:nvPicPr>
          <p:cNvPr id="35" name="Image 7" descr="gen-dedup-5d8964838ee5ef7b6e1692b5297312cd.png"/>
          <p:cNvPicPr>
            <a:picLocks noChangeAspect="1"/>
          </p:cNvPicPr>
          <p:nvPr/>
        </p:nvPicPr>
        <p:blipFill>
          <a:blip r:embed="rId10"/>
          <a:srcRect t="-30861" b="-30861"/>
          <a:stretch/>
        </p:blipFill>
        <p:spPr>
          <a:xfrm>
            <a:off x="800100" y="4960620"/>
            <a:ext cx="161849" cy="209398"/>
          </a:xfrm>
          <a:prstGeom prst="rect">
            <a:avLst/>
          </a:prstGeom>
        </p:spPr>
      </p:pic>
      <p:sp>
        <p:nvSpPr>
          <p:cNvPr id="36" name="Text 26"/>
          <p:cNvSpPr txBox="1"/>
          <p:nvPr/>
        </p:nvSpPr>
        <p:spPr>
          <a:xfrm>
            <a:off x="1037844" y="5849417"/>
            <a:ext cx="2051914"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Validated Playbooks</a:t>
            </a:r>
            <a:endParaRPr lang="en-US" sz="1400"/>
          </a:p>
        </p:txBody>
      </p:sp>
      <p:sp>
        <p:nvSpPr>
          <p:cNvPr id="37" name="Text 27"/>
          <p:cNvSpPr txBox="1"/>
          <p:nvPr/>
        </p:nvSpPr>
        <p:spPr>
          <a:xfrm>
            <a:off x="800100" y="61923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Every tool, process, and accelerator has passed our internal 40% improvement gate. Clients benefit from completed learning - not our experimentation.</a:t>
            </a:r>
            <a:endParaRPr lang="en-US" sz="1300"/>
          </a:p>
        </p:txBody>
      </p:sp>
      <p:pic>
        <p:nvPicPr>
          <p:cNvPr id="38" name="Image 8" descr="gen-dedup-001fb79ce367df5df5f79805d3e188cd.png"/>
          <p:cNvPicPr>
            <a:picLocks noChangeAspect="1"/>
          </p:cNvPicPr>
          <p:nvPr/>
        </p:nvPicPr>
        <p:blipFill>
          <a:blip r:embed="rId11"/>
          <a:srcRect t="-22775" b="-22775"/>
          <a:stretch/>
        </p:blipFill>
        <p:spPr>
          <a:xfrm>
            <a:off x="800100" y="5913425"/>
            <a:ext cx="161849" cy="20939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382305" y="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sp>
        <p:nvSpPr>
          <p:cNvPr id="5" name="Shape 3"/>
          <p:cNvSpPr/>
          <p:nvPr/>
        </p:nvSpPr>
        <p:spPr>
          <a:xfrm>
            <a:off x="-476402" y="3524098"/>
            <a:ext cx="2381098" cy="2381098"/>
          </a:xfrm>
          <a:prstGeom prst="ellipse">
            <a:avLst/>
          </a:prstGeom>
          <a:solidFill>
            <a:srgbClr val="D62839">
              <a:alpha val="2000"/>
            </a:srgbClr>
          </a:solidFill>
          <a:ln w="12700">
            <a:solidFill>
              <a:srgbClr val="FFFFFF">
                <a:alpha val="0"/>
              </a:srgbClr>
            </a:solidFill>
            <a:prstDash val="solid"/>
          </a:ln>
        </p:spPr>
        <p:txBody>
          <a:bodyPr/>
          <a:lstStyle/>
          <a:p>
            <a:endParaRPr lang="en-US"/>
          </a:p>
        </p:txBody>
      </p:sp>
      <p:pic>
        <p:nvPicPr>
          <p:cNvPr id="6"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7"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pic>
        <p:nvPicPr>
          <p:cNvPr id="8" name="Image 2" descr="gen-dedup-50f81f9bdcb5400074144f35c0ecb91c.png"/>
          <p:cNvPicPr>
            <a:picLocks noChangeAspect="1"/>
          </p:cNvPicPr>
          <p:nvPr/>
        </p:nvPicPr>
        <p:blipFill>
          <a:blip r:embed="rId5"/>
          <a:srcRect l="-7" r="-7"/>
          <a:stretch/>
        </p:blipFill>
        <p:spPr>
          <a:xfrm>
            <a:off x="2704795" y="1238098"/>
            <a:ext cx="3143707" cy="4457700"/>
          </a:xfrm>
          <a:prstGeom prst="rect">
            <a:avLst/>
          </a:prstGeom>
        </p:spPr>
      </p:pic>
      <p:sp>
        <p:nvSpPr>
          <p:cNvPr id="9" name="Shape 4"/>
          <p:cNvSpPr/>
          <p:nvPr/>
        </p:nvSpPr>
        <p:spPr>
          <a:xfrm>
            <a:off x="609905" y="5762549"/>
            <a:ext cx="10992002" cy="847649"/>
          </a:xfrm>
          <a:prstGeom prst="roundRect">
            <a:avLst>
              <a:gd name="adj" fmla="val 19393"/>
            </a:avLst>
          </a:prstGeom>
          <a:solidFill>
            <a:srgbClr val="F8FAFC"/>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pic>
        <p:nvPicPr>
          <p:cNvPr id="10" name="Image 3" descr="gen-dedup-1004aa64a550a79a04cd74d7f57c96c1.png"/>
          <p:cNvPicPr>
            <a:picLocks noChangeAspect="1"/>
          </p:cNvPicPr>
          <p:nvPr/>
        </p:nvPicPr>
        <p:blipFill>
          <a:blip r:embed="rId6"/>
          <a:srcRect l="-2083" r="-2083"/>
          <a:stretch/>
        </p:blipFill>
        <p:spPr>
          <a:xfrm>
            <a:off x="609905" y="2467051"/>
            <a:ext cx="10972800" cy="9144"/>
          </a:xfrm>
          <a:prstGeom prst="rect">
            <a:avLst/>
          </a:prstGeom>
        </p:spPr>
      </p:pic>
      <p:pic>
        <p:nvPicPr>
          <p:cNvPr id="11" name="Image 4" descr="gen-dedup-1004aa64a550a79a04cd74d7f57c96c1.png"/>
          <p:cNvPicPr>
            <a:picLocks noChangeAspect="1"/>
          </p:cNvPicPr>
          <p:nvPr/>
        </p:nvPicPr>
        <p:blipFill>
          <a:blip r:embed="rId6"/>
          <a:srcRect l="-2083" r="-2083"/>
          <a:stretch/>
        </p:blipFill>
        <p:spPr>
          <a:xfrm>
            <a:off x="609905" y="3267151"/>
            <a:ext cx="10972800" cy="9144"/>
          </a:xfrm>
          <a:prstGeom prst="rect">
            <a:avLst/>
          </a:prstGeom>
        </p:spPr>
      </p:pic>
      <p:pic>
        <p:nvPicPr>
          <p:cNvPr id="12" name="Image 5" descr="gen-dedup-1004aa64a550a79a04cd74d7f57c96c1.png"/>
          <p:cNvPicPr>
            <a:picLocks noChangeAspect="1"/>
          </p:cNvPicPr>
          <p:nvPr/>
        </p:nvPicPr>
        <p:blipFill>
          <a:blip r:embed="rId6"/>
          <a:srcRect l="-2083" r="-2083"/>
          <a:stretch/>
        </p:blipFill>
        <p:spPr>
          <a:xfrm>
            <a:off x="609905" y="4067251"/>
            <a:ext cx="10972800" cy="9144"/>
          </a:xfrm>
          <a:prstGeom prst="rect">
            <a:avLst/>
          </a:prstGeom>
        </p:spPr>
      </p:pic>
      <p:pic>
        <p:nvPicPr>
          <p:cNvPr id="13" name="Image 6" descr="gen-dedup-1004aa64a550a79a04cd74d7f57c96c1.png"/>
          <p:cNvPicPr>
            <a:picLocks noChangeAspect="1"/>
          </p:cNvPicPr>
          <p:nvPr/>
        </p:nvPicPr>
        <p:blipFill>
          <a:blip r:embed="rId6"/>
          <a:srcRect l="-2083" r="-2083"/>
          <a:stretch/>
        </p:blipFill>
        <p:spPr>
          <a:xfrm>
            <a:off x="609905" y="4867351"/>
            <a:ext cx="10972800" cy="9144"/>
          </a:xfrm>
          <a:prstGeom prst="rect">
            <a:avLst/>
          </a:prstGeom>
        </p:spPr>
      </p:pic>
      <p:pic>
        <p:nvPicPr>
          <p:cNvPr id="14" name="Image 7" descr="gen-dedup-06e3d16aa0e9246458a784af17ea21a8.png"/>
          <p:cNvPicPr>
            <a:picLocks noChangeAspect="1"/>
          </p:cNvPicPr>
          <p:nvPr/>
        </p:nvPicPr>
        <p:blipFill>
          <a:blip r:embed="rId7"/>
          <a:srcRect l="-437" r="-437"/>
          <a:stretch/>
        </p:blipFill>
        <p:spPr>
          <a:xfrm>
            <a:off x="609905" y="390449"/>
            <a:ext cx="57607" cy="418795"/>
          </a:xfrm>
          <a:prstGeom prst="rect">
            <a:avLst/>
          </a:prstGeom>
        </p:spPr>
      </p:pic>
      <p:sp>
        <p:nvSpPr>
          <p:cNvPr id="15" name="Text 5"/>
          <p:cNvSpPr txBox="1"/>
          <p:nvPr/>
        </p:nvSpPr>
        <p:spPr>
          <a:xfrm>
            <a:off x="819302" y="390449"/>
            <a:ext cx="10478110" cy="381305"/>
          </a:xfrm>
          <a:prstGeom prst="rect">
            <a:avLst/>
          </a:prstGeom>
          <a:noFill/>
          <a:ln/>
        </p:spPr>
        <p:txBody>
          <a:bodyPr wrap="squar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WHY J2W - NOT THE BIG 4 OR LARGE SIs</a:t>
            </a:r>
            <a:endParaRPr lang="en-US" sz="2700"/>
          </a:p>
        </p:txBody>
      </p:sp>
      <p:sp>
        <p:nvSpPr>
          <p:cNvPr id="16" name="Text 6"/>
          <p:cNvSpPr txBox="1"/>
          <p:nvPr/>
        </p:nvSpPr>
        <p:spPr>
          <a:xfrm>
            <a:off x="819302" y="824789"/>
            <a:ext cx="10478110" cy="181051"/>
          </a:xfrm>
          <a:prstGeom prst="rect">
            <a:avLst/>
          </a:prstGeom>
          <a:noFill/>
          <a:ln/>
        </p:spPr>
        <p:txBody>
          <a:bodyPr wrap="squar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THE SMARTER CHOICE FOR AI &amp; DIGITAL TRANSFORMATION AT SCALE</a:t>
            </a:r>
            <a:endParaRPr lang="en-US" sz="1200"/>
          </a:p>
        </p:txBody>
      </p:sp>
      <p:sp>
        <p:nvSpPr>
          <p:cNvPr id="17" name="Text 7"/>
          <p:cNvSpPr txBox="1"/>
          <p:nvPr/>
        </p:nvSpPr>
        <p:spPr>
          <a:xfrm>
            <a:off x="2704795" y="1333195"/>
            <a:ext cx="3143707" cy="286207"/>
          </a:xfrm>
          <a:prstGeom prst="rect">
            <a:avLst/>
          </a:prstGeom>
          <a:noFill/>
          <a:ln/>
        </p:spPr>
        <p:txBody>
          <a:bodyPr wrap="squar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JoulesToWatts + J2W</a:t>
            </a:r>
            <a:endParaRPr lang="en-US" sz="1500"/>
          </a:p>
        </p:txBody>
      </p:sp>
      <p:sp>
        <p:nvSpPr>
          <p:cNvPr id="18" name="Text 8"/>
          <p:cNvSpPr txBox="1"/>
          <p:nvPr/>
        </p:nvSpPr>
        <p:spPr>
          <a:xfrm>
            <a:off x="5848502" y="1333195"/>
            <a:ext cx="2857500"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Big 4 / Top IT SIs</a:t>
            </a:r>
            <a:endParaRPr lang="en-US" sz="1500"/>
          </a:p>
        </p:txBody>
      </p:sp>
      <p:sp>
        <p:nvSpPr>
          <p:cNvPr id="19" name="Text 9"/>
          <p:cNvSpPr txBox="1"/>
          <p:nvPr/>
        </p:nvSpPr>
        <p:spPr>
          <a:xfrm>
            <a:off x="8706002" y="1333195"/>
            <a:ext cx="2876702"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Staffing Agencies</a:t>
            </a:r>
            <a:endParaRPr lang="en-US" sz="1500"/>
          </a:p>
        </p:txBody>
      </p:sp>
      <p:sp>
        <p:nvSpPr>
          <p:cNvPr id="20" name="Text 10"/>
          <p:cNvSpPr txBox="1"/>
          <p:nvPr/>
        </p:nvSpPr>
        <p:spPr>
          <a:xfrm>
            <a:off x="609905" y="19906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ROI &amp; Outcome Model</a:t>
            </a:r>
            <a:endParaRPr lang="en-US" sz="1000"/>
          </a:p>
        </p:txBody>
      </p:sp>
      <p:sp>
        <p:nvSpPr>
          <p:cNvPr id="21" name="Text 11"/>
          <p:cNvSpPr txBox="1"/>
          <p:nvPr/>
        </p:nvSpPr>
        <p:spPr>
          <a:xfrm>
            <a:off x="2895905" y="18068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Outcome-driven from Day 1 - aligned to your milestones, CXO ROI expectations &amp; project KPIs</a:t>
            </a:r>
            <a:endParaRPr lang="en-US" sz="1000"/>
          </a:p>
        </p:txBody>
      </p:sp>
      <p:sp>
        <p:nvSpPr>
          <p:cNvPr id="22" name="Text 12"/>
          <p:cNvSpPr txBox="1"/>
          <p:nvPr/>
        </p:nvSpPr>
        <p:spPr>
          <a:xfrm>
            <a:off x="6038698" y="18068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Heavy retainers + longer payback cycles. High technical debt risk on failed transformations</a:t>
            </a:r>
            <a:endParaRPr lang="en-US" sz="1000"/>
          </a:p>
        </p:txBody>
      </p:sp>
      <p:sp>
        <p:nvSpPr>
          <p:cNvPr id="23" name="Text 13"/>
          <p:cNvSpPr txBox="1"/>
          <p:nvPr/>
        </p:nvSpPr>
        <p:spPr>
          <a:xfrm>
            <a:off x="8896198" y="18937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Headcount model only. Zero delivery ownership or outcome accountability</a:t>
            </a:r>
            <a:endParaRPr lang="en-US" sz="1000"/>
          </a:p>
        </p:txBody>
      </p:sp>
      <p:sp>
        <p:nvSpPr>
          <p:cNvPr id="24" name="Text 14"/>
          <p:cNvSpPr txBox="1"/>
          <p:nvPr/>
        </p:nvSpPr>
        <p:spPr>
          <a:xfrm>
            <a:off x="609905" y="27907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Time-To-Value</a:t>
            </a:r>
            <a:endParaRPr lang="en-US" sz="1000"/>
          </a:p>
        </p:txBody>
      </p:sp>
      <p:sp>
        <p:nvSpPr>
          <p:cNvPr id="25" name="Text 15"/>
          <p:cNvSpPr txBox="1"/>
          <p:nvPr/>
        </p:nvSpPr>
        <p:spPr>
          <a:xfrm>
            <a:off x="2895905" y="26069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Production-ready Gen &amp; Agentic AI PoCs in weeks via 50+ accelerators across SAP, Oracle, ServiceNow &amp; more</a:t>
            </a:r>
            <a:endParaRPr lang="en-US" sz="1000"/>
          </a:p>
        </p:txBody>
      </p:sp>
      <p:sp>
        <p:nvSpPr>
          <p:cNvPr id="26" name="Text 16"/>
          <p:cNvSpPr txBox="1"/>
          <p:nvPr/>
        </p:nvSpPr>
        <p:spPr>
          <a:xfrm>
            <a:off x="6038698" y="26069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Lengthy consulting cycles with SI-driven models - higher costs &amp; slower results</a:t>
            </a:r>
            <a:endParaRPr lang="en-US" sz="1000"/>
          </a:p>
        </p:txBody>
      </p:sp>
      <p:sp>
        <p:nvSpPr>
          <p:cNvPr id="27" name="Text 17"/>
          <p:cNvSpPr txBox="1"/>
          <p:nvPr/>
        </p:nvSpPr>
        <p:spPr>
          <a:xfrm>
            <a:off x="8896198" y="27806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28" name="Text 18"/>
          <p:cNvSpPr txBox="1"/>
          <p:nvPr/>
        </p:nvSpPr>
        <p:spPr>
          <a:xfrm>
            <a:off x="609905" y="35908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 Data Governance</a:t>
            </a:r>
            <a:endParaRPr lang="en-US" sz="1000"/>
          </a:p>
        </p:txBody>
      </p:sp>
      <p:sp>
        <p:nvSpPr>
          <p:cNvPr id="29" name="Text 19"/>
          <p:cNvSpPr txBox="1"/>
          <p:nvPr/>
        </p:nvSpPr>
        <p:spPr>
          <a:xfrm>
            <a:off x="2895905" y="3321101"/>
            <a:ext cx="2762402" cy="6958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Pre-built guardrails. Mission-critical delivery in regulated industries (Fortune 500 MedTech). Data stays in your environment</a:t>
            </a:r>
            <a:endParaRPr lang="en-US" sz="1000"/>
          </a:p>
        </p:txBody>
      </p:sp>
      <p:sp>
        <p:nvSpPr>
          <p:cNvPr id="30" name="Text 20"/>
          <p:cNvSpPr txBox="1"/>
          <p:nvPr/>
        </p:nvSpPr>
        <p:spPr>
          <a:xfrm>
            <a:off x="6038698" y="34070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Claims excellence, but multiple public incidents (e.g. Deloitte AU govt penalties) undermine credibility</a:t>
            </a:r>
            <a:endParaRPr lang="en-US" sz="1000"/>
          </a:p>
        </p:txBody>
      </p:sp>
      <p:sp>
        <p:nvSpPr>
          <p:cNvPr id="31" name="Text 21"/>
          <p:cNvSpPr txBox="1"/>
          <p:nvPr/>
        </p:nvSpPr>
        <p:spPr>
          <a:xfrm>
            <a:off x="8896198" y="35807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2" name="Text 22"/>
          <p:cNvSpPr txBox="1"/>
          <p:nvPr/>
        </p:nvSpPr>
        <p:spPr>
          <a:xfrm>
            <a:off x="609905" y="43909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OPEX Optimisation</a:t>
            </a:r>
            <a:endParaRPr lang="en-US" sz="1000"/>
          </a:p>
        </p:txBody>
      </p:sp>
      <p:sp>
        <p:nvSpPr>
          <p:cNvPr id="33" name="Text 23"/>
          <p:cNvSpPr txBox="1"/>
          <p:nvPr/>
        </p:nvSpPr>
        <p:spPr>
          <a:xfrm>
            <a:off x="2895905" y="42071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30-40% reduction in AI OPEX via Query Routing, Semantic Caching, Precision RAG &amp; in-house SLMs</a:t>
            </a:r>
            <a:endParaRPr lang="en-US" sz="1000"/>
          </a:p>
        </p:txBody>
      </p:sp>
      <p:sp>
        <p:nvSpPr>
          <p:cNvPr id="34" name="Text 24"/>
          <p:cNvSpPr txBox="1"/>
          <p:nvPr/>
        </p:nvSpPr>
        <p:spPr>
          <a:xfrm>
            <a:off x="6038698" y="42940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SI </a:t>
            </a:r>
            <a:r>
              <a:rPr lang="en-US" sz="1000" err="1">
                <a:solidFill>
                  <a:srgbClr val="475569"/>
                </a:solidFill>
                <a:latin typeface="Raleway" pitchFamily="34" charset="0"/>
                <a:ea typeface="Raleway" pitchFamily="34" charset="-122"/>
                <a:cs typeface="Raleway" pitchFamily="34" charset="-120"/>
              </a:rPr>
              <a:t>incentivised</a:t>
            </a:r>
            <a:r>
              <a:rPr lang="en-US" sz="1000">
                <a:solidFill>
                  <a:srgbClr val="475569"/>
                </a:solidFill>
                <a:latin typeface="Raleway" pitchFamily="34" charset="0"/>
                <a:ea typeface="Raleway" pitchFamily="34" charset="-122"/>
                <a:cs typeface="Raleway" pitchFamily="34" charset="-120"/>
              </a:rPr>
              <a:t> to </a:t>
            </a:r>
            <a:r>
              <a:rPr lang="en-US" sz="1000" err="1">
                <a:solidFill>
                  <a:srgbClr val="475569"/>
                </a:solidFill>
                <a:latin typeface="Raleway" pitchFamily="34" charset="0"/>
                <a:ea typeface="Raleway" pitchFamily="34" charset="-122"/>
                <a:cs typeface="Raleway" pitchFamily="34" charset="-120"/>
              </a:rPr>
              <a:t>maximise</a:t>
            </a:r>
            <a:r>
              <a:rPr lang="en-US" sz="1000">
                <a:solidFill>
                  <a:srgbClr val="475569"/>
                </a:solidFill>
                <a:latin typeface="Raleway" pitchFamily="34" charset="0"/>
                <a:ea typeface="Raleway" pitchFamily="34" charset="-122"/>
                <a:cs typeface="Raleway" pitchFamily="34" charset="-120"/>
              </a:rPr>
              <a:t> </a:t>
            </a:r>
            <a:r>
              <a:rPr lang="en-US" sz="1000" err="1">
                <a:solidFill>
                  <a:srgbClr val="475569"/>
                </a:solidFill>
                <a:latin typeface="Raleway" pitchFamily="34" charset="0"/>
                <a:ea typeface="Raleway" pitchFamily="34" charset="-122"/>
                <a:cs typeface="Raleway" pitchFamily="34" charset="-120"/>
              </a:rPr>
              <a:t>licences</a:t>
            </a:r>
            <a:r>
              <a:rPr lang="en-US" sz="1000">
                <a:solidFill>
                  <a:srgbClr val="475569"/>
                </a:solidFill>
                <a:latin typeface="Raleway" pitchFamily="34" charset="0"/>
                <a:ea typeface="Raleway" pitchFamily="34" charset="-122"/>
                <a:cs typeface="Raleway" pitchFamily="34" charset="-120"/>
              </a:rPr>
              <a:t> &amp; tokens - not to </a:t>
            </a:r>
            <a:r>
              <a:rPr lang="en-US" sz="1000" err="1">
                <a:solidFill>
                  <a:srgbClr val="475569"/>
                </a:solidFill>
                <a:latin typeface="Raleway" pitchFamily="34" charset="0"/>
                <a:ea typeface="Raleway" pitchFamily="34" charset="-122"/>
                <a:cs typeface="Raleway" pitchFamily="34" charset="-120"/>
              </a:rPr>
              <a:t>optimise</a:t>
            </a:r>
            <a:r>
              <a:rPr lang="en-US" sz="1000">
                <a:solidFill>
                  <a:srgbClr val="475569"/>
                </a:solidFill>
                <a:latin typeface="Raleway" pitchFamily="34" charset="0"/>
                <a:ea typeface="Raleway" pitchFamily="34" charset="-122"/>
                <a:cs typeface="Raleway" pitchFamily="34" charset="-120"/>
              </a:rPr>
              <a:t> your cost</a:t>
            </a:r>
            <a:endParaRPr lang="en-US" sz="1000"/>
          </a:p>
        </p:txBody>
      </p:sp>
      <p:sp>
        <p:nvSpPr>
          <p:cNvPr id="35" name="Text 25"/>
          <p:cNvSpPr txBox="1"/>
          <p:nvPr/>
        </p:nvSpPr>
        <p:spPr>
          <a:xfrm>
            <a:off x="8896198" y="43808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6" name="Text 26"/>
          <p:cNvSpPr txBox="1"/>
          <p:nvPr/>
        </p:nvSpPr>
        <p:spPr>
          <a:xfrm>
            <a:off x="609905" y="5191049"/>
            <a:ext cx="2143354"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Talent &amp; Managed Services</a:t>
            </a:r>
            <a:endParaRPr lang="en-US" sz="1000"/>
          </a:p>
        </p:txBody>
      </p:sp>
      <p:sp>
        <p:nvSpPr>
          <p:cNvPr id="37" name="Text 27"/>
          <p:cNvSpPr txBox="1"/>
          <p:nvPr/>
        </p:nvSpPr>
        <p:spPr>
          <a:xfrm>
            <a:off x="2895905" y="50072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7,200+ in-house consultants · 300+ recruiters · 2 proprietary hiring platforms · No subcontracting</a:t>
            </a:r>
            <a:endParaRPr lang="en-US" sz="1000"/>
          </a:p>
        </p:txBody>
      </p:sp>
      <p:sp>
        <p:nvSpPr>
          <p:cNvPr id="38" name="Text 28"/>
          <p:cNvSpPr txBox="1"/>
          <p:nvPr/>
        </p:nvSpPr>
        <p:spPr>
          <a:xfrm>
            <a:off x="6038698" y="50941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Frequently subcontract. No proprietary hiring platforms</a:t>
            </a:r>
            <a:endParaRPr lang="en-US" sz="1000"/>
          </a:p>
        </p:txBody>
      </p:sp>
      <p:sp>
        <p:nvSpPr>
          <p:cNvPr id="39" name="Text 29"/>
          <p:cNvSpPr txBox="1"/>
          <p:nvPr/>
        </p:nvSpPr>
        <p:spPr>
          <a:xfrm>
            <a:off x="8896198" y="50941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Lacks SME depth &amp; governance. Outcome ownership absent</a:t>
            </a:r>
            <a:endParaRPr lang="en-US" sz="1000"/>
          </a:p>
        </p:txBody>
      </p:sp>
      <p:sp>
        <p:nvSpPr>
          <p:cNvPr id="40" name="Shape 30"/>
          <p:cNvSpPr/>
          <p:nvPr/>
        </p:nvSpPr>
        <p:spPr>
          <a:xfrm>
            <a:off x="2315261" y="5762549"/>
            <a:ext cx="9144" cy="828446"/>
          </a:xfrm>
          <a:prstGeom prst="rect">
            <a:avLst/>
          </a:prstGeom>
          <a:solidFill>
            <a:srgbClr val="E2E8F0"/>
          </a:solidFill>
          <a:ln w="12700">
            <a:solidFill>
              <a:srgbClr val="E2E8F0">
                <a:alpha val="0"/>
              </a:srgbClr>
            </a:solidFill>
            <a:prstDash val="solid"/>
          </a:ln>
        </p:spPr>
        <p:txBody>
          <a:bodyPr/>
          <a:lstStyle/>
          <a:p>
            <a:endParaRPr lang="en-US"/>
          </a:p>
        </p:txBody>
      </p:sp>
      <p:sp>
        <p:nvSpPr>
          <p:cNvPr id="41" name="Text 31"/>
          <p:cNvSpPr txBox="1"/>
          <p:nvPr/>
        </p:nvSpPr>
        <p:spPr>
          <a:xfrm>
            <a:off x="1185062" y="6072530"/>
            <a:ext cx="1043330" cy="210312"/>
          </a:xfrm>
          <a:prstGeom prst="rect">
            <a:avLst/>
          </a:prstGeom>
          <a:noFill/>
          <a:ln/>
        </p:spPr>
        <p:txBody>
          <a:bodyPr wrap="square" lIns="0" tIns="0" rIns="0" bIns="0" rtlCol="0" anchor="ctr"/>
          <a:lstStyle/>
          <a:p>
            <a:pPr marL="0" indent="0" algn="l">
              <a:buNone/>
            </a:pPr>
            <a:r>
              <a:rPr lang="en-US" sz="1100" b="1" kern="0" spc="56">
                <a:solidFill>
                  <a:srgbClr val="64748B"/>
                </a:solidFill>
                <a:latin typeface="Oswald" pitchFamily="34" charset="0"/>
                <a:ea typeface="Oswald" pitchFamily="34" charset="-122"/>
                <a:cs typeface="Oswald" pitchFamily="34" charset="-120"/>
              </a:rPr>
              <a:t> KEY METRICS</a:t>
            </a:r>
            <a:endParaRPr lang="en-US" sz="1100"/>
          </a:p>
        </p:txBody>
      </p:sp>
      <p:pic>
        <p:nvPicPr>
          <p:cNvPr id="42" name="Image 8" descr="gen-dedup-0bed6a635fcb1d23b7a23c5aaedf5133.png"/>
          <p:cNvPicPr>
            <a:picLocks noChangeAspect="1"/>
          </p:cNvPicPr>
          <p:nvPr/>
        </p:nvPicPr>
        <p:blipFill>
          <a:blip r:embed="rId8"/>
          <a:srcRect l="-3526" r="-3526"/>
          <a:stretch/>
        </p:blipFill>
        <p:spPr>
          <a:xfrm>
            <a:off x="913486" y="6118250"/>
            <a:ext cx="152705" cy="142646"/>
          </a:xfrm>
          <a:prstGeom prst="rect">
            <a:avLst/>
          </a:prstGeom>
        </p:spPr>
      </p:pic>
      <p:sp>
        <p:nvSpPr>
          <p:cNvPr id="43" name="Text 32"/>
          <p:cNvSpPr txBox="1"/>
          <p:nvPr/>
        </p:nvSpPr>
        <p:spPr>
          <a:xfrm>
            <a:off x="2506370"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5,500</a:t>
            </a:r>
            <a:endParaRPr lang="en-US" sz="1800"/>
          </a:p>
        </p:txBody>
      </p:sp>
      <p:sp>
        <p:nvSpPr>
          <p:cNvPr id="44" name="Text 33"/>
          <p:cNvSpPr txBox="1"/>
          <p:nvPr/>
        </p:nvSpPr>
        <p:spPr>
          <a:xfrm>
            <a:off x="2506370"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In-house Consultants</a:t>
            </a:r>
            <a:endParaRPr lang="en-US" sz="800"/>
          </a:p>
        </p:txBody>
      </p:sp>
      <p:pic>
        <p:nvPicPr>
          <p:cNvPr id="45" name="Image 9" descr="gen-dedup-bc499f386c10f37c45470adccc65c0cd.png"/>
          <p:cNvPicPr>
            <a:picLocks noChangeAspect="1"/>
          </p:cNvPicPr>
          <p:nvPr/>
        </p:nvPicPr>
        <p:blipFill>
          <a:blip r:embed="rId9"/>
          <a:srcRect t="-2165" b="-2165"/>
          <a:stretch/>
        </p:blipFill>
        <p:spPr>
          <a:xfrm>
            <a:off x="4225442" y="6034126"/>
            <a:ext cx="9144" cy="286207"/>
          </a:xfrm>
          <a:prstGeom prst="rect">
            <a:avLst/>
          </a:prstGeom>
        </p:spPr>
      </p:pic>
      <p:sp>
        <p:nvSpPr>
          <p:cNvPr id="46" name="Text 34"/>
          <p:cNvSpPr txBox="1"/>
          <p:nvPr/>
        </p:nvSpPr>
        <p:spPr>
          <a:xfrm>
            <a:off x="4321454" y="5981090"/>
            <a:ext cx="1638605" cy="228600"/>
          </a:xfrm>
          <a:prstGeom prst="rect">
            <a:avLst/>
          </a:prstGeom>
          <a:noFill/>
          <a:ln/>
        </p:spPr>
        <p:txBody>
          <a:bodyPr wrap="square" lIns="0" tIns="0" rIns="0" bIns="0" rtlCol="0" anchor="ctr"/>
          <a:lstStyle/>
          <a:p>
            <a:pPr marL="0" indent="0" algn="ctr">
              <a:buNone/>
            </a:pPr>
            <a:r>
              <a:rPr lang="en-US" b="1">
                <a:solidFill>
                  <a:srgbClr val="2A9D8F"/>
                </a:solidFill>
                <a:latin typeface="Oswald" pitchFamily="34" charset="0"/>
                <a:ea typeface="Oswald" pitchFamily="34" charset="-122"/>
                <a:cs typeface="Oswald" pitchFamily="34" charset="-120"/>
              </a:rPr>
              <a:t>6</a:t>
            </a:r>
            <a:r>
              <a:rPr lang="en-US" sz="1800" b="1">
                <a:solidFill>
                  <a:srgbClr val="2A9D8F"/>
                </a:solidFill>
                <a:latin typeface="Oswald" pitchFamily="34" charset="0"/>
                <a:ea typeface="Oswald" pitchFamily="34" charset="-122"/>
                <a:cs typeface="Oswald" pitchFamily="34" charset="-120"/>
              </a:rPr>
              <a:t>0+</a:t>
            </a:r>
            <a:endParaRPr lang="en-US" sz="1800"/>
          </a:p>
        </p:txBody>
      </p:sp>
      <p:sp>
        <p:nvSpPr>
          <p:cNvPr id="47" name="Text 35"/>
          <p:cNvSpPr txBox="1"/>
          <p:nvPr/>
        </p:nvSpPr>
        <p:spPr>
          <a:xfrm>
            <a:off x="4321454"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Accelerators</a:t>
            </a:r>
            <a:endParaRPr lang="en-US" sz="800"/>
          </a:p>
        </p:txBody>
      </p:sp>
      <p:pic>
        <p:nvPicPr>
          <p:cNvPr id="48" name="Image 10" descr="gen-dedup-bc499f386c10f37c45470adccc65c0cd.png"/>
          <p:cNvPicPr>
            <a:picLocks noChangeAspect="1"/>
          </p:cNvPicPr>
          <p:nvPr/>
        </p:nvPicPr>
        <p:blipFill>
          <a:blip r:embed="rId9"/>
          <a:srcRect t="-2165" b="-2165"/>
          <a:stretch/>
        </p:blipFill>
        <p:spPr>
          <a:xfrm>
            <a:off x="6040526" y="6034126"/>
            <a:ext cx="9144" cy="286207"/>
          </a:xfrm>
          <a:prstGeom prst="rect">
            <a:avLst/>
          </a:prstGeom>
        </p:spPr>
      </p:pic>
      <p:sp>
        <p:nvSpPr>
          <p:cNvPr id="49" name="Text 36"/>
          <p:cNvSpPr txBox="1"/>
          <p:nvPr/>
        </p:nvSpPr>
        <p:spPr>
          <a:xfrm>
            <a:off x="6137453"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30-40%</a:t>
            </a:r>
            <a:endParaRPr lang="en-US" sz="1800"/>
          </a:p>
        </p:txBody>
      </p:sp>
      <p:sp>
        <p:nvSpPr>
          <p:cNvPr id="50" name="Text 37"/>
          <p:cNvSpPr txBox="1"/>
          <p:nvPr/>
        </p:nvSpPr>
        <p:spPr>
          <a:xfrm>
            <a:off x="6137453"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OPEX Reduction</a:t>
            </a:r>
            <a:endParaRPr lang="en-US" sz="800"/>
          </a:p>
        </p:txBody>
      </p:sp>
      <p:pic>
        <p:nvPicPr>
          <p:cNvPr id="51" name="Image 11" descr="gen-dedup-bc499f386c10f37c45470adccc65c0cd.png"/>
          <p:cNvPicPr>
            <a:picLocks noChangeAspect="1"/>
          </p:cNvPicPr>
          <p:nvPr/>
        </p:nvPicPr>
        <p:blipFill>
          <a:blip r:embed="rId9"/>
          <a:srcRect t="-2165" b="-2165"/>
          <a:stretch/>
        </p:blipFill>
        <p:spPr>
          <a:xfrm>
            <a:off x="7856525" y="6034126"/>
            <a:ext cx="9144" cy="286207"/>
          </a:xfrm>
          <a:prstGeom prst="rect">
            <a:avLst/>
          </a:prstGeom>
        </p:spPr>
      </p:pic>
      <p:sp>
        <p:nvSpPr>
          <p:cNvPr id="52" name="Text 38"/>
          <p:cNvSpPr txBox="1"/>
          <p:nvPr/>
        </p:nvSpPr>
        <p:spPr>
          <a:xfrm>
            <a:off x="7952537" y="5981090"/>
            <a:ext cx="1638605" cy="228600"/>
          </a:xfrm>
          <a:prstGeom prst="rect">
            <a:avLst/>
          </a:prstGeom>
          <a:noFill/>
          <a:ln/>
        </p:spPr>
        <p:txBody>
          <a:bodyPr wrap="square" lIns="0" tIns="0" rIns="0" bIns="0" rtlCol="0" anchor="ctr"/>
          <a:lstStyle/>
          <a:p>
            <a:pPr marL="0" indent="0" algn="ctr">
              <a:buNone/>
            </a:pPr>
            <a:r>
              <a:rPr lang="en-US" sz="1800" b="1">
                <a:solidFill>
                  <a:srgbClr val="2A9D8F"/>
                </a:solidFill>
                <a:latin typeface="Oswald" pitchFamily="34" charset="0"/>
                <a:ea typeface="Oswald" pitchFamily="34" charset="-122"/>
                <a:cs typeface="Oswald" pitchFamily="34" charset="-120"/>
              </a:rPr>
              <a:t>Weeks</a:t>
            </a:r>
            <a:endParaRPr lang="en-US" sz="1800"/>
          </a:p>
        </p:txBody>
      </p:sp>
      <p:sp>
        <p:nvSpPr>
          <p:cNvPr id="53" name="Text 39"/>
          <p:cNvSpPr txBox="1"/>
          <p:nvPr/>
        </p:nvSpPr>
        <p:spPr>
          <a:xfrm>
            <a:off x="7952537"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PoC to Production</a:t>
            </a:r>
            <a:endParaRPr lang="en-US" sz="800"/>
          </a:p>
        </p:txBody>
      </p:sp>
      <p:pic>
        <p:nvPicPr>
          <p:cNvPr id="54" name="Image 12" descr="gen-dedup-bc499f386c10f37c45470adccc65c0cd.png"/>
          <p:cNvPicPr>
            <a:picLocks noChangeAspect="1"/>
          </p:cNvPicPr>
          <p:nvPr/>
        </p:nvPicPr>
        <p:blipFill>
          <a:blip r:embed="rId9"/>
          <a:srcRect t="-2165" b="-2165"/>
          <a:stretch/>
        </p:blipFill>
        <p:spPr>
          <a:xfrm>
            <a:off x="9671609" y="6034126"/>
            <a:ext cx="9144" cy="286207"/>
          </a:xfrm>
          <a:prstGeom prst="rect">
            <a:avLst/>
          </a:prstGeom>
        </p:spPr>
      </p:pic>
      <p:sp>
        <p:nvSpPr>
          <p:cNvPr id="55" name="Text 40"/>
          <p:cNvSpPr txBox="1"/>
          <p:nvPr/>
        </p:nvSpPr>
        <p:spPr>
          <a:xfrm>
            <a:off x="9767621"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0</a:t>
            </a:r>
            <a:endParaRPr lang="en-US" sz="1800"/>
          </a:p>
        </p:txBody>
      </p:sp>
      <p:sp>
        <p:nvSpPr>
          <p:cNvPr id="56" name="Text 41"/>
          <p:cNvSpPr txBox="1"/>
          <p:nvPr/>
        </p:nvSpPr>
        <p:spPr>
          <a:xfrm>
            <a:off x="9767621"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Subcontracting</a:t>
            </a:r>
            <a:endParaRPr lang="en-US" sz="800"/>
          </a:p>
        </p:txBody>
      </p:sp>
    </p:spTree>
    <p:extLst>
      <p:ext uri="{BB962C8B-B14F-4D97-AF65-F5344CB8AC3E}">
        <p14:creationId xmlns:p14="http://schemas.microsoft.com/office/powerpoint/2010/main" val="3072768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52805"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sp>
        <p:nvSpPr>
          <p:cNvPr id="7" name="Shape 3"/>
          <p:cNvSpPr/>
          <p:nvPr/>
        </p:nvSpPr>
        <p:spPr>
          <a:xfrm>
            <a:off x="9525305" y="4762195"/>
            <a:ext cx="2857500" cy="2857500"/>
          </a:xfrm>
          <a:prstGeom prst="ellipse">
            <a:avLst/>
          </a:prstGeom>
          <a:solidFill>
            <a:srgbClr val="D62839">
              <a:alpha val="3000"/>
            </a:srgbClr>
          </a:solidFill>
          <a:ln w="12700">
            <a:solidFill>
              <a:srgbClr val="FFFFFF">
                <a:alpha val="0"/>
              </a:srgbClr>
            </a:solidFill>
            <a:prstDash val="solid"/>
          </a:ln>
        </p:spPr>
        <p:txBody>
          <a:bodyPr/>
          <a:lstStyle/>
          <a:p>
            <a:endParaRPr lang="en-US"/>
          </a:p>
        </p:txBody>
      </p:sp>
      <p:pic>
        <p:nvPicPr>
          <p:cNvPr id="8" name="Image 2" descr="preencoded.png"/>
          <p:cNvPicPr>
            <a:picLocks noChangeAspect="1"/>
          </p:cNvPicPr>
          <p:nvPr/>
        </p:nvPicPr>
        <p:blipFill>
          <a:blip r:embed="rId5"/>
          <a:srcRect l="-400" r="-400"/>
          <a:stretch/>
        </p:blipFill>
        <p:spPr>
          <a:xfrm>
            <a:off x="609905" y="571500"/>
            <a:ext cx="57607" cy="571500"/>
          </a:xfrm>
          <a:prstGeom prst="rect">
            <a:avLst/>
          </a:prstGeom>
        </p:spPr>
      </p:pic>
      <p:sp>
        <p:nvSpPr>
          <p:cNvPr id="9" name="Shape 4"/>
          <p:cNvSpPr/>
          <p:nvPr/>
        </p:nvSpPr>
        <p:spPr>
          <a:xfrm>
            <a:off x="60990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5"/>
          <p:cNvSpPr/>
          <p:nvPr/>
        </p:nvSpPr>
        <p:spPr>
          <a:xfrm>
            <a:off x="60990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1" name="Shape 6"/>
          <p:cNvSpPr/>
          <p:nvPr/>
        </p:nvSpPr>
        <p:spPr>
          <a:xfrm>
            <a:off x="3372307"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7"/>
          <p:cNvSpPr/>
          <p:nvPr/>
        </p:nvSpPr>
        <p:spPr>
          <a:xfrm>
            <a:off x="3372307"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3" name="Shape 8"/>
          <p:cNvSpPr/>
          <p:nvPr/>
        </p:nvSpPr>
        <p:spPr>
          <a:xfrm>
            <a:off x="613379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9"/>
          <p:cNvSpPr/>
          <p:nvPr/>
        </p:nvSpPr>
        <p:spPr>
          <a:xfrm>
            <a:off x="613379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5" name="Shape 10"/>
          <p:cNvSpPr/>
          <p:nvPr/>
        </p:nvSpPr>
        <p:spPr>
          <a:xfrm>
            <a:off x="8896198"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1"/>
          <p:cNvSpPr/>
          <p:nvPr/>
        </p:nvSpPr>
        <p:spPr>
          <a:xfrm>
            <a:off x="8896198"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7" name="Shape 12"/>
          <p:cNvSpPr/>
          <p:nvPr/>
        </p:nvSpPr>
        <p:spPr>
          <a:xfrm>
            <a:off x="609905" y="3619195"/>
            <a:ext cx="10916107" cy="2876702"/>
          </a:xfrm>
          <a:prstGeom prst="roundRect">
            <a:avLst>
              <a:gd name="adj" fmla="val 168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pic>
        <p:nvPicPr>
          <p:cNvPr id="18" name="Image 3" descr="preencoded.png"/>
          <p:cNvPicPr>
            <a:picLocks noChangeAspect="1"/>
          </p:cNvPicPr>
          <p:nvPr/>
        </p:nvPicPr>
        <p:blipFill>
          <a:blip r:embed="rId6"/>
          <a:srcRect t="-29" b="-29"/>
          <a:stretch/>
        </p:blipFill>
        <p:spPr>
          <a:xfrm>
            <a:off x="609905" y="3619195"/>
            <a:ext cx="10896905" cy="495605"/>
          </a:xfrm>
          <a:prstGeom prst="rect">
            <a:avLst/>
          </a:prstGeom>
        </p:spPr>
      </p:pic>
      <p:sp>
        <p:nvSpPr>
          <p:cNvPr id="19" name="Shape 13"/>
          <p:cNvSpPr/>
          <p:nvPr/>
        </p:nvSpPr>
        <p:spPr>
          <a:xfrm>
            <a:off x="609905" y="4572000"/>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0" name="Shape 14"/>
          <p:cNvSpPr/>
          <p:nvPr/>
        </p:nvSpPr>
        <p:spPr>
          <a:xfrm>
            <a:off x="609905" y="4572000"/>
            <a:ext cx="10896905" cy="485546"/>
          </a:xfrm>
          <a:prstGeom prst="rect">
            <a:avLst/>
          </a:prstGeom>
          <a:solidFill>
            <a:srgbClr val="2A9D8F">
              <a:alpha val="2000"/>
            </a:srgbClr>
          </a:solidFill>
          <a:ln/>
        </p:spPr>
        <p:txBody>
          <a:bodyPr/>
          <a:lstStyle/>
          <a:p>
            <a:endParaRPr lang="en-US"/>
          </a:p>
        </p:txBody>
      </p:sp>
      <p:sp>
        <p:nvSpPr>
          <p:cNvPr id="21" name="Shape 15"/>
          <p:cNvSpPr/>
          <p:nvPr/>
        </p:nvSpPr>
        <p:spPr>
          <a:xfrm>
            <a:off x="609905" y="5048402"/>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2" name="Shape 16"/>
          <p:cNvSpPr/>
          <p:nvPr/>
        </p:nvSpPr>
        <p:spPr>
          <a:xfrm>
            <a:off x="609905" y="5524805"/>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3" name="Shape 17"/>
          <p:cNvSpPr/>
          <p:nvPr/>
        </p:nvSpPr>
        <p:spPr>
          <a:xfrm>
            <a:off x="609905" y="5524805"/>
            <a:ext cx="10896905" cy="485546"/>
          </a:xfrm>
          <a:prstGeom prst="rect">
            <a:avLst/>
          </a:prstGeom>
          <a:solidFill>
            <a:srgbClr val="2A9D8F">
              <a:alpha val="2000"/>
            </a:srgbClr>
          </a:solidFill>
          <a:ln/>
        </p:spPr>
        <p:txBody>
          <a:bodyPr/>
          <a:lstStyle/>
          <a:p>
            <a:endParaRPr lang="en-US"/>
          </a:p>
        </p:txBody>
      </p:sp>
      <p:sp>
        <p:nvSpPr>
          <p:cNvPr id="24" name="Shape 18"/>
          <p:cNvSpPr/>
          <p:nvPr/>
        </p:nvSpPr>
        <p:spPr>
          <a:xfrm>
            <a:off x="609905" y="6001207"/>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5" name="Text 19"/>
          <p:cNvSpPr txBox="1"/>
          <p:nvPr/>
        </p:nvSpPr>
        <p:spPr>
          <a:xfrm>
            <a:off x="857707" y="466344"/>
            <a:ext cx="10668305" cy="362102"/>
          </a:xfrm>
          <a:prstGeom prst="rect">
            <a:avLst/>
          </a:prstGeom>
          <a:noFill/>
          <a:ln/>
        </p:spPr>
        <p:txBody>
          <a:bodyPr wrap="square" lIns="0" tIns="0" rIns="0" bIns="0" rtlCol="0" anchor="ctr"/>
          <a:lstStyle/>
          <a:p>
            <a:pPr marL="0" indent="0" algn="l">
              <a:buNone/>
            </a:pPr>
            <a:r>
              <a:rPr lang="en-US" sz="2700" b="1" kern="0" spc="38">
                <a:solidFill>
                  <a:srgbClr val="111827"/>
                </a:solidFill>
                <a:latin typeface="Oswald" pitchFamily="34" charset="0"/>
                <a:ea typeface="Oswald" pitchFamily="34" charset="-122"/>
                <a:cs typeface="Oswald" pitchFamily="34" charset="-120"/>
              </a:rPr>
              <a:t>Introducing the AI-First Pod Model</a:t>
            </a:r>
            <a:endParaRPr lang="en-US" sz="2700"/>
          </a:p>
        </p:txBody>
      </p:sp>
      <p:sp>
        <p:nvSpPr>
          <p:cNvPr id="26" name="Text 20"/>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a:solidFill>
                  <a:srgbClr val="D62839"/>
                </a:solidFill>
                <a:latin typeface="Roboto Condensed" pitchFamily="34" charset="0"/>
                <a:ea typeface="Roboto Condensed" pitchFamily="34" charset="-122"/>
                <a:cs typeface="Roboto Condensed" pitchFamily="34" charset="-120"/>
              </a:rPr>
              <a:t>A MANAGED, GOVERNED ENGINEERING UNIT - NOT JUST STAFFING WITH A WRAPPER.</a:t>
            </a:r>
            <a:endParaRPr lang="en-US" sz="1300"/>
          </a:p>
        </p:txBody>
      </p:sp>
      <p:pic>
        <p:nvPicPr>
          <p:cNvPr id="27" name="Image 4" descr="preencoded.png"/>
          <p:cNvPicPr>
            <a:picLocks noChangeAspect="1"/>
          </p:cNvPicPr>
          <p:nvPr/>
        </p:nvPicPr>
        <p:blipFill>
          <a:blip r:embed="rId7"/>
          <a:srcRect/>
          <a:stretch/>
        </p:blipFill>
        <p:spPr>
          <a:xfrm>
            <a:off x="823874" y="1772107"/>
            <a:ext cx="333756" cy="267005"/>
          </a:xfrm>
          <a:prstGeom prst="rect">
            <a:avLst/>
          </a:prstGeom>
        </p:spPr>
      </p:pic>
      <p:sp>
        <p:nvSpPr>
          <p:cNvPr id="28" name="Text 21"/>
          <p:cNvSpPr txBox="1"/>
          <p:nvPr/>
        </p:nvSpPr>
        <p:spPr>
          <a:xfrm>
            <a:off x="800100"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Engineering Team</a:t>
            </a:r>
            <a:endParaRPr lang="en-US" sz="1500"/>
          </a:p>
        </p:txBody>
      </p:sp>
      <p:sp>
        <p:nvSpPr>
          <p:cNvPr id="29" name="Text 22"/>
          <p:cNvSpPr txBox="1"/>
          <p:nvPr/>
        </p:nvSpPr>
        <p:spPr>
          <a:xfrm>
            <a:off x="800100"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Dedicated engineers (Java, Python, DevOps) - hired, vetted, and onboarded by J2W.</a:t>
            </a:r>
            <a:endParaRPr lang="en-US" sz="1000"/>
          </a:p>
        </p:txBody>
      </p:sp>
      <p:pic>
        <p:nvPicPr>
          <p:cNvPr id="30" name="Image 5" descr="preencoded.png"/>
          <p:cNvPicPr>
            <a:picLocks noChangeAspect="1"/>
          </p:cNvPicPr>
          <p:nvPr/>
        </p:nvPicPr>
        <p:blipFill>
          <a:blip r:embed="rId8"/>
          <a:srcRect l="-881" r="-881"/>
          <a:stretch/>
        </p:blipFill>
        <p:spPr>
          <a:xfrm>
            <a:off x="3633826" y="1772107"/>
            <a:ext cx="237744" cy="267005"/>
          </a:xfrm>
          <a:prstGeom prst="rect">
            <a:avLst/>
          </a:prstGeom>
        </p:spPr>
      </p:pic>
      <p:sp>
        <p:nvSpPr>
          <p:cNvPr id="31" name="Text 23"/>
          <p:cNvSpPr txBox="1"/>
          <p:nvPr/>
        </p:nvSpPr>
        <p:spPr>
          <a:xfrm>
            <a:off x="3562502"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Pod Lead</a:t>
            </a:r>
            <a:endParaRPr lang="en-US" sz="1500"/>
          </a:p>
        </p:txBody>
      </p:sp>
      <p:sp>
        <p:nvSpPr>
          <p:cNvPr id="32" name="Text 24"/>
          <p:cNvSpPr txBox="1"/>
          <p:nvPr/>
        </p:nvSpPr>
        <p:spPr>
          <a:xfrm>
            <a:off x="3562502"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A J2W program manager who owns delivery, sprint governance, and client alignment.</a:t>
            </a:r>
            <a:endParaRPr lang="en-US" sz="1000"/>
          </a:p>
        </p:txBody>
      </p:sp>
      <p:pic>
        <p:nvPicPr>
          <p:cNvPr id="33" name="Image 6" descr="preencoded.png"/>
          <p:cNvPicPr>
            <a:picLocks noChangeAspect="1"/>
          </p:cNvPicPr>
          <p:nvPr/>
        </p:nvPicPr>
        <p:blipFill>
          <a:blip r:embed="rId9"/>
          <a:srcRect/>
          <a:stretch/>
        </p:blipFill>
        <p:spPr>
          <a:xfrm>
            <a:off x="6381598" y="1772107"/>
            <a:ext cx="267005" cy="267005"/>
          </a:xfrm>
          <a:prstGeom prst="rect">
            <a:avLst/>
          </a:prstGeom>
        </p:spPr>
      </p:pic>
      <p:sp>
        <p:nvSpPr>
          <p:cNvPr id="34" name="Text 25"/>
          <p:cNvSpPr txBox="1"/>
          <p:nvPr/>
        </p:nvSpPr>
        <p:spPr>
          <a:xfrm>
            <a:off x="6324905" y="2190902"/>
            <a:ext cx="265267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Performance Governance</a:t>
            </a:r>
            <a:endParaRPr lang="en-US" sz="1500"/>
          </a:p>
        </p:txBody>
      </p:sp>
      <p:sp>
        <p:nvSpPr>
          <p:cNvPr id="35" name="Text 26"/>
          <p:cNvSpPr txBox="1"/>
          <p:nvPr/>
        </p:nvSpPr>
        <p:spPr>
          <a:xfrm>
            <a:off x="6324905" y="2514600"/>
            <a:ext cx="2305202" cy="543154"/>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Weekly performance tracking, SLA metrics, velocity monitoring, proactive resolution.</a:t>
            </a:r>
            <a:endParaRPr lang="en-US" sz="1000"/>
          </a:p>
        </p:txBody>
      </p:sp>
      <p:pic>
        <p:nvPicPr>
          <p:cNvPr id="36" name="Image 7" descr="preencoded.png"/>
          <p:cNvPicPr>
            <a:picLocks noChangeAspect="1"/>
          </p:cNvPicPr>
          <p:nvPr/>
        </p:nvPicPr>
        <p:blipFill>
          <a:blip r:embed="rId10"/>
          <a:srcRect/>
          <a:stretch/>
        </p:blipFill>
        <p:spPr>
          <a:xfrm>
            <a:off x="9144000" y="1772107"/>
            <a:ext cx="267005" cy="267005"/>
          </a:xfrm>
          <a:prstGeom prst="rect">
            <a:avLst/>
          </a:prstGeom>
        </p:spPr>
      </p:pic>
      <p:sp>
        <p:nvSpPr>
          <p:cNvPr id="37" name="Text 27"/>
          <p:cNvSpPr txBox="1"/>
          <p:nvPr/>
        </p:nvSpPr>
        <p:spPr>
          <a:xfrm>
            <a:off x="9087307" y="2190902"/>
            <a:ext cx="2451506"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AI-First L&amp;D Program</a:t>
            </a:r>
            <a:endParaRPr lang="en-US" sz="1500"/>
          </a:p>
        </p:txBody>
      </p:sp>
      <p:sp>
        <p:nvSpPr>
          <p:cNvPr id="38" name="Text 28"/>
          <p:cNvSpPr txBox="1"/>
          <p:nvPr/>
        </p:nvSpPr>
        <p:spPr>
          <a:xfrm>
            <a:off x="9087307"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Continuous AI training - hands-on, contextual upskilling powered by Research Wing.</a:t>
            </a:r>
            <a:endParaRPr lang="en-US" sz="1000"/>
          </a:p>
        </p:txBody>
      </p:sp>
      <p:sp>
        <p:nvSpPr>
          <p:cNvPr id="39" name="Text 29"/>
          <p:cNvSpPr txBox="1"/>
          <p:nvPr/>
        </p:nvSpPr>
        <p:spPr>
          <a:xfrm>
            <a:off x="800100" y="3762756"/>
            <a:ext cx="277429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Dimension</a:t>
            </a:r>
            <a:endParaRPr lang="en-US" sz="1200"/>
          </a:p>
        </p:txBody>
      </p:sp>
      <p:sp>
        <p:nvSpPr>
          <p:cNvPr id="40" name="Text 30"/>
          <p:cNvSpPr txBox="1"/>
          <p:nvPr/>
        </p:nvSpPr>
        <p:spPr>
          <a:xfrm>
            <a:off x="3657600" y="3762756"/>
            <a:ext cx="354330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Traditional Staffing</a:t>
            </a:r>
            <a:endParaRPr lang="en-US" sz="1200"/>
          </a:p>
        </p:txBody>
      </p:sp>
      <p:sp>
        <p:nvSpPr>
          <p:cNvPr id="41" name="Text 31"/>
          <p:cNvSpPr txBox="1"/>
          <p:nvPr/>
        </p:nvSpPr>
        <p:spPr>
          <a:xfrm>
            <a:off x="7276795" y="3762756"/>
            <a:ext cx="4114800" cy="228600"/>
          </a:xfrm>
          <a:prstGeom prst="rect">
            <a:avLst/>
          </a:prstGeom>
          <a:noFill/>
          <a:ln/>
        </p:spPr>
        <p:txBody>
          <a:bodyPr wrap="square" lIns="0" tIns="0" rIns="0" bIns="0" rtlCol="0" anchor="ctr"/>
          <a:lstStyle/>
          <a:p>
            <a:pPr marL="0" indent="0" algn="l">
              <a:buNone/>
            </a:pPr>
            <a:r>
              <a:rPr lang="en-US" sz="1200" b="1" kern="0" spc="75">
                <a:solidFill>
                  <a:srgbClr val="2A9D8F"/>
                </a:solidFill>
                <a:latin typeface="Oswald" pitchFamily="34" charset="0"/>
                <a:ea typeface="Oswald" pitchFamily="34" charset="-122"/>
                <a:cs typeface="Oswald" pitchFamily="34" charset="-120"/>
              </a:rPr>
              <a:t>AI-First Pod</a:t>
            </a:r>
            <a:endParaRPr lang="en-US" sz="1200"/>
          </a:p>
        </p:txBody>
      </p:sp>
      <p:sp>
        <p:nvSpPr>
          <p:cNvPr id="42" name="Text 32"/>
          <p:cNvSpPr txBox="1"/>
          <p:nvPr/>
        </p:nvSpPr>
        <p:spPr>
          <a:xfrm>
            <a:off x="800100" y="423824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Governance</a:t>
            </a:r>
            <a:endParaRPr lang="en-US" sz="1200"/>
          </a:p>
        </p:txBody>
      </p:sp>
      <p:sp>
        <p:nvSpPr>
          <p:cNvPr id="43" name="Text 33"/>
          <p:cNvSpPr txBox="1"/>
          <p:nvPr/>
        </p:nvSpPr>
        <p:spPr>
          <a:xfrm>
            <a:off x="3657600" y="423824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Client's burden</a:t>
            </a:r>
            <a:endParaRPr lang="en-US" sz="1100"/>
          </a:p>
        </p:txBody>
      </p:sp>
      <p:pic>
        <p:nvPicPr>
          <p:cNvPr id="44" name="Image 8" descr="preencoded.png"/>
          <p:cNvPicPr>
            <a:picLocks noChangeAspect="1"/>
          </p:cNvPicPr>
          <p:nvPr/>
        </p:nvPicPr>
        <p:blipFill>
          <a:blip r:embed="rId11"/>
          <a:srcRect t="-1100" b="-1100"/>
          <a:stretch/>
        </p:blipFill>
        <p:spPr>
          <a:xfrm>
            <a:off x="7276795" y="4257446"/>
            <a:ext cx="114300" cy="133502"/>
          </a:xfrm>
          <a:prstGeom prst="rect">
            <a:avLst/>
          </a:prstGeom>
        </p:spPr>
      </p:pic>
      <p:sp>
        <p:nvSpPr>
          <p:cNvPr id="45" name="Text 34"/>
          <p:cNvSpPr txBox="1"/>
          <p:nvPr/>
        </p:nvSpPr>
        <p:spPr>
          <a:xfrm>
            <a:off x="7524598" y="4238244"/>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J2W-owned</a:t>
            </a:r>
            <a:endParaRPr lang="en-US" sz="1100"/>
          </a:p>
        </p:txBody>
      </p:sp>
      <p:sp>
        <p:nvSpPr>
          <p:cNvPr id="46" name="Text 35"/>
          <p:cNvSpPr txBox="1"/>
          <p:nvPr/>
        </p:nvSpPr>
        <p:spPr>
          <a:xfrm>
            <a:off x="800100" y="4714646"/>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Upskilling</a:t>
            </a:r>
            <a:endParaRPr lang="en-US" sz="1200"/>
          </a:p>
        </p:txBody>
      </p:sp>
      <p:sp>
        <p:nvSpPr>
          <p:cNvPr id="47" name="Text 36"/>
          <p:cNvSpPr txBox="1"/>
          <p:nvPr/>
        </p:nvSpPr>
        <p:spPr>
          <a:xfrm>
            <a:off x="3657600" y="4714646"/>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Engineer's personal initiative</a:t>
            </a:r>
            <a:endParaRPr lang="en-US" sz="1100"/>
          </a:p>
        </p:txBody>
      </p:sp>
      <p:pic>
        <p:nvPicPr>
          <p:cNvPr id="48" name="Image 9" descr="preencoded.png"/>
          <p:cNvPicPr>
            <a:picLocks noChangeAspect="1"/>
          </p:cNvPicPr>
          <p:nvPr/>
        </p:nvPicPr>
        <p:blipFill>
          <a:blip r:embed="rId11"/>
          <a:srcRect t="-1100" b="-1100"/>
          <a:stretch/>
        </p:blipFill>
        <p:spPr>
          <a:xfrm>
            <a:off x="7276795" y="4733849"/>
            <a:ext cx="114300" cy="133502"/>
          </a:xfrm>
          <a:prstGeom prst="rect">
            <a:avLst/>
          </a:prstGeom>
        </p:spPr>
      </p:pic>
      <p:sp>
        <p:nvSpPr>
          <p:cNvPr id="49" name="Text 37"/>
          <p:cNvSpPr txBox="1"/>
          <p:nvPr/>
        </p:nvSpPr>
        <p:spPr>
          <a:xfrm>
            <a:off x="7524598" y="4714646"/>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Structured, continuous, AI-focused</a:t>
            </a:r>
            <a:endParaRPr lang="en-US" sz="1100"/>
          </a:p>
        </p:txBody>
      </p:sp>
      <p:sp>
        <p:nvSpPr>
          <p:cNvPr id="50" name="Text 38"/>
          <p:cNvSpPr txBox="1"/>
          <p:nvPr/>
        </p:nvSpPr>
        <p:spPr>
          <a:xfrm>
            <a:off x="800100" y="5191049"/>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Performance Issues</a:t>
            </a:r>
            <a:endParaRPr lang="en-US" sz="1200"/>
          </a:p>
        </p:txBody>
      </p:sp>
      <p:sp>
        <p:nvSpPr>
          <p:cNvPr id="51" name="Text 39"/>
          <p:cNvSpPr txBox="1"/>
          <p:nvPr/>
        </p:nvSpPr>
        <p:spPr>
          <a:xfrm>
            <a:off x="3657600" y="5191049"/>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Escalation after the fact</a:t>
            </a:r>
            <a:endParaRPr lang="en-US" sz="1100"/>
          </a:p>
        </p:txBody>
      </p:sp>
      <p:pic>
        <p:nvPicPr>
          <p:cNvPr id="52" name="Image 10" descr="preencoded.png"/>
          <p:cNvPicPr>
            <a:picLocks noChangeAspect="1"/>
          </p:cNvPicPr>
          <p:nvPr/>
        </p:nvPicPr>
        <p:blipFill>
          <a:blip r:embed="rId11"/>
          <a:srcRect t="-1100" b="-1100"/>
          <a:stretch/>
        </p:blipFill>
        <p:spPr>
          <a:xfrm>
            <a:off x="7276795" y="5210251"/>
            <a:ext cx="114300" cy="133502"/>
          </a:xfrm>
          <a:prstGeom prst="rect">
            <a:avLst/>
          </a:prstGeom>
        </p:spPr>
      </p:pic>
      <p:sp>
        <p:nvSpPr>
          <p:cNvPr id="53" name="Text 40"/>
          <p:cNvSpPr txBox="1"/>
          <p:nvPr/>
        </p:nvSpPr>
        <p:spPr>
          <a:xfrm>
            <a:off x="7524598" y="5191049"/>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Proactive monitoring &amp; intervention</a:t>
            </a:r>
            <a:endParaRPr lang="en-US" sz="1100"/>
          </a:p>
        </p:txBody>
      </p:sp>
      <p:sp>
        <p:nvSpPr>
          <p:cNvPr id="54" name="Text 41"/>
          <p:cNvSpPr txBox="1"/>
          <p:nvPr/>
        </p:nvSpPr>
        <p:spPr>
          <a:xfrm>
            <a:off x="800100" y="5667451"/>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Knowledge Retention</a:t>
            </a:r>
            <a:endParaRPr lang="en-US" sz="1200"/>
          </a:p>
        </p:txBody>
      </p:sp>
      <p:sp>
        <p:nvSpPr>
          <p:cNvPr id="55" name="Text 42"/>
          <p:cNvSpPr txBox="1"/>
          <p:nvPr/>
        </p:nvSpPr>
        <p:spPr>
          <a:xfrm>
            <a:off x="3657600" y="5667451"/>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Lost with attrition</a:t>
            </a:r>
            <a:endParaRPr lang="en-US" sz="1100"/>
          </a:p>
        </p:txBody>
      </p:sp>
      <p:pic>
        <p:nvPicPr>
          <p:cNvPr id="56" name="Image 11" descr="preencoded.png"/>
          <p:cNvPicPr>
            <a:picLocks noChangeAspect="1"/>
          </p:cNvPicPr>
          <p:nvPr/>
        </p:nvPicPr>
        <p:blipFill>
          <a:blip r:embed="rId11"/>
          <a:srcRect t="-1100" b="-1100"/>
          <a:stretch/>
        </p:blipFill>
        <p:spPr>
          <a:xfrm>
            <a:off x="7276795" y="5686654"/>
            <a:ext cx="114300" cy="133502"/>
          </a:xfrm>
          <a:prstGeom prst="rect">
            <a:avLst/>
          </a:prstGeom>
        </p:spPr>
      </p:pic>
      <p:sp>
        <p:nvSpPr>
          <p:cNvPr id="57" name="Text 43"/>
          <p:cNvSpPr txBox="1"/>
          <p:nvPr/>
        </p:nvSpPr>
        <p:spPr>
          <a:xfrm>
            <a:off x="7524598" y="5667451"/>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Captured in Knowledge Repository</a:t>
            </a:r>
            <a:endParaRPr lang="en-US" sz="1100"/>
          </a:p>
        </p:txBody>
      </p:sp>
      <p:sp>
        <p:nvSpPr>
          <p:cNvPr id="58" name="Text 44"/>
          <p:cNvSpPr txBox="1"/>
          <p:nvPr/>
        </p:nvSpPr>
        <p:spPr>
          <a:xfrm>
            <a:off x="800100" y="614385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AI Readiness</a:t>
            </a:r>
            <a:endParaRPr lang="en-US" sz="1200"/>
          </a:p>
        </p:txBody>
      </p:sp>
      <p:sp>
        <p:nvSpPr>
          <p:cNvPr id="59" name="Text 45"/>
          <p:cNvSpPr txBox="1"/>
          <p:nvPr/>
        </p:nvSpPr>
        <p:spPr>
          <a:xfrm>
            <a:off x="3657600" y="614385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Ad hoc</a:t>
            </a:r>
            <a:endParaRPr lang="en-US" sz="1100"/>
          </a:p>
        </p:txBody>
      </p:sp>
      <p:pic>
        <p:nvPicPr>
          <p:cNvPr id="60" name="Image 12" descr="preencoded.png"/>
          <p:cNvPicPr>
            <a:picLocks noChangeAspect="1"/>
          </p:cNvPicPr>
          <p:nvPr/>
        </p:nvPicPr>
        <p:blipFill>
          <a:blip r:embed="rId12"/>
          <a:srcRect t="-1100" b="-1100"/>
          <a:stretch/>
        </p:blipFill>
        <p:spPr>
          <a:xfrm>
            <a:off x="7276795" y="6163056"/>
            <a:ext cx="114300" cy="133502"/>
          </a:xfrm>
          <a:prstGeom prst="rect">
            <a:avLst/>
          </a:prstGeom>
        </p:spPr>
      </p:pic>
      <p:sp>
        <p:nvSpPr>
          <p:cNvPr id="61" name="Text 46"/>
          <p:cNvSpPr txBox="1"/>
          <p:nvPr/>
        </p:nvSpPr>
        <p:spPr>
          <a:xfrm>
            <a:off x="7524598" y="6143854"/>
            <a:ext cx="3829507" cy="171907"/>
          </a:xfrm>
          <a:prstGeom prst="rect">
            <a:avLst/>
          </a:prstGeom>
          <a:noFill/>
          <a:ln/>
        </p:spPr>
        <p:txBody>
          <a:bodyPr wrap="square" lIns="0" tIns="0" rIns="0" bIns="0" rtlCol="0" anchor="ctr"/>
          <a:lstStyle/>
          <a:p>
            <a:pPr marL="0" indent="0" algn="l">
              <a:buNone/>
            </a:pPr>
            <a:r>
              <a:rPr lang="en-US" sz="1100" b="1">
                <a:solidFill>
                  <a:srgbClr val="D62839"/>
                </a:solidFill>
                <a:latin typeface="Raleway" pitchFamily="34" charset="0"/>
                <a:ea typeface="Raleway" pitchFamily="34" charset="-122"/>
                <a:cs typeface="Raleway" pitchFamily="34" charset="-120"/>
              </a:rPr>
              <a:t>Embedded from Day 1</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334195" y="-1429207"/>
            <a:ext cx="4762195" cy="476219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preencoded.png"/>
          <p:cNvPicPr>
            <a:picLocks noChangeAspect="1"/>
          </p:cNvPicPr>
          <p:nvPr/>
        </p:nvPicPr>
        <p:blipFill>
          <a:blip r:embed="rId5">
            <a:alphaModFix amt="15000"/>
          </a:blip>
          <a:srcRect/>
          <a:stretch/>
        </p:blipFill>
        <p:spPr>
          <a:xfrm>
            <a:off x="571500" y="1143000"/>
            <a:ext cx="1429207" cy="1429207"/>
          </a:xfrm>
          <a:prstGeom prst="rect">
            <a:avLst/>
          </a:prstGeom>
        </p:spPr>
      </p:pic>
      <p:pic>
        <p:nvPicPr>
          <p:cNvPr id="8" name="Image 3" descr="preencoded.png"/>
          <p:cNvPicPr>
            <a:picLocks noChangeAspect="1"/>
          </p:cNvPicPr>
          <p:nvPr/>
        </p:nvPicPr>
        <p:blipFill>
          <a:blip r:embed="rId6"/>
          <a:srcRect l="-400" r="-400"/>
          <a:stretch/>
        </p:blipFill>
        <p:spPr>
          <a:xfrm>
            <a:off x="609905" y="571500"/>
            <a:ext cx="57607" cy="571500"/>
          </a:xfrm>
          <a:prstGeom prst="rect">
            <a:avLst/>
          </a:prstGeom>
        </p:spPr>
      </p:pic>
      <p:sp>
        <p:nvSpPr>
          <p:cNvPr id="9" name="Shape 3"/>
          <p:cNvSpPr/>
          <p:nvPr/>
        </p:nvSpPr>
        <p:spPr>
          <a:xfrm>
            <a:off x="609905" y="1524305"/>
            <a:ext cx="11039551" cy="1752905"/>
          </a:xfrm>
          <a:prstGeom prst="roundRect">
            <a:avLst>
              <a:gd name="adj" fmla="val 4536"/>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524305"/>
            <a:ext cx="57607" cy="1752905"/>
          </a:xfrm>
          <a:prstGeom prst="roundRect">
            <a:avLst>
              <a:gd name="adj" fmla="val 138027"/>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609905" y="3429000"/>
            <a:ext cx="11039551" cy="2305202"/>
          </a:xfrm>
          <a:prstGeom prst="roundRect">
            <a:avLst>
              <a:gd name="adj" fmla="val 2623"/>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609905" y="3429000"/>
            <a:ext cx="57607" cy="2305202"/>
          </a:xfrm>
          <a:prstGeom prst="roundRect">
            <a:avLst>
              <a:gd name="adj" fmla="val 104946"/>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609905" y="5905195"/>
            <a:ext cx="10972800" cy="609905"/>
          </a:xfrm>
          <a:prstGeom prst="roundRect">
            <a:avLst>
              <a:gd name="adj" fmla="val 37481"/>
            </a:avLst>
          </a:prstGeom>
          <a:solidFill>
            <a:srgbClr val="2A9D8F"/>
          </a:solidFill>
          <a:ln w="12700">
            <a:solidFill>
              <a:srgbClr val="FFFFFF">
                <a:alpha val="0"/>
              </a:srgbClr>
            </a:solidFill>
            <a:prstDash val="solid"/>
          </a:ln>
          <a:effectLst>
            <a:outerShdw blurRad="101600" dist="38100" dir="16200000" algn="bl" rotWithShape="0">
              <a:srgbClr val="2A9D8F">
                <a:alpha val="20000"/>
              </a:srgbClr>
            </a:outerShdw>
          </a:effectLst>
        </p:spPr>
        <p:txBody>
          <a:bodyPr/>
          <a:lstStyle/>
          <a:p>
            <a:endParaRPr lang="en-US"/>
          </a:p>
        </p:txBody>
      </p:sp>
      <p:sp>
        <p:nvSpPr>
          <p:cNvPr id="14" name="Text 8"/>
          <p:cNvSpPr txBox="1"/>
          <p:nvPr/>
        </p:nvSpPr>
        <p:spPr>
          <a:xfrm>
            <a:off x="857707" y="428854"/>
            <a:ext cx="10668305" cy="362102"/>
          </a:xfrm>
          <a:prstGeom prst="rect">
            <a:avLst/>
          </a:prstGeom>
          <a:noFill/>
          <a:ln/>
        </p:spPr>
        <p:txBody>
          <a:bodyPr wrap="square" lIns="0" tIns="0" rIns="0" bIns="0" rtlCol="0" anchor="ctr"/>
          <a:lstStyle/>
          <a:p>
            <a:pPr marL="0" indent="0" algn="l">
              <a:buNone/>
            </a:pPr>
            <a:r>
              <a:rPr lang="en-US" sz="2700" b="1" kern="0" spc="38">
                <a:solidFill>
                  <a:srgbClr val="111827"/>
                </a:solidFill>
                <a:latin typeface="Oswald" pitchFamily="34" charset="0"/>
                <a:ea typeface="Oswald" pitchFamily="34" charset="-122"/>
                <a:cs typeface="Oswald" pitchFamily="34" charset="-120"/>
              </a:rPr>
              <a:t>The J2W AI Research Wing</a:t>
            </a:r>
            <a:endParaRPr lang="en-US" sz="2700"/>
          </a:p>
        </p:txBody>
      </p:sp>
      <p:sp>
        <p:nvSpPr>
          <p:cNvPr id="15" name="Text 9"/>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a:solidFill>
                  <a:srgbClr val="2A9D8F"/>
                </a:solidFill>
                <a:latin typeface="Roboto Condensed" pitchFamily="34" charset="0"/>
                <a:ea typeface="Roboto Condensed" pitchFamily="34" charset="-122"/>
                <a:cs typeface="Roboto Condensed" pitchFamily="34" charset="-120"/>
              </a:rPr>
              <a:t>YOUR POD'S SECRET WEAPON</a:t>
            </a:r>
            <a:endParaRPr lang="en-US" sz="1300"/>
          </a:p>
        </p:txBody>
      </p:sp>
      <p:sp>
        <p:nvSpPr>
          <p:cNvPr id="16" name="Shape 10"/>
          <p:cNvSpPr/>
          <p:nvPr/>
        </p:nvSpPr>
        <p:spPr>
          <a:xfrm>
            <a:off x="990295" y="2085746"/>
            <a:ext cx="4476902" cy="19202"/>
          </a:xfrm>
          <a:prstGeom prst="rect">
            <a:avLst/>
          </a:prstGeom>
          <a:solidFill>
            <a:srgbClr val="2A9D8F">
              <a:alpha val="20000"/>
            </a:srgbClr>
          </a:solidFill>
          <a:ln w="12700">
            <a:solidFill>
              <a:srgbClr val="2A9D8F">
                <a:alpha val="0"/>
              </a:srgbClr>
            </a:solidFill>
            <a:prstDash val="solid"/>
          </a:ln>
        </p:spPr>
        <p:txBody>
          <a:bodyPr/>
          <a:lstStyle/>
          <a:p>
            <a:endParaRPr lang="en-US"/>
          </a:p>
        </p:txBody>
      </p:sp>
      <p:sp>
        <p:nvSpPr>
          <p:cNvPr id="17" name="Text 11"/>
          <p:cNvSpPr txBox="1"/>
          <p:nvPr/>
        </p:nvSpPr>
        <p:spPr>
          <a:xfrm>
            <a:off x="990295" y="1666951"/>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What Is the AI Research Wing?</a:t>
            </a:r>
            <a:endParaRPr lang="en-US" sz="1800"/>
          </a:p>
        </p:txBody>
      </p:sp>
      <p:pic>
        <p:nvPicPr>
          <p:cNvPr id="18" name="Image 4" descr="preencoded.png"/>
          <p:cNvPicPr>
            <a:picLocks noChangeAspect="1"/>
          </p:cNvPicPr>
          <p:nvPr/>
        </p:nvPicPr>
        <p:blipFill>
          <a:blip r:embed="rId7"/>
          <a:srcRect/>
          <a:stretch/>
        </p:blipFill>
        <p:spPr>
          <a:xfrm>
            <a:off x="1019556" y="2221992"/>
            <a:ext cx="171907" cy="171907"/>
          </a:xfrm>
          <a:prstGeom prst="rect">
            <a:avLst/>
          </a:prstGeom>
        </p:spPr>
      </p:pic>
      <p:sp>
        <p:nvSpPr>
          <p:cNvPr id="19" name="Text 12"/>
          <p:cNvSpPr txBox="1"/>
          <p:nvPr/>
        </p:nvSpPr>
        <p:spPr>
          <a:xfrm>
            <a:off x="1314907" y="2190902"/>
            <a:ext cx="9982505"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A dedicated team of AI researchers and engineers working on cutting-edge enterprise AI - agentic AI systems, LLM orchestration, model governance, and applied ML</a:t>
            </a:r>
            <a:endParaRPr lang="en-US" sz="1100"/>
          </a:p>
        </p:txBody>
      </p:sp>
      <p:pic>
        <p:nvPicPr>
          <p:cNvPr id="20" name="Image 5" descr="preencoded.png"/>
          <p:cNvPicPr>
            <a:picLocks noChangeAspect="1"/>
          </p:cNvPicPr>
          <p:nvPr/>
        </p:nvPicPr>
        <p:blipFill>
          <a:blip r:embed="rId8"/>
          <a:srcRect/>
          <a:stretch/>
        </p:blipFill>
        <p:spPr>
          <a:xfrm>
            <a:off x="1019556" y="2602382"/>
            <a:ext cx="171907" cy="171907"/>
          </a:xfrm>
          <a:prstGeom prst="rect">
            <a:avLst/>
          </a:prstGeom>
        </p:spPr>
      </p:pic>
      <p:sp>
        <p:nvSpPr>
          <p:cNvPr id="21" name="Text 13"/>
          <p:cNvSpPr txBox="1"/>
          <p:nvPr/>
        </p:nvSpPr>
        <p:spPr>
          <a:xfrm>
            <a:off x="1314907" y="2572207"/>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Currently building and publishing research on agentic AI architectures, prompt engineering frameworks, and enterprise AI adoption strategies</a:t>
            </a:r>
            <a:endParaRPr lang="en-US" sz="1100"/>
          </a:p>
        </p:txBody>
      </p:sp>
      <p:pic>
        <p:nvPicPr>
          <p:cNvPr id="22" name="Image 6" descr="preencoded.png"/>
          <p:cNvPicPr>
            <a:picLocks noChangeAspect="1"/>
          </p:cNvPicPr>
          <p:nvPr/>
        </p:nvPicPr>
        <p:blipFill>
          <a:blip r:embed="rId9"/>
          <a:srcRect/>
          <a:stretch/>
        </p:blipFill>
        <p:spPr>
          <a:xfrm>
            <a:off x="1019556" y="2983687"/>
            <a:ext cx="171907" cy="171907"/>
          </a:xfrm>
          <a:prstGeom prst="rect">
            <a:avLst/>
          </a:prstGeom>
        </p:spPr>
      </p:pic>
      <p:sp>
        <p:nvSpPr>
          <p:cNvPr id="23" name="Text 14"/>
          <p:cNvSpPr txBox="1"/>
          <p:nvPr/>
        </p:nvSpPr>
        <p:spPr>
          <a:xfrm>
            <a:off x="1314907" y="2952598"/>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Powers J2W's proprietary platforms: the J2W Agentic Platform, Qualizen (GenAI-assisted quality engineering), and Talk2Data (conversational BI)</a:t>
            </a:r>
            <a:endParaRPr lang="en-US" sz="1100"/>
          </a:p>
        </p:txBody>
      </p:sp>
      <p:sp>
        <p:nvSpPr>
          <p:cNvPr id="24" name="Shape 15"/>
          <p:cNvSpPr/>
          <p:nvPr/>
        </p:nvSpPr>
        <p:spPr>
          <a:xfrm>
            <a:off x="990295" y="3990442"/>
            <a:ext cx="4476902" cy="19202"/>
          </a:xfrm>
          <a:prstGeom prst="rect">
            <a:avLst/>
          </a:prstGeom>
          <a:solidFill>
            <a:srgbClr val="D62839">
              <a:alpha val="20000"/>
            </a:srgbClr>
          </a:solidFill>
          <a:ln w="12700">
            <a:solidFill>
              <a:srgbClr val="D62839">
                <a:alpha val="0"/>
              </a:srgbClr>
            </a:solidFill>
            <a:prstDash val="solid"/>
          </a:ln>
        </p:spPr>
        <p:txBody>
          <a:bodyPr/>
          <a:lstStyle/>
          <a:p>
            <a:endParaRPr lang="en-US"/>
          </a:p>
        </p:txBody>
      </p:sp>
      <p:sp>
        <p:nvSpPr>
          <p:cNvPr id="25" name="Text 16"/>
          <p:cNvSpPr txBox="1"/>
          <p:nvPr/>
        </p:nvSpPr>
        <p:spPr>
          <a:xfrm>
            <a:off x="990295" y="3571646"/>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How Pod Members Benefit</a:t>
            </a:r>
            <a:endParaRPr lang="en-US" sz="1800"/>
          </a:p>
        </p:txBody>
      </p:sp>
      <p:pic>
        <p:nvPicPr>
          <p:cNvPr id="26" name="Image 7" descr="preencoded.png"/>
          <p:cNvPicPr>
            <a:picLocks noChangeAspect="1"/>
          </p:cNvPicPr>
          <p:nvPr/>
        </p:nvPicPr>
        <p:blipFill>
          <a:blip r:embed="rId10"/>
          <a:srcRect l="-1064" r="-1064"/>
          <a:stretch/>
        </p:blipFill>
        <p:spPr>
          <a:xfrm>
            <a:off x="995782" y="4126687"/>
            <a:ext cx="219456" cy="171907"/>
          </a:xfrm>
          <a:prstGeom prst="rect">
            <a:avLst/>
          </a:prstGeom>
        </p:spPr>
      </p:pic>
      <p:sp>
        <p:nvSpPr>
          <p:cNvPr id="27" name="Text 17"/>
          <p:cNvSpPr txBox="1"/>
          <p:nvPr/>
        </p:nvSpPr>
        <p:spPr>
          <a:xfrm>
            <a:off x="1314907" y="4095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Weekly AI workshops</a:t>
            </a:r>
            <a:r>
              <a:rPr lang="en-US" sz="1100">
                <a:solidFill>
                  <a:srgbClr val="4B5563"/>
                </a:solidFill>
                <a:latin typeface="Raleway" pitchFamily="34" charset="0"/>
                <a:ea typeface="Raleway" pitchFamily="34" charset="-122"/>
                <a:cs typeface="Raleway" pitchFamily="34" charset="-120"/>
              </a:rPr>
              <a:t> led by our research team - covering practical, project-applicable AI skills </a:t>
            </a:r>
            <a:endParaRPr lang="en-US" sz="1100"/>
          </a:p>
        </p:txBody>
      </p:sp>
      <p:pic>
        <p:nvPicPr>
          <p:cNvPr id="28" name="Image 8" descr="preencoded.png"/>
          <p:cNvPicPr>
            <a:picLocks noChangeAspect="1"/>
          </p:cNvPicPr>
          <p:nvPr/>
        </p:nvPicPr>
        <p:blipFill>
          <a:blip r:embed="rId11"/>
          <a:srcRect l="-1773" r="-1773"/>
          <a:stretch/>
        </p:blipFill>
        <p:spPr>
          <a:xfrm>
            <a:off x="1037844" y="4507992"/>
            <a:ext cx="133502" cy="171907"/>
          </a:xfrm>
          <a:prstGeom prst="rect">
            <a:avLst/>
          </a:prstGeom>
        </p:spPr>
      </p:pic>
      <p:sp>
        <p:nvSpPr>
          <p:cNvPr id="29" name="Text 18"/>
          <p:cNvSpPr txBox="1"/>
          <p:nvPr/>
        </p:nvSpPr>
        <p:spPr>
          <a:xfrm>
            <a:off x="1314907" y="4476902"/>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Access to the J2W </a:t>
            </a:r>
            <a:r>
              <a:rPr lang="en-US" sz="1100" b="1" err="1">
                <a:solidFill>
                  <a:srgbClr val="111827"/>
                </a:solidFill>
                <a:latin typeface="Raleway" pitchFamily="34" charset="0"/>
                <a:ea typeface="Raleway" pitchFamily="34" charset="-122"/>
                <a:cs typeface="Raleway" pitchFamily="34" charset="-120"/>
              </a:rPr>
              <a:t>iLAB</a:t>
            </a:r>
            <a:r>
              <a:rPr lang="en-US" sz="1100">
                <a:solidFill>
                  <a:srgbClr val="4B5563"/>
                </a:solidFill>
                <a:latin typeface="Raleway" pitchFamily="34" charset="0"/>
                <a:ea typeface="Raleway" pitchFamily="34" charset="-122"/>
                <a:cs typeface="Raleway" pitchFamily="34" charset="-120"/>
              </a:rPr>
              <a:t> - Innovation Points program for building PoCs, hackathons, and rapid prototyping </a:t>
            </a:r>
            <a:endParaRPr lang="en-US" sz="1100"/>
          </a:p>
        </p:txBody>
      </p:sp>
      <p:pic>
        <p:nvPicPr>
          <p:cNvPr id="30" name="Image 9" descr="preencoded.png"/>
          <p:cNvPicPr>
            <a:picLocks noChangeAspect="1"/>
          </p:cNvPicPr>
          <p:nvPr/>
        </p:nvPicPr>
        <p:blipFill>
          <a:blip r:embed="rId12"/>
          <a:srcRect l="-1064" r="-1064"/>
          <a:stretch/>
        </p:blipFill>
        <p:spPr>
          <a:xfrm>
            <a:off x="995782" y="4888382"/>
            <a:ext cx="219456" cy="171907"/>
          </a:xfrm>
          <a:prstGeom prst="rect">
            <a:avLst/>
          </a:prstGeom>
        </p:spPr>
      </p:pic>
      <p:sp>
        <p:nvSpPr>
          <p:cNvPr id="31" name="Text 19"/>
          <p:cNvSpPr txBox="1"/>
          <p:nvPr/>
        </p:nvSpPr>
        <p:spPr>
          <a:xfrm>
            <a:off x="1314907" y="4858207"/>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Contextual AI training</a:t>
            </a:r>
            <a:r>
              <a:rPr lang="en-US" sz="1100">
                <a:solidFill>
                  <a:srgbClr val="4B5563"/>
                </a:solidFill>
                <a:latin typeface="Raleway" pitchFamily="34" charset="0"/>
                <a:ea typeface="Raleway" pitchFamily="34" charset="-122"/>
                <a:cs typeface="Raleway" pitchFamily="34" charset="-120"/>
              </a:rPr>
              <a:t> - hands-on training tailored to the specific technology stack and domain </a:t>
            </a:r>
            <a:endParaRPr lang="en-US" sz="1100"/>
          </a:p>
        </p:txBody>
      </p:sp>
      <p:pic>
        <p:nvPicPr>
          <p:cNvPr id="32" name="Image 10" descr="preencoded.png"/>
          <p:cNvPicPr>
            <a:picLocks noChangeAspect="1"/>
          </p:cNvPicPr>
          <p:nvPr/>
        </p:nvPicPr>
        <p:blipFill>
          <a:blip r:embed="rId13"/>
          <a:srcRect/>
          <a:stretch/>
        </p:blipFill>
        <p:spPr>
          <a:xfrm>
            <a:off x="1019556" y="5269687"/>
            <a:ext cx="171907" cy="171907"/>
          </a:xfrm>
          <a:prstGeom prst="rect">
            <a:avLst/>
          </a:prstGeom>
        </p:spPr>
      </p:pic>
      <p:sp>
        <p:nvSpPr>
          <p:cNvPr id="33" name="Text 20"/>
          <p:cNvSpPr txBox="1"/>
          <p:nvPr/>
        </p:nvSpPr>
        <p:spPr>
          <a:xfrm>
            <a:off x="1314907" y="5238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Benchmarking against global best practices</a:t>
            </a:r>
            <a:r>
              <a:rPr lang="en-US" sz="1100">
                <a:solidFill>
                  <a:srgbClr val="4B5563"/>
                </a:solidFill>
                <a:latin typeface="Raleway" pitchFamily="34" charset="0"/>
                <a:ea typeface="Raleway" pitchFamily="34" charset="-122"/>
                <a:cs typeface="Raleway" pitchFamily="34" charset="-120"/>
              </a:rPr>
              <a:t> - continuous measurement against industry-leading standards </a:t>
            </a:r>
            <a:endParaRPr lang="en-US" sz="1100"/>
          </a:p>
        </p:txBody>
      </p:sp>
      <p:sp>
        <p:nvSpPr>
          <p:cNvPr id="34" name="Text 21"/>
          <p:cNvSpPr txBox="1"/>
          <p:nvPr/>
        </p:nvSpPr>
        <p:spPr>
          <a:xfrm>
            <a:off x="952805" y="6010351"/>
            <a:ext cx="10287000" cy="400507"/>
          </a:xfrm>
          <a:prstGeom prst="rect">
            <a:avLst/>
          </a:prstGeom>
          <a:noFill/>
          <a:ln/>
        </p:spPr>
        <p:txBody>
          <a:bodyPr wrap="square" lIns="0" tIns="0" rIns="0" bIns="0" rtlCol="0" anchor="ctr"/>
          <a:lstStyle/>
          <a:p>
            <a:pPr marL="0" indent="0" algn="ctr">
              <a:buNone/>
            </a:pPr>
            <a:r>
              <a:rPr lang="en-US" sz="1400" b="1">
                <a:solidFill>
                  <a:srgbClr val="FFFFFF"/>
                </a:solidFill>
                <a:latin typeface="Raleway" pitchFamily="34" charset="0"/>
                <a:ea typeface="Raleway" pitchFamily="34" charset="-122"/>
                <a:cs typeface="Raleway" pitchFamily="34" charset="-120"/>
              </a:rPr>
              <a:t>The result: Your engineers don't just work - they get better every week. And that compounding improvement is something no staffing model can deliver.</a:t>
            </a:r>
            <a:endParaRPr lang="en-US"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GREENFIELD AI-READY GCC BUILD — MAJOR US AIRLINE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GCC  ·  Greenfield  ·  Hyderabad  ·  AI Certification  ·  Aviation  ·  Talent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Global Airline   |   Domain: Aviation &amp; Transportation   |   Function: GCC &amp; ODC Setup</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US airline needed greenfield GCC in Hyderabad targeting up to 1,000 technology professionals for AI leadership and global parity. Required competing for scarce senior tech talent, building employer brand in aviation domain from scratch, with AI-first mandate.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Greenfield GCC Playbook deployed covering sourcing, employer branding, and AI certification. Intelligence-led sourcing via TalentAI/TalentSphere. 5-stage technical screen. Every engineer AI-certified before Day 1. Dedicated tech lead embedded at no additional cost.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Greenfield GCC Playbook</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Operating model, governance, KPI architecture, and regulatory compliance delivered 60-70% faster than industry timelines.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Intelligence-Led Sourcing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Deep signal sourcing using open-source contributions and TalentAI semantic search with skill-graph scoring.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5-Stage Technical Screen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LinkedIn triage, DSA assessment, architecture review, client panel, and structured onboarding in sequence.</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J2W AI Labs Certification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Every engineer AI-certified before Day 1 with AI-assisted code review, LLM documentation, and automated test generation.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AI-First Engineering Pod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Embedded tech lead at no client cost with sprint velocity and code quality KPIs; engineers shipping from week 3.</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Employer Brand Architecture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Positioned as same role as US HQ with in-person AI mentorship, differentiating from standard GCC narrative.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Days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Time-to-Shortlist (vs Weeks)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1/hr</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Engineers Onboarded at Peak</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Attrition at 6 Months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FINANCE &amp; TECHNOLOGY COE BUILD — GLOBAL INDUSTRIAL LEADER (SULZER)</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BOT Model  ·  150 Hires  ·  RPA  ·  Finance  ·  ServiceNow  ·  GCC</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Industrial Engineering Leader (Sulzer)   |   Domain: Industrial Engineering   |   Function: GCC &amp; ODC Setup</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industrial leader needed 150-member India CoE across Finance and Technology within 6 months — niche roles including ServiceNow engineers, SAP architects, finance transformation specialists, and data engineering leads requiring rapid scaling and operational maturity.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Build-Operate-Transfer model across 3 phases: infrastructure + 100% recruitment (months 1-2), knowledge transfer + RPA rollout (months 2-4), operational maturity with controlled transfer (months 4-6). Client Vantage dashboard integrated for real-time visibility.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BOT Operating Model</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Build-Operate-Transfer structure with Sulzer assuming control at month 6 and advisory continuing post-transfer.</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Finance Tower Excellence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O2C, P2P, R2R, and FP&amp;A each built with embedded control frameworks, compliance, and efficiency benchmarks.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C2H for Critical Roles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Contract-to-Hire at 45-50% of year-1 compensation with 85% mis-hire risk reduction and day-91 permanent conversion.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RPA &amp; AI Workflow Automation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SAP P2P, O2C, R2R automation targeting 25-30% manual effort reduction across all Finance towers.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Client Vantage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performance visibility and predictive pipeline analytics from day 1 for leadership oversight.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ServiceNow &amp; Cloud Enablement</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deployment and CRM optimization for the 50-person technology track.</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Hires Completed in 6 Months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Manual Effort Reduction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Operational Leverage</a:t>
            </a:r>
            <a:endParaRPr lang="en-US" sz="85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1005840"/>
          </a:xfrm>
          <a:prstGeom prst="rect">
            <a:avLst/>
          </a:prstGeom>
          <a:noFill/>
        </p:spPr>
        <p:txBody>
          <a:bodyPr wrap="none">
            <a:spAutoFit/>
          </a:bodyPr>
          <a:lstStyle/>
          <a:p>
            <a:r>
              <a:rPr sz="2800" b="1" i="0">
                <a:solidFill>
                  <a:srgbClr val="142850"/>
                </a:solidFill>
              </a:rPr>
              <a:t>AI-Pod Engagement Case Study: Northwind Aerospace</a:t>
            </a:r>
          </a:p>
        </p:txBody>
      </p:sp>
      <p:sp>
        <p:nvSpPr>
          <p:cNvPr id="3" name="TextBox 2"/>
          <p:cNvSpPr txBox="1"/>
          <p:nvPr/>
        </p:nvSpPr>
        <p:spPr>
          <a:xfrm>
            <a:off x="548640" y="1463040"/>
            <a:ext cx="10972800" cy="457200"/>
          </a:xfrm>
          <a:prstGeom prst="rect">
            <a:avLst/>
          </a:prstGeom>
          <a:noFill/>
        </p:spPr>
        <p:txBody>
          <a:bodyPr wrap="none">
            <a:spAutoFit/>
          </a:bodyPr>
          <a:lstStyle/>
          <a:p>
            <a:r>
              <a:rPr sz="1300" b="0" i="1">
                <a:solidFill>
                  <a:srgbClr val="0F6E56"/>
                </a:solidFill>
              </a:rPr>
              <a:t>Predictive Maintenance · Unplanned Downtime · Spare-Parts Forecasting · Managed Services</a:t>
            </a:r>
          </a:p>
        </p:txBody>
      </p:sp>
      <p:sp>
        <p:nvSpPr>
          <p:cNvPr id="4" name="TextBox 3"/>
          <p:cNvSpPr txBox="1"/>
          <p:nvPr/>
        </p:nvSpPr>
        <p:spPr>
          <a:xfrm>
            <a:off x="548640" y="2103120"/>
            <a:ext cx="10972800" cy="3657600"/>
          </a:xfrm>
          <a:prstGeom prst="rect">
            <a:avLst/>
          </a:prstGeom>
          <a:noFill/>
        </p:spPr>
        <p:txBody>
          <a:bodyPr wrap="none">
            <a:spAutoFit/>
          </a:bodyPr>
          <a:lstStyle/>
          <a:p>
            <a:r>
              <a:t>• Developed predictive maintenance models, reducing unplanned downtime by 30%.</a:t>
            </a:r>
          </a:p>
          <a:p>
            <a:r>
              <a:t>• Forecasted spare-parts demand with 95% accuracy, optimizing inventory management.</a:t>
            </a:r>
          </a:p>
          <a:p>
            <a:r>
              <a:t>• Implemented 24/7 managed services for analytics platform, ensuring continuous support and uptime.</a:t>
            </a:r>
          </a:p>
          <a:p>
            <a:r>
              <a:t>• Enhanced operational efficiency, leading to a 20% increase in overall productivity.</a:t>
            </a:r>
          </a:p>
        </p:txBody>
      </p:sp>
      <p:sp>
        <p:nvSpPr>
          <p:cNvPr id="5" name="TextBox 4"/>
          <p:cNvSpPr txBox="1"/>
          <p:nvPr/>
        </p:nvSpPr>
        <p:spPr>
          <a:xfrm>
            <a:off x="548640" y="6309360"/>
            <a:ext cx="10972800" cy="365760"/>
          </a:xfrm>
          <a:prstGeom prst="rect">
            <a:avLst/>
          </a:prstGeom>
          <a:noFill/>
        </p:spPr>
        <p:txBody>
          <a:bodyPr wrap="none">
            <a:spAutoFit/>
          </a:bodyPr>
          <a:lstStyle/>
          <a:p>
            <a:r>
              <a:rPr sz="1000" b="0" i="1">
                <a:solidFill>
                  <a:srgbClr val="AAAAAA"/>
                </a:solidFill>
              </a:rPr>
              <a:t>Generated slide — replace with the real J2W template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2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solidFill>
            <a:srgbClr val="2A9D8F">
              <a:alpha val="3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52805" y="4476902"/>
            <a:ext cx="3810305" cy="3810305"/>
          </a:xfrm>
          <a:prstGeom prst="ellipse">
            <a:avLst/>
          </a:prstGeom>
          <a:solidFill>
            <a:srgbClr val="D62839">
              <a:alpha val="2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rcRect l="-202" r="-202"/>
          <a:stretch/>
        </p:blipFill>
        <p:spPr>
          <a:xfrm>
            <a:off x="0" y="6782105"/>
            <a:ext cx="8128102" cy="75895"/>
          </a:xfrm>
          <a:prstGeom prst="rect">
            <a:avLst/>
          </a:prstGeom>
        </p:spPr>
      </p:pic>
      <p:pic>
        <p:nvPicPr>
          <p:cNvPr id="7" name="Image 1" descr="preencoded.png"/>
          <p:cNvPicPr>
            <a:picLocks noChangeAspect="1"/>
          </p:cNvPicPr>
          <p:nvPr/>
        </p:nvPicPr>
        <p:blipFill>
          <a:blip r:embed="rId4"/>
          <a:srcRect l="-197" r="-197"/>
          <a:stretch/>
        </p:blipFill>
        <p:spPr>
          <a:xfrm>
            <a:off x="8128102" y="6782105"/>
            <a:ext cx="4063594" cy="75895"/>
          </a:xfrm>
          <a:prstGeom prst="rect">
            <a:avLst/>
          </a:prstGeom>
        </p:spPr>
      </p:pic>
      <p:pic>
        <p:nvPicPr>
          <p:cNvPr id="8" name="Image 2" descr="preencoded.png"/>
          <p:cNvPicPr>
            <a:picLocks noChangeAspect="1"/>
          </p:cNvPicPr>
          <p:nvPr/>
        </p:nvPicPr>
        <p:blipFill>
          <a:blip r:embed="rId5"/>
          <a:srcRect t="60" b="60"/>
          <a:stretch/>
        </p:blipFill>
        <p:spPr>
          <a:xfrm>
            <a:off x="4121201" y="914400"/>
            <a:ext cx="3952951" cy="1904695"/>
          </a:xfrm>
          <a:prstGeom prst="rect">
            <a:avLst/>
          </a:prstGeom>
        </p:spPr>
      </p:pic>
      <p:pic>
        <p:nvPicPr>
          <p:cNvPr id="9" name="Image 3" descr="preencoded.png"/>
          <p:cNvPicPr>
            <a:picLocks noChangeAspect="1"/>
          </p:cNvPicPr>
          <p:nvPr/>
        </p:nvPicPr>
        <p:blipFill>
          <a:blip r:embed="rId6"/>
          <a:srcRect t="-420" b="-420"/>
          <a:stretch/>
        </p:blipFill>
        <p:spPr>
          <a:xfrm>
            <a:off x="5715000" y="3276295"/>
            <a:ext cx="761695" cy="38405"/>
          </a:xfrm>
          <a:prstGeom prst="rect">
            <a:avLst/>
          </a:prstGeom>
        </p:spPr>
      </p:pic>
      <p:sp>
        <p:nvSpPr>
          <p:cNvPr id="10" name="Text 4"/>
          <p:cNvSpPr txBox="1"/>
          <p:nvPr/>
        </p:nvSpPr>
        <p:spPr>
          <a:xfrm>
            <a:off x="3536899" y="3619195"/>
            <a:ext cx="5125212" cy="5715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0" cap="none" spc="150" normalizeH="0" baseline="0" noProof="0">
                <a:ln>
                  <a:noFill/>
                </a:ln>
                <a:solidFill>
                  <a:srgbClr val="4B5563"/>
                </a:solidFill>
                <a:effectLst/>
                <a:uLnTx/>
                <a:uFillTx/>
                <a:latin typeface="Raleway" pitchFamily="34" charset="0"/>
                <a:ea typeface="Raleway" pitchFamily="34" charset="-122"/>
                <a:cs typeface="Raleway" pitchFamily="34" charset="-120"/>
              </a:rPr>
              <a:t>"Let's win together"</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4" descr="preencoded.png"/>
          <p:cNvPicPr>
            <a:picLocks noChangeAspect="1"/>
          </p:cNvPicPr>
          <p:nvPr/>
        </p:nvPicPr>
        <p:blipFill>
          <a:blip r:embed="rId7"/>
          <a:srcRect/>
          <a:stretch/>
        </p:blipFill>
        <p:spPr>
          <a:xfrm>
            <a:off x="761695" y="5410505"/>
            <a:ext cx="761695" cy="761695"/>
          </a:xfrm>
          <a:prstGeom prst="rect">
            <a:avLst/>
          </a:prstGeom>
        </p:spPr>
      </p:pic>
      <p:pic>
        <p:nvPicPr>
          <p:cNvPr id="12" name="Image 5" descr="preencoded.png"/>
          <p:cNvPicPr>
            <a:picLocks noChangeAspect="1"/>
          </p:cNvPicPr>
          <p:nvPr/>
        </p:nvPicPr>
        <p:blipFill>
          <a:blip r:embed="rId8"/>
          <a:srcRect l="81" r="81"/>
          <a:stretch/>
        </p:blipFill>
        <p:spPr>
          <a:xfrm>
            <a:off x="3189427" y="5658307"/>
            <a:ext cx="809244" cy="267005"/>
          </a:xfrm>
          <a:prstGeom prst="rect">
            <a:avLst/>
          </a:prstGeom>
        </p:spPr>
      </p:pic>
      <p:pic>
        <p:nvPicPr>
          <p:cNvPr id="13" name="Image 6" descr="preencoded.png"/>
          <p:cNvPicPr>
            <a:picLocks noChangeAspect="1"/>
          </p:cNvPicPr>
          <p:nvPr/>
        </p:nvPicPr>
        <p:blipFill>
          <a:blip r:embed="rId9"/>
          <a:srcRect l="7" r="7"/>
          <a:stretch/>
        </p:blipFill>
        <p:spPr>
          <a:xfrm>
            <a:off x="5665622" y="5453482"/>
            <a:ext cx="724205" cy="676656"/>
          </a:xfrm>
          <a:prstGeom prst="rect">
            <a:avLst/>
          </a:prstGeom>
        </p:spPr>
      </p:pic>
      <p:pic>
        <p:nvPicPr>
          <p:cNvPr id="14" name="Image 7" descr="preencoded.png"/>
          <p:cNvPicPr>
            <a:picLocks noChangeAspect="1"/>
          </p:cNvPicPr>
          <p:nvPr/>
        </p:nvPicPr>
        <p:blipFill>
          <a:blip r:embed="rId10"/>
          <a:srcRect t="236" b="236"/>
          <a:stretch/>
        </p:blipFill>
        <p:spPr>
          <a:xfrm>
            <a:off x="8054950" y="5410505"/>
            <a:ext cx="1257300" cy="761695"/>
          </a:xfrm>
          <a:prstGeom prst="rect">
            <a:avLst/>
          </a:prstGeom>
        </p:spPr>
      </p:pic>
      <p:pic>
        <p:nvPicPr>
          <p:cNvPr id="15" name="Image 8" descr="preencoded.png"/>
          <p:cNvPicPr>
            <a:picLocks noChangeAspect="1"/>
          </p:cNvPicPr>
          <p:nvPr/>
        </p:nvPicPr>
        <p:blipFill>
          <a:blip r:embed="rId11"/>
          <a:srcRect t="23" b="24"/>
          <a:stretch/>
        </p:blipFill>
        <p:spPr>
          <a:xfrm>
            <a:off x="10972800" y="5548579"/>
            <a:ext cx="457200" cy="485546"/>
          </a:xfrm>
          <a:prstGeom prst="rect">
            <a:avLst/>
          </a:prstGeom>
        </p:spPr>
      </p:pic>
      <p:pic>
        <p:nvPicPr>
          <p:cNvPr id="16" name="Image 9" descr="preencoded.png"/>
          <p:cNvPicPr>
            <a:picLocks noChangeAspect="1"/>
          </p:cNvPicPr>
          <p:nvPr/>
        </p:nvPicPr>
        <p:blipFill>
          <a:blip r:embed="rId4"/>
          <a:srcRect l="-197" r="-197"/>
          <a:stretch/>
        </p:blipFill>
        <p:spPr>
          <a:xfrm>
            <a:off x="0" y="0"/>
            <a:ext cx="4063594" cy="75895"/>
          </a:xfrm>
          <a:prstGeom prst="rect">
            <a:avLst/>
          </a:prstGeom>
        </p:spPr>
      </p:pic>
      <p:pic>
        <p:nvPicPr>
          <p:cNvPr id="17" name="Image 10" descr="preencoded.png"/>
          <p:cNvPicPr>
            <a:picLocks noChangeAspect="1"/>
          </p:cNvPicPr>
          <p:nvPr/>
        </p:nvPicPr>
        <p:blipFill>
          <a:blip r:embed="rId3"/>
          <a:srcRect l="-202" r="-202"/>
          <a:stretch/>
        </p:blipFill>
        <p:spPr>
          <a:xfrm>
            <a:off x="4063594" y="0"/>
            <a:ext cx="8128102" cy="75895"/>
          </a:xfrm>
          <a:prstGeom prst="rect">
            <a:avLst/>
          </a:prstGeom>
        </p:spPr>
      </p:pic>
    </p:spTree>
    <p:extLst>
      <p:ext uri="{BB962C8B-B14F-4D97-AF65-F5344CB8AC3E}">
        <p14:creationId xmlns:p14="http://schemas.microsoft.com/office/powerpoint/2010/main" val="24674747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31952</Words>
  <Application>Microsoft Office PowerPoint</Application>
  <PresentationFormat>Widescreen</PresentationFormat>
  <Paragraphs>3438</Paragraphs>
  <Slides>132</Slides>
  <Notes>132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132</vt:i4>
      </vt:variant>
    </vt:vector>
  </HeadingPairs>
  <TitlesOfParts>
    <vt:vector size="139" baseType="lpstr">
      <vt:lpstr>Aptos</vt:lpstr>
      <vt:lpstr>Arial</vt:lpstr>
      <vt:lpstr>Calibri</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4</cp:revision>
  <dcterms:created xsi:type="dcterms:W3CDTF">2026-06-22T10:46:20Z</dcterms:created>
  <dcterms:modified xsi:type="dcterms:W3CDTF">2026-06-23T05:19:06Z</dcterms:modified>
</cp:coreProperties>
</file>