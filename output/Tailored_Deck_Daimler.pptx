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5.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147483328" r:id="rId2"/>
    <p:sldId id="2147483329" r:id="rId3"/>
    <p:sldId id="2147483330" r:id="rId4"/>
    <p:sldId id="2147483327" r:id="rId5"/>
    <p:sldId id="2147483332" r:id="rId6"/>
    <p:sldId id="2147483331" r:id="rId7"/>
    <p:sldId id="2147483431" r:id="rId21"/>
    <p:sldId id="2147483432" r:id="rId22"/>
    <p:sldId id="284" r:id="rId51"/>
    <p:sldId id="2147483437" r:id="rId65"/>
    <p:sldId id="340" r:id="rId106"/>
    <p:sldId id="2147483305" r:id="rId8"/>
    <p:sldId id="29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2.xml"/><Relationship Id="rId9" Type="http://schemas.openxmlformats.org/officeDocument/2006/relationships/slide" Target="slides/slide13.xml"/><Relationship Id="rId21" Type="http://schemas.openxmlformats.org/officeDocument/2006/relationships/slide" Target="slides/slide7.xml"/><Relationship Id="rId22" Type="http://schemas.openxmlformats.org/officeDocument/2006/relationships/slide" Target="slides/slide8.xml"/><Relationship Id="rId51" Type="http://schemas.openxmlformats.org/officeDocument/2006/relationships/slide" Target="slides/slide9.xml"/><Relationship Id="rId65" Type="http://schemas.openxmlformats.org/officeDocument/2006/relationships/slide" Target="slides/slide10.xml"/><Relationship Id="rId106" Type="http://schemas.openxmlformats.org/officeDocument/2006/relationships/slide" Target="slides/slide11.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 Id="rId14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73389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CS19</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290097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CS48</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CS70</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CS111</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jpeg"/><Relationship Id="rId8" Type="http://schemas.openxmlformats.org/officeDocument/2006/relationships/image" Target="../media/image34.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132.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1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136.png"/><Relationship Id="rId5" Type="http://schemas.openxmlformats.org/officeDocument/2006/relationships/image" Target="../media/image137.png"/><Relationship Id="rId6" Type="http://schemas.openxmlformats.org/officeDocument/2006/relationships/image" Target="../media/image138.png"/><Relationship Id="rId7" Type="http://schemas.openxmlformats.org/officeDocument/2006/relationships/image" Target="../media/image139.png"/><Relationship Id="rId8" Type="http://schemas.openxmlformats.org/officeDocument/2006/relationships/image" Target="../media/image140.png"/><Relationship Id="rId9" Type="http://schemas.openxmlformats.org/officeDocument/2006/relationships/image" Target="../media/image141.png"/><Relationship Id="rId10" Type="http://schemas.openxmlformats.org/officeDocument/2006/relationships/image" Target="../media/image142.png"/><Relationship Id="rId11" Type="http://schemas.openxmlformats.org/officeDocument/2006/relationships/image" Target="../media/image143.png"/><Relationship Id="rId12" Type="http://schemas.openxmlformats.org/officeDocument/2006/relationships/image" Target="../media/image144.png"/><Relationship Id="rId13" Type="http://schemas.openxmlformats.org/officeDocument/2006/relationships/image" Target="../media/image145.png"/><Relationship Id="rId14" Type="http://schemas.openxmlformats.org/officeDocument/2006/relationships/image" Target="../media/image34.png"/><Relationship Id="rId15"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46.png"/><Relationship Id="rId4" Type="http://schemas.openxmlformats.org/officeDocument/2006/relationships/image" Target="../media/image14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46.png"/><Relationship Id="rId4" Type="http://schemas.openxmlformats.org/officeDocument/2006/relationships/image" Target="../media/image14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46.png"/><Relationship Id="rId4" Type="http://schemas.openxmlformats.org/officeDocument/2006/relationships/image" Target="../media/image14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 TECHNOLOGY ACCELERATORS | GAME CHANGERS</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202" r="-202"/>
          <a:stretch/>
        </p:blipFill>
        <p:spPr>
          <a:xfrm>
            <a:off x="0" y="0"/>
            <a:ext cx="8127187" cy="75895"/>
          </a:xfrm>
          <a:prstGeom prst="rect">
            <a:avLst/>
          </a:prstGeom>
        </p:spPr>
      </p:pic>
      <p:pic>
        <p:nvPicPr>
          <p:cNvPr id="5" name="Image 1" descr="gen-dedup-64882feb7a832238af77b962fc7a8538.png"/>
          <p:cNvPicPr>
            <a:picLocks noChangeAspect="1"/>
          </p:cNvPicPr>
          <p:nvPr/>
        </p:nvPicPr>
        <p:blipFill>
          <a:blip r:embed="rId4"/>
          <a:srcRect l="-203" r="-203"/>
          <a:stretch/>
        </p:blipFill>
        <p:spPr>
          <a:xfrm>
            <a:off x="8127187"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609905" y="544982"/>
            <a:ext cx="75895" cy="476402"/>
          </a:xfrm>
          <a:prstGeom prst="rect">
            <a:avLst/>
          </a:prstGeom>
        </p:spPr>
      </p:pic>
      <p:sp>
        <p:nvSpPr>
          <p:cNvPr id="9" name="Text 3"/>
          <p:cNvSpPr txBox="1"/>
          <p:nvPr/>
        </p:nvSpPr>
        <p:spPr>
          <a:xfrm>
            <a:off x="875995" y="381305"/>
            <a:ext cx="7105802" cy="467258"/>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Managed Service Solutions</a:t>
            </a:r>
            <a:endParaRPr lang="en-US" sz="3300"/>
          </a:p>
        </p:txBody>
      </p:sp>
      <p:sp>
        <p:nvSpPr>
          <p:cNvPr id="10" name="Text 4"/>
          <p:cNvSpPr txBox="1"/>
          <p:nvPr/>
        </p:nvSpPr>
        <p:spPr>
          <a:xfrm>
            <a:off x="875995" y="898855"/>
            <a:ext cx="7791602" cy="286207"/>
          </a:xfrm>
          <a:prstGeom prst="rect">
            <a:avLst/>
          </a:prstGeom>
          <a:noFill/>
          <a:ln/>
        </p:spPr>
        <p:txBody>
          <a:bodyPr wrap="non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OUTCOME-BOUND DELIVERY - NOT JUST A VENDOR WITH A STATEMENT OF WORK.</a:t>
            </a:r>
            <a:endParaRPr lang="en-US" sz="1500"/>
          </a:p>
        </p:txBody>
      </p:sp>
      <p:sp>
        <p:nvSpPr>
          <p:cNvPr id="11" name="Shape 5"/>
          <p:cNvSpPr/>
          <p:nvPr/>
        </p:nvSpPr>
        <p:spPr>
          <a:xfrm>
            <a:off x="609905" y="1524305"/>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2" name="Shape 6"/>
          <p:cNvSpPr/>
          <p:nvPr/>
        </p:nvSpPr>
        <p:spPr>
          <a:xfrm>
            <a:off x="609905" y="1524305"/>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2699308"/>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6" name="Shape 10"/>
          <p:cNvSpPr/>
          <p:nvPr/>
        </p:nvSpPr>
        <p:spPr>
          <a:xfrm>
            <a:off x="609905" y="2699308"/>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7" name="Shape 11"/>
          <p:cNvSpPr/>
          <p:nvPr/>
        </p:nvSpPr>
        <p:spPr>
          <a:xfrm>
            <a:off x="609905" y="3823105"/>
            <a:ext cx="5524805" cy="1162202"/>
          </a:xfrm>
          <a:prstGeom prst="roundRect">
            <a:avLst>
              <a:gd name="adj" fmla="val 10318"/>
            </a:avLst>
          </a:prstGeom>
          <a:solidFill>
            <a:srgbClr val="FFFFFF"/>
          </a:solidFill>
          <a:ln w="12700">
            <a:solidFill>
              <a:srgbClr val="E5E7EB"/>
            </a:solidFill>
            <a:prstDash val="solid"/>
          </a:ln>
        </p:spPr>
        <p:txBody>
          <a:bodyPr/>
          <a:lstStyle/>
          <a:p>
            <a:endParaRPr lang="en-US"/>
          </a:p>
        </p:txBody>
      </p:sp>
      <p:sp>
        <p:nvSpPr>
          <p:cNvPr id="18" name="Shape 12"/>
          <p:cNvSpPr/>
          <p:nvPr/>
        </p:nvSpPr>
        <p:spPr>
          <a:xfrm>
            <a:off x="609905" y="3823105"/>
            <a:ext cx="38405" cy="1162202"/>
          </a:xfrm>
          <a:prstGeom prst="roundRect">
            <a:avLst>
              <a:gd name="adj" fmla="val 312254"/>
            </a:avLst>
          </a:prstGeom>
          <a:solidFill>
            <a:srgbClr val="D62839"/>
          </a:solidFill>
          <a:ln w="12700">
            <a:solidFill>
              <a:srgbClr val="D62839">
                <a:alpha val="0"/>
              </a:srgbClr>
            </a:solidFill>
            <a:prstDash val="solid"/>
          </a:ln>
        </p:spPr>
        <p:txBody>
          <a:bodyPr/>
          <a:lstStyle/>
          <a:p>
            <a:endParaRPr lang="en-US"/>
          </a:p>
        </p:txBody>
      </p:sp>
      <p:sp>
        <p:nvSpPr>
          <p:cNvPr id="19" name="Shape 13"/>
          <p:cNvSpPr/>
          <p:nvPr/>
        </p:nvSpPr>
        <p:spPr>
          <a:xfrm>
            <a:off x="6381598" y="1524305"/>
            <a:ext cx="5201107" cy="4572000"/>
          </a:xfrm>
          <a:prstGeom prst="roundRect">
            <a:avLst>
              <a:gd name="adj" fmla="val 667"/>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6391656" y="1533449"/>
            <a:ext cx="5181905" cy="552298"/>
          </a:xfrm>
          <a:prstGeom prst="roundRect">
            <a:avLst>
              <a:gd name="adj" fmla="val 45672"/>
            </a:avLst>
          </a:prstGeom>
          <a:solidFill>
            <a:srgbClr val="1F2937"/>
          </a:solidFill>
          <a:ln w="12700">
            <a:solidFill>
              <a:srgbClr val="FFFFFF">
                <a:alpha val="0"/>
              </a:srgbClr>
            </a:solidFill>
            <a:prstDash val="solid"/>
          </a:ln>
        </p:spPr>
        <p:txBody>
          <a:bodyPr/>
          <a:lstStyle/>
          <a:p>
            <a:endParaRPr lang="en-US"/>
          </a:p>
        </p:txBody>
      </p:sp>
      <p:sp>
        <p:nvSpPr>
          <p:cNvPr id="21" name="Text 15"/>
          <p:cNvSpPr txBox="1"/>
          <p:nvPr/>
        </p:nvSpPr>
        <p:spPr>
          <a:xfrm>
            <a:off x="6543446" y="1593692"/>
            <a:ext cx="4877410" cy="324612"/>
          </a:xfrm>
          <a:prstGeom prst="rect">
            <a:avLst/>
          </a:prstGeom>
          <a:noFill/>
          <a:ln/>
        </p:spPr>
        <p:txBody>
          <a:bodyPr wrap="none" lIns="0" tIns="0" rIns="0" bIns="0" rtlCol="0" anchor="ctr"/>
          <a:lstStyle/>
          <a:p>
            <a:pPr marL="0" indent="0" algn="ctr">
              <a:buNone/>
            </a:pPr>
            <a:r>
              <a:rPr lang="en-US" sz="1100">
                <a:solidFill>
                  <a:srgbClr val="FFFFFF"/>
                </a:solidFill>
                <a:latin typeface="Oswald" pitchFamily="34" charset="0"/>
                <a:ea typeface="Oswald" pitchFamily="34" charset="-122"/>
                <a:cs typeface="Oswald" pitchFamily="34" charset="-120"/>
              </a:rPr>
              <a:t>Service Model Comparison</a:t>
            </a:r>
            <a:endParaRPr lang="en-US" sz="1100"/>
          </a:p>
        </p:txBody>
      </p:sp>
      <p:sp>
        <p:nvSpPr>
          <p:cNvPr id="22" name="Shape 16"/>
          <p:cNvSpPr/>
          <p:nvPr/>
        </p:nvSpPr>
        <p:spPr>
          <a:xfrm>
            <a:off x="609905" y="6229807"/>
            <a:ext cx="10972800" cy="437998"/>
          </a:xfrm>
          <a:prstGeom prst="roundRect">
            <a:avLst>
              <a:gd name="adj" fmla="val 36307"/>
            </a:avLst>
          </a:prstGeom>
          <a:solidFill>
            <a:srgbClr val="F8FAFC"/>
          </a:solidFill>
          <a:ln/>
        </p:spPr>
        <p:txBody>
          <a:bodyPr/>
          <a:lstStyle/>
          <a:p>
            <a:endParaRPr lang="en-US"/>
          </a:p>
        </p:txBody>
      </p:sp>
      <p:sp>
        <p:nvSpPr>
          <p:cNvPr id="23" name="Shape 17"/>
          <p:cNvSpPr/>
          <p:nvPr/>
        </p:nvSpPr>
        <p:spPr>
          <a:xfrm>
            <a:off x="609905" y="6229807"/>
            <a:ext cx="38405" cy="437998"/>
          </a:xfrm>
          <a:prstGeom prst="roundRect">
            <a:avLst>
              <a:gd name="adj" fmla="val 414077"/>
            </a:avLst>
          </a:prstGeom>
          <a:solidFill>
            <a:srgbClr val="111827"/>
          </a:solidFill>
          <a:ln w="12700">
            <a:solidFill>
              <a:srgbClr val="111827">
                <a:alpha val="0"/>
              </a:srgbClr>
            </a:solidFill>
            <a:prstDash val="solid"/>
          </a:ln>
        </p:spPr>
        <p:txBody>
          <a:bodyPr/>
          <a:lstStyle/>
          <a:p>
            <a:endParaRPr lang="en-US"/>
          </a:p>
        </p:txBody>
      </p:sp>
      <p:sp>
        <p:nvSpPr>
          <p:cNvPr id="24" name="Text 18"/>
          <p:cNvSpPr txBox="1"/>
          <p:nvPr/>
        </p:nvSpPr>
        <p:spPr>
          <a:xfrm>
            <a:off x="981151" y="16386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Solution Accelerators</a:t>
            </a:r>
            <a:endParaRPr lang="en-US" sz="1400"/>
          </a:p>
        </p:txBody>
      </p:sp>
      <p:sp>
        <p:nvSpPr>
          <p:cNvPr id="25" name="Text 19"/>
          <p:cNvSpPr txBox="1"/>
          <p:nvPr/>
        </p:nvSpPr>
        <p:spPr>
          <a:xfrm>
            <a:off x="761695" y="1950415"/>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60+ pre-built accelerators across SAP, ServiceNow, Salesforce, and industry stacks - deployed fast, customized to fit, never forced.</a:t>
            </a:r>
            <a:endParaRPr lang="en-US" sz="1100"/>
          </a:p>
        </p:txBody>
      </p:sp>
      <p:pic>
        <p:nvPicPr>
          <p:cNvPr id="26" name="Image 4" descr="gen-dedup-aaaf743a9627457c5a8ecc39eba03c50.png"/>
          <p:cNvPicPr>
            <a:picLocks noChangeAspect="1"/>
          </p:cNvPicPr>
          <p:nvPr/>
        </p:nvPicPr>
        <p:blipFill>
          <a:blip r:embed="rId7"/>
          <a:srcRect t="-13462" b="-13462"/>
          <a:stretch/>
        </p:blipFill>
        <p:spPr>
          <a:xfrm>
            <a:off x="761695" y="1689811"/>
            <a:ext cx="142646" cy="181051"/>
          </a:xfrm>
          <a:prstGeom prst="rect">
            <a:avLst/>
          </a:prstGeom>
        </p:spPr>
      </p:pic>
      <p:sp>
        <p:nvSpPr>
          <p:cNvPr id="30" name="Text 22"/>
          <p:cNvSpPr txBox="1"/>
          <p:nvPr/>
        </p:nvSpPr>
        <p:spPr>
          <a:xfrm>
            <a:off x="981151" y="2813608"/>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Cross-Function Coverage</a:t>
            </a:r>
            <a:endParaRPr lang="en-US" sz="1400"/>
          </a:p>
        </p:txBody>
      </p:sp>
      <p:sp>
        <p:nvSpPr>
          <p:cNvPr id="31" name="Text 23"/>
          <p:cNvSpPr txBox="1"/>
          <p:nvPr/>
        </p:nvSpPr>
        <p:spPr>
          <a:xfrm>
            <a:off x="761695" y="3125418"/>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From AI CoE and Data CoE to Digital Engineering, Quality, and Cybersecurity - we operate across the full enterprise function map, not just the easy wins.</a:t>
            </a:r>
            <a:endParaRPr lang="en-US" sz="1100"/>
          </a:p>
        </p:txBody>
      </p:sp>
      <p:pic>
        <p:nvPicPr>
          <p:cNvPr id="32" name="Image 6" descr="gen-dedup-f27d894a2aa16499d7ef79199ddd11dd.png"/>
          <p:cNvPicPr>
            <a:picLocks noChangeAspect="1"/>
          </p:cNvPicPr>
          <p:nvPr/>
        </p:nvPicPr>
        <p:blipFill>
          <a:blip r:embed="rId8"/>
          <a:srcRect t="-21395" b="-21395"/>
          <a:stretch/>
        </p:blipFill>
        <p:spPr>
          <a:xfrm>
            <a:off x="761695" y="2864814"/>
            <a:ext cx="142646" cy="181051"/>
          </a:xfrm>
          <a:prstGeom prst="rect">
            <a:avLst/>
          </a:prstGeom>
        </p:spPr>
      </p:pic>
      <p:sp>
        <p:nvSpPr>
          <p:cNvPr id="33" name="Text 24"/>
          <p:cNvSpPr txBox="1"/>
          <p:nvPr/>
        </p:nvSpPr>
        <p:spPr>
          <a:xfrm>
            <a:off x="981151" y="39374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ROI, Not Projections</a:t>
            </a:r>
            <a:endParaRPr lang="en-US" sz="1400"/>
          </a:p>
        </p:txBody>
      </p:sp>
      <p:sp>
        <p:nvSpPr>
          <p:cNvPr id="34" name="Text 25"/>
          <p:cNvSpPr txBox="1"/>
          <p:nvPr/>
        </p:nvSpPr>
        <p:spPr>
          <a:xfrm>
            <a:off x="761695" y="4249216"/>
            <a:ext cx="5220310" cy="581558"/>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Every accelerator comes with a benchmark from prior deployments. 80% reduction in reporting effort. 55% faster month-end close. 65% faster testing cycles. Numbers you inherit, not numbers we promise.</a:t>
            </a:r>
            <a:endParaRPr lang="en-US" sz="1100"/>
          </a:p>
        </p:txBody>
      </p:sp>
      <p:pic>
        <p:nvPicPr>
          <p:cNvPr id="35" name="Image 7" descr="gen-dedup-0d12da8ebc0b959d48949b1e6044d332.png"/>
          <p:cNvPicPr>
            <a:picLocks noChangeAspect="1"/>
          </p:cNvPicPr>
          <p:nvPr/>
        </p:nvPicPr>
        <p:blipFill>
          <a:blip r:embed="rId9"/>
          <a:srcRect t="-13462" b="-13462"/>
          <a:stretch/>
        </p:blipFill>
        <p:spPr>
          <a:xfrm>
            <a:off x="761695" y="3988612"/>
            <a:ext cx="142646" cy="181051"/>
          </a:xfrm>
          <a:prstGeom prst="rect">
            <a:avLst/>
          </a:prstGeom>
        </p:spPr>
      </p:pic>
      <p:sp>
        <p:nvSpPr>
          <p:cNvPr id="36" name="Shape 26"/>
          <p:cNvSpPr/>
          <p:nvPr/>
        </p:nvSpPr>
        <p:spPr>
          <a:xfrm>
            <a:off x="6381598" y="1952244"/>
            <a:ext cx="5201107" cy="599846"/>
          </a:xfrm>
          <a:prstGeom prst="rect">
            <a:avLst/>
          </a:prstGeom>
          <a:solidFill>
            <a:srgbClr val="F1F5F9"/>
          </a:solidFill>
          <a:ln/>
        </p:spPr>
        <p:txBody>
          <a:bodyPr/>
          <a:lstStyle/>
          <a:p>
            <a:endParaRPr lang="en-US"/>
          </a:p>
        </p:txBody>
      </p:sp>
      <p:sp>
        <p:nvSpPr>
          <p:cNvPr id="37" name="Shape 27"/>
          <p:cNvSpPr/>
          <p:nvPr/>
        </p:nvSpPr>
        <p:spPr>
          <a:xfrm>
            <a:off x="6381598" y="2532888"/>
            <a:ext cx="5201107" cy="19202"/>
          </a:xfrm>
          <a:prstGeom prst="rect">
            <a:avLst/>
          </a:prstGeom>
          <a:solidFill>
            <a:srgbClr val="E5E7EB"/>
          </a:solidFill>
          <a:ln w="12700">
            <a:solidFill>
              <a:srgbClr val="E5E7EB">
                <a:alpha val="0"/>
              </a:srgbClr>
            </a:solidFill>
            <a:prstDash val="solid"/>
          </a:ln>
        </p:spPr>
        <p:txBody>
          <a:bodyPr/>
          <a:lstStyle/>
          <a:p>
            <a:endParaRPr lang="en-US"/>
          </a:p>
        </p:txBody>
      </p:sp>
      <p:sp>
        <p:nvSpPr>
          <p:cNvPr id="38" name="Text 28"/>
          <p:cNvSpPr txBox="1"/>
          <p:nvPr/>
        </p:nvSpPr>
        <p:spPr>
          <a:xfrm>
            <a:off x="6534302" y="2048256"/>
            <a:ext cx="1228954" cy="391363"/>
          </a:xfrm>
          <a:prstGeom prst="rect">
            <a:avLst/>
          </a:prstGeom>
          <a:noFill/>
          <a:ln/>
        </p:spPr>
        <p:txBody>
          <a:bodyPr wrap="square" lIns="0" tIns="0" rIns="0" bIns="0" rtlCol="0" anchor="ctr"/>
          <a:lstStyle/>
          <a:p>
            <a:pPr marL="0" indent="0" algn="l">
              <a:buNone/>
            </a:pPr>
            <a:r>
              <a:rPr lang="en-US" sz="1000" b="1">
                <a:solidFill>
                  <a:srgbClr val="4B5563"/>
                </a:solidFill>
                <a:latin typeface="Roboto Condensed" pitchFamily="34" charset="0"/>
                <a:ea typeface="Roboto Condensed" pitchFamily="34" charset="-122"/>
                <a:cs typeface="Roboto Condensed" pitchFamily="34" charset="-120"/>
              </a:rPr>
              <a:t>Dimension</a:t>
            </a:r>
            <a:endParaRPr lang="en-US" sz="1000"/>
          </a:p>
        </p:txBody>
      </p:sp>
      <p:sp>
        <p:nvSpPr>
          <p:cNvPr id="39" name="Text 29"/>
          <p:cNvSpPr txBox="1"/>
          <p:nvPr/>
        </p:nvSpPr>
        <p:spPr>
          <a:xfrm>
            <a:off x="7757770" y="2048256"/>
            <a:ext cx="1714500" cy="391363"/>
          </a:xfrm>
          <a:prstGeom prst="rect">
            <a:avLst/>
          </a:prstGeom>
          <a:noFill/>
          <a:ln/>
        </p:spPr>
        <p:txBody>
          <a:bodyPr wrap="square" lIns="0" tIns="0" rIns="0" bIns="0" rtlCol="0" anchor="ctr"/>
          <a:lstStyle/>
          <a:p>
            <a:pPr marL="0" indent="0" algn="l">
              <a:buNone/>
            </a:pPr>
            <a:r>
              <a:rPr lang="en-US" sz="1000" b="1">
                <a:solidFill>
                  <a:srgbClr val="D62839"/>
                </a:solidFill>
                <a:latin typeface="Roboto Condensed" pitchFamily="34" charset="0"/>
                <a:ea typeface="Roboto Condensed" pitchFamily="34" charset="-122"/>
                <a:cs typeface="Roboto Condensed" pitchFamily="34" charset="-120"/>
              </a:rPr>
              <a:t>Traditional Managed Services</a:t>
            </a:r>
            <a:endParaRPr lang="en-US" sz="1000"/>
          </a:p>
        </p:txBody>
      </p:sp>
      <p:sp>
        <p:nvSpPr>
          <p:cNvPr id="40" name="Text 30"/>
          <p:cNvSpPr txBox="1"/>
          <p:nvPr/>
        </p:nvSpPr>
        <p:spPr>
          <a:xfrm>
            <a:off x="9471355" y="2048256"/>
            <a:ext cx="1962302" cy="391363"/>
          </a:xfrm>
          <a:prstGeom prst="rect">
            <a:avLst/>
          </a:prstGeom>
          <a:noFill/>
          <a:ln/>
        </p:spPr>
        <p:txBody>
          <a:bodyPr wrap="squar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J2W Managed Solutions</a:t>
            </a:r>
            <a:endParaRPr lang="en-US" sz="1000"/>
          </a:p>
        </p:txBody>
      </p:sp>
      <p:sp>
        <p:nvSpPr>
          <p:cNvPr id="41" name="Shape 31"/>
          <p:cNvSpPr/>
          <p:nvPr/>
        </p:nvSpPr>
        <p:spPr>
          <a:xfrm>
            <a:off x="6381598" y="3134563"/>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2" name="Text 32"/>
          <p:cNvSpPr txBox="1"/>
          <p:nvPr/>
        </p:nvSpPr>
        <p:spPr>
          <a:xfrm>
            <a:off x="6534302" y="266730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Engagement </a:t>
            </a:r>
          </a:p>
          <a:p>
            <a:pPr marL="0" indent="0" algn="l">
              <a:buNone/>
            </a:pPr>
            <a:r>
              <a:rPr lang="en-US" sz="1000" b="1">
                <a:solidFill>
                  <a:srgbClr val="374151"/>
                </a:solidFill>
                <a:latin typeface="Raleway" pitchFamily="34" charset="0"/>
                <a:ea typeface="Raleway" pitchFamily="34" charset="-122"/>
                <a:cs typeface="Raleway" pitchFamily="34" charset="-120"/>
              </a:rPr>
              <a:t>Model</a:t>
            </a:r>
            <a:endParaRPr lang="en-US" sz="1000"/>
          </a:p>
        </p:txBody>
      </p:sp>
      <p:sp>
        <p:nvSpPr>
          <p:cNvPr id="43" name="Text 33"/>
          <p:cNvSpPr txBox="1"/>
          <p:nvPr/>
        </p:nvSpPr>
        <p:spPr>
          <a:xfrm>
            <a:off x="7757770" y="266730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SOW-based, scope-</a:t>
            </a:r>
          </a:p>
          <a:p>
            <a:pPr marL="0" indent="0" algn="l">
              <a:buNone/>
            </a:pPr>
            <a:r>
              <a:rPr lang="en-US" sz="1000">
                <a:solidFill>
                  <a:srgbClr val="6B7280"/>
                </a:solidFill>
                <a:latin typeface="Raleway" pitchFamily="34" charset="0"/>
                <a:ea typeface="Raleway" pitchFamily="34" charset="-122"/>
                <a:cs typeface="Raleway" pitchFamily="34" charset="-120"/>
              </a:rPr>
              <a:t>locked</a:t>
            </a:r>
            <a:endParaRPr lang="en-US" sz="1000"/>
          </a:p>
        </p:txBody>
      </p:sp>
      <p:sp>
        <p:nvSpPr>
          <p:cNvPr id="44" name="Text 34"/>
          <p:cNvSpPr txBox="1"/>
          <p:nvPr/>
        </p:nvSpPr>
        <p:spPr>
          <a:xfrm>
            <a:off x="9471355" y="266730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Outcome-bound, SLO-governed</a:t>
            </a:r>
            <a:endParaRPr lang="en-US" sz="1000"/>
          </a:p>
        </p:txBody>
      </p:sp>
      <p:sp>
        <p:nvSpPr>
          <p:cNvPr id="45" name="Shape 35"/>
          <p:cNvSpPr/>
          <p:nvPr/>
        </p:nvSpPr>
        <p:spPr>
          <a:xfrm>
            <a:off x="6381598" y="3143707"/>
            <a:ext cx="5201107" cy="590702"/>
          </a:xfrm>
          <a:prstGeom prst="rect">
            <a:avLst/>
          </a:prstGeom>
          <a:solidFill>
            <a:srgbClr val="2A9D8F">
              <a:alpha val="3000"/>
            </a:srgbClr>
          </a:solidFill>
          <a:ln/>
        </p:spPr>
        <p:txBody>
          <a:bodyPr/>
          <a:lstStyle/>
          <a:p>
            <a:endParaRPr lang="en-US"/>
          </a:p>
        </p:txBody>
      </p:sp>
      <p:sp>
        <p:nvSpPr>
          <p:cNvPr id="46" name="Shape 36"/>
          <p:cNvSpPr/>
          <p:nvPr/>
        </p:nvSpPr>
        <p:spPr>
          <a:xfrm>
            <a:off x="6381598" y="372526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7" name="Text 37"/>
          <p:cNvSpPr txBox="1"/>
          <p:nvPr/>
        </p:nvSpPr>
        <p:spPr>
          <a:xfrm>
            <a:off x="6534302" y="3258007"/>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Starting Point</a:t>
            </a:r>
            <a:endParaRPr lang="en-US" sz="1000"/>
          </a:p>
        </p:txBody>
      </p:sp>
      <p:sp>
        <p:nvSpPr>
          <p:cNvPr id="48" name="Text 38"/>
          <p:cNvSpPr txBox="1"/>
          <p:nvPr/>
        </p:nvSpPr>
        <p:spPr>
          <a:xfrm>
            <a:off x="7757770" y="3258007"/>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Build from scratch</a:t>
            </a:r>
            <a:endParaRPr lang="en-US" sz="1000"/>
          </a:p>
        </p:txBody>
      </p:sp>
      <p:sp>
        <p:nvSpPr>
          <p:cNvPr id="49" name="Text 39"/>
          <p:cNvSpPr txBox="1"/>
          <p:nvPr/>
        </p:nvSpPr>
        <p:spPr>
          <a:xfrm>
            <a:off x="9471355" y="3258007"/>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60+ accelerators, deploy in weeks</a:t>
            </a:r>
            <a:endParaRPr lang="en-US" sz="1000"/>
          </a:p>
        </p:txBody>
      </p:sp>
      <p:sp>
        <p:nvSpPr>
          <p:cNvPr id="50" name="Shape 40"/>
          <p:cNvSpPr/>
          <p:nvPr/>
        </p:nvSpPr>
        <p:spPr>
          <a:xfrm>
            <a:off x="6381598" y="4315054"/>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1" name="Text 41"/>
          <p:cNvSpPr txBox="1"/>
          <p:nvPr/>
        </p:nvSpPr>
        <p:spPr>
          <a:xfrm>
            <a:off x="6534302" y="384779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Performance Standard</a:t>
            </a:r>
            <a:endParaRPr lang="en-US" sz="1000"/>
          </a:p>
        </p:txBody>
      </p:sp>
      <p:sp>
        <p:nvSpPr>
          <p:cNvPr id="52" name="Text 42"/>
          <p:cNvSpPr txBox="1"/>
          <p:nvPr/>
        </p:nvSpPr>
        <p:spPr>
          <a:xfrm>
            <a:off x="7757770" y="384779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Contractual minimums</a:t>
            </a:r>
            <a:endParaRPr lang="en-US" sz="1000"/>
          </a:p>
        </p:txBody>
      </p:sp>
      <p:sp>
        <p:nvSpPr>
          <p:cNvPr id="53" name="Text 43"/>
          <p:cNvSpPr txBox="1"/>
          <p:nvPr/>
        </p:nvSpPr>
        <p:spPr>
          <a:xfrm>
            <a:off x="9471355" y="384779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40% improvement threshold</a:t>
            </a:r>
            <a:endParaRPr lang="en-US" sz="1000"/>
          </a:p>
        </p:txBody>
      </p:sp>
      <p:sp>
        <p:nvSpPr>
          <p:cNvPr id="54" name="Shape 44"/>
          <p:cNvSpPr/>
          <p:nvPr/>
        </p:nvSpPr>
        <p:spPr>
          <a:xfrm>
            <a:off x="6381598" y="4324198"/>
            <a:ext cx="5201107" cy="590702"/>
          </a:xfrm>
          <a:prstGeom prst="rect">
            <a:avLst/>
          </a:prstGeom>
          <a:solidFill>
            <a:srgbClr val="2A9D8F">
              <a:alpha val="3000"/>
            </a:srgbClr>
          </a:solidFill>
          <a:ln/>
        </p:spPr>
        <p:txBody>
          <a:bodyPr/>
          <a:lstStyle/>
          <a:p>
            <a:endParaRPr lang="en-US"/>
          </a:p>
        </p:txBody>
      </p:sp>
      <p:sp>
        <p:nvSpPr>
          <p:cNvPr id="55" name="Shape 45"/>
          <p:cNvSpPr/>
          <p:nvPr/>
        </p:nvSpPr>
        <p:spPr>
          <a:xfrm>
            <a:off x="6381598" y="490575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6" name="Text 46"/>
          <p:cNvSpPr txBox="1"/>
          <p:nvPr/>
        </p:nvSpPr>
        <p:spPr>
          <a:xfrm>
            <a:off x="6534302" y="4438498"/>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Coverage</a:t>
            </a:r>
            <a:endParaRPr lang="en-US" sz="1000"/>
          </a:p>
        </p:txBody>
      </p:sp>
      <p:sp>
        <p:nvSpPr>
          <p:cNvPr id="57" name="Text 47"/>
          <p:cNvSpPr txBox="1"/>
          <p:nvPr/>
        </p:nvSpPr>
        <p:spPr>
          <a:xfrm>
            <a:off x="7757770" y="4438498"/>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Single-function specialization</a:t>
            </a:r>
            <a:endParaRPr lang="en-US" sz="1000"/>
          </a:p>
        </p:txBody>
      </p:sp>
      <p:sp>
        <p:nvSpPr>
          <p:cNvPr id="58" name="Text 48"/>
          <p:cNvSpPr txBox="1"/>
          <p:nvPr/>
        </p:nvSpPr>
        <p:spPr>
          <a:xfrm>
            <a:off x="9471355" y="4438498"/>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Cross-stack: SAP, ServiceNow, Salesforce + more</a:t>
            </a:r>
            <a:endParaRPr lang="en-US" sz="1000"/>
          </a:p>
        </p:txBody>
      </p:sp>
      <p:sp>
        <p:nvSpPr>
          <p:cNvPr id="59" name="Shape 49"/>
          <p:cNvSpPr/>
          <p:nvPr/>
        </p:nvSpPr>
        <p:spPr>
          <a:xfrm>
            <a:off x="6381598" y="5496458"/>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60" name="Text 50"/>
          <p:cNvSpPr txBox="1"/>
          <p:nvPr/>
        </p:nvSpPr>
        <p:spPr>
          <a:xfrm>
            <a:off x="6534302" y="5029200"/>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Knowledge Retention</a:t>
            </a:r>
            <a:endParaRPr lang="en-US" sz="1000"/>
          </a:p>
        </p:txBody>
      </p:sp>
      <p:sp>
        <p:nvSpPr>
          <p:cNvPr id="61" name="Text 51"/>
          <p:cNvSpPr txBox="1"/>
          <p:nvPr/>
        </p:nvSpPr>
        <p:spPr>
          <a:xfrm>
            <a:off x="7757770" y="5029200"/>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Exits with the team</a:t>
            </a:r>
            <a:endParaRPr lang="en-US" sz="1000"/>
          </a:p>
        </p:txBody>
      </p:sp>
      <p:sp>
        <p:nvSpPr>
          <p:cNvPr id="62" name="Text 52"/>
          <p:cNvSpPr txBox="1"/>
          <p:nvPr/>
        </p:nvSpPr>
        <p:spPr>
          <a:xfrm>
            <a:off x="9471355" y="5029200"/>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Captured, compounding, stays with you</a:t>
            </a:r>
            <a:endParaRPr lang="en-US" sz="1000"/>
          </a:p>
        </p:txBody>
      </p:sp>
      <p:sp>
        <p:nvSpPr>
          <p:cNvPr id="63" name="Shape 53"/>
          <p:cNvSpPr/>
          <p:nvPr/>
        </p:nvSpPr>
        <p:spPr>
          <a:xfrm>
            <a:off x="6381598" y="5505602"/>
            <a:ext cx="5201107" cy="590702"/>
          </a:xfrm>
          <a:prstGeom prst="rect">
            <a:avLst/>
          </a:prstGeom>
          <a:solidFill>
            <a:srgbClr val="2A9D8F">
              <a:alpha val="3000"/>
            </a:srgbClr>
          </a:solidFill>
          <a:ln w="12700">
            <a:solidFill>
              <a:srgbClr val="FFFFFF">
                <a:alpha val="0"/>
              </a:srgbClr>
            </a:solidFill>
            <a:prstDash val="solid"/>
          </a:ln>
        </p:spPr>
        <p:txBody>
          <a:bodyPr/>
          <a:lstStyle/>
          <a:p>
            <a:endParaRPr lang="en-US"/>
          </a:p>
        </p:txBody>
      </p:sp>
      <p:sp>
        <p:nvSpPr>
          <p:cNvPr id="64" name="Text 54"/>
          <p:cNvSpPr txBox="1"/>
          <p:nvPr/>
        </p:nvSpPr>
        <p:spPr>
          <a:xfrm>
            <a:off x="6534302" y="5619902"/>
            <a:ext cx="1228954" cy="362102"/>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AI Readiness</a:t>
            </a:r>
            <a:endParaRPr lang="en-US" sz="1000"/>
          </a:p>
        </p:txBody>
      </p:sp>
      <p:sp>
        <p:nvSpPr>
          <p:cNvPr id="65" name="Text 55"/>
          <p:cNvSpPr txBox="1"/>
          <p:nvPr/>
        </p:nvSpPr>
        <p:spPr>
          <a:xfrm>
            <a:off x="7757770" y="5619902"/>
            <a:ext cx="1714500" cy="362102"/>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Optional add-on</a:t>
            </a:r>
            <a:endParaRPr lang="en-US" sz="1000"/>
          </a:p>
        </p:txBody>
      </p:sp>
      <p:sp>
        <p:nvSpPr>
          <p:cNvPr id="66" name="Text 56"/>
          <p:cNvSpPr txBox="1"/>
          <p:nvPr/>
        </p:nvSpPr>
        <p:spPr>
          <a:xfrm>
            <a:off x="9471355" y="5619902"/>
            <a:ext cx="1962302" cy="362102"/>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Embedded from Day 1</a:t>
            </a:r>
            <a:endParaRPr lang="en-US" sz="1000"/>
          </a:p>
        </p:txBody>
      </p:sp>
      <p:sp>
        <p:nvSpPr>
          <p:cNvPr id="67" name="Text 57"/>
          <p:cNvSpPr txBox="1"/>
          <p:nvPr/>
        </p:nvSpPr>
        <p:spPr>
          <a:xfrm>
            <a:off x="800100" y="6245352"/>
            <a:ext cx="10592410" cy="409651"/>
          </a:xfrm>
          <a:prstGeom prst="rect">
            <a:avLst/>
          </a:prstGeom>
          <a:noFill/>
          <a:ln/>
        </p:spPr>
        <p:txBody>
          <a:bodyPr wrap="square" lIns="0" tIns="0" rIns="0" bIns="0" rtlCol="0" anchor="ctr"/>
          <a:lstStyle/>
          <a:p>
            <a:pPr marL="0" indent="0" algn="ctr">
              <a:buNone/>
            </a:pPr>
            <a:r>
              <a:rPr lang="en-US" sz="800" b="1">
                <a:solidFill>
                  <a:srgbClr val="111827"/>
                </a:solidFill>
                <a:latin typeface="Raleway" pitchFamily="34" charset="0"/>
                <a:ea typeface="Raleway" pitchFamily="34" charset="-122"/>
                <a:cs typeface="Raleway" pitchFamily="34" charset="-120"/>
              </a:rPr>
              <a:t>From scattered pilots to governed programs. From manual reporting to real-time intelligence. From legacy stacks to modernized platforms. </a:t>
            </a:r>
            <a:r>
              <a:rPr lang="en-US" sz="1100" b="1">
                <a:solidFill>
                  <a:srgbClr val="2A9D8F"/>
                </a:solidFill>
                <a:latin typeface="Raleway" pitchFamily="34" charset="0"/>
                <a:ea typeface="Raleway" pitchFamily="34" charset="-122"/>
                <a:cs typeface="Raleway" pitchFamily="34" charset="-120"/>
              </a:rPr>
              <a:t>J2W Managed Solutions operate until the outcome is real - then keep compounding.</a:t>
            </a:r>
            <a:endParaRPr lang="en-US" sz="1100"/>
          </a:p>
        </p:txBody>
      </p:sp>
    </p:spTree>
    <p:extLst>
      <p:ext uri="{BB962C8B-B14F-4D97-AF65-F5344CB8AC3E}">
        <p14:creationId xmlns:p14="http://schemas.microsoft.com/office/powerpoint/2010/main" val="3743683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noFill/>
          <a:ln w="508000">
            <a:solidFill>
              <a:srgbClr val="D62839">
                <a:alpha val="3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rcRect l="-360" r="-360"/>
          <a:stretch/>
        </p:blipFill>
        <p:spPr>
          <a:xfrm>
            <a:off x="609905" y="514807"/>
            <a:ext cx="57607" cy="381305"/>
          </a:xfrm>
          <a:prstGeom prst="rect">
            <a:avLst/>
          </a:prstGeom>
        </p:spPr>
      </p:pic>
      <p:sp>
        <p:nvSpPr>
          <p:cNvPr id="6" name="Text 3"/>
          <p:cNvSpPr txBox="1"/>
          <p:nvPr/>
        </p:nvSpPr>
        <p:spPr>
          <a:xfrm>
            <a:off x="819302" y="381305"/>
            <a:ext cx="6010351"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56" normalizeH="0" baseline="0" noProof="0">
                <a:ln>
                  <a:noFill/>
                </a:ln>
                <a:solidFill>
                  <a:srgbClr val="111827"/>
                </a:solidFill>
                <a:effectLst/>
                <a:uLnTx/>
                <a:uFillTx/>
                <a:latin typeface="Oswald" pitchFamily="34" charset="0"/>
                <a:ea typeface="Oswald" pitchFamily="34" charset="-122"/>
                <a:cs typeface="Oswald" pitchFamily="34" charset="-120"/>
              </a:rPr>
              <a:t>Strategic Managed Services Offerings</a:t>
            </a:r>
            <a:endParaRPr kumimoji="0" lang="en-US" sz="2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819302" y="761695"/>
            <a:ext cx="6010351" cy="26700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68" normalizeH="0" baseline="0" noProof="0">
                <a:ln>
                  <a:noFill/>
                </a:ln>
                <a:solidFill>
                  <a:srgbClr val="2A9D8F"/>
                </a:solidFill>
                <a:effectLst/>
                <a:uLnTx/>
                <a:uFillTx/>
                <a:latin typeface="Roboto Condensed" pitchFamily="34" charset="0"/>
                <a:ea typeface="Roboto Condensed" pitchFamily="34" charset="-122"/>
                <a:cs typeface="Roboto Condensed" pitchFamily="34" charset="-120"/>
              </a:rPr>
              <a:t>COMPREHENSIVE CAPABILITIES DRIVING DIGITAL TRANSFORMATION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9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09905" y="12573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90956" y="13807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rcRect/>
          <a:stretch/>
        </p:blipFill>
        <p:spPr>
          <a:xfrm>
            <a:off x="905256" y="1495044"/>
            <a:ext cx="171907" cy="171907"/>
          </a:xfrm>
          <a:prstGeom prst="rect">
            <a:avLst/>
          </a:prstGeom>
        </p:spPr>
      </p:pic>
      <p:sp>
        <p:nvSpPr>
          <p:cNvPr id="12" name="Text 8"/>
          <p:cNvSpPr txBox="1"/>
          <p:nvPr/>
        </p:nvSpPr>
        <p:spPr>
          <a:xfrm>
            <a:off x="926287" y="181965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txBox="1"/>
          <p:nvPr/>
        </p:nvSpPr>
        <p:spPr>
          <a:xfrm>
            <a:off x="13716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AI Solutions (AI CoE)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13716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GenAI strategies, agents, LLM workflows, predictive models, knowledge bots, and enterprise-grade AI governance &amp; value realization frameworks.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106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210605" y="12573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391656" y="13807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rcRect/>
          <a:stretch/>
        </p:blipFill>
        <p:spPr>
          <a:xfrm>
            <a:off x="6505956" y="1495044"/>
            <a:ext cx="171907" cy="171907"/>
          </a:xfrm>
          <a:prstGeom prst="rect">
            <a:avLst/>
          </a:prstGeom>
        </p:spPr>
      </p:pic>
      <p:sp>
        <p:nvSpPr>
          <p:cNvPr id="19" name="Text 14"/>
          <p:cNvSpPr txBox="1"/>
          <p:nvPr/>
        </p:nvSpPr>
        <p:spPr>
          <a:xfrm>
            <a:off x="6516929" y="18196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06</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9723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Quality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9723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Intelligent QA and Test Automation at scale - covering functional, performance, security, CI/CD pipelines, and TaaS delivery pods.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099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09905" y="23244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790956" y="24478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rcRect t="-2725" b="-2725"/>
          <a:stretch/>
        </p:blipFill>
        <p:spPr>
          <a:xfrm>
            <a:off x="918972" y="2562149"/>
            <a:ext cx="142646" cy="171907"/>
          </a:xfrm>
          <a:prstGeom prst="rect">
            <a:avLst/>
          </a:prstGeom>
        </p:spPr>
      </p:pic>
      <p:sp>
        <p:nvSpPr>
          <p:cNvPr id="26" name="Text 20"/>
          <p:cNvSpPr txBox="1"/>
          <p:nvPr/>
        </p:nvSpPr>
        <p:spPr>
          <a:xfrm>
            <a:off x="918058" y="28858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3716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Migration &amp; Infra Support</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2"/>
          <p:cNvSpPr txBox="1"/>
          <p:nvPr/>
        </p:nvSpPr>
        <p:spPr>
          <a:xfrm>
            <a:off x="13716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Seamless migration across on-prem &amp; cloud, with data quality, cleansing, secure pipelines, infra ops, and cloud governance across AWS/Azure/GCP.</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2106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210605" y="23244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6391656" y="24478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4" descr="preencoded.png"/>
          <p:cNvPicPr>
            <a:picLocks noChangeAspect="1"/>
          </p:cNvPicPr>
          <p:nvPr/>
        </p:nvPicPr>
        <p:blipFill>
          <a:blip r:embed="rId7"/>
          <a:srcRect/>
          <a:stretch/>
        </p:blipFill>
        <p:spPr>
          <a:xfrm>
            <a:off x="6505956" y="2562149"/>
            <a:ext cx="171907" cy="171907"/>
          </a:xfrm>
          <a:prstGeom prst="rect">
            <a:avLst/>
          </a:prstGeom>
        </p:spPr>
      </p:pic>
      <p:sp>
        <p:nvSpPr>
          <p:cNvPr id="33" name="Text 26"/>
          <p:cNvSpPr txBox="1"/>
          <p:nvPr/>
        </p:nvSpPr>
        <p:spPr>
          <a:xfrm>
            <a:off x="6523330" y="2885846"/>
            <a:ext cx="219456"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07</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69723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Call Centre Optimization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69723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Transforming contact centers through operational assessment, workforce analytics, real-time dashboards, agent assist AI, and IVA-based automation.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9"/>
          <p:cNvSpPr/>
          <p:nvPr/>
        </p:nvSpPr>
        <p:spPr>
          <a:xfrm>
            <a:off x="6099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0"/>
          <p:cNvSpPr/>
          <p:nvPr/>
        </p:nvSpPr>
        <p:spPr>
          <a:xfrm>
            <a:off x="609905" y="339059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790956" y="351495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5" descr="preencoded.png"/>
          <p:cNvPicPr>
            <a:picLocks noChangeAspect="1"/>
          </p:cNvPicPr>
          <p:nvPr/>
        </p:nvPicPr>
        <p:blipFill>
          <a:blip r:embed="rId8"/>
          <a:srcRect/>
          <a:stretch/>
        </p:blipFill>
        <p:spPr>
          <a:xfrm>
            <a:off x="905256" y="3629254"/>
            <a:ext cx="171907" cy="171907"/>
          </a:xfrm>
          <a:prstGeom prst="rect">
            <a:avLst/>
          </a:prstGeom>
        </p:spPr>
      </p:pic>
      <p:sp>
        <p:nvSpPr>
          <p:cNvPr id="40" name="Text 32"/>
          <p:cNvSpPr txBox="1"/>
          <p:nvPr/>
        </p:nvSpPr>
        <p:spPr>
          <a:xfrm>
            <a:off x="918058"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3"/>
          <p:cNvSpPr txBox="1"/>
          <p:nvPr/>
        </p:nvSpPr>
        <p:spPr>
          <a:xfrm>
            <a:off x="13716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Cybersecurity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4"/>
          <p:cNvSpPr txBox="1"/>
          <p:nvPr/>
        </p:nvSpPr>
        <p:spPr>
          <a:xfrm>
            <a:off x="13716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Full-spectrum security including assessment, red-team, cloud security, managed SOC/MDR, compliance (ISO, PCI, RBI), incident response &amp; digital forensics.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5"/>
          <p:cNvSpPr/>
          <p:nvPr/>
        </p:nvSpPr>
        <p:spPr>
          <a:xfrm>
            <a:off x="62106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6"/>
          <p:cNvSpPr/>
          <p:nvPr/>
        </p:nvSpPr>
        <p:spPr>
          <a:xfrm>
            <a:off x="6210605" y="339059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7"/>
          <p:cNvSpPr/>
          <p:nvPr/>
        </p:nvSpPr>
        <p:spPr>
          <a:xfrm>
            <a:off x="6391656" y="351495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6" name="Image 6" descr="preencoded.png"/>
          <p:cNvPicPr>
            <a:picLocks noChangeAspect="1"/>
          </p:cNvPicPr>
          <p:nvPr/>
        </p:nvPicPr>
        <p:blipFill>
          <a:blip r:embed="rId9"/>
          <a:srcRect t="-2725" b="-2725"/>
          <a:stretch/>
        </p:blipFill>
        <p:spPr>
          <a:xfrm>
            <a:off x="6519672" y="3629254"/>
            <a:ext cx="142646" cy="171907"/>
          </a:xfrm>
          <a:prstGeom prst="rect">
            <a:avLst/>
          </a:prstGeom>
        </p:spPr>
      </p:pic>
      <p:sp>
        <p:nvSpPr>
          <p:cNvPr id="47" name="Text 38"/>
          <p:cNvSpPr txBox="1"/>
          <p:nvPr/>
        </p:nvSpPr>
        <p:spPr>
          <a:xfrm>
            <a:off x="6517843"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08</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9"/>
          <p:cNvSpPr txBox="1"/>
          <p:nvPr/>
        </p:nvSpPr>
        <p:spPr>
          <a:xfrm>
            <a:off x="69723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SAP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0"/>
          <p:cNvSpPr txBox="1"/>
          <p:nvPr/>
        </p:nvSpPr>
        <p:spPr>
          <a:xfrm>
            <a:off x="69723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SAP modernization - from S/4HANA migrations to BTP, Fiori, SuccessFactors, and enterprise-wide rollout with managed SAP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1"/>
          <p:cNvSpPr/>
          <p:nvPr/>
        </p:nvSpPr>
        <p:spPr>
          <a:xfrm>
            <a:off x="6099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2"/>
          <p:cNvSpPr/>
          <p:nvPr/>
        </p:nvSpPr>
        <p:spPr>
          <a:xfrm>
            <a:off x="609905" y="44577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3"/>
          <p:cNvSpPr/>
          <p:nvPr/>
        </p:nvSpPr>
        <p:spPr>
          <a:xfrm>
            <a:off x="790956" y="45811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Image 7" descr="preencoded.png"/>
          <p:cNvPicPr>
            <a:picLocks noChangeAspect="1"/>
          </p:cNvPicPr>
          <p:nvPr/>
        </p:nvPicPr>
        <p:blipFill>
          <a:blip r:embed="rId10"/>
          <a:srcRect t="-1310" b="-1310"/>
          <a:stretch/>
        </p:blipFill>
        <p:spPr>
          <a:xfrm>
            <a:off x="886054" y="4695444"/>
            <a:ext cx="209398" cy="171907"/>
          </a:xfrm>
          <a:prstGeom prst="rect">
            <a:avLst/>
          </a:prstGeom>
        </p:spPr>
      </p:pic>
      <p:sp>
        <p:nvSpPr>
          <p:cNvPr id="54" name="Text 44"/>
          <p:cNvSpPr txBox="1"/>
          <p:nvPr/>
        </p:nvSpPr>
        <p:spPr>
          <a:xfrm>
            <a:off x="917143"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5"/>
          <p:cNvSpPr txBox="1"/>
          <p:nvPr/>
        </p:nvSpPr>
        <p:spPr>
          <a:xfrm>
            <a:off x="13716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Digital Engineering &amp; Automation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6"/>
          <p:cNvSpPr txBox="1"/>
          <p:nvPr/>
        </p:nvSpPr>
        <p:spPr>
          <a:xfrm>
            <a:off x="13716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Spanning full-stack &amp; UI/UX development, intelligent automation, AI-augmented RPA, and end-to-end process orchestration.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7"/>
          <p:cNvSpPr/>
          <p:nvPr/>
        </p:nvSpPr>
        <p:spPr>
          <a:xfrm>
            <a:off x="62106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8"/>
          <p:cNvSpPr/>
          <p:nvPr/>
        </p:nvSpPr>
        <p:spPr>
          <a:xfrm>
            <a:off x="6210605" y="44577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9"/>
          <p:cNvSpPr/>
          <p:nvPr/>
        </p:nvSpPr>
        <p:spPr>
          <a:xfrm>
            <a:off x="6391656" y="45811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8" descr="preencoded.png"/>
          <p:cNvPicPr>
            <a:picLocks noChangeAspect="1"/>
          </p:cNvPicPr>
          <p:nvPr/>
        </p:nvPicPr>
        <p:blipFill>
          <a:blip r:embed="rId11"/>
          <a:srcRect t="-1310" b="-1310"/>
          <a:stretch/>
        </p:blipFill>
        <p:spPr>
          <a:xfrm>
            <a:off x="6486754" y="4695444"/>
            <a:ext cx="209398" cy="171907"/>
          </a:xfrm>
          <a:prstGeom prst="rect">
            <a:avLst/>
          </a:prstGeom>
        </p:spPr>
      </p:pic>
      <p:sp>
        <p:nvSpPr>
          <p:cNvPr id="61" name="Text 50"/>
          <p:cNvSpPr txBox="1"/>
          <p:nvPr/>
        </p:nvSpPr>
        <p:spPr>
          <a:xfrm>
            <a:off x="6516929"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09</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1"/>
          <p:cNvSpPr txBox="1"/>
          <p:nvPr/>
        </p:nvSpPr>
        <p:spPr>
          <a:xfrm>
            <a:off x="69723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Salesforce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2"/>
          <p:cNvSpPr txBox="1"/>
          <p:nvPr/>
        </p:nvSpPr>
        <p:spPr>
          <a:xfrm>
            <a:off x="69723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Complete Salesforce transformation across Sales, Service, Marketing, Financial Services Cloud, and MuleSoft - backed by org audits and managed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53"/>
          <p:cNvSpPr/>
          <p:nvPr/>
        </p:nvSpPr>
        <p:spPr>
          <a:xfrm>
            <a:off x="6099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4"/>
          <p:cNvSpPr/>
          <p:nvPr/>
        </p:nvSpPr>
        <p:spPr>
          <a:xfrm>
            <a:off x="609905" y="55248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5"/>
          <p:cNvSpPr/>
          <p:nvPr/>
        </p:nvSpPr>
        <p:spPr>
          <a:xfrm>
            <a:off x="790956" y="56482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Image 9" descr="preencoded.png"/>
          <p:cNvPicPr>
            <a:picLocks noChangeAspect="1"/>
          </p:cNvPicPr>
          <p:nvPr/>
        </p:nvPicPr>
        <p:blipFill>
          <a:blip r:embed="rId12"/>
          <a:srcRect/>
          <a:stretch/>
        </p:blipFill>
        <p:spPr>
          <a:xfrm>
            <a:off x="905256" y="5762549"/>
            <a:ext cx="171907" cy="171907"/>
          </a:xfrm>
          <a:prstGeom prst="rect">
            <a:avLst/>
          </a:prstGeom>
        </p:spPr>
      </p:pic>
      <p:sp>
        <p:nvSpPr>
          <p:cNvPr id="68" name="Text 56"/>
          <p:cNvSpPr txBox="1"/>
          <p:nvPr/>
        </p:nvSpPr>
        <p:spPr>
          <a:xfrm>
            <a:off x="918058" y="60862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05</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57"/>
          <p:cNvSpPr txBox="1"/>
          <p:nvPr/>
        </p:nvSpPr>
        <p:spPr>
          <a:xfrm>
            <a:off x="13716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Analytics &amp; Dashboarding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58"/>
          <p:cNvSpPr txBox="1"/>
          <p:nvPr/>
        </p:nvSpPr>
        <p:spPr>
          <a:xfrm>
            <a:off x="13716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Interactive dashboards across Power BI, Tableau, and Qlik - enabling real-time operational, financial, and leadership insights.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9"/>
          <p:cNvSpPr/>
          <p:nvPr/>
        </p:nvSpPr>
        <p:spPr>
          <a:xfrm>
            <a:off x="62106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0"/>
          <p:cNvSpPr/>
          <p:nvPr/>
        </p:nvSpPr>
        <p:spPr>
          <a:xfrm>
            <a:off x="6210605" y="55248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61"/>
          <p:cNvSpPr/>
          <p:nvPr/>
        </p:nvSpPr>
        <p:spPr>
          <a:xfrm>
            <a:off x="6391656" y="56482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Image 10" descr="preencoded.png"/>
          <p:cNvPicPr>
            <a:picLocks noChangeAspect="1"/>
          </p:cNvPicPr>
          <p:nvPr/>
        </p:nvPicPr>
        <p:blipFill>
          <a:blip r:embed="rId13"/>
          <a:srcRect/>
          <a:stretch/>
        </p:blipFill>
        <p:spPr>
          <a:xfrm>
            <a:off x="6505956" y="5762549"/>
            <a:ext cx="171907" cy="171907"/>
          </a:xfrm>
          <a:prstGeom prst="rect">
            <a:avLst/>
          </a:prstGeom>
        </p:spPr>
      </p:pic>
      <p:sp>
        <p:nvSpPr>
          <p:cNvPr id="75" name="Text 62"/>
          <p:cNvSpPr txBox="1"/>
          <p:nvPr/>
        </p:nvSpPr>
        <p:spPr>
          <a:xfrm>
            <a:off x="6526987" y="608624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10</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63"/>
          <p:cNvSpPr txBox="1"/>
          <p:nvPr/>
        </p:nvSpPr>
        <p:spPr>
          <a:xfrm>
            <a:off x="69723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ServiceNow</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64"/>
          <p:cNvSpPr txBox="1"/>
          <p:nvPr/>
        </p:nvSpPr>
        <p:spPr>
          <a:xfrm>
            <a:off x="69723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ServiceNow enablement across ITSM, ITOM, CSM, CMDB, automation workflows, and CoE setup for scalable, multi-instance operations.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1" descr="preencoded.png"/>
          <p:cNvPicPr>
            <a:picLocks noChangeAspect="1"/>
          </p:cNvPicPr>
          <p:nvPr/>
        </p:nvPicPr>
        <p:blipFill>
          <a:blip r:embed="rId14"/>
          <a:srcRect l="-202" r="-202"/>
          <a:stretch/>
        </p:blipFill>
        <p:spPr>
          <a:xfrm>
            <a:off x="0" y="0"/>
            <a:ext cx="8128102" cy="75895"/>
          </a:xfrm>
          <a:prstGeom prst="rect">
            <a:avLst/>
          </a:prstGeom>
        </p:spPr>
      </p:pic>
      <p:pic>
        <p:nvPicPr>
          <p:cNvPr id="79" name="Image 12"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504767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NX CAD TOOLKIT &amp; MACRO CONSOLIDATION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NX Open  ·  CATVBA  ·  Macro Automation  ·  Unified Engineering Dashboard  ·  Change-Driven Efficiency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Equipment Manufacturer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Engineering teams managed macros scattered across NX environments, requiring manual search, setup, and execution. Overlay comparison, BOM export, and drawing checks lacked a unified interface. No logging, error handling, or consistent deployment across global teams.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 unified NX Open-based engineering toolkit with a single, categorised GUI dashboard consolidating all macros. Engineers execute scripts via one-click buttons with input forms, logging, and error handling — deployed on a shared network.</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Macro Dashboard</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macros consolidated into a single categorised GUI — engineers find and run any process in one click with no script-hunting.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NX Open Automation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scripting coverage across NX Open Python API — parameters passed via input forms, not hardcoded.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Overlay &amp; Comparison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geometric overlay comparison between part revisions and PDF report generated without manual steps.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Version-Aware Execution Logging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Every macro run logged with user, timestamp, parameters, and success/fail status — full audit trail across all engineering teams.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Drawing Standards &amp; Attribute Checks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validation of naming conventions, GD&amp;T standards, mandatory attributes, and BOM export — enforced at run-time.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Extensible Macro Registry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New macros added via drag-and-drop + 5-field metadata form — no bespoke code required. Scales to any number of scripts.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Macros Consolidated into One Toolkit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Execution (&lt;30 sec vs 5-10 min)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Users with Simultaneous Consistent Rollout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8D, FMEA AND DOCUMENT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8D Reports  ·  FMEA  ·  PLM  ·  NLP  ·  Automotive  ·  Quality Engineering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Automotive Components Manufacturer   |   Domain: Manufacturing   |   Function: Quality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components manufacturer's engineering team had no automated way to retrieve or reuse engineering knowledge across quality events. Engineers manually searched PLM systems for drawings, simulation reports, and specifications, then built 8D reports, FMEA updates, and fishbone diagrams by hand. Document retrieval alone consumed significant hours per cycle.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 layer deployed to auto-tag engineering documents, extract specifications from drawings and PDFs, and enable natural language retrieval of artifacts across PLM systems. System automatically generates 8D reports, updates FMEAs, and builds fishbone diagrams directly from linked quality data, connecting events to artifacts without manual cross-referencing.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Natural Language Document Retrieval</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Engineers query PLM systems in plain language to instantly surface drawings, reports, and specifications.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Auto-Tagging and Artifact Linking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links engineering documents to quality events, change records, and failure history.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8D Report Auto-Generation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structured 8D reports from linked quality data, failure patterns, and corrective actions.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FMEA Intelligent Update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relevant quality events and updates risk assessments without manual cross-referencing.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Fishbone Diagram Automation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Builds cause-and-effect diagrams directly from failure data and engineering artifacts.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Spec Extraction from Drawings &amp; PDFs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Extracts structured specifications, tolerances, and parameters from unstructured engineering documents.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Documentation Effort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Investigation Cycle Times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40-50%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Engineering Knowledge Reuse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GENERATIVE AI FOR PRODUCT DESIGN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Text-to-CAD  ·  2D-to-3D  ·  GenAI  ·  Sheet Metal  ·  Pipe Routing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Equipment Manufacturer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industrial equipment manufacturer's product engineering teams managed mechanical component design, 2D-to-3D reconstruction, pipe routing, harness layout, and sheet metal preparation through manual CAD workflows. Packaging constraints, frequent change requests, and variant complexity stretched concept-to-prototype cycles, delaying production readiness.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GenAI-powered design engine deployed, converting multi-angle 2D images into exportable 3D models and generating mechanical components from natural language prompts through text-to-CAD. AI-driven routing automation and sheet metal optimization generate CAD-ready outputs optimized for manufacturability and cost.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2D-to-3D AI Reconstruction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multi-angle 2D images into exportable 3D models automatically.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Text-to-CAD Generative Design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mechanical components from natural language prompts with parametric outputs.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CAD-Ready Feasibility Validator</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Validates generated designs against manufacturability and cost rules before they advance.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Pipe and Cable Harness Routing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AI-driven routing using bend radius, clearance, collision, and manufacturability rules.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Sheet Metal Optimizer</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Automates flattening, nesting, and bend-sequence planning with cost-aware tooling suggestions.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Variant Complexity Handling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Manages packaging constraints and change requests across design variants without restarting the CAD workflow from scratch.</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Model Reconstruction Effort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90-95%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Routing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Design Finalisation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32819</Words>
  <Application>Microsoft Office PowerPoint</Application>
  <PresentationFormat>Widescreen</PresentationFormat>
  <Paragraphs>3575</Paragraphs>
  <Slides>138</Slides>
  <Notes>138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5</cp:revision>
  <dcterms:created xsi:type="dcterms:W3CDTF">2026-06-22T10:46:20Z</dcterms:created>
  <dcterms:modified xsi:type="dcterms:W3CDTF">2026-06-24T11:39:04Z</dcterms:modified>
</cp:coreProperties>
</file>