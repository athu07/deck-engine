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0"/>
  </p:notesMasterIdLst>
  <p:sldIdLst>
    <p:sldId id="2147483328" r:id="rId2"/>
    <p:sldId id="2147483329" r:id="rId3"/>
    <p:sldId id="2147483330" r:id="rId4"/>
    <p:sldId id="2147483327" r:id="rId5"/>
    <p:sldId id="2147483332" r:id="rId6"/>
    <p:sldId id="2147483331" r:id="rId7"/>
    <p:sldId id="2147483431" r:id="rId21"/>
    <p:sldId id="2147483432" r:id="rId22"/>
    <p:sldId id="2147483433" r:id="rId18"/>
    <p:sldId id="2147483434" r:id="rId19"/>
    <p:sldId id="2147483305" r:id="rId8"/>
    <p:sldId id="299" r:id="rId9"/>
    <p:sldId id="2147483435"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09984CD-E0AE-483E-8716-12DE2F9F24C4}" v="3" dt="2026-06-22T11:16:53.6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9.xml"/><Relationship Id="rId9"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7.xml"/><Relationship Id="rId22" Type="http://schemas.openxmlformats.org/officeDocument/2006/relationships/slide" Target="slides/slide8.xml"/><Relationship Id="rId140" Type="http://schemas.openxmlformats.org/officeDocument/2006/relationships/notesMaster" Target="notesMasters/notesMaster1.xml"/><Relationship Id="rId141" Type="http://schemas.openxmlformats.org/officeDocument/2006/relationships/presProps" Target="presProps.xml"/><Relationship Id="rId142" Type="http://schemas.openxmlformats.org/officeDocument/2006/relationships/viewProps" Target="viewProps.xml"/><Relationship Id="rId143" Type="http://schemas.openxmlformats.org/officeDocument/2006/relationships/theme" Target="theme/theme1.xml"/><Relationship Id="rId144" Type="http://schemas.openxmlformats.org/officeDocument/2006/relationships/tableStyles" Target="tableStyles.xml"/><Relationship Id="rId145"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18319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J2W_ID: CS01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9887589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5710115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CS08</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695518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CS18</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7733899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CS19</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229009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png"/><Relationship Id="rId14" Type="http://schemas.openxmlformats.org/officeDocument/2006/relationships/image" Target="../media/image12.png"/><Relationship Id="rId15" Type="http://schemas.openxmlformats.org/officeDocument/2006/relationships/image" Target="../media/image13.png"/><Relationship Id="rId16" Type="http://schemas.openxmlformats.org/officeDocument/2006/relationships/image" Target="../media/image14.png"/><Relationship Id="rId17" Type="http://schemas.openxmlformats.org/officeDocument/2006/relationships/image" Target="../media/image15.png"/><Relationship Id="rId18" Type="http://schemas.openxmlformats.org/officeDocument/2006/relationships/image" Target="../media/image16.png"/><Relationship Id="rId19" Type="http://schemas.openxmlformats.org/officeDocument/2006/relationships/image" Target="../media/image17.png"/><Relationship Id="rId20" Type="http://schemas.openxmlformats.org/officeDocument/2006/relationships/image" Target="../media/image18.jpeg"/><Relationship Id="rId21" Type="http://schemas.openxmlformats.org/officeDocument/2006/relationships/image" Target="../media/image19.jpeg"/><Relationship Id="rId22" Type="http://schemas.openxmlformats.org/officeDocument/2006/relationships/image" Target="../media/image20.png"/><Relationship Id="rId23" Type="http://schemas.openxmlformats.org/officeDocument/2006/relationships/image" Target="../media/image21.png"/><Relationship Id="rId24"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jpeg"/><Relationship Id="rId6" Type="http://schemas.openxmlformats.org/officeDocument/2006/relationships/image" Target="../media/image32.png"/><Relationship Id="rId7" Type="http://schemas.openxmlformats.org/officeDocument/2006/relationships/image" Target="../media/image33.jpeg"/><Relationship Id="rId8" Type="http://schemas.openxmlformats.org/officeDocument/2006/relationships/image" Target="../media/image34.png"/><Relationship Id="rId9" Type="http://schemas.openxmlformats.org/officeDocument/2006/relationships/image" Target="../media/image3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44.png"/><Relationship Id="rId11" Type="http://schemas.openxmlformats.org/officeDocument/2006/relationships/image" Target="../media/image45.png"/><Relationship Id="rId12" Type="http://schemas.openxmlformats.org/officeDocument/2006/relationships/image" Target="../media/image4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4.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132.png"/><Relationship Id="rId7" Type="http://schemas.openxmlformats.org/officeDocument/2006/relationships/image" Target="../media/image133.png"/><Relationship Id="rId8" Type="http://schemas.openxmlformats.org/officeDocument/2006/relationships/image" Target="../media/image134.png"/><Relationship Id="rId9" Type="http://schemas.openxmlformats.org/officeDocument/2006/relationships/image" Target="../media/image13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9.png"/><Relationship Id="rId4" Type="http://schemas.openxmlformats.org/officeDocument/2006/relationships/image" Target="../media/image136.png"/><Relationship Id="rId5" Type="http://schemas.openxmlformats.org/officeDocument/2006/relationships/image" Target="../media/image137.png"/><Relationship Id="rId6" Type="http://schemas.openxmlformats.org/officeDocument/2006/relationships/image" Target="../media/image138.png"/><Relationship Id="rId7" Type="http://schemas.openxmlformats.org/officeDocument/2006/relationships/image" Target="../media/image139.png"/><Relationship Id="rId8" Type="http://schemas.openxmlformats.org/officeDocument/2006/relationships/image" Target="../media/image140.png"/><Relationship Id="rId9" Type="http://schemas.openxmlformats.org/officeDocument/2006/relationships/image" Target="../media/image141.png"/><Relationship Id="rId10" Type="http://schemas.openxmlformats.org/officeDocument/2006/relationships/image" Target="../media/image142.png"/><Relationship Id="rId11" Type="http://schemas.openxmlformats.org/officeDocument/2006/relationships/image" Target="../media/image143.png"/><Relationship Id="rId12" Type="http://schemas.openxmlformats.org/officeDocument/2006/relationships/image" Target="../media/image144.png"/><Relationship Id="rId13" Type="http://schemas.openxmlformats.org/officeDocument/2006/relationships/image" Target="../media/image145.png"/><Relationship Id="rId14" Type="http://schemas.openxmlformats.org/officeDocument/2006/relationships/image" Target="../media/image34.png"/><Relationship Id="rId15" Type="http://schemas.openxmlformats.org/officeDocument/2006/relationships/image" Target="../media/image3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5.png"/><Relationship Id="rId4" Type="http://schemas.openxmlformats.org/officeDocument/2006/relationships/image" Target="../media/image24.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image" Target="../media/image57.png"/><Relationship Id="rId10" Type="http://schemas.openxmlformats.org/officeDocument/2006/relationships/image" Target="../media/image58.png"/><Relationship Id="rId11" Type="http://schemas.openxmlformats.org/officeDocument/2006/relationships/image" Target="../media/image59.png"/><Relationship Id="rId12" Type="http://schemas.openxmlformats.org/officeDocument/2006/relationships/image" Target="../media/image60.png"/><Relationship Id="rId13" Type="http://schemas.openxmlformats.org/officeDocument/2006/relationships/image" Target="../media/image61.png"/><Relationship Id="rId14" Type="http://schemas.openxmlformats.org/officeDocument/2006/relationships/image" Target="../media/image6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4.png"/><Relationship Id="rId6" Type="http://schemas.openxmlformats.org/officeDocument/2006/relationships/image" Target="../media/image63.png"/><Relationship Id="rId7" Type="http://schemas.openxmlformats.org/officeDocument/2006/relationships/image" Target="../media/image64.jpeg"/><Relationship Id="rId8" Type="http://schemas.openxmlformats.org/officeDocument/2006/relationships/image" Target="../media/image65.jpeg"/><Relationship Id="rId9" Type="http://schemas.openxmlformats.org/officeDocument/2006/relationships/image" Target="../media/image66.jpeg"/><Relationship Id="rId10" Type="http://schemas.openxmlformats.org/officeDocument/2006/relationships/image" Target="../media/image67.jpeg"/><Relationship Id="rId11" Type="http://schemas.openxmlformats.org/officeDocument/2006/relationships/image" Target="../media/image68.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0F0"/>
          </a:solidFill>
          <a:ln w="12700">
            <a:solidFill>
              <a:srgbClr val="FFFFFF">
                <a:alpha val="0"/>
              </a:srgbClr>
            </a:solidFill>
            <a:prstDash val="solid"/>
          </a:ln>
        </p:spPr>
        <p:txBody>
          <a:bodyPr/>
          <a:lstStyle/>
          <a:p>
            <a:endParaRPr lang="en-US"/>
          </a:p>
        </p:txBody>
      </p:sp>
      <p:sp>
        <p:nvSpPr>
          <p:cNvPr id="3" name="Shape 1"/>
          <p:cNvSpPr/>
          <p:nvPr/>
        </p:nvSpPr>
        <p:spPr>
          <a:xfrm>
            <a:off x="305" y="0"/>
            <a:ext cx="12191695" cy="6858000"/>
          </a:xfrm>
          <a:prstGeom prst="rect">
            <a:avLst/>
          </a:prstGeom>
          <a:solidFill>
            <a:srgbClr val="FFFFFF"/>
          </a:solidFill>
          <a:ln w="12700">
            <a:solidFill>
              <a:srgbClr val="FFFFFF">
                <a:alpha val="0"/>
              </a:srgbClr>
            </a:solidFill>
            <a:prstDash val="solid"/>
          </a:ln>
        </p:spPr>
        <p:txBody>
          <a:bodyPr/>
          <a:lstStyle/>
          <a:p>
            <a:pPr algn="ctr"/>
            <a:endParaRPr lang="en-US"/>
          </a:p>
        </p:txBody>
      </p:sp>
      <p:pic>
        <p:nvPicPr>
          <p:cNvPr id="4" name="Image 0" descr="preencoded.png"/>
          <p:cNvPicPr>
            <a:picLocks noChangeAspect="1"/>
          </p:cNvPicPr>
          <p:nvPr/>
        </p:nvPicPr>
        <p:blipFill>
          <a:blip r:embed="rId3"/>
          <a:srcRect/>
          <a:stretch/>
        </p:blipFill>
        <p:spPr>
          <a:xfrm>
            <a:off x="9334195" y="0"/>
            <a:ext cx="2857500" cy="2857500"/>
          </a:xfrm>
          <a:prstGeom prst="rect">
            <a:avLst/>
          </a:prstGeom>
        </p:spPr>
      </p:pic>
      <p:sp>
        <p:nvSpPr>
          <p:cNvPr id="5" name="Shape 2"/>
          <p:cNvSpPr/>
          <p:nvPr/>
        </p:nvSpPr>
        <p:spPr>
          <a:xfrm>
            <a:off x="0" y="5905195"/>
            <a:ext cx="3810305" cy="952805"/>
          </a:xfrm>
          <a:custGeom>
            <a:avLst/>
            <a:gdLst/>
            <a:ahLst/>
            <a:cxnLst/>
            <a:rect l="l" t="t" r="r" b="b"/>
            <a:pathLst>
              <a:path w="3810305" h="952805">
                <a:moveTo>
                  <a:pt x="0" y="952805"/>
                </a:moveTo>
                <a:lnTo>
                  <a:pt x="3810305" y="952805"/>
                </a:lnTo>
                <a:lnTo>
                  <a:pt x="0" y="0"/>
                </a:lnTo>
                <a:close/>
              </a:path>
            </a:pathLst>
          </a:custGeom>
          <a:solidFill>
            <a:srgbClr val="D62839">
              <a:alpha val="3000"/>
            </a:srgbClr>
          </a:solidFill>
          <a:ln/>
        </p:spPr>
        <p:txBody>
          <a:bodyPr/>
          <a:lstStyle/>
          <a:p>
            <a:endParaRPr lang="en-US"/>
          </a:p>
        </p:txBody>
      </p:sp>
      <p:pic>
        <p:nvPicPr>
          <p:cNvPr id="6" name="Image 1" descr="preencoded.png"/>
          <p:cNvPicPr>
            <a:picLocks noChangeAspect="1"/>
          </p:cNvPicPr>
          <p:nvPr/>
        </p:nvPicPr>
        <p:blipFill>
          <a:blip r:embed="rId4"/>
          <a:srcRect l="-202" r="-202"/>
          <a:stretch/>
        </p:blipFill>
        <p:spPr>
          <a:xfrm>
            <a:off x="0" y="0"/>
            <a:ext cx="8128102" cy="75895"/>
          </a:xfrm>
          <a:prstGeom prst="rect">
            <a:avLst/>
          </a:prstGeom>
        </p:spPr>
      </p:pic>
      <p:pic>
        <p:nvPicPr>
          <p:cNvPr id="7" name="Image 2" descr="preencoded.png"/>
          <p:cNvPicPr>
            <a:picLocks noChangeAspect="1"/>
          </p:cNvPicPr>
          <p:nvPr/>
        </p:nvPicPr>
        <p:blipFill>
          <a:blip r:embed="rId5"/>
          <a:srcRect l="-197" r="-197"/>
          <a:stretch/>
        </p:blipFill>
        <p:spPr>
          <a:xfrm>
            <a:off x="8128102" y="0"/>
            <a:ext cx="4063594" cy="75895"/>
          </a:xfrm>
          <a:prstGeom prst="rect">
            <a:avLst/>
          </a:prstGeom>
        </p:spPr>
      </p:pic>
      <p:sp>
        <p:nvSpPr>
          <p:cNvPr id="8" name="Text 3"/>
          <p:cNvSpPr txBox="1"/>
          <p:nvPr/>
        </p:nvSpPr>
        <p:spPr>
          <a:xfrm>
            <a:off x="2774290" y="3881628"/>
            <a:ext cx="6648602" cy="267005"/>
          </a:xfrm>
          <a:prstGeom prst="rect">
            <a:avLst/>
          </a:prstGeom>
          <a:noFill/>
          <a:ln/>
        </p:spPr>
        <p:txBody>
          <a:bodyPr wrap="square" lIns="0" tIns="0" rIns="0" bIns="0" rtlCol="0" anchor="ctr"/>
          <a:lstStyle/>
          <a:p>
            <a:pPr marL="0" indent="0" algn="ctr">
              <a:buNone/>
            </a:pPr>
            <a:r>
              <a:rPr lang="en-US" sz="1500" b="1">
                <a:solidFill>
                  <a:srgbClr val="4B5563"/>
                </a:solidFill>
                <a:latin typeface="Roboto Condensed" pitchFamily="34" charset="0"/>
                <a:ea typeface="Roboto Condensed" pitchFamily="34" charset="-122"/>
                <a:cs typeface="Roboto Condensed" pitchFamily="34" charset="-120"/>
              </a:rPr>
              <a:t>BUSINESS DRIVERS| TECHNOLOGY ACCELERATORS | GAME CHANGERS</a:t>
            </a:r>
            <a:endParaRPr lang="en-US" sz="1200"/>
          </a:p>
        </p:txBody>
      </p:sp>
      <p:sp>
        <p:nvSpPr>
          <p:cNvPr id="9" name="Text 4"/>
          <p:cNvSpPr txBox="1"/>
          <p:nvPr/>
        </p:nvSpPr>
        <p:spPr>
          <a:xfrm>
            <a:off x="4153205" y="4262933"/>
            <a:ext cx="3893515" cy="305410"/>
          </a:xfrm>
          <a:prstGeom prst="rect">
            <a:avLst/>
          </a:prstGeom>
          <a:noFill/>
          <a:ln/>
        </p:spPr>
        <p:txBody>
          <a:bodyPr wrap="square" lIns="0" tIns="0" rIns="0" bIns="0" rtlCol="0" anchor="ctr"/>
          <a:lstStyle/>
          <a:p>
            <a:pPr marL="0" indent="0" algn="ctr">
              <a:buNone/>
            </a:pPr>
            <a:r>
              <a:rPr lang="en-US" sz="1800" i="1">
                <a:solidFill>
                  <a:srgbClr val="D62839"/>
                </a:solidFill>
                <a:latin typeface="Raleway" pitchFamily="34" charset="0"/>
                <a:ea typeface="Raleway" pitchFamily="34" charset="-122"/>
                <a:cs typeface="Raleway" pitchFamily="34" charset="-120"/>
              </a:rPr>
              <a:t>Energy. Excellence. Innovation.</a:t>
            </a:r>
            <a:endParaRPr lang="en-US" sz="1800"/>
          </a:p>
        </p:txBody>
      </p:sp>
      <p:pic>
        <p:nvPicPr>
          <p:cNvPr id="10" name="Image 3" descr="preencoded.png"/>
          <p:cNvPicPr>
            <a:picLocks noChangeAspect="1"/>
          </p:cNvPicPr>
          <p:nvPr/>
        </p:nvPicPr>
        <p:blipFill>
          <a:blip r:embed="rId6"/>
          <a:srcRect l="141" r="141"/>
          <a:stretch/>
        </p:blipFill>
        <p:spPr>
          <a:xfrm>
            <a:off x="4629607" y="447142"/>
            <a:ext cx="2933395" cy="1419149"/>
          </a:xfrm>
          <a:prstGeom prst="rect">
            <a:avLst/>
          </a:prstGeom>
        </p:spPr>
      </p:pic>
      <p:sp>
        <p:nvSpPr>
          <p:cNvPr id="11" name="Text 5"/>
          <p:cNvSpPr txBox="1"/>
          <p:nvPr/>
        </p:nvSpPr>
        <p:spPr>
          <a:xfrm>
            <a:off x="1287018" y="2262226"/>
            <a:ext cx="9475927" cy="1143000"/>
          </a:xfrm>
          <a:prstGeom prst="rect">
            <a:avLst/>
          </a:prstGeom>
          <a:noFill/>
          <a:ln/>
        </p:spPr>
        <p:txBody>
          <a:bodyPr wrap="square" lIns="0" tIns="0" rIns="0" bIns="0" rtlCol="0" anchor="ctr"/>
          <a:lstStyle/>
          <a:p>
            <a:pPr marL="0" indent="0" algn="ctr">
              <a:buNone/>
            </a:pPr>
            <a:r>
              <a:rPr lang="en-US" sz="3600" b="1" dirty="0">
                <a:solidFill>
                  <a:srgbClr val="1F2937"/>
                </a:solidFill>
                <a:latin typeface="Oswald" pitchFamily="34" charset="0"/>
                <a:ea typeface="Oswald" pitchFamily="34" charset="-122"/>
                <a:cs typeface="Oswald" pitchFamily="34" charset="-120"/>
              </a:rPr>
              <a:t> Building the Enterprise Operating Model​</a:t>
            </a:r>
          </a:p>
          <a:p>
            <a:pPr marL="0" indent="0" algn="ctr">
              <a:buNone/>
            </a:pPr>
            <a:r>
              <a:rPr lang="en-US" sz="3600" b="1" dirty="0">
                <a:solidFill>
                  <a:srgbClr val="1F2937"/>
                </a:solidFill>
                <a:latin typeface="Oswald" pitchFamily="34" charset="0"/>
                <a:ea typeface="Oswald" pitchFamily="34" charset="-122"/>
                <a:cs typeface="Oswald" pitchFamily="34" charset="-120"/>
              </a:rPr>
              <a:t>for the Next Decade​</a:t>
            </a:r>
          </a:p>
        </p:txBody>
      </p:sp>
      <p:pic>
        <p:nvPicPr>
          <p:cNvPr id="12" name="Image 4" descr="preencoded.png"/>
          <p:cNvPicPr>
            <a:picLocks noChangeAspect="1"/>
          </p:cNvPicPr>
          <p:nvPr/>
        </p:nvPicPr>
        <p:blipFill>
          <a:blip r:embed="rId7"/>
          <a:srcRect t="-400" b="-400"/>
          <a:stretch/>
        </p:blipFill>
        <p:spPr>
          <a:xfrm>
            <a:off x="5639105" y="3596335"/>
            <a:ext cx="914400" cy="57607"/>
          </a:xfrm>
          <a:prstGeom prst="rect">
            <a:avLst/>
          </a:prstGeom>
        </p:spPr>
      </p:pic>
      <p:sp>
        <p:nvSpPr>
          <p:cNvPr id="13" name="Shape 6"/>
          <p:cNvSpPr/>
          <p:nvPr/>
        </p:nvSpPr>
        <p:spPr>
          <a:xfrm>
            <a:off x="0" y="5238598"/>
            <a:ext cx="12191695" cy="1619402"/>
          </a:xfrm>
          <a:prstGeom prst="rect">
            <a:avLst/>
          </a:prstGeom>
          <a:solidFill>
            <a:srgbClr val="F9FAFB"/>
          </a:solidFill>
          <a:ln/>
        </p:spPr>
        <p:txBody>
          <a:bodyPr/>
          <a:lstStyle/>
          <a:p>
            <a:endParaRPr lang="en-US"/>
          </a:p>
        </p:txBody>
      </p:sp>
      <p:sp>
        <p:nvSpPr>
          <p:cNvPr id="14" name="Shape 7"/>
          <p:cNvSpPr/>
          <p:nvPr/>
        </p:nvSpPr>
        <p:spPr>
          <a:xfrm>
            <a:off x="0" y="5238598"/>
            <a:ext cx="12191695" cy="9144"/>
          </a:xfrm>
          <a:prstGeom prst="rect">
            <a:avLst/>
          </a:prstGeom>
          <a:solidFill>
            <a:srgbClr val="E5E7EB"/>
          </a:solidFill>
          <a:ln w="12700">
            <a:solidFill>
              <a:srgbClr val="E5E7EB">
                <a:alpha val="0"/>
              </a:srgbClr>
            </a:solidFill>
            <a:prstDash val="solid"/>
          </a:ln>
        </p:spPr>
        <p:txBody>
          <a:bodyPr/>
          <a:lstStyle/>
          <a:p>
            <a:endParaRPr lang="en-US"/>
          </a:p>
        </p:txBody>
      </p:sp>
      <p:sp>
        <p:nvSpPr>
          <p:cNvPr id="15" name="Shape 8"/>
          <p:cNvSpPr/>
          <p:nvPr/>
        </p:nvSpPr>
        <p:spPr>
          <a:xfrm>
            <a:off x="10201961" y="5362956"/>
            <a:ext cx="9144" cy="1380744"/>
          </a:xfrm>
          <a:prstGeom prst="rect">
            <a:avLst/>
          </a:prstGeom>
          <a:solidFill>
            <a:srgbClr val="D1D5DB"/>
          </a:solidFill>
          <a:ln w="12700">
            <a:solidFill>
              <a:srgbClr val="D1D5DB">
                <a:alpha val="0"/>
              </a:srgbClr>
            </a:solidFill>
            <a:prstDash val="solid"/>
          </a:ln>
        </p:spPr>
        <p:txBody>
          <a:bodyPr/>
          <a:lstStyle/>
          <a:p>
            <a:endParaRPr lang="en-US"/>
          </a:p>
        </p:txBody>
      </p:sp>
      <p:sp>
        <p:nvSpPr>
          <p:cNvPr id="16" name="Text 9"/>
          <p:cNvSpPr txBox="1"/>
          <p:nvPr/>
        </p:nvSpPr>
        <p:spPr>
          <a:xfrm>
            <a:off x="457200" y="5362956"/>
            <a:ext cx="9630461" cy="191110"/>
          </a:xfrm>
          <a:prstGeom prst="rect">
            <a:avLst/>
          </a:prstGeom>
          <a:noFill/>
          <a:ln/>
        </p:spPr>
        <p:txBody>
          <a:bodyPr wrap="square" lIns="0" tIns="0" rIns="0" bIns="0" rtlCol="0" anchor="ctr"/>
          <a:lstStyle/>
          <a:p>
            <a:pPr marL="0" indent="0" algn="l">
              <a:buNone/>
            </a:pPr>
            <a:r>
              <a:rPr lang="en-US" sz="1000" b="1" kern="0" spc="52">
                <a:solidFill>
                  <a:srgbClr val="2A9D8F"/>
                </a:solidFill>
                <a:latin typeface="Roboto Condensed" pitchFamily="34" charset="0"/>
                <a:ea typeface="Roboto Condensed" pitchFamily="34" charset="-122"/>
                <a:cs typeface="Roboto Condensed" pitchFamily="34" charset="-120"/>
              </a:rPr>
              <a:t>Trusted by:</a:t>
            </a:r>
            <a:endParaRPr lang="en-US" sz="1000"/>
          </a:p>
        </p:txBody>
      </p:sp>
      <p:sp>
        <p:nvSpPr>
          <p:cNvPr id="17" name="Shape 10"/>
          <p:cNvSpPr/>
          <p:nvPr/>
        </p:nvSpPr>
        <p:spPr>
          <a:xfrm>
            <a:off x="10362895" y="5605272"/>
            <a:ext cx="1371600" cy="247802"/>
          </a:xfrm>
          <a:prstGeom prst="roundRect">
            <a:avLst>
              <a:gd name="adj" fmla="val 369004"/>
            </a:avLst>
          </a:prstGeom>
          <a:solidFill>
            <a:srgbClr val="FFFFFF"/>
          </a:solidFill>
          <a:ln w="12700">
            <a:solidFill>
              <a:srgbClr val="E5E7EB"/>
            </a:solidFill>
            <a:prstDash val="solid"/>
          </a:ln>
        </p:spPr>
        <p:txBody>
          <a:bodyPr/>
          <a:lstStyle/>
          <a:p>
            <a:endParaRPr lang="en-US"/>
          </a:p>
        </p:txBody>
      </p:sp>
      <p:pic>
        <p:nvPicPr>
          <p:cNvPr id="18" name="Image 5" descr="preencoded.png"/>
          <p:cNvPicPr>
            <a:picLocks noChangeAspect="1"/>
          </p:cNvPicPr>
          <p:nvPr/>
        </p:nvPicPr>
        <p:blipFill>
          <a:blip r:embed="rId8"/>
          <a:srcRect/>
          <a:stretch/>
        </p:blipFill>
        <p:spPr>
          <a:xfrm>
            <a:off x="10577779" y="5672023"/>
            <a:ext cx="114300" cy="114300"/>
          </a:xfrm>
          <a:prstGeom prst="rect">
            <a:avLst/>
          </a:prstGeom>
        </p:spPr>
      </p:pic>
      <p:sp>
        <p:nvSpPr>
          <p:cNvPr id="19" name="Text 11"/>
          <p:cNvSpPr txBox="1"/>
          <p:nvPr/>
        </p:nvSpPr>
        <p:spPr>
          <a:xfrm>
            <a:off x="10767974" y="5605272"/>
            <a:ext cx="810158" cy="247802"/>
          </a:xfrm>
          <a:prstGeom prst="rect">
            <a:avLst/>
          </a:prstGeom>
          <a:noFill/>
          <a:ln/>
        </p:spPr>
        <p:txBody>
          <a:bodyPr wrap="square" lIns="0" tIns="0" rIns="0" bIns="0" rtlCol="0" anchor="ctr"/>
          <a:lstStyle/>
          <a:p>
            <a:pPr marL="0" indent="0" algn="l">
              <a:buNone/>
            </a:pPr>
            <a:r>
              <a:rPr lang="en-US" sz="900" b="1">
                <a:solidFill>
                  <a:srgbClr val="4B5563"/>
                </a:solidFill>
                <a:latin typeface="Raleway" pitchFamily="34" charset="0"/>
                <a:ea typeface="Raleway" pitchFamily="34" charset="-122"/>
                <a:cs typeface="Raleway" pitchFamily="34" charset="-120"/>
              </a:rPr>
              <a:t>ISO 9001:2015</a:t>
            </a:r>
            <a:endParaRPr lang="en-US" sz="900"/>
          </a:p>
        </p:txBody>
      </p:sp>
      <p:sp>
        <p:nvSpPr>
          <p:cNvPr id="20" name="Shape 12"/>
          <p:cNvSpPr/>
          <p:nvPr/>
        </p:nvSpPr>
        <p:spPr>
          <a:xfrm>
            <a:off x="10362895" y="5928970"/>
            <a:ext cx="1371600" cy="247802"/>
          </a:xfrm>
          <a:prstGeom prst="roundRect">
            <a:avLst>
              <a:gd name="adj" fmla="val 369004"/>
            </a:avLst>
          </a:prstGeom>
          <a:solidFill>
            <a:srgbClr val="FFFFFF"/>
          </a:solidFill>
          <a:ln w="12700">
            <a:solidFill>
              <a:srgbClr val="E5E7EB"/>
            </a:solidFill>
            <a:prstDash val="solid"/>
          </a:ln>
        </p:spPr>
        <p:txBody>
          <a:bodyPr/>
          <a:lstStyle/>
          <a:p>
            <a:endParaRPr lang="en-US"/>
          </a:p>
        </p:txBody>
      </p:sp>
      <p:pic>
        <p:nvPicPr>
          <p:cNvPr id="21" name="Image 6" descr="preencoded.png"/>
          <p:cNvPicPr>
            <a:picLocks noChangeAspect="1"/>
          </p:cNvPicPr>
          <p:nvPr/>
        </p:nvPicPr>
        <p:blipFill>
          <a:blip r:embed="rId9"/>
          <a:srcRect/>
          <a:stretch/>
        </p:blipFill>
        <p:spPr>
          <a:xfrm>
            <a:off x="10554919" y="5995721"/>
            <a:ext cx="114300" cy="114300"/>
          </a:xfrm>
          <a:prstGeom prst="rect">
            <a:avLst/>
          </a:prstGeom>
        </p:spPr>
      </p:pic>
      <p:sp>
        <p:nvSpPr>
          <p:cNvPr id="22" name="Text 13"/>
          <p:cNvSpPr txBox="1"/>
          <p:nvPr/>
        </p:nvSpPr>
        <p:spPr>
          <a:xfrm>
            <a:off x="10745114" y="5928970"/>
            <a:ext cx="857707" cy="247802"/>
          </a:xfrm>
          <a:prstGeom prst="rect">
            <a:avLst/>
          </a:prstGeom>
          <a:noFill/>
          <a:ln/>
        </p:spPr>
        <p:txBody>
          <a:bodyPr wrap="square" lIns="0" tIns="0" rIns="0" bIns="0" rtlCol="0" anchor="ctr"/>
          <a:lstStyle/>
          <a:p>
            <a:pPr marL="0" indent="0" algn="l">
              <a:buNone/>
            </a:pPr>
            <a:r>
              <a:rPr lang="en-US" sz="900" b="1">
                <a:solidFill>
                  <a:srgbClr val="4B5563"/>
                </a:solidFill>
                <a:latin typeface="Raleway" pitchFamily="34" charset="0"/>
                <a:ea typeface="Raleway" pitchFamily="34" charset="-122"/>
                <a:cs typeface="Raleway" pitchFamily="34" charset="-120"/>
              </a:rPr>
              <a:t>CMMI Certified</a:t>
            </a:r>
            <a:endParaRPr lang="en-US" sz="900"/>
          </a:p>
        </p:txBody>
      </p:sp>
      <p:sp>
        <p:nvSpPr>
          <p:cNvPr id="23" name="Shape 14"/>
          <p:cNvSpPr/>
          <p:nvPr/>
        </p:nvSpPr>
        <p:spPr>
          <a:xfrm>
            <a:off x="10362895" y="6253582"/>
            <a:ext cx="1371600" cy="247802"/>
          </a:xfrm>
          <a:prstGeom prst="roundRect">
            <a:avLst>
              <a:gd name="adj" fmla="val 369004"/>
            </a:avLst>
          </a:prstGeom>
          <a:solidFill>
            <a:srgbClr val="FFFFFF"/>
          </a:solidFill>
          <a:ln w="12700">
            <a:solidFill>
              <a:srgbClr val="E5E7EB"/>
            </a:solidFill>
            <a:prstDash val="solid"/>
          </a:ln>
        </p:spPr>
        <p:txBody>
          <a:bodyPr/>
          <a:lstStyle/>
          <a:p>
            <a:endParaRPr lang="en-US"/>
          </a:p>
        </p:txBody>
      </p:sp>
      <p:pic>
        <p:nvPicPr>
          <p:cNvPr id="24" name="Image 7" descr="preencoded.png"/>
          <p:cNvPicPr>
            <a:picLocks noChangeAspect="1"/>
          </p:cNvPicPr>
          <p:nvPr/>
        </p:nvPicPr>
        <p:blipFill>
          <a:blip r:embed="rId10"/>
          <a:srcRect l="-133" r="-133"/>
          <a:stretch/>
        </p:blipFill>
        <p:spPr>
          <a:xfrm>
            <a:off x="10537546" y="6319418"/>
            <a:ext cx="85954" cy="114300"/>
          </a:xfrm>
          <a:prstGeom prst="rect">
            <a:avLst/>
          </a:prstGeom>
        </p:spPr>
      </p:pic>
      <p:sp>
        <p:nvSpPr>
          <p:cNvPr id="25" name="Text 15"/>
          <p:cNvSpPr txBox="1"/>
          <p:nvPr/>
        </p:nvSpPr>
        <p:spPr>
          <a:xfrm>
            <a:off x="10699394" y="6253582"/>
            <a:ext cx="924458" cy="247802"/>
          </a:xfrm>
          <a:prstGeom prst="rect">
            <a:avLst/>
          </a:prstGeom>
          <a:noFill/>
          <a:ln/>
        </p:spPr>
        <p:txBody>
          <a:bodyPr wrap="square" lIns="0" tIns="0" rIns="0" bIns="0" rtlCol="0" anchor="ctr"/>
          <a:lstStyle/>
          <a:p>
            <a:pPr marL="0" indent="0" algn="l">
              <a:buNone/>
            </a:pPr>
            <a:r>
              <a:rPr lang="en-US" sz="900" b="1">
                <a:solidFill>
                  <a:srgbClr val="4B5563"/>
                </a:solidFill>
                <a:latin typeface="Raleway" pitchFamily="34" charset="0"/>
                <a:ea typeface="Raleway" pitchFamily="34" charset="-122"/>
                <a:cs typeface="Raleway" pitchFamily="34" charset="-120"/>
              </a:rPr>
              <a:t>Women-Owned</a:t>
            </a:r>
            <a:endParaRPr lang="en-US" sz="900"/>
          </a:p>
        </p:txBody>
      </p:sp>
      <p:pic>
        <p:nvPicPr>
          <p:cNvPr id="26" name="Image 8" descr="preencoded.png"/>
          <p:cNvPicPr>
            <a:picLocks noChangeAspect="1"/>
          </p:cNvPicPr>
          <p:nvPr/>
        </p:nvPicPr>
        <p:blipFill>
          <a:blip r:embed="rId11">
            <a:alphaModFix amt="90000"/>
          </a:blip>
          <a:srcRect/>
          <a:stretch/>
        </p:blipFill>
        <p:spPr>
          <a:xfrm>
            <a:off x="457200" y="5700370"/>
            <a:ext cx="428854" cy="428854"/>
          </a:xfrm>
          <a:prstGeom prst="rect">
            <a:avLst/>
          </a:prstGeom>
        </p:spPr>
      </p:pic>
      <p:pic>
        <p:nvPicPr>
          <p:cNvPr id="27" name="Image 9" descr="preencoded.png"/>
          <p:cNvPicPr>
            <a:picLocks noChangeAspect="1"/>
          </p:cNvPicPr>
          <p:nvPr/>
        </p:nvPicPr>
        <p:blipFill>
          <a:blip r:embed="rId12">
            <a:alphaModFix amt="90000"/>
          </a:blip>
          <a:srcRect l="2016" r="2016"/>
          <a:stretch/>
        </p:blipFill>
        <p:spPr>
          <a:xfrm>
            <a:off x="1578254" y="5805526"/>
            <a:ext cx="1143000" cy="228600"/>
          </a:xfrm>
          <a:prstGeom prst="rect">
            <a:avLst/>
          </a:prstGeom>
        </p:spPr>
      </p:pic>
      <p:pic>
        <p:nvPicPr>
          <p:cNvPr id="28" name="Image 10" descr="preencoded.png"/>
          <p:cNvPicPr>
            <a:picLocks noChangeAspect="1"/>
          </p:cNvPicPr>
          <p:nvPr/>
        </p:nvPicPr>
        <p:blipFill>
          <a:blip r:embed="rId13">
            <a:alphaModFix amt="90000"/>
          </a:blip>
          <a:srcRect t="569" b="569"/>
          <a:stretch/>
        </p:blipFill>
        <p:spPr>
          <a:xfrm>
            <a:off x="3413455" y="5639105"/>
            <a:ext cx="838505" cy="552298"/>
          </a:xfrm>
          <a:prstGeom prst="rect">
            <a:avLst/>
          </a:prstGeom>
        </p:spPr>
      </p:pic>
      <p:pic>
        <p:nvPicPr>
          <p:cNvPr id="29" name="Image 11" descr="preencoded.png"/>
          <p:cNvPicPr>
            <a:picLocks noChangeAspect="1"/>
          </p:cNvPicPr>
          <p:nvPr/>
        </p:nvPicPr>
        <p:blipFill>
          <a:blip r:embed="rId14">
            <a:alphaModFix amt="90000"/>
          </a:blip>
          <a:srcRect t="563" b="563"/>
          <a:stretch/>
        </p:blipFill>
        <p:spPr>
          <a:xfrm>
            <a:off x="4935017" y="5648249"/>
            <a:ext cx="809244" cy="533095"/>
          </a:xfrm>
          <a:prstGeom prst="rect">
            <a:avLst/>
          </a:prstGeom>
        </p:spPr>
      </p:pic>
      <p:pic>
        <p:nvPicPr>
          <p:cNvPr id="30" name="Image 12" descr="preencoded.png"/>
          <p:cNvPicPr>
            <a:picLocks noChangeAspect="1"/>
          </p:cNvPicPr>
          <p:nvPr/>
        </p:nvPicPr>
        <p:blipFill>
          <a:blip r:embed="rId15">
            <a:alphaModFix amt="90000"/>
          </a:blip>
          <a:srcRect t="267" b="267"/>
          <a:stretch/>
        </p:blipFill>
        <p:spPr>
          <a:xfrm>
            <a:off x="6427318" y="5648249"/>
            <a:ext cx="952805" cy="533095"/>
          </a:xfrm>
          <a:prstGeom prst="rect">
            <a:avLst/>
          </a:prstGeom>
        </p:spPr>
      </p:pic>
      <p:pic>
        <p:nvPicPr>
          <p:cNvPr id="31" name="Image 13" descr="preencoded.png"/>
          <p:cNvPicPr>
            <a:picLocks noChangeAspect="1"/>
          </p:cNvPicPr>
          <p:nvPr/>
        </p:nvPicPr>
        <p:blipFill>
          <a:blip r:embed="rId16">
            <a:alphaModFix amt="90000"/>
          </a:blip>
          <a:srcRect/>
          <a:stretch/>
        </p:blipFill>
        <p:spPr>
          <a:xfrm>
            <a:off x="8067751" y="5662879"/>
            <a:ext cx="504749" cy="504749"/>
          </a:xfrm>
          <a:prstGeom prst="rect">
            <a:avLst/>
          </a:prstGeom>
        </p:spPr>
      </p:pic>
      <p:pic>
        <p:nvPicPr>
          <p:cNvPr id="32" name="Image 14" descr="preencoded.png"/>
          <p:cNvPicPr>
            <a:picLocks noChangeAspect="1"/>
          </p:cNvPicPr>
          <p:nvPr/>
        </p:nvPicPr>
        <p:blipFill>
          <a:blip r:embed="rId17">
            <a:alphaModFix amt="90000"/>
          </a:blip>
          <a:srcRect t="525" b="525"/>
          <a:stretch/>
        </p:blipFill>
        <p:spPr>
          <a:xfrm>
            <a:off x="9265615" y="5662879"/>
            <a:ext cx="714146" cy="504749"/>
          </a:xfrm>
          <a:prstGeom prst="rect">
            <a:avLst/>
          </a:prstGeom>
        </p:spPr>
      </p:pic>
      <p:pic>
        <p:nvPicPr>
          <p:cNvPr id="33" name="Image 15" descr="preencoded.png"/>
          <p:cNvPicPr>
            <a:picLocks noChangeAspect="1"/>
          </p:cNvPicPr>
          <p:nvPr/>
        </p:nvPicPr>
        <p:blipFill>
          <a:blip r:embed="rId18">
            <a:alphaModFix amt="90000"/>
          </a:blip>
          <a:srcRect l="688" r="688"/>
          <a:stretch/>
        </p:blipFill>
        <p:spPr>
          <a:xfrm>
            <a:off x="457200" y="6445606"/>
            <a:ext cx="1067105" cy="190195"/>
          </a:xfrm>
          <a:prstGeom prst="rect">
            <a:avLst/>
          </a:prstGeom>
        </p:spPr>
      </p:pic>
      <p:pic>
        <p:nvPicPr>
          <p:cNvPr id="34" name="Image 16" descr="preencoded.png"/>
          <p:cNvPicPr>
            <a:picLocks noChangeAspect="1"/>
          </p:cNvPicPr>
          <p:nvPr/>
        </p:nvPicPr>
        <p:blipFill>
          <a:blip r:embed="rId19">
            <a:alphaModFix amt="90000"/>
          </a:blip>
          <a:srcRect l="960" r="960"/>
          <a:stretch/>
        </p:blipFill>
        <p:spPr>
          <a:xfrm>
            <a:off x="2056486" y="6390742"/>
            <a:ext cx="1466698" cy="304495"/>
          </a:xfrm>
          <a:prstGeom prst="rect">
            <a:avLst/>
          </a:prstGeom>
        </p:spPr>
      </p:pic>
      <p:pic>
        <p:nvPicPr>
          <p:cNvPr id="35" name="Image 17" descr="preencoded.png"/>
          <p:cNvPicPr>
            <a:picLocks noChangeAspect="1"/>
          </p:cNvPicPr>
          <p:nvPr/>
        </p:nvPicPr>
        <p:blipFill>
          <a:blip r:embed="rId20">
            <a:alphaModFix amt="90000"/>
          </a:blip>
          <a:srcRect t="311" b="311"/>
          <a:stretch/>
        </p:blipFill>
        <p:spPr>
          <a:xfrm>
            <a:off x="4055364" y="6325819"/>
            <a:ext cx="828446" cy="428854"/>
          </a:xfrm>
          <a:prstGeom prst="rect">
            <a:avLst/>
          </a:prstGeom>
        </p:spPr>
      </p:pic>
      <p:pic>
        <p:nvPicPr>
          <p:cNvPr id="36" name="Image 18" descr="preencoded.png"/>
          <p:cNvPicPr>
            <a:picLocks noChangeAspect="1"/>
          </p:cNvPicPr>
          <p:nvPr/>
        </p:nvPicPr>
        <p:blipFill>
          <a:blip r:embed="rId21">
            <a:alphaModFix amt="90000"/>
          </a:blip>
          <a:srcRect t="385" b="385"/>
          <a:stretch/>
        </p:blipFill>
        <p:spPr>
          <a:xfrm>
            <a:off x="5410505" y="6325819"/>
            <a:ext cx="771754" cy="428854"/>
          </a:xfrm>
          <a:prstGeom prst="rect">
            <a:avLst/>
          </a:prstGeom>
        </p:spPr>
      </p:pic>
      <p:pic>
        <p:nvPicPr>
          <p:cNvPr id="37" name="Image 19" descr="preencoded.png"/>
          <p:cNvPicPr>
            <a:picLocks noChangeAspect="1"/>
          </p:cNvPicPr>
          <p:nvPr/>
        </p:nvPicPr>
        <p:blipFill>
          <a:blip r:embed="rId22">
            <a:alphaModFix amt="90000"/>
          </a:blip>
          <a:srcRect/>
          <a:stretch/>
        </p:blipFill>
        <p:spPr>
          <a:xfrm>
            <a:off x="6708038" y="6325819"/>
            <a:ext cx="428854" cy="428854"/>
          </a:xfrm>
          <a:prstGeom prst="rect">
            <a:avLst/>
          </a:prstGeom>
        </p:spPr>
      </p:pic>
      <p:pic>
        <p:nvPicPr>
          <p:cNvPr id="38" name="Image 20" descr="preencoded.png"/>
          <p:cNvPicPr>
            <a:picLocks noChangeAspect="1"/>
          </p:cNvPicPr>
          <p:nvPr/>
        </p:nvPicPr>
        <p:blipFill>
          <a:blip r:embed="rId23">
            <a:alphaModFix amt="90000"/>
          </a:blip>
          <a:srcRect t="77" b="77"/>
          <a:stretch/>
        </p:blipFill>
        <p:spPr>
          <a:xfrm>
            <a:off x="7669073" y="6368796"/>
            <a:ext cx="629107" cy="342900"/>
          </a:xfrm>
          <a:prstGeom prst="rect">
            <a:avLst/>
          </a:prstGeom>
        </p:spPr>
      </p:pic>
      <p:pic>
        <p:nvPicPr>
          <p:cNvPr id="39" name="Image 21" descr="preencoded.png"/>
          <p:cNvPicPr>
            <a:picLocks noChangeAspect="1"/>
          </p:cNvPicPr>
          <p:nvPr/>
        </p:nvPicPr>
        <p:blipFill>
          <a:blip r:embed="rId24">
            <a:alphaModFix amt="90000"/>
          </a:blip>
          <a:srcRect l="1712" r="1712"/>
          <a:stretch/>
        </p:blipFill>
        <p:spPr>
          <a:xfrm>
            <a:off x="8829446" y="6420002"/>
            <a:ext cx="1143000" cy="24780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2"/>
          <p:cNvSpPr/>
          <p:nvPr/>
        </p:nvSpPr>
        <p:spPr>
          <a:xfrm>
            <a:off x="8953805" y="-571500"/>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5e765734fa6996e94526269805e72083.png"/>
          <p:cNvPicPr>
            <a:picLocks noChangeAspect="1"/>
          </p:cNvPicPr>
          <p:nvPr/>
        </p:nvPicPr>
        <p:blipFill>
          <a:blip r:embed="rId3">
            <a:alphaModFix amt="8000"/>
          </a:blip>
          <a:srcRect/>
          <a:stretch/>
        </p:blipFill>
        <p:spPr>
          <a:xfrm>
            <a:off x="-381305" y="3715207"/>
            <a:ext cx="2381098" cy="2381098"/>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pic>
        <p:nvPicPr>
          <p:cNvPr id="8" name="Image 3" descr="gen-dedup-ef527bea2207a14ec6e8d4c8ae9cdc45.png"/>
          <p:cNvPicPr>
            <a:picLocks noChangeAspect="1"/>
          </p:cNvPicPr>
          <p:nvPr/>
        </p:nvPicPr>
        <p:blipFill>
          <a:blip r:embed="rId6"/>
          <a:srcRect l="-384" r="-384"/>
          <a:stretch/>
        </p:blipFill>
        <p:spPr>
          <a:xfrm>
            <a:off x="609905" y="513893"/>
            <a:ext cx="57607" cy="476402"/>
          </a:xfrm>
          <a:prstGeom prst="rect">
            <a:avLst/>
          </a:prstGeom>
        </p:spPr>
      </p:pic>
      <p:sp>
        <p:nvSpPr>
          <p:cNvPr id="9" name="Shape 3"/>
          <p:cNvSpPr/>
          <p:nvPr/>
        </p:nvSpPr>
        <p:spPr>
          <a:xfrm>
            <a:off x="609905" y="1387090"/>
            <a:ext cx="10972190" cy="1450129"/>
          </a:xfrm>
          <a:prstGeom prst="roundRect">
            <a:avLst>
              <a:gd name="adj" fmla="val 2853"/>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0" name="Shape 4"/>
          <p:cNvSpPr/>
          <p:nvPr/>
        </p:nvSpPr>
        <p:spPr>
          <a:xfrm>
            <a:off x="609905" y="1387090"/>
            <a:ext cx="47549" cy="1450129"/>
          </a:xfrm>
          <a:prstGeom prst="roundRect">
            <a:avLst>
              <a:gd name="adj" fmla="val 132625"/>
            </a:avLst>
          </a:prstGeom>
          <a:solidFill>
            <a:srgbClr val="111827"/>
          </a:solidFill>
          <a:ln w="12700">
            <a:solidFill>
              <a:srgbClr val="111827">
                <a:alpha val="0"/>
              </a:srgbClr>
            </a:solidFill>
            <a:prstDash val="solid"/>
          </a:ln>
        </p:spPr>
        <p:txBody>
          <a:bodyPr/>
          <a:lstStyle/>
          <a:p>
            <a:endParaRPr lang="en-US"/>
          </a:p>
        </p:txBody>
      </p:sp>
      <p:sp>
        <p:nvSpPr>
          <p:cNvPr id="11" name="Shape 5"/>
          <p:cNvSpPr/>
          <p:nvPr/>
        </p:nvSpPr>
        <p:spPr>
          <a:xfrm>
            <a:off x="609905" y="3238805"/>
            <a:ext cx="3448202"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2" name="Shape 6"/>
          <p:cNvSpPr/>
          <p:nvPr/>
        </p:nvSpPr>
        <p:spPr>
          <a:xfrm>
            <a:off x="4343400" y="3238805"/>
            <a:ext cx="3448202"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3" name="Shape 7"/>
          <p:cNvSpPr/>
          <p:nvPr/>
        </p:nvSpPr>
        <p:spPr>
          <a:xfrm>
            <a:off x="8076895" y="3238805"/>
            <a:ext cx="3524098"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4" name="Shape 8"/>
          <p:cNvSpPr/>
          <p:nvPr/>
        </p:nvSpPr>
        <p:spPr>
          <a:xfrm>
            <a:off x="609905" y="4953305"/>
            <a:ext cx="3448202"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5" name="Shape 9"/>
          <p:cNvSpPr/>
          <p:nvPr/>
        </p:nvSpPr>
        <p:spPr>
          <a:xfrm>
            <a:off x="4343400" y="4953305"/>
            <a:ext cx="3448202"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6" name="Shape 10"/>
          <p:cNvSpPr/>
          <p:nvPr/>
        </p:nvSpPr>
        <p:spPr>
          <a:xfrm>
            <a:off x="8076895" y="4953305"/>
            <a:ext cx="3524098"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7" name="Text 11"/>
          <p:cNvSpPr txBox="1"/>
          <p:nvPr/>
        </p:nvSpPr>
        <p:spPr>
          <a:xfrm>
            <a:off x="819302" y="466344"/>
            <a:ext cx="3810305" cy="342900"/>
          </a:xfrm>
          <a:prstGeom prst="rect">
            <a:avLst/>
          </a:prstGeom>
          <a:noFill/>
          <a:ln/>
        </p:spPr>
        <p:txBody>
          <a:bodyPr wrap="none" lIns="0" tIns="0" rIns="0" bIns="0" rtlCol="0" anchor="ctr"/>
          <a:lstStyle/>
          <a:p>
            <a:pPr marL="0" indent="0" algn="l">
              <a:buNone/>
            </a:pPr>
            <a:r>
              <a:rPr lang="en-US" sz="2400" b="1" dirty="0">
                <a:solidFill>
                  <a:srgbClr val="111827"/>
                </a:solidFill>
                <a:latin typeface="Oswald" pitchFamily="34" charset="0"/>
                <a:ea typeface="Oswald" pitchFamily="34" charset="-122"/>
                <a:cs typeface="Oswald" pitchFamily="34" charset="-120"/>
              </a:rPr>
              <a:t>WHO WE ARE</a:t>
            </a:r>
            <a:endParaRPr lang="en-US" sz="2400" dirty="0"/>
          </a:p>
        </p:txBody>
      </p:sp>
      <p:sp>
        <p:nvSpPr>
          <p:cNvPr id="18" name="Text 12"/>
          <p:cNvSpPr txBox="1"/>
          <p:nvPr/>
        </p:nvSpPr>
        <p:spPr>
          <a:xfrm>
            <a:off x="819302" y="858622"/>
            <a:ext cx="4496105" cy="152705"/>
          </a:xfrm>
          <a:prstGeom prst="rect">
            <a:avLst/>
          </a:prstGeom>
          <a:noFill/>
          <a:ln/>
        </p:spPr>
        <p:txBody>
          <a:bodyPr wrap="none" lIns="0" tIns="0" rIns="0" bIns="0" rtlCol="0" anchor="ctr"/>
          <a:lstStyle/>
          <a:p>
            <a:pPr marL="0" indent="0" algn="l">
              <a:buNone/>
            </a:pPr>
            <a:r>
              <a:rPr lang="en-US" sz="1500" b="1" kern="0" spc="52" dirty="0">
                <a:solidFill>
                  <a:srgbClr val="2A9D8F"/>
                </a:solidFill>
                <a:latin typeface="Roboto Condensed" pitchFamily="34" charset="0"/>
                <a:ea typeface="Roboto Condensed" pitchFamily="34" charset="-122"/>
                <a:cs typeface="Roboto Condensed" pitchFamily="34" charset="-120"/>
              </a:rPr>
              <a:t>The AI-native GCC platform - a decade in the making</a:t>
            </a:r>
            <a:endParaRPr lang="en-US" sz="1500" dirty="0"/>
          </a:p>
        </p:txBody>
      </p:sp>
      <p:sp>
        <p:nvSpPr>
          <p:cNvPr id="19" name="Text 13"/>
          <p:cNvSpPr txBox="1"/>
          <p:nvPr/>
        </p:nvSpPr>
        <p:spPr>
          <a:xfrm>
            <a:off x="990295" y="1465380"/>
            <a:ext cx="6967162" cy="648310"/>
          </a:xfrm>
          <a:prstGeom prst="rect">
            <a:avLst/>
          </a:prstGeom>
          <a:noFill/>
          <a:ln/>
        </p:spPr>
        <p:txBody>
          <a:bodyPr wrap="square" lIns="0" tIns="0" rIns="0" bIns="0" rtlCol="0" anchor="ctr"/>
          <a:lstStyle/>
          <a:p>
            <a:pPr marL="0" indent="0" algn="l">
              <a:buNone/>
            </a:pPr>
            <a:r>
              <a:rPr lang="en-US" sz="1900" b="1" dirty="0">
                <a:solidFill>
                  <a:srgbClr val="111827"/>
                </a:solidFill>
                <a:latin typeface="Oswald" pitchFamily="34" charset="0"/>
                <a:ea typeface="Oswald" pitchFamily="34" charset="-122"/>
                <a:cs typeface="Oswald" pitchFamily="34" charset="-120"/>
              </a:rPr>
              <a:t>J2W is the AI-native GCC platform for the Fortune 1000 and beyond.</a:t>
            </a:r>
            <a:endParaRPr lang="en-US" sz="1900" dirty="0"/>
          </a:p>
        </p:txBody>
      </p:sp>
      <p:sp>
        <p:nvSpPr>
          <p:cNvPr id="20" name="Text 14"/>
          <p:cNvSpPr txBox="1"/>
          <p:nvPr/>
        </p:nvSpPr>
        <p:spPr>
          <a:xfrm>
            <a:off x="990294" y="1977901"/>
            <a:ext cx="9144915" cy="685800"/>
          </a:xfrm>
          <a:prstGeom prst="rect">
            <a:avLst/>
          </a:prstGeom>
          <a:noFill/>
          <a:ln/>
        </p:spPr>
        <p:txBody>
          <a:bodyPr wrap="square" lIns="0" tIns="0" rIns="0" bIns="0" rtlCol="0" anchor="ctr"/>
          <a:lstStyle/>
          <a:p>
            <a:pPr marL="0" indent="0" algn="l">
              <a:buNone/>
            </a:pPr>
            <a:r>
              <a:rPr lang="en-US" sz="1100" dirty="0">
                <a:solidFill>
                  <a:srgbClr val="4B5563"/>
                </a:solidFill>
                <a:latin typeface="Raleway" pitchFamily="34" charset="0"/>
                <a:ea typeface="Raleway" pitchFamily="34" charset="-122"/>
                <a:cs typeface="Raleway" pitchFamily="34" charset="-120"/>
              </a:rPr>
              <a:t>Ten years building nothing but GCCs - so we solve the next problem before it shows up, deliver ROI in weeks where the industry takes quarters, and turn the GCC from a cost line into an innovation engine.</a:t>
            </a:r>
            <a:endParaRPr lang="en-US" sz="1100" dirty="0"/>
          </a:p>
        </p:txBody>
      </p:sp>
      <p:pic>
        <p:nvPicPr>
          <p:cNvPr id="21" name="Image 4" descr="gen-dedup-3d17221e8cd76f10a3e0815681bf2023.png"/>
          <p:cNvPicPr>
            <a:picLocks noChangeAspect="1"/>
          </p:cNvPicPr>
          <p:nvPr/>
        </p:nvPicPr>
        <p:blipFill>
          <a:blip r:embed="rId7"/>
          <a:srcRect l="-400" r="-400"/>
          <a:stretch/>
        </p:blipFill>
        <p:spPr>
          <a:xfrm>
            <a:off x="800100" y="3476549"/>
            <a:ext cx="38405" cy="571500"/>
          </a:xfrm>
          <a:prstGeom prst="rect">
            <a:avLst/>
          </a:prstGeom>
        </p:spPr>
      </p:pic>
      <p:sp>
        <p:nvSpPr>
          <p:cNvPr id="22" name="Text 15"/>
          <p:cNvSpPr txBox="1"/>
          <p:nvPr/>
        </p:nvSpPr>
        <p:spPr>
          <a:xfrm>
            <a:off x="990295" y="3476549"/>
            <a:ext cx="1552651" cy="448056"/>
          </a:xfrm>
          <a:prstGeom prst="rect">
            <a:avLst/>
          </a:prstGeom>
          <a:noFill/>
          <a:ln/>
        </p:spPr>
        <p:txBody>
          <a:bodyPr wrap="none" lIns="0" tIns="0" rIns="0" bIns="0" rtlCol="0" anchor="ctr"/>
          <a:lstStyle/>
          <a:p>
            <a:pPr marL="0" indent="0" algn="l">
              <a:buNone/>
            </a:pPr>
            <a:r>
              <a:rPr lang="en-US" sz="3100" b="1" dirty="0">
                <a:solidFill>
                  <a:srgbClr val="2A9D8F"/>
                </a:solidFill>
                <a:latin typeface="Oswald" pitchFamily="34" charset="0"/>
                <a:ea typeface="Oswald" pitchFamily="34" charset="-122"/>
                <a:cs typeface="Oswald" pitchFamily="34" charset="-120"/>
              </a:rPr>
              <a:t>10+</a:t>
            </a:r>
            <a:endParaRPr lang="en-US" sz="3100" dirty="0"/>
          </a:p>
        </p:txBody>
      </p:sp>
      <p:sp>
        <p:nvSpPr>
          <p:cNvPr id="23" name="Text 16"/>
          <p:cNvSpPr txBox="1"/>
          <p:nvPr/>
        </p:nvSpPr>
        <p:spPr>
          <a:xfrm>
            <a:off x="990295" y="3993185"/>
            <a:ext cx="1848002" cy="200254"/>
          </a:xfrm>
          <a:prstGeom prst="rect">
            <a:avLst/>
          </a:prstGeom>
          <a:noFill/>
          <a:ln/>
        </p:spPr>
        <p:txBody>
          <a:bodyPr wrap="none" lIns="0" tIns="0" rIns="0" bIns="0" rtlCol="0" anchor="ctr"/>
          <a:lstStyle/>
          <a:p>
            <a:pPr marL="0" indent="0" algn="l">
              <a:buNone/>
            </a:pPr>
            <a:r>
              <a:rPr lang="en-US" sz="1200" b="1" dirty="0">
                <a:solidFill>
                  <a:srgbClr val="1E293B"/>
                </a:solidFill>
                <a:latin typeface="Raleway" pitchFamily="34" charset="0"/>
                <a:ea typeface="Raleway" pitchFamily="34" charset="-122"/>
                <a:cs typeface="Raleway" pitchFamily="34" charset="-120"/>
              </a:rPr>
              <a:t>Years GCC leadership</a:t>
            </a:r>
            <a:endParaRPr lang="en-US" sz="1200" dirty="0"/>
          </a:p>
        </p:txBody>
      </p:sp>
      <p:pic>
        <p:nvPicPr>
          <p:cNvPr id="24" name="Image 5" descr="gen-dedup-32cd67bc95385c5507b78533d3bab6e6.png"/>
          <p:cNvPicPr>
            <a:picLocks noChangeAspect="1"/>
          </p:cNvPicPr>
          <p:nvPr/>
        </p:nvPicPr>
        <p:blipFill>
          <a:blip r:embed="rId8"/>
          <a:srcRect l="-400" r="-400"/>
          <a:stretch/>
        </p:blipFill>
        <p:spPr>
          <a:xfrm>
            <a:off x="4533595" y="3476549"/>
            <a:ext cx="38405" cy="571500"/>
          </a:xfrm>
          <a:prstGeom prst="rect">
            <a:avLst/>
          </a:prstGeom>
        </p:spPr>
      </p:pic>
      <p:sp>
        <p:nvSpPr>
          <p:cNvPr id="25" name="Text 17"/>
          <p:cNvSpPr txBox="1"/>
          <p:nvPr/>
        </p:nvSpPr>
        <p:spPr>
          <a:xfrm>
            <a:off x="4724705" y="3476549"/>
            <a:ext cx="1791310" cy="448056"/>
          </a:xfrm>
          <a:prstGeom prst="rect">
            <a:avLst/>
          </a:prstGeom>
          <a:noFill/>
          <a:ln/>
        </p:spPr>
        <p:txBody>
          <a:bodyPr wrap="none" lIns="0" tIns="0" rIns="0" bIns="0" rtlCol="0" anchor="ctr"/>
          <a:lstStyle/>
          <a:p>
            <a:pPr marL="0" indent="0" algn="l">
              <a:buNone/>
            </a:pPr>
            <a:r>
              <a:rPr lang="en-US" sz="3100" b="1" dirty="0">
                <a:solidFill>
                  <a:srgbClr val="D62839"/>
                </a:solidFill>
                <a:latin typeface="Oswald" pitchFamily="34" charset="0"/>
                <a:ea typeface="Oswald" pitchFamily="34" charset="-122"/>
                <a:cs typeface="Oswald" pitchFamily="34" charset="-120"/>
              </a:rPr>
              <a:t>320+</a:t>
            </a:r>
            <a:endParaRPr lang="en-US" sz="3100" dirty="0"/>
          </a:p>
        </p:txBody>
      </p:sp>
      <p:sp>
        <p:nvSpPr>
          <p:cNvPr id="26" name="Text 18"/>
          <p:cNvSpPr txBox="1"/>
          <p:nvPr/>
        </p:nvSpPr>
        <p:spPr>
          <a:xfrm>
            <a:off x="4724705" y="3993185"/>
            <a:ext cx="2131466" cy="200254"/>
          </a:xfrm>
          <a:prstGeom prst="rect">
            <a:avLst/>
          </a:prstGeom>
          <a:noFill/>
          <a:ln/>
        </p:spPr>
        <p:txBody>
          <a:bodyPr wrap="none" lIns="0" tIns="0" rIns="0" bIns="0" rtlCol="0" anchor="ctr"/>
          <a:lstStyle/>
          <a:p>
            <a:pPr marL="0" indent="0" algn="l">
              <a:buNone/>
            </a:pPr>
            <a:r>
              <a:rPr lang="en-US" sz="1200" b="1" dirty="0">
                <a:solidFill>
                  <a:srgbClr val="1E293B"/>
                </a:solidFill>
                <a:latin typeface="Raleway" pitchFamily="34" charset="0"/>
                <a:ea typeface="Raleway" pitchFamily="34" charset="-122"/>
                <a:cs typeface="Raleway" pitchFamily="34" charset="-120"/>
              </a:rPr>
              <a:t>Enterprise clients served</a:t>
            </a:r>
            <a:endParaRPr lang="en-US" sz="1200" dirty="0"/>
          </a:p>
        </p:txBody>
      </p:sp>
      <p:pic>
        <p:nvPicPr>
          <p:cNvPr id="27" name="Image 6" descr="gen-dedup-3d17221e8cd76f10a3e0815681bf2023.png"/>
          <p:cNvPicPr>
            <a:picLocks noChangeAspect="1"/>
          </p:cNvPicPr>
          <p:nvPr/>
        </p:nvPicPr>
        <p:blipFill>
          <a:blip r:embed="rId7"/>
          <a:srcRect l="-400" r="-400"/>
          <a:stretch/>
        </p:blipFill>
        <p:spPr>
          <a:xfrm>
            <a:off x="8268005" y="3476549"/>
            <a:ext cx="38405" cy="571500"/>
          </a:xfrm>
          <a:prstGeom prst="rect">
            <a:avLst/>
          </a:prstGeom>
        </p:spPr>
      </p:pic>
      <p:sp>
        <p:nvSpPr>
          <p:cNvPr id="28" name="Text 19"/>
          <p:cNvSpPr txBox="1"/>
          <p:nvPr/>
        </p:nvSpPr>
        <p:spPr>
          <a:xfrm>
            <a:off x="8458200" y="3476549"/>
            <a:ext cx="2524658" cy="448056"/>
          </a:xfrm>
          <a:prstGeom prst="rect">
            <a:avLst/>
          </a:prstGeom>
          <a:noFill/>
          <a:ln/>
        </p:spPr>
        <p:txBody>
          <a:bodyPr wrap="none" lIns="0" tIns="0" rIns="0" bIns="0" rtlCol="0" anchor="ctr"/>
          <a:lstStyle/>
          <a:p>
            <a:pPr marL="0" indent="0" algn="l">
              <a:buNone/>
            </a:pPr>
            <a:r>
              <a:rPr lang="en-US" sz="3100" b="1" dirty="0">
                <a:solidFill>
                  <a:srgbClr val="2A9D8F"/>
                </a:solidFill>
                <a:latin typeface="Oswald" pitchFamily="34" charset="0"/>
                <a:ea typeface="Oswald" pitchFamily="34" charset="-122"/>
                <a:cs typeface="Oswald" pitchFamily="34" charset="-120"/>
              </a:rPr>
              <a:t>300+</a:t>
            </a:r>
            <a:endParaRPr lang="en-US" sz="3100" dirty="0"/>
          </a:p>
        </p:txBody>
      </p:sp>
      <p:sp>
        <p:nvSpPr>
          <p:cNvPr id="29" name="Text 20"/>
          <p:cNvSpPr txBox="1"/>
          <p:nvPr/>
        </p:nvSpPr>
        <p:spPr>
          <a:xfrm>
            <a:off x="8458200" y="3993185"/>
            <a:ext cx="3003804" cy="200254"/>
          </a:xfrm>
          <a:prstGeom prst="rect">
            <a:avLst/>
          </a:prstGeom>
          <a:noFill/>
          <a:ln/>
        </p:spPr>
        <p:txBody>
          <a:bodyPr wrap="none" lIns="0" tIns="0" rIns="0" bIns="0" rtlCol="0" anchor="ctr"/>
          <a:lstStyle/>
          <a:p>
            <a:pPr marL="0" indent="0" algn="l">
              <a:buNone/>
            </a:pPr>
            <a:r>
              <a:rPr lang="en-US" sz="1200" b="1" dirty="0">
                <a:solidFill>
                  <a:srgbClr val="1E293B"/>
                </a:solidFill>
                <a:latin typeface="Raleway" pitchFamily="34" charset="0"/>
                <a:ea typeface="Raleway" pitchFamily="34" charset="-122"/>
                <a:cs typeface="Raleway" pitchFamily="34" charset="-120"/>
              </a:rPr>
              <a:t>GCCs built: greenfield &amp; brownfield</a:t>
            </a:r>
            <a:endParaRPr lang="en-US" sz="1200" dirty="0"/>
          </a:p>
        </p:txBody>
      </p:sp>
      <p:pic>
        <p:nvPicPr>
          <p:cNvPr id="30" name="Image 7" descr="gen-dedup-32cd67bc95385c5507b78533d3bab6e6.png"/>
          <p:cNvPicPr>
            <a:picLocks noChangeAspect="1"/>
          </p:cNvPicPr>
          <p:nvPr/>
        </p:nvPicPr>
        <p:blipFill>
          <a:blip r:embed="rId8"/>
          <a:srcRect l="-400" r="-400"/>
          <a:stretch/>
        </p:blipFill>
        <p:spPr>
          <a:xfrm>
            <a:off x="800100" y="5191049"/>
            <a:ext cx="38405" cy="571500"/>
          </a:xfrm>
          <a:prstGeom prst="rect">
            <a:avLst/>
          </a:prstGeom>
        </p:spPr>
      </p:pic>
      <p:sp>
        <p:nvSpPr>
          <p:cNvPr id="31" name="Text 21"/>
          <p:cNvSpPr txBox="1"/>
          <p:nvPr/>
        </p:nvSpPr>
        <p:spPr>
          <a:xfrm>
            <a:off x="990295" y="5191049"/>
            <a:ext cx="1677010" cy="448056"/>
          </a:xfrm>
          <a:prstGeom prst="rect">
            <a:avLst/>
          </a:prstGeom>
          <a:noFill/>
          <a:ln/>
        </p:spPr>
        <p:txBody>
          <a:bodyPr wrap="none" lIns="0" tIns="0" rIns="0" bIns="0" rtlCol="0" anchor="ctr"/>
          <a:lstStyle/>
          <a:p>
            <a:pPr marL="0" indent="0" algn="l">
              <a:buNone/>
            </a:pPr>
            <a:r>
              <a:rPr lang="en-US" sz="3100" b="1" dirty="0">
                <a:solidFill>
                  <a:srgbClr val="D62839"/>
                </a:solidFill>
                <a:latin typeface="Oswald" pitchFamily="34" charset="0"/>
                <a:ea typeface="Oswald" pitchFamily="34" charset="-122"/>
                <a:cs typeface="Oswald" pitchFamily="34" charset="-120"/>
              </a:rPr>
              <a:t>5,500+</a:t>
            </a:r>
            <a:endParaRPr lang="en-US" sz="3100" dirty="0"/>
          </a:p>
        </p:txBody>
      </p:sp>
      <p:sp>
        <p:nvSpPr>
          <p:cNvPr id="32" name="Text 22"/>
          <p:cNvSpPr txBox="1"/>
          <p:nvPr/>
        </p:nvSpPr>
        <p:spPr>
          <a:xfrm>
            <a:off x="990295" y="5707685"/>
            <a:ext cx="1995221" cy="200254"/>
          </a:xfrm>
          <a:prstGeom prst="rect">
            <a:avLst/>
          </a:prstGeom>
          <a:noFill/>
          <a:ln/>
        </p:spPr>
        <p:txBody>
          <a:bodyPr wrap="none" lIns="0" tIns="0" rIns="0" bIns="0" rtlCol="0" anchor="ctr"/>
          <a:lstStyle/>
          <a:p>
            <a:pPr marL="0" indent="0" algn="l">
              <a:buNone/>
            </a:pPr>
            <a:r>
              <a:rPr lang="en-US" sz="1200" b="1" dirty="0">
                <a:solidFill>
                  <a:srgbClr val="1E293B"/>
                </a:solidFill>
                <a:latin typeface="Raleway" pitchFamily="34" charset="0"/>
                <a:ea typeface="Raleway" pitchFamily="34" charset="-122"/>
                <a:cs typeface="Raleway" pitchFamily="34" charset="-120"/>
              </a:rPr>
              <a:t>Industry &amp; tech experts</a:t>
            </a:r>
            <a:endParaRPr lang="en-US" sz="1200" dirty="0"/>
          </a:p>
        </p:txBody>
      </p:sp>
      <p:pic>
        <p:nvPicPr>
          <p:cNvPr id="33" name="Image 8" descr="gen-dedup-3d17221e8cd76f10a3e0815681bf2023.png"/>
          <p:cNvPicPr>
            <a:picLocks noChangeAspect="1"/>
          </p:cNvPicPr>
          <p:nvPr/>
        </p:nvPicPr>
        <p:blipFill>
          <a:blip r:embed="rId7"/>
          <a:srcRect l="-400" r="-400"/>
          <a:stretch/>
        </p:blipFill>
        <p:spPr>
          <a:xfrm>
            <a:off x="4533595" y="5191049"/>
            <a:ext cx="38405" cy="571500"/>
          </a:xfrm>
          <a:prstGeom prst="rect">
            <a:avLst/>
          </a:prstGeom>
        </p:spPr>
      </p:pic>
      <p:sp>
        <p:nvSpPr>
          <p:cNvPr id="34" name="Text 23"/>
          <p:cNvSpPr txBox="1"/>
          <p:nvPr/>
        </p:nvSpPr>
        <p:spPr>
          <a:xfrm>
            <a:off x="4724705" y="5191049"/>
            <a:ext cx="1705356" cy="448056"/>
          </a:xfrm>
          <a:prstGeom prst="rect">
            <a:avLst/>
          </a:prstGeom>
          <a:noFill/>
          <a:ln/>
        </p:spPr>
        <p:txBody>
          <a:bodyPr wrap="none" lIns="0" tIns="0" rIns="0" bIns="0" rtlCol="0" anchor="ctr"/>
          <a:lstStyle/>
          <a:p>
            <a:pPr marL="0" indent="0" algn="l">
              <a:buNone/>
            </a:pPr>
            <a:r>
              <a:rPr lang="en-US" sz="3100" b="1" dirty="0">
                <a:solidFill>
                  <a:srgbClr val="2A9D8F"/>
                </a:solidFill>
                <a:latin typeface="Oswald" pitchFamily="34" charset="0"/>
                <a:ea typeface="Oswald" pitchFamily="34" charset="-122"/>
                <a:cs typeface="Oswald" pitchFamily="34" charset="-120"/>
              </a:rPr>
              <a:t>8</a:t>
            </a:r>
            <a:endParaRPr lang="en-US" sz="3100" dirty="0"/>
          </a:p>
        </p:txBody>
      </p:sp>
      <p:sp>
        <p:nvSpPr>
          <p:cNvPr id="35" name="Text 24"/>
          <p:cNvSpPr txBox="1"/>
          <p:nvPr/>
        </p:nvSpPr>
        <p:spPr>
          <a:xfrm>
            <a:off x="4724705" y="5707685"/>
            <a:ext cx="2029054" cy="200254"/>
          </a:xfrm>
          <a:prstGeom prst="rect">
            <a:avLst/>
          </a:prstGeom>
          <a:noFill/>
          <a:ln/>
        </p:spPr>
        <p:txBody>
          <a:bodyPr wrap="none" lIns="0" tIns="0" rIns="0" bIns="0" rtlCol="0" anchor="ctr"/>
          <a:lstStyle/>
          <a:p>
            <a:pPr marL="0" indent="0" algn="l">
              <a:buNone/>
            </a:pPr>
            <a:r>
              <a:rPr lang="en-US" sz="1200" b="1" dirty="0">
                <a:solidFill>
                  <a:srgbClr val="1E293B"/>
                </a:solidFill>
                <a:latin typeface="Raleway" pitchFamily="34" charset="0"/>
                <a:ea typeface="Raleway" pitchFamily="34" charset="-122"/>
                <a:cs typeface="Raleway" pitchFamily="34" charset="-120"/>
              </a:rPr>
              <a:t>Countries with footprint</a:t>
            </a:r>
            <a:endParaRPr lang="en-US" sz="1200" dirty="0"/>
          </a:p>
        </p:txBody>
      </p:sp>
      <p:pic>
        <p:nvPicPr>
          <p:cNvPr id="36" name="Image 9" descr="gen-dedup-32cd67bc95385c5507b78533d3bab6e6.png"/>
          <p:cNvPicPr>
            <a:picLocks noChangeAspect="1"/>
          </p:cNvPicPr>
          <p:nvPr/>
        </p:nvPicPr>
        <p:blipFill>
          <a:blip r:embed="rId8"/>
          <a:srcRect l="-400" r="-400"/>
          <a:stretch/>
        </p:blipFill>
        <p:spPr>
          <a:xfrm>
            <a:off x="8268005" y="5191049"/>
            <a:ext cx="38405" cy="571500"/>
          </a:xfrm>
          <a:prstGeom prst="rect">
            <a:avLst/>
          </a:prstGeom>
        </p:spPr>
      </p:pic>
      <p:sp>
        <p:nvSpPr>
          <p:cNvPr id="37" name="Text 25"/>
          <p:cNvSpPr txBox="1"/>
          <p:nvPr/>
        </p:nvSpPr>
        <p:spPr>
          <a:xfrm>
            <a:off x="8458200" y="5191049"/>
            <a:ext cx="1677010" cy="448056"/>
          </a:xfrm>
          <a:prstGeom prst="rect">
            <a:avLst/>
          </a:prstGeom>
          <a:noFill/>
          <a:ln/>
        </p:spPr>
        <p:txBody>
          <a:bodyPr wrap="none" lIns="0" tIns="0" rIns="0" bIns="0" rtlCol="0" anchor="ctr"/>
          <a:lstStyle/>
          <a:p>
            <a:pPr marL="0" indent="0" algn="l">
              <a:buNone/>
            </a:pPr>
            <a:r>
              <a:rPr lang="en-US" sz="3100" b="1" dirty="0">
                <a:solidFill>
                  <a:srgbClr val="D62839"/>
                </a:solidFill>
                <a:latin typeface="Oswald" pitchFamily="34" charset="0"/>
                <a:ea typeface="Oswald" pitchFamily="34" charset="-122"/>
                <a:cs typeface="Oswald" pitchFamily="34" charset="-120"/>
              </a:rPr>
              <a:t>60+</a:t>
            </a:r>
            <a:endParaRPr lang="en-US" sz="3100" dirty="0"/>
          </a:p>
        </p:txBody>
      </p:sp>
      <p:sp>
        <p:nvSpPr>
          <p:cNvPr id="38" name="Text 26"/>
          <p:cNvSpPr txBox="1"/>
          <p:nvPr/>
        </p:nvSpPr>
        <p:spPr>
          <a:xfrm>
            <a:off x="8458200" y="5707685"/>
            <a:ext cx="1995221" cy="200254"/>
          </a:xfrm>
          <a:prstGeom prst="rect">
            <a:avLst/>
          </a:prstGeom>
          <a:noFill/>
          <a:ln/>
        </p:spPr>
        <p:txBody>
          <a:bodyPr wrap="none" lIns="0" tIns="0" rIns="0" bIns="0" rtlCol="0" anchor="ctr"/>
          <a:lstStyle/>
          <a:p>
            <a:pPr marL="0" indent="0" algn="l">
              <a:buNone/>
            </a:pPr>
            <a:r>
              <a:rPr lang="en-US" sz="1200" b="1" dirty="0">
                <a:solidFill>
                  <a:srgbClr val="1E293B"/>
                </a:solidFill>
                <a:latin typeface="Raleway" pitchFamily="34" charset="0"/>
                <a:ea typeface="Raleway" pitchFamily="34" charset="-122"/>
                <a:cs typeface="Raleway" pitchFamily="34" charset="-120"/>
              </a:rPr>
              <a:t>AI-enabled capabilities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9430207" y="-571500"/>
            <a:ext cx="3333902" cy="3333902"/>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preencoded.png"/>
          <p:cNvPicPr>
            <a:picLocks noChangeAspect="1"/>
          </p:cNvPicPr>
          <p:nvPr/>
        </p:nvPicPr>
        <p:blipFill>
          <a:blip r:embed="rId3"/>
          <a:srcRect l="-360" r="-360"/>
          <a:stretch/>
        </p:blipFill>
        <p:spPr>
          <a:xfrm>
            <a:off x="609905" y="485546"/>
            <a:ext cx="57607" cy="381305"/>
          </a:xfrm>
          <a:prstGeom prst="rect">
            <a:avLst/>
          </a:prstGeom>
        </p:spPr>
      </p:pic>
      <p:sp>
        <p:nvSpPr>
          <p:cNvPr id="6" name="Text 3"/>
          <p:cNvSpPr txBox="1"/>
          <p:nvPr/>
        </p:nvSpPr>
        <p:spPr>
          <a:xfrm>
            <a:off x="819302" y="342900"/>
            <a:ext cx="5912510" cy="381305"/>
          </a:xfrm>
          <a:prstGeom prst="rect">
            <a:avLst/>
          </a:prstGeom>
          <a:noFill/>
          <a:ln/>
        </p:spPr>
        <p:txBody>
          <a:bodyPr wrap="square" lIns="0" tIns="0" rIns="0" bIns="0" rtlCol="0" anchor="ctr"/>
          <a:lstStyle/>
          <a:p>
            <a:pPr marL="0" indent="0" algn="l">
              <a:buNone/>
            </a:pPr>
            <a:r>
              <a:rPr lang="en-US" sz="2700" b="1" kern="0" spc="-67">
                <a:solidFill>
                  <a:srgbClr val="111827"/>
                </a:solidFill>
                <a:latin typeface="Oswald" pitchFamily="34" charset="0"/>
                <a:ea typeface="Oswald" pitchFamily="34" charset="-122"/>
                <a:cs typeface="Oswald" pitchFamily="34" charset="-120"/>
              </a:rPr>
              <a:t>Architects of Transformation</a:t>
            </a:r>
            <a:endParaRPr lang="en-US" sz="2700"/>
          </a:p>
        </p:txBody>
      </p:sp>
      <p:sp>
        <p:nvSpPr>
          <p:cNvPr id="7" name="Text 4"/>
          <p:cNvSpPr txBox="1"/>
          <p:nvPr/>
        </p:nvSpPr>
        <p:spPr>
          <a:xfrm>
            <a:off x="819302" y="743407"/>
            <a:ext cx="5811012" cy="267005"/>
          </a:xfrm>
          <a:prstGeom prst="rect">
            <a:avLst/>
          </a:prstGeom>
          <a:noFill/>
          <a:ln/>
        </p:spPr>
        <p:txBody>
          <a:bodyPr wrap="square" lIns="0" tIns="0" rIns="0" bIns="0" rtlCol="0" anchor="ctr"/>
          <a:lstStyle/>
          <a:p>
            <a:pPr marL="0" indent="0" algn="l">
              <a:buNone/>
            </a:pPr>
            <a:r>
              <a:rPr lang="en-US" sz="1500" b="1" kern="0" spc="75">
                <a:solidFill>
                  <a:srgbClr val="2A9D8F"/>
                </a:solidFill>
                <a:latin typeface="Roboto Condensed" pitchFamily="34" charset="0"/>
                <a:ea typeface="Roboto Condensed" pitchFamily="34" charset="-122"/>
                <a:cs typeface="Roboto Condensed" pitchFamily="34" charset="-120"/>
              </a:rPr>
              <a:t>VISIONARY LEADERSHIP DRIVING ENTERPRISE EXCELLENCE</a:t>
            </a:r>
            <a:endParaRPr lang="en-US" sz="1500"/>
          </a:p>
        </p:txBody>
      </p:sp>
      <p:pic>
        <p:nvPicPr>
          <p:cNvPr id="8" name="Image 1" descr="preencoded.png"/>
          <p:cNvPicPr>
            <a:picLocks noChangeAspect="1"/>
          </p:cNvPicPr>
          <p:nvPr/>
        </p:nvPicPr>
        <p:blipFill>
          <a:blip r:embed="rId4"/>
          <a:srcRect t="-6" b="-6"/>
          <a:stretch/>
        </p:blipFill>
        <p:spPr>
          <a:xfrm>
            <a:off x="609905" y="1123798"/>
            <a:ext cx="5372100" cy="3715207"/>
          </a:xfrm>
          <a:prstGeom prst="rect">
            <a:avLst/>
          </a:prstGeom>
        </p:spPr>
      </p:pic>
      <p:sp>
        <p:nvSpPr>
          <p:cNvPr id="9" name="Shape 5"/>
          <p:cNvSpPr/>
          <p:nvPr/>
        </p:nvSpPr>
        <p:spPr>
          <a:xfrm>
            <a:off x="919886" y="1339596"/>
            <a:ext cx="809244" cy="809244"/>
          </a:xfrm>
          <a:prstGeom prst="ellipse">
            <a:avLst/>
          </a:prstGeom>
          <a:noFill/>
          <a:ln w="38100">
            <a:solidFill>
              <a:srgbClr val="FFFFFF"/>
            </a:solidFill>
            <a:prstDash val="solid"/>
          </a:ln>
          <a:effectLst>
            <a:outerShdw blurRad="101600" dist="38100" dir="16200000" algn="bl" rotWithShape="0">
              <a:srgbClr val="000000">
                <a:alpha val="10000"/>
              </a:srgbClr>
            </a:outerShdw>
          </a:effectLst>
        </p:spPr>
        <p:txBody>
          <a:bodyPr/>
          <a:lstStyle/>
          <a:p>
            <a:endParaRPr lang="en-US"/>
          </a:p>
        </p:txBody>
      </p:sp>
      <p:pic>
        <p:nvPicPr>
          <p:cNvPr id="10" name="Image 2" descr="preencoded.png"/>
          <p:cNvPicPr>
            <a:picLocks noChangeAspect="1"/>
          </p:cNvPicPr>
          <p:nvPr/>
        </p:nvPicPr>
        <p:blipFill>
          <a:blip r:embed="rId5"/>
          <a:srcRect/>
          <a:stretch/>
        </p:blipFill>
        <p:spPr>
          <a:xfrm>
            <a:off x="948233" y="1367942"/>
            <a:ext cx="752551" cy="752551"/>
          </a:xfrm>
          <a:prstGeom prst="rect">
            <a:avLst/>
          </a:prstGeom>
        </p:spPr>
      </p:pic>
      <p:sp>
        <p:nvSpPr>
          <p:cNvPr id="11" name="Text 6"/>
          <p:cNvSpPr txBox="1"/>
          <p:nvPr/>
        </p:nvSpPr>
        <p:spPr>
          <a:xfrm>
            <a:off x="817474" y="2224735"/>
            <a:ext cx="1020470" cy="219456"/>
          </a:xfrm>
          <a:prstGeom prst="rect">
            <a:avLst/>
          </a:prstGeom>
          <a:noFill/>
          <a:ln/>
        </p:spPr>
        <p:txBody>
          <a:bodyPr wrap="square" lIns="0" tIns="0" rIns="0" bIns="0" rtlCol="0" anchor="ctr"/>
          <a:lstStyle/>
          <a:p>
            <a:pPr marL="0" indent="0" algn="ctr">
              <a:buNone/>
            </a:pPr>
            <a:r>
              <a:rPr lang="en-US" sz="1300" b="1">
                <a:solidFill>
                  <a:srgbClr val="1F2937"/>
                </a:solidFill>
                <a:latin typeface="Oswald" pitchFamily="34" charset="0"/>
                <a:ea typeface="Oswald" pitchFamily="34" charset="-122"/>
                <a:cs typeface="Oswald" pitchFamily="34" charset="-120"/>
              </a:rPr>
              <a:t>Priti Sawant</a:t>
            </a:r>
            <a:endParaRPr lang="en-US" sz="1300"/>
          </a:p>
        </p:txBody>
      </p:sp>
      <p:sp>
        <p:nvSpPr>
          <p:cNvPr id="12" name="Text 7"/>
          <p:cNvSpPr txBox="1"/>
          <p:nvPr/>
        </p:nvSpPr>
        <p:spPr>
          <a:xfrm>
            <a:off x="789127" y="2457907"/>
            <a:ext cx="1074420" cy="152705"/>
          </a:xfrm>
          <a:prstGeom prst="rect">
            <a:avLst/>
          </a:prstGeom>
          <a:noFill/>
          <a:ln/>
        </p:spPr>
        <p:txBody>
          <a:bodyPr wrap="square" lIns="0" tIns="0" rIns="0" bIns="0" rtlCol="0" anchor="ctr"/>
          <a:lstStyle/>
          <a:p>
            <a:pPr marL="0" indent="0" algn="ctr">
              <a:buNone/>
            </a:pPr>
            <a:r>
              <a:rPr lang="en-US" sz="900" b="1" kern="0" spc="22" dirty="0">
                <a:solidFill>
                  <a:srgbClr val="2A9D8F"/>
                </a:solidFill>
                <a:latin typeface="Roboto Condensed" pitchFamily="34" charset="0"/>
                <a:ea typeface="Roboto Condensed" pitchFamily="34" charset="-122"/>
                <a:cs typeface="Roboto Condensed" pitchFamily="34" charset="-120"/>
              </a:rPr>
              <a:t>Founder &amp; CEO</a:t>
            </a:r>
            <a:endParaRPr lang="en-US" sz="900" dirty="0"/>
          </a:p>
        </p:txBody>
      </p:sp>
      <p:sp>
        <p:nvSpPr>
          <p:cNvPr id="13" name="Text 8"/>
          <p:cNvSpPr txBox="1"/>
          <p:nvPr/>
        </p:nvSpPr>
        <p:spPr>
          <a:xfrm>
            <a:off x="2025396" y="1557311"/>
            <a:ext cx="3867912" cy="1552651"/>
          </a:xfrm>
          <a:prstGeom prst="rect">
            <a:avLst/>
          </a:prstGeom>
          <a:noFill/>
          <a:ln/>
        </p:spPr>
        <p:txBody>
          <a:bodyPr wrap="square" lIns="0" tIns="0" rIns="0" bIns="0" rtlCol="0" anchor="ctr"/>
          <a:lstStyle/>
          <a:p>
            <a:pPr marL="0" indent="0" algn="just">
              <a:buNone/>
            </a:pPr>
            <a:r>
              <a:rPr lang="en-US" sz="1100" dirty="0">
                <a:solidFill>
                  <a:srgbClr val="4B5563"/>
                </a:solidFill>
                <a:latin typeface="Raleway" pitchFamily="34" charset="0"/>
                <a:ea typeface="Raleway" pitchFamily="34" charset="-122"/>
                <a:cs typeface="Raleway" pitchFamily="34" charset="-120"/>
              </a:rPr>
              <a:t>Priti Sawant is a serial entrepreneur, category creator, and a pioneer of India’s Global Capability Center (GCC) ecosystem. With 20+ years of experience, she has built and scaled businesses at the intersection of technology and enterprise transformation. She began her journey at Accenture and later led Magna Infotech-scaling it from pre-revenue to a market leader, creating India’s first GCC-focused model, and delivering a successful exit and public listing (IPO). She is a 2-time entrepreneur, having built two successful, leading companies solving for GCCs in India.</a:t>
            </a:r>
            <a:endParaRPr lang="en-US" sz="1100" dirty="0"/>
          </a:p>
        </p:txBody>
      </p:sp>
      <p:sp>
        <p:nvSpPr>
          <p:cNvPr id="14" name="Text 9"/>
          <p:cNvSpPr txBox="1"/>
          <p:nvPr/>
        </p:nvSpPr>
        <p:spPr>
          <a:xfrm>
            <a:off x="2025396" y="3527888"/>
            <a:ext cx="3867912" cy="1381658"/>
          </a:xfrm>
          <a:prstGeom prst="rect">
            <a:avLst/>
          </a:prstGeom>
          <a:noFill/>
          <a:ln/>
        </p:spPr>
        <p:txBody>
          <a:bodyPr wrap="square" lIns="0" tIns="0" rIns="0" bIns="0" rtlCol="0" anchor="ctr"/>
          <a:lstStyle/>
          <a:p>
            <a:pPr marL="0" indent="0" algn="just">
              <a:buNone/>
            </a:pPr>
            <a:r>
              <a:rPr lang="en-US" sz="1100">
                <a:solidFill>
                  <a:srgbClr val="4B5563"/>
                </a:solidFill>
                <a:latin typeface="Raleway" pitchFamily="34" charset="0"/>
                <a:ea typeface="Raleway" pitchFamily="34" charset="-122"/>
                <a:cs typeface="Raleway" pitchFamily="34" charset="-120"/>
              </a:rPr>
              <a:t>She founded JoulestoWatts, backed by Manipal Global Education Services. Today, J2W operates across 8 countries, enabling 300+ GCCs, deploying 5,200+ professionals, and building 4 in-house products, with strong Fortune 500 partnerships. Recognised by Forbes Japan, she is also a TiE Charter Member, startup mentor, and a strong advocate of gender diversity, having built organisations with 40%+ women representation and 50% women-led leadership roles.</a:t>
            </a:r>
            <a:endParaRPr lang="en-US" sz="1100"/>
          </a:p>
        </p:txBody>
      </p:sp>
      <p:pic>
        <p:nvPicPr>
          <p:cNvPr id="15" name="Image 3" descr="preencoded.png"/>
          <p:cNvPicPr>
            <a:picLocks noChangeAspect="1"/>
          </p:cNvPicPr>
          <p:nvPr/>
        </p:nvPicPr>
        <p:blipFill>
          <a:blip r:embed="rId6"/>
          <a:srcRect t="-6" b="-6"/>
          <a:stretch/>
        </p:blipFill>
        <p:spPr>
          <a:xfrm>
            <a:off x="6210605" y="1123798"/>
            <a:ext cx="5372100" cy="3715207"/>
          </a:xfrm>
          <a:prstGeom prst="rect">
            <a:avLst/>
          </a:prstGeom>
        </p:spPr>
      </p:pic>
      <p:sp>
        <p:nvSpPr>
          <p:cNvPr id="16" name="Shape 10"/>
          <p:cNvSpPr/>
          <p:nvPr/>
        </p:nvSpPr>
        <p:spPr>
          <a:xfrm>
            <a:off x="6520586" y="1339596"/>
            <a:ext cx="809244" cy="809244"/>
          </a:xfrm>
          <a:prstGeom prst="ellipse">
            <a:avLst/>
          </a:prstGeom>
          <a:noFill/>
          <a:ln w="38100">
            <a:solidFill>
              <a:srgbClr val="FFFFFF"/>
            </a:solidFill>
            <a:prstDash val="solid"/>
          </a:ln>
          <a:effectLst>
            <a:outerShdw blurRad="101600" dist="38100" dir="16200000" algn="bl" rotWithShape="0">
              <a:srgbClr val="000000">
                <a:alpha val="10000"/>
              </a:srgbClr>
            </a:outerShdw>
          </a:effectLst>
        </p:spPr>
        <p:txBody>
          <a:bodyPr/>
          <a:lstStyle/>
          <a:p>
            <a:endParaRPr lang="en-US"/>
          </a:p>
        </p:txBody>
      </p:sp>
      <p:pic>
        <p:nvPicPr>
          <p:cNvPr id="17" name="Image 4" descr="preencoded.png"/>
          <p:cNvPicPr>
            <a:picLocks noChangeAspect="1"/>
          </p:cNvPicPr>
          <p:nvPr/>
        </p:nvPicPr>
        <p:blipFill>
          <a:blip r:embed="rId7"/>
          <a:srcRect b="1042"/>
          <a:stretch/>
        </p:blipFill>
        <p:spPr>
          <a:xfrm>
            <a:off x="6548933" y="1367942"/>
            <a:ext cx="752551" cy="752551"/>
          </a:xfrm>
          <a:prstGeom prst="rect">
            <a:avLst/>
          </a:prstGeom>
        </p:spPr>
      </p:pic>
      <p:sp>
        <p:nvSpPr>
          <p:cNvPr id="18" name="Text 11"/>
          <p:cNvSpPr txBox="1"/>
          <p:nvPr/>
        </p:nvSpPr>
        <p:spPr>
          <a:xfrm>
            <a:off x="6411773" y="2224735"/>
            <a:ext cx="1032358" cy="219456"/>
          </a:xfrm>
          <a:prstGeom prst="rect">
            <a:avLst/>
          </a:prstGeom>
          <a:noFill/>
          <a:ln/>
        </p:spPr>
        <p:txBody>
          <a:bodyPr wrap="square" lIns="0" tIns="0" rIns="0" bIns="0" rtlCol="0" anchor="ctr"/>
          <a:lstStyle/>
          <a:p>
            <a:pPr marL="0" indent="0" algn="ctr">
              <a:buNone/>
            </a:pPr>
            <a:r>
              <a:rPr lang="en-US" sz="1300" b="1">
                <a:solidFill>
                  <a:srgbClr val="1F2937"/>
                </a:solidFill>
                <a:latin typeface="Oswald" pitchFamily="34" charset="0"/>
                <a:ea typeface="Oswald" pitchFamily="34" charset="-122"/>
                <a:cs typeface="Oswald" pitchFamily="34" charset="-120"/>
              </a:rPr>
              <a:t>Priya Mohan</a:t>
            </a:r>
            <a:endParaRPr lang="en-US" sz="1300"/>
          </a:p>
        </p:txBody>
      </p:sp>
      <p:sp>
        <p:nvSpPr>
          <p:cNvPr id="19" name="Text 12"/>
          <p:cNvSpPr txBox="1"/>
          <p:nvPr/>
        </p:nvSpPr>
        <p:spPr>
          <a:xfrm>
            <a:off x="6781190" y="2457907"/>
            <a:ext cx="295351" cy="152705"/>
          </a:xfrm>
          <a:prstGeom prst="rect">
            <a:avLst/>
          </a:prstGeom>
          <a:noFill/>
          <a:ln/>
        </p:spPr>
        <p:txBody>
          <a:bodyPr wrap="square" lIns="0" tIns="0" rIns="0" bIns="0" rtlCol="0" anchor="ctr"/>
          <a:lstStyle/>
          <a:p>
            <a:pPr marL="0" indent="0" algn="ctr">
              <a:buNone/>
            </a:pPr>
            <a:r>
              <a:rPr lang="en-US" sz="1100" b="1" kern="0" spc="22" dirty="0">
                <a:solidFill>
                  <a:srgbClr val="D62839"/>
                </a:solidFill>
                <a:latin typeface="Roboto Condensed" pitchFamily="34" charset="0"/>
                <a:ea typeface="Roboto Condensed" pitchFamily="34" charset="-122"/>
                <a:cs typeface="Roboto Condensed" pitchFamily="34" charset="-120"/>
              </a:rPr>
              <a:t>coo</a:t>
            </a:r>
            <a:endParaRPr lang="en-US" sz="1100" dirty="0"/>
          </a:p>
        </p:txBody>
      </p:sp>
      <p:sp>
        <p:nvSpPr>
          <p:cNvPr id="20" name="Text 13"/>
          <p:cNvSpPr txBox="1"/>
          <p:nvPr/>
        </p:nvSpPr>
        <p:spPr>
          <a:xfrm>
            <a:off x="7626096" y="1557311"/>
            <a:ext cx="3867912" cy="1552651"/>
          </a:xfrm>
          <a:prstGeom prst="rect">
            <a:avLst/>
          </a:prstGeom>
          <a:noFill/>
          <a:ln/>
        </p:spPr>
        <p:txBody>
          <a:bodyPr wrap="square" lIns="0" tIns="0" rIns="0" bIns="0" rtlCol="0" anchor="ctr"/>
          <a:lstStyle/>
          <a:p>
            <a:pPr marL="0" indent="0" algn="just">
              <a:buNone/>
            </a:pPr>
            <a:r>
              <a:rPr lang="en-US" sz="1100">
                <a:solidFill>
                  <a:srgbClr val="4B5563"/>
                </a:solidFill>
                <a:latin typeface="Raleway" pitchFamily="34" charset="0"/>
                <a:ea typeface="Raleway" pitchFamily="34" charset="-122"/>
                <a:cs typeface="Raleway" pitchFamily="34" charset="-120"/>
              </a:rPr>
              <a:t>Priya Mohan is a seasoned operator, investor, and entrepreneur with 20+ years spanning venture capital, high-growth startups, and investment banking. She was most recently a Partner at General Catalyst India, where she led India investments and co-creation opportunities across transformative, economy-shaping companies. Previously, as Managing Partner at Venture Highway, she held board seats across marquee portfolio companies in multiple sectors. Before investing, she co-founded Vidyartha, an EdTech platform which she successfully exited to Byju's.</a:t>
            </a:r>
            <a:endParaRPr lang="en-US" sz="1100"/>
          </a:p>
        </p:txBody>
      </p:sp>
      <p:sp>
        <p:nvSpPr>
          <p:cNvPr id="21" name="Text 14"/>
          <p:cNvSpPr txBox="1"/>
          <p:nvPr/>
        </p:nvSpPr>
        <p:spPr>
          <a:xfrm>
            <a:off x="7626096" y="3527888"/>
            <a:ext cx="3867912" cy="1209751"/>
          </a:xfrm>
          <a:prstGeom prst="rect">
            <a:avLst/>
          </a:prstGeom>
          <a:noFill/>
          <a:ln/>
        </p:spPr>
        <p:txBody>
          <a:bodyPr wrap="square" lIns="0" tIns="0" rIns="0" bIns="0" rtlCol="0" anchor="ctr"/>
          <a:lstStyle/>
          <a:p>
            <a:pPr marL="0" indent="0" algn="just">
              <a:buNone/>
            </a:pPr>
            <a:r>
              <a:rPr lang="en-US" sz="1100" dirty="0">
                <a:solidFill>
                  <a:srgbClr val="4B5563"/>
                </a:solidFill>
                <a:latin typeface="Raleway" pitchFamily="34" charset="0"/>
                <a:ea typeface="Raleway" pitchFamily="34" charset="-122"/>
                <a:cs typeface="Raleway" pitchFamily="34" charset="-120"/>
              </a:rPr>
              <a:t>Her earlier career included 9 years in investment banking and equity research - structuring and executing complex transactions across private equity raises, secondary sales, and buyouts. A Chartered Accountant and Management Graduate from the Indian School of Business (ISB), Priya was a state guest of the United States under the IVLP program and is a member of the Kamalnayan Bajaj Aspen Fellowship (Cohort X).</a:t>
            </a:r>
            <a:endParaRPr lang="en-US" sz="1100" dirty="0"/>
          </a:p>
        </p:txBody>
      </p:sp>
      <p:pic>
        <p:nvPicPr>
          <p:cNvPr id="54" name="Image 15" descr="preencoded.png"/>
          <p:cNvPicPr>
            <a:picLocks noChangeAspect="1"/>
          </p:cNvPicPr>
          <p:nvPr/>
        </p:nvPicPr>
        <p:blipFill>
          <a:blip r:embed="rId8"/>
          <a:srcRect l="-202" r="-202"/>
          <a:stretch/>
        </p:blipFill>
        <p:spPr>
          <a:xfrm>
            <a:off x="0" y="0"/>
            <a:ext cx="8128102" cy="75895"/>
          </a:xfrm>
          <a:prstGeom prst="rect">
            <a:avLst/>
          </a:prstGeom>
        </p:spPr>
      </p:pic>
      <p:pic>
        <p:nvPicPr>
          <p:cNvPr id="55" name="Image 16" descr="preencoded.png"/>
          <p:cNvPicPr>
            <a:picLocks noChangeAspect="1"/>
          </p:cNvPicPr>
          <p:nvPr/>
        </p:nvPicPr>
        <p:blipFill>
          <a:blip r:embed="rId9"/>
          <a:srcRect l="-197" r="-197"/>
          <a:stretch/>
        </p:blipFill>
        <p:spPr>
          <a:xfrm>
            <a:off x="8128102" y="0"/>
            <a:ext cx="4063594" cy="7589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cad3a534ee2971c6a497c9faf59fb5cd.png"/>
          <p:cNvPicPr>
            <a:picLocks noChangeAspect="1"/>
          </p:cNvPicPr>
          <p:nvPr/>
        </p:nvPicPr>
        <p:blipFill>
          <a:blip r:embed="rId3"/>
          <a:srcRect l="-202" r="-202"/>
          <a:stretch/>
        </p:blipFill>
        <p:spPr>
          <a:xfrm>
            <a:off x="0" y="0"/>
            <a:ext cx="8128102" cy="75895"/>
          </a:xfrm>
          <a:prstGeom prst="rect">
            <a:avLst/>
          </a:prstGeom>
        </p:spPr>
      </p:pic>
      <p:pic>
        <p:nvPicPr>
          <p:cNvPr id="5" name="Image 1" descr="gen-dedup-64882feb7a832238af77b962fc7a8538.png"/>
          <p:cNvPicPr>
            <a:picLocks noChangeAspect="1"/>
          </p:cNvPicPr>
          <p:nvPr/>
        </p:nvPicPr>
        <p:blipFill>
          <a:blip r:embed="rId4"/>
          <a:srcRect l="-197" r="-197"/>
          <a:stretch/>
        </p:blipFill>
        <p:spPr>
          <a:xfrm>
            <a:off x="8128102" y="0"/>
            <a:ext cx="4063594" cy="75895"/>
          </a:xfrm>
          <a:prstGeom prst="rect">
            <a:avLst/>
          </a:prstGeom>
        </p:spPr>
      </p:pic>
      <p:sp>
        <p:nvSpPr>
          <p:cNvPr id="6" name="Shape 2"/>
          <p:cNvSpPr/>
          <p:nvPr/>
        </p:nvSpPr>
        <p:spPr>
          <a:xfrm>
            <a:off x="9905695" y="-571500"/>
            <a:ext cx="2857500" cy="2857500"/>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 name="Image 2" descr="gen-dedup-6da70c599291e253314366a10c094ffa.png"/>
          <p:cNvPicPr>
            <a:picLocks noChangeAspect="1"/>
          </p:cNvPicPr>
          <p:nvPr/>
        </p:nvPicPr>
        <p:blipFill>
          <a:blip r:embed="rId5">
            <a:alphaModFix amt="15000"/>
          </a:blip>
          <a:srcRect/>
          <a:stretch/>
        </p:blipFill>
        <p:spPr>
          <a:xfrm>
            <a:off x="381305" y="1143000"/>
            <a:ext cx="1429207" cy="1429207"/>
          </a:xfrm>
          <a:prstGeom prst="rect">
            <a:avLst/>
          </a:prstGeom>
        </p:spPr>
      </p:pic>
      <p:pic>
        <p:nvPicPr>
          <p:cNvPr id="8" name="Image 3" descr="gen-dedup-b81d2082573e6d8de64df87af639bbf0.png"/>
          <p:cNvPicPr>
            <a:picLocks noChangeAspect="1"/>
          </p:cNvPicPr>
          <p:nvPr/>
        </p:nvPicPr>
        <p:blipFill>
          <a:blip r:embed="rId6"/>
          <a:srcRect l="-360" r="-360"/>
          <a:stretch/>
        </p:blipFill>
        <p:spPr>
          <a:xfrm>
            <a:off x="609905" y="533095"/>
            <a:ext cx="57607" cy="381305"/>
          </a:xfrm>
          <a:prstGeom prst="rect">
            <a:avLst/>
          </a:prstGeom>
        </p:spPr>
      </p:pic>
      <p:sp>
        <p:nvSpPr>
          <p:cNvPr id="9" name="Text 3"/>
          <p:cNvSpPr txBox="1"/>
          <p:nvPr/>
        </p:nvSpPr>
        <p:spPr>
          <a:xfrm>
            <a:off x="819302" y="381305"/>
            <a:ext cx="3871570" cy="381305"/>
          </a:xfrm>
          <a:prstGeom prst="rect">
            <a:avLst/>
          </a:prstGeom>
          <a:noFill/>
          <a:ln/>
        </p:spPr>
        <p:txBody>
          <a:bodyPr wrap="none" lIns="0" tIns="0" rIns="0" bIns="0" rtlCol="0" anchor="ctr"/>
          <a:lstStyle/>
          <a:p>
            <a:pPr marL="0" indent="0" algn="l">
              <a:buNone/>
            </a:pPr>
            <a:r>
              <a:rPr lang="en-US" sz="2700" b="1" kern="0" spc="-67" dirty="0">
                <a:solidFill>
                  <a:srgbClr val="111827"/>
                </a:solidFill>
                <a:latin typeface="Oswald" pitchFamily="34" charset="0"/>
                <a:ea typeface="Oswald" pitchFamily="34" charset="-122"/>
                <a:cs typeface="Oswald" pitchFamily="34" charset="-120"/>
              </a:rPr>
              <a:t>WHAT WE OFFER</a:t>
            </a:r>
            <a:endParaRPr lang="en-US" sz="2700" dirty="0"/>
          </a:p>
        </p:txBody>
      </p:sp>
      <p:sp>
        <p:nvSpPr>
          <p:cNvPr id="10" name="Text 4"/>
          <p:cNvSpPr txBox="1"/>
          <p:nvPr/>
        </p:nvSpPr>
        <p:spPr>
          <a:xfrm>
            <a:off x="819302" y="800100"/>
            <a:ext cx="4189781" cy="267005"/>
          </a:xfrm>
          <a:prstGeom prst="rect">
            <a:avLst/>
          </a:prstGeom>
          <a:noFill/>
          <a:ln/>
        </p:spPr>
        <p:txBody>
          <a:bodyPr wrap="none" lIns="0" tIns="0" rIns="0" bIns="0" rtlCol="0" anchor="ctr"/>
          <a:lstStyle/>
          <a:p>
            <a:pPr marL="0" indent="0" algn="l">
              <a:buNone/>
            </a:pPr>
            <a:r>
              <a:rPr lang="en-US" sz="1500" b="1" kern="0" spc="75" dirty="0">
                <a:solidFill>
                  <a:srgbClr val="2A9D8F"/>
                </a:solidFill>
                <a:latin typeface="Roboto Condensed" pitchFamily="34" charset="0"/>
                <a:ea typeface="Roboto Condensed" pitchFamily="34" charset="-122"/>
                <a:cs typeface="Roboto Condensed" pitchFamily="34" charset="-120"/>
              </a:rPr>
              <a:t>THREE INTERLOCKING REVENUE ENGINES</a:t>
            </a:r>
            <a:endParaRPr lang="en-US" sz="1500" dirty="0"/>
          </a:p>
        </p:txBody>
      </p:sp>
      <p:sp>
        <p:nvSpPr>
          <p:cNvPr id="11" name="Shape 5"/>
          <p:cNvSpPr/>
          <p:nvPr/>
        </p:nvSpPr>
        <p:spPr>
          <a:xfrm>
            <a:off x="609905" y="1524305"/>
            <a:ext cx="3333902"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dirty="0"/>
          </a:p>
        </p:txBody>
      </p:sp>
      <p:sp>
        <p:nvSpPr>
          <p:cNvPr id="12" name="Shape 6"/>
          <p:cNvSpPr/>
          <p:nvPr/>
        </p:nvSpPr>
        <p:spPr>
          <a:xfrm>
            <a:off x="619049" y="1533449"/>
            <a:ext cx="3314700" cy="1047902"/>
          </a:xfrm>
          <a:prstGeom prst="rect">
            <a:avLst/>
          </a:prstGeom>
          <a:solidFill>
            <a:srgbClr val="2A9D8F"/>
          </a:solidFill>
          <a:ln w="12700">
            <a:solidFill>
              <a:srgbClr val="FFFFFF">
                <a:alpha val="0"/>
              </a:srgbClr>
            </a:solidFill>
            <a:prstDash val="solid"/>
          </a:ln>
        </p:spPr>
        <p:txBody>
          <a:bodyPr/>
          <a:lstStyle/>
          <a:p>
            <a:endParaRPr lang="en-US"/>
          </a:p>
        </p:txBody>
      </p:sp>
      <p:sp>
        <p:nvSpPr>
          <p:cNvPr id="13" name="Text 7"/>
          <p:cNvSpPr txBox="1"/>
          <p:nvPr/>
        </p:nvSpPr>
        <p:spPr>
          <a:xfrm>
            <a:off x="1411834" y="2033626"/>
            <a:ext cx="1734617" cy="238658"/>
          </a:xfrm>
          <a:prstGeom prst="rect">
            <a:avLst/>
          </a:prstGeom>
          <a:noFill/>
          <a:ln/>
        </p:spPr>
        <p:txBody>
          <a:bodyPr wrap="none" lIns="0" tIns="0" rIns="0" bIns="0" rtlCol="0" anchor="ctr"/>
          <a:lstStyle/>
          <a:p>
            <a:pPr marL="0" indent="0" algn="ctr">
              <a:buNone/>
            </a:pPr>
            <a:r>
              <a:rPr lang="en-US" sz="1500" b="1" dirty="0">
                <a:solidFill>
                  <a:srgbClr val="FFFFFF"/>
                </a:solidFill>
                <a:latin typeface="Oswald" pitchFamily="34" charset="0"/>
                <a:ea typeface="Oswald" pitchFamily="34" charset="-122"/>
                <a:cs typeface="Oswald" pitchFamily="34" charset="-120"/>
              </a:rPr>
              <a:t>Workforce Solutions</a:t>
            </a:r>
            <a:endParaRPr lang="en-US" sz="1500" dirty="0"/>
          </a:p>
        </p:txBody>
      </p:sp>
      <p:sp>
        <p:nvSpPr>
          <p:cNvPr id="14" name="Text 8"/>
          <p:cNvSpPr txBox="1"/>
          <p:nvPr/>
        </p:nvSpPr>
        <p:spPr>
          <a:xfrm>
            <a:off x="819302" y="2691079"/>
            <a:ext cx="2934310" cy="300106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Domain-deep engineers - not generic coders</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Verticals: IT and Cloud Computing · BFSI · more </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Deployed in 10 days or less </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Pod governance + sprint accountability</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Contract-to-hire flexibility</a:t>
            </a:r>
            <a:endParaRPr lang="en-US" sz="1400" dirty="0"/>
          </a:p>
        </p:txBody>
      </p:sp>
      <p:sp>
        <p:nvSpPr>
          <p:cNvPr id="21" name="Text 15"/>
          <p:cNvSpPr txBox="1"/>
          <p:nvPr/>
        </p:nvSpPr>
        <p:spPr>
          <a:xfrm>
            <a:off x="2116836" y="1652321"/>
            <a:ext cx="329184" cy="342900"/>
          </a:xfrm>
          <a:prstGeom prst="rect">
            <a:avLst/>
          </a:prstGeom>
          <a:noFill/>
          <a:ln/>
        </p:spPr>
        <p:txBody>
          <a:bodyPr wrap="none" lIns="0" tIns="0" rIns="0" bIns="0" rtlCol="0" anchor="ctr"/>
          <a:lstStyle/>
          <a:p>
            <a:pPr marL="0" indent="0" algn="ctr">
              <a:buNone/>
            </a:pPr>
            <a:r>
              <a:rPr lang="en-US" sz="2200" b="1" dirty="0">
                <a:solidFill>
                  <a:srgbClr val="FFFFFF">
                    <a:alpha val="90000"/>
                  </a:srgbClr>
                </a:solidFill>
                <a:latin typeface="Oswald" pitchFamily="34" charset="0"/>
                <a:ea typeface="Oswald" pitchFamily="34" charset="-122"/>
                <a:cs typeface="Oswald" pitchFamily="34" charset="-120"/>
              </a:rPr>
              <a:t>01</a:t>
            </a:r>
            <a:endParaRPr lang="en-US" sz="2200" dirty="0"/>
          </a:p>
        </p:txBody>
      </p:sp>
      <p:sp>
        <p:nvSpPr>
          <p:cNvPr id="22" name="Text 16"/>
          <p:cNvSpPr txBox="1"/>
          <p:nvPr/>
        </p:nvSpPr>
        <p:spPr>
          <a:xfrm>
            <a:off x="1570025" y="2309774"/>
            <a:ext cx="1420978" cy="152705"/>
          </a:xfrm>
          <a:prstGeom prst="rect">
            <a:avLst/>
          </a:prstGeom>
          <a:noFill/>
          <a:ln/>
        </p:spPr>
        <p:txBody>
          <a:bodyPr wrap="none" lIns="0" tIns="0" rIns="0" bIns="0" rtlCol="0" anchor="ctr"/>
          <a:lstStyle/>
          <a:p>
            <a:pPr marL="0" indent="0" algn="ctr">
              <a:buNone/>
            </a:pPr>
            <a:r>
              <a:rPr lang="en-US" sz="900" kern="0" spc="45" dirty="0">
                <a:solidFill>
                  <a:srgbClr val="FFFFFF">
                    <a:alpha val="90000"/>
                  </a:srgbClr>
                </a:solidFill>
                <a:latin typeface="Roboto Condensed" pitchFamily="34" charset="0"/>
                <a:ea typeface="Roboto Condensed" pitchFamily="34" charset="-122"/>
                <a:cs typeface="Roboto Condensed" pitchFamily="34" charset="-120"/>
              </a:rPr>
              <a:t>The Volume Engine</a:t>
            </a:r>
            <a:endParaRPr lang="en-US" sz="900" dirty="0"/>
          </a:p>
        </p:txBody>
      </p:sp>
      <p:sp>
        <p:nvSpPr>
          <p:cNvPr id="23" name="Shape 17"/>
          <p:cNvSpPr/>
          <p:nvPr/>
        </p:nvSpPr>
        <p:spPr>
          <a:xfrm>
            <a:off x="4419295" y="1524305"/>
            <a:ext cx="3333902"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24" name="Shape 18"/>
          <p:cNvSpPr/>
          <p:nvPr/>
        </p:nvSpPr>
        <p:spPr>
          <a:xfrm>
            <a:off x="4429354" y="1533449"/>
            <a:ext cx="3314700" cy="1047902"/>
          </a:xfrm>
          <a:prstGeom prst="rect">
            <a:avLst/>
          </a:prstGeom>
          <a:solidFill>
            <a:srgbClr val="D62839"/>
          </a:solidFill>
          <a:ln w="12700">
            <a:solidFill>
              <a:srgbClr val="FFFFFF">
                <a:alpha val="0"/>
              </a:srgbClr>
            </a:solidFill>
            <a:prstDash val="solid"/>
          </a:ln>
        </p:spPr>
        <p:txBody>
          <a:bodyPr/>
          <a:lstStyle/>
          <a:p>
            <a:endParaRPr lang="en-US"/>
          </a:p>
        </p:txBody>
      </p:sp>
      <p:sp>
        <p:nvSpPr>
          <p:cNvPr id="25" name="Text 19"/>
          <p:cNvSpPr txBox="1"/>
          <p:nvPr/>
        </p:nvSpPr>
        <p:spPr>
          <a:xfrm>
            <a:off x="5386730" y="2033626"/>
            <a:ext cx="1406347" cy="238658"/>
          </a:xfrm>
          <a:prstGeom prst="rect">
            <a:avLst/>
          </a:prstGeom>
          <a:noFill/>
          <a:ln/>
        </p:spPr>
        <p:txBody>
          <a:bodyPr wrap="none" lIns="0" tIns="0" rIns="0" bIns="0" rtlCol="0" anchor="ctr"/>
          <a:lstStyle/>
          <a:p>
            <a:pPr marL="0" indent="0" algn="ctr">
              <a:buNone/>
            </a:pPr>
            <a:r>
              <a:rPr lang="en-US" sz="1500" b="1" dirty="0">
                <a:solidFill>
                  <a:srgbClr val="FFFFFF"/>
                </a:solidFill>
                <a:latin typeface="Oswald" pitchFamily="34" charset="0"/>
                <a:ea typeface="Oswald" pitchFamily="34" charset="-122"/>
                <a:cs typeface="Oswald" pitchFamily="34" charset="-120"/>
              </a:rPr>
              <a:t>AI Pods</a:t>
            </a:r>
            <a:endParaRPr lang="en-US" sz="1500" dirty="0"/>
          </a:p>
        </p:txBody>
      </p:sp>
      <p:sp>
        <p:nvSpPr>
          <p:cNvPr id="26" name="Text 20"/>
          <p:cNvSpPr txBox="1"/>
          <p:nvPr/>
        </p:nvSpPr>
        <p:spPr>
          <a:xfrm>
            <a:off x="4619549" y="4204760"/>
            <a:ext cx="2934310" cy="40965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AI-first engineering pods, embedded tech lead</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Every engineer AI-certified before Day 1</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J2W AI Labs - continuous monthly upskilling</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AI-assisted code, test &amp; docs from Day 1</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Compounding productivity, not static seats</a:t>
            </a:r>
            <a:endParaRPr lang="en-US" sz="1400" dirty="0"/>
          </a:p>
        </p:txBody>
      </p:sp>
      <p:sp>
        <p:nvSpPr>
          <p:cNvPr id="33" name="Text 27"/>
          <p:cNvSpPr txBox="1"/>
          <p:nvPr/>
        </p:nvSpPr>
        <p:spPr>
          <a:xfrm>
            <a:off x="5905195" y="1652321"/>
            <a:ext cx="363017" cy="342900"/>
          </a:xfrm>
          <a:prstGeom prst="rect">
            <a:avLst/>
          </a:prstGeom>
          <a:noFill/>
          <a:ln/>
        </p:spPr>
        <p:txBody>
          <a:bodyPr wrap="none" lIns="0" tIns="0" rIns="0" bIns="0" rtlCol="0" anchor="ctr"/>
          <a:lstStyle/>
          <a:p>
            <a:pPr marL="0" indent="0" algn="ctr">
              <a:buNone/>
            </a:pPr>
            <a:r>
              <a:rPr lang="en-US" sz="2200" b="1" dirty="0">
                <a:solidFill>
                  <a:srgbClr val="FFFFFF">
                    <a:alpha val="90000"/>
                  </a:srgbClr>
                </a:solidFill>
                <a:latin typeface="Oswald" pitchFamily="34" charset="0"/>
                <a:ea typeface="Oswald" pitchFamily="34" charset="-122"/>
                <a:cs typeface="Oswald" pitchFamily="34" charset="-120"/>
              </a:rPr>
              <a:t>02</a:t>
            </a:r>
            <a:endParaRPr lang="en-US" sz="2200" dirty="0"/>
          </a:p>
        </p:txBody>
      </p:sp>
      <p:sp>
        <p:nvSpPr>
          <p:cNvPr id="34" name="Text 28"/>
          <p:cNvSpPr txBox="1"/>
          <p:nvPr/>
        </p:nvSpPr>
        <p:spPr>
          <a:xfrm>
            <a:off x="5079492" y="2309774"/>
            <a:ext cx="2018081" cy="152705"/>
          </a:xfrm>
          <a:prstGeom prst="rect">
            <a:avLst/>
          </a:prstGeom>
          <a:noFill/>
          <a:ln/>
        </p:spPr>
        <p:txBody>
          <a:bodyPr wrap="none" lIns="0" tIns="0" rIns="0" bIns="0" rtlCol="0" anchor="ctr"/>
          <a:lstStyle/>
          <a:p>
            <a:pPr marL="0" indent="0" algn="ctr">
              <a:buNone/>
            </a:pPr>
            <a:r>
              <a:rPr lang="en-US" sz="900" kern="0" spc="45" dirty="0">
                <a:solidFill>
                  <a:srgbClr val="FFFFFF">
                    <a:alpha val="90000"/>
                  </a:srgbClr>
                </a:solidFill>
                <a:latin typeface="Roboto Condensed" pitchFamily="34" charset="0"/>
                <a:ea typeface="Roboto Condensed" pitchFamily="34" charset="-122"/>
                <a:cs typeface="Roboto Condensed" pitchFamily="34" charset="-120"/>
              </a:rPr>
              <a:t>The Margin Expansion Engine</a:t>
            </a:r>
            <a:endParaRPr lang="en-US" sz="900" dirty="0"/>
          </a:p>
        </p:txBody>
      </p:sp>
      <p:sp>
        <p:nvSpPr>
          <p:cNvPr id="35" name="Shape 29"/>
          <p:cNvSpPr/>
          <p:nvPr/>
        </p:nvSpPr>
        <p:spPr>
          <a:xfrm>
            <a:off x="8229600" y="1524305"/>
            <a:ext cx="3333902"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36" name="Shape 30"/>
          <p:cNvSpPr/>
          <p:nvPr/>
        </p:nvSpPr>
        <p:spPr>
          <a:xfrm>
            <a:off x="8238744" y="1533449"/>
            <a:ext cx="3314700" cy="1047902"/>
          </a:xfrm>
          <a:prstGeom prst="rect">
            <a:avLst/>
          </a:prstGeom>
          <a:solidFill>
            <a:srgbClr val="2A9D8F"/>
          </a:solidFill>
          <a:ln w="12700">
            <a:solidFill>
              <a:srgbClr val="FFFFFF">
                <a:alpha val="0"/>
              </a:srgbClr>
            </a:solidFill>
            <a:prstDash val="solid"/>
          </a:ln>
        </p:spPr>
        <p:txBody>
          <a:bodyPr/>
          <a:lstStyle/>
          <a:p>
            <a:endParaRPr lang="en-US"/>
          </a:p>
        </p:txBody>
      </p:sp>
      <p:sp>
        <p:nvSpPr>
          <p:cNvPr id="37" name="Text 31"/>
          <p:cNvSpPr txBox="1"/>
          <p:nvPr/>
        </p:nvSpPr>
        <p:spPr>
          <a:xfrm>
            <a:off x="8685886" y="2033626"/>
            <a:ext cx="2425903" cy="238658"/>
          </a:xfrm>
          <a:prstGeom prst="rect">
            <a:avLst/>
          </a:prstGeom>
          <a:noFill/>
          <a:ln/>
        </p:spPr>
        <p:txBody>
          <a:bodyPr wrap="none" lIns="0" tIns="0" rIns="0" bIns="0" rtlCol="0" anchor="ctr"/>
          <a:lstStyle/>
          <a:p>
            <a:pPr marL="0" indent="0" algn="ctr">
              <a:buNone/>
            </a:pPr>
            <a:r>
              <a:rPr lang="en-US" sz="1500" b="1" dirty="0">
                <a:solidFill>
                  <a:srgbClr val="FFFFFF"/>
                </a:solidFill>
                <a:latin typeface="Oswald" pitchFamily="34" charset="0"/>
                <a:ea typeface="Oswald" pitchFamily="34" charset="-122"/>
                <a:cs typeface="Oswald" pitchFamily="34" charset="-120"/>
              </a:rPr>
              <a:t>Managed Service Solutions</a:t>
            </a:r>
            <a:endParaRPr lang="en-US" sz="1500" dirty="0"/>
          </a:p>
        </p:txBody>
      </p:sp>
      <p:sp>
        <p:nvSpPr>
          <p:cNvPr id="38" name="Text 32"/>
          <p:cNvSpPr txBox="1"/>
          <p:nvPr/>
        </p:nvSpPr>
        <p:spPr>
          <a:xfrm>
            <a:off x="8429854" y="4158691"/>
            <a:ext cx="2934310" cy="40965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Dedicated pods owning outcomes, not tasks</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Operate to outcome-bound SLOs</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60+ pre-built solution accelerators</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On SAP, ServiceNow &amp; industry stacks</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40% improvement threshold - our standard</a:t>
            </a:r>
            <a:endParaRPr lang="en-US" sz="1400" dirty="0"/>
          </a:p>
        </p:txBody>
      </p:sp>
      <p:sp>
        <p:nvSpPr>
          <p:cNvPr id="45" name="Text 39"/>
          <p:cNvSpPr txBox="1"/>
          <p:nvPr/>
        </p:nvSpPr>
        <p:spPr>
          <a:xfrm>
            <a:off x="9715500" y="1652321"/>
            <a:ext cx="363017" cy="342900"/>
          </a:xfrm>
          <a:prstGeom prst="rect">
            <a:avLst/>
          </a:prstGeom>
          <a:noFill/>
          <a:ln/>
        </p:spPr>
        <p:txBody>
          <a:bodyPr wrap="none" lIns="0" tIns="0" rIns="0" bIns="0" rtlCol="0" anchor="ctr"/>
          <a:lstStyle/>
          <a:p>
            <a:pPr marL="0" indent="0" algn="ctr">
              <a:buNone/>
            </a:pPr>
            <a:r>
              <a:rPr lang="en-US" sz="2200" b="1" dirty="0">
                <a:solidFill>
                  <a:srgbClr val="FFFFFF">
                    <a:alpha val="90000"/>
                  </a:srgbClr>
                </a:solidFill>
                <a:latin typeface="Oswald" pitchFamily="34" charset="0"/>
                <a:ea typeface="Oswald" pitchFamily="34" charset="-122"/>
                <a:cs typeface="Oswald" pitchFamily="34" charset="-120"/>
              </a:rPr>
              <a:t>03</a:t>
            </a:r>
            <a:endParaRPr lang="en-US" sz="2200" dirty="0"/>
          </a:p>
        </p:txBody>
      </p:sp>
      <p:sp>
        <p:nvSpPr>
          <p:cNvPr id="46" name="Text 40"/>
          <p:cNvSpPr txBox="1"/>
          <p:nvPr/>
        </p:nvSpPr>
        <p:spPr>
          <a:xfrm>
            <a:off x="8956548" y="2309774"/>
            <a:ext cx="1881835" cy="152705"/>
          </a:xfrm>
          <a:prstGeom prst="rect">
            <a:avLst/>
          </a:prstGeom>
          <a:noFill/>
          <a:ln/>
        </p:spPr>
        <p:txBody>
          <a:bodyPr wrap="none" lIns="0" tIns="0" rIns="0" bIns="0" rtlCol="0" anchor="ctr"/>
          <a:lstStyle/>
          <a:p>
            <a:pPr marL="0" indent="0" algn="ctr">
              <a:buNone/>
            </a:pPr>
            <a:r>
              <a:rPr lang="en-US" sz="900" kern="0" spc="45" dirty="0">
                <a:solidFill>
                  <a:srgbClr val="FFFFFF">
                    <a:alpha val="90000"/>
                  </a:srgbClr>
                </a:solidFill>
                <a:latin typeface="Roboto Condensed" pitchFamily="34" charset="0"/>
                <a:ea typeface="Roboto Condensed" pitchFamily="34" charset="-122"/>
                <a:cs typeface="Roboto Condensed" pitchFamily="34" charset="-120"/>
              </a:rPr>
              <a:t>The Strategic Value Engine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323228122ff92d2332e711a84ca3b40c.png"/>
          <p:cNvPicPr>
            <a:picLocks noChangeAspect="1"/>
          </p:cNvPicPr>
          <p:nvPr/>
        </p:nvPicPr>
        <p:blipFill>
          <a:blip r:embed="rId3"/>
          <a:srcRect l="-198" r="-198"/>
          <a:stretch/>
        </p:blipFill>
        <p:spPr>
          <a:xfrm>
            <a:off x="0" y="0"/>
            <a:ext cx="8124444" cy="75895"/>
          </a:xfrm>
          <a:prstGeom prst="rect">
            <a:avLst/>
          </a:prstGeom>
        </p:spPr>
      </p:pic>
      <p:pic>
        <p:nvPicPr>
          <p:cNvPr id="5" name="Image 1" descr="gen-dedup-9663ecf744b06e35d4c2cebaab92a2ea.png"/>
          <p:cNvPicPr>
            <a:picLocks noChangeAspect="1"/>
          </p:cNvPicPr>
          <p:nvPr/>
        </p:nvPicPr>
        <p:blipFill>
          <a:blip r:embed="rId4"/>
          <a:srcRect l="-202" r="-202"/>
          <a:stretch/>
        </p:blipFill>
        <p:spPr>
          <a:xfrm>
            <a:off x="8124444" y="0"/>
            <a:ext cx="4067251" cy="75895"/>
          </a:xfrm>
          <a:prstGeom prst="rect">
            <a:avLst/>
          </a:prstGeom>
        </p:spPr>
      </p:pic>
      <p:sp>
        <p:nvSpPr>
          <p:cNvPr id="6" name="Shape 2"/>
          <p:cNvSpPr/>
          <p:nvPr/>
        </p:nvSpPr>
        <p:spPr>
          <a:xfrm>
            <a:off x="9525305" y="4762195"/>
            <a:ext cx="3810305" cy="3810305"/>
          </a:xfrm>
          <a:prstGeom prst="ellipse">
            <a:avLst/>
          </a:prstGeom>
          <a:noFill/>
          <a:ln w="508000">
            <a:solidFill>
              <a:srgbClr val="D62839">
                <a:alpha val="3000"/>
              </a:srgbClr>
            </a:solidFill>
            <a:prstDash val="solid"/>
          </a:ln>
        </p:spPr>
        <p:txBody>
          <a:bodyPr/>
          <a:lstStyle/>
          <a:p>
            <a:endParaRPr lang="en-US"/>
          </a:p>
        </p:txBody>
      </p:sp>
      <p:pic>
        <p:nvPicPr>
          <p:cNvPr id="7" name="Image 2" descr="gen-dedup-b81d2082573e6d8de64df87af639bbf0.png"/>
          <p:cNvPicPr>
            <a:picLocks noChangeAspect="1"/>
          </p:cNvPicPr>
          <p:nvPr/>
        </p:nvPicPr>
        <p:blipFill>
          <a:blip r:embed="rId5"/>
          <a:srcRect l="-360" r="-360"/>
          <a:stretch/>
        </p:blipFill>
        <p:spPr>
          <a:xfrm>
            <a:off x="609905" y="381305"/>
            <a:ext cx="57607" cy="381305"/>
          </a:xfrm>
          <a:prstGeom prst="rect">
            <a:avLst/>
          </a:prstGeom>
        </p:spPr>
      </p:pic>
      <p:sp>
        <p:nvSpPr>
          <p:cNvPr id="8" name="Shape 3"/>
          <p:cNvSpPr/>
          <p:nvPr/>
        </p:nvSpPr>
        <p:spPr>
          <a:xfrm>
            <a:off x="609905"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9" name="Shape 4"/>
          <p:cNvSpPr/>
          <p:nvPr/>
        </p:nvSpPr>
        <p:spPr>
          <a:xfrm>
            <a:off x="609905" y="1524305"/>
            <a:ext cx="2609698" cy="57607"/>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
        <p:nvSpPr>
          <p:cNvPr id="10" name="Shape 5"/>
          <p:cNvSpPr/>
          <p:nvPr/>
        </p:nvSpPr>
        <p:spPr>
          <a:xfrm>
            <a:off x="3429000"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1" name="Shape 6"/>
          <p:cNvSpPr/>
          <p:nvPr/>
        </p:nvSpPr>
        <p:spPr>
          <a:xfrm>
            <a:off x="3429000" y="1524305"/>
            <a:ext cx="2609698" cy="57607"/>
          </a:xfrm>
          <a:prstGeom prst="roundRect">
            <a:avLst>
              <a:gd name="adj" fmla="val 139034"/>
            </a:avLst>
          </a:prstGeom>
          <a:solidFill>
            <a:srgbClr val="D62839"/>
          </a:solidFill>
          <a:ln w="12700">
            <a:solidFill>
              <a:srgbClr val="D62839">
                <a:alpha val="0"/>
              </a:srgbClr>
            </a:solidFill>
            <a:prstDash val="solid"/>
          </a:ln>
        </p:spPr>
        <p:txBody>
          <a:bodyPr/>
          <a:lstStyle/>
          <a:p>
            <a:endParaRPr lang="en-US"/>
          </a:p>
        </p:txBody>
      </p:sp>
      <p:sp>
        <p:nvSpPr>
          <p:cNvPr id="12" name="Shape 7"/>
          <p:cNvSpPr/>
          <p:nvPr/>
        </p:nvSpPr>
        <p:spPr>
          <a:xfrm>
            <a:off x="6248095"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3" name="Shape 8"/>
          <p:cNvSpPr/>
          <p:nvPr/>
        </p:nvSpPr>
        <p:spPr>
          <a:xfrm>
            <a:off x="6248095" y="1524305"/>
            <a:ext cx="2609698" cy="57607"/>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
        <p:nvSpPr>
          <p:cNvPr id="14" name="Shape 9"/>
          <p:cNvSpPr/>
          <p:nvPr/>
        </p:nvSpPr>
        <p:spPr>
          <a:xfrm>
            <a:off x="9068105"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5" name="Shape 10"/>
          <p:cNvSpPr/>
          <p:nvPr/>
        </p:nvSpPr>
        <p:spPr>
          <a:xfrm>
            <a:off x="9068105" y="1524305"/>
            <a:ext cx="2609698" cy="57607"/>
          </a:xfrm>
          <a:prstGeom prst="roundRect">
            <a:avLst>
              <a:gd name="adj" fmla="val 139034"/>
            </a:avLst>
          </a:prstGeom>
          <a:solidFill>
            <a:srgbClr val="D62839"/>
          </a:solidFill>
          <a:ln w="12700">
            <a:solidFill>
              <a:srgbClr val="D62839">
                <a:alpha val="0"/>
              </a:srgbClr>
            </a:solidFill>
            <a:prstDash val="solid"/>
          </a:ln>
        </p:spPr>
        <p:txBody>
          <a:bodyPr/>
          <a:lstStyle/>
          <a:p>
            <a:endParaRPr lang="en-US"/>
          </a:p>
        </p:txBody>
      </p:sp>
      <p:pic>
        <p:nvPicPr>
          <p:cNvPr id="16" name="Image 3" descr="gen-dedup-c79c8869390c39dd2ec5734755e72ead.png"/>
          <p:cNvPicPr>
            <a:picLocks noChangeAspect="1"/>
          </p:cNvPicPr>
          <p:nvPr/>
        </p:nvPicPr>
        <p:blipFill>
          <a:blip r:embed="rId6"/>
          <a:srcRect l="-2083" r="-2083"/>
          <a:stretch/>
        </p:blipFill>
        <p:spPr>
          <a:xfrm>
            <a:off x="609905" y="5715000"/>
            <a:ext cx="11011205" cy="9144"/>
          </a:xfrm>
          <a:prstGeom prst="rect">
            <a:avLst/>
          </a:prstGeom>
        </p:spPr>
      </p:pic>
      <p:sp>
        <p:nvSpPr>
          <p:cNvPr id="17" name="Shape 11"/>
          <p:cNvSpPr/>
          <p:nvPr/>
        </p:nvSpPr>
        <p:spPr>
          <a:xfrm>
            <a:off x="609905" y="5905195"/>
            <a:ext cx="11058754" cy="685800"/>
          </a:xfrm>
          <a:prstGeom prst="roundRect">
            <a:avLst>
              <a:gd name="adj" fmla="val 29630"/>
            </a:avLst>
          </a:prstGeom>
          <a:solidFill>
            <a:srgbClr val="2A9D8F">
              <a:alpha val="5000"/>
            </a:srgbClr>
          </a:solidFill>
          <a:ln w="12700">
            <a:solidFill>
              <a:srgbClr val="E5E7EB"/>
            </a:solidFill>
            <a:prstDash val="solid"/>
          </a:ln>
        </p:spPr>
        <p:txBody>
          <a:bodyPr/>
          <a:lstStyle/>
          <a:p>
            <a:endParaRPr lang="en-US"/>
          </a:p>
        </p:txBody>
      </p:sp>
      <p:sp>
        <p:nvSpPr>
          <p:cNvPr id="18" name="Shape 12"/>
          <p:cNvSpPr/>
          <p:nvPr/>
        </p:nvSpPr>
        <p:spPr>
          <a:xfrm>
            <a:off x="609905" y="5905195"/>
            <a:ext cx="38405" cy="685800"/>
          </a:xfrm>
          <a:prstGeom prst="roundRect">
            <a:avLst>
              <a:gd name="adj" fmla="val 529098"/>
            </a:avLst>
          </a:prstGeom>
          <a:solidFill>
            <a:srgbClr val="2A9D8F"/>
          </a:solidFill>
          <a:ln w="12700">
            <a:solidFill>
              <a:srgbClr val="2A9D8F">
                <a:alpha val="0"/>
              </a:srgbClr>
            </a:solidFill>
            <a:prstDash val="solid"/>
          </a:ln>
        </p:spPr>
        <p:txBody>
          <a:bodyPr/>
          <a:lstStyle/>
          <a:p>
            <a:endParaRPr lang="en-US"/>
          </a:p>
        </p:txBody>
      </p:sp>
      <p:pic>
        <p:nvPicPr>
          <p:cNvPr id="19" name="Image 4" descr="gen-dedup-1bf8b7c2ed0132a588bc6493359d36f7.png"/>
          <p:cNvPicPr>
            <a:picLocks noChangeAspect="1"/>
          </p:cNvPicPr>
          <p:nvPr/>
        </p:nvPicPr>
        <p:blipFill>
          <a:blip r:embed="rId7"/>
          <a:srcRect/>
          <a:stretch/>
        </p:blipFill>
        <p:spPr>
          <a:xfrm>
            <a:off x="3157460" y="3543605"/>
            <a:ext cx="323698" cy="323698"/>
          </a:xfrm>
          <a:prstGeom prst="rect">
            <a:avLst/>
          </a:prstGeom>
        </p:spPr>
      </p:pic>
      <p:pic>
        <p:nvPicPr>
          <p:cNvPr id="20" name="Image 5" descr="gen-dedup-4f3b576989a6b43ea9ecd09ca0f289b1.png"/>
          <p:cNvPicPr>
            <a:picLocks noChangeAspect="1"/>
          </p:cNvPicPr>
          <p:nvPr/>
        </p:nvPicPr>
        <p:blipFill>
          <a:blip r:embed="rId8"/>
          <a:srcRect t="-5544" b="-5544"/>
          <a:stretch/>
        </p:blipFill>
        <p:spPr>
          <a:xfrm>
            <a:off x="3266274" y="3638702"/>
            <a:ext cx="105156" cy="133502"/>
          </a:xfrm>
          <a:prstGeom prst="rect">
            <a:avLst/>
          </a:prstGeom>
        </p:spPr>
      </p:pic>
      <p:pic>
        <p:nvPicPr>
          <p:cNvPr id="21" name="Image 6" descr="gen-dedup-1bf8b7c2ed0132a588bc6493359d36f7.png"/>
          <p:cNvPicPr>
            <a:picLocks noChangeAspect="1"/>
          </p:cNvPicPr>
          <p:nvPr/>
        </p:nvPicPr>
        <p:blipFill>
          <a:blip r:embed="rId7"/>
          <a:srcRect/>
          <a:stretch/>
        </p:blipFill>
        <p:spPr>
          <a:xfrm>
            <a:off x="5976555" y="3543605"/>
            <a:ext cx="323698" cy="323698"/>
          </a:xfrm>
          <a:prstGeom prst="rect">
            <a:avLst/>
          </a:prstGeom>
        </p:spPr>
      </p:pic>
      <p:pic>
        <p:nvPicPr>
          <p:cNvPr id="22" name="Image 7" descr="gen-dedup-4f3b576989a6b43ea9ecd09ca0f289b1.png"/>
          <p:cNvPicPr>
            <a:picLocks noChangeAspect="1"/>
          </p:cNvPicPr>
          <p:nvPr/>
        </p:nvPicPr>
        <p:blipFill>
          <a:blip r:embed="rId8"/>
          <a:srcRect t="-5544" b="-5544"/>
          <a:stretch/>
        </p:blipFill>
        <p:spPr>
          <a:xfrm>
            <a:off x="6086283" y="3638702"/>
            <a:ext cx="105156" cy="133502"/>
          </a:xfrm>
          <a:prstGeom prst="rect">
            <a:avLst/>
          </a:prstGeom>
        </p:spPr>
      </p:pic>
      <p:pic>
        <p:nvPicPr>
          <p:cNvPr id="23" name="Image 8" descr="gen-dedup-1bf8b7c2ed0132a588bc6493359d36f7.png"/>
          <p:cNvPicPr>
            <a:picLocks noChangeAspect="1"/>
          </p:cNvPicPr>
          <p:nvPr/>
        </p:nvPicPr>
        <p:blipFill>
          <a:blip r:embed="rId7"/>
          <a:srcRect/>
          <a:stretch/>
        </p:blipFill>
        <p:spPr>
          <a:xfrm>
            <a:off x="8795651" y="3543605"/>
            <a:ext cx="323698" cy="323698"/>
          </a:xfrm>
          <a:prstGeom prst="rect">
            <a:avLst/>
          </a:prstGeom>
        </p:spPr>
      </p:pic>
      <p:pic>
        <p:nvPicPr>
          <p:cNvPr id="24" name="Image 9" descr="gen-dedup-4f3b576989a6b43ea9ecd09ca0f289b1.png"/>
          <p:cNvPicPr>
            <a:picLocks noChangeAspect="1"/>
          </p:cNvPicPr>
          <p:nvPr/>
        </p:nvPicPr>
        <p:blipFill>
          <a:blip r:embed="rId8"/>
          <a:srcRect t="-5544" b="-5544"/>
          <a:stretch/>
        </p:blipFill>
        <p:spPr>
          <a:xfrm>
            <a:off x="8905379" y="3638702"/>
            <a:ext cx="105156" cy="133502"/>
          </a:xfrm>
          <a:prstGeom prst="rect">
            <a:avLst/>
          </a:prstGeom>
        </p:spPr>
      </p:pic>
      <p:sp>
        <p:nvSpPr>
          <p:cNvPr id="25" name="Text 13"/>
          <p:cNvSpPr txBox="1"/>
          <p:nvPr/>
        </p:nvSpPr>
        <p:spPr>
          <a:xfrm>
            <a:off x="819302" y="304495"/>
            <a:ext cx="10478110" cy="419710"/>
          </a:xfrm>
          <a:prstGeom prst="rect">
            <a:avLst/>
          </a:prstGeom>
          <a:noFill/>
          <a:ln/>
        </p:spPr>
        <p:txBody>
          <a:bodyPr wrap="none" lIns="0" tIns="0" rIns="0" bIns="0" rtlCol="0" anchor="ctr"/>
          <a:lstStyle/>
          <a:p>
            <a:pPr marL="0" indent="0" algn="l">
              <a:buNone/>
            </a:pPr>
            <a:r>
              <a:rPr lang="en-US" sz="2700" b="1" dirty="0">
                <a:solidFill>
                  <a:srgbClr val="111827"/>
                </a:solidFill>
                <a:latin typeface="Oswald" pitchFamily="34" charset="0"/>
                <a:ea typeface="Oswald" pitchFamily="34" charset="-122"/>
                <a:cs typeface="Oswald" pitchFamily="34" charset="-120"/>
              </a:rPr>
              <a:t>THE J2W OPERATING MODEL</a:t>
            </a:r>
            <a:endParaRPr lang="en-US" sz="2700" dirty="0"/>
          </a:p>
        </p:txBody>
      </p:sp>
      <p:sp>
        <p:nvSpPr>
          <p:cNvPr id="26" name="Text 14"/>
          <p:cNvSpPr txBox="1"/>
          <p:nvPr/>
        </p:nvSpPr>
        <p:spPr>
          <a:xfrm>
            <a:off x="819302" y="792785"/>
            <a:ext cx="10478110" cy="181051"/>
          </a:xfrm>
          <a:prstGeom prst="rect">
            <a:avLst/>
          </a:prstGeom>
          <a:noFill/>
          <a:ln/>
        </p:spPr>
        <p:txBody>
          <a:bodyPr wrap="none" lIns="0" tIns="0" rIns="0" bIns="0" rtlCol="0" anchor="ctr"/>
          <a:lstStyle/>
          <a:p>
            <a:pPr marL="0" indent="0" algn="l">
              <a:buNone/>
            </a:pPr>
            <a:r>
              <a:rPr lang="en-US" sz="1500" dirty="0">
                <a:solidFill>
                  <a:srgbClr val="4B5563"/>
                </a:solidFill>
                <a:latin typeface="Raleway" pitchFamily="34" charset="0"/>
                <a:ea typeface="Raleway" pitchFamily="34" charset="-122"/>
                <a:cs typeface="Raleway" pitchFamily="34" charset="-120"/>
              </a:rPr>
              <a:t>We don't just deploy - we embed, align, and deliver measurable outcomes.</a:t>
            </a:r>
            <a:endParaRPr lang="en-US" sz="1500" dirty="0"/>
          </a:p>
        </p:txBody>
      </p:sp>
      <p:sp>
        <p:nvSpPr>
          <p:cNvPr id="27" name="Shape 15"/>
          <p:cNvSpPr/>
          <p:nvPr/>
        </p:nvSpPr>
        <p:spPr>
          <a:xfrm>
            <a:off x="1638605" y="1819656"/>
            <a:ext cx="533095" cy="533095"/>
          </a:xfrm>
          <a:prstGeom prst="ellipse">
            <a:avLst/>
          </a:prstGeom>
          <a:solidFill>
            <a:srgbClr val="2A9D8F">
              <a:alpha val="10000"/>
            </a:srgbClr>
          </a:solidFill>
          <a:ln w="12700">
            <a:solidFill>
              <a:srgbClr val="FFFFFF">
                <a:alpha val="0"/>
              </a:srgbClr>
            </a:solidFill>
            <a:prstDash val="solid"/>
          </a:ln>
        </p:spPr>
        <p:txBody>
          <a:bodyPr/>
          <a:lstStyle/>
          <a:p>
            <a:endParaRPr lang="en-US"/>
          </a:p>
        </p:txBody>
      </p:sp>
      <p:pic>
        <p:nvPicPr>
          <p:cNvPr id="28" name="Image 10" descr="gen-dedup-ac1977dfe20a87d93b03eab8a85600aa.png"/>
          <p:cNvPicPr>
            <a:picLocks noChangeAspect="1"/>
          </p:cNvPicPr>
          <p:nvPr/>
        </p:nvPicPr>
        <p:blipFill>
          <a:blip r:embed="rId9"/>
          <a:srcRect t="-13131" b="-13131"/>
          <a:stretch/>
        </p:blipFill>
        <p:spPr>
          <a:xfrm>
            <a:off x="1814170" y="1971446"/>
            <a:ext cx="181051" cy="228600"/>
          </a:xfrm>
          <a:prstGeom prst="rect">
            <a:avLst/>
          </a:prstGeom>
        </p:spPr>
      </p:pic>
      <p:sp>
        <p:nvSpPr>
          <p:cNvPr id="29" name="Text 16"/>
          <p:cNvSpPr txBox="1"/>
          <p:nvPr/>
        </p:nvSpPr>
        <p:spPr>
          <a:xfrm>
            <a:off x="705002" y="2505456"/>
            <a:ext cx="2400300" cy="286207"/>
          </a:xfrm>
          <a:prstGeom prst="rect">
            <a:avLst/>
          </a:prstGeom>
          <a:noFill/>
          <a:ln/>
        </p:spPr>
        <p:txBody>
          <a:bodyPr wrap="none" lIns="0" tIns="0" rIns="0" bIns="0" rtlCol="0" anchor="ctr"/>
          <a:lstStyle/>
          <a:p>
            <a:pPr marL="0" indent="0" algn="ctr">
              <a:buNone/>
            </a:pPr>
            <a:r>
              <a:rPr lang="en-US" sz="2000" b="1" dirty="0">
                <a:solidFill>
                  <a:srgbClr val="1F2937"/>
                </a:solidFill>
                <a:latin typeface="Oswald" pitchFamily="34" charset="0"/>
                <a:ea typeface="Oswald" pitchFamily="34" charset="-122"/>
                <a:cs typeface="Oswald" pitchFamily="34" charset="-120"/>
              </a:rPr>
              <a:t>Embed.</a:t>
            </a:r>
            <a:endParaRPr lang="en-US" sz="2000" dirty="0"/>
          </a:p>
        </p:txBody>
      </p:sp>
      <p:sp>
        <p:nvSpPr>
          <p:cNvPr id="30" name="Text 17"/>
          <p:cNvSpPr txBox="1"/>
          <p:nvPr/>
        </p:nvSpPr>
        <p:spPr>
          <a:xfrm>
            <a:off x="705002" y="2968854"/>
            <a:ext cx="2400300" cy="152705"/>
          </a:xfrm>
          <a:prstGeom prst="rect">
            <a:avLst/>
          </a:prstGeom>
          <a:noFill/>
          <a:ln/>
        </p:spPr>
        <p:txBody>
          <a:bodyPr wrap="none" lIns="0" tIns="0" rIns="0" bIns="0" rtlCol="0" anchor="ctr"/>
          <a:lstStyle/>
          <a:p>
            <a:pPr marL="0" indent="0" algn="ctr">
              <a:buNone/>
            </a:pPr>
            <a:r>
              <a:rPr lang="en-US" sz="1300" b="1" dirty="0">
                <a:solidFill>
                  <a:srgbClr val="2A9D8F"/>
                </a:solidFill>
                <a:latin typeface="Roboto Condensed" pitchFamily="34" charset="0"/>
                <a:ea typeface="Roboto Condensed" pitchFamily="34" charset="-122"/>
                <a:cs typeface="Roboto Condensed" pitchFamily="34" charset="-120"/>
              </a:rPr>
              <a:t>Days 1–14</a:t>
            </a:r>
            <a:endParaRPr lang="en-US" sz="1300" dirty="0"/>
          </a:p>
        </p:txBody>
      </p:sp>
      <p:sp>
        <p:nvSpPr>
          <p:cNvPr id="31" name="Text 18"/>
          <p:cNvSpPr txBox="1"/>
          <p:nvPr/>
        </p:nvSpPr>
        <p:spPr>
          <a:xfrm>
            <a:off x="705002" y="3018434"/>
            <a:ext cx="2309775" cy="1743761"/>
          </a:xfrm>
          <a:prstGeom prst="rect">
            <a:avLst/>
          </a:prstGeom>
          <a:noFill/>
          <a:ln/>
        </p:spPr>
        <p:txBody>
          <a:bodyPr wrap="square" lIns="0" tIns="0" rIns="0" bIns="0" rtlCol="0" anchor="ctr"/>
          <a:lstStyle/>
          <a:p>
            <a:pPr marL="0" indent="0" algn="ctr">
              <a:buNone/>
            </a:pPr>
            <a:r>
              <a:rPr lang="en-US" sz="1200" dirty="0">
                <a:solidFill>
                  <a:srgbClr val="4B5563"/>
                </a:solidFill>
                <a:latin typeface="Raleway" pitchFamily="34" charset="0"/>
                <a:ea typeface="Raleway" pitchFamily="34" charset="-122"/>
                <a:cs typeface="Raleway" pitchFamily="34" charset="-120"/>
              </a:rPr>
              <a:t>We map your stakeholder reality before touching a single workflow — identifying the 80% we move within and the 20% that unlocks transformation.</a:t>
            </a:r>
            <a:endParaRPr lang="en-US" sz="1200" dirty="0"/>
          </a:p>
        </p:txBody>
      </p:sp>
      <p:sp>
        <p:nvSpPr>
          <p:cNvPr id="32" name="Text 19"/>
          <p:cNvSpPr txBox="1"/>
          <p:nvPr/>
        </p:nvSpPr>
        <p:spPr>
          <a:xfrm>
            <a:off x="2409444" y="1687137"/>
            <a:ext cx="601675" cy="457200"/>
          </a:xfrm>
          <a:prstGeom prst="rect">
            <a:avLst/>
          </a:prstGeom>
          <a:noFill/>
          <a:ln/>
        </p:spPr>
        <p:txBody>
          <a:bodyPr wrap="none" lIns="0" tIns="0" rIns="0" bIns="0" rtlCol="0" anchor="ctr"/>
          <a:lstStyle/>
          <a:p>
            <a:pPr marL="0" indent="0" algn="r">
              <a:buNone/>
            </a:pPr>
            <a:r>
              <a:rPr lang="en-US" sz="3600" b="1" dirty="0">
                <a:solidFill>
                  <a:srgbClr val="2A9D8F">
                    <a:alpha val="8000"/>
                  </a:srgbClr>
                </a:solidFill>
                <a:latin typeface="Oswald" pitchFamily="34" charset="0"/>
                <a:ea typeface="Oswald" pitchFamily="34" charset="-122"/>
                <a:cs typeface="Oswald" pitchFamily="34" charset="-120"/>
              </a:rPr>
              <a:t>01</a:t>
            </a:r>
            <a:endParaRPr lang="en-US" sz="3600" dirty="0"/>
          </a:p>
        </p:txBody>
      </p:sp>
      <p:sp>
        <p:nvSpPr>
          <p:cNvPr id="33" name="Shape 20"/>
          <p:cNvSpPr/>
          <p:nvPr/>
        </p:nvSpPr>
        <p:spPr>
          <a:xfrm>
            <a:off x="4457700" y="1819656"/>
            <a:ext cx="533095" cy="533095"/>
          </a:xfrm>
          <a:prstGeom prst="ellipse">
            <a:avLst/>
          </a:prstGeom>
          <a:solidFill>
            <a:srgbClr val="D62839">
              <a:alpha val="10000"/>
            </a:srgbClr>
          </a:solidFill>
          <a:ln w="12700">
            <a:solidFill>
              <a:srgbClr val="FFFFFF">
                <a:alpha val="0"/>
              </a:srgbClr>
            </a:solidFill>
            <a:prstDash val="solid"/>
          </a:ln>
        </p:spPr>
        <p:txBody>
          <a:bodyPr/>
          <a:lstStyle/>
          <a:p>
            <a:endParaRPr lang="en-US"/>
          </a:p>
        </p:txBody>
      </p:sp>
      <p:pic>
        <p:nvPicPr>
          <p:cNvPr id="34" name="Image 11" descr="gen-dedup-bb65f8a83efde23cd45884ce4e632f2a.png"/>
          <p:cNvPicPr>
            <a:picLocks noChangeAspect="1"/>
          </p:cNvPicPr>
          <p:nvPr/>
        </p:nvPicPr>
        <p:blipFill>
          <a:blip r:embed="rId10"/>
          <a:srcRect t="-13131" b="-13131"/>
          <a:stretch/>
        </p:blipFill>
        <p:spPr>
          <a:xfrm>
            <a:off x="4634179" y="1971446"/>
            <a:ext cx="181051" cy="228600"/>
          </a:xfrm>
          <a:prstGeom prst="rect">
            <a:avLst/>
          </a:prstGeom>
        </p:spPr>
      </p:pic>
      <p:sp>
        <p:nvSpPr>
          <p:cNvPr id="35" name="Text 21"/>
          <p:cNvSpPr txBox="1"/>
          <p:nvPr/>
        </p:nvSpPr>
        <p:spPr>
          <a:xfrm>
            <a:off x="3524098" y="2505456"/>
            <a:ext cx="2400300" cy="286207"/>
          </a:xfrm>
          <a:prstGeom prst="rect">
            <a:avLst/>
          </a:prstGeom>
          <a:noFill/>
          <a:ln/>
        </p:spPr>
        <p:txBody>
          <a:bodyPr wrap="none" lIns="0" tIns="0" rIns="0" bIns="0" rtlCol="0" anchor="ctr"/>
          <a:lstStyle/>
          <a:p>
            <a:pPr marL="0" indent="0" algn="ctr">
              <a:buNone/>
            </a:pPr>
            <a:r>
              <a:rPr lang="en-US" sz="2000" b="1" dirty="0">
                <a:solidFill>
                  <a:srgbClr val="1F2937"/>
                </a:solidFill>
                <a:latin typeface="Oswald" pitchFamily="34" charset="0"/>
                <a:ea typeface="Oswald" pitchFamily="34" charset="-122"/>
                <a:cs typeface="Oswald" pitchFamily="34" charset="-120"/>
              </a:rPr>
              <a:t>Build.</a:t>
            </a:r>
            <a:endParaRPr lang="en-US" sz="2000" dirty="0"/>
          </a:p>
        </p:txBody>
      </p:sp>
      <p:sp>
        <p:nvSpPr>
          <p:cNvPr id="36" name="Text 22"/>
          <p:cNvSpPr txBox="1"/>
          <p:nvPr/>
        </p:nvSpPr>
        <p:spPr>
          <a:xfrm>
            <a:off x="3524098" y="2968854"/>
            <a:ext cx="2400300" cy="152705"/>
          </a:xfrm>
          <a:prstGeom prst="rect">
            <a:avLst/>
          </a:prstGeom>
          <a:noFill/>
          <a:ln/>
        </p:spPr>
        <p:txBody>
          <a:bodyPr wrap="none" lIns="0" tIns="0" rIns="0" bIns="0" rtlCol="0" anchor="ctr"/>
          <a:lstStyle/>
          <a:p>
            <a:pPr marL="0" indent="0" algn="ctr">
              <a:buNone/>
            </a:pPr>
            <a:r>
              <a:rPr lang="en-US" sz="1300" b="1" dirty="0">
                <a:solidFill>
                  <a:srgbClr val="D62839"/>
                </a:solidFill>
                <a:latin typeface="Roboto Condensed" pitchFamily="34" charset="0"/>
                <a:ea typeface="Roboto Condensed" pitchFamily="34" charset="-122"/>
                <a:cs typeface="Roboto Condensed" pitchFamily="34" charset="-120"/>
              </a:rPr>
              <a:t>Weeks 2–6</a:t>
            </a:r>
            <a:endParaRPr lang="en-US" sz="1300" dirty="0"/>
          </a:p>
        </p:txBody>
      </p:sp>
      <p:sp>
        <p:nvSpPr>
          <p:cNvPr id="37" name="Text 23"/>
          <p:cNvSpPr txBox="1"/>
          <p:nvPr/>
        </p:nvSpPr>
        <p:spPr>
          <a:xfrm>
            <a:off x="3524098" y="3297935"/>
            <a:ext cx="2309775" cy="1390802"/>
          </a:xfrm>
          <a:prstGeom prst="rect">
            <a:avLst/>
          </a:prstGeom>
          <a:noFill/>
          <a:ln/>
        </p:spPr>
        <p:txBody>
          <a:bodyPr wrap="square" lIns="0" tIns="0" rIns="0" bIns="0" rtlCol="0" anchor="ctr"/>
          <a:lstStyle/>
          <a:p>
            <a:pPr marL="0" indent="0" algn="ctr">
              <a:buNone/>
            </a:pPr>
            <a:r>
              <a:rPr lang="en-US" sz="1200" dirty="0">
                <a:solidFill>
                  <a:srgbClr val="4B5563"/>
                </a:solidFill>
                <a:latin typeface="Raleway" pitchFamily="34" charset="0"/>
                <a:ea typeface="Raleway" pitchFamily="34" charset="-122"/>
                <a:cs typeface="Raleway" pitchFamily="34" charset="-120"/>
              </a:rPr>
              <a:t>We deploy the closest-fit accelerator and customize where needed. Hundreds of prior engagements mean you inherit a head start, not a blank slate.</a:t>
            </a:r>
            <a:endParaRPr lang="en-US" sz="1200" dirty="0"/>
          </a:p>
        </p:txBody>
      </p:sp>
      <p:sp>
        <p:nvSpPr>
          <p:cNvPr id="38" name="Text 24"/>
          <p:cNvSpPr txBox="1"/>
          <p:nvPr/>
        </p:nvSpPr>
        <p:spPr>
          <a:xfrm>
            <a:off x="5231282" y="1687137"/>
            <a:ext cx="607162" cy="457200"/>
          </a:xfrm>
          <a:prstGeom prst="rect">
            <a:avLst/>
          </a:prstGeom>
          <a:noFill/>
          <a:ln/>
        </p:spPr>
        <p:txBody>
          <a:bodyPr wrap="none" lIns="0" tIns="0" rIns="0" bIns="0" rtlCol="0" anchor="ctr"/>
          <a:lstStyle/>
          <a:p>
            <a:pPr marL="0" indent="0" algn="r">
              <a:buNone/>
            </a:pPr>
            <a:r>
              <a:rPr lang="en-US" sz="3600" b="1" dirty="0">
                <a:solidFill>
                  <a:srgbClr val="D62839">
                    <a:alpha val="8000"/>
                  </a:srgbClr>
                </a:solidFill>
                <a:latin typeface="Oswald" pitchFamily="34" charset="0"/>
                <a:ea typeface="Oswald" pitchFamily="34" charset="-122"/>
                <a:cs typeface="Oswald" pitchFamily="34" charset="-120"/>
              </a:rPr>
              <a:t>02</a:t>
            </a:r>
            <a:endParaRPr lang="en-US" sz="3600" dirty="0"/>
          </a:p>
        </p:txBody>
      </p:sp>
      <p:sp>
        <p:nvSpPr>
          <p:cNvPr id="39" name="Shape 25"/>
          <p:cNvSpPr/>
          <p:nvPr/>
        </p:nvSpPr>
        <p:spPr>
          <a:xfrm>
            <a:off x="7276795" y="1819656"/>
            <a:ext cx="533095" cy="533095"/>
          </a:xfrm>
          <a:prstGeom prst="ellipse">
            <a:avLst/>
          </a:prstGeom>
          <a:solidFill>
            <a:srgbClr val="2A9D8F">
              <a:alpha val="10000"/>
            </a:srgbClr>
          </a:solidFill>
          <a:ln w="12700">
            <a:solidFill>
              <a:srgbClr val="FFFFFF">
                <a:alpha val="0"/>
              </a:srgbClr>
            </a:solidFill>
            <a:prstDash val="solid"/>
          </a:ln>
        </p:spPr>
        <p:txBody>
          <a:bodyPr/>
          <a:lstStyle/>
          <a:p>
            <a:endParaRPr lang="en-US"/>
          </a:p>
        </p:txBody>
      </p:sp>
      <p:pic>
        <p:nvPicPr>
          <p:cNvPr id="40" name="Image 12" descr="gen-dedup-ec7913c77fa2db42f3e898c22d604bf4.png"/>
          <p:cNvPicPr>
            <a:picLocks noChangeAspect="1"/>
          </p:cNvPicPr>
          <p:nvPr/>
        </p:nvPicPr>
        <p:blipFill>
          <a:blip r:embed="rId11"/>
          <a:srcRect t="-28914" b="-28914"/>
          <a:stretch/>
        </p:blipFill>
        <p:spPr>
          <a:xfrm>
            <a:off x="7398844" y="1895244"/>
            <a:ext cx="289681" cy="365760"/>
          </a:xfrm>
          <a:prstGeom prst="rect">
            <a:avLst/>
          </a:prstGeom>
        </p:spPr>
      </p:pic>
      <p:sp>
        <p:nvSpPr>
          <p:cNvPr id="41" name="Text 26"/>
          <p:cNvSpPr txBox="1"/>
          <p:nvPr/>
        </p:nvSpPr>
        <p:spPr>
          <a:xfrm>
            <a:off x="6344107" y="2505456"/>
            <a:ext cx="2400300" cy="286207"/>
          </a:xfrm>
          <a:prstGeom prst="rect">
            <a:avLst/>
          </a:prstGeom>
          <a:noFill/>
          <a:ln/>
        </p:spPr>
        <p:txBody>
          <a:bodyPr wrap="none" lIns="0" tIns="0" rIns="0" bIns="0" rtlCol="0" anchor="ctr"/>
          <a:lstStyle/>
          <a:p>
            <a:pPr marL="0" indent="0" algn="ctr">
              <a:buNone/>
            </a:pPr>
            <a:r>
              <a:rPr lang="en-US" sz="2000" b="1" dirty="0">
                <a:solidFill>
                  <a:srgbClr val="1F2937"/>
                </a:solidFill>
                <a:latin typeface="Oswald" pitchFamily="34" charset="0"/>
                <a:ea typeface="Oswald" pitchFamily="34" charset="-122"/>
                <a:cs typeface="Oswald" pitchFamily="34" charset="-120"/>
              </a:rPr>
              <a:t>Operate.</a:t>
            </a:r>
            <a:endParaRPr lang="en-US" sz="2000" dirty="0"/>
          </a:p>
        </p:txBody>
      </p:sp>
      <p:sp>
        <p:nvSpPr>
          <p:cNvPr id="42" name="Text 27"/>
          <p:cNvSpPr txBox="1"/>
          <p:nvPr/>
        </p:nvSpPr>
        <p:spPr>
          <a:xfrm>
            <a:off x="6344107" y="2968854"/>
            <a:ext cx="2400300" cy="152705"/>
          </a:xfrm>
          <a:prstGeom prst="rect">
            <a:avLst/>
          </a:prstGeom>
          <a:noFill/>
          <a:ln/>
        </p:spPr>
        <p:txBody>
          <a:bodyPr wrap="none" lIns="0" tIns="0" rIns="0" bIns="0" rtlCol="0" anchor="ctr"/>
          <a:lstStyle/>
          <a:p>
            <a:pPr marL="0" indent="0" algn="ctr">
              <a:buNone/>
            </a:pPr>
            <a:r>
              <a:rPr lang="en-US" sz="1300" b="1" dirty="0">
                <a:solidFill>
                  <a:srgbClr val="2A9D8F"/>
                </a:solidFill>
                <a:latin typeface="Roboto Condensed" pitchFamily="34" charset="0"/>
                <a:ea typeface="Roboto Condensed" pitchFamily="34" charset="-122"/>
                <a:cs typeface="Roboto Condensed" pitchFamily="34" charset="-120"/>
              </a:rPr>
              <a:t>Month 2 onward</a:t>
            </a:r>
            <a:endParaRPr lang="en-US" sz="1300" dirty="0"/>
          </a:p>
        </p:txBody>
      </p:sp>
      <p:sp>
        <p:nvSpPr>
          <p:cNvPr id="43" name="Text 28"/>
          <p:cNvSpPr txBox="1"/>
          <p:nvPr/>
        </p:nvSpPr>
        <p:spPr>
          <a:xfrm>
            <a:off x="6344107" y="3195725"/>
            <a:ext cx="2309775" cy="1390802"/>
          </a:xfrm>
          <a:prstGeom prst="rect">
            <a:avLst/>
          </a:prstGeom>
          <a:noFill/>
          <a:ln/>
        </p:spPr>
        <p:txBody>
          <a:bodyPr wrap="square" lIns="0" tIns="0" rIns="0" bIns="0" rtlCol="0" anchor="ctr"/>
          <a:lstStyle/>
          <a:p>
            <a:pPr marL="0" indent="0" algn="ctr">
              <a:buNone/>
            </a:pPr>
            <a:r>
              <a:rPr lang="en-US" sz="1200" dirty="0">
                <a:solidFill>
                  <a:srgbClr val="4B5563"/>
                </a:solidFill>
                <a:latin typeface="Raleway" pitchFamily="34" charset="0"/>
                <a:ea typeface="Raleway" pitchFamily="34" charset="-122"/>
                <a:cs typeface="Raleway" pitchFamily="34" charset="-120"/>
              </a:rPr>
              <a:t>Forward-deployed engineers run AI inside your enterprise and don't rotate off. The context, accountability, and institutional memory stay with you.</a:t>
            </a:r>
            <a:endParaRPr lang="en-US" sz="1200" dirty="0"/>
          </a:p>
        </p:txBody>
      </p:sp>
      <p:sp>
        <p:nvSpPr>
          <p:cNvPr id="44" name="Text 29"/>
          <p:cNvSpPr txBox="1"/>
          <p:nvPr/>
        </p:nvSpPr>
        <p:spPr>
          <a:xfrm>
            <a:off x="8051292" y="1687137"/>
            <a:ext cx="607162" cy="457200"/>
          </a:xfrm>
          <a:prstGeom prst="rect">
            <a:avLst/>
          </a:prstGeom>
          <a:noFill/>
          <a:ln/>
        </p:spPr>
        <p:txBody>
          <a:bodyPr wrap="none" lIns="0" tIns="0" rIns="0" bIns="0" rtlCol="0" anchor="ctr"/>
          <a:lstStyle/>
          <a:p>
            <a:pPr marL="0" indent="0" algn="r">
              <a:buNone/>
            </a:pPr>
            <a:r>
              <a:rPr lang="en-US" sz="3600" b="1" dirty="0">
                <a:solidFill>
                  <a:srgbClr val="2A9D8F">
                    <a:alpha val="8000"/>
                  </a:srgbClr>
                </a:solidFill>
                <a:latin typeface="Oswald" pitchFamily="34" charset="0"/>
                <a:ea typeface="Oswald" pitchFamily="34" charset="-122"/>
                <a:cs typeface="Oswald" pitchFamily="34" charset="-120"/>
              </a:rPr>
              <a:t>03</a:t>
            </a:r>
            <a:endParaRPr lang="en-US" sz="3600" dirty="0"/>
          </a:p>
        </p:txBody>
      </p:sp>
      <p:sp>
        <p:nvSpPr>
          <p:cNvPr id="45" name="Shape 30"/>
          <p:cNvSpPr/>
          <p:nvPr/>
        </p:nvSpPr>
        <p:spPr>
          <a:xfrm>
            <a:off x="10096805" y="1819656"/>
            <a:ext cx="533095" cy="533095"/>
          </a:xfrm>
          <a:prstGeom prst="ellipse">
            <a:avLst/>
          </a:prstGeom>
          <a:solidFill>
            <a:srgbClr val="D62839">
              <a:alpha val="10000"/>
            </a:srgbClr>
          </a:solidFill>
          <a:ln w="12700">
            <a:solidFill>
              <a:srgbClr val="FFFFFF">
                <a:alpha val="0"/>
              </a:srgbClr>
            </a:solidFill>
            <a:prstDash val="solid"/>
          </a:ln>
        </p:spPr>
        <p:txBody>
          <a:bodyPr/>
          <a:lstStyle/>
          <a:p>
            <a:endParaRPr lang="en-US"/>
          </a:p>
        </p:txBody>
      </p:sp>
      <p:pic>
        <p:nvPicPr>
          <p:cNvPr id="46" name="Image 13" descr="gen-dedup-9fd551ffaf14ed4b68fb6cf808d818cf.png"/>
          <p:cNvPicPr>
            <a:picLocks noChangeAspect="1"/>
          </p:cNvPicPr>
          <p:nvPr/>
        </p:nvPicPr>
        <p:blipFill>
          <a:blip r:embed="rId12"/>
          <a:srcRect t="-13131" b="-13131"/>
          <a:stretch/>
        </p:blipFill>
        <p:spPr>
          <a:xfrm>
            <a:off x="10272370" y="1971446"/>
            <a:ext cx="181051" cy="228600"/>
          </a:xfrm>
          <a:prstGeom prst="rect">
            <a:avLst/>
          </a:prstGeom>
        </p:spPr>
      </p:pic>
      <p:sp>
        <p:nvSpPr>
          <p:cNvPr id="47" name="Text 31"/>
          <p:cNvSpPr txBox="1"/>
          <p:nvPr/>
        </p:nvSpPr>
        <p:spPr>
          <a:xfrm>
            <a:off x="9163202" y="2505456"/>
            <a:ext cx="2400300" cy="286207"/>
          </a:xfrm>
          <a:prstGeom prst="rect">
            <a:avLst/>
          </a:prstGeom>
          <a:noFill/>
          <a:ln/>
        </p:spPr>
        <p:txBody>
          <a:bodyPr wrap="none" lIns="0" tIns="0" rIns="0" bIns="0" rtlCol="0" anchor="ctr"/>
          <a:lstStyle/>
          <a:p>
            <a:pPr marL="0" indent="0" algn="ctr">
              <a:buNone/>
            </a:pPr>
            <a:r>
              <a:rPr lang="en-US" sz="2000" b="1" dirty="0">
                <a:solidFill>
                  <a:srgbClr val="1F2937"/>
                </a:solidFill>
                <a:latin typeface="Oswald" pitchFamily="34" charset="0"/>
                <a:ea typeface="Oswald" pitchFamily="34" charset="-122"/>
                <a:cs typeface="Oswald" pitchFamily="34" charset="-120"/>
              </a:rPr>
              <a:t>Compound.</a:t>
            </a:r>
            <a:endParaRPr lang="en-US" sz="2000" dirty="0"/>
          </a:p>
        </p:txBody>
      </p:sp>
      <p:sp>
        <p:nvSpPr>
          <p:cNvPr id="48" name="Text 32"/>
          <p:cNvSpPr txBox="1"/>
          <p:nvPr/>
        </p:nvSpPr>
        <p:spPr>
          <a:xfrm>
            <a:off x="9163202" y="2968854"/>
            <a:ext cx="2400300" cy="152705"/>
          </a:xfrm>
          <a:prstGeom prst="rect">
            <a:avLst/>
          </a:prstGeom>
          <a:noFill/>
          <a:ln/>
        </p:spPr>
        <p:txBody>
          <a:bodyPr wrap="none" lIns="0" tIns="0" rIns="0" bIns="0" rtlCol="0" anchor="ctr"/>
          <a:lstStyle/>
          <a:p>
            <a:pPr marL="0" indent="0" algn="ctr">
              <a:buNone/>
            </a:pPr>
            <a:r>
              <a:rPr lang="en-US" sz="1300" b="1" dirty="0">
                <a:solidFill>
                  <a:srgbClr val="D62839"/>
                </a:solidFill>
                <a:latin typeface="Roboto Condensed" pitchFamily="34" charset="0"/>
                <a:ea typeface="Roboto Condensed" pitchFamily="34" charset="-122"/>
                <a:cs typeface="Roboto Condensed" pitchFamily="34" charset="-120"/>
              </a:rPr>
              <a:t>Year one &amp; beyond</a:t>
            </a:r>
            <a:endParaRPr lang="en-US" sz="1300" dirty="0"/>
          </a:p>
        </p:txBody>
      </p:sp>
      <p:sp>
        <p:nvSpPr>
          <p:cNvPr id="49" name="Text 33"/>
          <p:cNvSpPr txBox="1"/>
          <p:nvPr/>
        </p:nvSpPr>
        <p:spPr>
          <a:xfrm>
            <a:off x="9163202" y="3285235"/>
            <a:ext cx="2309775" cy="1219810"/>
          </a:xfrm>
          <a:prstGeom prst="rect">
            <a:avLst/>
          </a:prstGeom>
          <a:noFill/>
          <a:ln/>
        </p:spPr>
        <p:txBody>
          <a:bodyPr wrap="square" lIns="0" tIns="0" rIns="0" bIns="0" rtlCol="0" anchor="ctr"/>
          <a:lstStyle/>
          <a:p>
            <a:pPr marL="0" indent="0" algn="ctr">
              <a:buNone/>
            </a:pPr>
            <a:r>
              <a:rPr lang="en-US" sz="1200" dirty="0">
                <a:solidFill>
                  <a:srgbClr val="4B5563"/>
                </a:solidFill>
                <a:latin typeface="Raleway" pitchFamily="34" charset="0"/>
                <a:ea typeface="Raleway" pitchFamily="34" charset="-122"/>
                <a:cs typeface="Raleway" pitchFamily="34" charset="-120"/>
              </a:rPr>
              <a:t>Every problem solved sharpens the platform. The system gets smarter as you scale — outcomes that compound while you sleep.</a:t>
            </a:r>
            <a:endParaRPr lang="en-US" sz="1200" dirty="0"/>
          </a:p>
        </p:txBody>
      </p:sp>
      <p:sp>
        <p:nvSpPr>
          <p:cNvPr id="50" name="Text 34"/>
          <p:cNvSpPr txBox="1"/>
          <p:nvPr/>
        </p:nvSpPr>
        <p:spPr>
          <a:xfrm>
            <a:off x="10865815" y="1687137"/>
            <a:ext cx="607162" cy="457200"/>
          </a:xfrm>
          <a:prstGeom prst="rect">
            <a:avLst/>
          </a:prstGeom>
          <a:noFill/>
          <a:ln/>
        </p:spPr>
        <p:txBody>
          <a:bodyPr wrap="none" lIns="0" tIns="0" rIns="0" bIns="0" rtlCol="0" anchor="ctr"/>
          <a:lstStyle/>
          <a:p>
            <a:pPr marL="0" indent="0" algn="r">
              <a:buNone/>
            </a:pPr>
            <a:r>
              <a:rPr lang="en-US" sz="3600" b="1" dirty="0">
                <a:solidFill>
                  <a:srgbClr val="D62839">
                    <a:alpha val="8000"/>
                  </a:srgbClr>
                </a:solidFill>
                <a:latin typeface="Oswald" pitchFamily="34" charset="0"/>
                <a:ea typeface="Oswald" pitchFamily="34" charset="-122"/>
                <a:cs typeface="Oswald" pitchFamily="34" charset="-120"/>
              </a:rPr>
              <a:t>04</a:t>
            </a:r>
            <a:endParaRPr lang="en-US" sz="3600" dirty="0"/>
          </a:p>
        </p:txBody>
      </p:sp>
      <p:sp>
        <p:nvSpPr>
          <p:cNvPr id="51" name="Text 35"/>
          <p:cNvSpPr txBox="1"/>
          <p:nvPr/>
        </p:nvSpPr>
        <p:spPr>
          <a:xfrm>
            <a:off x="914400" y="6048756"/>
            <a:ext cx="10401300" cy="428854"/>
          </a:xfrm>
          <a:prstGeom prst="rect">
            <a:avLst/>
          </a:prstGeom>
          <a:noFill/>
          <a:ln/>
        </p:spPr>
        <p:txBody>
          <a:bodyPr wrap="square" lIns="0" tIns="0" rIns="0" bIns="0" rtlCol="0" anchor="ctr"/>
          <a:lstStyle/>
          <a:p>
            <a:pPr marL="0" indent="0" algn="ctr">
              <a:buNone/>
            </a:pPr>
            <a:r>
              <a:rPr lang="en-US" sz="1300" b="1" dirty="0">
                <a:solidFill>
                  <a:srgbClr val="2A9D8F"/>
                </a:solidFill>
                <a:latin typeface="Raleway" pitchFamily="34" charset="0"/>
                <a:ea typeface="Raleway" pitchFamily="34" charset="-122"/>
                <a:cs typeface="Raleway" pitchFamily="34" charset="-120"/>
              </a:rPr>
              <a:t>Your business is our GTM.</a:t>
            </a:r>
            <a:r>
              <a:rPr lang="en-US" sz="1300" b="1" dirty="0">
                <a:solidFill>
                  <a:srgbClr val="1F2937"/>
                </a:solidFill>
                <a:latin typeface="Raleway" pitchFamily="34" charset="0"/>
                <a:ea typeface="Raleway" pitchFamily="34" charset="-122"/>
                <a:cs typeface="Raleway" pitchFamily="34" charset="-120"/>
              </a:rPr>
              <a:t> We build with you, so your teams actually adopt, use, and grow everything we create together - not just receive it.</a:t>
            </a:r>
            <a:endParaRPr lang="en-US" sz="1300" dirty="0"/>
          </a:p>
        </p:txBody>
      </p:sp>
    </p:spTree>
    <p:extLst>
      <p:ext uri="{BB962C8B-B14F-4D97-AF65-F5344CB8AC3E}">
        <p14:creationId xmlns:p14="http://schemas.microsoft.com/office/powerpoint/2010/main" val="1775765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8953805" y="-571500"/>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pic>
        <p:nvPicPr>
          <p:cNvPr id="5" name="Image 0" descr="gen-dedup-5e765734fa6996e94526269805e72083.png"/>
          <p:cNvPicPr>
            <a:picLocks noChangeAspect="1"/>
          </p:cNvPicPr>
          <p:nvPr/>
        </p:nvPicPr>
        <p:blipFill>
          <a:blip r:embed="rId3">
            <a:alphaModFix amt="5000"/>
          </a:blip>
          <a:srcRect/>
          <a:stretch/>
        </p:blipFill>
        <p:spPr>
          <a:xfrm>
            <a:off x="-381305" y="4095598"/>
            <a:ext cx="2381098" cy="2381098"/>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pic>
        <p:nvPicPr>
          <p:cNvPr id="8" name="Image 3" descr="gen-dedup-ef527bea2207a14ec6e8d4c8ae9cdc45.png"/>
          <p:cNvPicPr>
            <a:picLocks noChangeAspect="1"/>
          </p:cNvPicPr>
          <p:nvPr/>
        </p:nvPicPr>
        <p:blipFill>
          <a:blip r:embed="rId6"/>
          <a:srcRect l="-384" r="-384"/>
          <a:stretch/>
        </p:blipFill>
        <p:spPr>
          <a:xfrm>
            <a:off x="609905" y="743407"/>
            <a:ext cx="57607" cy="476402"/>
          </a:xfrm>
          <a:prstGeom prst="rect">
            <a:avLst/>
          </a:prstGeom>
        </p:spPr>
      </p:pic>
      <p:sp>
        <p:nvSpPr>
          <p:cNvPr id="9" name="Shape 3"/>
          <p:cNvSpPr/>
          <p:nvPr/>
        </p:nvSpPr>
        <p:spPr>
          <a:xfrm>
            <a:off x="609905" y="1714500"/>
            <a:ext cx="3448202" cy="1772107"/>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0" name="Shape 4"/>
          <p:cNvSpPr/>
          <p:nvPr/>
        </p:nvSpPr>
        <p:spPr>
          <a:xfrm>
            <a:off x="609905" y="1714500"/>
            <a:ext cx="3448202" cy="47549"/>
          </a:xfrm>
          <a:prstGeom prst="roundRect">
            <a:avLst>
              <a:gd name="adj" fmla="val 165425"/>
            </a:avLst>
          </a:prstGeom>
          <a:solidFill>
            <a:srgbClr val="2A9D8F"/>
          </a:solidFill>
          <a:ln w="12700">
            <a:solidFill>
              <a:srgbClr val="2A9D8F">
                <a:alpha val="0"/>
              </a:srgbClr>
            </a:solidFill>
            <a:prstDash val="solid"/>
          </a:ln>
        </p:spPr>
        <p:txBody>
          <a:bodyPr/>
          <a:lstStyle/>
          <a:p>
            <a:endParaRPr lang="en-US"/>
          </a:p>
        </p:txBody>
      </p:sp>
      <p:sp>
        <p:nvSpPr>
          <p:cNvPr id="11" name="Shape 5"/>
          <p:cNvSpPr/>
          <p:nvPr/>
        </p:nvSpPr>
        <p:spPr>
          <a:xfrm>
            <a:off x="4381805" y="1714500"/>
            <a:ext cx="3448202" cy="1772107"/>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2" name="Shape 6"/>
          <p:cNvSpPr/>
          <p:nvPr/>
        </p:nvSpPr>
        <p:spPr>
          <a:xfrm>
            <a:off x="4381805" y="1714500"/>
            <a:ext cx="3448202" cy="47549"/>
          </a:xfrm>
          <a:prstGeom prst="roundRect">
            <a:avLst>
              <a:gd name="adj" fmla="val 165425"/>
            </a:avLst>
          </a:prstGeom>
          <a:solidFill>
            <a:srgbClr val="D62839"/>
          </a:solidFill>
          <a:ln w="12700">
            <a:solidFill>
              <a:srgbClr val="D62839">
                <a:alpha val="0"/>
              </a:srgbClr>
            </a:solidFill>
            <a:prstDash val="solid"/>
          </a:ln>
        </p:spPr>
        <p:txBody>
          <a:bodyPr/>
          <a:lstStyle/>
          <a:p>
            <a:endParaRPr lang="en-US"/>
          </a:p>
        </p:txBody>
      </p:sp>
      <p:sp>
        <p:nvSpPr>
          <p:cNvPr id="13" name="Shape 7"/>
          <p:cNvSpPr/>
          <p:nvPr/>
        </p:nvSpPr>
        <p:spPr>
          <a:xfrm>
            <a:off x="8153705" y="1714500"/>
            <a:ext cx="3448202" cy="1772107"/>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4" name="Shape 8"/>
          <p:cNvSpPr/>
          <p:nvPr/>
        </p:nvSpPr>
        <p:spPr>
          <a:xfrm>
            <a:off x="8153705" y="1714500"/>
            <a:ext cx="3448202" cy="47549"/>
          </a:xfrm>
          <a:prstGeom prst="roundRect">
            <a:avLst>
              <a:gd name="adj" fmla="val 165425"/>
            </a:avLst>
          </a:prstGeom>
          <a:solidFill>
            <a:srgbClr val="2A9D8F"/>
          </a:solidFill>
          <a:ln w="12700">
            <a:solidFill>
              <a:srgbClr val="2A9D8F">
                <a:alpha val="0"/>
              </a:srgbClr>
            </a:solidFill>
            <a:prstDash val="solid"/>
          </a:ln>
        </p:spPr>
        <p:txBody>
          <a:bodyPr/>
          <a:lstStyle/>
          <a:p>
            <a:endParaRPr lang="en-US"/>
          </a:p>
        </p:txBody>
      </p:sp>
      <p:sp>
        <p:nvSpPr>
          <p:cNvPr id="15" name="Shape 9"/>
          <p:cNvSpPr/>
          <p:nvPr/>
        </p:nvSpPr>
        <p:spPr>
          <a:xfrm>
            <a:off x="2495398" y="3619195"/>
            <a:ext cx="3448202" cy="1772107"/>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6" name="Shape 10"/>
          <p:cNvSpPr/>
          <p:nvPr/>
        </p:nvSpPr>
        <p:spPr>
          <a:xfrm>
            <a:off x="2495398" y="3619195"/>
            <a:ext cx="3448202" cy="47549"/>
          </a:xfrm>
          <a:prstGeom prst="roundRect">
            <a:avLst>
              <a:gd name="adj" fmla="val 165425"/>
            </a:avLst>
          </a:prstGeom>
          <a:solidFill>
            <a:srgbClr val="D62839"/>
          </a:solidFill>
          <a:ln w="12700">
            <a:solidFill>
              <a:srgbClr val="D62839">
                <a:alpha val="0"/>
              </a:srgbClr>
            </a:solidFill>
            <a:prstDash val="solid"/>
          </a:ln>
        </p:spPr>
        <p:txBody>
          <a:bodyPr/>
          <a:lstStyle/>
          <a:p>
            <a:endParaRPr lang="en-US"/>
          </a:p>
        </p:txBody>
      </p:sp>
      <p:sp>
        <p:nvSpPr>
          <p:cNvPr id="17" name="Shape 11"/>
          <p:cNvSpPr/>
          <p:nvPr/>
        </p:nvSpPr>
        <p:spPr>
          <a:xfrm>
            <a:off x="6267298" y="3619195"/>
            <a:ext cx="3448202" cy="1772107"/>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8" name="Shape 12"/>
          <p:cNvSpPr/>
          <p:nvPr/>
        </p:nvSpPr>
        <p:spPr>
          <a:xfrm>
            <a:off x="6267298" y="3619195"/>
            <a:ext cx="3448202" cy="47549"/>
          </a:xfrm>
          <a:prstGeom prst="roundRect">
            <a:avLst>
              <a:gd name="adj" fmla="val 165425"/>
            </a:avLst>
          </a:prstGeom>
          <a:solidFill>
            <a:srgbClr val="2A9D8F"/>
          </a:solidFill>
          <a:ln w="12700">
            <a:solidFill>
              <a:srgbClr val="2A9D8F">
                <a:alpha val="0"/>
              </a:srgbClr>
            </a:solidFill>
            <a:prstDash val="solid"/>
          </a:ln>
        </p:spPr>
        <p:txBody>
          <a:bodyPr/>
          <a:lstStyle/>
          <a:p>
            <a:endParaRPr lang="en-US"/>
          </a:p>
        </p:txBody>
      </p:sp>
      <p:sp>
        <p:nvSpPr>
          <p:cNvPr id="19" name="Shape 13"/>
          <p:cNvSpPr/>
          <p:nvPr/>
        </p:nvSpPr>
        <p:spPr>
          <a:xfrm>
            <a:off x="609905" y="5572354"/>
            <a:ext cx="10972800" cy="571500"/>
          </a:xfrm>
          <a:prstGeom prst="roundRect">
            <a:avLst>
              <a:gd name="adj" fmla="val 42667"/>
            </a:avLst>
          </a:prstGeom>
          <a:solidFill>
            <a:srgbClr val="111827"/>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en-US"/>
          </a:p>
        </p:txBody>
      </p:sp>
      <p:pic>
        <p:nvPicPr>
          <p:cNvPr id="20" name="Image 4" descr="gen-dedup-fcfcca745fa5c1c832fd66175382f504.png"/>
          <p:cNvPicPr>
            <a:picLocks noChangeAspect="1"/>
          </p:cNvPicPr>
          <p:nvPr/>
        </p:nvPicPr>
        <p:blipFill>
          <a:blip r:embed="rId7"/>
          <a:srcRect l="-2083" r="-2083"/>
          <a:stretch/>
        </p:blipFill>
        <p:spPr>
          <a:xfrm>
            <a:off x="609905" y="6286500"/>
            <a:ext cx="10972800" cy="9144"/>
          </a:xfrm>
          <a:prstGeom prst="rect">
            <a:avLst/>
          </a:prstGeom>
        </p:spPr>
      </p:pic>
      <p:sp>
        <p:nvSpPr>
          <p:cNvPr id="21" name="Text 14"/>
          <p:cNvSpPr txBox="1"/>
          <p:nvPr/>
        </p:nvSpPr>
        <p:spPr>
          <a:xfrm>
            <a:off x="819302" y="666598"/>
            <a:ext cx="5715000" cy="381305"/>
          </a:xfrm>
          <a:prstGeom prst="rect">
            <a:avLst/>
          </a:prstGeom>
          <a:noFill/>
          <a:ln/>
        </p:spPr>
        <p:txBody>
          <a:bodyPr wrap="none" lIns="0" tIns="0" rIns="0" bIns="0" rtlCol="0" anchor="ctr"/>
          <a:lstStyle/>
          <a:p>
            <a:pPr marL="0" indent="0" algn="l">
              <a:buNone/>
            </a:pPr>
            <a:r>
              <a:rPr lang="en-US" sz="2700" b="1" dirty="0">
                <a:solidFill>
                  <a:srgbClr val="111827"/>
                </a:solidFill>
                <a:latin typeface="Oswald" pitchFamily="34" charset="0"/>
                <a:ea typeface="Oswald" pitchFamily="34" charset="-122"/>
                <a:cs typeface="Oswald" pitchFamily="34" charset="-120"/>
              </a:rPr>
              <a:t>WHAT WE OWN</a:t>
            </a:r>
            <a:endParaRPr lang="en-US" sz="2700" dirty="0"/>
          </a:p>
        </p:txBody>
      </p:sp>
      <p:sp>
        <p:nvSpPr>
          <p:cNvPr id="22" name="Text 15"/>
          <p:cNvSpPr txBox="1"/>
          <p:nvPr/>
        </p:nvSpPr>
        <p:spPr>
          <a:xfrm>
            <a:off x="819302" y="1100938"/>
            <a:ext cx="5715000" cy="200254"/>
          </a:xfrm>
          <a:prstGeom prst="rect">
            <a:avLst/>
          </a:prstGeom>
          <a:noFill/>
          <a:ln/>
        </p:spPr>
        <p:txBody>
          <a:bodyPr wrap="none" lIns="0" tIns="0" rIns="0" bIns="0" rtlCol="0" anchor="ctr"/>
          <a:lstStyle/>
          <a:p>
            <a:pPr marL="0" indent="0" algn="l">
              <a:buNone/>
            </a:pPr>
            <a:r>
              <a:rPr lang="en-US" sz="1300" b="1" kern="0" spc="68" dirty="0">
                <a:solidFill>
                  <a:srgbClr val="2A9D8F"/>
                </a:solidFill>
                <a:latin typeface="Roboto Condensed" pitchFamily="34" charset="0"/>
                <a:ea typeface="Roboto Condensed" pitchFamily="34" charset="-122"/>
                <a:cs typeface="Roboto Condensed" pitchFamily="34" charset="-120"/>
              </a:rPr>
              <a:t>The proprietary stack - our moat</a:t>
            </a:r>
            <a:endParaRPr lang="en-US" sz="1300" dirty="0"/>
          </a:p>
        </p:txBody>
      </p:sp>
      <p:sp>
        <p:nvSpPr>
          <p:cNvPr id="23" name="Shape 16"/>
          <p:cNvSpPr/>
          <p:nvPr/>
        </p:nvSpPr>
        <p:spPr>
          <a:xfrm>
            <a:off x="800100" y="1952244"/>
            <a:ext cx="304495" cy="304495"/>
          </a:xfrm>
          <a:prstGeom prst="roundRect">
            <a:avLst>
              <a:gd name="adj" fmla="val 112613"/>
            </a:avLst>
          </a:prstGeom>
          <a:solidFill>
            <a:srgbClr val="F0FDFA"/>
          </a:solidFill>
          <a:ln w="12700">
            <a:solidFill>
              <a:srgbClr val="FFFFFF">
                <a:alpha val="0"/>
              </a:srgbClr>
            </a:solidFill>
            <a:prstDash val="solid"/>
          </a:ln>
        </p:spPr>
        <p:txBody>
          <a:bodyPr/>
          <a:lstStyle/>
          <a:p>
            <a:endParaRPr lang="en-US"/>
          </a:p>
        </p:txBody>
      </p:sp>
      <p:pic>
        <p:nvPicPr>
          <p:cNvPr id="24" name="Image 5" descr="gen-dedup-354148c7dfe2ece024d9587c6b984377.png"/>
          <p:cNvPicPr>
            <a:picLocks noChangeAspect="1"/>
          </p:cNvPicPr>
          <p:nvPr/>
        </p:nvPicPr>
        <p:blipFill>
          <a:blip r:embed="rId8"/>
          <a:srcRect t="-16800" b="-16800"/>
          <a:stretch/>
        </p:blipFill>
        <p:spPr>
          <a:xfrm>
            <a:off x="895198" y="2029054"/>
            <a:ext cx="114300" cy="152705"/>
          </a:xfrm>
          <a:prstGeom prst="rect">
            <a:avLst/>
          </a:prstGeom>
        </p:spPr>
      </p:pic>
      <p:sp>
        <p:nvSpPr>
          <p:cNvPr id="25" name="Text 17"/>
          <p:cNvSpPr txBox="1"/>
          <p:nvPr/>
        </p:nvSpPr>
        <p:spPr>
          <a:xfrm>
            <a:off x="1238098" y="1952244"/>
            <a:ext cx="2572207" cy="305410"/>
          </a:xfrm>
          <a:prstGeom prst="rect">
            <a:avLst/>
          </a:prstGeom>
          <a:noFill/>
          <a:ln/>
        </p:spPr>
        <p:txBody>
          <a:bodyPr wrap="none" lIns="0" tIns="0" rIns="0" bIns="0" rtlCol="0" anchor="ctr"/>
          <a:lstStyle/>
          <a:p>
            <a:pPr marL="0" indent="0" algn="l">
              <a:buNone/>
            </a:pPr>
            <a:r>
              <a:rPr lang="en-US" sz="1500" b="1" dirty="0">
                <a:solidFill>
                  <a:srgbClr val="111827"/>
                </a:solidFill>
                <a:latin typeface="Oswald" pitchFamily="34" charset="0"/>
                <a:ea typeface="Oswald" pitchFamily="34" charset="-122"/>
                <a:cs typeface="Oswald" pitchFamily="34" charset="-120"/>
              </a:rPr>
              <a:t>J2W Premier Lounge</a:t>
            </a:r>
            <a:endParaRPr lang="en-US" sz="1500" dirty="0"/>
          </a:p>
        </p:txBody>
      </p:sp>
      <p:sp>
        <p:nvSpPr>
          <p:cNvPr id="26" name="Text 18"/>
          <p:cNvSpPr txBox="1"/>
          <p:nvPr/>
        </p:nvSpPr>
        <p:spPr>
          <a:xfrm>
            <a:off x="800100" y="2428646"/>
            <a:ext cx="3048610" cy="457200"/>
          </a:xfrm>
          <a:prstGeom prst="rect">
            <a:avLst/>
          </a:prstGeom>
          <a:noFill/>
          <a:ln/>
        </p:spPr>
        <p:txBody>
          <a:bodyPr wrap="square" lIns="0" tIns="0" rIns="0" bIns="0" rtlCol="0" anchor="ctr"/>
          <a:lstStyle/>
          <a:p>
            <a:pPr marL="0" indent="0" algn="l">
              <a:buNone/>
            </a:pPr>
            <a:r>
              <a:rPr lang="en-US" sz="1200" dirty="0">
                <a:solidFill>
                  <a:srgbClr val="4B5563"/>
                </a:solidFill>
                <a:latin typeface="Raleway" pitchFamily="34" charset="0"/>
                <a:ea typeface="Raleway" pitchFamily="34" charset="-122"/>
                <a:cs typeface="Raleway" pitchFamily="34" charset="-120"/>
              </a:rPr>
              <a:t>Curated network of vetted experts - instant access to scarce skills.</a:t>
            </a:r>
            <a:endParaRPr lang="en-US" sz="1200" dirty="0"/>
          </a:p>
        </p:txBody>
      </p:sp>
      <p:sp>
        <p:nvSpPr>
          <p:cNvPr id="27" name="Shape 19"/>
          <p:cNvSpPr/>
          <p:nvPr/>
        </p:nvSpPr>
        <p:spPr>
          <a:xfrm>
            <a:off x="4572000" y="1952244"/>
            <a:ext cx="304495" cy="304495"/>
          </a:xfrm>
          <a:prstGeom prst="roundRect">
            <a:avLst>
              <a:gd name="adj" fmla="val 112613"/>
            </a:avLst>
          </a:prstGeom>
          <a:solidFill>
            <a:srgbClr val="FEF2F2"/>
          </a:solidFill>
          <a:ln w="12700">
            <a:solidFill>
              <a:srgbClr val="FFFFFF">
                <a:alpha val="0"/>
              </a:srgbClr>
            </a:solidFill>
            <a:prstDash val="solid"/>
          </a:ln>
        </p:spPr>
        <p:txBody>
          <a:bodyPr/>
          <a:lstStyle/>
          <a:p>
            <a:endParaRPr lang="en-US"/>
          </a:p>
        </p:txBody>
      </p:sp>
      <p:pic>
        <p:nvPicPr>
          <p:cNvPr id="28" name="Image 6" descr="gen-dedup-8653d22c8fc2d1668da8a16f36629000.png"/>
          <p:cNvPicPr>
            <a:picLocks noChangeAspect="1"/>
          </p:cNvPicPr>
          <p:nvPr/>
        </p:nvPicPr>
        <p:blipFill>
          <a:blip r:embed="rId9"/>
          <a:srcRect t="-25150" b="-25150"/>
          <a:stretch/>
        </p:blipFill>
        <p:spPr>
          <a:xfrm>
            <a:off x="4667098" y="2029054"/>
            <a:ext cx="114300" cy="152705"/>
          </a:xfrm>
          <a:prstGeom prst="rect">
            <a:avLst/>
          </a:prstGeom>
        </p:spPr>
      </p:pic>
      <p:sp>
        <p:nvSpPr>
          <p:cNvPr id="29" name="Text 20"/>
          <p:cNvSpPr txBox="1"/>
          <p:nvPr/>
        </p:nvSpPr>
        <p:spPr>
          <a:xfrm>
            <a:off x="5009998" y="1952244"/>
            <a:ext cx="2572207" cy="305410"/>
          </a:xfrm>
          <a:prstGeom prst="rect">
            <a:avLst/>
          </a:prstGeom>
          <a:noFill/>
          <a:ln/>
        </p:spPr>
        <p:txBody>
          <a:bodyPr wrap="none" lIns="0" tIns="0" rIns="0" bIns="0" rtlCol="0" anchor="ctr"/>
          <a:lstStyle/>
          <a:p>
            <a:pPr marL="0" indent="0" algn="l">
              <a:buNone/>
            </a:pPr>
            <a:r>
              <a:rPr lang="en-US" sz="1500" b="1" dirty="0">
                <a:solidFill>
                  <a:srgbClr val="111827"/>
                </a:solidFill>
                <a:latin typeface="Oswald" pitchFamily="34" charset="0"/>
                <a:ea typeface="Oswald" pitchFamily="34" charset="-122"/>
                <a:cs typeface="Oswald" pitchFamily="34" charset="-120"/>
              </a:rPr>
              <a:t>J2W OfferLetter</a:t>
            </a:r>
            <a:endParaRPr lang="en-US" sz="1500" dirty="0"/>
          </a:p>
        </p:txBody>
      </p:sp>
      <p:sp>
        <p:nvSpPr>
          <p:cNvPr id="30" name="Text 21"/>
          <p:cNvSpPr txBox="1"/>
          <p:nvPr/>
        </p:nvSpPr>
        <p:spPr>
          <a:xfrm>
            <a:off x="4572000" y="2428646"/>
            <a:ext cx="3048610" cy="457200"/>
          </a:xfrm>
          <a:prstGeom prst="rect">
            <a:avLst/>
          </a:prstGeom>
          <a:noFill/>
          <a:ln/>
        </p:spPr>
        <p:txBody>
          <a:bodyPr wrap="square" lIns="0" tIns="0" rIns="0" bIns="0" rtlCol="0" anchor="ctr"/>
          <a:lstStyle/>
          <a:p>
            <a:pPr marL="0" indent="0" algn="l">
              <a:buNone/>
            </a:pPr>
            <a:r>
              <a:rPr lang="en-US" sz="1200" dirty="0">
                <a:solidFill>
                  <a:srgbClr val="4B5563"/>
                </a:solidFill>
                <a:latin typeface="Raleway" pitchFamily="34" charset="0"/>
                <a:ea typeface="Raleway" pitchFamily="34" charset="-122"/>
                <a:cs typeface="Raleway" pitchFamily="34" charset="-120"/>
              </a:rPr>
              <a:t>AI-driven sourcing &amp; resume parsing - onboard one engineer an hour.</a:t>
            </a:r>
            <a:endParaRPr lang="en-US" sz="1200" dirty="0"/>
          </a:p>
        </p:txBody>
      </p:sp>
      <p:sp>
        <p:nvSpPr>
          <p:cNvPr id="31" name="Shape 22"/>
          <p:cNvSpPr/>
          <p:nvPr/>
        </p:nvSpPr>
        <p:spPr>
          <a:xfrm>
            <a:off x="8343900" y="1952244"/>
            <a:ext cx="304495" cy="304495"/>
          </a:xfrm>
          <a:prstGeom prst="roundRect">
            <a:avLst>
              <a:gd name="adj" fmla="val 112613"/>
            </a:avLst>
          </a:prstGeom>
          <a:solidFill>
            <a:srgbClr val="F0FDFA"/>
          </a:solidFill>
          <a:ln w="12700">
            <a:solidFill>
              <a:srgbClr val="FFFFFF">
                <a:alpha val="0"/>
              </a:srgbClr>
            </a:solidFill>
            <a:prstDash val="solid"/>
          </a:ln>
        </p:spPr>
        <p:txBody>
          <a:bodyPr/>
          <a:lstStyle/>
          <a:p>
            <a:endParaRPr lang="en-US"/>
          </a:p>
        </p:txBody>
      </p:sp>
      <p:pic>
        <p:nvPicPr>
          <p:cNvPr id="32" name="Image 7" descr="gen-dedup-fe8b3fc2b54c6cb2835c9e1123b7a343.png"/>
          <p:cNvPicPr>
            <a:picLocks noChangeAspect="1"/>
          </p:cNvPicPr>
          <p:nvPr/>
        </p:nvPicPr>
        <p:blipFill>
          <a:blip r:embed="rId10"/>
          <a:srcRect t="-25150" b="-25150"/>
          <a:stretch/>
        </p:blipFill>
        <p:spPr>
          <a:xfrm>
            <a:off x="8438998" y="2029054"/>
            <a:ext cx="114300" cy="152705"/>
          </a:xfrm>
          <a:prstGeom prst="rect">
            <a:avLst/>
          </a:prstGeom>
        </p:spPr>
      </p:pic>
      <p:sp>
        <p:nvSpPr>
          <p:cNvPr id="33" name="Text 23"/>
          <p:cNvSpPr txBox="1"/>
          <p:nvPr/>
        </p:nvSpPr>
        <p:spPr>
          <a:xfrm>
            <a:off x="8781898" y="1952244"/>
            <a:ext cx="2702052" cy="305410"/>
          </a:xfrm>
          <a:prstGeom prst="rect">
            <a:avLst/>
          </a:prstGeom>
          <a:noFill/>
          <a:ln/>
        </p:spPr>
        <p:txBody>
          <a:bodyPr wrap="none" lIns="0" tIns="0" rIns="0" bIns="0" rtlCol="0" anchor="ctr"/>
          <a:lstStyle/>
          <a:p>
            <a:pPr marL="0" indent="0" algn="l">
              <a:buNone/>
            </a:pPr>
            <a:r>
              <a:rPr lang="en-US" sz="1500" b="1" dirty="0">
                <a:solidFill>
                  <a:srgbClr val="111827"/>
                </a:solidFill>
                <a:latin typeface="Oswald" pitchFamily="34" charset="0"/>
                <a:ea typeface="Oswald" pitchFamily="34" charset="-122"/>
                <a:cs typeface="Oswald" pitchFamily="34" charset="-120"/>
              </a:rPr>
              <a:t>Data Abstraction Layer</a:t>
            </a:r>
            <a:endParaRPr lang="en-US" sz="1500" dirty="0"/>
          </a:p>
        </p:txBody>
      </p:sp>
      <p:sp>
        <p:nvSpPr>
          <p:cNvPr id="34" name="Text 24"/>
          <p:cNvSpPr txBox="1"/>
          <p:nvPr/>
        </p:nvSpPr>
        <p:spPr>
          <a:xfrm>
            <a:off x="8343900" y="2428646"/>
            <a:ext cx="3048610" cy="457200"/>
          </a:xfrm>
          <a:prstGeom prst="rect">
            <a:avLst/>
          </a:prstGeom>
          <a:noFill/>
          <a:ln/>
        </p:spPr>
        <p:txBody>
          <a:bodyPr wrap="square" lIns="0" tIns="0" rIns="0" bIns="0" rtlCol="0" anchor="ctr"/>
          <a:lstStyle/>
          <a:p>
            <a:pPr marL="0" indent="0" algn="l">
              <a:buNone/>
            </a:pPr>
            <a:r>
              <a:rPr lang="en-US" sz="1200" dirty="0">
                <a:solidFill>
                  <a:srgbClr val="4B5563"/>
                </a:solidFill>
                <a:latin typeface="Raleway" pitchFamily="34" charset="0"/>
                <a:ea typeface="Raleway" pitchFamily="34" charset="-122"/>
                <a:cs typeface="Raleway" pitchFamily="34" charset="-120"/>
              </a:rPr>
              <a:t>Unified API gateway + real-time ETL - a single pane of glass.</a:t>
            </a:r>
            <a:endParaRPr lang="en-US" sz="1200" dirty="0"/>
          </a:p>
        </p:txBody>
      </p:sp>
      <p:sp>
        <p:nvSpPr>
          <p:cNvPr id="35" name="Shape 25"/>
          <p:cNvSpPr/>
          <p:nvPr/>
        </p:nvSpPr>
        <p:spPr>
          <a:xfrm>
            <a:off x="2686507" y="3857854"/>
            <a:ext cx="304495" cy="304495"/>
          </a:xfrm>
          <a:prstGeom prst="roundRect">
            <a:avLst>
              <a:gd name="adj" fmla="val 112613"/>
            </a:avLst>
          </a:prstGeom>
          <a:solidFill>
            <a:srgbClr val="FEF2F2"/>
          </a:solidFill>
          <a:ln w="12700">
            <a:solidFill>
              <a:srgbClr val="FFFFFF">
                <a:alpha val="0"/>
              </a:srgbClr>
            </a:solidFill>
            <a:prstDash val="solid"/>
          </a:ln>
        </p:spPr>
        <p:txBody>
          <a:bodyPr/>
          <a:lstStyle/>
          <a:p>
            <a:endParaRPr lang="en-US"/>
          </a:p>
        </p:txBody>
      </p:sp>
      <p:pic>
        <p:nvPicPr>
          <p:cNvPr id="36" name="Image 8" descr="gen-dedup-e7d7166718140d8159b1663599725aa5.png"/>
          <p:cNvPicPr>
            <a:picLocks noChangeAspect="1"/>
          </p:cNvPicPr>
          <p:nvPr/>
        </p:nvPicPr>
        <p:blipFill>
          <a:blip r:embed="rId11"/>
          <a:srcRect t="-8450" b="-8450"/>
          <a:stretch/>
        </p:blipFill>
        <p:spPr>
          <a:xfrm>
            <a:off x="2781605" y="3933749"/>
            <a:ext cx="114300" cy="152705"/>
          </a:xfrm>
          <a:prstGeom prst="rect">
            <a:avLst/>
          </a:prstGeom>
        </p:spPr>
      </p:pic>
      <p:sp>
        <p:nvSpPr>
          <p:cNvPr id="37" name="Text 26"/>
          <p:cNvSpPr txBox="1"/>
          <p:nvPr/>
        </p:nvSpPr>
        <p:spPr>
          <a:xfrm>
            <a:off x="3124505" y="3857854"/>
            <a:ext cx="2572207" cy="305410"/>
          </a:xfrm>
          <a:prstGeom prst="rect">
            <a:avLst/>
          </a:prstGeom>
          <a:noFill/>
          <a:ln/>
        </p:spPr>
        <p:txBody>
          <a:bodyPr wrap="none" lIns="0" tIns="0" rIns="0" bIns="0" rtlCol="0" anchor="ctr"/>
          <a:lstStyle/>
          <a:p>
            <a:pPr marL="0" indent="0" algn="l">
              <a:buNone/>
            </a:pPr>
            <a:r>
              <a:rPr lang="en-US" sz="1500" b="1" dirty="0">
                <a:solidFill>
                  <a:srgbClr val="111827"/>
                </a:solidFill>
                <a:latin typeface="Oswald" pitchFamily="34" charset="0"/>
                <a:ea typeface="Oswald" pitchFamily="34" charset="-122"/>
                <a:cs typeface="Oswald" pitchFamily="34" charset="-120"/>
              </a:rPr>
              <a:t>J2W AI Labs</a:t>
            </a:r>
            <a:endParaRPr lang="en-US" sz="1500" dirty="0"/>
          </a:p>
        </p:txBody>
      </p:sp>
      <p:sp>
        <p:nvSpPr>
          <p:cNvPr id="38" name="Text 27"/>
          <p:cNvSpPr txBox="1"/>
          <p:nvPr/>
        </p:nvSpPr>
        <p:spPr>
          <a:xfrm>
            <a:off x="2686507" y="4334256"/>
            <a:ext cx="3048610" cy="457200"/>
          </a:xfrm>
          <a:prstGeom prst="rect">
            <a:avLst/>
          </a:prstGeom>
          <a:noFill/>
          <a:ln/>
        </p:spPr>
        <p:txBody>
          <a:bodyPr wrap="square" lIns="0" tIns="0" rIns="0" bIns="0" rtlCol="0" anchor="ctr"/>
          <a:lstStyle/>
          <a:p>
            <a:pPr marL="0" indent="0" algn="l">
              <a:buNone/>
            </a:pPr>
            <a:r>
              <a:rPr lang="en-US" sz="1200" dirty="0">
                <a:solidFill>
                  <a:srgbClr val="4B5563"/>
                </a:solidFill>
                <a:latin typeface="Raleway" pitchFamily="34" charset="0"/>
                <a:ea typeface="Raleway" pitchFamily="34" charset="-122"/>
                <a:cs typeface="Raleway" pitchFamily="34" charset="-120"/>
              </a:rPr>
              <a:t>Internal AI engine - every engineer AI-certified before Day 1.</a:t>
            </a:r>
            <a:endParaRPr lang="en-US" sz="1200" dirty="0"/>
          </a:p>
        </p:txBody>
      </p:sp>
      <p:sp>
        <p:nvSpPr>
          <p:cNvPr id="39" name="Shape 28"/>
          <p:cNvSpPr/>
          <p:nvPr/>
        </p:nvSpPr>
        <p:spPr>
          <a:xfrm>
            <a:off x="6458407" y="3857854"/>
            <a:ext cx="304495" cy="304495"/>
          </a:xfrm>
          <a:prstGeom prst="roundRect">
            <a:avLst>
              <a:gd name="adj" fmla="val 112613"/>
            </a:avLst>
          </a:prstGeom>
          <a:solidFill>
            <a:srgbClr val="F0FDFA"/>
          </a:solidFill>
          <a:ln w="12700">
            <a:solidFill>
              <a:srgbClr val="FFFFFF">
                <a:alpha val="0"/>
              </a:srgbClr>
            </a:solidFill>
            <a:prstDash val="solid"/>
          </a:ln>
        </p:spPr>
        <p:txBody>
          <a:bodyPr/>
          <a:lstStyle/>
          <a:p>
            <a:endParaRPr lang="en-US"/>
          </a:p>
        </p:txBody>
      </p:sp>
      <p:pic>
        <p:nvPicPr>
          <p:cNvPr id="40" name="Image 9" descr="gen-dedup-a3d9bb31ae14fa9101e3246a3a64819e.png"/>
          <p:cNvPicPr>
            <a:picLocks noChangeAspect="1"/>
          </p:cNvPicPr>
          <p:nvPr/>
        </p:nvPicPr>
        <p:blipFill>
          <a:blip r:embed="rId12"/>
          <a:srcRect t="-8450" b="-8450"/>
          <a:stretch/>
        </p:blipFill>
        <p:spPr>
          <a:xfrm>
            <a:off x="6553505" y="3933749"/>
            <a:ext cx="114300" cy="152705"/>
          </a:xfrm>
          <a:prstGeom prst="rect">
            <a:avLst/>
          </a:prstGeom>
        </p:spPr>
      </p:pic>
      <p:sp>
        <p:nvSpPr>
          <p:cNvPr id="41" name="Text 29"/>
          <p:cNvSpPr txBox="1"/>
          <p:nvPr/>
        </p:nvSpPr>
        <p:spPr>
          <a:xfrm>
            <a:off x="6896405" y="3857854"/>
            <a:ext cx="2572207" cy="305410"/>
          </a:xfrm>
          <a:prstGeom prst="rect">
            <a:avLst/>
          </a:prstGeom>
          <a:noFill/>
          <a:ln/>
        </p:spPr>
        <p:txBody>
          <a:bodyPr wrap="none" lIns="0" tIns="0" rIns="0" bIns="0" rtlCol="0" anchor="ctr"/>
          <a:lstStyle/>
          <a:p>
            <a:pPr marL="0" indent="0" algn="l">
              <a:buNone/>
            </a:pPr>
            <a:r>
              <a:rPr lang="en-US" sz="1500" b="1" dirty="0">
                <a:solidFill>
                  <a:srgbClr val="111827"/>
                </a:solidFill>
                <a:latin typeface="Oswald" pitchFamily="34" charset="0"/>
                <a:ea typeface="Oswald" pitchFamily="34" charset="-122"/>
                <a:cs typeface="Oswald" pitchFamily="34" charset="-120"/>
              </a:rPr>
              <a:t>60+ Accelerators</a:t>
            </a:r>
            <a:endParaRPr lang="en-US" sz="1500" dirty="0"/>
          </a:p>
        </p:txBody>
      </p:sp>
      <p:sp>
        <p:nvSpPr>
          <p:cNvPr id="42" name="Text 30"/>
          <p:cNvSpPr txBox="1"/>
          <p:nvPr/>
        </p:nvSpPr>
        <p:spPr>
          <a:xfrm>
            <a:off x="6458407" y="4334256"/>
            <a:ext cx="3048610" cy="457200"/>
          </a:xfrm>
          <a:prstGeom prst="rect">
            <a:avLst/>
          </a:prstGeom>
          <a:noFill/>
          <a:ln/>
        </p:spPr>
        <p:txBody>
          <a:bodyPr wrap="square" lIns="0" tIns="0" rIns="0" bIns="0" rtlCol="0" anchor="ctr"/>
          <a:lstStyle/>
          <a:p>
            <a:pPr marL="0" indent="0" algn="l">
              <a:buNone/>
            </a:pPr>
            <a:r>
              <a:rPr lang="en-US" sz="1200" dirty="0">
                <a:solidFill>
                  <a:srgbClr val="4B5563"/>
                </a:solidFill>
                <a:latin typeface="Raleway" pitchFamily="34" charset="0"/>
                <a:ea typeface="Raleway" pitchFamily="34" charset="-122"/>
                <a:cs typeface="Raleway" pitchFamily="34" charset="-120"/>
              </a:rPr>
              <a:t>Pre-built solutions on SAP, ServiceNow &amp; industry stacks.</a:t>
            </a:r>
            <a:endParaRPr lang="en-US" sz="1200" dirty="0"/>
          </a:p>
        </p:txBody>
      </p:sp>
      <p:sp>
        <p:nvSpPr>
          <p:cNvPr id="43" name="Text 31"/>
          <p:cNvSpPr txBox="1"/>
          <p:nvPr/>
        </p:nvSpPr>
        <p:spPr>
          <a:xfrm>
            <a:off x="800100" y="5715000"/>
            <a:ext cx="10592410" cy="286207"/>
          </a:xfrm>
          <a:prstGeom prst="rect">
            <a:avLst/>
          </a:prstGeom>
          <a:noFill/>
          <a:ln/>
        </p:spPr>
        <p:txBody>
          <a:bodyPr wrap="none" lIns="0" tIns="0" rIns="0" bIns="0" rtlCol="0" anchor="ctr"/>
          <a:lstStyle/>
          <a:p>
            <a:pPr marL="0" indent="0" algn="ctr">
              <a:buNone/>
            </a:pPr>
            <a:r>
              <a:rPr lang="en-US" sz="1500" b="1" kern="0" spc="75" dirty="0">
                <a:solidFill>
                  <a:srgbClr val="9CA3AF"/>
                </a:solidFill>
                <a:latin typeface="Oswald" pitchFamily="34" charset="0"/>
                <a:ea typeface="Oswald" pitchFamily="34" charset="-122"/>
                <a:cs typeface="Oswald" pitchFamily="34" charset="-120"/>
              </a:rPr>
              <a:t>THE ARC FRAMEWORK</a:t>
            </a:r>
            <a:r>
              <a:rPr lang="en-US" sz="1500" b="1" kern="0" spc="75" dirty="0">
                <a:solidFill>
                  <a:srgbClr val="2A9D8F"/>
                </a:solidFill>
                <a:latin typeface="Oswald" pitchFamily="34" charset="0"/>
                <a:ea typeface="Oswald" pitchFamily="34" charset="-122"/>
                <a:cs typeface="Oswald" pitchFamily="34" charset="-120"/>
              </a:rPr>
              <a:t>Adaptive</a:t>
            </a:r>
            <a:r>
              <a:rPr lang="en-US" sz="1200" b="1" kern="0" spc="75" dirty="0">
                <a:solidFill>
                  <a:srgbClr val="CBD5E1"/>
                </a:solidFill>
                <a:latin typeface="Raleway" pitchFamily="34" charset="0"/>
                <a:ea typeface="Raleway" pitchFamily="34" charset="-122"/>
                <a:cs typeface="Raleway" pitchFamily="34" charset="-120"/>
              </a:rPr>
              <a:t>(Grow)</a:t>
            </a:r>
            <a:r>
              <a:rPr lang="en-US" sz="1500" b="1" kern="0" spc="75" dirty="0">
                <a:solidFill>
                  <a:srgbClr val="6B7280"/>
                </a:solidFill>
                <a:latin typeface="Oswald" pitchFamily="34" charset="0"/>
                <a:ea typeface="Oswald" pitchFamily="34" charset="-122"/>
                <a:cs typeface="Oswald" pitchFamily="34" charset="-120"/>
              </a:rPr>
              <a:t>→</a:t>
            </a:r>
            <a:r>
              <a:rPr lang="en-US" sz="1500" b="1" kern="0" spc="75" dirty="0">
                <a:solidFill>
                  <a:srgbClr val="D62839"/>
                </a:solidFill>
                <a:latin typeface="Oswald" pitchFamily="34" charset="0"/>
                <a:ea typeface="Oswald" pitchFamily="34" charset="-122"/>
                <a:cs typeface="Oswald" pitchFamily="34" charset="-120"/>
              </a:rPr>
              <a:t>Resilient</a:t>
            </a:r>
            <a:r>
              <a:rPr lang="en-US" sz="1200" b="1" kern="0" spc="75" dirty="0">
                <a:solidFill>
                  <a:srgbClr val="CBD5E1"/>
                </a:solidFill>
                <a:latin typeface="Raleway" pitchFamily="34" charset="0"/>
                <a:ea typeface="Raleway" pitchFamily="34" charset="-122"/>
                <a:cs typeface="Raleway" pitchFamily="34" charset="-120"/>
              </a:rPr>
              <a:t>(Mature)</a:t>
            </a:r>
            <a:r>
              <a:rPr lang="en-US" sz="1500" b="1" kern="0" spc="75" dirty="0">
                <a:solidFill>
                  <a:srgbClr val="6B7280"/>
                </a:solidFill>
                <a:latin typeface="Oswald" pitchFamily="34" charset="0"/>
                <a:ea typeface="Oswald" pitchFamily="34" charset="-122"/>
                <a:cs typeface="Oswald" pitchFamily="34" charset="-120"/>
              </a:rPr>
              <a:t>→</a:t>
            </a:r>
            <a:r>
              <a:rPr lang="en-US" sz="1500" b="1" kern="0" spc="75" dirty="0">
                <a:solidFill>
                  <a:srgbClr val="2A9D8F"/>
                </a:solidFill>
                <a:latin typeface="Oswald" pitchFamily="34" charset="0"/>
                <a:ea typeface="Oswald" pitchFamily="34" charset="-122"/>
                <a:cs typeface="Oswald" pitchFamily="34" charset="-120"/>
              </a:rPr>
              <a:t>Cognitive</a:t>
            </a:r>
            <a:r>
              <a:rPr lang="en-US" sz="1200" b="1" kern="0" spc="75" dirty="0">
                <a:solidFill>
                  <a:srgbClr val="CBD5E1"/>
                </a:solidFill>
                <a:latin typeface="Raleway" pitchFamily="34" charset="0"/>
                <a:ea typeface="Raleway" pitchFamily="34" charset="-122"/>
                <a:cs typeface="Raleway" pitchFamily="34" charset="-120"/>
              </a:rPr>
              <a:t>(Transform)</a:t>
            </a:r>
            <a:endParaRPr lang="en-US" sz="1500" dirty="0"/>
          </a:p>
        </p:txBody>
      </p:sp>
      <p:sp>
        <p:nvSpPr>
          <p:cNvPr id="44" name="Text 32"/>
          <p:cNvSpPr txBox="1"/>
          <p:nvPr/>
        </p:nvSpPr>
        <p:spPr>
          <a:xfrm>
            <a:off x="609905" y="6429146"/>
            <a:ext cx="10972800" cy="181051"/>
          </a:xfrm>
          <a:prstGeom prst="rect">
            <a:avLst/>
          </a:prstGeom>
          <a:noFill/>
          <a:ln/>
        </p:spPr>
        <p:txBody>
          <a:bodyPr wrap="none" lIns="0" tIns="0" rIns="0" bIns="0" rtlCol="0" anchor="ctr"/>
          <a:lstStyle/>
          <a:p>
            <a:pPr marL="0" indent="0" algn="ctr">
              <a:buNone/>
            </a:pPr>
            <a:r>
              <a:rPr lang="en-US" sz="1200" b="1" dirty="0">
                <a:solidFill>
                  <a:srgbClr val="374151"/>
                </a:solidFill>
                <a:latin typeface="Raleway" pitchFamily="34" charset="0"/>
                <a:ea typeface="Raleway" pitchFamily="34" charset="-122"/>
                <a:cs typeface="Raleway" pitchFamily="34" charset="-120"/>
              </a:rPr>
              <a:t>Transparent, scalable, and owned by us - </a:t>
            </a:r>
            <a:r>
              <a:rPr lang="en-US" sz="1200" b="1" dirty="0">
                <a:solidFill>
                  <a:srgbClr val="2A9D8F"/>
                </a:solidFill>
                <a:latin typeface="Raleway" pitchFamily="34" charset="0"/>
                <a:ea typeface="Raleway" pitchFamily="34" charset="-122"/>
                <a:cs typeface="Raleway" pitchFamily="34" charset="-120"/>
              </a:rPr>
              <a:t>your competitive moat, not a black box.</a:t>
            </a:r>
            <a:endParaRPr lang="en-US" sz="1200" dirty="0"/>
          </a:p>
        </p:txBody>
      </p:sp>
      <p:sp>
        <p:nvSpPr>
          <p:cNvPr id="45" name="TextBox 44">
            <a:extLst>
              <a:ext uri="{FF2B5EF4-FFF2-40B4-BE49-F238E27FC236}">
                <a16:creationId xmlns:a16="http://schemas.microsoft.com/office/drawing/2014/main" id="{25DD6EC7-8F41-58C5-8FE6-D76C9E660C2A}"/>
              </a:ext>
            </a:extLst>
          </p:cNvPr>
          <p:cNvSpPr txBox="1"/>
          <p:nvPr/>
        </p:nvSpPr>
        <p:spPr>
          <a:xfrm>
            <a:off x="3048000" y="3429000"/>
            <a:ext cx="60960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a:p>
        </p:txBody>
      </p:sp>
    </p:spTree>
    <p:extLst>
      <p:ext uri="{BB962C8B-B14F-4D97-AF65-F5344CB8AC3E}">
        <p14:creationId xmlns:p14="http://schemas.microsoft.com/office/powerpoint/2010/main" val="38212399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323228122ff92d2332e711a84ca3b40c.png"/>
          <p:cNvPicPr>
            <a:picLocks noChangeAspect="1"/>
          </p:cNvPicPr>
          <p:nvPr/>
        </p:nvPicPr>
        <p:blipFill>
          <a:blip r:embed="rId3"/>
          <a:srcRect l="-202" r="-202"/>
          <a:stretch/>
        </p:blipFill>
        <p:spPr>
          <a:xfrm>
            <a:off x="0" y="0"/>
            <a:ext cx="8127187" cy="75895"/>
          </a:xfrm>
          <a:prstGeom prst="rect">
            <a:avLst/>
          </a:prstGeom>
        </p:spPr>
      </p:pic>
      <p:pic>
        <p:nvPicPr>
          <p:cNvPr id="5" name="Image 1" descr="gen-dedup-64882feb7a832238af77b962fc7a8538.png"/>
          <p:cNvPicPr>
            <a:picLocks noChangeAspect="1"/>
          </p:cNvPicPr>
          <p:nvPr/>
        </p:nvPicPr>
        <p:blipFill>
          <a:blip r:embed="rId4"/>
          <a:srcRect l="-203" r="-203"/>
          <a:stretch/>
        </p:blipFill>
        <p:spPr>
          <a:xfrm>
            <a:off x="8127187" y="0"/>
            <a:ext cx="4063594" cy="75895"/>
          </a:xfrm>
          <a:prstGeom prst="rect">
            <a:avLst/>
          </a:prstGeom>
        </p:spPr>
      </p:pic>
      <p:sp>
        <p:nvSpPr>
          <p:cNvPr id="6" name="Shape 2"/>
          <p:cNvSpPr/>
          <p:nvPr/>
        </p:nvSpPr>
        <p:spPr>
          <a:xfrm>
            <a:off x="9905695" y="-571500"/>
            <a:ext cx="2857500" cy="2857500"/>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 name="Image 2" descr="gen-dedup-6da70c599291e253314366a10c094ffa.png"/>
          <p:cNvPicPr>
            <a:picLocks noChangeAspect="1"/>
          </p:cNvPicPr>
          <p:nvPr/>
        </p:nvPicPr>
        <p:blipFill>
          <a:blip r:embed="rId5">
            <a:alphaModFix amt="15000"/>
          </a:blip>
          <a:srcRect/>
          <a:stretch/>
        </p:blipFill>
        <p:spPr>
          <a:xfrm>
            <a:off x="381305" y="1143000"/>
            <a:ext cx="1429207" cy="1429207"/>
          </a:xfrm>
          <a:prstGeom prst="rect">
            <a:avLst/>
          </a:prstGeom>
        </p:spPr>
      </p:pic>
      <p:pic>
        <p:nvPicPr>
          <p:cNvPr id="8" name="Image 3" descr="gen-dedup-c72c85b07e3f177762516dd89615ea68.png"/>
          <p:cNvPicPr>
            <a:picLocks noChangeAspect="1"/>
          </p:cNvPicPr>
          <p:nvPr/>
        </p:nvPicPr>
        <p:blipFill>
          <a:blip r:embed="rId6"/>
          <a:srcRect t="-217" b="-217"/>
          <a:stretch/>
        </p:blipFill>
        <p:spPr>
          <a:xfrm>
            <a:off x="609905" y="544982"/>
            <a:ext cx="75895" cy="476402"/>
          </a:xfrm>
          <a:prstGeom prst="rect">
            <a:avLst/>
          </a:prstGeom>
        </p:spPr>
      </p:pic>
      <p:sp>
        <p:nvSpPr>
          <p:cNvPr id="9" name="Text 3"/>
          <p:cNvSpPr txBox="1"/>
          <p:nvPr/>
        </p:nvSpPr>
        <p:spPr>
          <a:xfrm>
            <a:off x="875995" y="381305"/>
            <a:ext cx="7105802" cy="467258"/>
          </a:xfrm>
          <a:prstGeom prst="rect">
            <a:avLst/>
          </a:prstGeom>
          <a:noFill/>
          <a:ln/>
        </p:spPr>
        <p:txBody>
          <a:bodyPr wrap="none" lIns="0" tIns="0" rIns="0" bIns="0" rtlCol="0" anchor="ctr"/>
          <a:lstStyle/>
          <a:p>
            <a:pPr marL="0" indent="0" algn="l">
              <a:buNone/>
            </a:pPr>
            <a:r>
              <a:rPr lang="en-US" sz="3300" b="1" kern="0" spc="-82">
                <a:solidFill>
                  <a:srgbClr val="111827"/>
                </a:solidFill>
                <a:latin typeface="Oswald" pitchFamily="34" charset="0"/>
                <a:ea typeface="Oswald" pitchFamily="34" charset="-122"/>
                <a:cs typeface="Oswald" pitchFamily="34" charset="-120"/>
              </a:rPr>
              <a:t>Managed Service Solutions</a:t>
            </a:r>
            <a:endParaRPr lang="en-US" sz="3300"/>
          </a:p>
        </p:txBody>
      </p:sp>
      <p:sp>
        <p:nvSpPr>
          <p:cNvPr id="10" name="Text 4"/>
          <p:cNvSpPr txBox="1"/>
          <p:nvPr/>
        </p:nvSpPr>
        <p:spPr>
          <a:xfrm>
            <a:off x="875995" y="898855"/>
            <a:ext cx="7791602" cy="286207"/>
          </a:xfrm>
          <a:prstGeom prst="rect">
            <a:avLst/>
          </a:prstGeom>
          <a:noFill/>
          <a:ln/>
        </p:spPr>
        <p:txBody>
          <a:bodyPr wrap="none" lIns="0" tIns="0" rIns="0" bIns="0" rtlCol="0" anchor="ctr"/>
          <a:lstStyle/>
          <a:p>
            <a:pPr marL="0" indent="0" algn="l">
              <a:buNone/>
            </a:pPr>
            <a:r>
              <a:rPr lang="en-US" sz="1500" b="1" kern="0" spc="75">
                <a:solidFill>
                  <a:srgbClr val="2A9D8F"/>
                </a:solidFill>
                <a:latin typeface="Roboto Condensed" pitchFamily="34" charset="0"/>
                <a:ea typeface="Roboto Condensed" pitchFamily="34" charset="-122"/>
                <a:cs typeface="Roboto Condensed" pitchFamily="34" charset="-120"/>
              </a:rPr>
              <a:t>OUTCOME-BOUND DELIVERY - NOT JUST A VENDOR WITH A STATEMENT OF WORK.</a:t>
            </a:r>
            <a:endParaRPr lang="en-US" sz="1500"/>
          </a:p>
        </p:txBody>
      </p:sp>
      <p:sp>
        <p:nvSpPr>
          <p:cNvPr id="11" name="Shape 5"/>
          <p:cNvSpPr/>
          <p:nvPr/>
        </p:nvSpPr>
        <p:spPr>
          <a:xfrm>
            <a:off x="609905" y="1524305"/>
            <a:ext cx="5524805" cy="1028700"/>
          </a:xfrm>
          <a:prstGeom prst="roundRect">
            <a:avLst>
              <a:gd name="adj" fmla="val 13169"/>
            </a:avLst>
          </a:prstGeom>
          <a:solidFill>
            <a:srgbClr val="FFFFFF"/>
          </a:solidFill>
          <a:ln w="12700">
            <a:solidFill>
              <a:srgbClr val="E5E7EB"/>
            </a:solidFill>
            <a:prstDash val="solid"/>
          </a:ln>
        </p:spPr>
        <p:txBody>
          <a:bodyPr/>
          <a:lstStyle/>
          <a:p>
            <a:endParaRPr lang="en-US"/>
          </a:p>
        </p:txBody>
      </p:sp>
      <p:sp>
        <p:nvSpPr>
          <p:cNvPr id="12" name="Shape 6"/>
          <p:cNvSpPr/>
          <p:nvPr/>
        </p:nvSpPr>
        <p:spPr>
          <a:xfrm>
            <a:off x="609905" y="1524305"/>
            <a:ext cx="38405" cy="1028700"/>
          </a:xfrm>
          <a:prstGeom prst="roundRect">
            <a:avLst>
              <a:gd name="adj" fmla="val 352732"/>
            </a:avLst>
          </a:prstGeom>
          <a:solidFill>
            <a:srgbClr val="2A9D8F"/>
          </a:solidFill>
          <a:ln w="12700">
            <a:solidFill>
              <a:srgbClr val="2A9D8F">
                <a:alpha val="0"/>
              </a:srgbClr>
            </a:solidFill>
            <a:prstDash val="solid"/>
          </a:ln>
        </p:spPr>
        <p:txBody>
          <a:bodyPr/>
          <a:lstStyle/>
          <a:p>
            <a:endParaRPr lang="en-US"/>
          </a:p>
        </p:txBody>
      </p:sp>
      <p:sp>
        <p:nvSpPr>
          <p:cNvPr id="15" name="Shape 9"/>
          <p:cNvSpPr/>
          <p:nvPr/>
        </p:nvSpPr>
        <p:spPr>
          <a:xfrm>
            <a:off x="609905" y="2699308"/>
            <a:ext cx="5524805" cy="1028700"/>
          </a:xfrm>
          <a:prstGeom prst="roundRect">
            <a:avLst>
              <a:gd name="adj" fmla="val 13169"/>
            </a:avLst>
          </a:prstGeom>
          <a:solidFill>
            <a:srgbClr val="FFFFFF"/>
          </a:solidFill>
          <a:ln w="12700">
            <a:solidFill>
              <a:srgbClr val="E5E7EB"/>
            </a:solidFill>
            <a:prstDash val="solid"/>
          </a:ln>
        </p:spPr>
        <p:txBody>
          <a:bodyPr/>
          <a:lstStyle/>
          <a:p>
            <a:endParaRPr lang="en-US"/>
          </a:p>
        </p:txBody>
      </p:sp>
      <p:sp>
        <p:nvSpPr>
          <p:cNvPr id="16" name="Shape 10"/>
          <p:cNvSpPr/>
          <p:nvPr/>
        </p:nvSpPr>
        <p:spPr>
          <a:xfrm>
            <a:off x="609905" y="2699308"/>
            <a:ext cx="38405" cy="1028700"/>
          </a:xfrm>
          <a:prstGeom prst="roundRect">
            <a:avLst>
              <a:gd name="adj" fmla="val 352732"/>
            </a:avLst>
          </a:prstGeom>
          <a:solidFill>
            <a:srgbClr val="2A9D8F"/>
          </a:solidFill>
          <a:ln w="12700">
            <a:solidFill>
              <a:srgbClr val="2A9D8F">
                <a:alpha val="0"/>
              </a:srgbClr>
            </a:solidFill>
            <a:prstDash val="solid"/>
          </a:ln>
        </p:spPr>
        <p:txBody>
          <a:bodyPr/>
          <a:lstStyle/>
          <a:p>
            <a:endParaRPr lang="en-US"/>
          </a:p>
        </p:txBody>
      </p:sp>
      <p:sp>
        <p:nvSpPr>
          <p:cNvPr id="17" name="Shape 11"/>
          <p:cNvSpPr/>
          <p:nvPr/>
        </p:nvSpPr>
        <p:spPr>
          <a:xfrm>
            <a:off x="609905" y="3823105"/>
            <a:ext cx="5524805" cy="1162202"/>
          </a:xfrm>
          <a:prstGeom prst="roundRect">
            <a:avLst>
              <a:gd name="adj" fmla="val 10318"/>
            </a:avLst>
          </a:prstGeom>
          <a:solidFill>
            <a:srgbClr val="FFFFFF"/>
          </a:solidFill>
          <a:ln w="12700">
            <a:solidFill>
              <a:srgbClr val="E5E7EB"/>
            </a:solidFill>
            <a:prstDash val="solid"/>
          </a:ln>
        </p:spPr>
        <p:txBody>
          <a:bodyPr/>
          <a:lstStyle/>
          <a:p>
            <a:endParaRPr lang="en-US"/>
          </a:p>
        </p:txBody>
      </p:sp>
      <p:sp>
        <p:nvSpPr>
          <p:cNvPr id="18" name="Shape 12"/>
          <p:cNvSpPr/>
          <p:nvPr/>
        </p:nvSpPr>
        <p:spPr>
          <a:xfrm>
            <a:off x="609905" y="3823105"/>
            <a:ext cx="38405" cy="1162202"/>
          </a:xfrm>
          <a:prstGeom prst="roundRect">
            <a:avLst>
              <a:gd name="adj" fmla="val 312254"/>
            </a:avLst>
          </a:prstGeom>
          <a:solidFill>
            <a:srgbClr val="D62839"/>
          </a:solidFill>
          <a:ln w="12700">
            <a:solidFill>
              <a:srgbClr val="D62839">
                <a:alpha val="0"/>
              </a:srgbClr>
            </a:solidFill>
            <a:prstDash val="solid"/>
          </a:ln>
        </p:spPr>
        <p:txBody>
          <a:bodyPr/>
          <a:lstStyle/>
          <a:p>
            <a:endParaRPr lang="en-US"/>
          </a:p>
        </p:txBody>
      </p:sp>
      <p:sp>
        <p:nvSpPr>
          <p:cNvPr id="19" name="Shape 13"/>
          <p:cNvSpPr/>
          <p:nvPr/>
        </p:nvSpPr>
        <p:spPr>
          <a:xfrm>
            <a:off x="6381598" y="1524305"/>
            <a:ext cx="5201107" cy="4572000"/>
          </a:xfrm>
          <a:prstGeom prst="roundRect">
            <a:avLst>
              <a:gd name="adj" fmla="val 667"/>
            </a:avLst>
          </a:prstGeom>
          <a:solidFill>
            <a:srgbClr val="F8FAFC"/>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20" name="Shape 14"/>
          <p:cNvSpPr/>
          <p:nvPr/>
        </p:nvSpPr>
        <p:spPr>
          <a:xfrm>
            <a:off x="6391656" y="1533449"/>
            <a:ext cx="5181905" cy="552298"/>
          </a:xfrm>
          <a:prstGeom prst="roundRect">
            <a:avLst>
              <a:gd name="adj" fmla="val 45672"/>
            </a:avLst>
          </a:prstGeom>
          <a:solidFill>
            <a:srgbClr val="1F2937"/>
          </a:solidFill>
          <a:ln w="12700">
            <a:solidFill>
              <a:srgbClr val="FFFFFF">
                <a:alpha val="0"/>
              </a:srgbClr>
            </a:solidFill>
            <a:prstDash val="solid"/>
          </a:ln>
        </p:spPr>
        <p:txBody>
          <a:bodyPr/>
          <a:lstStyle/>
          <a:p>
            <a:endParaRPr lang="en-US"/>
          </a:p>
        </p:txBody>
      </p:sp>
      <p:sp>
        <p:nvSpPr>
          <p:cNvPr id="21" name="Text 15"/>
          <p:cNvSpPr txBox="1"/>
          <p:nvPr/>
        </p:nvSpPr>
        <p:spPr>
          <a:xfrm>
            <a:off x="6543446" y="1593692"/>
            <a:ext cx="4877410" cy="324612"/>
          </a:xfrm>
          <a:prstGeom prst="rect">
            <a:avLst/>
          </a:prstGeom>
          <a:noFill/>
          <a:ln/>
        </p:spPr>
        <p:txBody>
          <a:bodyPr wrap="none" lIns="0" tIns="0" rIns="0" bIns="0" rtlCol="0" anchor="ctr"/>
          <a:lstStyle/>
          <a:p>
            <a:pPr marL="0" indent="0" algn="ctr">
              <a:buNone/>
            </a:pPr>
            <a:r>
              <a:rPr lang="en-US" sz="1100">
                <a:solidFill>
                  <a:srgbClr val="FFFFFF"/>
                </a:solidFill>
                <a:latin typeface="Oswald" pitchFamily="34" charset="0"/>
                <a:ea typeface="Oswald" pitchFamily="34" charset="-122"/>
                <a:cs typeface="Oswald" pitchFamily="34" charset="-120"/>
              </a:rPr>
              <a:t>Service Model Comparison</a:t>
            </a:r>
            <a:endParaRPr lang="en-US" sz="1100"/>
          </a:p>
        </p:txBody>
      </p:sp>
      <p:sp>
        <p:nvSpPr>
          <p:cNvPr id="22" name="Shape 16"/>
          <p:cNvSpPr/>
          <p:nvPr/>
        </p:nvSpPr>
        <p:spPr>
          <a:xfrm>
            <a:off x="609905" y="6229807"/>
            <a:ext cx="10972800" cy="437998"/>
          </a:xfrm>
          <a:prstGeom prst="roundRect">
            <a:avLst>
              <a:gd name="adj" fmla="val 36307"/>
            </a:avLst>
          </a:prstGeom>
          <a:solidFill>
            <a:srgbClr val="F8FAFC"/>
          </a:solidFill>
          <a:ln/>
        </p:spPr>
        <p:txBody>
          <a:bodyPr/>
          <a:lstStyle/>
          <a:p>
            <a:endParaRPr lang="en-US"/>
          </a:p>
        </p:txBody>
      </p:sp>
      <p:sp>
        <p:nvSpPr>
          <p:cNvPr id="23" name="Shape 17"/>
          <p:cNvSpPr/>
          <p:nvPr/>
        </p:nvSpPr>
        <p:spPr>
          <a:xfrm>
            <a:off x="609905" y="6229807"/>
            <a:ext cx="38405" cy="437998"/>
          </a:xfrm>
          <a:prstGeom prst="roundRect">
            <a:avLst>
              <a:gd name="adj" fmla="val 414077"/>
            </a:avLst>
          </a:prstGeom>
          <a:solidFill>
            <a:srgbClr val="111827"/>
          </a:solidFill>
          <a:ln w="12700">
            <a:solidFill>
              <a:srgbClr val="111827">
                <a:alpha val="0"/>
              </a:srgbClr>
            </a:solidFill>
            <a:prstDash val="solid"/>
          </a:ln>
        </p:spPr>
        <p:txBody>
          <a:bodyPr/>
          <a:lstStyle/>
          <a:p>
            <a:endParaRPr lang="en-US"/>
          </a:p>
        </p:txBody>
      </p:sp>
      <p:sp>
        <p:nvSpPr>
          <p:cNvPr id="24" name="Text 18"/>
          <p:cNvSpPr txBox="1"/>
          <p:nvPr/>
        </p:nvSpPr>
        <p:spPr>
          <a:xfrm>
            <a:off x="981151" y="1638605"/>
            <a:ext cx="5000854"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Solution Accelerators</a:t>
            </a:r>
            <a:endParaRPr lang="en-US" sz="1400"/>
          </a:p>
        </p:txBody>
      </p:sp>
      <p:sp>
        <p:nvSpPr>
          <p:cNvPr id="25" name="Text 19"/>
          <p:cNvSpPr txBox="1"/>
          <p:nvPr/>
        </p:nvSpPr>
        <p:spPr>
          <a:xfrm>
            <a:off x="761695" y="1950415"/>
            <a:ext cx="5220310" cy="391363"/>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60+ pre-built accelerators across SAP, ServiceNow, Salesforce, and industry stacks - deployed fast, customized to fit, never forced.</a:t>
            </a:r>
            <a:endParaRPr lang="en-US" sz="1100"/>
          </a:p>
        </p:txBody>
      </p:sp>
      <p:pic>
        <p:nvPicPr>
          <p:cNvPr id="26" name="Image 4" descr="gen-dedup-aaaf743a9627457c5a8ecc39eba03c50.png"/>
          <p:cNvPicPr>
            <a:picLocks noChangeAspect="1"/>
          </p:cNvPicPr>
          <p:nvPr/>
        </p:nvPicPr>
        <p:blipFill>
          <a:blip r:embed="rId7"/>
          <a:srcRect t="-13462" b="-13462"/>
          <a:stretch/>
        </p:blipFill>
        <p:spPr>
          <a:xfrm>
            <a:off x="761695" y="1689811"/>
            <a:ext cx="142646" cy="181051"/>
          </a:xfrm>
          <a:prstGeom prst="rect">
            <a:avLst/>
          </a:prstGeom>
        </p:spPr>
      </p:pic>
      <p:sp>
        <p:nvSpPr>
          <p:cNvPr id="30" name="Text 22"/>
          <p:cNvSpPr txBox="1"/>
          <p:nvPr/>
        </p:nvSpPr>
        <p:spPr>
          <a:xfrm>
            <a:off x="981151" y="2813608"/>
            <a:ext cx="5000854"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Cross-Function Coverage</a:t>
            </a:r>
            <a:endParaRPr lang="en-US" sz="1400"/>
          </a:p>
        </p:txBody>
      </p:sp>
      <p:sp>
        <p:nvSpPr>
          <p:cNvPr id="31" name="Text 23"/>
          <p:cNvSpPr txBox="1"/>
          <p:nvPr/>
        </p:nvSpPr>
        <p:spPr>
          <a:xfrm>
            <a:off x="761695" y="3125418"/>
            <a:ext cx="5220310" cy="391363"/>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From AI CoE and Data CoE to Digital Engineering, Quality, and Cybersecurity - we operate across the full enterprise function map, not just the easy wins.</a:t>
            </a:r>
            <a:endParaRPr lang="en-US" sz="1100"/>
          </a:p>
        </p:txBody>
      </p:sp>
      <p:pic>
        <p:nvPicPr>
          <p:cNvPr id="32" name="Image 6" descr="gen-dedup-f27d894a2aa16499d7ef79199ddd11dd.png"/>
          <p:cNvPicPr>
            <a:picLocks noChangeAspect="1"/>
          </p:cNvPicPr>
          <p:nvPr/>
        </p:nvPicPr>
        <p:blipFill>
          <a:blip r:embed="rId8"/>
          <a:srcRect t="-21395" b="-21395"/>
          <a:stretch/>
        </p:blipFill>
        <p:spPr>
          <a:xfrm>
            <a:off x="761695" y="2864814"/>
            <a:ext cx="142646" cy="181051"/>
          </a:xfrm>
          <a:prstGeom prst="rect">
            <a:avLst/>
          </a:prstGeom>
        </p:spPr>
      </p:pic>
      <p:sp>
        <p:nvSpPr>
          <p:cNvPr id="33" name="Text 24"/>
          <p:cNvSpPr txBox="1"/>
          <p:nvPr/>
        </p:nvSpPr>
        <p:spPr>
          <a:xfrm>
            <a:off x="981151" y="3937405"/>
            <a:ext cx="5000854" cy="277063"/>
          </a:xfrm>
          <a:prstGeom prst="rect">
            <a:avLst/>
          </a:prstGeom>
          <a:noFill/>
          <a:ln/>
        </p:spPr>
        <p:txBody>
          <a:bodyPr wrap="none" lIns="0" tIns="0" rIns="0" bIns="0" rtlCol="0" anchor="ctr"/>
          <a:lstStyle/>
          <a:p>
            <a:pPr marL="0" indent="0" algn="l">
              <a:buNone/>
            </a:pPr>
            <a:r>
              <a:rPr lang="en-US" sz="1400" b="1">
                <a:solidFill>
                  <a:srgbClr val="1F2937"/>
                </a:solidFill>
                <a:latin typeface="Oswald" pitchFamily="34" charset="0"/>
                <a:ea typeface="Oswald" pitchFamily="34" charset="-122"/>
                <a:cs typeface="Oswald" pitchFamily="34" charset="-120"/>
              </a:rPr>
              <a:t>Proven ROI, Not Projections</a:t>
            </a:r>
            <a:endParaRPr lang="en-US" sz="1400"/>
          </a:p>
        </p:txBody>
      </p:sp>
      <p:sp>
        <p:nvSpPr>
          <p:cNvPr id="34" name="Text 25"/>
          <p:cNvSpPr txBox="1"/>
          <p:nvPr/>
        </p:nvSpPr>
        <p:spPr>
          <a:xfrm>
            <a:off x="761695" y="4249216"/>
            <a:ext cx="5220310" cy="581558"/>
          </a:xfrm>
          <a:prstGeom prst="rect">
            <a:avLst/>
          </a:prstGeom>
          <a:noFill/>
          <a:ln/>
        </p:spPr>
        <p:txBody>
          <a:bodyPr wrap="square" lIns="0" tIns="0" rIns="0" bIns="0" rtlCol="0" anchor="ctr"/>
          <a:lstStyle/>
          <a:p>
            <a:pPr marL="0" indent="0" algn="l">
              <a:buNone/>
            </a:pPr>
            <a:r>
              <a:rPr lang="en-US" sz="1100">
                <a:solidFill>
                  <a:srgbClr val="4B5563"/>
                </a:solidFill>
                <a:latin typeface="Raleway" pitchFamily="34" charset="0"/>
                <a:ea typeface="Raleway" pitchFamily="34" charset="-122"/>
                <a:cs typeface="Raleway" pitchFamily="34" charset="-120"/>
              </a:rPr>
              <a:t>Every accelerator comes with a benchmark from prior deployments. 80% reduction in reporting effort. 55% faster month-end close. 65% faster testing cycles. Numbers you inherit, not numbers we promise.</a:t>
            </a:r>
            <a:endParaRPr lang="en-US" sz="1100"/>
          </a:p>
        </p:txBody>
      </p:sp>
      <p:pic>
        <p:nvPicPr>
          <p:cNvPr id="35" name="Image 7" descr="gen-dedup-0d12da8ebc0b959d48949b1e6044d332.png"/>
          <p:cNvPicPr>
            <a:picLocks noChangeAspect="1"/>
          </p:cNvPicPr>
          <p:nvPr/>
        </p:nvPicPr>
        <p:blipFill>
          <a:blip r:embed="rId9"/>
          <a:srcRect t="-13462" b="-13462"/>
          <a:stretch/>
        </p:blipFill>
        <p:spPr>
          <a:xfrm>
            <a:off x="761695" y="3988612"/>
            <a:ext cx="142646" cy="181051"/>
          </a:xfrm>
          <a:prstGeom prst="rect">
            <a:avLst/>
          </a:prstGeom>
        </p:spPr>
      </p:pic>
      <p:sp>
        <p:nvSpPr>
          <p:cNvPr id="36" name="Shape 26"/>
          <p:cNvSpPr/>
          <p:nvPr/>
        </p:nvSpPr>
        <p:spPr>
          <a:xfrm>
            <a:off x="6381598" y="1952244"/>
            <a:ext cx="5201107" cy="599846"/>
          </a:xfrm>
          <a:prstGeom prst="rect">
            <a:avLst/>
          </a:prstGeom>
          <a:solidFill>
            <a:srgbClr val="F1F5F9"/>
          </a:solidFill>
          <a:ln/>
        </p:spPr>
        <p:txBody>
          <a:bodyPr/>
          <a:lstStyle/>
          <a:p>
            <a:endParaRPr lang="en-US"/>
          </a:p>
        </p:txBody>
      </p:sp>
      <p:sp>
        <p:nvSpPr>
          <p:cNvPr id="37" name="Shape 27"/>
          <p:cNvSpPr/>
          <p:nvPr/>
        </p:nvSpPr>
        <p:spPr>
          <a:xfrm>
            <a:off x="6381598" y="2532888"/>
            <a:ext cx="5201107" cy="19202"/>
          </a:xfrm>
          <a:prstGeom prst="rect">
            <a:avLst/>
          </a:prstGeom>
          <a:solidFill>
            <a:srgbClr val="E5E7EB"/>
          </a:solidFill>
          <a:ln w="12700">
            <a:solidFill>
              <a:srgbClr val="E5E7EB">
                <a:alpha val="0"/>
              </a:srgbClr>
            </a:solidFill>
            <a:prstDash val="solid"/>
          </a:ln>
        </p:spPr>
        <p:txBody>
          <a:bodyPr/>
          <a:lstStyle/>
          <a:p>
            <a:endParaRPr lang="en-US"/>
          </a:p>
        </p:txBody>
      </p:sp>
      <p:sp>
        <p:nvSpPr>
          <p:cNvPr id="38" name="Text 28"/>
          <p:cNvSpPr txBox="1"/>
          <p:nvPr/>
        </p:nvSpPr>
        <p:spPr>
          <a:xfrm>
            <a:off x="6534302" y="2048256"/>
            <a:ext cx="1228954" cy="391363"/>
          </a:xfrm>
          <a:prstGeom prst="rect">
            <a:avLst/>
          </a:prstGeom>
          <a:noFill/>
          <a:ln/>
        </p:spPr>
        <p:txBody>
          <a:bodyPr wrap="square" lIns="0" tIns="0" rIns="0" bIns="0" rtlCol="0" anchor="ctr"/>
          <a:lstStyle/>
          <a:p>
            <a:pPr marL="0" indent="0" algn="l">
              <a:buNone/>
            </a:pPr>
            <a:r>
              <a:rPr lang="en-US" sz="1000" b="1">
                <a:solidFill>
                  <a:srgbClr val="4B5563"/>
                </a:solidFill>
                <a:latin typeface="Roboto Condensed" pitchFamily="34" charset="0"/>
                <a:ea typeface="Roboto Condensed" pitchFamily="34" charset="-122"/>
                <a:cs typeface="Roboto Condensed" pitchFamily="34" charset="-120"/>
              </a:rPr>
              <a:t>Dimension</a:t>
            </a:r>
            <a:endParaRPr lang="en-US" sz="1000"/>
          </a:p>
        </p:txBody>
      </p:sp>
      <p:sp>
        <p:nvSpPr>
          <p:cNvPr id="39" name="Text 29"/>
          <p:cNvSpPr txBox="1"/>
          <p:nvPr/>
        </p:nvSpPr>
        <p:spPr>
          <a:xfrm>
            <a:off x="7757770" y="2048256"/>
            <a:ext cx="1714500" cy="391363"/>
          </a:xfrm>
          <a:prstGeom prst="rect">
            <a:avLst/>
          </a:prstGeom>
          <a:noFill/>
          <a:ln/>
        </p:spPr>
        <p:txBody>
          <a:bodyPr wrap="square" lIns="0" tIns="0" rIns="0" bIns="0" rtlCol="0" anchor="ctr"/>
          <a:lstStyle/>
          <a:p>
            <a:pPr marL="0" indent="0" algn="l">
              <a:buNone/>
            </a:pPr>
            <a:r>
              <a:rPr lang="en-US" sz="1000" b="1">
                <a:solidFill>
                  <a:srgbClr val="D62839"/>
                </a:solidFill>
                <a:latin typeface="Roboto Condensed" pitchFamily="34" charset="0"/>
                <a:ea typeface="Roboto Condensed" pitchFamily="34" charset="-122"/>
                <a:cs typeface="Roboto Condensed" pitchFamily="34" charset="-120"/>
              </a:rPr>
              <a:t>Traditional Managed Services</a:t>
            </a:r>
            <a:endParaRPr lang="en-US" sz="1000"/>
          </a:p>
        </p:txBody>
      </p:sp>
      <p:sp>
        <p:nvSpPr>
          <p:cNvPr id="40" name="Text 30"/>
          <p:cNvSpPr txBox="1"/>
          <p:nvPr/>
        </p:nvSpPr>
        <p:spPr>
          <a:xfrm>
            <a:off x="9471355" y="2048256"/>
            <a:ext cx="1962302" cy="391363"/>
          </a:xfrm>
          <a:prstGeom prst="rect">
            <a:avLst/>
          </a:prstGeom>
          <a:noFill/>
          <a:ln/>
        </p:spPr>
        <p:txBody>
          <a:bodyPr wrap="square" lIns="0" tIns="0" rIns="0" bIns="0" rtlCol="0" anchor="ctr"/>
          <a:lstStyle/>
          <a:p>
            <a:pPr marL="0" indent="0" algn="l">
              <a:buNone/>
            </a:pPr>
            <a:r>
              <a:rPr lang="en-US" sz="1000" b="1">
                <a:solidFill>
                  <a:srgbClr val="2A9D8F"/>
                </a:solidFill>
                <a:latin typeface="Roboto Condensed" pitchFamily="34" charset="0"/>
                <a:ea typeface="Roboto Condensed" pitchFamily="34" charset="-122"/>
                <a:cs typeface="Roboto Condensed" pitchFamily="34" charset="-120"/>
              </a:rPr>
              <a:t>J2W Managed Solutions</a:t>
            </a:r>
            <a:endParaRPr lang="en-US" sz="1000"/>
          </a:p>
        </p:txBody>
      </p:sp>
      <p:sp>
        <p:nvSpPr>
          <p:cNvPr id="41" name="Shape 31"/>
          <p:cNvSpPr/>
          <p:nvPr/>
        </p:nvSpPr>
        <p:spPr>
          <a:xfrm>
            <a:off x="6381598" y="3134563"/>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42" name="Text 32"/>
          <p:cNvSpPr txBox="1"/>
          <p:nvPr/>
        </p:nvSpPr>
        <p:spPr>
          <a:xfrm>
            <a:off x="6534302" y="2667305"/>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Engagement </a:t>
            </a:r>
          </a:p>
          <a:p>
            <a:pPr marL="0" indent="0" algn="l">
              <a:buNone/>
            </a:pPr>
            <a:r>
              <a:rPr lang="en-US" sz="1000" b="1">
                <a:solidFill>
                  <a:srgbClr val="374151"/>
                </a:solidFill>
                <a:latin typeface="Raleway" pitchFamily="34" charset="0"/>
                <a:ea typeface="Raleway" pitchFamily="34" charset="-122"/>
                <a:cs typeface="Raleway" pitchFamily="34" charset="-120"/>
              </a:rPr>
              <a:t>Model</a:t>
            </a:r>
            <a:endParaRPr lang="en-US" sz="1000"/>
          </a:p>
        </p:txBody>
      </p:sp>
      <p:sp>
        <p:nvSpPr>
          <p:cNvPr id="43" name="Text 33"/>
          <p:cNvSpPr txBox="1"/>
          <p:nvPr/>
        </p:nvSpPr>
        <p:spPr>
          <a:xfrm>
            <a:off x="7757770" y="2667305"/>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SOW-based, scope-</a:t>
            </a:r>
          </a:p>
          <a:p>
            <a:pPr marL="0" indent="0" algn="l">
              <a:buNone/>
            </a:pPr>
            <a:r>
              <a:rPr lang="en-US" sz="1000">
                <a:solidFill>
                  <a:srgbClr val="6B7280"/>
                </a:solidFill>
                <a:latin typeface="Raleway" pitchFamily="34" charset="0"/>
                <a:ea typeface="Raleway" pitchFamily="34" charset="-122"/>
                <a:cs typeface="Raleway" pitchFamily="34" charset="-120"/>
              </a:rPr>
              <a:t>locked</a:t>
            </a:r>
            <a:endParaRPr lang="en-US" sz="1000"/>
          </a:p>
        </p:txBody>
      </p:sp>
      <p:sp>
        <p:nvSpPr>
          <p:cNvPr id="44" name="Text 34"/>
          <p:cNvSpPr txBox="1"/>
          <p:nvPr/>
        </p:nvSpPr>
        <p:spPr>
          <a:xfrm>
            <a:off x="9471355" y="2667305"/>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Outcome-bound, SLO-governed</a:t>
            </a:r>
            <a:endParaRPr lang="en-US" sz="1000"/>
          </a:p>
        </p:txBody>
      </p:sp>
      <p:sp>
        <p:nvSpPr>
          <p:cNvPr id="45" name="Shape 35"/>
          <p:cNvSpPr/>
          <p:nvPr/>
        </p:nvSpPr>
        <p:spPr>
          <a:xfrm>
            <a:off x="6381598" y="3143707"/>
            <a:ext cx="5201107" cy="590702"/>
          </a:xfrm>
          <a:prstGeom prst="rect">
            <a:avLst/>
          </a:prstGeom>
          <a:solidFill>
            <a:srgbClr val="2A9D8F">
              <a:alpha val="3000"/>
            </a:srgbClr>
          </a:solidFill>
          <a:ln/>
        </p:spPr>
        <p:txBody>
          <a:bodyPr/>
          <a:lstStyle/>
          <a:p>
            <a:endParaRPr lang="en-US"/>
          </a:p>
        </p:txBody>
      </p:sp>
      <p:sp>
        <p:nvSpPr>
          <p:cNvPr id="46" name="Shape 36"/>
          <p:cNvSpPr/>
          <p:nvPr/>
        </p:nvSpPr>
        <p:spPr>
          <a:xfrm>
            <a:off x="6381598" y="3725266"/>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47" name="Text 37"/>
          <p:cNvSpPr txBox="1"/>
          <p:nvPr/>
        </p:nvSpPr>
        <p:spPr>
          <a:xfrm>
            <a:off x="6534302" y="3258007"/>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Starting Point</a:t>
            </a:r>
            <a:endParaRPr lang="en-US" sz="1000"/>
          </a:p>
        </p:txBody>
      </p:sp>
      <p:sp>
        <p:nvSpPr>
          <p:cNvPr id="48" name="Text 38"/>
          <p:cNvSpPr txBox="1"/>
          <p:nvPr/>
        </p:nvSpPr>
        <p:spPr>
          <a:xfrm>
            <a:off x="7757770" y="3258007"/>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Build from scratch</a:t>
            </a:r>
            <a:endParaRPr lang="en-US" sz="1000"/>
          </a:p>
        </p:txBody>
      </p:sp>
      <p:sp>
        <p:nvSpPr>
          <p:cNvPr id="49" name="Text 39"/>
          <p:cNvSpPr txBox="1"/>
          <p:nvPr/>
        </p:nvSpPr>
        <p:spPr>
          <a:xfrm>
            <a:off x="9471355" y="3258007"/>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60+ accelerators, deploy in weeks</a:t>
            </a:r>
            <a:endParaRPr lang="en-US" sz="1000"/>
          </a:p>
        </p:txBody>
      </p:sp>
      <p:sp>
        <p:nvSpPr>
          <p:cNvPr id="50" name="Shape 40"/>
          <p:cNvSpPr/>
          <p:nvPr/>
        </p:nvSpPr>
        <p:spPr>
          <a:xfrm>
            <a:off x="6381598" y="4315054"/>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51" name="Text 41"/>
          <p:cNvSpPr txBox="1"/>
          <p:nvPr/>
        </p:nvSpPr>
        <p:spPr>
          <a:xfrm>
            <a:off x="6534302" y="3847795"/>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Performance Standard</a:t>
            </a:r>
            <a:endParaRPr lang="en-US" sz="1000"/>
          </a:p>
        </p:txBody>
      </p:sp>
      <p:sp>
        <p:nvSpPr>
          <p:cNvPr id="52" name="Text 42"/>
          <p:cNvSpPr txBox="1"/>
          <p:nvPr/>
        </p:nvSpPr>
        <p:spPr>
          <a:xfrm>
            <a:off x="7757770" y="3847795"/>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Contractual minimums</a:t>
            </a:r>
            <a:endParaRPr lang="en-US" sz="1000"/>
          </a:p>
        </p:txBody>
      </p:sp>
      <p:sp>
        <p:nvSpPr>
          <p:cNvPr id="53" name="Text 43"/>
          <p:cNvSpPr txBox="1"/>
          <p:nvPr/>
        </p:nvSpPr>
        <p:spPr>
          <a:xfrm>
            <a:off x="9471355" y="3847795"/>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40% improvement threshold</a:t>
            </a:r>
            <a:endParaRPr lang="en-US" sz="1000"/>
          </a:p>
        </p:txBody>
      </p:sp>
      <p:sp>
        <p:nvSpPr>
          <p:cNvPr id="54" name="Shape 44"/>
          <p:cNvSpPr/>
          <p:nvPr/>
        </p:nvSpPr>
        <p:spPr>
          <a:xfrm>
            <a:off x="6381598" y="4324198"/>
            <a:ext cx="5201107" cy="590702"/>
          </a:xfrm>
          <a:prstGeom prst="rect">
            <a:avLst/>
          </a:prstGeom>
          <a:solidFill>
            <a:srgbClr val="2A9D8F">
              <a:alpha val="3000"/>
            </a:srgbClr>
          </a:solidFill>
          <a:ln/>
        </p:spPr>
        <p:txBody>
          <a:bodyPr/>
          <a:lstStyle/>
          <a:p>
            <a:endParaRPr lang="en-US"/>
          </a:p>
        </p:txBody>
      </p:sp>
      <p:sp>
        <p:nvSpPr>
          <p:cNvPr id="55" name="Shape 45"/>
          <p:cNvSpPr/>
          <p:nvPr/>
        </p:nvSpPr>
        <p:spPr>
          <a:xfrm>
            <a:off x="6381598" y="4905756"/>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56" name="Text 46"/>
          <p:cNvSpPr txBox="1"/>
          <p:nvPr/>
        </p:nvSpPr>
        <p:spPr>
          <a:xfrm>
            <a:off x="6534302" y="4438498"/>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Coverage</a:t>
            </a:r>
            <a:endParaRPr lang="en-US" sz="1000"/>
          </a:p>
        </p:txBody>
      </p:sp>
      <p:sp>
        <p:nvSpPr>
          <p:cNvPr id="57" name="Text 47"/>
          <p:cNvSpPr txBox="1"/>
          <p:nvPr/>
        </p:nvSpPr>
        <p:spPr>
          <a:xfrm>
            <a:off x="7757770" y="4438498"/>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Single-function specialization</a:t>
            </a:r>
            <a:endParaRPr lang="en-US" sz="1000"/>
          </a:p>
        </p:txBody>
      </p:sp>
      <p:sp>
        <p:nvSpPr>
          <p:cNvPr id="58" name="Text 48"/>
          <p:cNvSpPr txBox="1"/>
          <p:nvPr/>
        </p:nvSpPr>
        <p:spPr>
          <a:xfrm>
            <a:off x="9471355" y="4438498"/>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Cross-stack: SAP, ServiceNow, Salesforce + more</a:t>
            </a:r>
            <a:endParaRPr lang="en-US" sz="1000"/>
          </a:p>
        </p:txBody>
      </p:sp>
      <p:sp>
        <p:nvSpPr>
          <p:cNvPr id="59" name="Shape 49"/>
          <p:cNvSpPr/>
          <p:nvPr/>
        </p:nvSpPr>
        <p:spPr>
          <a:xfrm>
            <a:off x="6381598" y="5496458"/>
            <a:ext cx="5201107" cy="9144"/>
          </a:xfrm>
          <a:prstGeom prst="rect">
            <a:avLst/>
          </a:prstGeom>
          <a:solidFill>
            <a:srgbClr val="E5E7EB"/>
          </a:solidFill>
          <a:ln w="12700">
            <a:solidFill>
              <a:srgbClr val="E5E7EB">
                <a:alpha val="0"/>
              </a:srgbClr>
            </a:solidFill>
            <a:prstDash val="solid"/>
          </a:ln>
        </p:spPr>
        <p:txBody>
          <a:bodyPr/>
          <a:lstStyle/>
          <a:p>
            <a:endParaRPr lang="en-US"/>
          </a:p>
        </p:txBody>
      </p:sp>
      <p:sp>
        <p:nvSpPr>
          <p:cNvPr id="60" name="Text 50"/>
          <p:cNvSpPr txBox="1"/>
          <p:nvPr/>
        </p:nvSpPr>
        <p:spPr>
          <a:xfrm>
            <a:off x="6534302" y="5029200"/>
            <a:ext cx="1228954" cy="352958"/>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Knowledge Retention</a:t>
            </a:r>
            <a:endParaRPr lang="en-US" sz="1000"/>
          </a:p>
        </p:txBody>
      </p:sp>
      <p:sp>
        <p:nvSpPr>
          <p:cNvPr id="61" name="Text 51"/>
          <p:cNvSpPr txBox="1"/>
          <p:nvPr/>
        </p:nvSpPr>
        <p:spPr>
          <a:xfrm>
            <a:off x="7757770" y="5029200"/>
            <a:ext cx="1714500" cy="352958"/>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Exits with the team</a:t>
            </a:r>
            <a:endParaRPr lang="en-US" sz="1000"/>
          </a:p>
        </p:txBody>
      </p:sp>
      <p:sp>
        <p:nvSpPr>
          <p:cNvPr id="62" name="Text 52"/>
          <p:cNvSpPr txBox="1"/>
          <p:nvPr/>
        </p:nvSpPr>
        <p:spPr>
          <a:xfrm>
            <a:off x="9471355" y="5029200"/>
            <a:ext cx="1962302" cy="3529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Captured, compounding, stays with you</a:t>
            </a:r>
            <a:endParaRPr lang="en-US" sz="1000"/>
          </a:p>
        </p:txBody>
      </p:sp>
      <p:sp>
        <p:nvSpPr>
          <p:cNvPr id="63" name="Shape 53"/>
          <p:cNvSpPr/>
          <p:nvPr/>
        </p:nvSpPr>
        <p:spPr>
          <a:xfrm>
            <a:off x="6381598" y="5505602"/>
            <a:ext cx="5201107" cy="590702"/>
          </a:xfrm>
          <a:prstGeom prst="rect">
            <a:avLst/>
          </a:prstGeom>
          <a:solidFill>
            <a:srgbClr val="2A9D8F">
              <a:alpha val="3000"/>
            </a:srgbClr>
          </a:solidFill>
          <a:ln w="12700">
            <a:solidFill>
              <a:srgbClr val="FFFFFF">
                <a:alpha val="0"/>
              </a:srgbClr>
            </a:solidFill>
            <a:prstDash val="solid"/>
          </a:ln>
        </p:spPr>
        <p:txBody>
          <a:bodyPr/>
          <a:lstStyle/>
          <a:p>
            <a:endParaRPr lang="en-US"/>
          </a:p>
        </p:txBody>
      </p:sp>
      <p:sp>
        <p:nvSpPr>
          <p:cNvPr id="64" name="Text 54"/>
          <p:cNvSpPr txBox="1"/>
          <p:nvPr/>
        </p:nvSpPr>
        <p:spPr>
          <a:xfrm>
            <a:off x="6534302" y="5619902"/>
            <a:ext cx="1228954" cy="362102"/>
          </a:xfrm>
          <a:prstGeom prst="rect">
            <a:avLst/>
          </a:prstGeom>
          <a:noFill/>
          <a:ln/>
        </p:spPr>
        <p:txBody>
          <a:bodyPr wrap="square" lIns="0" tIns="0" rIns="0" bIns="0" rtlCol="0" anchor="ctr"/>
          <a:lstStyle/>
          <a:p>
            <a:pPr marL="0" indent="0" algn="l">
              <a:buNone/>
            </a:pPr>
            <a:r>
              <a:rPr lang="en-US" sz="1000" b="1">
                <a:solidFill>
                  <a:srgbClr val="374151"/>
                </a:solidFill>
                <a:latin typeface="Raleway" pitchFamily="34" charset="0"/>
                <a:ea typeface="Raleway" pitchFamily="34" charset="-122"/>
                <a:cs typeface="Raleway" pitchFamily="34" charset="-120"/>
              </a:rPr>
              <a:t>AI Readiness</a:t>
            </a:r>
            <a:endParaRPr lang="en-US" sz="1000"/>
          </a:p>
        </p:txBody>
      </p:sp>
      <p:sp>
        <p:nvSpPr>
          <p:cNvPr id="65" name="Text 55"/>
          <p:cNvSpPr txBox="1"/>
          <p:nvPr/>
        </p:nvSpPr>
        <p:spPr>
          <a:xfrm>
            <a:off x="7757770" y="5619902"/>
            <a:ext cx="1714500" cy="362102"/>
          </a:xfrm>
          <a:prstGeom prst="rect">
            <a:avLst/>
          </a:prstGeom>
          <a:noFill/>
          <a:ln/>
        </p:spPr>
        <p:txBody>
          <a:bodyPr wrap="square" lIns="0" tIns="0" rIns="0" bIns="0" rtlCol="0" anchor="ctr"/>
          <a:lstStyle/>
          <a:p>
            <a:pPr marL="0" indent="0" algn="l">
              <a:buNone/>
            </a:pPr>
            <a:r>
              <a:rPr lang="en-US" sz="1000">
                <a:solidFill>
                  <a:srgbClr val="6B7280"/>
                </a:solidFill>
                <a:latin typeface="Raleway" pitchFamily="34" charset="0"/>
                <a:ea typeface="Raleway" pitchFamily="34" charset="-122"/>
                <a:cs typeface="Raleway" pitchFamily="34" charset="-120"/>
              </a:rPr>
              <a:t>Optional add-on</a:t>
            </a:r>
            <a:endParaRPr lang="en-US" sz="1000"/>
          </a:p>
        </p:txBody>
      </p:sp>
      <p:sp>
        <p:nvSpPr>
          <p:cNvPr id="66" name="Text 56"/>
          <p:cNvSpPr txBox="1"/>
          <p:nvPr/>
        </p:nvSpPr>
        <p:spPr>
          <a:xfrm>
            <a:off x="9471355" y="5619902"/>
            <a:ext cx="1962302" cy="362102"/>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Embedded from Day 1</a:t>
            </a:r>
            <a:endParaRPr lang="en-US" sz="1000"/>
          </a:p>
        </p:txBody>
      </p:sp>
      <p:sp>
        <p:nvSpPr>
          <p:cNvPr id="67" name="Text 57"/>
          <p:cNvSpPr txBox="1"/>
          <p:nvPr/>
        </p:nvSpPr>
        <p:spPr>
          <a:xfrm>
            <a:off x="800100" y="6245352"/>
            <a:ext cx="10592410" cy="409651"/>
          </a:xfrm>
          <a:prstGeom prst="rect">
            <a:avLst/>
          </a:prstGeom>
          <a:noFill/>
          <a:ln/>
        </p:spPr>
        <p:txBody>
          <a:bodyPr wrap="square" lIns="0" tIns="0" rIns="0" bIns="0" rtlCol="0" anchor="ctr"/>
          <a:lstStyle/>
          <a:p>
            <a:pPr marL="0" indent="0" algn="ctr">
              <a:buNone/>
            </a:pPr>
            <a:r>
              <a:rPr lang="en-US" sz="800" b="1">
                <a:solidFill>
                  <a:srgbClr val="111827"/>
                </a:solidFill>
                <a:latin typeface="Raleway" pitchFamily="34" charset="0"/>
                <a:ea typeface="Raleway" pitchFamily="34" charset="-122"/>
                <a:cs typeface="Raleway" pitchFamily="34" charset="-120"/>
              </a:rPr>
              <a:t>From scattered pilots to governed programs. From manual reporting to real-time intelligence. From legacy stacks to modernized platforms. </a:t>
            </a:r>
            <a:r>
              <a:rPr lang="en-US" sz="1100" b="1">
                <a:solidFill>
                  <a:srgbClr val="2A9D8F"/>
                </a:solidFill>
                <a:latin typeface="Raleway" pitchFamily="34" charset="0"/>
                <a:ea typeface="Raleway" pitchFamily="34" charset="-122"/>
                <a:cs typeface="Raleway" pitchFamily="34" charset="-120"/>
              </a:rPr>
              <a:t>J2W Managed Solutions operate until the outcome is real - then keep compounding.</a:t>
            </a:r>
            <a:endParaRPr lang="en-US" sz="1100"/>
          </a:p>
        </p:txBody>
      </p:sp>
    </p:spTree>
    <p:extLst>
      <p:ext uri="{BB962C8B-B14F-4D97-AF65-F5344CB8AC3E}">
        <p14:creationId xmlns:p14="http://schemas.microsoft.com/office/powerpoint/2010/main" val="37436834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8382305" y="-1429207"/>
            <a:ext cx="4762195" cy="4762195"/>
          </a:xfrm>
          <a:prstGeom prst="ellipse">
            <a:avLst/>
          </a:prstGeom>
          <a:noFill/>
          <a:ln w="508000">
            <a:solidFill>
              <a:srgbClr val="D62839">
                <a:alpha val="3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 name="Image 0" descr="preencoded.png"/>
          <p:cNvPicPr>
            <a:picLocks noChangeAspect="1"/>
          </p:cNvPicPr>
          <p:nvPr/>
        </p:nvPicPr>
        <p:blipFill>
          <a:blip r:embed="rId3"/>
          <a:srcRect l="-360" r="-360"/>
          <a:stretch/>
        </p:blipFill>
        <p:spPr>
          <a:xfrm>
            <a:off x="609905" y="514807"/>
            <a:ext cx="57607" cy="381305"/>
          </a:xfrm>
          <a:prstGeom prst="rect">
            <a:avLst/>
          </a:prstGeom>
        </p:spPr>
      </p:pic>
      <p:sp>
        <p:nvSpPr>
          <p:cNvPr id="6" name="Text 3"/>
          <p:cNvSpPr txBox="1"/>
          <p:nvPr/>
        </p:nvSpPr>
        <p:spPr>
          <a:xfrm>
            <a:off x="819302" y="381305"/>
            <a:ext cx="6010351" cy="3429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0" cap="none" spc="-56" normalizeH="0" baseline="0" noProof="0">
                <a:ln>
                  <a:noFill/>
                </a:ln>
                <a:solidFill>
                  <a:srgbClr val="111827"/>
                </a:solidFill>
                <a:effectLst/>
                <a:uLnTx/>
                <a:uFillTx/>
                <a:latin typeface="Oswald" pitchFamily="34" charset="0"/>
                <a:ea typeface="Oswald" pitchFamily="34" charset="-122"/>
                <a:cs typeface="Oswald" pitchFamily="34" charset="-120"/>
              </a:rPr>
              <a:t>Strategic Managed Services Offerings</a:t>
            </a:r>
            <a:endParaRPr kumimoji="0" lang="en-US" sz="2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4"/>
          <p:cNvSpPr txBox="1"/>
          <p:nvPr/>
        </p:nvSpPr>
        <p:spPr>
          <a:xfrm>
            <a:off x="819302" y="761695"/>
            <a:ext cx="6010351" cy="267005"/>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68" normalizeH="0" baseline="0" noProof="0">
                <a:ln>
                  <a:noFill/>
                </a:ln>
                <a:solidFill>
                  <a:srgbClr val="2A9D8F"/>
                </a:solidFill>
                <a:effectLst/>
                <a:uLnTx/>
                <a:uFillTx/>
                <a:latin typeface="Roboto Condensed" pitchFamily="34" charset="0"/>
                <a:ea typeface="Roboto Condensed" pitchFamily="34" charset="-122"/>
                <a:cs typeface="Roboto Condensed" pitchFamily="34" charset="-120"/>
              </a:rPr>
              <a:t>COMPREHENSIVE CAPABILITIES DRIVING DIGITAL TRANSFORMATION</a:t>
            </a:r>
            <a:endParaRPr kumimoji="0" lang="en-US" sz="13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5"/>
          <p:cNvSpPr/>
          <p:nvPr/>
        </p:nvSpPr>
        <p:spPr>
          <a:xfrm>
            <a:off x="609905" y="1257300"/>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6"/>
          <p:cNvSpPr/>
          <p:nvPr/>
        </p:nvSpPr>
        <p:spPr>
          <a:xfrm>
            <a:off x="609905" y="1257300"/>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Shape 7"/>
          <p:cNvSpPr/>
          <p:nvPr/>
        </p:nvSpPr>
        <p:spPr>
          <a:xfrm>
            <a:off x="790956" y="1380744"/>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preencoded.png"/>
          <p:cNvPicPr>
            <a:picLocks noChangeAspect="1"/>
          </p:cNvPicPr>
          <p:nvPr/>
        </p:nvPicPr>
        <p:blipFill>
          <a:blip r:embed="rId4"/>
          <a:srcRect/>
          <a:stretch/>
        </p:blipFill>
        <p:spPr>
          <a:xfrm>
            <a:off x="905256" y="1495044"/>
            <a:ext cx="171907" cy="171907"/>
          </a:xfrm>
          <a:prstGeom prst="rect">
            <a:avLst/>
          </a:prstGeom>
        </p:spPr>
      </p:pic>
      <p:sp>
        <p:nvSpPr>
          <p:cNvPr id="12" name="Text 8"/>
          <p:cNvSpPr txBox="1"/>
          <p:nvPr/>
        </p:nvSpPr>
        <p:spPr>
          <a:xfrm>
            <a:off x="926287" y="1819656"/>
            <a:ext cx="210312"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01</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9"/>
          <p:cNvSpPr txBox="1"/>
          <p:nvPr/>
        </p:nvSpPr>
        <p:spPr>
          <a:xfrm>
            <a:off x="1371600" y="138074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AI Solutions (AI CoE)</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0"/>
          <p:cNvSpPr txBox="1"/>
          <p:nvPr/>
        </p:nvSpPr>
        <p:spPr>
          <a:xfrm>
            <a:off x="1371600" y="1602029"/>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GenAI strategies, agents, LLM workflows, predictive models, knowledge bots, and enterprise-grade AI governance &amp; value realization frameworks.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Shape 11"/>
          <p:cNvSpPr/>
          <p:nvPr/>
        </p:nvSpPr>
        <p:spPr>
          <a:xfrm>
            <a:off x="6210605" y="1257300"/>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2"/>
          <p:cNvSpPr/>
          <p:nvPr/>
        </p:nvSpPr>
        <p:spPr>
          <a:xfrm>
            <a:off x="6210605" y="1257300"/>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Shape 13"/>
          <p:cNvSpPr/>
          <p:nvPr/>
        </p:nvSpPr>
        <p:spPr>
          <a:xfrm>
            <a:off x="6391656" y="1380744"/>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8" name="Image 2" descr="preencoded.png"/>
          <p:cNvPicPr>
            <a:picLocks noChangeAspect="1"/>
          </p:cNvPicPr>
          <p:nvPr/>
        </p:nvPicPr>
        <p:blipFill>
          <a:blip r:embed="rId5"/>
          <a:srcRect/>
          <a:stretch/>
        </p:blipFill>
        <p:spPr>
          <a:xfrm>
            <a:off x="6505956" y="1495044"/>
            <a:ext cx="171907" cy="171907"/>
          </a:xfrm>
          <a:prstGeom prst="rect">
            <a:avLst/>
          </a:prstGeom>
        </p:spPr>
      </p:pic>
      <p:sp>
        <p:nvSpPr>
          <p:cNvPr id="19" name="Text 14"/>
          <p:cNvSpPr txBox="1"/>
          <p:nvPr/>
        </p:nvSpPr>
        <p:spPr>
          <a:xfrm>
            <a:off x="6516929" y="181965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06</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5"/>
          <p:cNvSpPr txBox="1"/>
          <p:nvPr/>
        </p:nvSpPr>
        <p:spPr>
          <a:xfrm>
            <a:off x="6972300" y="138074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Quality Engineering</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6"/>
          <p:cNvSpPr txBox="1"/>
          <p:nvPr/>
        </p:nvSpPr>
        <p:spPr>
          <a:xfrm>
            <a:off x="6972300" y="1602029"/>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Intelligent QA and Test Automation at scale - covering functional, performance, security, CI/CD pipelines, and TaaS delivery pods.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17"/>
          <p:cNvSpPr/>
          <p:nvPr/>
        </p:nvSpPr>
        <p:spPr>
          <a:xfrm>
            <a:off x="609905" y="232440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18"/>
          <p:cNvSpPr/>
          <p:nvPr/>
        </p:nvSpPr>
        <p:spPr>
          <a:xfrm>
            <a:off x="609905" y="2324405"/>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Shape 19"/>
          <p:cNvSpPr/>
          <p:nvPr/>
        </p:nvSpPr>
        <p:spPr>
          <a:xfrm>
            <a:off x="790956" y="2447849"/>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5" name="Image 3" descr="preencoded.png"/>
          <p:cNvPicPr>
            <a:picLocks noChangeAspect="1"/>
          </p:cNvPicPr>
          <p:nvPr/>
        </p:nvPicPr>
        <p:blipFill>
          <a:blip r:embed="rId6"/>
          <a:srcRect t="-2725" b="-2725"/>
          <a:stretch/>
        </p:blipFill>
        <p:spPr>
          <a:xfrm>
            <a:off x="918972" y="2562149"/>
            <a:ext cx="142646" cy="171907"/>
          </a:xfrm>
          <a:prstGeom prst="rect">
            <a:avLst/>
          </a:prstGeom>
        </p:spPr>
      </p:pic>
      <p:sp>
        <p:nvSpPr>
          <p:cNvPr id="26" name="Text 20"/>
          <p:cNvSpPr txBox="1"/>
          <p:nvPr/>
        </p:nvSpPr>
        <p:spPr>
          <a:xfrm>
            <a:off x="918058" y="288584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02</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1"/>
          <p:cNvSpPr txBox="1"/>
          <p:nvPr/>
        </p:nvSpPr>
        <p:spPr>
          <a:xfrm>
            <a:off x="1371600" y="2447849"/>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Data Migration &amp; Infra Support</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2"/>
          <p:cNvSpPr txBox="1"/>
          <p:nvPr/>
        </p:nvSpPr>
        <p:spPr>
          <a:xfrm>
            <a:off x="1371600" y="266913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Seamless migration across on-prem &amp; cloud, with data quality, cleansing, secure pipelines, infra ops, and cloud governance across AWS/Azure/GCP.</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3"/>
          <p:cNvSpPr/>
          <p:nvPr/>
        </p:nvSpPr>
        <p:spPr>
          <a:xfrm>
            <a:off x="6210605" y="232440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4"/>
          <p:cNvSpPr/>
          <p:nvPr/>
        </p:nvSpPr>
        <p:spPr>
          <a:xfrm>
            <a:off x="6210605" y="2324405"/>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5"/>
          <p:cNvSpPr/>
          <p:nvPr/>
        </p:nvSpPr>
        <p:spPr>
          <a:xfrm>
            <a:off x="6391656" y="2447849"/>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2" name="Image 4" descr="preencoded.png"/>
          <p:cNvPicPr>
            <a:picLocks noChangeAspect="1"/>
          </p:cNvPicPr>
          <p:nvPr/>
        </p:nvPicPr>
        <p:blipFill>
          <a:blip r:embed="rId7"/>
          <a:srcRect/>
          <a:stretch/>
        </p:blipFill>
        <p:spPr>
          <a:xfrm>
            <a:off x="6505956" y="2562149"/>
            <a:ext cx="171907" cy="171907"/>
          </a:xfrm>
          <a:prstGeom prst="rect">
            <a:avLst/>
          </a:prstGeom>
        </p:spPr>
      </p:pic>
      <p:sp>
        <p:nvSpPr>
          <p:cNvPr id="33" name="Text 26"/>
          <p:cNvSpPr txBox="1"/>
          <p:nvPr/>
        </p:nvSpPr>
        <p:spPr>
          <a:xfrm>
            <a:off x="6523330" y="2885846"/>
            <a:ext cx="219456"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07</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27"/>
          <p:cNvSpPr txBox="1"/>
          <p:nvPr/>
        </p:nvSpPr>
        <p:spPr>
          <a:xfrm>
            <a:off x="6972300" y="2447849"/>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Call Centre Optimization</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28"/>
          <p:cNvSpPr txBox="1"/>
          <p:nvPr/>
        </p:nvSpPr>
        <p:spPr>
          <a:xfrm>
            <a:off x="6972300" y="266913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Transforming contact centers through operational assessment, workforce analytics, real-time dashboards, agent assist AI, and IVA-based automation.</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Shape 29"/>
          <p:cNvSpPr/>
          <p:nvPr/>
        </p:nvSpPr>
        <p:spPr>
          <a:xfrm>
            <a:off x="609905" y="339059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Shape 30"/>
          <p:cNvSpPr/>
          <p:nvPr/>
        </p:nvSpPr>
        <p:spPr>
          <a:xfrm>
            <a:off x="609905" y="3390595"/>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Shape 31"/>
          <p:cNvSpPr/>
          <p:nvPr/>
        </p:nvSpPr>
        <p:spPr>
          <a:xfrm>
            <a:off x="790956" y="3514954"/>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9" name="Image 5" descr="preencoded.png"/>
          <p:cNvPicPr>
            <a:picLocks noChangeAspect="1"/>
          </p:cNvPicPr>
          <p:nvPr/>
        </p:nvPicPr>
        <p:blipFill>
          <a:blip r:embed="rId8"/>
          <a:srcRect/>
          <a:stretch/>
        </p:blipFill>
        <p:spPr>
          <a:xfrm>
            <a:off x="905256" y="3629254"/>
            <a:ext cx="171907" cy="171907"/>
          </a:xfrm>
          <a:prstGeom prst="rect">
            <a:avLst/>
          </a:prstGeom>
        </p:spPr>
      </p:pic>
      <p:sp>
        <p:nvSpPr>
          <p:cNvPr id="40" name="Text 32"/>
          <p:cNvSpPr txBox="1"/>
          <p:nvPr/>
        </p:nvSpPr>
        <p:spPr>
          <a:xfrm>
            <a:off x="918058" y="3952951"/>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03</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3"/>
          <p:cNvSpPr txBox="1"/>
          <p:nvPr/>
        </p:nvSpPr>
        <p:spPr>
          <a:xfrm>
            <a:off x="1371600" y="351495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Cybersecurity</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34"/>
          <p:cNvSpPr txBox="1"/>
          <p:nvPr/>
        </p:nvSpPr>
        <p:spPr>
          <a:xfrm>
            <a:off x="1371600" y="373532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Full-spectrum security including assessment, red-team, cloud security, managed SOC/MDR, compliance (ISO, PCI, RBI), incident response &amp; digital forensics.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Shape 35"/>
          <p:cNvSpPr/>
          <p:nvPr/>
        </p:nvSpPr>
        <p:spPr>
          <a:xfrm>
            <a:off x="6210605" y="339059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Shape 36"/>
          <p:cNvSpPr/>
          <p:nvPr/>
        </p:nvSpPr>
        <p:spPr>
          <a:xfrm>
            <a:off x="6210605" y="3390595"/>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Shape 37"/>
          <p:cNvSpPr/>
          <p:nvPr/>
        </p:nvSpPr>
        <p:spPr>
          <a:xfrm>
            <a:off x="6391656" y="3514954"/>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6" name="Image 6" descr="preencoded.png"/>
          <p:cNvPicPr>
            <a:picLocks noChangeAspect="1"/>
          </p:cNvPicPr>
          <p:nvPr/>
        </p:nvPicPr>
        <p:blipFill>
          <a:blip r:embed="rId9"/>
          <a:srcRect t="-2725" b="-2725"/>
          <a:stretch/>
        </p:blipFill>
        <p:spPr>
          <a:xfrm>
            <a:off x="6519672" y="3629254"/>
            <a:ext cx="142646" cy="171907"/>
          </a:xfrm>
          <a:prstGeom prst="rect">
            <a:avLst/>
          </a:prstGeom>
        </p:spPr>
      </p:pic>
      <p:sp>
        <p:nvSpPr>
          <p:cNvPr id="47" name="Text 38"/>
          <p:cNvSpPr txBox="1"/>
          <p:nvPr/>
        </p:nvSpPr>
        <p:spPr>
          <a:xfrm>
            <a:off x="6517843" y="3952951"/>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08</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Text 39"/>
          <p:cNvSpPr txBox="1"/>
          <p:nvPr/>
        </p:nvSpPr>
        <p:spPr>
          <a:xfrm>
            <a:off x="6972300" y="351495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SAP Services</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0"/>
          <p:cNvSpPr txBox="1"/>
          <p:nvPr/>
        </p:nvSpPr>
        <p:spPr>
          <a:xfrm>
            <a:off x="6972300" y="373532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End-to-end SAP modernization - from S/4HANA migrations to BTP, Fiori, SuccessFactors, and enterprise-wide rollout with managed SAP support.</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1"/>
          <p:cNvSpPr/>
          <p:nvPr/>
        </p:nvSpPr>
        <p:spPr>
          <a:xfrm>
            <a:off x="609905" y="4457700"/>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Shape 42"/>
          <p:cNvSpPr/>
          <p:nvPr/>
        </p:nvSpPr>
        <p:spPr>
          <a:xfrm>
            <a:off x="609905" y="4457700"/>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Shape 43"/>
          <p:cNvSpPr/>
          <p:nvPr/>
        </p:nvSpPr>
        <p:spPr>
          <a:xfrm>
            <a:off x="790956" y="4581144"/>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3" name="Image 7" descr="preencoded.png"/>
          <p:cNvPicPr>
            <a:picLocks noChangeAspect="1"/>
          </p:cNvPicPr>
          <p:nvPr/>
        </p:nvPicPr>
        <p:blipFill>
          <a:blip r:embed="rId10"/>
          <a:srcRect t="-1310" b="-1310"/>
          <a:stretch/>
        </p:blipFill>
        <p:spPr>
          <a:xfrm>
            <a:off x="886054" y="4695444"/>
            <a:ext cx="209398" cy="171907"/>
          </a:xfrm>
          <a:prstGeom prst="rect">
            <a:avLst/>
          </a:prstGeom>
        </p:spPr>
      </p:pic>
      <p:sp>
        <p:nvSpPr>
          <p:cNvPr id="54" name="Text 44"/>
          <p:cNvSpPr txBox="1"/>
          <p:nvPr/>
        </p:nvSpPr>
        <p:spPr>
          <a:xfrm>
            <a:off x="917143" y="502005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04</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45"/>
          <p:cNvSpPr txBox="1"/>
          <p:nvPr/>
        </p:nvSpPr>
        <p:spPr>
          <a:xfrm>
            <a:off x="1371600" y="458114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Digital Engineering &amp; Automation</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Text 46"/>
          <p:cNvSpPr txBox="1"/>
          <p:nvPr/>
        </p:nvSpPr>
        <p:spPr>
          <a:xfrm>
            <a:off x="1371600" y="4802429"/>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Spanning full-stack &amp; UI/UX development, intelligent automation, AI-augmented RPA, and end-to-end process orchestration.</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 name="Shape 47"/>
          <p:cNvSpPr/>
          <p:nvPr/>
        </p:nvSpPr>
        <p:spPr>
          <a:xfrm>
            <a:off x="6210605" y="4457700"/>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 name="Shape 48"/>
          <p:cNvSpPr/>
          <p:nvPr/>
        </p:nvSpPr>
        <p:spPr>
          <a:xfrm>
            <a:off x="6210605" y="4457700"/>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Shape 49"/>
          <p:cNvSpPr/>
          <p:nvPr/>
        </p:nvSpPr>
        <p:spPr>
          <a:xfrm>
            <a:off x="6391656" y="4581144"/>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0" name="Image 8" descr="preencoded.png"/>
          <p:cNvPicPr>
            <a:picLocks noChangeAspect="1"/>
          </p:cNvPicPr>
          <p:nvPr/>
        </p:nvPicPr>
        <p:blipFill>
          <a:blip r:embed="rId11"/>
          <a:srcRect t="-1310" b="-1310"/>
          <a:stretch/>
        </p:blipFill>
        <p:spPr>
          <a:xfrm>
            <a:off x="6486754" y="4695444"/>
            <a:ext cx="209398" cy="171907"/>
          </a:xfrm>
          <a:prstGeom prst="rect">
            <a:avLst/>
          </a:prstGeom>
        </p:spPr>
      </p:pic>
      <p:sp>
        <p:nvSpPr>
          <p:cNvPr id="61" name="Text 50"/>
          <p:cNvSpPr txBox="1"/>
          <p:nvPr/>
        </p:nvSpPr>
        <p:spPr>
          <a:xfrm>
            <a:off x="6516929" y="502005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09</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Text 51"/>
          <p:cNvSpPr txBox="1"/>
          <p:nvPr/>
        </p:nvSpPr>
        <p:spPr>
          <a:xfrm>
            <a:off x="6972300" y="4581144"/>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Salesforce Services</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52"/>
          <p:cNvSpPr txBox="1"/>
          <p:nvPr/>
        </p:nvSpPr>
        <p:spPr>
          <a:xfrm>
            <a:off x="6972300" y="4802429"/>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Complete Salesforce transformation across Sales, Service, Marketing, Financial Services Cloud, and MuleSoft - backed by org audits and managed support.</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 name="Shape 53"/>
          <p:cNvSpPr/>
          <p:nvPr/>
        </p:nvSpPr>
        <p:spPr>
          <a:xfrm>
            <a:off x="609905" y="552480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 name="Shape 54"/>
          <p:cNvSpPr/>
          <p:nvPr/>
        </p:nvSpPr>
        <p:spPr>
          <a:xfrm>
            <a:off x="609905" y="5524805"/>
            <a:ext cx="38405" cy="952805"/>
          </a:xfrm>
          <a:prstGeom prst="roundRect">
            <a:avLst>
              <a:gd name="adj" fmla="val 380950"/>
            </a:avLst>
          </a:prstGeom>
          <a:solidFill>
            <a:srgbClr val="2A9D8F"/>
          </a:solidFill>
          <a:ln w="12700">
            <a:solidFill>
              <a:srgbClr val="2A9D8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Shape 55"/>
          <p:cNvSpPr/>
          <p:nvPr/>
        </p:nvSpPr>
        <p:spPr>
          <a:xfrm>
            <a:off x="790956" y="5648249"/>
            <a:ext cx="400507" cy="400507"/>
          </a:xfrm>
          <a:prstGeom prst="ellipse">
            <a:avLst/>
          </a:prstGeom>
          <a:solidFill>
            <a:srgbClr val="2A9D8F">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7" name="Image 9" descr="preencoded.png"/>
          <p:cNvPicPr>
            <a:picLocks noChangeAspect="1"/>
          </p:cNvPicPr>
          <p:nvPr/>
        </p:nvPicPr>
        <p:blipFill>
          <a:blip r:embed="rId12"/>
          <a:srcRect/>
          <a:stretch/>
        </p:blipFill>
        <p:spPr>
          <a:xfrm>
            <a:off x="905256" y="5762549"/>
            <a:ext cx="171907" cy="171907"/>
          </a:xfrm>
          <a:prstGeom prst="rect">
            <a:avLst/>
          </a:prstGeom>
        </p:spPr>
      </p:pic>
      <p:sp>
        <p:nvSpPr>
          <p:cNvPr id="68" name="Text 56"/>
          <p:cNvSpPr txBox="1"/>
          <p:nvPr/>
        </p:nvSpPr>
        <p:spPr>
          <a:xfrm>
            <a:off x="918058" y="6086246"/>
            <a:ext cx="228600"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2A9D8F">
                    <a:alpha val="60000"/>
                  </a:srgbClr>
                </a:solidFill>
                <a:effectLst/>
                <a:uLnTx/>
                <a:uFillTx/>
                <a:latin typeface="Oswald" pitchFamily="34" charset="0"/>
                <a:ea typeface="Oswald" pitchFamily="34" charset="-122"/>
                <a:cs typeface="Oswald" pitchFamily="34" charset="-120"/>
              </a:rPr>
              <a:t>05</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 name="Text 57"/>
          <p:cNvSpPr txBox="1"/>
          <p:nvPr/>
        </p:nvSpPr>
        <p:spPr>
          <a:xfrm>
            <a:off x="1371600" y="5648249"/>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Data Analytics &amp; Dashboarding</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Text 58"/>
          <p:cNvSpPr txBox="1"/>
          <p:nvPr/>
        </p:nvSpPr>
        <p:spPr>
          <a:xfrm>
            <a:off x="1371600" y="586953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Interactive dashboards across Power BI, Tableau, and Qlik - enabling real-time operational, financial, and leadership insights.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 name="Shape 59"/>
          <p:cNvSpPr/>
          <p:nvPr/>
        </p:nvSpPr>
        <p:spPr>
          <a:xfrm>
            <a:off x="6210605" y="5524805"/>
            <a:ext cx="5372100" cy="952805"/>
          </a:xfrm>
          <a:prstGeom prst="roundRect">
            <a:avLst>
              <a:gd name="adj" fmla="val 15355"/>
            </a:avLst>
          </a:prstGeom>
          <a:solidFill>
            <a:srgbClr val="FFFFFF"/>
          </a:solidFill>
          <a:ln w="12700">
            <a:solidFill>
              <a:srgbClr val="F3F4F6"/>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Shape 60"/>
          <p:cNvSpPr/>
          <p:nvPr/>
        </p:nvSpPr>
        <p:spPr>
          <a:xfrm>
            <a:off x="6210605" y="5524805"/>
            <a:ext cx="38405" cy="952805"/>
          </a:xfrm>
          <a:prstGeom prst="roundRect">
            <a:avLst>
              <a:gd name="adj" fmla="val 380950"/>
            </a:avLst>
          </a:prstGeom>
          <a:solidFill>
            <a:srgbClr val="D62839"/>
          </a:solidFill>
          <a:ln w="12700">
            <a:solidFill>
              <a:srgbClr val="D62839">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 name="Shape 61"/>
          <p:cNvSpPr/>
          <p:nvPr/>
        </p:nvSpPr>
        <p:spPr>
          <a:xfrm>
            <a:off x="6391656" y="5648249"/>
            <a:ext cx="400507" cy="400507"/>
          </a:xfrm>
          <a:prstGeom prst="ellipse">
            <a:avLst/>
          </a:prstGeom>
          <a:solidFill>
            <a:srgbClr val="D62839">
              <a:alpha val="8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4" name="Image 10" descr="preencoded.png"/>
          <p:cNvPicPr>
            <a:picLocks noChangeAspect="1"/>
          </p:cNvPicPr>
          <p:nvPr/>
        </p:nvPicPr>
        <p:blipFill>
          <a:blip r:embed="rId13"/>
          <a:srcRect/>
          <a:stretch/>
        </p:blipFill>
        <p:spPr>
          <a:xfrm>
            <a:off x="6505956" y="5762549"/>
            <a:ext cx="171907" cy="171907"/>
          </a:xfrm>
          <a:prstGeom prst="rect">
            <a:avLst/>
          </a:prstGeom>
        </p:spPr>
      </p:pic>
      <p:sp>
        <p:nvSpPr>
          <p:cNvPr id="75" name="Text 62"/>
          <p:cNvSpPr txBox="1"/>
          <p:nvPr/>
        </p:nvSpPr>
        <p:spPr>
          <a:xfrm>
            <a:off x="6526987" y="6086246"/>
            <a:ext cx="210312" cy="2103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D62839">
                    <a:alpha val="60000"/>
                  </a:srgbClr>
                </a:solidFill>
                <a:effectLst/>
                <a:uLnTx/>
                <a:uFillTx/>
                <a:latin typeface="Oswald" pitchFamily="34" charset="0"/>
                <a:ea typeface="Oswald" pitchFamily="34" charset="-122"/>
                <a:cs typeface="Oswald" pitchFamily="34" charset="-120"/>
              </a:rPr>
              <a:t>10</a:t>
            </a:r>
            <a:endParaRPr kumimoji="0" lang="en-US" sz="1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 name="Text 63"/>
          <p:cNvSpPr txBox="1"/>
          <p:nvPr/>
        </p:nvSpPr>
        <p:spPr>
          <a:xfrm>
            <a:off x="6972300" y="5648249"/>
            <a:ext cx="4601261" cy="19111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4" normalizeH="0" baseline="0" noProof="0">
                <a:ln>
                  <a:noFill/>
                </a:ln>
                <a:solidFill>
                  <a:srgbClr val="1F2937"/>
                </a:solidFill>
                <a:effectLst/>
                <a:uLnTx/>
                <a:uFillTx/>
                <a:latin typeface="Oswald" pitchFamily="34" charset="0"/>
                <a:ea typeface="Oswald" pitchFamily="34" charset="-122"/>
                <a:cs typeface="Oswald" pitchFamily="34" charset="-120"/>
              </a:rPr>
              <a:t>ServiceNow</a:t>
            </a: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 name="Text 64"/>
          <p:cNvSpPr txBox="1"/>
          <p:nvPr/>
        </p:nvSpPr>
        <p:spPr>
          <a:xfrm>
            <a:off x="6972300" y="5869534"/>
            <a:ext cx="4562856" cy="31455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555555"/>
                </a:solidFill>
                <a:effectLst/>
                <a:uLnTx/>
                <a:uFillTx/>
                <a:latin typeface="Raleway" pitchFamily="34" charset="0"/>
                <a:ea typeface="Raleway" pitchFamily="34" charset="-122"/>
                <a:cs typeface="Raleway" pitchFamily="34" charset="-120"/>
              </a:rPr>
              <a:t>End-to-end ServiceNow enablement across ITSM, ITOM, CSM, CMDB, automation workflows, and CoE setup for scalable, multi-instance operations.</a:t>
            </a:r>
            <a:endParaRPr kumimoji="0" lang="en-US" sz="9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8" name="Image 11" descr="preencoded.png"/>
          <p:cNvPicPr>
            <a:picLocks noChangeAspect="1"/>
          </p:cNvPicPr>
          <p:nvPr/>
        </p:nvPicPr>
        <p:blipFill>
          <a:blip r:embed="rId14"/>
          <a:srcRect l="-202" r="-202"/>
          <a:stretch/>
        </p:blipFill>
        <p:spPr>
          <a:xfrm>
            <a:off x="0" y="0"/>
            <a:ext cx="8128102" cy="75895"/>
          </a:xfrm>
          <a:prstGeom prst="rect">
            <a:avLst/>
          </a:prstGeom>
        </p:spPr>
      </p:pic>
      <p:pic>
        <p:nvPicPr>
          <p:cNvPr id="79" name="Image 12" descr="preencoded.png"/>
          <p:cNvPicPr>
            <a:picLocks noChangeAspect="1"/>
          </p:cNvPicPr>
          <p:nvPr/>
        </p:nvPicPr>
        <p:blipFill>
          <a:blip r:embed="rId15"/>
          <a:srcRect l="-197" r="-197"/>
          <a:stretch/>
        </p:blipFill>
        <p:spPr>
          <a:xfrm>
            <a:off x="8128102" y="0"/>
            <a:ext cx="4063594" cy="75895"/>
          </a:xfrm>
          <a:prstGeom prst="rect">
            <a:avLst/>
          </a:prstGeom>
        </p:spPr>
      </p:pic>
    </p:spTree>
    <p:extLst>
      <p:ext uri="{BB962C8B-B14F-4D97-AF65-F5344CB8AC3E}">
        <p14:creationId xmlns:p14="http://schemas.microsoft.com/office/powerpoint/2010/main" val="504767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9663ecf744b06e35d4c2cebaab92a2ea.png"/>
          <p:cNvPicPr>
            <a:picLocks noChangeAspect="1"/>
          </p:cNvPicPr>
          <p:nvPr/>
        </p:nvPicPr>
        <p:blipFill>
          <a:blip r:embed="rId3"/>
          <a:srcRect l="-202" r="-202"/>
          <a:stretch/>
        </p:blipFill>
        <p:spPr>
          <a:xfrm>
            <a:off x="0" y="0"/>
            <a:ext cx="4067251" cy="75895"/>
          </a:xfrm>
          <a:prstGeom prst="rect">
            <a:avLst/>
          </a:prstGeom>
        </p:spPr>
      </p:pic>
      <p:pic>
        <p:nvPicPr>
          <p:cNvPr id="5" name="Image 1" descr="gen-dedup-323228122ff92d2332e711a84ca3b40c.png"/>
          <p:cNvPicPr>
            <a:picLocks noChangeAspect="1"/>
          </p:cNvPicPr>
          <p:nvPr/>
        </p:nvPicPr>
        <p:blipFill>
          <a:blip r:embed="rId4"/>
          <a:srcRect l="-198" r="-198"/>
          <a:stretch/>
        </p:blipFill>
        <p:spPr>
          <a:xfrm>
            <a:off x="4067251" y="0"/>
            <a:ext cx="8124444" cy="75895"/>
          </a:xfrm>
          <a:prstGeom prst="rect">
            <a:avLst/>
          </a:prstGeom>
        </p:spPr>
      </p:pic>
      <p:sp>
        <p:nvSpPr>
          <p:cNvPr id="6" name="Shape 2"/>
          <p:cNvSpPr/>
          <p:nvPr/>
        </p:nvSpPr>
        <p:spPr>
          <a:xfrm>
            <a:off x="9334195" y="-476402"/>
            <a:ext cx="3810305" cy="3810305"/>
          </a:xfrm>
          <a:prstGeom prst="ellipse">
            <a:avLst/>
          </a:prstGeom>
          <a:solidFill>
            <a:srgbClr val="2A9D8F">
              <a:alpha val="2000"/>
            </a:srgbClr>
          </a:solidFill>
          <a:ln w="12700">
            <a:solidFill>
              <a:srgbClr val="FFFFFF">
                <a:alpha val="0"/>
              </a:srgbClr>
            </a:solidFill>
            <a:prstDash val="solid"/>
          </a:ln>
        </p:spPr>
        <p:txBody>
          <a:bodyPr/>
          <a:lstStyle/>
          <a:p>
            <a:endParaRPr lang="en-US"/>
          </a:p>
        </p:txBody>
      </p:sp>
      <p:sp>
        <p:nvSpPr>
          <p:cNvPr id="7" name="Shape 3"/>
          <p:cNvSpPr/>
          <p:nvPr/>
        </p:nvSpPr>
        <p:spPr>
          <a:xfrm>
            <a:off x="-1429207" y="3047695"/>
            <a:ext cx="3333902" cy="3333902"/>
          </a:xfrm>
          <a:prstGeom prst="ellipse">
            <a:avLst/>
          </a:prstGeom>
          <a:solidFill>
            <a:srgbClr val="D62839">
              <a:alpha val="2000"/>
            </a:srgbClr>
          </a:solidFill>
          <a:ln w="12700">
            <a:solidFill>
              <a:srgbClr val="FFFFFF">
                <a:alpha val="0"/>
              </a:srgbClr>
            </a:solidFill>
            <a:prstDash val="solid"/>
          </a:ln>
        </p:spPr>
        <p:txBody>
          <a:bodyPr/>
          <a:lstStyle/>
          <a:p>
            <a:endParaRPr lang="en-US"/>
          </a:p>
        </p:txBody>
      </p:sp>
      <p:sp>
        <p:nvSpPr>
          <p:cNvPr id="8" name="Shape 4"/>
          <p:cNvSpPr/>
          <p:nvPr/>
        </p:nvSpPr>
        <p:spPr>
          <a:xfrm>
            <a:off x="647395" y="4619549"/>
            <a:ext cx="10916107" cy="1781251"/>
          </a:xfrm>
          <a:prstGeom prst="roundRect">
            <a:avLst>
              <a:gd name="adj" fmla="val 4392"/>
            </a:avLst>
          </a:prstGeom>
          <a:solidFill>
            <a:srgbClr val="F8FAFC"/>
          </a:solidFill>
          <a:ln w="12700">
            <a:solidFill>
              <a:srgbClr val="E2E8F0"/>
            </a:solidFill>
            <a:prstDash val="solid"/>
          </a:ln>
        </p:spPr>
        <p:txBody>
          <a:bodyPr/>
          <a:lstStyle/>
          <a:p>
            <a:endParaRPr lang="en-US"/>
          </a:p>
        </p:txBody>
      </p:sp>
      <p:sp>
        <p:nvSpPr>
          <p:cNvPr id="9" name="Shape 5"/>
          <p:cNvSpPr/>
          <p:nvPr/>
        </p:nvSpPr>
        <p:spPr>
          <a:xfrm>
            <a:off x="647395" y="1571854"/>
            <a:ext cx="3524098" cy="2809951"/>
          </a:xfrm>
          <a:prstGeom prst="roundRect">
            <a:avLst>
              <a:gd name="adj" fmla="val 1324"/>
            </a:avLst>
          </a:prstGeom>
          <a:solidFill>
            <a:srgbClr val="FFFFFF"/>
          </a:solidFill>
          <a:ln w="12700">
            <a:solidFill>
              <a:srgbClr val="E2E8F0"/>
            </a:solidFill>
            <a:prstDash val="solid"/>
          </a:ln>
          <a:effectLst>
            <a:outerShdw blurRad="139700" dist="38100" dir="16200000" algn="bl" rotWithShape="0">
              <a:srgbClr val="000000">
                <a:alpha val="3000"/>
              </a:srgbClr>
            </a:outerShdw>
          </a:effectLst>
        </p:spPr>
        <p:txBody>
          <a:bodyPr/>
          <a:lstStyle/>
          <a:p>
            <a:endParaRPr lang="en-US"/>
          </a:p>
        </p:txBody>
      </p:sp>
      <p:sp>
        <p:nvSpPr>
          <p:cNvPr id="10" name="Shape 6"/>
          <p:cNvSpPr/>
          <p:nvPr/>
        </p:nvSpPr>
        <p:spPr>
          <a:xfrm>
            <a:off x="647395" y="1571854"/>
            <a:ext cx="3524098" cy="38405"/>
          </a:xfrm>
          <a:prstGeom prst="roundRect">
            <a:avLst>
              <a:gd name="adj" fmla="val 96852"/>
            </a:avLst>
          </a:prstGeom>
          <a:solidFill>
            <a:srgbClr val="2A9D8F"/>
          </a:solidFill>
          <a:ln w="12700">
            <a:solidFill>
              <a:srgbClr val="2A9D8F">
                <a:alpha val="0"/>
              </a:srgbClr>
            </a:solidFill>
            <a:prstDash val="solid"/>
          </a:ln>
        </p:spPr>
        <p:txBody>
          <a:bodyPr/>
          <a:lstStyle/>
          <a:p>
            <a:endParaRPr lang="en-US"/>
          </a:p>
        </p:txBody>
      </p:sp>
      <p:sp>
        <p:nvSpPr>
          <p:cNvPr id="11" name="Shape 7"/>
          <p:cNvSpPr/>
          <p:nvPr/>
        </p:nvSpPr>
        <p:spPr>
          <a:xfrm>
            <a:off x="4343400" y="1571854"/>
            <a:ext cx="3524098" cy="2809951"/>
          </a:xfrm>
          <a:prstGeom prst="roundRect">
            <a:avLst>
              <a:gd name="adj" fmla="val 1324"/>
            </a:avLst>
          </a:prstGeom>
          <a:solidFill>
            <a:srgbClr val="FFFFFF"/>
          </a:solidFill>
          <a:ln w="12700">
            <a:solidFill>
              <a:srgbClr val="E2E8F0"/>
            </a:solidFill>
            <a:prstDash val="solid"/>
          </a:ln>
          <a:effectLst>
            <a:outerShdw blurRad="139700" dist="38100" dir="16200000" algn="bl" rotWithShape="0">
              <a:srgbClr val="000000">
                <a:alpha val="3000"/>
              </a:srgbClr>
            </a:outerShdw>
          </a:effectLst>
        </p:spPr>
        <p:txBody>
          <a:bodyPr/>
          <a:lstStyle/>
          <a:p>
            <a:endParaRPr lang="en-US"/>
          </a:p>
        </p:txBody>
      </p:sp>
      <p:sp>
        <p:nvSpPr>
          <p:cNvPr id="12" name="Shape 8"/>
          <p:cNvSpPr/>
          <p:nvPr/>
        </p:nvSpPr>
        <p:spPr>
          <a:xfrm>
            <a:off x="4343400" y="1571854"/>
            <a:ext cx="3524098" cy="38405"/>
          </a:xfrm>
          <a:prstGeom prst="roundRect">
            <a:avLst>
              <a:gd name="adj" fmla="val 96852"/>
            </a:avLst>
          </a:prstGeom>
          <a:solidFill>
            <a:srgbClr val="D62839"/>
          </a:solidFill>
          <a:ln w="12700">
            <a:solidFill>
              <a:srgbClr val="D62839">
                <a:alpha val="0"/>
              </a:srgbClr>
            </a:solidFill>
            <a:prstDash val="solid"/>
          </a:ln>
        </p:spPr>
        <p:txBody>
          <a:bodyPr/>
          <a:lstStyle/>
          <a:p>
            <a:endParaRPr lang="en-US"/>
          </a:p>
        </p:txBody>
      </p:sp>
      <p:sp>
        <p:nvSpPr>
          <p:cNvPr id="13" name="Shape 9"/>
          <p:cNvSpPr/>
          <p:nvPr/>
        </p:nvSpPr>
        <p:spPr>
          <a:xfrm>
            <a:off x="8039405" y="1571854"/>
            <a:ext cx="3524098" cy="2809951"/>
          </a:xfrm>
          <a:prstGeom prst="roundRect">
            <a:avLst>
              <a:gd name="adj" fmla="val 1324"/>
            </a:avLst>
          </a:prstGeom>
          <a:solidFill>
            <a:srgbClr val="FFFFFF"/>
          </a:solidFill>
          <a:ln w="12700">
            <a:solidFill>
              <a:srgbClr val="E2E8F0"/>
            </a:solidFill>
            <a:prstDash val="solid"/>
          </a:ln>
          <a:effectLst>
            <a:outerShdw blurRad="139700" dist="38100" dir="16200000" algn="bl" rotWithShape="0">
              <a:srgbClr val="000000">
                <a:alpha val="3000"/>
              </a:srgbClr>
            </a:outerShdw>
          </a:effectLst>
        </p:spPr>
        <p:txBody>
          <a:bodyPr/>
          <a:lstStyle/>
          <a:p>
            <a:endParaRPr lang="en-US"/>
          </a:p>
        </p:txBody>
      </p:sp>
      <p:sp>
        <p:nvSpPr>
          <p:cNvPr id="14" name="Shape 10"/>
          <p:cNvSpPr/>
          <p:nvPr/>
        </p:nvSpPr>
        <p:spPr>
          <a:xfrm>
            <a:off x="8039405" y="1571854"/>
            <a:ext cx="3524098" cy="38405"/>
          </a:xfrm>
          <a:prstGeom prst="roundRect">
            <a:avLst>
              <a:gd name="adj" fmla="val 96852"/>
            </a:avLst>
          </a:prstGeom>
          <a:solidFill>
            <a:srgbClr val="111827"/>
          </a:solidFill>
          <a:ln w="12700">
            <a:solidFill>
              <a:srgbClr val="111827">
                <a:alpha val="0"/>
              </a:srgbClr>
            </a:solidFill>
            <a:prstDash val="solid"/>
          </a:ln>
        </p:spPr>
        <p:txBody>
          <a:bodyPr/>
          <a:lstStyle/>
          <a:p>
            <a:endParaRPr lang="en-US"/>
          </a:p>
        </p:txBody>
      </p:sp>
      <p:sp>
        <p:nvSpPr>
          <p:cNvPr id="15" name="Shape 11"/>
          <p:cNvSpPr/>
          <p:nvPr/>
        </p:nvSpPr>
        <p:spPr>
          <a:xfrm>
            <a:off x="905256" y="5143500"/>
            <a:ext cx="2467051"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sp>
        <p:nvSpPr>
          <p:cNvPr id="16" name="Shape 12"/>
          <p:cNvSpPr/>
          <p:nvPr/>
        </p:nvSpPr>
        <p:spPr>
          <a:xfrm>
            <a:off x="3666744" y="5143500"/>
            <a:ext cx="2467051"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sp>
        <p:nvSpPr>
          <p:cNvPr id="17" name="Shape 13"/>
          <p:cNvSpPr/>
          <p:nvPr/>
        </p:nvSpPr>
        <p:spPr>
          <a:xfrm>
            <a:off x="6429146" y="5143500"/>
            <a:ext cx="2467051"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sp>
        <p:nvSpPr>
          <p:cNvPr id="18" name="Shape 14"/>
          <p:cNvSpPr/>
          <p:nvPr/>
        </p:nvSpPr>
        <p:spPr>
          <a:xfrm>
            <a:off x="9191549" y="5143500"/>
            <a:ext cx="2180844"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pic>
        <p:nvPicPr>
          <p:cNvPr id="19" name="Image 2" descr="gen-dedup-06e3d16aa0e9246458a784af17ea21a8.png"/>
          <p:cNvPicPr>
            <a:picLocks noChangeAspect="1"/>
          </p:cNvPicPr>
          <p:nvPr/>
        </p:nvPicPr>
        <p:blipFill>
          <a:blip r:embed="rId5"/>
          <a:srcRect l="-437" r="-437"/>
          <a:stretch/>
        </p:blipFill>
        <p:spPr>
          <a:xfrm>
            <a:off x="647395" y="743407"/>
            <a:ext cx="57607" cy="418795"/>
          </a:xfrm>
          <a:prstGeom prst="rect">
            <a:avLst/>
          </a:prstGeom>
        </p:spPr>
      </p:pic>
      <p:sp>
        <p:nvSpPr>
          <p:cNvPr id="20" name="Text 15"/>
          <p:cNvSpPr txBox="1"/>
          <p:nvPr/>
        </p:nvSpPr>
        <p:spPr>
          <a:xfrm>
            <a:off x="857707" y="685800"/>
            <a:ext cx="10478110" cy="419710"/>
          </a:xfrm>
          <a:prstGeom prst="rect">
            <a:avLst/>
          </a:prstGeom>
          <a:noFill/>
          <a:ln/>
        </p:spPr>
        <p:txBody>
          <a:bodyPr wrap="square" lIns="0" tIns="0" rIns="0" bIns="0" rtlCol="0" anchor="ctr"/>
          <a:lstStyle/>
          <a:p>
            <a:pPr marL="0" indent="0" algn="l">
              <a:buNone/>
            </a:pPr>
            <a:r>
              <a:rPr lang="en-US" sz="3000" b="1" dirty="0">
                <a:solidFill>
                  <a:srgbClr val="111827"/>
                </a:solidFill>
                <a:latin typeface="Oswald" pitchFamily="34" charset="0"/>
                <a:ea typeface="Oswald" pitchFamily="34" charset="-122"/>
                <a:cs typeface="Oswald" pitchFamily="34" charset="-120"/>
              </a:rPr>
              <a:t>NEXT STEPS</a:t>
            </a:r>
            <a:endParaRPr lang="en-US" sz="3000" dirty="0"/>
          </a:p>
        </p:txBody>
      </p:sp>
      <p:sp>
        <p:nvSpPr>
          <p:cNvPr id="21" name="Text 16"/>
          <p:cNvSpPr txBox="1"/>
          <p:nvPr/>
        </p:nvSpPr>
        <p:spPr>
          <a:xfrm>
            <a:off x="857707" y="1143000"/>
            <a:ext cx="10478110" cy="181051"/>
          </a:xfrm>
          <a:prstGeom prst="rect">
            <a:avLst/>
          </a:prstGeom>
          <a:noFill/>
          <a:ln/>
        </p:spPr>
        <p:txBody>
          <a:bodyPr wrap="square" lIns="0" tIns="0" rIns="0" bIns="0" rtlCol="0" anchor="ctr"/>
          <a:lstStyle/>
          <a:p>
            <a:pPr marL="0" indent="0" algn="l">
              <a:buNone/>
            </a:pPr>
            <a:r>
              <a:rPr lang="en-US" sz="1200" b="1" kern="0" spc="60" dirty="0">
                <a:solidFill>
                  <a:srgbClr val="2A9D8F"/>
                </a:solidFill>
                <a:latin typeface="Roboto Condensed" pitchFamily="34" charset="0"/>
                <a:ea typeface="Roboto Condensed" pitchFamily="34" charset="-122"/>
                <a:cs typeface="Roboto Condensed" pitchFamily="34" charset="-120"/>
              </a:rPr>
              <a:t>FLEXIBLE ENGAGEMENT MODELS TAILORED TO YOUR THREE-YEAR ROADMAP</a:t>
            </a:r>
            <a:endParaRPr lang="en-US" sz="1200" dirty="0"/>
          </a:p>
        </p:txBody>
      </p:sp>
      <p:sp>
        <p:nvSpPr>
          <p:cNvPr id="22" name="Shape 17"/>
          <p:cNvSpPr/>
          <p:nvPr/>
        </p:nvSpPr>
        <p:spPr>
          <a:xfrm>
            <a:off x="838505" y="1762049"/>
            <a:ext cx="457200" cy="457200"/>
          </a:xfrm>
          <a:prstGeom prst="roundRect">
            <a:avLst>
              <a:gd name="adj" fmla="val 66667"/>
            </a:avLst>
          </a:prstGeom>
          <a:solidFill>
            <a:srgbClr val="E6F3F1"/>
          </a:solidFill>
          <a:ln w="12700">
            <a:solidFill>
              <a:srgbClr val="FFFFFF">
                <a:alpha val="0"/>
              </a:srgbClr>
            </a:solidFill>
            <a:prstDash val="solid"/>
          </a:ln>
        </p:spPr>
        <p:txBody>
          <a:bodyPr/>
          <a:lstStyle/>
          <a:p>
            <a:endParaRPr lang="en-US"/>
          </a:p>
        </p:txBody>
      </p:sp>
      <p:pic>
        <p:nvPicPr>
          <p:cNvPr id="23" name="Image 3" descr="gen-dedup-fa5d0b435e79f3035aaec6593bf7cfb3.png"/>
          <p:cNvPicPr>
            <a:picLocks noChangeAspect="1"/>
          </p:cNvPicPr>
          <p:nvPr/>
        </p:nvPicPr>
        <p:blipFill>
          <a:blip r:embed="rId6"/>
          <a:srcRect l="-3526" r="-3526"/>
          <a:stretch/>
        </p:blipFill>
        <p:spPr>
          <a:xfrm>
            <a:off x="990295" y="1895551"/>
            <a:ext cx="152705" cy="190195"/>
          </a:xfrm>
          <a:prstGeom prst="rect">
            <a:avLst/>
          </a:prstGeom>
        </p:spPr>
      </p:pic>
      <p:sp>
        <p:nvSpPr>
          <p:cNvPr id="24" name="Text 18"/>
          <p:cNvSpPr txBox="1"/>
          <p:nvPr/>
        </p:nvSpPr>
        <p:spPr>
          <a:xfrm>
            <a:off x="1447495" y="1794967"/>
            <a:ext cx="1995221" cy="238658"/>
          </a:xfrm>
          <a:prstGeom prst="rect">
            <a:avLst/>
          </a:prstGeom>
          <a:noFill/>
          <a:ln/>
        </p:spPr>
        <p:txBody>
          <a:bodyPr wrap="squar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Discovery Workshop</a:t>
            </a:r>
            <a:endParaRPr lang="en-US" sz="1600"/>
          </a:p>
        </p:txBody>
      </p:sp>
      <p:sp>
        <p:nvSpPr>
          <p:cNvPr id="25" name="Text 19"/>
          <p:cNvSpPr txBox="1"/>
          <p:nvPr/>
        </p:nvSpPr>
        <p:spPr>
          <a:xfrm>
            <a:off x="1447495" y="2043684"/>
            <a:ext cx="1677010" cy="143561"/>
          </a:xfrm>
          <a:prstGeom prst="rect">
            <a:avLst/>
          </a:prstGeom>
          <a:noFill/>
          <a:ln/>
        </p:spPr>
        <p:txBody>
          <a:bodyPr wrap="square" lIns="0" tIns="0" rIns="0" bIns="0" rtlCol="0" anchor="ctr"/>
          <a:lstStyle/>
          <a:p>
            <a:pPr marL="0" indent="0" algn="l">
              <a:buNone/>
            </a:pPr>
            <a:r>
              <a:rPr lang="en-US" sz="900">
                <a:solidFill>
                  <a:srgbClr val="64748B"/>
                </a:solidFill>
                <a:latin typeface="Raleway" pitchFamily="34" charset="0"/>
                <a:ea typeface="Raleway" pitchFamily="34" charset="-122"/>
                <a:cs typeface="Raleway" pitchFamily="34" charset="-120"/>
              </a:rPr>
              <a:t>Duration: ~90 Minutes</a:t>
            </a:r>
            <a:endParaRPr lang="en-US" sz="900"/>
          </a:p>
        </p:txBody>
      </p:sp>
      <p:sp>
        <p:nvSpPr>
          <p:cNvPr id="26" name="Shape 20"/>
          <p:cNvSpPr/>
          <p:nvPr/>
        </p:nvSpPr>
        <p:spPr>
          <a:xfrm>
            <a:off x="3259836" y="1762049"/>
            <a:ext cx="705002" cy="256946"/>
          </a:xfrm>
          <a:prstGeom prst="roundRect">
            <a:avLst>
              <a:gd name="adj" fmla="val 316331"/>
            </a:avLst>
          </a:prstGeom>
          <a:solidFill>
            <a:srgbClr val="E6F3F1"/>
          </a:solidFill>
          <a:ln w="12700">
            <a:solidFill>
              <a:srgbClr val="FFFFFF">
                <a:alpha val="0"/>
              </a:srgbClr>
            </a:solidFill>
            <a:prstDash val="solid"/>
          </a:ln>
        </p:spPr>
        <p:txBody>
          <a:bodyPr/>
          <a:lstStyle/>
          <a:p>
            <a:endParaRPr lang="en-US"/>
          </a:p>
        </p:txBody>
      </p:sp>
      <p:sp>
        <p:nvSpPr>
          <p:cNvPr id="27" name="Text 21"/>
          <p:cNvSpPr txBox="1"/>
          <p:nvPr/>
        </p:nvSpPr>
        <p:spPr>
          <a:xfrm>
            <a:off x="838505" y="2447849"/>
            <a:ext cx="3124505" cy="133502"/>
          </a:xfrm>
          <a:prstGeom prst="rect">
            <a:avLst/>
          </a:prstGeom>
          <a:noFill/>
          <a:ln/>
        </p:spPr>
        <p:txBody>
          <a:bodyPr wrap="square" lIns="0" tIns="0" rIns="0" bIns="0" rtlCol="0" anchor="ctr"/>
          <a:lstStyle/>
          <a:p>
            <a:pPr marL="0" indent="0" algn="l">
              <a:buNone/>
            </a:pPr>
            <a:r>
              <a:rPr lang="en-US" sz="900" b="1" kern="0" spc="45">
                <a:solidFill>
                  <a:srgbClr val="94A3B8"/>
                </a:solidFill>
                <a:latin typeface="Roboto Condensed" pitchFamily="34" charset="0"/>
                <a:ea typeface="Roboto Condensed" pitchFamily="34" charset="-122"/>
                <a:cs typeface="Roboto Condensed" pitchFamily="34" charset="-120"/>
              </a:rPr>
              <a:t>KEY DELIVERABLES</a:t>
            </a:r>
            <a:endParaRPr lang="en-US" sz="900"/>
          </a:p>
        </p:txBody>
      </p:sp>
      <p:pic>
        <p:nvPicPr>
          <p:cNvPr id="28" name="Image 4" descr="gen-dedup-2910efa1624004b251a6644ba5a6ae47.png"/>
          <p:cNvPicPr>
            <a:picLocks noChangeAspect="1"/>
          </p:cNvPicPr>
          <p:nvPr/>
        </p:nvPicPr>
        <p:blipFill>
          <a:blip r:embed="rId7"/>
          <a:srcRect t="-27726" b="-27726"/>
          <a:stretch/>
        </p:blipFill>
        <p:spPr>
          <a:xfrm>
            <a:off x="838505" y="2734056"/>
            <a:ext cx="85954" cy="152705"/>
          </a:xfrm>
          <a:prstGeom prst="rect">
            <a:avLst/>
          </a:prstGeom>
        </p:spPr>
      </p:pic>
      <p:sp>
        <p:nvSpPr>
          <p:cNvPr id="29" name="Text 22"/>
          <p:cNvSpPr txBox="1"/>
          <p:nvPr/>
        </p:nvSpPr>
        <p:spPr>
          <a:xfrm>
            <a:off x="1019556" y="2695651"/>
            <a:ext cx="2732227" cy="191110"/>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Use case identification &amp; prioritization</a:t>
            </a:r>
            <a:endParaRPr lang="en-US" sz="1000"/>
          </a:p>
        </p:txBody>
      </p:sp>
      <p:pic>
        <p:nvPicPr>
          <p:cNvPr id="30" name="Image 5" descr="gen-dedup-2910efa1624004b251a6644ba5a6ae47.png"/>
          <p:cNvPicPr>
            <a:picLocks noChangeAspect="1"/>
          </p:cNvPicPr>
          <p:nvPr/>
        </p:nvPicPr>
        <p:blipFill>
          <a:blip r:embed="rId7"/>
          <a:srcRect t="-27726" b="-27726"/>
          <a:stretch/>
        </p:blipFill>
        <p:spPr>
          <a:xfrm>
            <a:off x="838505" y="3019349"/>
            <a:ext cx="85954" cy="152705"/>
          </a:xfrm>
          <a:prstGeom prst="rect">
            <a:avLst/>
          </a:prstGeom>
        </p:spPr>
      </p:pic>
      <p:sp>
        <p:nvSpPr>
          <p:cNvPr id="31" name="Text 23"/>
          <p:cNvSpPr txBox="1"/>
          <p:nvPr/>
        </p:nvSpPr>
        <p:spPr>
          <a:xfrm>
            <a:off x="1019556" y="2980944"/>
            <a:ext cx="1972361" cy="191110"/>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Value hypothesis definition</a:t>
            </a:r>
            <a:endParaRPr lang="en-US" sz="1000"/>
          </a:p>
        </p:txBody>
      </p:sp>
      <p:pic>
        <p:nvPicPr>
          <p:cNvPr id="32" name="Image 6" descr="gen-dedup-2910efa1624004b251a6644ba5a6ae47.png"/>
          <p:cNvPicPr>
            <a:picLocks noChangeAspect="1"/>
          </p:cNvPicPr>
          <p:nvPr/>
        </p:nvPicPr>
        <p:blipFill>
          <a:blip r:embed="rId7"/>
          <a:srcRect t="-27726" b="-27726"/>
          <a:stretch/>
        </p:blipFill>
        <p:spPr>
          <a:xfrm>
            <a:off x="838505" y="3305556"/>
            <a:ext cx="85954" cy="152705"/>
          </a:xfrm>
          <a:prstGeom prst="rect">
            <a:avLst/>
          </a:prstGeom>
        </p:spPr>
      </p:pic>
      <p:sp>
        <p:nvSpPr>
          <p:cNvPr id="33" name="Text 24"/>
          <p:cNvSpPr txBox="1"/>
          <p:nvPr/>
        </p:nvSpPr>
        <p:spPr>
          <a:xfrm>
            <a:off x="1019556" y="3267151"/>
            <a:ext cx="3377794" cy="191110"/>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High-level roadmap aligned to 70/30 strategy</a:t>
            </a:r>
            <a:endParaRPr lang="en-US" sz="1000"/>
          </a:p>
        </p:txBody>
      </p:sp>
      <p:sp>
        <p:nvSpPr>
          <p:cNvPr id="34" name="Text 25"/>
          <p:cNvSpPr txBox="1"/>
          <p:nvPr/>
        </p:nvSpPr>
        <p:spPr>
          <a:xfrm>
            <a:off x="3354934" y="1848002"/>
            <a:ext cx="662026" cy="124358"/>
          </a:xfrm>
          <a:prstGeom prst="rect">
            <a:avLst/>
          </a:prstGeom>
          <a:noFill/>
          <a:ln/>
        </p:spPr>
        <p:txBody>
          <a:bodyPr wrap="square" lIns="0" tIns="0" rIns="0" bIns="0" rtlCol="0" anchor="ctr"/>
          <a:lstStyle/>
          <a:p>
            <a:pPr marL="0" indent="0" algn="l">
              <a:buNone/>
            </a:pPr>
            <a:r>
              <a:rPr lang="en-US" sz="800" b="1">
                <a:solidFill>
                  <a:srgbClr val="2A9D8F"/>
                </a:solidFill>
                <a:latin typeface="Roboto Condensed" pitchFamily="34" charset="0"/>
                <a:ea typeface="Roboto Condensed" pitchFamily="34" charset="-122"/>
                <a:cs typeface="Roboto Condensed" pitchFamily="34" charset="-120"/>
              </a:rPr>
              <a:t>LOW TOUCH</a:t>
            </a:r>
            <a:endParaRPr lang="en-US" sz="800"/>
          </a:p>
        </p:txBody>
      </p:sp>
      <p:sp>
        <p:nvSpPr>
          <p:cNvPr id="35" name="Shape 26"/>
          <p:cNvSpPr/>
          <p:nvPr/>
        </p:nvSpPr>
        <p:spPr>
          <a:xfrm>
            <a:off x="4533595" y="1762049"/>
            <a:ext cx="457200" cy="457200"/>
          </a:xfrm>
          <a:prstGeom prst="roundRect">
            <a:avLst>
              <a:gd name="adj" fmla="val 66667"/>
            </a:avLst>
          </a:prstGeom>
          <a:solidFill>
            <a:srgbClr val="FBE6E8"/>
          </a:solidFill>
          <a:ln w="12700">
            <a:solidFill>
              <a:srgbClr val="FFFFFF">
                <a:alpha val="0"/>
              </a:srgbClr>
            </a:solidFill>
            <a:prstDash val="solid"/>
          </a:ln>
        </p:spPr>
        <p:txBody>
          <a:bodyPr/>
          <a:lstStyle/>
          <a:p>
            <a:endParaRPr lang="en-US"/>
          </a:p>
        </p:txBody>
      </p:sp>
      <p:pic>
        <p:nvPicPr>
          <p:cNvPr id="36" name="Image 7" descr="gen-dedup-302cf04975ca72dffec5134ed5b99fbe.png"/>
          <p:cNvPicPr>
            <a:picLocks noChangeAspect="1"/>
          </p:cNvPicPr>
          <p:nvPr/>
        </p:nvPicPr>
        <p:blipFill>
          <a:blip r:embed="rId8"/>
          <a:srcRect t="-4491" b="-4491"/>
          <a:stretch/>
        </p:blipFill>
        <p:spPr>
          <a:xfrm>
            <a:off x="4686300" y="1895551"/>
            <a:ext cx="152705" cy="190195"/>
          </a:xfrm>
          <a:prstGeom prst="rect">
            <a:avLst/>
          </a:prstGeom>
        </p:spPr>
      </p:pic>
      <p:sp>
        <p:nvSpPr>
          <p:cNvPr id="37" name="Text 27"/>
          <p:cNvSpPr txBox="1"/>
          <p:nvPr/>
        </p:nvSpPr>
        <p:spPr>
          <a:xfrm>
            <a:off x="5143500" y="1794967"/>
            <a:ext cx="1825142" cy="238658"/>
          </a:xfrm>
          <a:prstGeom prst="rect">
            <a:avLst/>
          </a:prstGeom>
          <a:noFill/>
          <a:ln/>
        </p:spPr>
        <p:txBody>
          <a:bodyPr wrap="squar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Assessment &amp; PoC</a:t>
            </a:r>
            <a:endParaRPr lang="en-US" sz="1600"/>
          </a:p>
        </p:txBody>
      </p:sp>
      <p:sp>
        <p:nvSpPr>
          <p:cNvPr id="38" name="Text 28"/>
          <p:cNvSpPr txBox="1"/>
          <p:nvPr/>
        </p:nvSpPr>
        <p:spPr>
          <a:xfrm>
            <a:off x="5143500" y="2043684"/>
            <a:ext cx="1534363" cy="143561"/>
          </a:xfrm>
          <a:prstGeom prst="rect">
            <a:avLst/>
          </a:prstGeom>
          <a:noFill/>
          <a:ln/>
        </p:spPr>
        <p:txBody>
          <a:bodyPr wrap="square" lIns="0" tIns="0" rIns="0" bIns="0" rtlCol="0" anchor="ctr"/>
          <a:lstStyle/>
          <a:p>
            <a:pPr marL="0" indent="0" algn="l">
              <a:buNone/>
            </a:pPr>
            <a:r>
              <a:rPr lang="en-US" sz="900">
                <a:solidFill>
                  <a:srgbClr val="64748B"/>
                </a:solidFill>
                <a:latin typeface="Raleway" pitchFamily="34" charset="0"/>
                <a:ea typeface="Raleway" pitchFamily="34" charset="-122"/>
                <a:cs typeface="Raleway" pitchFamily="34" charset="-120"/>
              </a:rPr>
              <a:t>Duration: 4 Weeks</a:t>
            </a:r>
            <a:endParaRPr lang="en-US" sz="900"/>
          </a:p>
        </p:txBody>
      </p:sp>
      <p:sp>
        <p:nvSpPr>
          <p:cNvPr id="39" name="Shape 29"/>
          <p:cNvSpPr/>
          <p:nvPr/>
        </p:nvSpPr>
        <p:spPr>
          <a:xfrm>
            <a:off x="6982358" y="1762049"/>
            <a:ext cx="676656" cy="256946"/>
          </a:xfrm>
          <a:prstGeom prst="roundRect">
            <a:avLst>
              <a:gd name="adj" fmla="val 316331"/>
            </a:avLst>
          </a:prstGeom>
          <a:solidFill>
            <a:srgbClr val="FBE6E8"/>
          </a:solidFill>
          <a:ln w="12700">
            <a:solidFill>
              <a:srgbClr val="FFFFFF">
                <a:alpha val="0"/>
              </a:srgbClr>
            </a:solidFill>
            <a:prstDash val="solid"/>
          </a:ln>
        </p:spPr>
        <p:txBody>
          <a:bodyPr/>
          <a:lstStyle/>
          <a:p>
            <a:endParaRPr lang="en-US"/>
          </a:p>
        </p:txBody>
      </p:sp>
      <p:sp>
        <p:nvSpPr>
          <p:cNvPr id="40" name="Text 30"/>
          <p:cNvSpPr txBox="1"/>
          <p:nvPr/>
        </p:nvSpPr>
        <p:spPr>
          <a:xfrm>
            <a:off x="4533595" y="2447849"/>
            <a:ext cx="3124505" cy="133502"/>
          </a:xfrm>
          <a:prstGeom prst="rect">
            <a:avLst/>
          </a:prstGeom>
          <a:noFill/>
          <a:ln/>
        </p:spPr>
        <p:txBody>
          <a:bodyPr wrap="square" lIns="0" tIns="0" rIns="0" bIns="0" rtlCol="0" anchor="ctr"/>
          <a:lstStyle/>
          <a:p>
            <a:pPr marL="0" indent="0" algn="l">
              <a:buNone/>
            </a:pPr>
            <a:r>
              <a:rPr lang="en-US" sz="900" b="1" kern="0" spc="45">
                <a:solidFill>
                  <a:srgbClr val="94A3B8"/>
                </a:solidFill>
                <a:latin typeface="Roboto Condensed" pitchFamily="34" charset="0"/>
                <a:ea typeface="Roboto Condensed" pitchFamily="34" charset="-122"/>
                <a:cs typeface="Roboto Condensed" pitchFamily="34" charset="-120"/>
              </a:rPr>
              <a:t>KEY DELIVERABLES</a:t>
            </a:r>
            <a:endParaRPr lang="en-US" sz="900"/>
          </a:p>
        </p:txBody>
      </p:sp>
      <p:pic>
        <p:nvPicPr>
          <p:cNvPr id="41" name="Image 8" descr="gen-dedup-3f480c66afa147b2245dea2610bb3896.png"/>
          <p:cNvPicPr>
            <a:picLocks noChangeAspect="1"/>
          </p:cNvPicPr>
          <p:nvPr/>
        </p:nvPicPr>
        <p:blipFill>
          <a:blip r:embed="rId9"/>
          <a:srcRect t="-12832" b="-12832"/>
          <a:stretch/>
        </p:blipFill>
        <p:spPr>
          <a:xfrm>
            <a:off x="4533595" y="2734056"/>
            <a:ext cx="85954" cy="123444"/>
          </a:xfrm>
          <a:prstGeom prst="rect">
            <a:avLst/>
          </a:prstGeom>
        </p:spPr>
      </p:pic>
      <p:sp>
        <p:nvSpPr>
          <p:cNvPr id="42" name="Text 31"/>
          <p:cNvSpPr txBox="1"/>
          <p:nvPr/>
        </p:nvSpPr>
        <p:spPr>
          <a:xfrm>
            <a:off x="4714646" y="2695651"/>
            <a:ext cx="2154326"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Target state architecture design</a:t>
            </a:r>
            <a:endParaRPr lang="en-US" sz="900"/>
          </a:p>
        </p:txBody>
      </p:sp>
      <p:pic>
        <p:nvPicPr>
          <p:cNvPr id="43" name="Image 9" descr="gen-dedup-3f480c66afa147b2245dea2610bb3896.png"/>
          <p:cNvPicPr>
            <a:picLocks noChangeAspect="1"/>
          </p:cNvPicPr>
          <p:nvPr/>
        </p:nvPicPr>
        <p:blipFill>
          <a:blip r:embed="rId9"/>
          <a:srcRect t="-12832" b="-12832"/>
          <a:stretch/>
        </p:blipFill>
        <p:spPr>
          <a:xfrm>
            <a:off x="4533595" y="2971800"/>
            <a:ext cx="85954" cy="123444"/>
          </a:xfrm>
          <a:prstGeom prst="rect">
            <a:avLst/>
          </a:prstGeom>
        </p:spPr>
      </p:pic>
      <p:sp>
        <p:nvSpPr>
          <p:cNvPr id="44" name="Text 32"/>
          <p:cNvSpPr txBox="1"/>
          <p:nvPr/>
        </p:nvSpPr>
        <p:spPr>
          <a:xfrm>
            <a:off x="4714646" y="2933395"/>
            <a:ext cx="2505456"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Working pilot / MVP implementation</a:t>
            </a:r>
            <a:endParaRPr lang="en-US" sz="900"/>
          </a:p>
        </p:txBody>
      </p:sp>
      <p:pic>
        <p:nvPicPr>
          <p:cNvPr id="45" name="Image 10" descr="gen-dedup-3f480c66afa147b2245dea2610bb3896.png"/>
          <p:cNvPicPr>
            <a:picLocks noChangeAspect="1"/>
          </p:cNvPicPr>
          <p:nvPr/>
        </p:nvPicPr>
        <p:blipFill>
          <a:blip r:embed="rId9"/>
          <a:srcRect t="-12832" b="-12832"/>
          <a:stretch/>
        </p:blipFill>
        <p:spPr>
          <a:xfrm>
            <a:off x="4533595" y="3209544"/>
            <a:ext cx="85954" cy="123444"/>
          </a:xfrm>
          <a:prstGeom prst="rect">
            <a:avLst/>
          </a:prstGeom>
        </p:spPr>
      </p:pic>
      <p:sp>
        <p:nvSpPr>
          <p:cNvPr id="46" name="Text 33"/>
          <p:cNvSpPr txBox="1"/>
          <p:nvPr/>
        </p:nvSpPr>
        <p:spPr>
          <a:xfrm>
            <a:off x="4714646" y="3172054"/>
            <a:ext cx="2278685"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Detailed ROI model &amp; rollout plan</a:t>
            </a:r>
            <a:endParaRPr lang="en-US" sz="900"/>
          </a:p>
        </p:txBody>
      </p:sp>
      <p:pic>
        <p:nvPicPr>
          <p:cNvPr id="47" name="Image 11" descr="gen-dedup-3f480c66afa147b2245dea2610bb3896.png"/>
          <p:cNvPicPr>
            <a:picLocks noChangeAspect="1"/>
          </p:cNvPicPr>
          <p:nvPr/>
        </p:nvPicPr>
        <p:blipFill>
          <a:blip r:embed="rId9"/>
          <a:srcRect t="-12832" b="-12832"/>
          <a:stretch/>
        </p:blipFill>
        <p:spPr>
          <a:xfrm>
            <a:off x="4533595" y="3448202"/>
            <a:ext cx="85954" cy="123444"/>
          </a:xfrm>
          <a:prstGeom prst="rect">
            <a:avLst/>
          </a:prstGeom>
        </p:spPr>
      </p:pic>
      <p:sp>
        <p:nvSpPr>
          <p:cNvPr id="48" name="Text 34"/>
          <p:cNvSpPr txBox="1"/>
          <p:nvPr/>
        </p:nvSpPr>
        <p:spPr>
          <a:xfrm>
            <a:off x="4714646" y="3409798"/>
            <a:ext cx="2108606"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Vendor integration assessment</a:t>
            </a:r>
            <a:endParaRPr lang="en-US" sz="900"/>
          </a:p>
        </p:txBody>
      </p:sp>
      <p:sp>
        <p:nvSpPr>
          <p:cNvPr id="49" name="Text 35"/>
          <p:cNvSpPr txBox="1"/>
          <p:nvPr/>
        </p:nvSpPr>
        <p:spPr>
          <a:xfrm>
            <a:off x="7077456" y="1848002"/>
            <a:ext cx="658368" cy="124358"/>
          </a:xfrm>
          <a:prstGeom prst="rect">
            <a:avLst/>
          </a:prstGeom>
          <a:noFill/>
          <a:ln/>
        </p:spPr>
        <p:txBody>
          <a:bodyPr wrap="square" lIns="0" tIns="0" rIns="0" bIns="0" rtlCol="0" anchor="ctr"/>
          <a:lstStyle/>
          <a:p>
            <a:pPr marL="0" indent="0" algn="l">
              <a:buNone/>
            </a:pPr>
            <a:r>
              <a:rPr lang="en-US" sz="800" b="1">
                <a:solidFill>
                  <a:srgbClr val="D62839"/>
                </a:solidFill>
                <a:latin typeface="Roboto Condensed" pitchFamily="34" charset="0"/>
                <a:ea typeface="Roboto Condensed" pitchFamily="34" charset="-122"/>
                <a:cs typeface="Roboto Condensed" pitchFamily="34" charset="-120"/>
              </a:rPr>
              <a:t>STRATEGIC</a:t>
            </a:r>
            <a:endParaRPr lang="en-US" sz="800"/>
          </a:p>
        </p:txBody>
      </p:sp>
      <p:sp>
        <p:nvSpPr>
          <p:cNvPr id="50" name="Shape 36"/>
          <p:cNvSpPr/>
          <p:nvPr/>
        </p:nvSpPr>
        <p:spPr>
          <a:xfrm>
            <a:off x="8229600" y="1762049"/>
            <a:ext cx="457200" cy="457200"/>
          </a:xfrm>
          <a:prstGeom prst="roundRect">
            <a:avLst>
              <a:gd name="adj" fmla="val 66667"/>
            </a:avLst>
          </a:prstGeom>
          <a:solidFill>
            <a:srgbClr val="F1F5F9"/>
          </a:solidFill>
          <a:ln w="12700">
            <a:solidFill>
              <a:srgbClr val="FFFFFF">
                <a:alpha val="0"/>
              </a:srgbClr>
            </a:solidFill>
            <a:prstDash val="solid"/>
          </a:ln>
        </p:spPr>
        <p:txBody>
          <a:bodyPr/>
          <a:lstStyle/>
          <a:p>
            <a:endParaRPr lang="en-US"/>
          </a:p>
        </p:txBody>
      </p:sp>
      <p:pic>
        <p:nvPicPr>
          <p:cNvPr id="51" name="Image 12" descr="gen-dedup-e104b6e838315a11dc2d3bf260faf00b.png"/>
          <p:cNvPicPr>
            <a:picLocks noChangeAspect="1"/>
          </p:cNvPicPr>
          <p:nvPr/>
        </p:nvPicPr>
        <p:blipFill>
          <a:blip r:embed="rId10"/>
          <a:srcRect t="-27844" b="-27844"/>
          <a:stretch/>
        </p:blipFill>
        <p:spPr>
          <a:xfrm>
            <a:off x="8382305" y="1895551"/>
            <a:ext cx="152705" cy="190195"/>
          </a:xfrm>
          <a:prstGeom prst="rect">
            <a:avLst/>
          </a:prstGeom>
        </p:spPr>
      </p:pic>
      <p:sp>
        <p:nvSpPr>
          <p:cNvPr id="52" name="Text 37"/>
          <p:cNvSpPr txBox="1"/>
          <p:nvPr/>
        </p:nvSpPr>
        <p:spPr>
          <a:xfrm>
            <a:off x="8839505" y="1794967"/>
            <a:ext cx="1938528" cy="238658"/>
          </a:xfrm>
          <a:prstGeom prst="rect">
            <a:avLst/>
          </a:prstGeom>
          <a:noFill/>
          <a:ln/>
        </p:spPr>
        <p:txBody>
          <a:bodyPr wrap="squar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Build &amp; Run Models</a:t>
            </a:r>
            <a:endParaRPr lang="en-US" sz="1600"/>
          </a:p>
        </p:txBody>
      </p:sp>
      <p:sp>
        <p:nvSpPr>
          <p:cNvPr id="53" name="Text 38"/>
          <p:cNvSpPr txBox="1"/>
          <p:nvPr/>
        </p:nvSpPr>
        <p:spPr>
          <a:xfrm>
            <a:off x="8839505" y="2043684"/>
            <a:ext cx="1629461" cy="143561"/>
          </a:xfrm>
          <a:prstGeom prst="rect">
            <a:avLst/>
          </a:prstGeom>
          <a:noFill/>
          <a:ln/>
        </p:spPr>
        <p:txBody>
          <a:bodyPr wrap="square" lIns="0" tIns="0" rIns="0" bIns="0" rtlCol="0" anchor="ctr"/>
          <a:lstStyle/>
          <a:p>
            <a:pPr marL="0" indent="0" algn="l">
              <a:buNone/>
            </a:pPr>
            <a:r>
              <a:rPr lang="en-US" sz="900">
                <a:solidFill>
                  <a:srgbClr val="64748B"/>
                </a:solidFill>
                <a:latin typeface="Raleway" pitchFamily="34" charset="0"/>
                <a:ea typeface="Raleway" pitchFamily="34" charset="-122"/>
                <a:cs typeface="Raleway" pitchFamily="34" charset="-120"/>
              </a:rPr>
              <a:t>Duration: Multi-Year</a:t>
            </a:r>
            <a:endParaRPr lang="en-US" sz="900"/>
          </a:p>
        </p:txBody>
      </p:sp>
      <p:sp>
        <p:nvSpPr>
          <p:cNvPr id="54" name="Shape 39"/>
          <p:cNvSpPr/>
          <p:nvPr/>
        </p:nvSpPr>
        <p:spPr>
          <a:xfrm>
            <a:off x="10555834" y="1762049"/>
            <a:ext cx="800100" cy="256946"/>
          </a:xfrm>
          <a:prstGeom prst="roundRect">
            <a:avLst>
              <a:gd name="adj" fmla="val 316331"/>
            </a:avLst>
          </a:prstGeom>
          <a:solidFill>
            <a:srgbClr val="F1F5F9"/>
          </a:solidFill>
          <a:ln w="12700">
            <a:solidFill>
              <a:srgbClr val="FFFFFF">
                <a:alpha val="0"/>
              </a:srgbClr>
            </a:solidFill>
            <a:prstDash val="solid"/>
          </a:ln>
        </p:spPr>
        <p:txBody>
          <a:bodyPr/>
          <a:lstStyle/>
          <a:p>
            <a:endParaRPr lang="en-US"/>
          </a:p>
        </p:txBody>
      </p:sp>
      <p:sp>
        <p:nvSpPr>
          <p:cNvPr id="55" name="Text 40"/>
          <p:cNvSpPr txBox="1"/>
          <p:nvPr/>
        </p:nvSpPr>
        <p:spPr>
          <a:xfrm>
            <a:off x="8229600" y="2447849"/>
            <a:ext cx="3124505" cy="133502"/>
          </a:xfrm>
          <a:prstGeom prst="rect">
            <a:avLst/>
          </a:prstGeom>
          <a:noFill/>
          <a:ln/>
        </p:spPr>
        <p:txBody>
          <a:bodyPr wrap="square" lIns="0" tIns="0" rIns="0" bIns="0" rtlCol="0" anchor="ctr"/>
          <a:lstStyle/>
          <a:p>
            <a:pPr marL="0" indent="0" algn="l">
              <a:buNone/>
            </a:pPr>
            <a:r>
              <a:rPr lang="en-US" sz="900" b="1" kern="0" spc="45">
                <a:solidFill>
                  <a:srgbClr val="94A3B8"/>
                </a:solidFill>
                <a:latin typeface="Roboto Condensed" pitchFamily="34" charset="0"/>
                <a:ea typeface="Roboto Condensed" pitchFamily="34" charset="-122"/>
                <a:cs typeface="Roboto Condensed" pitchFamily="34" charset="-120"/>
              </a:rPr>
              <a:t>COMMERCIAL MODELS</a:t>
            </a:r>
            <a:endParaRPr lang="en-US" sz="900"/>
          </a:p>
        </p:txBody>
      </p:sp>
      <p:pic>
        <p:nvPicPr>
          <p:cNvPr id="56" name="Image 13" descr="gen-dedup-06c19e2f143b52e69c4653630769d291.png"/>
          <p:cNvPicPr>
            <a:picLocks noChangeAspect="1"/>
          </p:cNvPicPr>
          <p:nvPr/>
        </p:nvPicPr>
        <p:blipFill>
          <a:blip r:embed="rId11"/>
          <a:srcRect t="-27726" b="-27726"/>
          <a:stretch/>
        </p:blipFill>
        <p:spPr>
          <a:xfrm>
            <a:off x="8229600" y="2734056"/>
            <a:ext cx="85954" cy="152705"/>
          </a:xfrm>
          <a:prstGeom prst="rect">
            <a:avLst/>
          </a:prstGeom>
        </p:spPr>
      </p:pic>
      <p:sp>
        <p:nvSpPr>
          <p:cNvPr id="57" name="Text 41"/>
          <p:cNvSpPr txBox="1"/>
          <p:nvPr/>
        </p:nvSpPr>
        <p:spPr>
          <a:xfrm>
            <a:off x="8410651" y="2695651"/>
            <a:ext cx="2879446" cy="191110"/>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Fixed Scope:</a:t>
            </a:r>
            <a:r>
              <a:rPr lang="en-US" sz="1000">
                <a:solidFill>
                  <a:srgbClr val="475569"/>
                </a:solidFill>
                <a:latin typeface="Raleway" pitchFamily="34" charset="0"/>
                <a:ea typeface="Raleway" pitchFamily="34" charset="-122"/>
                <a:cs typeface="Raleway" pitchFamily="34" charset="-120"/>
              </a:rPr>
              <a:t> For defined project builds</a:t>
            </a:r>
            <a:endParaRPr lang="en-US" sz="1000"/>
          </a:p>
        </p:txBody>
      </p:sp>
      <p:pic>
        <p:nvPicPr>
          <p:cNvPr id="58" name="Image 14" descr="gen-dedup-06c19e2f143b52e69c4653630769d291.png"/>
          <p:cNvPicPr>
            <a:picLocks noChangeAspect="1"/>
          </p:cNvPicPr>
          <p:nvPr/>
        </p:nvPicPr>
        <p:blipFill>
          <a:blip r:embed="rId11"/>
          <a:srcRect t="-27726" b="-27726"/>
          <a:stretch/>
        </p:blipFill>
        <p:spPr>
          <a:xfrm>
            <a:off x="8229600" y="3038551"/>
            <a:ext cx="85954" cy="152705"/>
          </a:xfrm>
          <a:prstGeom prst="rect">
            <a:avLst/>
          </a:prstGeom>
        </p:spPr>
      </p:pic>
      <p:sp>
        <p:nvSpPr>
          <p:cNvPr id="59" name="Text 42"/>
          <p:cNvSpPr txBox="1"/>
          <p:nvPr/>
        </p:nvSpPr>
        <p:spPr>
          <a:xfrm>
            <a:off x="8410651" y="3000146"/>
            <a:ext cx="3038551" cy="191110"/>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Managed Service:</a:t>
            </a:r>
            <a:r>
              <a:rPr lang="en-US" sz="1000">
                <a:solidFill>
                  <a:srgbClr val="475569"/>
                </a:solidFill>
                <a:latin typeface="Raleway" pitchFamily="34" charset="0"/>
                <a:ea typeface="Raleway" pitchFamily="34" charset="-122"/>
                <a:cs typeface="Raleway" pitchFamily="34" charset="-120"/>
              </a:rPr>
              <a:t> SLA-driven operations</a:t>
            </a:r>
            <a:endParaRPr lang="en-US" sz="1000"/>
          </a:p>
        </p:txBody>
      </p:sp>
      <p:pic>
        <p:nvPicPr>
          <p:cNvPr id="60" name="Image 15" descr="gen-dedup-3678629b4a5ad6139a7cc5dcf1ee97ee.png"/>
          <p:cNvPicPr>
            <a:picLocks noChangeAspect="1"/>
          </p:cNvPicPr>
          <p:nvPr/>
        </p:nvPicPr>
        <p:blipFill>
          <a:blip r:embed="rId12"/>
          <a:srcRect t="-119879" b="-119879"/>
          <a:stretch/>
        </p:blipFill>
        <p:spPr>
          <a:xfrm>
            <a:off x="8229600" y="3343046"/>
            <a:ext cx="85954" cy="333756"/>
          </a:xfrm>
          <a:prstGeom prst="rect">
            <a:avLst/>
          </a:prstGeom>
        </p:spPr>
      </p:pic>
      <p:sp>
        <p:nvSpPr>
          <p:cNvPr id="61" name="Text 43"/>
          <p:cNvSpPr txBox="1"/>
          <p:nvPr/>
        </p:nvSpPr>
        <p:spPr>
          <a:xfrm>
            <a:off x="8410651" y="3305556"/>
            <a:ext cx="2943454" cy="381305"/>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Outcome-Based:</a:t>
            </a:r>
            <a:r>
              <a:rPr lang="en-US" sz="1000">
                <a:solidFill>
                  <a:srgbClr val="475569"/>
                </a:solidFill>
                <a:latin typeface="Raleway" pitchFamily="34" charset="0"/>
                <a:ea typeface="Raleway" pitchFamily="34" charset="-122"/>
                <a:cs typeface="Raleway" pitchFamily="34" charset="-120"/>
              </a:rPr>
              <a:t> Gain-share pricing tied to value</a:t>
            </a:r>
            <a:endParaRPr lang="en-US" sz="1000"/>
          </a:p>
        </p:txBody>
      </p:sp>
      <p:sp>
        <p:nvSpPr>
          <p:cNvPr id="62" name="Text 44"/>
          <p:cNvSpPr txBox="1"/>
          <p:nvPr/>
        </p:nvSpPr>
        <p:spPr>
          <a:xfrm>
            <a:off x="10650931" y="1848002"/>
            <a:ext cx="806501" cy="124358"/>
          </a:xfrm>
          <a:prstGeom prst="rect">
            <a:avLst/>
          </a:prstGeom>
          <a:noFill/>
          <a:ln/>
        </p:spPr>
        <p:txBody>
          <a:bodyPr wrap="square" lIns="0" tIns="0" rIns="0" bIns="0" rtlCol="0" anchor="ctr"/>
          <a:lstStyle/>
          <a:p>
            <a:pPr marL="0" indent="0" algn="l">
              <a:buNone/>
            </a:pPr>
            <a:r>
              <a:rPr lang="en-US" sz="800" b="1">
                <a:solidFill>
                  <a:srgbClr val="334155"/>
                </a:solidFill>
                <a:latin typeface="Roboto Condensed" pitchFamily="34" charset="0"/>
                <a:ea typeface="Roboto Condensed" pitchFamily="34" charset="-122"/>
                <a:cs typeface="Roboto Condensed" pitchFamily="34" charset="-120"/>
              </a:rPr>
              <a:t>PARTNERSHIP</a:t>
            </a:r>
            <a:endParaRPr lang="en-US" sz="800"/>
          </a:p>
        </p:txBody>
      </p:sp>
      <p:pic>
        <p:nvPicPr>
          <p:cNvPr id="63" name="Image 16" descr="gen-dedup-a2699a036d9634824b4953ceddf6835e.png"/>
          <p:cNvPicPr>
            <a:picLocks noChangeAspect="1"/>
          </p:cNvPicPr>
          <p:nvPr/>
        </p:nvPicPr>
        <p:blipFill>
          <a:blip r:embed="rId13"/>
          <a:srcRect t="-16800" b="-16800"/>
          <a:stretch/>
        </p:blipFill>
        <p:spPr>
          <a:xfrm>
            <a:off x="905256" y="4809744"/>
            <a:ext cx="114300" cy="152705"/>
          </a:xfrm>
          <a:prstGeom prst="rect">
            <a:avLst/>
          </a:prstGeom>
        </p:spPr>
      </p:pic>
      <p:sp>
        <p:nvSpPr>
          <p:cNvPr id="64" name="Text 45"/>
          <p:cNvSpPr txBox="1"/>
          <p:nvPr/>
        </p:nvSpPr>
        <p:spPr>
          <a:xfrm>
            <a:off x="1114654" y="4762195"/>
            <a:ext cx="3151937" cy="247802"/>
          </a:xfrm>
          <a:prstGeom prst="rect">
            <a:avLst/>
          </a:prstGeom>
          <a:noFill/>
          <a:ln/>
        </p:spPr>
        <p:txBody>
          <a:bodyPr wrap="square" lIns="0" tIns="0" rIns="0" bIns="0" rtlCol="0" anchor="ctr"/>
          <a:lstStyle/>
          <a:p>
            <a:pPr marL="0" indent="0" algn="l">
              <a:buNone/>
            </a:pPr>
            <a:r>
              <a:rPr lang="en-US" sz="1300" b="1" kern="0" spc="27">
                <a:solidFill>
                  <a:srgbClr val="1E293B"/>
                </a:solidFill>
                <a:latin typeface="Oswald" pitchFamily="34" charset="0"/>
                <a:ea typeface="Oswald" pitchFamily="34" charset="-122"/>
                <a:cs typeface="Oswald" pitchFamily="34" charset="-120"/>
              </a:rPr>
              <a:t>SAMPLE IMPLEMENTATION ROADMAP</a:t>
            </a:r>
            <a:endParaRPr lang="en-US" sz="1300"/>
          </a:p>
        </p:txBody>
      </p:sp>
      <p:sp>
        <p:nvSpPr>
          <p:cNvPr id="65" name="Text 46"/>
          <p:cNvSpPr txBox="1"/>
          <p:nvPr/>
        </p:nvSpPr>
        <p:spPr>
          <a:xfrm>
            <a:off x="1047902" y="5315407"/>
            <a:ext cx="719633" cy="133502"/>
          </a:xfrm>
          <a:prstGeom prst="rect">
            <a:avLst/>
          </a:prstGeom>
          <a:noFill/>
          <a:ln/>
        </p:spPr>
        <p:txBody>
          <a:bodyPr wrap="square" lIns="0" tIns="0" rIns="0" bIns="0" rtlCol="0" anchor="ctr"/>
          <a:lstStyle/>
          <a:p>
            <a:pPr marL="0" indent="0" algn="l">
              <a:buNone/>
            </a:pPr>
            <a:r>
              <a:rPr lang="en-US" sz="900" b="1">
                <a:solidFill>
                  <a:srgbClr val="2A9D8F"/>
                </a:solidFill>
                <a:latin typeface="Roboto Condensed" pitchFamily="34" charset="0"/>
                <a:ea typeface="Roboto Condensed" pitchFamily="34" charset="-122"/>
                <a:cs typeface="Roboto Condensed" pitchFamily="34" charset="-120"/>
              </a:rPr>
              <a:t>DISCOVERY</a:t>
            </a:r>
            <a:endParaRPr lang="en-US" sz="900"/>
          </a:p>
        </p:txBody>
      </p:sp>
      <p:sp>
        <p:nvSpPr>
          <p:cNvPr id="66" name="Text 47"/>
          <p:cNvSpPr txBox="1"/>
          <p:nvPr/>
        </p:nvSpPr>
        <p:spPr>
          <a:xfrm>
            <a:off x="3063240" y="5238598"/>
            <a:ext cx="18196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Q1</a:t>
            </a:r>
            <a:endParaRPr lang="en-US" sz="1200"/>
          </a:p>
        </p:txBody>
      </p:sp>
      <p:sp>
        <p:nvSpPr>
          <p:cNvPr id="67" name="Text 48"/>
          <p:cNvSpPr txBox="1"/>
          <p:nvPr/>
        </p:nvSpPr>
        <p:spPr>
          <a:xfrm>
            <a:off x="1047902" y="5505602"/>
            <a:ext cx="2162556"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Assess readiness, define scope, select initial use cases</a:t>
            </a:r>
            <a:endParaRPr lang="en-US" sz="900"/>
          </a:p>
        </p:txBody>
      </p:sp>
      <p:sp>
        <p:nvSpPr>
          <p:cNvPr id="68" name="Shape 49"/>
          <p:cNvSpPr/>
          <p:nvPr/>
        </p:nvSpPr>
        <p:spPr>
          <a:xfrm>
            <a:off x="1047902" y="6117336"/>
            <a:ext cx="562356" cy="9144"/>
          </a:xfrm>
          <a:prstGeom prst="rect">
            <a:avLst/>
          </a:prstGeom>
          <a:solidFill>
            <a:srgbClr val="E6F3F1"/>
          </a:solidFill>
          <a:ln w="12700">
            <a:solidFill>
              <a:srgbClr val="E6F3F1">
                <a:alpha val="0"/>
              </a:srgbClr>
            </a:solidFill>
            <a:prstDash val="solid"/>
          </a:ln>
        </p:spPr>
        <p:txBody>
          <a:bodyPr/>
          <a:lstStyle/>
          <a:p>
            <a:endParaRPr lang="en-US"/>
          </a:p>
        </p:txBody>
      </p:sp>
      <p:sp>
        <p:nvSpPr>
          <p:cNvPr id="69" name="Text 50"/>
          <p:cNvSpPr txBox="1"/>
          <p:nvPr/>
        </p:nvSpPr>
        <p:spPr>
          <a:xfrm>
            <a:off x="1104595" y="5964631"/>
            <a:ext cx="716890" cy="124358"/>
          </a:xfrm>
          <a:prstGeom prst="rect">
            <a:avLst/>
          </a:prstGeom>
          <a:noFill/>
          <a:ln/>
        </p:spPr>
        <p:txBody>
          <a:bodyPr wrap="squar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Initiation</a:t>
            </a:r>
            <a:endParaRPr lang="en-US" sz="800"/>
          </a:p>
        </p:txBody>
      </p:sp>
      <p:pic>
        <p:nvPicPr>
          <p:cNvPr id="70" name="Image 17" descr="gen-dedup-6bab9f986820d248c4d42c53288c0e5d.png"/>
          <p:cNvPicPr>
            <a:picLocks noChangeAspect="1"/>
          </p:cNvPicPr>
          <p:nvPr/>
        </p:nvPicPr>
        <p:blipFill>
          <a:blip r:embed="rId14"/>
          <a:srcRect t="-5544" b="-5544"/>
          <a:stretch/>
        </p:blipFill>
        <p:spPr>
          <a:xfrm>
            <a:off x="3452774" y="5627218"/>
            <a:ext cx="105156" cy="133502"/>
          </a:xfrm>
          <a:prstGeom prst="rect">
            <a:avLst/>
          </a:prstGeom>
        </p:spPr>
      </p:pic>
      <p:sp>
        <p:nvSpPr>
          <p:cNvPr id="71" name="Text 51"/>
          <p:cNvSpPr txBox="1"/>
          <p:nvPr/>
        </p:nvSpPr>
        <p:spPr>
          <a:xfrm>
            <a:off x="3810305" y="5315407"/>
            <a:ext cx="864108" cy="133502"/>
          </a:xfrm>
          <a:prstGeom prst="rect">
            <a:avLst/>
          </a:prstGeom>
          <a:noFill/>
          <a:ln/>
        </p:spPr>
        <p:txBody>
          <a:bodyPr wrap="square" lIns="0" tIns="0" rIns="0" bIns="0" rtlCol="0" anchor="ctr"/>
          <a:lstStyle/>
          <a:p>
            <a:pPr marL="0" indent="0" algn="l">
              <a:buNone/>
            </a:pPr>
            <a:r>
              <a:rPr lang="en-US" sz="900" b="1">
                <a:solidFill>
                  <a:srgbClr val="D62839"/>
                </a:solidFill>
                <a:latin typeface="Roboto Condensed" pitchFamily="34" charset="0"/>
                <a:ea typeface="Roboto Condensed" pitchFamily="34" charset="-122"/>
                <a:cs typeface="Roboto Condensed" pitchFamily="34" charset="-120"/>
              </a:rPr>
              <a:t>PILOT / POC</a:t>
            </a:r>
            <a:endParaRPr lang="en-US" sz="900"/>
          </a:p>
        </p:txBody>
      </p:sp>
      <p:sp>
        <p:nvSpPr>
          <p:cNvPr id="72" name="Text 52"/>
          <p:cNvSpPr txBox="1"/>
          <p:nvPr/>
        </p:nvSpPr>
        <p:spPr>
          <a:xfrm>
            <a:off x="5807354" y="5238598"/>
            <a:ext cx="19659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Q2</a:t>
            </a:r>
            <a:endParaRPr lang="en-US" sz="1200"/>
          </a:p>
        </p:txBody>
      </p:sp>
      <p:sp>
        <p:nvSpPr>
          <p:cNvPr id="73" name="Text 53"/>
          <p:cNvSpPr txBox="1"/>
          <p:nvPr/>
        </p:nvSpPr>
        <p:spPr>
          <a:xfrm>
            <a:off x="3810305" y="5505602"/>
            <a:ext cx="2162556"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MVP build, user testing, architecture validation</a:t>
            </a:r>
            <a:endParaRPr lang="en-US" sz="900"/>
          </a:p>
        </p:txBody>
      </p:sp>
      <p:sp>
        <p:nvSpPr>
          <p:cNvPr id="74" name="Shape 54"/>
          <p:cNvSpPr/>
          <p:nvPr/>
        </p:nvSpPr>
        <p:spPr>
          <a:xfrm>
            <a:off x="3810305" y="5897880"/>
            <a:ext cx="629107" cy="219456"/>
          </a:xfrm>
          <a:prstGeom prst="roundRect">
            <a:avLst>
              <a:gd name="adj" fmla="val 144928"/>
            </a:avLst>
          </a:prstGeom>
          <a:solidFill>
            <a:srgbClr val="FEF2F2"/>
          </a:solidFill>
          <a:ln w="12700">
            <a:solidFill>
              <a:srgbClr val="FFFFFF">
                <a:alpha val="0"/>
              </a:srgbClr>
            </a:solidFill>
            <a:prstDash val="solid"/>
          </a:ln>
        </p:spPr>
        <p:txBody>
          <a:bodyPr/>
          <a:lstStyle/>
          <a:p>
            <a:endParaRPr lang="en-US"/>
          </a:p>
        </p:txBody>
      </p:sp>
      <p:sp>
        <p:nvSpPr>
          <p:cNvPr id="75" name="Text 55"/>
          <p:cNvSpPr txBox="1"/>
          <p:nvPr/>
        </p:nvSpPr>
        <p:spPr>
          <a:xfrm>
            <a:off x="3866998" y="5964631"/>
            <a:ext cx="726948" cy="124358"/>
          </a:xfrm>
          <a:prstGeom prst="rect">
            <a:avLst/>
          </a:prstGeom>
          <a:noFill/>
          <a:ln/>
        </p:spPr>
        <p:txBody>
          <a:bodyPr wrap="square" lIns="0" tIns="0" rIns="0" bIns="0" rtlCol="0" anchor="ctr"/>
          <a:lstStyle/>
          <a:p>
            <a:pPr marL="0" indent="0" algn="l">
              <a:buNone/>
            </a:pPr>
            <a:r>
              <a:rPr lang="en-US" sz="800" b="1">
                <a:solidFill>
                  <a:srgbClr val="D62839"/>
                </a:solidFill>
                <a:latin typeface="Raleway" pitchFamily="34" charset="0"/>
                <a:ea typeface="Raleway" pitchFamily="34" charset="-122"/>
                <a:cs typeface="Raleway" pitchFamily="34" charset="-120"/>
              </a:rPr>
              <a:t>Validation</a:t>
            </a:r>
            <a:endParaRPr lang="en-US" sz="800"/>
          </a:p>
        </p:txBody>
      </p:sp>
      <p:pic>
        <p:nvPicPr>
          <p:cNvPr id="76" name="Image 18" descr="gen-dedup-6bab9f986820d248c4d42c53288c0e5d.png"/>
          <p:cNvPicPr>
            <a:picLocks noChangeAspect="1"/>
          </p:cNvPicPr>
          <p:nvPr/>
        </p:nvPicPr>
        <p:blipFill>
          <a:blip r:embed="rId14"/>
          <a:srcRect t="-5544" b="-5544"/>
          <a:stretch/>
        </p:blipFill>
        <p:spPr>
          <a:xfrm>
            <a:off x="6215177" y="5627218"/>
            <a:ext cx="105156" cy="133502"/>
          </a:xfrm>
          <a:prstGeom prst="rect">
            <a:avLst/>
          </a:prstGeom>
        </p:spPr>
      </p:pic>
      <p:sp>
        <p:nvSpPr>
          <p:cNvPr id="77" name="Text 56"/>
          <p:cNvSpPr txBox="1"/>
          <p:nvPr/>
        </p:nvSpPr>
        <p:spPr>
          <a:xfrm>
            <a:off x="6572707" y="5315407"/>
            <a:ext cx="402336" cy="133502"/>
          </a:xfrm>
          <a:prstGeom prst="rect">
            <a:avLst/>
          </a:prstGeom>
          <a:noFill/>
          <a:ln/>
        </p:spPr>
        <p:txBody>
          <a:bodyPr wrap="square" lIns="0" tIns="0" rIns="0" bIns="0" rtlCol="0" anchor="ctr"/>
          <a:lstStyle/>
          <a:p>
            <a:pPr marL="0" indent="0" algn="l">
              <a:buNone/>
            </a:pPr>
            <a:r>
              <a:rPr lang="en-US" sz="900" b="1">
                <a:solidFill>
                  <a:srgbClr val="1E293B"/>
                </a:solidFill>
                <a:latin typeface="Roboto Condensed" pitchFamily="34" charset="0"/>
                <a:ea typeface="Roboto Condensed" pitchFamily="34" charset="-122"/>
                <a:cs typeface="Roboto Condensed" pitchFamily="34" charset="-120"/>
              </a:rPr>
              <a:t>SCALE</a:t>
            </a:r>
            <a:endParaRPr lang="en-US" sz="900"/>
          </a:p>
        </p:txBody>
      </p:sp>
      <p:sp>
        <p:nvSpPr>
          <p:cNvPr id="78" name="Text 57"/>
          <p:cNvSpPr txBox="1"/>
          <p:nvPr/>
        </p:nvSpPr>
        <p:spPr>
          <a:xfrm>
            <a:off x="8569757" y="5238598"/>
            <a:ext cx="19659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Q3</a:t>
            </a:r>
            <a:endParaRPr lang="en-US" sz="1200"/>
          </a:p>
        </p:txBody>
      </p:sp>
      <p:sp>
        <p:nvSpPr>
          <p:cNvPr id="79" name="Text 58"/>
          <p:cNvSpPr txBox="1"/>
          <p:nvPr/>
        </p:nvSpPr>
        <p:spPr>
          <a:xfrm>
            <a:off x="6572707" y="5505602"/>
            <a:ext cx="2162556"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Production deployment, integration, vendor onboarding</a:t>
            </a:r>
            <a:endParaRPr lang="en-US" sz="900"/>
          </a:p>
        </p:txBody>
      </p:sp>
      <p:sp>
        <p:nvSpPr>
          <p:cNvPr id="80" name="Shape 59"/>
          <p:cNvSpPr/>
          <p:nvPr/>
        </p:nvSpPr>
        <p:spPr>
          <a:xfrm>
            <a:off x="6572707" y="5897880"/>
            <a:ext cx="619049" cy="219456"/>
          </a:xfrm>
          <a:prstGeom prst="roundRect">
            <a:avLst>
              <a:gd name="adj" fmla="val 144928"/>
            </a:avLst>
          </a:prstGeom>
          <a:solidFill>
            <a:srgbClr val="F1F5F9"/>
          </a:solidFill>
          <a:ln w="12700">
            <a:solidFill>
              <a:srgbClr val="FFFFFF">
                <a:alpha val="0"/>
              </a:srgbClr>
            </a:solidFill>
            <a:prstDash val="solid"/>
          </a:ln>
        </p:spPr>
        <p:txBody>
          <a:bodyPr/>
          <a:lstStyle/>
          <a:p>
            <a:endParaRPr lang="en-US"/>
          </a:p>
        </p:txBody>
      </p:sp>
      <p:sp>
        <p:nvSpPr>
          <p:cNvPr id="81" name="Text 60"/>
          <p:cNvSpPr txBox="1"/>
          <p:nvPr/>
        </p:nvSpPr>
        <p:spPr>
          <a:xfrm>
            <a:off x="6629400" y="5964631"/>
            <a:ext cx="661111" cy="124358"/>
          </a:xfrm>
          <a:prstGeom prst="rect">
            <a:avLst/>
          </a:prstGeom>
          <a:noFill/>
          <a:ln/>
        </p:spPr>
        <p:txBody>
          <a:bodyPr wrap="square" lIns="0" tIns="0" rIns="0" bIns="0" rtlCol="0" anchor="ctr"/>
          <a:lstStyle/>
          <a:p>
            <a:pPr marL="0" indent="0" algn="l">
              <a:buNone/>
            </a:pPr>
            <a:r>
              <a:rPr lang="en-US" sz="800" b="1">
                <a:solidFill>
                  <a:srgbClr val="475569"/>
                </a:solidFill>
                <a:latin typeface="Raleway" pitchFamily="34" charset="0"/>
                <a:ea typeface="Raleway" pitchFamily="34" charset="-122"/>
                <a:cs typeface="Raleway" pitchFamily="34" charset="-120"/>
              </a:rPr>
              <a:t>Execution</a:t>
            </a:r>
            <a:endParaRPr lang="en-US" sz="800"/>
          </a:p>
        </p:txBody>
      </p:sp>
      <p:pic>
        <p:nvPicPr>
          <p:cNvPr id="82" name="Image 19" descr="gen-dedup-6bab9f986820d248c4d42c53288c0e5d.png"/>
          <p:cNvPicPr>
            <a:picLocks noChangeAspect="1"/>
          </p:cNvPicPr>
          <p:nvPr/>
        </p:nvPicPr>
        <p:blipFill>
          <a:blip r:embed="rId14"/>
          <a:srcRect t="-5544" b="-5544"/>
          <a:stretch/>
        </p:blipFill>
        <p:spPr>
          <a:xfrm>
            <a:off x="8977579" y="5627218"/>
            <a:ext cx="105156" cy="133502"/>
          </a:xfrm>
          <a:prstGeom prst="rect">
            <a:avLst/>
          </a:prstGeom>
        </p:spPr>
      </p:pic>
      <p:sp>
        <p:nvSpPr>
          <p:cNvPr id="83" name="Text 61"/>
          <p:cNvSpPr txBox="1"/>
          <p:nvPr/>
        </p:nvSpPr>
        <p:spPr>
          <a:xfrm>
            <a:off x="9334195" y="5315407"/>
            <a:ext cx="637337" cy="133502"/>
          </a:xfrm>
          <a:prstGeom prst="rect">
            <a:avLst/>
          </a:prstGeom>
          <a:noFill/>
          <a:ln/>
        </p:spPr>
        <p:txBody>
          <a:bodyPr wrap="square" lIns="0" tIns="0" rIns="0" bIns="0" rtlCol="0" anchor="ctr"/>
          <a:lstStyle/>
          <a:p>
            <a:pPr marL="0" indent="0" algn="l">
              <a:buNone/>
            </a:pPr>
            <a:r>
              <a:rPr lang="en-US" sz="900" b="1">
                <a:solidFill>
                  <a:srgbClr val="1E293B"/>
                </a:solidFill>
                <a:latin typeface="Roboto Condensed" pitchFamily="34" charset="0"/>
                <a:ea typeface="Roboto Condensed" pitchFamily="34" charset="-122"/>
                <a:cs typeface="Roboto Condensed" pitchFamily="34" charset="-120"/>
              </a:rPr>
              <a:t>OPTIMIZE</a:t>
            </a:r>
            <a:endParaRPr lang="en-US" sz="900"/>
          </a:p>
        </p:txBody>
      </p:sp>
      <p:sp>
        <p:nvSpPr>
          <p:cNvPr id="84" name="Text 62"/>
          <p:cNvSpPr txBox="1"/>
          <p:nvPr/>
        </p:nvSpPr>
        <p:spPr>
          <a:xfrm>
            <a:off x="11044123" y="5238598"/>
            <a:ext cx="19659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Q4</a:t>
            </a:r>
            <a:endParaRPr lang="en-US" sz="1200"/>
          </a:p>
        </p:txBody>
      </p:sp>
      <p:sp>
        <p:nvSpPr>
          <p:cNvPr id="85" name="Text 63"/>
          <p:cNvSpPr txBox="1"/>
          <p:nvPr/>
        </p:nvSpPr>
        <p:spPr>
          <a:xfrm>
            <a:off x="9334195" y="5505602"/>
            <a:ext cx="1877263"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Run ops, process tuning, continuous improvement</a:t>
            </a:r>
            <a:endParaRPr lang="en-US" sz="900"/>
          </a:p>
        </p:txBody>
      </p:sp>
      <p:sp>
        <p:nvSpPr>
          <p:cNvPr id="86" name="Text 64"/>
          <p:cNvSpPr txBox="1"/>
          <p:nvPr/>
        </p:nvSpPr>
        <p:spPr>
          <a:xfrm>
            <a:off x="9391802" y="5964631"/>
            <a:ext cx="737006" cy="124358"/>
          </a:xfrm>
          <a:prstGeom prst="rect">
            <a:avLst/>
          </a:prstGeom>
          <a:noFill/>
          <a:ln/>
        </p:spPr>
        <p:txBody>
          <a:bodyPr wrap="square" lIns="0" tIns="0" rIns="0" bIns="0" rtlCol="0" anchor="ctr"/>
          <a:lstStyle/>
          <a:p>
            <a:pPr marL="0" indent="0" algn="l">
              <a:buNone/>
            </a:pPr>
            <a:r>
              <a:rPr lang="en-US" sz="800" b="1">
                <a:solidFill>
                  <a:srgbClr val="64748B"/>
                </a:solidFill>
                <a:latin typeface="Raleway" pitchFamily="34" charset="0"/>
                <a:ea typeface="Raleway" pitchFamily="34" charset="-122"/>
                <a:cs typeface="Raleway" pitchFamily="34" charset="-120"/>
              </a:rPr>
              <a:t>Refinement</a:t>
            </a:r>
            <a:endParaRPr lang="en-US" sz="800"/>
          </a:p>
        </p:txBody>
      </p:sp>
    </p:spTree>
    <p:extLst>
      <p:ext uri="{BB962C8B-B14F-4D97-AF65-F5344CB8AC3E}">
        <p14:creationId xmlns:p14="http://schemas.microsoft.com/office/powerpoint/2010/main" val="1153050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8382305" y="-1429207"/>
            <a:ext cx="4762195" cy="4762195"/>
          </a:xfrm>
          <a:prstGeom prst="ellipse">
            <a:avLst/>
          </a:prstGeom>
          <a:solidFill>
            <a:srgbClr val="2A9D8F">
              <a:alpha val="3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52805" y="4476902"/>
            <a:ext cx="3810305" cy="3810305"/>
          </a:xfrm>
          <a:prstGeom prst="ellipse">
            <a:avLst/>
          </a:prstGeom>
          <a:solidFill>
            <a:srgbClr val="D62839">
              <a:alpha val="2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 name="Image 0" descr="preencoded.png"/>
          <p:cNvPicPr>
            <a:picLocks noChangeAspect="1"/>
          </p:cNvPicPr>
          <p:nvPr/>
        </p:nvPicPr>
        <p:blipFill>
          <a:blip r:embed="rId3"/>
          <a:srcRect l="-202" r="-202"/>
          <a:stretch/>
        </p:blipFill>
        <p:spPr>
          <a:xfrm>
            <a:off x="0" y="6782105"/>
            <a:ext cx="8128102" cy="75895"/>
          </a:xfrm>
          <a:prstGeom prst="rect">
            <a:avLst/>
          </a:prstGeom>
        </p:spPr>
      </p:pic>
      <p:pic>
        <p:nvPicPr>
          <p:cNvPr id="7" name="Image 1" descr="preencoded.png"/>
          <p:cNvPicPr>
            <a:picLocks noChangeAspect="1"/>
          </p:cNvPicPr>
          <p:nvPr/>
        </p:nvPicPr>
        <p:blipFill>
          <a:blip r:embed="rId4"/>
          <a:srcRect l="-197" r="-197"/>
          <a:stretch/>
        </p:blipFill>
        <p:spPr>
          <a:xfrm>
            <a:off x="8128102" y="6782105"/>
            <a:ext cx="4063594" cy="75895"/>
          </a:xfrm>
          <a:prstGeom prst="rect">
            <a:avLst/>
          </a:prstGeom>
        </p:spPr>
      </p:pic>
      <p:pic>
        <p:nvPicPr>
          <p:cNvPr id="8" name="Image 2" descr="preencoded.png"/>
          <p:cNvPicPr>
            <a:picLocks noChangeAspect="1"/>
          </p:cNvPicPr>
          <p:nvPr/>
        </p:nvPicPr>
        <p:blipFill>
          <a:blip r:embed="rId5"/>
          <a:srcRect t="60" b="60"/>
          <a:stretch/>
        </p:blipFill>
        <p:spPr>
          <a:xfrm>
            <a:off x="4121201" y="914400"/>
            <a:ext cx="3952951" cy="1904695"/>
          </a:xfrm>
          <a:prstGeom prst="rect">
            <a:avLst/>
          </a:prstGeom>
        </p:spPr>
      </p:pic>
      <p:pic>
        <p:nvPicPr>
          <p:cNvPr id="9" name="Image 3" descr="preencoded.png"/>
          <p:cNvPicPr>
            <a:picLocks noChangeAspect="1"/>
          </p:cNvPicPr>
          <p:nvPr/>
        </p:nvPicPr>
        <p:blipFill>
          <a:blip r:embed="rId6"/>
          <a:srcRect t="-420" b="-420"/>
          <a:stretch/>
        </p:blipFill>
        <p:spPr>
          <a:xfrm>
            <a:off x="5715000" y="3276295"/>
            <a:ext cx="761695" cy="38405"/>
          </a:xfrm>
          <a:prstGeom prst="rect">
            <a:avLst/>
          </a:prstGeom>
        </p:spPr>
      </p:pic>
      <p:sp>
        <p:nvSpPr>
          <p:cNvPr id="10" name="Text 4"/>
          <p:cNvSpPr txBox="1"/>
          <p:nvPr/>
        </p:nvSpPr>
        <p:spPr>
          <a:xfrm>
            <a:off x="3536899" y="3619195"/>
            <a:ext cx="5125212" cy="5715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0" i="1" u="none" strike="noStrike" kern="0" cap="none" spc="150" normalizeH="0" baseline="0" noProof="0">
                <a:ln>
                  <a:noFill/>
                </a:ln>
                <a:solidFill>
                  <a:srgbClr val="4B5563"/>
                </a:solidFill>
                <a:effectLst/>
                <a:uLnTx/>
                <a:uFillTx/>
                <a:latin typeface="Raleway" pitchFamily="34" charset="0"/>
                <a:ea typeface="Raleway" pitchFamily="34" charset="-122"/>
                <a:cs typeface="Raleway" pitchFamily="34" charset="-120"/>
              </a:rPr>
              <a:t>"Let's win together"</a:t>
            </a:r>
            <a:endParaRPr kumimoji="0" lang="en-US" sz="30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4" descr="preencoded.png"/>
          <p:cNvPicPr>
            <a:picLocks noChangeAspect="1"/>
          </p:cNvPicPr>
          <p:nvPr/>
        </p:nvPicPr>
        <p:blipFill>
          <a:blip r:embed="rId7"/>
          <a:srcRect/>
          <a:stretch/>
        </p:blipFill>
        <p:spPr>
          <a:xfrm>
            <a:off x="761695" y="5410505"/>
            <a:ext cx="761695" cy="761695"/>
          </a:xfrm>
          <a:prstGeom prst="rect">
            <a:avLst/>
          </a:prstGeom>
        </p:spPr>
      </p:pic>
      <p:pic>
        <p:nvPicPr>
          <p:cNvPr id="12" name="Image 5" descr="preencoded.png"/>
          <p:cNvPicPr>
            <a:picLocks noChangeAspect="1"/>
          </p:cNvPicPr>
          <p:nvPr/>
        </p:nvPicPr>
        <p:blipFill>
          <a:blip r:embed="rId8"/>
          <a:srcRect l="81" r="81"/>
          <a:stretch/>
        </p:blipFill>
        <p:spPr>
          <a:xfrm>
            <a:off x="3189427" y="5658307"/>
            <a:ext cx="809244" cy="267005"/>
          </a:xfrm>
          <a:prstGeom prst="rect">
            <a:avLst/>
          </a:prstGeom>
        </p:spPr>
      </p:pic>
      <p:pic>
        <p:nvPicPr>
          <p:cNvPr id="13" name="Image 6" descr="preencoded.png"/>
          <p:cNvPicPr>
            <a:picLocks noChangeAspect="1"/>
          </p:cNvPicPr>
          <p:nvPr/>
        </p:nvPicPr>
        <p:blipFill>
          <a:blip r:embed="rId9"/>
          <a:srcRect l="7" r="7"/>
          <a:stretch/>
        </p:blipFill>
        <p:spPr>
          <a:xfrm>
            <a:off x="5665622" y="5453482"/>
            <a:ext cx="724205" cy="676656"/>
          </a:xfrm>
          <a:prstGeom prst="rect">
            <a:avLst/>
          </a:prstGeom>
        </p:spPr>
      </p:pic>
      <p:pic>
        <p:nvPicPr>
          <p:cNvPr id="14" name="Image 7" descr="preencoded.png"/>
          <p:cNvPicPr>
            <a:picLocks noChangeAspect="1"/>
          </p:cNvPicPr>
          <p:nvPr/>
        </p:nvPicPr>
        <p:blipFill>
          <a:blip r:embed="rId10"/>
          <a:srcRect t="236" b="236"/>
          <a:stretch/>
        </p:blipFill>
        <p:spPr>
          <a:xfrm>
            <a:off x="8054950" y="5410505"/>
            <a:ext cx="1257300" cy="761695"/>
          </a:xfrm>
          <a:prstGeom prst="rect">
            <a:avLst/>
          </a:prstGeom>
        </p:spPr>
      </p:pic>
      <p:pic>
        <p:nvPicPr>
          <p:cNvPr id="15" name="Image 8" descr="preencoded.png"/>
          <p:cNvPicPr>
            <a:picLocks noChangeAspect="1"/>
          </p:cNvPicPr>
          <p:nvPr/>
        </p:nvPicPr>
        <p:blipFill>
          <a:blip r:embed="rId11"/>
          <a:srcRect t="23" b="24"/>
          <a:stretch/>
        </p:blipFill>
        <p:spPr>
          <a:xfrm>
            <a:off x="10972800" y="5548579"/>
            <a:ext cx="457200" cy="485546"/>
          </a:xfrm>
          <a:prstGeom prst="rect">
            <a:avLst/>
          </a:prstGeom>
        </p:spPr>
      </p:pic>
      <p:pic>
        <p:nvPicPr>
          <p:cNvPr id="16" name="Image 9" descr="preencoded.png"/>
          <p:cNvPicPr>
            <a:picLocks noChangeAspect="1"/>
          </p:cNvPicPr>
          <p:nvPr/>
        </p:nvPicPr>
        <p:blipFill>
          <a:blip r:embed="rId4"/>
          <a:srcRect l="-197" r="-197"/>
          <a:stretch/>
        </p:blipFill>
        <p:spPr>
          <a:xfrm>
            <a:off x="0" y="0"/>
            <a:ext cx="4063594" cy="75895"/>
          </a:xfrm>
          <a:prstGeom prst="rect">
            <a:avLst/>
          </a:prstGeom>
        </p:spPr>
      </p:pic>
      <p:pic>
        <p:nvPicPr>
          <p:cNvPr id="17" name="Image 10" descr="preencoded.png"/>
          <p:cNvPicPr>
            <a:picLocks noChangeAspect="1"/>
          </p:cNvPicPr>
          <p:nvPr/>
        </p:nvPicPr>
        <p:blipFill>
          <a:blip r:embed="rId3"/>
          <a:srcRect l="-202" r="-202"/>
          <a:stretch/>
        </p:blipFill>
        <p:spPr>
          <a:xfrm>
            <a:off x="4063594" y="0"/>
            <a:ext cx="8128102" cy="75895"/>
          </a:xfrm>
          <a:prstGeom prst="rect">
            <a:avLst/>
          </a:prstGeom>
        </p:spPr>
      </p:pic>
    </p:spTree>
    <p:extLst>
      <p:ext uri="{BB962C8B-B14F-4D97-AF65-F5344CB8AC3E}">
        <p14:creationId xmlns:p14="http://schemas.microsoft.com/office/powerpoint/2010/main" val="2467474755"/>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852160" cy="91440"/>
          </a:xfrm>
          <a:prstGeom prst="rect">
            <a:avLst/>
          </a:prstGeom>
          <a:solidFill>
            <a:srgbClr val="C02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852160" y="0"/>
            <a:ext cx="6336792" cy="91440"/>
          </a:xfrm>
          <a:prstGeom prst="rect">
            <a:avLst/>
          </a:prstGeom>
          <a:solidFill>
            <a:srgbClr val="3A8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310896"/>
            <a:ext cx="59436" cy="502920"/>
          </a:xfrm>
          <a:prstGeom prst="rect">
            <a:avLst/>
          </a:prstGeom>
          <a:solidFill>
            <a:srgbClr val="C02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2336" y="274320"/>
            <a:ext cx="8686800" cy="548640"/>
          </a:xfrm>
          <a:prstGeom prst="rect">
            <a:avLst/>
          </a:prstGeom>
          <a:noFill/>
        </p:spPr>
        <p:txBody>
          <a:bodyPr wrap="square" tIns="0" bIns="0" lIns="0" rIns="0">
            <a:spAutoFit/>
          </a:bodyPr>
          <a:lstStyle/>
          <a:p>
            <a:pPr algn="l"/>
            <a:r>
              <a:rPr sz="2400" b="1">
                <a:solidFill>
                  <a:srgbClr val="111110"/>
                </a:solidFill>
                <a:latin typeface="Calibri"/>
              </a:rPr>
              <a:t>OPERATIONAL DIGITAL TWIN</a:t>
            </a:r>
          </a:p>
        </p:txBody>
      </p:sp>
      <p:sp>
        <p:nvSpPr>
          <p:cNvPr id="6" name="TextBox 5"/>
          <p:cNvSpPr txBox="1"/>
          <p:nvPr/>
        </p:nvSpPr>
        <p:spPr>
          <a:xfrm>
            <a:off x="402336" y="676656"/>
            <a:ext cx="11430000" cy="310896"/>
          </a:xfrm>
          <a:prstGeom prst="rect">
            <a:avLst/>
          </a:prstGeom>
          <a:noFill/>
        </p:spPr>
        <p:txBody>
          <a:bodyPr wrap="square" tIns="0" bIns="0" lIns="0" rIns="0">
            <a:spAutoFit/>
          </a:bodyPr>
          <a:lstStyle/>
          <a:p>
            <a:pPr algn="l"/>
            <a:r>
              <a:rPr sz="1500" b="1">
                <a:solidFill>
                  <a:srgbClr val="3A8B82"/>
                </a:solidFill>
                <a:latin typeface="Calibri"/>
              </a:rPr>
              <a:t>CLIENT: Leading Energy Utility  |  DOMAIN: Energy</a:t>
            </a:r>
          </a:p>
        </p:txBody>
      </p:sp>
      <p:sp>
        <p:nvSpPr>
          <p:cNvPr id="7" name="Rectangle 6"/>
          <p:cNvSpPr/>
          <p:nvPr/>
        </p:nvSpPr>
        <p:spPr>
          <a:xfrm>
            <a:off x="228600" y="1280160"/>
            <a:ext cx="59436" cy="1828800"/>
          </a:xfrm>
          <a:prstGeom prst="rect">
            <a:avLst/>
          </a:prstGeom>
          <a:solidFill>
            <a:srgbClr val="C02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8036" y="1280160"/>
            <a:ext cx="5394960" cy="1828800"/>
          </a:xfrm>
          <a:prstGeom prst="rect">
            <a:avLst/>
          </a:prstGeom>
          <a:solidFill>
            <a:srgbClr val="FFFFFF"/>
          </a:solidFill>
          <a:ln w="635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44168"/>
            <a:ext cx="5166360" cy="292608"/>
          </a:xfrm>
          <a:prstGeom prst="rect">
            <a:avLst/>
          </a:prstGeom>
          <a:noFill/>
        </p:spPr>
        <p:txBody>
          <a:bodyPr wrap="square" tIns="0" bIns="0" lIns="0" rIns="0">
            <a:spAutoFit/>
          </a:bodyPr>
          <a:lstStyle/>
          <a:p>
            <a:pPr algn="l"/>
            <a:r>
              <a:rPr sz="1300" b="1">
                <a:solidFill>
                  <a:srgbClr val="111110"/>
                </a:solidFill>
                <a:latin typeface="Calibri"/>
              </a:rPr>
              <a:t>The Challenge</a:t>
            </a:r>
          </a:p>
        </p:txBody>
      </p:sp>
      <p:sp>
        <p:nvSpPr>
          <p:cNvPr id="10" name="TextBox 9"/>
          <p:cNvSpPr txBox="1"/>
          <p:nvPr/>
        </p:nvSpPr>
        <p:spPr>
          <a:xfrm>
            <a:off x="411480" y="1691640"/>
            <a:ext cx="5166360" cy="1353312"/>
          </a:xfrm>
          <a:prstGeom prst="rect">
            <a:avLst/>
          </a:prstGeom>
          <a:noFill/>
        </p:spPr>
        <p:txBody>
          <a:bodyPr wrap="square" tIns="0" bIns="0" lIns="0" rIns="0">
            <a:normAutofit/>
          </a:bodyPr>
          <a:lstStyle/>
          <a:p>
            <a:pPr algn="l"/>
            <a:r>
              <a:rPr sz="1100" b="0">
                <a:solidFill>
                  <a:srgbClr val="3E3E3E"/>
                </a:solidFill>
                <a:latin typeface="Calibri"/>
              </a:rPr>
              <a:t>An offshore oil and gas operator running aging platforms across the North Sea managed asset health through scheduled inspections, manual technician readings, and calendar-based maintenance. A compressor on one platform showed irregular vibration signatures for 11 days before a bearing failure took it offline, a £2.1 million unplanned shutdown requiring weather-dependent crew mobilization and 14 days off-production. The data that would have predicted it was being collected; nobody was watching it, and no engineer held a view across the full platform fleet at any given moment.</a:t>
            </a:r>
          </a:p>
        </p:txBody>
      </p:sp>
      <p:sp>
        <p:nvSpPr>
          <p:cNvPr id="11" name="Rectangle 10"/>
          <p:cNvSpPr/>
          <p:nvPr/>
        </p:nvSpPr>
        <p:spPr>
          <a:xfrm>
            <a:off x="6007607" y="1280160"/>
            <a:ext cx="59436" cy="1828800"/>
          </a:xfrm>
          <a:prstGeom prst="rect">
            <a:avLst/>
          </a:prstGeom>
          <a:solidFill>
            <a:srgbClr val="3A8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067044" y="1280160"/>
            <a:ext cx="5852160" cy="1828800"/>
          </a:xfrm>
          <a:prstGeom prst="rect">
            <a:avLst/>
          </a:prstGeom>
          <a:solidFill>
            <a:srgbClr val="FFFFFF"/>
          </a:solidFill>
          <a:ln w="635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5916" y="1344168"/>
            <a:ext cx="5614416" cy="292608"/>
          </a:xfrm>
          <a:prstGeom prst="rect">
            <a:avLst/>
          </a:prstGeom>
          <a:noFill/>
        </p:spPr>
        <p:txBody>
          <a:bodyPr wrap="square" tIns="0" bIns="0" lIns="0" rIns="0">
            <a:spAutoFit/>
          </a:bodyPr>
          <a:lstStyle/>
          <a:p>
            <a:pPr algn="l"/>
            <a:r>
              <a:rPr sz="1300" b="1">
                <a:solidFill>
                  <a:srgbClr val="111110"/>
                </a:solidFill>
                <a:latin typeface="Calibri"/>
              </a:rPr>
              <a:t>The Solution</a:t>
            </a:r>
          </a:p>
        </p:txBody>
      </p:sp>
      <p:sp>
        <p:nvSpPr>
          <p:cNvPr id="14" name="TextBox 13"/>
          <p:cNvSpPr txBox="1"/>
          <p:nvPr/>
        </p:nvSpPr>
        <p:spPr>
          <a:xfrm>
            <a:off x="6185916" y="1691640"/>
            <a:ext cx="5614416" cy="1353312"/>
          </a:xfrm>
          <a:prstGeom prst="rect">
            <a:avLst/>
          </a:prstGeom>
          <a:noFill/>
        </p:spPr>
        <p:txBody>
          <a:bodyPr wrap="square" tIns="0" bIns="0" lIns="0" rIns="0">
            <a:normAutofit/>
          </a:bodyPr>
          <a:lstStyle/>
          <a:p>
            <a:pPr algn="l"/>
            <a:r>
              <a:rPr sz="1100" b="0">
                <a:solidFill>
                  <a:srgbClr val="3E3E3E"/>
                </a:solidFill>
                <a:latin typeface="Calibri"/>
              </a:rPr>
              <a:t>An AI-embedded operational digital twin was deployed across the platform fleet, ingesting live sensor, PLC, and SCADA streams into a continuously maintained digital replica of every critical asset. Operational health scoring runs continuously against equipment performance and system interdependencies, surfacing degradation before it reaches the production threshold. Engineers now work from a unified dashboard across all platforms, seeing asset condition, trend, and warranted intervention, without leaving the control room.</a:t>
            </a:r>
          </a:p>
        </p:txBody>
      </p:sp>
      <p:sp>
        <p:nvSpPr>
          <p:cNvPr id="15" name="TextBox 14"/>
          <p:cNvSpPr txBox="1"/>
          <p:nvPr/>
        </p:nvSpPr>
        <p:spPr>
          <a:xfrm>
            <a:off x="256032" y="3200400"/>
            <a:ext cx="6400800" cy="256032"/>
          </a:xfrm>
          <a:prstGeom prst="rect">
            <a:avLst/>
          </a:prstGeom>
          <a:noFill/>
        </p:spPr>
        <p:txBody>
          <a:bodyPr wrap="square" tIns="0" bIns="0" lIns="0" rIns="0">
            <a:spAutoFit/>
          </a:bodyPr>
          <a:lstStyle/>
          <a:p>
            <a:pPr algn="l"/>
            <a:r>
              <a:rPr sz="1400" b="0">
                <a:solidFill>
                  <a:srgbClr val="3A8B82"/>
                </a:solidFill>
                <a:latin typeface="Calibri"/>
              </a:rPr>
              <a:t>Key Capabilities Developed</a:t>
            </a:r>
          </a:p>
        </p:txBody>
      </p:sp>
      <p:sp>
        <p:nvSpPr>
          <p:cNvPr id="16" name="Rectangle 15"/>
          <p:cNvSpPr/>
          <p:nvPr/>
        </p:nvSpPr>
        <p:spPr>
          <a:xfrm>
            <a:off x="256032" y="3511296"/>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3575303"/>
            <a:ext cx="3611880" cy="237744"/>
          </a:xfrm>
          <a:prstGeom prst="rect">
            <a:avLst/>
          </a:prstGeom>
          <a:noFill/>
        </p:spPr>
        <p:txBody>
          <a:bodyPr wrap="square" tIns="0" bIns="0" lIns="0" rIns="0">
            <a:spAutoFit/>
          </a:bodyPr>
          <a:lstStyle/>
          <a:p>
            <a:pPr algn="l"/>
            <a:r>
              <a:rPr sz="1300" b="1">
                <a:solidFill>
                  <a:srgbClr val="111110"/>
                </a:solidFill>
                <a:latin typeface="Calibri"/>
              </a:rPr>
              <a:t>Live Asset Mirroring</a:t>
            </a:r>
          </a:p>
        </p:txBody>
      </p:sp>
      <p:sp>
        <p:nvSpPr>
          <p:cNvPr id="18" name="TextBox 17"/>
          <p:cNvSpPr txBox="1"/>
          <p:nvPr/>
        </p:nvSpPr>
        <p:spPr>
          <a:xfrm>
            <a:off x="365760" y="3840480"/>
            <a:ext cx="3611880" cy="512064"/>
          </a:xfrm>
          <a:prstGeom prst="rect">
            <a:avLst/>
          </a:prstGeom>
          <a:noFill/>
        </p:spPr>
        <p:txBody>
          <a:bodyPr wrap="square" tIns="0" bIns="0" lIns="0" rIns="0">
            <a:normAutofit/>
          </a:bodyPr>
          <a:lstStyle/>
          <a:p>
            <a:pPr algn="l"/>
            <a:r>
              <a:rPr sz="1100" b="0">
                <a:solidFill>
                  <a:srgbClr val="3E3E3E"/>
                </a:solidFill>
                <a:latin typeface="Calibri"/>
              </a:rPr>
              <a:t>Real-time sensor, PLC, and SCADA streams maintain a continuously updated digital replica across platforms and asset classes.</a:t>
            </a:r>
          </a:p>
        </p:txBody>
      </p:sp>
      <p:sp>
        <p:nvSpPr>
          <p:cNvPr id="19" name="Rectangle 18"/>
          <p:cNvSpPr/>
          <p:nvPr/>
        </p:nvSpPr>
        <p:spPr>
          <a:xfrm>
            <a:off x="4183380" y="3511296"/>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3108" y="3575303"/>
            <a:ext cx="3611880" cy="237744"/>
          </a:xfrm>
          <a:prstGeom prst="rect">
            <a:avLst/>
          </a:prstGeom>
          <a:noFill/>
        </p:spPr>
        <p:txBody>
          <a:bodyPr wrap="square" tIns="0" bIns="0" lIns="0" rIns="0">
            <a:spAutoFit/>
          </a:bodyPr>
          <a:lstStyle/>
          <a:p>
            <a:pPr algn="l"/>
            <a:r>
              <a:rPr sz="1300" b="1">
                <a:solidFill>
                  <a:srgbClr val="111110"/>
                </a:solidFill>
                <a:latin typeface="Calibri"/>
              </a:rPr>
              <a:t>Operational Health Scoring</a:t>
            </a:r>
          </a:p>
        </p:txBody>
      </p:sp>
      <p:sp>
        <p:nvSpPr>
          <p:cNvPr id="21" name="TextBox 20"/>
          <p:cNvSpPr txBox="1"/>
          <p:nvPr/>
        </p:nvSpPr>
        <p:spPr>
          <a:xfrm>
            <a:off x="4293108" y="3840480"/>
            <a:ext cx="3611880" cy="512064"/>
          </a:xfrm>
          <a:prstGeom prst="rect">
            <a:avLst/>
          </a:prstGeom>
          <a:noFill/>
        </p:spPr>
        <p:txBody>
          <a:bodyPr wrap="square" tIns="0" bIns="0" lIns="0" rIns="0">
            <a:normAutofit/>
          </a:bodyPr>
          <a:lstStyle/>
          <a:p>
            <a:pPr algn="l"/>
            <a:r>
              <a:rPr sz="1100" b="0">
                <a:solidFill>
                  <a:srgbClr val="3E3E3E"/>
                </a:solidFill>
                <a:latin typeface="Calibri"/>
              </a:rPr>
              <a:t>Flags degradation trajectories and failure probability before output is affected, across interdependent systems.</a:t>
            </a:r>
          </a:p>
        </p:txBody>
      </p:sp>
      <p:sp>
        <p:nvSpPr>
          <p:cNvPr id="22" name="Rectangle 21"/>
          <p:cNvSpPr/>
          <p:nvPr/>
        </p:nvSpPr>
        <p:spPr>
          <a:xfrm>
            <a:off x="8110728" y="3511296"/>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0456" y="3575303"/>
            <a:ext cx="3611880" cy="237744"/>
          </a:xfrm>
          <a:prstGeom prst="rect">
            <a:avLst/>
          </a:prstGeom>
          <a:noFill/>
        </p:spPr>
        <p:txBody>
          <a:bodyPr wrap="square" tIns="0" bIns="0" lIns="0" rIns="0">
            <a:spAutoFit/>
          </a:bodyPr>
          <a:lstStyle/>
          <a:p>
            <a:pPr algn="l"/>
            <a:r>
              <a:rPr sz="1300" b="1">
                <a:solidFill>
                  <a:srgbClr val="111110"/>
                </a:solidFill>
                <a:latin typeface="Calibri"/>
              </a:rPr>
              <a:t>Predictive Maintenance</a:t>
            </a:r>
          </a:p>
        </p:txBody>
      </p:sp>
      <p:sp>
        <p:nvSpPr>
          <p:cNvPr id="24" name="TextBox 23"/>
          <p:cNvSpPr txBox="1"/>
          <p:nvPr/>
        </p:nvSpPr>
        <p:spPr>
          <a:xfrm>
            <a:off x="8220456" y="3840480"/>
            <a:ext cx="3611880" cy="512064"/>
          </a:xfrm>
          <a:prstGeom prst="rect">
            <a:avLst/>
          </a:prstGeom>
          <a:noFill/>
        </p:spPr>
        <p:txBody>
          <a:bodyPr wrap="square" tIns="0" bIns="0" lIns="0" rIns="0">
            <a:normAutofit/>
          </a:bodyPr>
          <a:lstStyle/>
          <a:p>
            <a:pPr algn="l"/>
            <a:r>
              <a:rPr sz="1100" b="0">
                <a:solidFill>
                  <a:srgbClr val="3E3E3E"/>
                </a:solidFill>
                <a:latin typeface="Calibri"/>
              </a:rPr>
              <a:t>Anticipates failures and optimal intervention windows from telemetry and load history, replacing calendar-based scheduling.</a:t>
            </a:r>
          </a:p>
        </p:txBody>
      </p:sp>
      <p:sp>
        <p:nvSpPr>
          <p:cNvPr id="25" name="Rectangle 24"/>
          <p:cNvSpPr/>
          <p:nvPr/>
        </p:nvSpPr>
        <p:spPr>
          <a:xfrm>
            <a:off x="256032" y="4526280"/>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4590288"/>
            <a:ext cx="3611880" cy="237744"/>
          </a:xfrm>
          <a:prstGeom prst="rect">
            <a:avLst/>
          </a:prstGeom>
          <a:noFill/>
        </p:spPr>
        <p:txBody>
          <a:bodyPr wrap="square" tIns="0" bIns="0" lIns="0" rIns="0">
            <a:spAutoFit/>
          </a:bodyPr>
          <a:lstStyle/>
          <a:p>
            <a:pPr algn="l"/>
            <a:r>
              <a:rPr sz="1300" b="1">
                <a:solidFill>
                  <a:srgbClr val="111110"/>
                </a:solidFill>
                <a:latin typeface="Calibri"/>
              </a:rPr>
              <a:t>Anomaly Detection and Root Cause Isolation</a:t>
            </a:r>
          </a:p>
        </p:txBody>
      </p:sp>
      <p:sp>
        <p:nvSpPr>
          <p:cNvPr id="27" name="TextBox 26"/>
          <p:cNvSpPr txBox="1"/>
          <p:nvPr/>
        </p:nvSpPr>
        <p:spPr>
          <a:xfrm>
            <a:off x="365760" y="4855464"/>
            <a:ext cx="3611880" cy="512064"/>
          </a:xfrm>
          <a:prstGeom prst="rect">
            <a:avLst/>
          </a:prstGeom>
          <a:noFill/>
        </p:spPr>
        <p:txBody>
          <a:bodyPr wrap="square" tIns="0" bIns="0" lIns="0" rIns="0">
            <a:normAutofit/>
          </a:bodyPr>
          <a:lstStyle/>
          <a:p>
            <a:pPr algn="l"/>
            <a:r>
              <a:rPr sz="1100" b="0">
                <a:solidFill>
                  <a:srgbClr val="3E3E3E"/>
                </a:solidFill>
                <a:latin typeface="Calibri"/>
              </a:rPr>
              <a:t>Triggers corrective workflows before cascading failures develop.</a:t>
            </a:r>
          </a:p>
        </p:txBody>
      </p:sp>
      <p:sp>
        <p:nvSpPr>
          <p:cNvPr id="28" name="Rectangle 27"/>
          <p:cNvSpPr/>
          <p:nvPr/>
        </p:nvSpPr>
        <p:spPr>
          <a:xfrm>
            <a:off x="4183380" y="4526280"/>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3108" y="4590288"/>
            <a:ext cx="3611880" cy="237744"/>
          </a:xfrm>
          <a:prstGeom prst="rect">
            <a:avLst/>
          </a:prstGeom>
          <a:noFill/>
        </p:spPr>
        <p:txBody>
          <a:bodyPr wrap="square" tIns="0" bIns="0" lIns="0" rIns="0">
            <a:spAutoFit/>
          </a:bodyPr>
          <a:lstStyle/>
          <a:p>
            <a:pPr algn="l"/>
            <a:r>
              <a:rPr sz="1300" b="1">
                <a:solidFill>
                  <a:srgbClr val="111110"/>
                </a:solidFill>
                <a:latin typeface="Calibri"/>
              </a:rPr>
              <a:t>Scenario Simulation</a:t>
            </a:r>
          </a:p>
        </p:txBody>
      </p:sp>
      <p:sp>
        <p:nvSpPr>
          <p:cNvPr id="30" name="TextBox 29"/>
          <p:cNvSpPr txBox="1"/>
          <p:nvPr/>
        </p:nvSpPr>
        <p:spPr>
          <a:xfrm>
            <a:off x="4293108" y="4855464"/>
            <a:ext cx="3611880" cy="512064"/>
          </a:xfrm>
          <a:prstGeom prst="rect">
            <a:avLst/>
          </a:prstGeom>
          <a:noFill/>
        </p:spPr>
        <p:txBody>
          <a:bodyPr wrap="square" tIns="0" bIns="0" lIns="0" rIns="0">
            <a:normAutofit/>
          </a:bodyPr>
          <a:lstStyle/>
          <a:p>
            <a:pPr algn="l"/>
            <a:r>
              <a:rPr sz="1100" b="0">
                <a:solidFill>
                  <a:srgbClr val="3E3E3E"/>
                </a:solidFill>
                <a:latin typeface="Calibri"/>
              </a:rPr>
              <a:t>Tests load changes and equipment swaps against the live twin without touching real systems.</a:t>
            </a:r>
          </a:p>
        </p:txBody>
      </p:sp>
      <p:sp>
        <p:nvSpPr>
          <p:cNvPr id="31" name="Rectangle 30"/>
          <p:cNvSpPr/>
          <p:nvPr/>
        </p:nvSpPr>
        <p:spPr>
          <a:xfrm>
            <a:off x="8110728" y="4526280"/>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0456" y="4590288"/>
            <a:ext cx="3611880" cy="237744"/>
          </a:xfrm>
          <a:prstGeom prst="rect">
            <a:avLst/>
          </a:prstGeom>
          <a:noFill/>
        </p:spPr>
        <p:txBody>
          <a:bodyPr wrap="square" tIns="0" bIns="0" lIns="0" rIns="0">
            <a:spAutoFit/>
          </a:bodyPr>
          <a:lstStyle/>
          <a:p>
            <a:pPr algn="l"/>
            <a:r>
              <a:rPr sz="1300" b="1">
                <a:solidFill>
                  <a:srgbClr val="111110"/>
                </a:solidFill>
                <a:latin typeface="Calibri"/>
              </a:rPr>
              <a:t>Unified Operations Dashboard</a:t>
            </a:r>
          </a:p>
        </p:txBody>
      </p:sp>
      <p:sp>
        <p:nvSpPr>
          <p:cNvPr id="33" name="TextBox 32"/>
          <p:cNvSpPr txBox="1"/>
          <p:nvPr/>
        </p:nvSpPr>
        <p:spPr>
          <a:xfrm>
            <a:off x="8220456" y="4855464"/>
            <a:ext cx="3611880" cy="512064"/>
          </a:xfrm>
          <a:prstGeom prst="rect">
            <a:avLst/>
          </a:prstGeom>
          <a:noFill/>
        </p:spPr>
        <p:txBody>
          <a:bodyPr wrap="square" tIns="0" bIns="0" lIns="0" rIns="0">
            <a:normAutofit/>
          </a:bodyPr>
          <a:lstStyle/>
          <a:p>
            <a:pPr algn="l"/>
            <a:r>
              <a:rPr sz="1100" b="0">
                <a:solidFill>
                  <a:srgbClr val="3E3E3E"/>
                </a:solidFill>
                <a:latin typeface="Calibri"/>
              </a:rPr>
              <a:t>Consolidates asset health, performance, and risk scores with drill-down visibility across platforms.</a:t>
            </a:r>
          </a:p>
        </p:txBody>
      </p:sp>
      <p:sp>
        <p:nvSpPr>
          <p:cNvPr id="34" name="Rectangle 33"/>
          <p:cNvSpPr/>
          <p:nvPr/>
        </p:nvSpPr>
        <p:spPr>
          <a:xfrm>
            <a:off x="0" y="5486400"/>
            <a:ext cx="12188952" cy="1371600"/>
          </a:xfrm>
          <a:prstGeom prst="rect">
            <a:avLst/>
          </a:prstGeom>
          <a:solidFill>
            <a:srgbClr val="3A8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82880" y="5614416"/>
            <a:ext cx="3697223" cy="603504"/>
          </a:xfrm>
          <a:prstGeom prst="rect">
            <a:avLst/>
          </a:prstGeom>
          <a:noFill/>
        </p:spPr>
        <p:txBody>
          <a:bodyPr wrap="square" tIns="0" bIns="0" lIns="0" rIns="0">
            <a:spAutoFit/>
          </a:bodyPr>
          <a:lstStyle/>
          <a:p>
            <a:pPr algn="ctr"/>
            <a:r>
              <a:rPr sz="3400" b="1">
                <a:solidFill>
                  <a:srgbClr val="FFFFFF"/>
                </a:solidFill>
                <a:latin typeface="Calibri"/>
              </a:rPr>
              <a:t>30</a:t>
            </a:r>
          </a:p>
        </p:txBody>
      </p:sp>
      <p:sp>
        <p:nvSpPr>
          <p:cNvPr id="36" name="TextBox 35"/>
          <p:cNvSpPr txBox="1"/>
          <p:nvPr/>
        </p:nvSpPr>
        <p:spPr>
          <a:xfrm>
            <a:off x="137160" y="6272784"/>
            <a:ext cx="3788664" cy="502920"/>
          </a:xfrm>
          <a:prstGeom prst="rect">
            <a:avLst/>
          </a:prstGeom>
          <a:noFill/>
        </p:spPr>
        <p:txBody>
          <a:bodyPr wrap="square" tIns="0" bIns="0" lIns="0" rIns="0">
            <a:spAutoFit/>
          </a:bodyPr>
          <a:lstStyle/>
          <a:p>
            <a:pPr algn="ctr"/>
            <a:r>
              <a:rPr sz="900" b="0">
                <a:solidFill>
                  <a:srgbClr val="FFFFFF"/>
                </a:solidFill>
                <a:latin typeface="Calibri"/>
              </a:rPr>
              <a:t>40% reduction in unplanned downtime</a:t>
            </a:r>
          </a:p>
        </p:txBody>
      </p:sp>
      <p:sp>
        <p:nvSpPr>
          <p:cNvPr id="37" name="TextBox 36"/>
          <p:cNvSpPr txBox="1"/>
          <p:nvPr/>
        </p:nvSpPr>
        <p:spPr>
          <a:xfrm>
            <a:off x="4245864" y="5614416"/>
            <a:ext cx="3697223" cy="603504"/>
          </a:xfrm>
          <a:prstGeom prst="rect">
            <a:avLst/>
          </a:prstGeom>
          <a:noFill/>
        </p:spPr>
        <p:txBody>
          <a:bodyPr wrap="square" tIns="0" bIns="0" lIns="0" rIns="0">
            <a:spAutoFit/>
          </a:bodyPr>
          <a:lstStyle/>
          <a:p>
            <a:pPr algn="ctr"/>
            <a:r>
              <a:rPr sz="3400" b="1">
                <a:solidFill>
                  <a:srgbClr val="FFFFFF"/>
                </a:solidFill>
                <a:latin typeface="Calibri"/>
              </a:rPr>
              <a:t>20</a:t>
            </a:r>
          </a:p>
        </p:txBody>
      </p:sp>
      <p:sp>
        <p:nvSpPr>
          <p:cNvPr id="38" name="TextBox 37"/>
          <p:cNvSpPr txBox="1"/>
          <p:nvPr/>
        </p:nvSpPr>
        <p:spPr>
          <a:xfrm>
            <a:off x="4200144" y="6272784"/>
            <a:ext cx="3788664" cy="502920"/>
          </a:xfrm>
          <a:prstGeom prst="rect">
            <a:avLst/>
          </a:prstGeom>
          <a:noFill/>
        </p:spPr>
        <p:txBody>
          <a:bodyPr wrap="square" tIns="0" bIns="0" lIns="0" rIns="0">
            <a:spAutoFit/>
          </a:bodyPr>
          <a:lstStyle/>
          <a:p>
            <a:pPr algn="ctr"/>
            <a:r>
              <a:rPr sz="900" b="0">
                <a:solidFill>
                  <a:srgbClr val="FFFFFF"/>
                </a:solidFill>
                <a:latin typeface="Calibri"/>
              </a:rPr>
              <a:t>30% improvement in asset utilisation</a:t>
            </a:r>
          </a:p>
        </p:txBody>
      </p:sp>
      <p:sp>
        <p:nvSpPr>
          <p:cNvPr id="39" name="TextBox 38"/>
          <p:cNvSpPr txBox="1"/>
          <p:nvPr/>
        </p:nvSpPr>
        <p:spPr>
          <a:xfrm>
            <a:off x="8308847" y="5614416"/>
            <a:ext cx="3697223" cy="603504"/>
          </a:xfrm>
          <a:prstGeom prst="rect">
            <a:avLst/>
          </a:prstGeom>
          <a:noFill/>
        </p:spPr>
        <p:txBody>
          <a:bodyPr wrap="square" tIns="0" bIns="0" lIns="0" rIns="0">
            <a:spAutoFit/>
          </a:bodyPr>
          <a:lstStyle/>
          <a:p>
            <a:pPr algn="ctr"/>
            <a:r>
              <a:rPr sz="3400" b="1">
                <a:solidFill>
                  <a:srgbClr val="FFFFFF"/>
                </a:solidFill>
                <a:latin typeface="Calibri"/>
              </a:rPr>
              <a:t>25</a:t>
            </a:r>
          </a:p>
        </p:txBody>
      </p:sp>
      <p:sp>
        <p:nvSpPr>
          <p:cNvPr id="40" name="TextBox 39"/>
          <p:cNvSpPr txBox="1"/>
          <p:nvPr/>
        </p:nvSpPr>
        <p:spPr>
          <a:xfrm>
            <a:off x="8263128" y="6272784"/>
            <a:ext cx="3788664" cy="502920"/>
          </a:xfrm>
          <a:prstGeom prst="rect">
            <a:avLst/>
          </a:prstGeom>
          <a:noFill/>
        </p:spPr>
        <p:txBody>
          <a:bodyPr wrap="square" tIns="0" bIns="0" lIns="0" rIns="0">
            <a:spAutoFit/>
          </a:bodyPr>
          <a:lstStyle/>
          <a:p>
            <a:pPr algn="ctr"/>
            <a:r>
              <a:rPr sz="900" b="0">
                <a:solidFill>
                  <a:srgbClr val="FFFFFF"/>
                </a:solidFill>
                <a:latin typeface="Calibri"/>
              </a:rPr>
              <a:t>35% faster fault detection and resolution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852160" cy="91440"/>
          </a:xfrm>
          <a:prstGeom prst="rect">
            <a:avLst/>
          </a:prstGeom>
          <a:solidFill>
            <a:srgbClr val="C02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852160" y="0"/>
            <a:ext cx="6336792" cy="91440"/>
          </a:xfrm>
          <a:prstGeom prst="rect">
            <a:avLst/>
          </a:prstGeom>
          <a:solidFill>
            <a:srgbClr val="3A8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310896"/>
            <a:ext cx="59436" cy="502920"/>
          </a:xfrm>
          <a:prstGeom prst="rect">
            <a:avLst/>
          </a:prstGeom>
          <a:solidFill>
            <a:srgbClr val="C02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2336" y="274320"/>
            <a:ext cx="8686800" cy="548640"/>
          </a:xfrm>
          <a:prstGeom prst="rect">
            <a:avLst/>
          </a:prstGeom>
          <a:noFill/>
        </p:spPr>
        <p:txBody>
          <a:bodyPr wrap="square" tIns="0" bIns="0" lIns="0" rIns="0">
            <a:spAutoFit/>
          </a:bodyPr>
          <a:lstStyle/>
          <a:p>
            <a:pPr algn="l"/>
            <a:r>
              <a:rPr sz="2400" b="1">
                <a:solidFill>
                  <a:srgbClr val="111110"/>
                </a:solidFill>
                <a:latin typeface="Calibri"/>
              </a:rPr>
              <a:t>LOAD BALANCING AND DEMAND RESPONSE</a:t>
            </a:r>
          </a:p>
        </p:txBody>
      </p:sp>
      <p:sp>
        <p:nvSpPr>
          <p:cNvPr id="6" name="TextBox 5"/>
          <p:cNvSpPr txBox="1"/>
          <p:nvPr/>
        </p:nvSpPr>
        <p:spPr>
          <a:xfrm>
            <a:off x="402336" y="676656"/>
            <a:ext cx="11430000" cy="310896"/>
          </a:xfrm>
          <a:prstGeom prst="rect">
            <a:avLst/>
          </a:prstGeom>
          <a:noFill/>
        </p:spPr>
        <p:txBody>
          <a:bodyPr wrap="square" tIns="0" bIns="0" lIns="0" rIns="0">
            <a:spAutoFit/>
          </a:bodyPr>
          <a:lstStyle/>
          <a:p>
            <a:pPr algn="l"/>
            <a:r>
              <a:rPr sz="1500" b="1">
                <a:solidFill>
                  <a:srgbClr val="3A8B82"/>
                </a:solidFill>
                <a:latin typeface="Calibri"/>
              </a:rPr>
              <a:t>CLIENT: Leading Energy Utility  |  DOMAIN: Energy</a:t>
            </a:r>
          </a:p>
        </p:txBody>
      </p:sp>
      <p:sp>
        <p:nvSpPr>
          <p:cNvPr id="7" name="Rectangle 6"/>
          <p:cNvSpPr/>
          <p:nvPr/>
        </p:nvSpPr>
        <p:spPr>
          <a:xfrm>
            <a:off x="228600" y="1280160"/>
            <a:ext cx="59436" cy="1828800"/>
          </a:xfrm>
          <a:prstGeom prst="rect">
            <a:avLst/>
          </a:prstGeom>
          <a:solidFill>
            <a:srgbClr val="C02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8036" y="1280160"/>
            <a:ext cx="5394960" cy="1828800"/>
          </a:xfrm>
          <a:prstGeom prst="rect">
            <a:avLst/>
          </a:prstGeom>
          <a:solidFill>
            <a:srgbClr val="FFFFFF"/>
          </a:solidFill>
          <a:ln w="635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44168"/>
            <a:ext cx="5166360" cy="292608"/>
          </a:xfrm>
          <a:prstGeom prst="rect">
            <a:avLst/>
          </a:prstGeom>
          <a:noFill/>
        </p:spPr>
        <p:txBody>
          <a:bodyPr wrap="square" tIns="0" bIns="0" lIns="0" rIns="0">
            <a:spAutoFit/>
          </a:bodyPr>
          <a:lstStyle/>
          <a:p>
            <a:pPr algn="l"/>
            <a:r>
              <a:rPr sz="1300" b="1">
                <a:solidFill>
                  <a:srgbClr val="111110"/>
                </a:solidFill>
                <a:latin typeface="Calibri"/>
              </a:rPr>
              <a:t>The Challenge</a:t>
            </a:r>
          </a:p>
        </p:txBody>
      </p:sp>
      <p:sp>
        <p:nvSpPr>
          <p:cNvPr id="10" name="TextBox 9"/>
          <p:cNvSpPr txBox="1"/>
          <p:nvPr/>
        </p:nvSpPr>
        <p:spPr>
          <a:xfrm>
            <a:off x="411480" y="1691640"/>
            <a:ext cx="5166360" cy="1353312"/>
          </a:xfrm>
          <a:prstGeom prst="rect">
            <a:avLst/>
          </a:prstGeom>
          <a:noFill/>
        </p:spPr>
        <p:txBody>
          <a:bodyPr wrap="square" tIns="0" bIns="0" lIns="0" rIns="0">
            <a:normAutofit/>
          </a:bodyPr>
          <a:lstStyle/>
          <a:p>
            <a:pPr algn="l"/>
            <a:r>
              <a:rPr sz="1100" b="0">
                <a:solidFill>
                  <a:srgbClr val="3E3E3E"/>
                </a:solidFill>
                <a:latin typeface="Calibri"/>
              </a:rPr>
              <a:t>An energy and utilities operator managing distributed sites relied on rule-based controls and manual intervention for load balancing and demand response. There was no real-time intelligence to act on dynamic grid conditions, peak demand signals, or consumption anomalies before they escalated into penalties. Idle capacity went undetected across sites, grid penalty charges accumulated, and response times consistently lagged behind the market windows that determined whether a demand response action would actually count.</a:t>
            </a:r>
          </a:p>
        </p:txBody>
      </p:sp>
      <p:sp>
        <p:nvSpPr>
          <p:cNvPr id="11" name="Rectangle 10"/>
          <p:cNvSpPr/>
          <p:nvPr/>
        </p:nvSpPr>
        <p:spPr>
          <a:xfrm>
            <a:off x="6007607" y="1280160"/>
            <a:ext cx="59436" cy="1828800"/>
          </a:xfrm>
          <a:prstGeom prst="rect">
            <a:avLst/>
          </a:prstGeom>
          <a:solidFill>
            <a:srgbClr val="3A8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067044" y="1280160"/>
            <a:ext cx="5852160" cy="1828800"/>
          </a:xfrm>
          <a:prstGeom prst="rect">
            <a:avLst/>
          </a:prstGeom>
          <a:solidFill>
            <a:srgbClr val="FFFFFF"/>
          </a:solidFill>
          <a:ln w="635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5916" y="1344168"/>
            <a:ext cx="5614416" cy="292608"/>
          </a:xfrm>
          <a:prstGeom prst="rect">
            <a:avLst/>
          </a:prstGeom>
          <a:noFill/>
        </p:spPr>
        <p:txBody>
          <a:bodyPr wrap="square" tIns="0" bIns="0" lIns="0" rIns="0">
            <a:spAutoFit/>
          </a:bodyPr>
          <a:lstStyle/>
          <a:p>
            <a:pPr algn="l"/>
            <a:r>
              <a:rPr sz="1300" b="1">
                <a:solidFill>
                  <a:srgbClr val="111110"/>
                </a:solidFill>
                <a:latin typeface="Calibri"/>
              </a:rPr>
              <a:t>The Solution</a:t>
            </a:r>
          </a:p>
        </p:txBody>
      </p:sp>
      <p:sp>
        <p:nvSpPr>
          <p:cNvPr id="14" name="TextBox 13"/>
          <p:cNvSpPr txBox="1"/>
          <p:nvPr/>
        </p:nvSpPr>
        <p:spPr>
          <a:xfrm>
            <a:off x="6185916" y="1691640"/>
            <a:ext cx="5614416" cy="1353312"/>
          </a:xfrm>
          <a:prstGeom prst="rect">
            <a:avLst/>
          </a:prstGeom>
          <a:noFill/>
        </p:spPr>
        <p:txBody>
          <a:bodyPr wrap="square" tIns="0" bIns="0" lIns="0" rIns="0">
            <a:normAutofit/>
          </a:bodyPr>
          <a:lstStyle/>
          <a:p>
            <a:pPr algn="l"/>
            <a:r>
              <a:rPr sz="1100" b="0">
                <a:solidFill>
                  <a:srgbClr val="3E3E3E"/>
                </a:solidFill>
                <a:latin typeface="Calibri"/>
              </a:rPr>
              <a:t>An agentic optimization engine was deployed to continuously monitor consumption patterns across all distributed assets, recommend and execute load balancing actions autonomously, and trigger demand response measures in real time. The system anticipates peak windows using historical profiles and weather signals, enabling pre-emptive load shedding before a peak event hits rather than reacting once it has already started. Energy management shifted from manual scheduling to proactive, grid-aligned action with no additional infrastructure investment required.</a:t>
            </a:r>
          </a:p>
        </p:txBody>
      </p:sp>
      <p:sp>
        <p:nvSpPr>
          <p:cNvPr id="15" name="TextBox 14"/>
          <p:cNvSpPr txBox="1"/>
          <p:nvPr/>
        </p:nvSpPr>
        <p:spPr>
          <a:xfrm>
            <a:off x="256032" y="3200400"/>
            <a:ext cx="6400800" cy="256032"/>
          </a:xfrm>
          <a:prstGeom prst="rect">
            <a:avLst/>
          </a:prstGeom>
          <a:noFill/>
        </p:spPr>
        <p:txBody>
          <a:bodyPr wrap="square" tIns="0" bIns="0" lIns="0" rIns="0">
            <a:spAutoFit/>
          </a:bodyPr>
          <a:lstStyle/>
          <a:p>
            <a:pPr algn="l"/>
            <a:r>
              <a:rPr sz="1400" b="0">
                <a:solidFill>
                  <a:srgbClr val="3A8B82"/>
                </a:solidFill>
                <a:latin typeface="Calibri"/>
              </a:rPr>
              <a:t>Key Capabilities Developed</a:t>
            </a:r>
          </a:p>
        </p:txBody>
      </p:sp>
      <p:sp>
        <p:nvSpPr>
          <p:cNvPr id="16" name="Rectangle 15"/>
          <p:cNvSpPr/>
          <p:nvPr/>
        </p:nvSpPr>
        <p:spPr>
          <a:xfrm>
            <a:off x="256032" y="3511296"/>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3575303"/>
            <a:ext cx="3611880" cy="237744"/>
          </a:xfrm>
          <a:prstGeom prst="rect">
            <a:avLst/>
          </a:prstGeom>
          <a:noFill/>
        </p:spPr>
        <p:txBody>
          <a:bodyPr wrap="square" tIns="0" bIns="0" lIns="0" rIns="0">
            <a:spAutoFit/>
          </a:bodyPr>
          <a:lstStyle/>
          <a:p>
            <a:pPr algn="l"/>
            <a:r>
              <a:rPr sz="1300" b="1">
                <a:solidFill>
                  <a:srgbClr val="111110"/>
                </a:solidFill>
                <a:latin typeface="Calibri"/>
              </a:rPr>
              <a:t>Real-Time Consumption Monitoring</a:t>
            </a:r>
          </a:p>
        </p:txBody>
      </p:sp>
      <p:sp>
        <p:nvSpPr>
          <p:cNvPr id="18" name="TextBox 17"/>
          <p:cNvSpPr txBox="1"/>
          <p:nvPr/>
        </p:nvSpPr>
        <p:spPr>
          <a:xfrm>
            <a:off x="365760" y="3840480"/>
            <a:ext cx="3611880" cy="512064"/>
          </a:xfrm>
          <a:prstGeom prst="rect">
            <a:avLst/>
          </a:prstGeom>
          <a:noFill/>
        </p:spPr>
        <p:txBody>
          <a:bodyPr wrap="square" tIns="0" bIns="0" lIns="0" rIns="0">
            <a:normAutofit/>
          </a:bodyPr>
          <a:lstStyle/>
          <a:p>
            <a:pPr algn="l"/>
            <a:r>
              <a:rPr sz="1100" b="0">
                <a:solidFill>
                  <a:srgbClr val="3E3E3E"/>
                </a:solidFill>
                <a:latin typeface="Calibri"/>
              </a:rPr>
              <a:t>Continuously tracks energy usage across all distributed sites, detecting deviations, spikes, and anomalies.</a:t>
            </a:r>
          </a:p>
        </p:txBody>
      </p:sp>
      <p:sp>
        <p:nvSpPr>
          <p:cNvPr id="19" name="Rectangle 18"/>
          <p:cNvSpPr/>
          <p:nvPr/>
        </p:nvSpPr>
        <p:spPr>
          <a:xfrm>
            <a:off x="4183380" y="3511296"/>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3108" y="3575303"/>
            <a:ext cx="3611880" cy="237744"/>
          </a:xfrm>
          <a:prstGeom prst="rect">
            <a:avLst/>
          </a:prstGeom>
          <a:noFill/>
        </p:spPr>
        <p:txBody>
          <a:bodyPr wrap="square" tIns="0" bIns="0" lIns="0" rIns="0">
            <a:spAutoFit/>
          </a:bodyPr>
          <a:lstStyle/>
          <a:p>
            <a:pPr algn="l"/>
            <a:r>
              <a:rPr sz="1300" b="1">
                <a:solidFill>
                  <a:srgbClr val="111110"/>
                </a:solidFill>
                <a:latin typeface="Calibri"/>
              </a:rPr>
              <a:t>Predictive Peak Demand Forecasting</a:t>
            </a:r>
          </a:p>
        </p:txBody>
      </p:sp>
      <p:sp>
        <p:nvSpPr>
          <p:cNvPr id="21" name="TextBox 20"/>
          <p:cNvSpPr txBox="1"/>
          <p:nvPr/>
        </p:nvSpPr>
        <p:spPr>
          <a:xfrm>
            <a:off x="4293108" y="3840480"/>
            <a:ext cx="3611880" cy="512064"/>
          </a:xfrm>
          <a:prstGeom prst="rect">
            <a:avLst/>
          </a:prstGeom>
          <a:noFill/>
        </p:spPr>
        <p:txBody>
          <a:bodyPr wrap="square" tIns="0" bIns="0" lIns="0" rIns="0">
            <a:normAutofit/>
          </a:bodyPr>
          <a:lstStyle/>
          <a:p>
            <a:pPr algn="l"/>
            <a:r>
              <a:rPr sz="1100" b="0">
                <a:solidFill>
                  <a:srgbClr val="3E3E3E"/>
                </a:solidFill>
                <a:latin typeface="Calibri"/>
              </a:rPr>
              <a:t>Anticipates peak windows using historical profiles and weather signals to enable pre-emptive load shedding.</a:t>
            </a:r>
          </a:p>
        </p:txBody>
      </p:sp>
      <p:sp>
        <p:nvSpPr>
          <p:cNvPr id="22" name="Rectangle 21"/>
          <p:cNvSpPr/>
          <p:nvPr/>
        </p:nvSpPr>
        <p:spPr>
          <a:xfrm>
            <a:off x="8110728" y="3511296"/>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0456" y="3575303"/>
            <a:ext cx="3611880" cy="237744"/>
          </a:xfrm>
          <a:prstGeom prst="rect">
            <a:avLst/>
          </a:prstGeom>
          <a:noFill/>
        </p:spPr>
        <p:txBody>
          <a:bodyPr wrap="square" tIns="0" bIns="0" lIns="0" rIns="0">
            <a:spAutoFit/>
          </a:bodyPr>
          <a:lstStyle/>
          <a:p>
            <a:pPr algn="l"/>
            <a:r>
              <a:rPr sz="1300" b="1">
                <a:solidFill>
                  <a:srgbClr val="111110"/>
                </a:solidFill>
                <a:latin typeface="Calibri"/>
              </a:rPr>
              <a:t>Autonomous Load Balancing Engine</a:t>
            </a:r>
          </a:p>
        </p:txBody>
      </p:sp>
      <p:sp>
        <p:nvSpPr>
          <p:cNvPr id="24" name="TextBox 23"/>
          <p:cNvSpPr txBox="1"/>
          <p:nvPr/>
        </p:nvSpPr>
        <p:spPr>
          <a:xfrm>
            <a:off x="8220456" y="3840480"/>
            <a:ext cx="3611880" cy="512064"/>
          </a:xfrm>
          <a:prstGeom prst="rect">
            <a:avLst/>
          </a:prstGeom>
          <a:noFill/>
        </p:spPr>
        <p:txBody>
          <a:bodyPr wrap="square" tIns="0" bIns="0" lIns="0" rIns="0">
            <a:normAutofit/>
          </a:bodyPr>
          <a:lstStyle/>
          <a:p>
            <a:pPr algn="l"/>
            <a:r>
              <a:rPr sz="1100" b="0">
                <a:solidFill>
                  <a:srgbClr val="3E3E3E"/>
                </a:solidFill>
                <a:latin typeface="Calibri"/>
              </a:rPr>
              <a:t>Recommends and executes load redistribution autonomously, eliminating manual scheduling bottlenecks.</a:t>
            </a:r>
          </a:p>
        </p:txBody>
      </p:sp>
      <p:sp>
        <p:nvSpPr>
          <p:cNvPr id="25" name="Rectangle 24"/>
          <p:cNvSpPr/>
          <p:nvPr/>
        </p:nvSpPr>
        <p:spPr>
          <a:xfrm>
            <a:off x="256032" y="4526280"/>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4590288"/>
            <a:ext cx="3611880" cy="237744"/>
          </a:xfrm>
          <a:prstGeom prst="rect">
            <a:avLst/>
          </a:prstGeom>
          <a:noFill/>
        </p:spPr>
        <p:txBody>
          <a:bodyPr wrap="square" tIns="0" bIns="0" lIns="0" rIns="0">
            <a:spAutoFit/>
          </a:bodyPr>
          <a:lstStyle/>
          <a:p>
            <a:pPr algn="l"/>
            <a:r>
              <a:rPr sz="1300" b="1">
                <a:solidFill>
                  <a:srgbClr val="111110"/>
                </a:solidFill>
                <a:latin typeface="Calibri"/>
              </a:rPr>
              <a:t>Demand Response Trigger</a:t>
            </a:r>
          </a:p>
        </p:txBody>
      </p:sp>
      <p:sp>
        <p:nvSpPr>
          <p:cNvPr id="27" name="TextBox 26"/>
          <p:cNvSpPr txBox="1"/>
          <p:nvPr/>
        </p:nvSpPr>
        <p:spPr>
          <a:xfrm>
            <a:off x="365760" y="4855464"/>
            <a:ext cx="3611880" cy="512064"/>
          </a:xfrm>
          <a:prstGeom prst="rect">
            <a:avLst/>
          </a:prstGeom>
          <a:noFill/>
        </p:spPr>
        <p:txBody>
          <a:bodyPr wrap="square" tIns="0" bIns="0" lIns="0" rIns="0">
            <a:normAutofit/>
          </a:bodyPr>
          <a:lstStyle/>
          <a:p>
            <a:pPr algn="l"/>
            <a:r>
              <a:rPr sz="1100" b="0">
                <a:solidFill>
                  <a:srgbClr val="3E3E3E"/>
                </a:solidFill>
                <a:latin typeface="Calibri"/>
              </a:rPr>
              <a:t>Automatically executes actions aligned to utility signals and market windows without operator input.</a:t>
            </a:r>
          </a:p>
        </p:txBody>
      </p:sp>
      <p:sp>
        <p:nvSpPr>
          <p:cNvPr id="28" name="Rectangle 27"/>
          <p:cNvSpPr/>
          <p:nvPr/>
        </p:nvSpPr>
        <p:spPr>
          <a:xfrm>
            <a:off x="4183380" y="4526280"/>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3108" y="4590288"/>
            <a:ext cx="3611880" cy="237744"/>
          </a:xfrm>
          <a:prstGeom prst="rect">
            <a:avLst/>
          </a:prstGeom>
          <a:noFill/>
        </p:spPr>
        <p:txBody>
          <a:bodyPr wrap="square" tIns="0" bIns="0" lIns="0" rIns="0">
            <a:spAutoFit/>
          </a:bodyPr>
          <a:lstStyle/>
          <a:p>
            <a:pPr algn="l"/>
            <a:r>
              <a:rPr sz="1300" b="1">
                <a:solidFill>
                  <a:srgbClr val="111110"/>
                </a:solidFill>
                <a:latin typeface="Calibri"/>
              </a:rPr>
              <a:t>Grid Condition Anomaly Detection</a:t>
            </a:r>
          </a:p>
        </p:txBody>
      </p:sp>
      <p:sp>
        <p:nvSpPr>
          <p:cNvPr id="30" name="TextBox 29"/>
          <p:cNvSpPr txBox="1"/>
          <p:nvPr/>
        </p:nvSpPr>
        <p:spPr>
          <a:xfrm>
            <a:off x="4293108" y="4855464"/>
            <a:ext cx="3611880" cy="512064"/>
          </a:xfrm>
          <a:prstGeom prst="rect">
            <a:avLst/>
          </a:prstGeom>
          <a:noFill/>
        </p:spPr>
        <p:txBody>
          <a:bodyPr wrap="square" tIns="0" bIns="0" lIns="0" rIns="0">
            <a:normAutofit/>
          </a:bodyPr>
          <a:lstStyle/>
          <a:p>
            <a:pPr algn="l"/>
            <a:r>
              <a:rPr sz="1100" b="0">
                <a:solidFill>
                  <a:srgbClr val="3E3E3E"/>
                </a:solidFill>
                <a:latin typeface="Calibri"/>
              </a:rPr>
              <a:t>Flags voltage fluctuations and abnormal draw patterns in real time to prevent grid instability.</a:t>
            </a:r>
          </a:p>
        </p:txBody>
      </p:sp>
      <p:sp>
        <p:nvSpPr>
          <p:cNvPr id="31" name="Rectangle 30"/>
          <p:cNvSpPr/>
          <p:nvPr/>
        </p:nvSpPr>
        <p:spPr>
          <a:xfrm>
            <a:off x="8110728" y="4526280"/>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0456" y="4590288"/>
            <a:ext cx="3611880" cy="237744"/>
          </a:xfrm>
          <a:prstGeom prst="rect">
            <a:avLst/>
          </a:prstGeom>
          <a:noFill/>
        </p:spPr>
        <p:txBody>
          <a:bodyPr wrap="square" tIns="0" bIns="0" lIns="0" rIns="0">
            <a:spAutoFit/>
          </a:bodyPr>
          <a:lstStyle/>
          <a:p>
            <a:pPr algn="l"/>
            <a:r>
              <a:rPr sz="1300" b="1">
                <a:solidFill>
                  <a:srgbClr val="111110"/>
                </a:solidFill>
                <a:latin typeface="Calibri"/>
              </a:rPr>
              <a:t>Energy Intelligence Dashboard</a:t>
            </a:r>
          </a:p>
        </p:txBody>
      </p:sp>
      <p:sp>
        <p:nvSpPr>
          <p:cNvPr id="33" name="TextBox 32"/>
          <p:cNvSpPr txBox="1"/>
          <p:nvPr/>
        </p:nvSpPr>
        <p:spPr>
          <a:xfrm>
            <a:off x="8220456" y="4855464"/>
            <a:ext cx="3611880" cy="512064"/>
          </a:xfrm>
          <a:prstGeom prst="rect">
            <a:avLst/>
          </a:prstGeom>
          <a:noFill/>
        </p:spPr>
        <p:txBody>
          <a:bodyPr wrap="square" tIns="0" bIns="0" lIns="0" rIns="0">
            <a:normAutofit/>
          </a:bodyPr>
          <a:lstStyle/>
          <a:p>
            <a:pPr algn="l"/>
            <a:r>
              <a:rPr sz="1100" b="0">
                <a:solidFill>
                  <a:srgbClr val="3E3E3E"/>
                </a:solidFill>
                <a:latin typeface="Calibri"/>
              </a:rPr>
              <a:t>Provides unified visibility tracking utilization, response history, cost avoidance, and grid alignment scores.</a:t>
            </a:r>
          </a:p>
        </p:txBody>
      </p:sp>
      <p:sp>
        <p:nvSpPr>
          <p:cNvPr id="34" name="Rectangle 33"/>
          <p:cNvSpPr/>
          <p:nvPr/>
        </p:nvSpPr>
        <p:spPr>
          <a:xfrm>
            <a:off x="0" y="5486400"/>
            <a:ext cx="12188952" cy="1371600"/>
          </a:xfrm>
          <a:prstGeom prst="rect">
            <a:avLst/>
          </a:prstGeom>
          <a:solidFill>
            <a:srgbClr val="3A8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82880" y="5614416"/>
            <a:ext cx="3697223" cy="603504"/>
          </a:xfrm>
          <a:prstGeom prst="rect">
            <a:avLst/>
          </a:prstGeom>
          <a:noFill/>
        </p:spPr>
        <p:txBody>
          <a:bodyPr wrap="square" tIns="0" bIns="0" lIns="0" rIns="0">
            <a:spAutoFit/>
          </a:bodyPr>
          <a:lstStyle/>
          <a:p>
            <a:pPr algn="ctr"/>
            <a:r>
              <a:rPr sz="3400" b="1">
                <a:solidFill>
                  <a:srgbClr val="FFFFFF"/>
                </a:solidFill>
                <a:latin typeface="Calibri"/>
              </a:rPr>
              <a:t>15</a:t>
            </a:r>
          </a:p>
        </p:txBody>
      </p:sp>
      <p:sp>
        <p:nvSpPr>
          <p:cNvPr id="36" name="TextBox 35"/>
          <p:cNvSpPr txBox="1"/>
          <p:nvPr/>
        </p:nvSpPr>
        <p:spPr>
          <a:xfrm>
            <a:off x="137160" y="6272784"/>
            <a:ext cx="3788664" cy="502920"/>
          </a:xfrm>
          <a:prstGeom prst="rect">
            <a:avLst/>
          </a:prstGeom>
          <a:noFill/>
        </p:spPr>
        <p:txBody>
          <a:bodyPr wrap="square" tIns="0" bIns="0" lIns="0" rIns="0">
            <a:spAutoFit/>
          </a:bodyPr>
          <a:lstStyle/>
          <a:p>
            <a:pPr algn="ctr"/>
            <a:r>
              <a:rPr sz="900" b="0">
                <a:solidFill>
                  <a:srgbClr val="FFFFFF"/>
                </a:solidFill>
                <a:latin typeface="Calibri"/>
              </a:rPr>
              <a:t>25% reduction in peak load consumption via autonomous response</a:t>
            </a:r>
          </a:p>
        </p:txBody>
      </p:sp>
      <p:sp>
        <p:nvSpPr>
          <p:cNvPr id="37" name="TextBox 36"/>
          <p:cNvSpPr txBox="1"/>
          <p:nvPr/>
        </p:nvSpPr>
        <p:spPr>
          <a:xfrm>
            <a:off x="4245864" y="5614416"/>
            <a:ext cx="3697223" cy="603504"/>
          </a:xfrm>
          <a:prstGeom prst="rect">
            <a:avLst/>
          </a:prstGeom>
          <a:noFill/>
        </p:spPr>
        <p:txBody>
          <a:bodyPr wrap="square" tIns="0" bIns="0" lIns="0" rIns="0">
            <a:spAutoFit/>
          </a:bodyPr>
          <a:lstStyle/>
          <a:p>
            <a:pPr algn="ctr"/>
            <a:r>
              <a:rPr sz="3400" b="1">
                <a:solidFill>
                  <a:srgbClr val="FFFFFF"/>
                </a:solidFill>
                <a:latin typeface="Calibri"/>
              </a:rPr>
              <a:t>30</a:t>
            </a:r>
          </a:p>
        </p:txBody>
      </p:sp>
      <p:sp>
        <p:nvSpPr>
          <p:cNvPr id="38" name="TextBox 37"/>
          <p:cNvSpPr txBox="1"/>
          <p:nvPr/>
        </p:nvSpPr>
        <p:spPr>
          <a:xfrm>
            <a:off x="4200144" y="6272784"/>
            <a:ext cx="3788664" cy="502920"/>
          </a:xfrm>
          <a:prstGeom prst="rect">
            <a:avLst/>
          </a:prstGeom>
          <a:noFill/>
        </p:spPr>
        <p:txBody>
          <a:bodyPr wrap="square" tIns="0" bIns="0" lIns="0" rIns="0">
            <a:spAutoFit/>
          </a:bodyPr>
          <a:lstStyle/>
          <a:p>
            <a:pPr algn="ctr"/>
            <a:r>
              <a:rPr sz="900" b="0">
                <a:solidFill>
                  <a:srgbClr val="FFFFFF"/>
                </a:solidFill>
                <a:latin typeface="Calibri"/>
              </a:rPr>
              <a:t>40% faster grid response time, replacing manual intervention</a:t>
            </a:r>
          </a:p>
        </p:txBody>
      </p:sp>
      <p:sp>
        <p:nvSpPr>
          <p:cNvPr id="39" name="TextBox 38"/>
          <p:cNvSpPr txBox="1"/>
          <p:nvPr/>
        </p:nvSpPr>
        <p:spPr>
          <a:xfrm>
            <a:off x="8308847" y="5614416"/>
            <a:ext cx="3697223" cy="603504"/>
          </a:xfrm>
          <a:prstGeom prst="rect">
            <a:avLst/>
          </a:prstGeom>
          <a:noFill/>
        </p:spPr>
        <p:txBody>
          <a:bodyPr wrap="square" tIns="0" bIns="0" lIns="0" rIns="0">
            <a:spAutoFit/>
          </a:bodyPr>
          <a:lstStyle/>
          <a:p>
            <a:pPr algn="ctr"/>
            <a:r>
              <a:rPr sz="3400" b="1">
                <a:solidFill>
                  <a:srgbClr val="FFFFFF"/>
                </a:solidFill>
                <a:latin typeface="Calibri"/>
              </a:rPr>
              <a:t>20</a:t>
            </a:r>
          </a:p>
        </p:txBody>
      </p:sp>
      <p:sp>
        <p:nvSpPr>
          <p:cNvPr id="40" name="TextBox 39"/>
          <p:cNvSpPr txBox="1"/>
          <p:nvPr/>
        </p:nvSpPr>
        <p:spPr>
          <a:xfrm>
            <a:off x="8263128" y="6272784"/>
            <a:ext cx="3788664" cy="502920"/>
          </a:xfrm>
          <a:prstGeom prst="rect">
            <a:avLst/>
          </a:prstGeom>
          <a:noFill/>
        </p:spPr>
        <p:txBody>
          <a:bodyPr wrap="square" tIns="0" bIns="0" lIns="0" rIns="0">
            <a:spAutoFit/>
          </a:bodyPr>
          <a:lstStyle/>
          <a:p>
            <a:pPr algn="ctr"/>
            <a:r>
              <a:rPr sz="900" b="0">
                <a:solidFill>
                  <a:srgbClr val="FFFFFF"/>
                </a:solidFill>
                <a:latin typeface="Calibri"/>
              </a:rPr>
              <a:t>30% fewer energy penalty charges through real-time intelligence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852160" cy="91440"/>
          </a:xfrm>
          <a:prstGeom prst="rect">
            <a:avLst/>
          </a:prstGeom>
          <a:solidFill>
            <a:srgbClr val="C02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852160" y="0"/>
            <a:ext cx="6336792" cy="91440"/>
          </a:xfrm>
          <a:prstGeom prst="rect">
            <a:avLst/>
          </a:prstGeom>
          <a:solidFill>
            <a:srgbClr val="3A8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8600" y="310896"/>
            <a:ext cx="59436" cy="502920"/>
          </a:xfrm>
          <a:prstGeom prst="rect">
            <a:avLst/>
          </a:prstGeom>
          <a:solidFill>
            <a:srgbClr val="C02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2336" y="274320"/>
            <a:ext cx="8686800" cy="548640"/>
          </a:xfrm>
          <a:prstGeom prst="rect">
            <a:avLst/>
          </a:prstGeom>
          <a:noFill/>
        </p:spPr>
        <p:txBody>
          <a:bodyPr wrap="square" tIns="0" bIns="0" lIns="0" rIns="0">
            <a:spAutoFit/>
          </a:bodyPr>
          <a:lstStyle/>
          <a:p>
            <a:pPr algn="l"/>
            <a:r>
              <a:rPr sz="2400" b="1">
                <a:solidFill>
                  <a:srgbClr val="111110"/>
                </a:solidFill>
                <a:latin typeface="Calibri"/>
              </a:rPr>
              <a:t>PLANFORGE AI - AGENTIC PRODUCTION PLANNING</a:t>
            </a:r>
          </a:p>
        </p:txBody>
      </p:sp>
      <p:sp>
        <p:nvSpPr>
          <p:cNvPr id="6" name="TextBox 5"/>
          <p:cNvSpPr txBox="1"/>
          <p:nvPr/>
        </p:nvSpPr>
        <p:spPr>
          <a:xfrm>
            <a:off x="402336" y="676656"/>
            <a:ext cx="11430000" cy="310896"/>
          </a:xfrm>
          <a:prstGeom prst="rect">
            <a:avLst/>
          </a:prstGeom>
          <a:noFill/>
        </p:spPr>
        <p:txBody>
          <a:bodyPr wrap="square" tIns="0" bIns="0" lIns="0" rIns="0">
            <a:spAutoFit/>
          </a:bodyPr>
          <a:lstStyle/>
          <a:p>
            <a:pPr algn="l"/>
            <a:r>
              <a:rPr sz="1500" b="1">
                <a:solidFill>
                  <a:srgbClr val="3A8B82"/>
                </a:solidFill>
                <a:latin typeface="Calibri"/>
              </a:rPr>
              <a:t>CLIENT: Leading Manufacturing Enterprise  |  DOMAIN: Manufacturing</a:t>
            </a:r>
          </a:p>
        </p:txBody>
      </p:sp>
      <p:sp>
        <p:nvSpPr>
          <p:cNvPr id="7" name="Rectangle 6"/>
          <p:cNvSpPr/>
          <p:nvPr/>
        </p:nvSpPr>
        <p:spPr>
          <a:xfrm>
            <a:off x="228600" y="1280160"/>
            <a:ext cx="59436" cy="1828800"/>
          </a:xfrm>
          <a:prstGeom prst="rect">
            <a:avLst/>
          </a:prstGeom>
          <a:solidFill>
            <a:srgbClr val="C02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8036" y="1280160"/>
            <a:ext cx="5394960" cy="1828800"/>
          </a:xfrm>
          <a:prstGeom prst="rect">
            <a:avLst/>
          </a:prstGeom>
          <a:solidFill>
            <a:srgbClr val="FFFFFF"/>
          </a:solidFill>
          <a:ln w="635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44168"/>
            <a:ext cx="5166360" cy="292608"/>
          </a:xfrm>
          <a:prstGeom prst="rect">
            <a:avLst/>
          </a:prstGeom>
          <a:noFill/>
        </p:spPr>
        <p:txBody>
          <a:bodyPr wrap="square" tIns="0" bIns="0" lIns="0" rIns="0">
            <a:spAutoFit/>
          </a:bodyPr>
          <a:lstStyle/>
          <a:p>
            <a:pPr algn="l"/>
            <a:r>
              <a:rPr sz="1300" b="1">
                <a:solidFill>
                  <a:srgbClr val="111110"/>
                </a:solidFill>
                <a:latin typeface="Calibri"/>
              </a:rPr>
              <a:t>The Challenge</a:t>
            </a:r>
          </a:p>
        </p:txBody>
      </p:sp>
      <p:sp>
        <p:nvSpPr>
          <p:cNvPr id="10" name="TextBox 9"/>
          <p:cNvSpPr txBox="1"/>
          <p:nvPr/>
        </p:nvSpPr>
        <p:spPr>
          <a:xfrm>
            <a:off x="411480" y="1691640"/>
            <a:ext cx="5166360" cy="1353312"/>
          </a:xfrm>
          <a:prstGeom prst="rect">
            <a:avLst/>
          </a:prstGeom>
          <a:noFill/>
        </p:spPr>
        <p:txBody>
          <a:bodyPr wrap="square" tIns="0" bIns="0" lIns="0" rIns="0">
            <a:normAutofit/>
          </a:bodyPr>
          <a:lstStyle/>
          <a:p>
            <a:pPr algn="l"/>
            <a:r>
              <a:rPr sz="1100" b="0">
                <a:solidFill>
                  <a:srgbClr val="3E3E3E"/>
                </a:solidFill>
                <a:latin typeface="Calibri"/>
              </a:rPr>
              <a:t>A manufacturer's planners spent 6 to 10 hours per disruption event stitching ERP, MRP, supplier, and material data into spreadsheets just to assess the situation. A 2 to 4 day gap separated a real-world signal from a revised plan, meaning cascades were discovered days late through email and spreadsheet chains. Compound disruption scenarios were rarely modelled before the plan changed, so recovery choices were made on instinct and revenue at risk only became visible after orders ran late.</a:t>
            </a:r>
          </a:p>
        </p:txBody>
      </p:sp>
      <p:sp>
        <p:nvSpPr>
          <p:cNvPr id="11" name="Rectangle 10"/>
          <p:cNvSpPr/>
          <p:nvPr/>
        </p:nvSpPr>
        <p:spPr>
          <a:xfrm>
            <a:off x="6007607" y="1280160"/>
            <a:ext cx="59436" cy="1828800"/>
          </a:xfrm>
          <a:prstGeom prst="rect">
            <a:avLst/>
          </a:prstGeom>
          <a:solidFill>
            <a:srgbClr val="3A8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067044" y="1280160"/>
            <a:ext cx="5852160" cy="1828800"/>
          </a:xfrm>
          <a:prstGeom prst="rect">
            <a:avLst/>
          </a:prstGeom>
          <a:solidFill>
            <a:srgbClr val="FFFFFF"/>
          </a:solidFill>
          <a:ln w="635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5916" y="1344168"/>
            <a:ext cx="5614416" cy="292608"/>
          </a:xfrm>
          <a:prstGeom prst="rect">
            <a:avLst/>
          </a:prstGeom>
          <a:noFill/>
        </p:spPr>
        <p:txBody>
          <a:bodyPr wrap="square" tIns="0" bIns="0" lIns="0" rIns="0">
            <a:spAutoFit/>
          </a:bodyPr>
          <a:lstStyle/>
          <a:p>
            <a:pPr algn="l"/>
            <a:r>
              <a:rPr sz="1300" b="1">
                <a:solidFill>
                  <a:srgbClr val="111110"/>
                </a:solidFill>
                <a:latin typeface="Calibri"/>
              </a:rPr>
              <a:t>The Solution</a:t>
            </a:r>
          </a:p>
        </p:txBody>
      </p:sp>
      <p:sp>
        <p:nvSpPr>
          <p:cNvPr id="14" name="TextBox 13"/>
          <p:cNvSpPr txBox="1"/>
          <p:nvPr/>
        </p:nvSpPr>
        <p:spPr>
          <a:xfrm>
            <a:off x="6185916" y="1691640"/>
            <a:ext cx="5614416" cy="1353312"/>
          </a:xfrm>
          <a:prstGeom prst="rect">
            <a:avLst/>
          </a:prstGeom>
          <a:noFill/>
        </p:spPr>
        <p:txBody>
          <a:bodyPr wrap="square" tIns="0" bIns="0" lIns="0" rIns="0">
            <a:normAutofit/>
          </a:bodyPr>
          <a:lstStyle/>
          <a:p>
            <a:pPr algn="l"/>
            <a:r>
              <a:rPr sz="1100" b="0">
                <a:solidFill>
                  <a:srgbClr val="3E3E3E"/>
                </a:solidFill>
                <a:latin typeface="Calibri"/>
              </a:rPr>
              <a:t>An agentic production planning engine was deployed connecting order books, factory capacity, supplier reliability, and material readiness in a unified model. The system simulates disruption scenarios before the plan changes and compares recovery options side by side, replacing instinct with evidence-based choices. Every plan change is logged with the reasoning behind it, giving planners a complete decision trail and giving management full audit of what was known and when.</a:t>
            </a:r>
          </a:p>
        </p:txBody>
      </p:sp>
      <p:sp>
        <p:nvSpPr>
          <p:cNvPr id="15" name="TextBox 14"/>
          <p:cNvSpPr txBox="1"/>
          <p:nvPr/>
        </p:nvSpPr>
        <p:spPr>
          <a:xfrm>
            <a:off x="256032" y="3200400"/>
            <a:ext cx="6400800" cy="256032"/>
          </a:xfrm>
          <a:prstGeom prst="rect">
            <a:avLst/>
          </a:prstGeom>
          <a:noFill/>
        </p:spPr>
        <p:txBody>
          <a:bodyPr wrap="square" tIns="0" bIns="0" lIns="0" rIns="0">
            <a:spAutoFit/>
          </a:bodyPr>
          <a:lstStyle/>
          <a:p>
            <a:pPr algn="l"/>
            <a:r>
              <a:rPr sz="1400" b="0">
                <a:solidFill>
                  <a:srgbClr val="3A8B82"/>
                </a:solidFill>
                <a:latin typeface="Calibri"/>
              </a:rPr>
              <a:t>Key Capabilities Developed</a:t>
            </a:r>
          </a:p>
        </p:txBody>
      </p:sp>
      <p:sp>
        <p:nvSpPr>
          <p:cNvPr id="16" name="Rectangle 15"/>
          <p:cNvSpPr/>
          <p:nvPr/>
        </p:nvSpPr>
        <p:spPr>
          <a:xfrm>
            <a:off x="256032" y="3511296"/>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3575303"/>
            <a:ext cx="3611880" cy="237744"/>
          </a:xfrm>
          <a:prstGeom prst="rect">
            <a:avLst/>
          </a:prstGeom>
          <a:noFill/>
        </p:spPr>
        <p:txBody>
          <a:bodyPr wrap="square" tIns="0" bIns="0" lIns="0" rIns="0">
            <a:spAutoFit/>
          </a:bodyPr>
          <a:lstStyle/>
          <a:p>
            <a:pPr algn="l"/>
            <a:r>
              <a:rPr sz="1300" b="1">
                <a:solidFill>
                  <a:srgbClr val="111110"/>
                </a:solidFill>
                <a:latin typeface="Calibri"/>
              </a:rPr>
              <a:t>Unified Planning View</a:t>
            </a:r>
          </a:p>
        </p:txBody>
      </p:sp>
      <p:sp>
        <p:nvSpPr>
          <p:cNvPr id="18" name="TextBox 17"/>
          <p:cNvSpPr txBox="1"/>
          <p:nvPr/>
        </p:nvSpPr>
        <p:spPr>
          <a:xfrm>
            <a:off x="365760" y="3840480"/>
            <a:ext cx="3611880" cy="512064"/>
          </a:xfrm>
          <a:prstGeom prst="rect">
            <a:avLst/>
          </a:prstGeom>
          <a:noFill/>
        </p:spPr>
        <p:txBody>
          <a:bodyPr wrap="square" tIns="0" bIns="0" lIns="0" rIns="0">
            <a:normAutofit/>
          </a:bodyPr>
          <a:lstStyle/>
          <a:p>
            <a:pPr algn="l"/>
            <a:r>
              <a:rPr sz="1100" b="0">
                <a:solidFill>
                  <a:srgbClr val="3E3E3E"/>
                </a:solidFill>
                <a:latin typeface="Calibri"/>
              </a:rPr>
              <a:t>Brings order books, capacity, supplier reliability, and material readiness into one model so a cascade is visible as it starts.</a:t>
            </a:r>
          </a:p>
        </p:txBody>
      </p:sp>
      <p:sp>
        <p:nvSpPr>
          <p:cNvPr id="19" name="Rectangle 18"/>
          <p:cNvSpPr/>
          <p:nvPr/>
        </p:nvSpPr>
        <p:spPr>
          <a:xfrm>
            <a:off x="4183380" y="3511296"/>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3108" y="3575303"/>
            <a:ext cx="3611880" cy="237744"/>
          </a:xfrm>
          <a:prstGeom prst="rect">
            <a:avLst/>
          </a:prstGeom>
          <a:noFill/>
        </p:spPr>
        <p:txBody>
          <a:bodyPr wrap="square" tIns="0" bIns="0" lIns="0" rIns="0">
            <a:spAutoFit/>
          </a:bodyPr>
          <a:lstStyle/>
          <a:p>
            <a:pPr algn="l"/>
            <a:r>
              <a:rPr sz="1300" b="1">
                <a:solidFill>
                  <a:srgbClr val="111110"/>
                </a:solidFill>
                <a:latin typeface="Calibri"/>
              </a:rPr>
              <a:t>Scenario Simulation</a:t>
            </a:r>
          </a:p>
        </p:txBody>
      </p:sp>
      <p:sp>
        <p:nvSpPr>
          <p:cNvPr id="21" name="TextBox 20"/>
          <p:cNvSpPr txBox="1"/>
          <p:nvPr/>
        </p:nvSpPr>
        <p:spPr>
          <a:xfrm>
            <a:off x="4293108" y="3840480"/>
            <a:ext cx="3611880" cy="512064"/>
          </a:xfrm>
          <a:prstGeom prst="rect">
            <a:avLst/>
          </a:prstGeom>
          <a:noFill/>
        </p:spPr>
        <p:txBody>
          <a:bodyPr wrap="square" tIns="0" bIns="0" lIns="0" rIns="0">
            <a:normAutofit/>
          </a:bodyPr>
          <a:lstStyle/>
          <a:p>
            <a:pPr algn="l"/>
            <a:r>
              <a:rPr sz="1100" b="0">
                <a:solidFill>
                  <a:srgbClr val="3E3E3E"/>
                </a:solidFill>
                <a:latin typeface="Calibri"/>
              </a:rPr>
              <a:t>Models compound disruptions before the plan changes and compares recovery options side by side, replacing instinct with evidence-based decisions.</a:t>
            </a:r>
          </a:p>
        </p:txBody>
      </p:sp>
      <p:sp>
        <p:nvSpPr>
          <p:cNvPr id="22" name="Rectangle 21"/>
          <p:cNvSpPr/>
          <p:nvPr/>
        </p:nvSpPr>
        <p:spPr>
          <a:xfrm>
            <a:off x="8110728" y="3511296"/>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0456" y="3575303"/>
            <a:ext cx="3611880" cy="237744"/>
          </a:xfrm>
          <a:prstGeom prst="rect">
            <a:avLst/>
          </a:prstGeom>
          <a:noFill/>
        </p:spPr>
        <p:txBody>
          <a:bodyPr wrap="square" tIns="0" bIns="0" lIns="0" rIns="0">
            <a:spAutoFit/>
          </a:bodyPr>
          <a:lstStyle/>
          <a:p>
            <a:pPr algn="l"/>
            <a:r>
              <a:rPr sz="1300" b="1">
                <a:solidFill>
                  <a:srgbClr val="111110"/>
                </a:solidFill>
                <a:latin typeface="Calibri"/>
              </a:rPr>
              <a:t>Disruption Response and Audit</a:t>
            </a:r>
          </a:p>
        </p:txBody>
      </p:sp>
      <p:sp>
        <p:nvSpPr>
          <p:cNvPr id="24" name="TextBox 23"/>
          <p:cNvSpPr txBox="1"/>
          <p:nvPr/>
        </p:nvSpPr>
        <p:spPr>
          <a:xfrm>
            <a:off x="8220456" y="3840480"/>
            <a:ext cx="3611880" cy="512064"/>
          </a:xfrm>
          <a:prstGeom prst="rect">
            <a:avLst/>
          </a:prstGeom>
          <a:noFill/>
        </p:spPr>
        <p:txBody>
          <a:bodyPr wrap="square" tIns="0" bIns="0" lIns="0" rIns="0">
            <a:normAutofit/>
          </a:bodyPr>
          <a:lstStyle/>
          <a:p>
            <a:pPr algn="l"/>
            <a:r>
              <a:rPr sz="1100" b="0">
                <a:solidFill>
                  <a:srgbClr val="3E3E3E"/>
                </a:solidFill>
                <a:latin typeface="Calibri"/>
              </a:rPr>
              <a:t>Surfaces revenue at risk within the response window, enables cross-plant rebalancing on signal, and logs why each plan changed.</a:t>
            </a:r>
          </a:p>
        </p:txBody>
      </p:sp>
      <p:sp>
        <p:nvSpPr>
          <p:cNvPr id="25" name="Rectangle 24"/>
          <p:cNvSpPr/>
          <p:nvPr/>
        </p:nvSpPr>
        <p:spPr>
          <a:xfrm>
            <a:off x="256032" y="4526280"/>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4590288"/>
            <a:ext cx="3611880" cy="237744"/>
          </a:xfrm>
          <a:prstGeom prst="rect">
            <a:avLst/>
          </a:prstGeom>
          <a:noFill/>
        </p:spPr>
        <p:txBody>
          <a:bodyPr wrap="square" tIns="0" bIns="0" lIns="0" rIns="0">
            <a:spAutoFit/>
          </a:bodyPr>
          <a:lstStyle/>
          <a:p>
            <a:pPr algn="l"/>
            <a:r>
              <a:rPr sz="1300" b="1">
                <a:solidFill>
                  <a:srgbClr val="111110"/>
                </a:solidFill>
                <a:latin typeface="Calibri"/>
              </a:rPr>
              <a:t>Signal-to-Plan Automation</a:t>
            </a:r>
          </a:p>
        </p:txBody>
      </p:sp>
      <p:sp>
        <p:nvSpPr>
          <p:cNvPr id="27" name="TextBox 26"/>
          <p:cNvSpPr txBox="1"/>
          <p:nvPr/>
        </p:nvSpPr>
        <p:spPr>
          <a:xfrm>
            <a:off x="365760" y="4855464"/>
            <a:ext cx="3611880" cy="512064"/>
          </a:xfrm>
          <a:prstGeom prst="rect">
            <a:avLst/>
          </a:prstGeom>
          <a:noFill/>
        </p:spPr>
        <p:txBody>
          <a:bodyPr wrap="square" tIns="0" bIns="0" lIns="0" rIns="0">
            <a:normAutofit/>
          </a:bodyPr>
          <a:lstStyle/>
          <a:p>
            <a:pPr algn="l"/>
            <a:r>
              <a:rPr sz="1100" b="0">
                <a:solidFill>
                  <a:srgbClr val="3E3E3E"/>
                </a:solidFill>
                <a:latin typeface="Calibri"/>
              </a:rPr>
              <a:t>Connects real-world signals directly to plan updates, reducing the lag between disruption and revised schedule.</a:t>
            </a:r>
          </a:p>
        </p:txBody>
      </p:sp>
      <p:sp>
        <p:nvSpPr>
          <p:cNvPr id="28" name="Rectangle 27"/>
          <p:cNvSpPr/>
          <p:nvPr/>
        </p:nvSpPr>
        <p:spPr>
          <a:xfrm>
            <a:off x="4183380" y="4526280"/>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3108" y="4590288"/>
            <a:ext cx="3611880" cy="237744"/>
          </a:xfrm>
          <a:prstGeom prst="rect">
            <a:avLst/>
          </a:prstGeom>
          <a:noFill/>
        </p:spPr>
        <p:txBody>
          <a:bodyPr wrap="square" tIns="0" bIns="0" lIns="0" rIns="0">
            <a:spAutoFit/>
          </a:bodyPr>
          <a:lstStyle/>
          <a:p>
            <a:pPr algn="l"/>
            <a:r>
              <a:rPr sz="1300" b="1">
                <a:solidFill>
                  <a:srgbClr val="111110"/>
                </a:solidFill>
                <a:latin typeface="Calibri"/>
              </a:rPr>
              <a:t>Cross-Plant Rebalancing</a:t>
            </a:r>
          </a:p>
        </p:txBody>
      </p:sp>
      <p:sp>
        <p:nvSpPr>
          <p:cNvPr id="30" name="TextBox 29"/>
          <p:cNvSpPr txBox="1"/>
          <p:nvPr/>
        </p:nvSpPr>
        <p:spPr>
          <a:xfrm>
            <a:off x="4293108" y="4855464"/>
            <a:ext cx="3611880" cy="512064"/>
          </a:xfrm>
          <a:prstGeom prst="rect">
            <a:avLst/>
          </a:prstGeom>
          <a:noFill/>
        </p:spPr>
        <p:txBody>
          <a:bodyPr wrap="square" tIns="0" bIns="0" lIns="0" rIns="0">
            <a:normAutofit/>
          </a:bodyPr>
          <a:lstStyle/>
          <a:p>
            <a:pPr algn="l"/>
            <a:r>
              <a:rPr sz="1100" b="0">
                <a:solidFill>
                  <a:srgbClr val="3E3E3E"/>
                </a:solidFill>
                <a:latin typeface="Calibri"/>
              </a:rPr>
              <a:t>Evaluates rebalancing options across plants simultaneously when a disruption hits, rather than sequentially per plant.</a:t>
            </a:r>
          </a:p>
        </p:txBody>
      </p:sp>
      <p:sp>
        <p:nvSpPr>
          <p:cNvPr id="31" name="Rectangle 30"/>
          <p:cNvSpPr/>
          <p:nvPr/>
        </p:nvSpPr>
        <p:spPr>
          <a:xfrm>
            <a:off x="8110728" y="4526280"/>
            <a:ext cx="3831336" cy="914400"/>
          </a:xfrm>
          <a:prstGeom prst="rect">
            <a:avLst/>
          </a:prstGeom>
          <a:solidFill>
            <a:srgbClr val="F5F5F5"/>
          </a:solidFill>
          <a:ln w="5080">
            <a:solidFill>
              <a:srgbClr val="DEDE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0456" y="4590288"/>
            <a:ext cx="3611880" cy="237744"/>
          </a:xfrm>
          <a:prstGeom prst="rect">
            <a:avLst/>
          </a:prstGeom>
          <a:noFill/>
        </p:spPr>
        <p:txBody>
          <a:bodyPr wrap="square" tIns="0" bIns="0" lIns="0" rIns="0">
            <a:spAutoFit/>
          </a:bodyPr>
          <a:lstStyle/>
          <a:p>
            <a:pPr algn="l"/>
            <a:r>
              <a:rPr sz="1300" b="1">
                <a:solidFill>
                  <a:srgbClr val="111110"/>
                </a:solidFill>
                <a:latin typeface="Calibri"/>
              </a:rPr>
              <a:t>Revenue-at-Risk Quantification</a:t>
            </a:r>
          </a:p>
        </p:txBody>
      </p:sp>
      <p:sp>
        <p:nvSpPr>
          <p:cNvPr id="33" name="TextBox 32"/>
          <p:cNvSpPr txBox="1"/>
          <p:nvPr/>
        </p:nvSpPr>
        <p:spPr>
          <a:xfrm>
            <a:off x="8220456" y="4855464"/>
            <a:ext cx="3611880" cy="512064"/>
          </a:xfrm>
          <a:prstGeom prst="rect">
            <a:avLst/>
          </a:prstGeom>
          <a:noFill/>
        </p:spPr>
        <p:txBody>
          <a:bodyPr wrap="square" tIns="0" bIns="0" lIns="0" rIns="0">
            <a:normAutofit/>
          </a:bodyPr>
          <a:lstStyle/>
          <a:p>
            <a:pPr algn="l"/>
            <a:r>
              <a:rPr sz="1100" b="0">
                <a:solidFill>
                  <a:srgbClr val="3E3E3E"/>
                </a:solidFill>
                <a:latin typeface="Calibri"/>
              </a:rPr>
              <a:t>Calculates the financial exposure of each disruption scenario so planners prioritize by commercial impact, not just operational urgency.</a:t>
            </a:r>
          </a:p>
        </p:txBody>
      </p:sp>
      <p:sp>
        <p:nvSpPr>
          <p:cNvPr id="34" name="Rectangle 33"/>
          <p:cNvSpPr/>
          <p:nvPr/>
        </p:nvSpPr>
        <p:spPr>
          <a:xfrm>
            <a:off x="0" y="5486400"/>
            <a:ext cx="12188952" cy="1371600"/>
          </a:xfrm>
          <a:prstGeom prst="rect">
            <a:avLst/>
          </a:prstGeom>
          <a:solidFill>
            <a:srgbClr val="3A8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82880" y="5614416"/>
            <a:ext cx="3697223" cy="603504"/>
          </a:xfrm>
          <a:prstGeom prst="rect">
            <a:avLst/>
          </a:prstGeom>
          <a:noFill/>
        </p:spPr>
        <p:txBody>
          <a:bodyPr wrap="square" tIns="0" bIns="0" lIns="0" rIns="0">
            <a:spAutoFit/>
          </a:bodyPr>
          <a:lstStyle/>
          <a:p>
            <a:pPr algn="ctr"/>
            <a:r>
              <a:rPr sz="3400" b="1">
                <a:solidFill>
                  <a:srgbClr val="FFFFFF"/>
                </a:solidFill>
                <a:latin typeface="Calibri"/>
              </a:rPr>
              <a:t>6</a:t>
            </a:r>
          </a:p>
        </p:txBody>
      </p:sp>
      <p:sp>
        <p:nvSpPr>
          <p:cNvPr id="36" name="TextBox 35"/>
          <p:cNvSpPr txBox="1"/>
          <p:nvPr/>
        </p:nvSpPr>
        <p:spPr>
          <a:xfrm>
            <a:off x="137160" y="6272784"/>
            <a:ext cx="3788664" cy="502920"/>
          </a:xfrm>
          <a:prstGeom prst="rect">
            <a:avLst/>
          </a:prstGeom>
          <a:noFill/>
        </p:spPr>
        <p:txBody>
          <a:bodyPr wrap="square" tIns="0" bIns="0" lIns="0" rIns="0">
            <a:spAutoFit/>
          </a:bodyPr>
          <a:lstStyle/>
          <a:p>
            <a:pPr algn="ctr"/>
            <a:r>
              <a:rPr sz="900" b="0">
                <a:solidFill>
                  <a:srgbClr val="FFFFFF"/>
                </a:solidFill>
                <a:latin typeface="Calibri"/>
              </a:rPr>
              <a:t>10 hours of planner time freed per disruption event through automated data stitching</a:t>
            </a:r>
          </a:p>
        </p:txBody>
      </p:sp>
      <p:sp>
        <p:nvSpPr>
          <p:cNvPr id="37" name="TextBox 36"/>
          <p:cNvSpPr txBox="1"/>
          <p:nvPr/>
        </p:nvSpPr>
        <p:spPr>
          <a:xfrm>
            <a:off x="4245864" y="5614416"/>
            <a:ext cx="3697223" cy="603504"/>
          </a:xfrm>
          <a:prstGeom prst="rect">
            <a:avLst/>
          </a:prstGeom>
          <a:noFill/>
        </p:spPr>
        <p:txBody>
          <a:bodyPr wrap="square" tIns="0" bIns="0" lIns="0" rIns="0">
            <a:spAutoFit/>
          </a:bodyPr>
          <a:lstStyle/>
          <a:p>
            <a:pPr algn="ctr"/>
            <a:r>
              <a:rPr sz="3400" b="1">
                <a:solidFill>
                  <a:srgbClr val="FFFFFF"/>
                </a:solidFill>
                <a:latin typeface="Calibri"/>
              </a:rPr>
              <a:t>2</a:t>
            </a:r>
          </a:p>
        </p:txBody>
      </p:sp>
      <p:sp>
        <p:nvSpPr>
          <p:cNvPr id="38" name="TextBox 37"/>
          <p:cNvSpPr txBox="1"/>
          <p:nvPr/>
        </p:nvSpPr>
        <p:spPr>
          <a:xfrm>
            <a:off x="4200144" y="6272784"/>
            <a:ext cx="3788664" cy="502920"/>
          </a:xfrm>
          <a:prstGeom prst="rect">
            <a:avLst/>
          </a:prstGeom>
          <a:noFill/>
        </p:spPr>
        <p:txBody>
          <a:bodyPr wrap="square" tIns="0" bIns="0" lIns="0" rIns="0">
            <a:spAutoFit/>
          </a:bodyPr>
          <a:lstStyle/>
          <a:p>
            <a:pPr algn="ctr"/>
            <a:r>
              <a:rPr sz="900" b="0">
                <a:solidFill>
                  <a:srgbClr val="FFFFFF"/>
                </a:solidFill>
                <a:latin typeface="Calibri"/>
              </a:rPr>
              <a:t>4 day signal-to-plan lag reduced toward real time</a:t>
            </a:r>
          </a:p>
        </p:txBody>
      </p:sp>
      <p:sp>
        <p:nvSpPr>
          <p:cNvPr id="39" name="TextBox 38"/>
          <p:cNvSpPr txBox="1"/>
          <p:nvPr/>
        </p:nvSpPr>
        <p:spPr>
          <a:xfrm>
            <a:off x="8308847" y="5614416"/>
            <a:ext cx="3697223" cy="603504"/>
          </a:xfrm>
          <a:prstGeom prst="rect">
            <a:avLst/>
          </a:prstGeom>
          <a:noFill/>
        </p:spPr>
        <p:txBody>
          <a:bodyPr wrap="square" tIns="0" bIns="0" lIns="0" rIns="0">
            <a:spAutoFit/>
          </a:bodyPr>
          <a:lstStyle/>
          <a:p>
            <a:pPr algn="ctr"/>
            <a:r>
              <a:rPr sz="3400" b="1">
                <a:solidFill>
                  <a:srgbClr val="FFFFFF"/>
                </a:solidFill>
                <a:latin typeface="Calibri"/>
              </a:rPr>
              <a:t>100%</a:t>
            </a:r>
          </a:p>
        </p:txBody>
      </p:sp>
      <p:sp>
        <p:nvSpPr>
          <p:cNvPr id="40" name="TextBox 39"/>
          <p:cNvSpPr txBox="1"/>
          <p:nvPr/>
        </p:nvSpPr>
        <p:spPr>
          <a:xfrm>
            <a:off x="8263128" y="6272784"/>
            <a:ext cx="3788664" cy="502920"/>
          </a:xfrm>
          <a:prstGeom prst="rect">
            <a:avLst/>
          </a:prstGeom>
          <a:noFill/>
        </p:spPr>
        <p:txBody>
          <a:bodyPr wrap="square" tIns="0" bIns="0" lIns="0" rIns="0">
            <a:spAutoFit/>
          </a:bodyPr>
          <a:lstStyle/>
          <a:p>
            <a:pPr algn="ctr"/>
            <a:r>
              <a:rPr sz="900" b="0">
                <a:solidFill>
                  <a:srgbClr val="FFFFFF"/>
                </a:solidFill>
                <a:latin typeface="Calibri"/>
              </a:rPr>
              <a:t>decision trail with every plan change logged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32819</Words>
  <Application>Microsoft Office PowerPoint</Application>
  <PresentationFormat>Widescreen</PresentationFormat>
  <Paragraphs>3575</Paragraphs>
  <Slides>138</Slides>
  <Notes>138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138</vt:i4>
      </vt:variant>
    </vt:vector>
  </HeadingPairs>
  <TitlesOfParts>
    <vt:vector size="145" baseType="lpstr">
      <vt:lpstr>Aptos</vt:lpstr>
      <vt:lpstr>Arial</vt:lpstr>
      <vt:lpstr>Calibri</vt:lpstr>
      <vt:lpstr>Oswald</vt:lpstr>
      <vt:lpstr>Raleway</vt:lpstr>
      <vt:lpstr>Roboto Condensed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Case Study Portfolio</dc:title>
  <dc:subject>PptxGenJS Presentation</dc:subject>
  <dc:creator>J2W</dc:creator>
  <cp:lastModifiedBy>Athithia Krishna</cp:lastModifiedBy>
  <cp:revision>5</cp:revision>
  <dcterms:created xsi:type="dcterms:W3CDTF">2026-06-22T10:46:20Z</dcterms:created>
  <dcterms:modified xsi:type="dcterms:W3CDTF">2026-06-24T11:39:04Z</dcterms:modified>
</cp:coreProperties>
</file>