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147483328" r:id="rId2"/>
    <p:sldId id="2147483431" r:id="rId19"/>
    <p:sldId id="214748343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3.xml"/><Relationship Id="rId19" Type="http://schemas.openxmlformats.org/officeDocument/2006/relationships/slide" Target="slides/slide2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99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323228122ff92d2332e711a84ca3b40c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8127187" cy="75895"/>
          </a:xfrm>
          <a:prstGeom prst="rect">
            <a:avLst/>
          </a:prstGeom>
        </p:spPr>
      </p:pic>
      <p:pic>
        <p:nvPicPr>
          <p:cNvPr id="5" name="Image 1" descr="gen-dedup-64882feb7a832238af77b962fc7a8538.png"/>
          <p:cNvPicPr>
            <a:picLocks noChangeAspect="1"/>
          </p:cNvPicPr>
          <p:nvPr/>
        </p:nvPicPr>
        <p:blipFill>
          <a:blip r:embed="rId4"/>
          <a:srcRect l="-203" r="-203"/>
          <a:stretch/>
        </p:blipFill>
        <p:spPr>
          <a:xfrm>
            <a:off x="8127187" y="0"/>
            <a:ext cx="406359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905695" y="-571500"/>
            <a:ext cx="2857500" cy="2857500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6da70c599291e253314366a10c094ffa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381305" y="1143000"/>
            <a:ext cx="1429207" cy="1429207"/>
          </a:xfrm>
          <a:prstGeom prst="rect">
            <a:avLst/>
          </a:prstGeom>
        </p:spPr>
      </p:pic>
      <p:pic>
        <p:nvPicPr>
          <p:cNvPr id="8" name="Image 3" descr="gen-dedup-c72c85b07e3f177762516dd89615ea68.png"/>
          <p:cNvPicPr>
            <a:picLocks noChangeAspect="1"/>
          </p:cNvPicPr>
          <p:nvPr/>
        </p:nvPicPr>
        <p:blipFill>
          <a:blip r:embed="rId6"/>
          <a:srcRect t="-217" b="-217"/>
          <a:stretch/>
        </p:blipFill>
        <p:spPr>
          <a:xfrm>
            <a:off x="609905" y="544982"/>
            <a:ext cx="75895" cy="4764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75995" y="381305"/>
            <a:ext cx="71058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82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Managed Service Solutions</a:t>
            </a:r>
            <a:endParaRPr lang="en-US" sz="3300"/>
          </a:p>
        </p:txBody>
      </p:sp>
      <p:sp>
        <p:nvSpPr>
          <p:cNvPr id="10" name="Text 4"/>
          <p:cNvSpPr txBox="1"/>
          <p:nvPr/>
        </p:nvSpPr>
        <p:spPr>
          <a:xfrm>
            <a:off x="875995" y="898855"/>
            <a:ext cx="77916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OUTCOME-BOUND DELIVERY - NOT JUST A VENDOR WITH A STATEMENT OF WORK.</a:t>
            </a:r>
            <a:endParaRPr lang="en-US" sz="1500"/>
          </a:p>
        </p:txBody>
      </p:sp>
      <p:sp>
        <p:nvSpPr>
          <p:cNvPr id="11" name="Shape 5"/>
          <p:cNvSpPr/>
          <p:nvPr/>
        </p:nvSpPr>
        <p:spPr>
          <a:xfrm>
            <a:off x="609905" y="1524305"/>
            <a:ext cx="5524805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609905" y="1524305"/>
            <a:ext cx="38405" cy="1028700"/>
          </a:xfrm>
          <a:prstGeom prst="roundRect">
            <a:avLst>
              <a:gd name="adj" fmla="val 35273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609905" y="2699308"/>
            <a:ext cx="5524805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09905" y="2699308"/>
            <a:ext cx="38405" cy="1028700"/>
          </a:xfrm>
          <a:prstGeom prst="roundRect">
            <a:avLst>
              <a:gd name="adj" fmla="val 35273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9905" y="3823105"/>
            <a:ext cx="5524805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09905" y="3823105"/>
            <a:ext cx="38405" cy="1162202"/>
          </a:xfrm>
          <a:prstGeom prst="roundRect">
            <a:avLst>
              <a:gd name="adj" fmla="val 31225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81598" y="1524305"/>
            <a:ext cx="5201107" cy="4572000"/>
          </a:xfrm>
          <a:prstGeom prst="roundRect">
            <a:avLst>
              <a:gd name="adj" fmla="val 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391656" y="1533449"/>
            <a:ext cx="5181905" cy="552298"/>
          </a:xfrm>
          <a:prstGeom prst="roundRect">
            <a:avLst>
              <a:gd name="adj" fmla="val 4567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543446" y="1593692"/>
            <a:ext cx="4877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Service Model Comparison</a:t>
            </a:r>
            <a:endParaRPr lang="en-US" sz="1100"/>
          </a:p>
        </p:txBody>
      </p:sp>
      <p:sp>
        <p:nvSpPr>
          <p:cNvPr id="22" name="Shape 16"/>
          <p:cNvSpPr/>
          <p:nvPr/>
        </p:nvSpPr>
        <p:spPr>
          <a:xfrm>
            <a:off x="609905" y="6229807"/>
            <a:ext cx="10972800" cy="437998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09905" y="6229807"/>
            <a:ext cx="38405" cy="437998"/>
          </a:xfrm>
          <a:prstGeom prst="roundRect">
            <a:avLst>
              <a:gd name="adj" fmla="val 41407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981151" y="1638605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Solution Accelerators</a:t>
            </a:r>
            <a:endParaRPr lang="en-US" sz="1400"/>
          </a:p>
        </p:txBody>
      </p:sp>
      <p:sp>
        <p:nvSpPr>
          <p:cNvPr id="25" name="Text 19"/>
          <p:cNvSpPr txBox="1"/>
          <p:nvPr/>
        </p:nvSpPr>
        <p:spPr>
          <a:xfrm>
            <a:off x="761695" y="1950415"/>
            <a:ext cx="52203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pre-built accelerators across SAP, ServiceNow, Salesforce, and industry stacks - deployed fast, customized to fit, never forced.</a:t>
            </a:r>
            <a:endParaRPr lang="en-US" sz="1100"/>
          </a:p>
        </p:txBody>
      </p:sp>
      <p:pic>
        <p:nvPicPr>
          <p:cNvPr id="26" name="Image 4" descr="gen-dedup-aaaf743a9627457c5a8ecc39eba03c50.png"/>
          <p:cNvPicPr>
            <a:picLocks noChangeAspect="1"/>
          </p:cNvPicPr>
          <p:nvPr/>
        </p:nvPicPr>
        <p:blipFill>
          <a:blip r:embed="rId7"/>
          <a:srcRect t="-13462" b="-13462"/>
          <a:stretch/>
        </p:blipFill>
        <p:spPr>
          <a:xfrm>
            <a:off x="761695" y="1689811"/>
            <a:ext cx="142646" cy="18105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81151" y="2813608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Cross-Function Coverage</a:t>
            </a:r>
            <a:endParaRPr lang="en-US" sz="1400"/>
          </a:p>
        </p:txBody>
      </p:sp>
      <p:sp>
        <p:nvSpPr>
          <p:cNvPr id="31" name="Text 23"/>
          <p:cNvSpPr txBox="1"/>
          <p:nvPr/>
        </p:nvSpPr>
        <p:spPr>
          <a:xfrm>
            <a:off x="761695" y="3125418"/>
            <a:ext cx="52203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AI CoE and Data CoE to Digital Engineering, Quality, and Cybersecurity - we operate across the full enterprise function map, not just the easy wins.</a:t>
            </a:r>
            <a:endParaRPr lang="en-US" sz="1100"/>
          </a:p>
        </p:txBody>
      </p:sp>
      <p:pic>
        <p:nvPicPr>
          <p:cNvPr id="32" name="Image 6" descr="gen-dedup-f27d894a2aa16499d7ef79199ddd11dd.png"/>
          <p:cNvPicPr>
            <a:picLocks noChangeAspect="1"/>
          </p:cNvPicPr>
          <p:nvPr/>
        </p:nvPicPr>
        <p:blipFill>
          <a:blip r:embed="rId8"/>
          <a:srcRect t="-21395" b="-21395"/>
          <a:stretch/>
        </p:blipFill>
        <p:spPr>
          <a:xfrm>
            <a:off x="761695" y="2864814"/>
            <a:ext cx="142646" cy="181051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81151" y="3937405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Proven ROI, Not Projections</a:t>
            </a:r>
            <a:endParaRPr lang="en-US" sz="1400"/>
          </a:p>
        </p:txBody>
      </p:sp>
      <p:sp>
        <p:nvSpPr>
          <p:cNvPr id="34" name="Text 25"/>
          <p:cNvSpPr txBox="1"/>
          <p:nvPr/>
        </p:nvSpPr>
        <p:spPr>
          <a:xfrm>
            <a:off x="761695" y="4249216"/>
            <a:ext cx="52203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accelerator comes with a benchmark from prior deployments. 80% reduction in reporting effort. 55% faster month-end close. 65% faster testing cycles. Numbers you inherit, not numbers we promise.</a:t>
            </a:r>
            <a:endParaRPr lang="en-US" sz="1100"/>
          </a:p>
        </p:txBody>
      </p:sp>
      <p:pic>
        <p:nvPicPr>
          <p:cNvPr id="35" name="Image 7" descr="gen-dedup-0d12da8ebc0b959d48949b1e6044d332.png"/>
          <p:cNvPicPr>
            <a:picLocks noChangeAspect="1"/>
          </p:cNvPicPr>
          <p:nvPr/>
        </p:nvPicPr>
        <p:blipFill>
          <a:blip r:embed="rId9"/>
          <a:srcRect t="-13462" b="-13462"/>
          <a:stretch/>
        </p:blipFill>
        <p:spPr>
          <a:xfrm>
            <a:off x="761695" y="3988612"/>
            <a:ext cx="142646" cy="18105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381598" y="1952244"/>
            <a:ext cx="5201107" cy="59984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6381598" y="2532888"/>
            <a:ext cx="52011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 txBox="1"/>
          <p:nvPr/>
        </p:nvSpPr>
        <p:spPr>
          <a:xfrm>
            <a:off x="6534302" y="2048256"/>
            <a:ext cx="12289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Dimension</a:t>
            </a:r>
            <a:endParaRPr lang="en-US" sz="1000"/>
          </a:p>
        </p:txBody>
      </p:sp>
      <p:sp>
        <p:nvSpPr>
          <p:cNvPr id="39" name="Text 29"/>
          <p:cNvSpPr txBox="1"/>
          <p:nvPr/>
        </p:nvSpPr>
        <p:spPr>
          <a:xfrm>
            <a:off x="7757770" y="2048256"/>
            <a:ext cx="17145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Traditional Managed Services</a:t>
            </a:r>
            <a:endParaRPr lang="en-US" sz="1000"/>
          </a:p>
        </p:txBody>
      </p:sp>
      <p:sp>
        <p:nvSpPr>
          <p:cNvPr id="40" name="Text 30"/>
          <p:cNvSpPr txBox="1"/>
          <p:nvPr/>
        </p:nvSpPr>
        <p:spPr>
          <a:xfrm>
            <a:off x="9471355" y="2048256"/>
            <a:ext cx="19623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J2W Managed Solutions</a:t>
            </a:r>
            <a:endParaRPr lang="en-US" sz="1000"/>
          </a:p>
        </p:txBody>
      </p:sp>
      <p:sp>
        <p:nvSpPr>
          <p:cNvPr id="41" name="Shape 31"/>
          <p:cNvSpPr/>
          <p:nvPr/>
        </p:nvSpPr>
        <p:spPr>
          <a:xfrm>
            <a:off x="6381598" y="3134563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6534302" y="2667305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</a:t>
            </a:r>
          </a:p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</a:t>
            </a:r>
            <a:endParaRPr lang="en-US" sz="1000"/>
          </a:p>
        </p:txBody>
      </p:sp>
      <p:sp>
        <p:nvSpPr>
          <p:cNvPr id="43" name="Text 33"/>
          <p:cNvSpPr txBox="1"/>
          <p:nvPr/>
        </p:nvSpPr>
        <p:spPr>
          <a:xfrm>
            <a:off x="7757770" y="2667305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SOW-based, scope-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locked</a:t>
            </a:r>
            <a:endParaRPr lang="en-US" sz="1000"/>
          </a:p>
        </p:txBody>
      </p:sp>
      <p:sp>
        <p:nvSpPr>
          <p:cNvPr id="44" name="Text 34"/>
          <p:cNvSpPr txBox="1"/>
          <p:nvPr/>
        </p:nvSpPr>
        <p:spPr>
          <a:xfrm>
            <a:off x="9471355" y="2667305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Outcome-bound, SLO-governed</a:t>
            </a:r>
            <a:endParaRPr lang="en-US" sz="1000"/>
          </a:p>
        </p:txBody>
      </p:sp>
      <p:sp>
        <p:nvSpPr>
          <p:cNvPr id="45" name="Shape 35"/>
          <p:cNvSpPr/>
          <p:nvPr/>
        </p:nvSpPr>
        <p:spPr>
          <a:xfrm>
            <a:off x="6381598" y="3143707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6381598" y="3725266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 txBox="1"/>
          <p:nvPr/>
        </p:nvSpPr>
        <p:spPr>
          <a:xfrm>
            <a:off x="6534302" y="3258007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Starting Point</a:t>
            </a:r>
            <a:endParaRPr lang="en-US" sz="1000"/>
          </a:p>
        </p:txBody>
      </p:sp>
      <p:sp>
        <p:nvSpPr>
          <p:cNvPr id="48" name="Text 38"/>
          <p:cNvSpPr txBox="1"/>
          <p:nvPr/>
        </p:nvSpPr>
        <p:spPr>
          <a:xfrm>
            <a:off x="7757770" y="3258007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from scratch</a:t>
            </a:r>
            <a:endParaRPr lang="en-US" sz="1000"/>
          </a:p>
        </p:txBody>
      </p:sp>
      <p:sp>
        <p:nvSpPr>
          <p:cNvPr id="49" name="Text 39"/>
          <p:cNvSpPr txBox="1"/>
          <p:nvPr/>
        </p:nvSpPr>
        <p:spPr>
          <a:xfrm>
            <a:off x="9471355" y="3258007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accelerators, deploy in weeks</a:t>
            </a:r>
            <a:endParaRPr lang="en-US" sz="1000"/>
          </a:p>
        </p:txBody>
      </p:sp>
      <p:sp>
        <p:nvSpPr>
          <p:cNvPr id="50" name="Shape 40"/>
          <p:cNvSpPr/>
          <p:nvPr/>
        </p:nvSpPr>
        <p:spPr>
          <a:xfrm>
            <a:off x="6381598" y="4315054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6534302" y="3847795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Standard</a:t>
            </a:r>
            <a:endParaRPr lang="en-US" sz="1000"/>
          </a:p>
        </p:txBody>
      </p:sp>
      <p:sp>
        <p:nvSpPr>
          <p:cNvPr id="52" name="Text 42"/>
          <p:cNvSpPr txBox="1"/>
          <p:nvPr/>
        </p:nvSpPr>
        <p:spPr>
          <a:xfrm>
            <a:off x="7757770" y="3847795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Contractual minimums</a:t>
            </a:r>
            <a:endParaRPr lang="en-US" sz="1000"/>
          </a:p>
        </p:txBody>
      </p:sp>
      <p:sp>
        <p:nvSpPr>
          <p:cNvPr id="53" name="Text 43"/>
          <p:cNvSpPr txBox="1"/>
          <p:nvPr/>
        </p:nvSpPr>
        <p:spPr>
          <a:xfrm>
            <a:off x="9471355" y="3847795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 improvement threshold</a:t>
            </a:r>
            <a:endParaRPr lang="en-US" sz="1000"/>
          </a:p>
        </p:txBody>
      </p:sp>
      <p:sp>
        <p:nvSpPr>
          <p:cNvPr id="54" name="Shape 44"/>
          <p:cNvSpPr/>
          <p:nvPr/>
        </p:nvSpPr>
        <p:spPr>
          <a:xfrm>
            <a:off x="6381598" y="4324198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6381598" y="4905756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6"/>
          <p:cNvSpPr txBox="1"/>
          <p:nvPr/>
        </p:nvSpPr>
        <p:spPr>
          <a:xfrm>
            <a:off x="6534302" y="4438498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Coverage</a:t>
            </a:r>
            <a:endParaRPr lang="en-US" sz="1000"/>
          </a:p>
        </p:txBody>
      </p:sp>
      <p:sp>
        <p:nvSpPr>
          <p:cNvPr id="57" name="Text 47"/>
          <p:cNvSpPr txBox="1"/>
          <p:nvPr/>
        </p:nvSpPr>
        <p:spPr>
          <a:xfrm>
            <a:off x="7757770" y="4438498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Single-function specialization</a:t>
            </a:r>
            <a:endParaRPr lang="en-US" sz="1000"/>
          </a:p>
        </p:txBody>
      </p:sp>
      <p:sp>
        <p:nvSpPr>
          <p:cNvPr id="58" name="Text 48"/>
          <p:cNvSpPr txBox="1"/>
          <p:nvPr/>
        </p:nvSpPr>
        <p:spPr>
          <a:xfrm>
            <a:off x="9471355" y="4438498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Cross-stack: SAP, ServiceNow, Salesforce + more</a:t>
            </a:r>
            <a:endParaRPr lang="en-US" sz="1000"/>
          </a:p>
        </p:txBody>
      </p:sp>
      <p:sp>
        <p:nvSpPr>
          <p:cNvPr id="59" name="Shape 49"/>
          <p:cNvSpPr/>
          <p:nvPr/>
        </p:nvSpPr>
        <p:spPr>
          <a:xfrm>
            <a:off x="6381598" y="5496458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 txBox="1"/>
          <p:nvPr/>
        </p:nvSpPr>
        <p:spPr>
          <a:xfrm>
            <a:off x="6534302" y="5029200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Retention</a:t>
            </a:r>
            <a:endParaRPr lang="en-US" sz="1000"/>
          </a:p>
        </p:txBody>
      </p:sp>
      <p:sp>
        <p:nvSpPr>
          <p:cNvPr id="61" name="Text 51"/>
          <p:cNvSpPr txBox="1"/>
          <p:nvPr/>
        </p:nvSpPr>
        <p:spPr>
          <a:xfrm>
            <a:off x="7757770" y="5029200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Exits with the team</a:t>
            </a:r>
            <a:endParaRPr lang="en-US" sz="1000"/>
          </a:p>
        </p:txBody>
      </p:sp>
      <p:sp>
        <p:nvSpPr>
          <p:cNvPr id="62" name="Text 52"/>
          <p:cNvSpPr txBox="1"/>
          <p:nvPr/>
        </p:nvSpPr>
        <p:spPr>
          <a:xfrm>
            <a:off x="9471355" y="5029200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Captured, compounding, stays with you</a:t>
            </a:r>
            <a:endParaRPr lang="en-US" sz="1000"/>
          </a:p>
        </p:txBody>
      </p:sp>
      <p:sp>
        <p:nvSpPr>
          <p:cNvPr id="63" name="Shape 53"/>
          <p:cNvSpPr/>
          <p:nvPr/>
        </p:nvSpPr>
        <p:spPr>
          <a:xfrm>
            <a:off x="6381598" y="5505602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 txBox="1"/>
          <p:nvPr/>
        </p:nvSpPr>
        <p:spPr>
          <a:xfrm>
            <a:off x="6534302" y="5619902"/>
            <a:ext cx="1228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Readiness</a:t>
            </a:r>
            <a:endParaRPr lang="en-US" sz="1000"/>
          </a:p>
        </p:txBody>
      </p:sp>
      <p:sp>
        <p:nvSpPr>
          <p:cNvPr id="65" name="Text 55"/>
          <p:cNvSpPr txBox="1"/>
          <p:nvPr/>
        </p:nvSpPr>
        <p:spPr>
          <a:xfrm>
            <a:off x="7757770" y="5619902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 add-on</a:t>
            </a:r>
            <a:endParaRPr lang="en-US" sz="1000"/>
          </a:p>
        </p:txBody>
      </p:sp>
      <p:sp>
        <p:nvSpPr>
          <p:cNvPr id="66" name="Text 56"/>
          <p:cNvSpPr txBox="1"/>
          <p:nvPr/>
        </p:nvSpPr>
        <p:spPr>
          <a:xfrm>
            <a:off x="9471355" y="5619902"/>
            <a:ext cx="1962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Embedded from Day 1</a:t>
            </a:r>
            <a:endParaRPr lang="en-US" sz="1000"/>
          </a:p>
        </p:txBody>
      </p:sp>
      <p:sp>
        <p:nvSpPr>
          <p:cNvPr id="67" name="Text 57"/>
          <p:cNvSpPr txBox="1"/>
          <p:nvPr/>
        </p:nvSpPr>
        <p:spPr>
          <a:xfrm>
            <a:off x="800100" y="6245352"/>
            <a:ext cx="105924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scattered pilots to governed programs. From manual reporting to real-time intelligence. From legacy stacks to modernized platforms. </a:t>
            </a:r>
            <a:r>
              <a:rPr lang="en-US" sz="11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J2W Managed Solutions operate until the outcome is real - then keep compounding.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436834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42850"/>
                </a:solidFill>
              </a:rPr>
              <a:t>Transforming Aviation MRO with Predictive Maintenance and AIOps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0F6E56"/>
                </a:solidFill>
              </a:rPr>
              <a:t>Predictive Maintenance · AIOps · Efficiency · Cost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Reduced aircraft downtime by 30% through predictive analytics, enhancing operational efficiency.</a:t>
            </a:r>
          </a:p>
          <a:p>
            <a:r>
              <a:t>• Achieved a 25% reduction in maintenance costs by optimizing resource allocation with AIOps.</a:t>
            </a:r>
          </a:p>
          <a:p>
            <a:r>
              <a:t>• Improved safety compliance by 40% with real-time monitoring and proactive issue resolution.</a:t>
            </a:r>
          </a:p>
          <a:p>
            <a:r>
              <a:t>• Enabled data-driven decision-making, leading to a 20% increase in overall fleet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Generated slide — replace with the real J2W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