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4"/>
  </p:notesMasterIdLst>
  <p:sldIdLst>
    <p:sldId id="2147483328" r:id="rId2"/>
    <p:sldId id="2147483329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984CD-E0AE-483E-8716-12DE2F9F24C4}" v="3" dt="2026-06-22T11:16:53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9" Type="http://schemas.openxmlformats.org/officeDocument/2006/relationships/slide" Target="slides/slide2.xml"/><Relationship Id="rId134" Type="http://schemas.openxmlformats.org/officeDocument/2006/relationships/notesMaster" Target="notesMasters/notesMaster1.xml"/><Relationship Id="rId135" Type="http://schemas.openxmlformats.org/officeDocument/2006/relationships/presProps" Target="presProps.xml"/><Relationship Id="rId136" Type="http://schemas.openxmlformats.org/officeDocument/2006/relationships/viewProps" Target="viewProps.xml"/><Relationship Id="rId137" Type="http://schemas.openxmlformats.org/officeDocument/2006/relationships/theme" Target="theme/theme1.xml"/><Relationship Id="rId138" Type="http://schemas.openxmlformats.org/officeDocument/2006/relationships/tableStyles" Target="tableStyles.xml"/><Relationship Id="rId13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83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Relationship Id="rId21" Type="http://schemas.openxmlformats.org/officeDocument/2006/relationships/image" Target="../media/image19.jpe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195" y="0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05195"/>
            <a:ext cx="3810305" cy="952805"/>
          </a:xfrm>
          <a:custGeom>
            <a:avLst/>
            <a:gdLst/>
            <a:ahLst/>
            <a:cxnLst/>
            <a:rect l="l" t="t" r="r" b="b"/>
            <a:pathLst>
              <a:path w="3810305" h="952805">
                <a:moveTo>
                  <a:pt x="0" y="952805"/>
                </a:moveTo>
                <a:lnTo>
                  <a:pt x="3810305" y="952805"/>
                </a:lnTo>
                <a:lnTo>
                  <a:pt x="0" y="0"/>
                </a:lnTo>
                <a:close/>
              </a:path>
            </a:pathLst>
          </a:custGeom>
          <a:solidFill>
            <a:srgbClr val="D62839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74290" y="3881628"/>
            <a:ext cx="6648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BUSINESS DRIVERS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TECHNOLOGY ACCELERATORS 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GAME CHANGERS </a:t>
            </a:r>
            <a:endParaRPr lang="en-US" sz="1200"/>
          </a:p>
        </p:txBody>
      </p:sp>
      <p:sp>
        <p:nvSpPr>
          <p:cNvPr id="9" name="Text 4"/>
          <p:cNvSpPr txBox="1"/>
          <p:nvPr/>
        </p:nvSpPr>
        <p:spPr>
          <a:xfrm>
            <a:off x="4153205" y="4262933"/>
            <a:ext cx="389351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Energy. Excellence. Innovation.</a:t>
            </a:r>
            <a:endParaRPr lang="en-US" sz="18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141" r="141"/>
          <a:stretch/>
        </p:blipFill>
        <p:spPr>
          <a:xfrm>
            <a:off x="4629607" y="447142"/>
            <a:ext cx="2933395" cy="1419149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287018" y="2262226"/>
            <a:ext cx="947592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Building the Enterprise Operating Model​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 the Next Decade​</a:t>
            </a: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5639105" y="3596335"/>
            <a:ext cx="914400" cy="57607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0" y="5238598"/>
            <a:ext cx="12191695" cy="161940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7"/>
          <p:cNvSpPr/>
          <p:nvPr/>
        </p:nvSpPr>
        <p:spPr>
          <a:xfrm>
            <a:off x="0" y="5238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10201961" y="5362956"/>
            <a:ext cx="9144" cy="13807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 txBox="1"/>
          <p:nvPr/>
        </p:nvSpPr>
        <p:spPr>
          <a:xfrm>
            <a:off x="457200" y="5362956"/>
            <a:ext cx="9630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Trusted by:</a:t>
            </a:r>
            <a:endParaRPr lang="en-US" sz="1000"/>
          </a:p>
        </p:txBody>
      </p:sp>
      <p:sp>
        <p:nvSpPr>
          <p:cNvPr id="17" name="Shape 10"/>
          <p:cNvSpPr/>
          <p:nvPr/>
        </p:nvSpPr>
        <p:spPr>
          <a:xfrm>
            <a:off x="10362895" y="560527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7779" y="5672023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767974" y="5605272"/>
            <a:ext cx="8101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ISO 9001:2015</a:t>
            </a:r>
            <a:endParaRPr lang="en-US" sz="900"/>
          </a:p>
        </p:txBody>
      </p:sp>
      <p:sp>
        <p:nvSpPr>
          <p:cNvPr id="20" name="Shape 12"/>
          <p:cNvSpPr/>
          <p:nvPr/>
        </p:nvSpPr>
        <p:spPr>
          <a:xfrm>
            <a:off x="10362895" y="5928970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54919" y="5995721"/>
            <a:ext cx="114300" cy="1143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745114" y="5928970"/>
            <a:ext cx="857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CMMI Certified</a:t>
            </a:r>
            <a:endParaRPr lang="en-US" sz="900"/>
          </a:p>
        </p:txBody>
      </p:sp>
      <p:sp>
        <p:nvSpPr>
          <p:cNvPr id="23" name="Shape 14"/>
          <p:cNvSpPr/>
          <p:nvPr/>
        </p:nvSpPr>
        <p:spPr>
          <a:xfrm>
            <a:off x="10362895" y="625358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10537546" y="6319418"/>
            <a:ext cx="85954" cy="1143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0699394" y="6253582"/>
            <a:ext cx="924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Women-Owned</a:t>
            </a:r>
            <a:endParaRPr lang="en-US" sz="90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>
            <a:alphaModFix amt="90000"/>
          </a:blip>
          <a:srcRect/>
          <a:stretch/>
        </p:blipFill>
        <p:spPr>
          <a:xfrm>
            <a:off x="457200" y="5700370"/>
            <a:ext cx="428854" cy="428854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 l="2016" r="2016"/>
          <a:stretch/>
        </p:blipFill>
        <p:spPr>
          <a:xfrm>
            <a:off x="1578254" y="5805526"/>
            <a:ext cx="1143000" cy="228600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>
            <a:alphaModFix amt="90000"/>
          </a:blip>
          <a:srcRect t="569" b="569"/>
          <a:stretch/>
        </p:blipFill>
        <p:spPr>
          <a:xfrm>
            <a:off x="3413455" y="5639105"/>
            <a:ext cx="838505" cy="552298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>
            <a:alphaModFix amt="90000"/>
          </a:blip>
          <a:srcRect t="563" b="563"/>
          <a:stretch/>
        </p:blipFill>
        <p:spPr>
          <a:xfrm>
            <a:off x="4935017" y="5648249"/>
            <a:ext cx="809244" cy="533095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>
            <a:alphaModFix amt="90000"/>
          </a:blip>
          <a:srcRect t="267" b="267"/>
          <a:stretch/>
        </p:blipFill>
        <p:spPr>
          <a:xfrm>
            <a:off x="6427318" y="5648249"/>
            <a:ext cx="952805" cy="533095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>
            <a:alphaModFix amt="90000"/>
          </a:blip>
          <a:srcRect/>
          <a:stretch/>
        </p:blipFill>
        <p:spPr>
          <a:xfrm>
            <a:off x="8067751" y="5662879"/>
            <a:ext cx="504749" cy="504749"/>
          </a:xfrm>
          <a:prstGeom prst="rect">
            <a:avLst/>
          </a:prstGeom>
        </p:spPr>
      </p:pic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7">
            <a:alphaModFix amt="90000"/>
          </a:blip>
          <a:srcRect t="525" b="525"/>
          <a:stretch/>
        </p:blipFill>
        <p:spPr>
          <a:xfrm>
            <a:off x="9265615" y="5662879"/>
            <a:ext cx="714146" cy="504749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8">
            <a:alphaModFix amt="90000"/>
          </a:blip>
          <a:srcRect l="688" r="688"/>
          <a:stretch/>
        </p:blipFill>
        <p:spPr>
          <a:xfrm>
            <a:off x="457200" y="6445606"/>
            <a:ext cx="1067105" cy="190195"/>
          </a:xfrm>
          <a:prstGeom prst="rect">
            <a:avLst/>
          </a:prstGeom>
        </p:spPr>
      </p:pic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9">
            <a:alphaModFix amt="90000"/>
          </a:blip>
          <a:srcRect l="960" r="960"/>
          <a:stretch/>
        </p:blipFill>
        <p:spPr>
          <a:xfrm>
            <a:off x="2056486" y="6390742"/>
            <a:ext cx="1466698" cy="304495"/>
          </a:xfrm>
          <a:prstGeom prst="rect">
            <a:avLst/>
          </a:prstGeom>
        </p:spPr>
      </p:pic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20">
            <a:alphaModFix amt="90000"/>
          </a:blip>
          <a:srcRect t="311" b="311"/>
          <a:stretch/>
        </p:blipFill>
        <p:spPr>
          <a:xfrm>
            <a:off x="4055364" y="6325819"/>
            <a:ext cx="828446" cy="428854"/>
          </a:xfrm>
          <a:prstGeom prst="rect">
            <a:avLst/>
          </a:prstGeom>
        </p:spPr>
      </p:pic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t="385" b="385"/>
          <a:stretch/>
        </p:blipFill>
        <p:spPr>
          <a:xfrm>
            <a:off x="5410505" y="6325819"/>
            <a:ext cx="771754" cy="428854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22">
            <a:alphaModFix amt="90000"/>
          </a:blip>
          <a:srcRect/>
          <a:stretch/>
        </p:blipFill>
        <p:spPr>
          <a:xfrm>
            <a:off x="6708038" y="6325819"/>
            <a:ext cx="428854" cy="428854"/>
          </a:xfrm>
          <a:prstGeom prst="rect">
            <a:avLst/>
          </a:prstGeom>
        </p:spPr>
      </p:pic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23">
            <a:alphaModFix amt="90000"/>
          </a:blip>
          <a:srcRect t="77" b="77"/>
          <a:stretch/>
        </p:blipFill>
        <p:spPr>
          <a:xfrm>
            <a:off x="7669073" y="6368796"/>
            <a:ext cx="629107" cy="342900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24">
            <a:alphaModFix amt="90000"/>
          </a:blip>
          <a:srcRect l="1712" r="1712"/>
          <a:stretch/>
        </p:blipFill>
        <p:spPr>
          <a:xfrm>
            <a:off x="8829446" y="6420002"/>
            <a:ext cx="1143000" cy="2478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42850"/>
                </a:solidFill>
              </a:rPr>
              <a:t>Transforming Aviation MRO with Predictive Maintenance and AIOps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0F6E56"/>
                </a:solidFill>
              </a:rPr>
              <a:t>Predictive Maintenance · AIOps · Efficiency · Cost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Reduced aircraft downtime by 30% through predictive analytics, enhancing operational efficiency.</a:t>
            </a:r>
          </a:p>
          <a:p>
            <a:r>
              <a:t>• Achieved a 25% reduction in maintenance costs by optimizing resource allocation with AIOps.</a:t>
            </a:r>
          </a:p>
          <a:p>
            <a:r>
              <a:t>• Improved safety compliance by 40% with real-time monitoring and proactive issue resolution.</a:t>
            </a:r>
          </a:p>
          <a:p>
            <a:r>
              <a:t>• Enabled data-driven decision-making, leading to a 20% increase in overall fleet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AAAAAA"/>
                </a:solidFill>
              </a:rPr>
              <a:t>Generated slide — replace with the real J2W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31952</Words>
  <Application>Microsoft Office PowerPoint</Application>
  <PresentationFormat>Widescreen</PresentationFormat>
  <Paragraphs>3438</Paragraphs>
  <Slides>132</Slides>
  <Notes>132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39" baseType="lpstr">
      <vt:lpstr>Aptos</vt:lpstr>
      <vt:lpstr>Arial</vt:lpstr>
      <vt:lpstr>Calibri</vt:lpstr>
      <vt:lpstr>Oswald</vt:lpstr>
      <vt:lpstr>Raleway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Case Study Portfolio</dc:title>
  <dc:subject>PptxGenJS Presentation</dc:subject>
  <dc:creator>J2W</dc:creator>
  <cp:lastModifiedBy>Athithia Krishna</cp:lastModifiedBy>
  <cp:revision>4</cp:revision>
  <dcterms:created xsi:type="dcterms:W3CDTF">2026-06-22T10:46:20Z</dcterms:created>
  <dcterms:modified xsi:type="dcterms:W3CDTF">2026-06-23T05:19:06Z</dcterms:modified>
</cp:coreProperties>
</file>