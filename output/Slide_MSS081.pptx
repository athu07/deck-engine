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J2W_TEMPLATE: case_study_v2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7315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310896"/>
            <a:ext cx="11384280" cy="731520"/>
          </a:xfrm>
          <a:prstGeom prst="rect">
            <a:avLst/>
          </a:prstGeom>
          <a:noFill/>
        </p:spPr>
        <p:txBody>
          <a:bodyPr wrap="square" tIns="0" bIns="0" lIns="0" rIns="0">
            <a:spAutoFit/>
          </a:bodyPr>
          <a:lstStyle/>
          <a:p>
            <a:pPr algn="l"/>
            <a:r>
              <a:rPr sz="2400" b="1">
                <a:solidFill>
                  <a:srgbClr val="C02026"/>
                </a:solidFill>
                <a:latin typeface="Oswald"/>
              </a:rPr>
              <a:t>CASE STUDY: </a:t>
            </a:r>
            <a:r>
              <a:rPr sz="2400" b="1">
                <a:solidFill>
                  <a:srgbClr val="111110"/>
                </a:solidFill>
                <a:latin typeface="Oswald"/>
              </a:rPr>
              <a:t>AI-POWERED PRICING AND ESTIMATION ENGINE</a:t>
            </a:r>
          </a:p>
        </p:txBody>
      </p:sp>
      <p:sp>
        <p:nvSpPr>
          <p:cNvPr id="6" name="TextBox 5"/>
          <p:cNvSpPr txBox="1"/>
          <p:nvPr/>
        </p:nvSpPr>
        <p:spPr>
          <a:xfrm>
            <a:off x="402336" y="804672"/>
            <a:ext cx="11384280" cy="274320"/>
          </a:xfrm>
          <a:prstGeom prst="rect">
            <a:avLst/>
          </a:prstGeom>
          <a:noFill/>
        </p:spPr>
        <p:txBody>
          <a:bodyPr wrap="square" tIns="0" bIns="0" lIns="0" rIns="0">
            <a:spAutoFit/>
          </a:bodyPr>
          <a:lstStyle/>
          <a:p>
            <a:pPr algn="l"/>
            <a:r>
              <a:rPr sz="1500" b="1">
                <a:solidFill>
                  <a:srgbClr val="3A8B82"/>
                </a:solidFill>
                <a:latin typeface="Oswald"/>
              </a:rPr>
              <a:t>CLIENT: Leading Technology &amp; IT Services Enterprise  |  DOMAIN: Technology &amp; IT Services</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Helvetica"/>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Helvetica"/>
              </a:rPr>
              <a:t>As the service portfolio expanded, project estimation at this IT services firm had become a function of who was in the room - experienced individuals applying personal judgment to spreadsheets, disconnected cost models, and partial delivery histories. Quotes for similar engagements carried wildly inconsistent margins, and the gap between estimated and actual effort only became visible months into delivery. Historical project knowledge existed but sat in closed files and individual memories, inaccessible at the moment a new quote needed to be built. By the time a proposal reached a client, its commercial accuracy was already a risk the business had silently accepted.</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Helvetica"/>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Helvetica"/>
              </a:rPr>
              <a:t>An AI-powered pricing and estimation engine was deployed to systematically replace judgment-based quoting with a platform that learns from every completed engagement. It ingests historical delivery data, project characteristics, and resource patterns, producing effort estimates, timelines, staffing requirements, and risk-adjusted pricing in under five minutes from requirement inputs. Configurable business rules enforce margin thresholds, discount governance, and risk adjustments automatically, so every quote reflects the same commercial logic regardless of who built it. Teams now work from an evidence-based starting point and can run real-time what-if scenarios across scope and delivery model before committing to a price.</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Helvetica"/>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Helvetica"/>
              </a:rPr>
              <a:t>Requirement Configuration Engine</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Helvetica"/>
              </a:rPr>
              <a:t>Guided questionnaires capture scope, complexity, and constraints, automatically configuring project parameters without manual interpretation.</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Helvetica"/>
              </a:rPr>
              <a:t>AI Effort and Timeline Estimation</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Helvetica"/>
              </a:rPr>
              <a:t>Analyzes historical delivery patterns to predict effort, staffing, and timelines with accuracy that improves as the model trains on outcomes.</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Helvetica"/>
              </a:rPr>
              <a:t>Dynamic Pricing and Margin Control</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Helvetica"/>
              </a:rPr>
              <a:t>Applies pricing rules, margin thresholds, and risk adjustments automatically, enforcing commercial governance across every quote.</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Helvetica"/>
              </a:rPr>
              <a:t>Scenario Planning and Profitability Comparison</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Helvetica"/>
              </a:rPr>
              <a:t>Real-time what-if analysis across scope, delivery model, and resource mix with instant cost and margin comparison.</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Helvetica"/>
              </a:rPr>
              <a:t>Estimation Governance and Standardization</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Helvetica"/>
              </a:rPr>
              <a:t>Enforces consistent pricing logic across all sales and delivery teams, eliminating variance driven by individual judgment.</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Helvetica"/>
              </a:rPr>
              <a:t>Continuous Model Retraining</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Helvetica"/>
              </a:rPr>
              <a:t>Actual delivery outcomes retrain the estimation models with every completed project, compounding accuracy over time.</a:t>
            </a:r>
          </a:p>
        </p:txBody>
      </p:sp>
      <p:sp>
        <p:nvSpPr>
          <p:cNvPr id="34" name="Rectangle 33"/>
          <p:cNvSpPr/>
          <p:nvPr/>
        </p:nvSpPr>
        <p:spPr>
          <a:xfrm>
            <a:off x="0" y="5669280"/>
            <a:ext cx="12188952" cy="1188719"/>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815584"/>
            <a:ext cx="3697223" cy="475488"/>
          </a:xfrm>
          <a:prstGeom prst="rect">
            <a:avLst/>
          </a:prstGeom>
          <a:noFill/>
        </p:spPr>
        <p:txBody>
          <a:bodyPr wrap="square" tIns="0" bIns="0" lIns="0" rIns="0">
            <a:spAutoFit/>
          </a:bodyPr>
          <a:lstStyle/>
          <a:p>
            <a:pPr algn="ctr"/>
            <a:r>
              <a:rPr sz="2500" b="1">
                <a:solidFill>
                  <a:srgbClr val="FFFFFF"/>
                </a:solidFill>
                <a:latin typeface="Helvetica"/>
              </a:rPr>
              <a:t>90%+</a:t>
            </a:r>
          </a:p>
        </p:txBody>
      </p:sp>
      <p:sp>
        <p:nvSpPr>
          <p:cNvPr id="36" name="TextBox 35"/>
          <p:cNvSpPr txBox="1"/>
          <p:nvPr/>
        </p:nvSpPr>
        <p:spPr>
          <a:xfrm>
            <a:off x="137160" y="6272784"/>
            <a:ext cx="3788664" cy="548640"/>
          </a:xfrm>
          <a:prstGeom prst="rect">
            <a:avLst/>
          </a:prstGeom>
          <a:noFill/>
        </p:spPr>
        <p:txBody>
          <a:bodyPr wrap="square" tIns="0" bIns="0" lIns="0" rIns="0">
            <a:spAutoFit/>
          </a:bodyPr>
          <a:lstStyle/>
          <a:p>
            <a:pPr algn="ctr"/>
            <a:r>
              <a:rPr sz="1200" b="0">
                <a:solidFill>
                  <a:srgbClr val="FFFFFF"/>
                </a:solidFill>
                <a:latin typeface="Helvetica"/>
              </a:rPr>
              <a:t>reduction in manual estimation effort per quote</a:t>
            </a:r>
          </a:p>
        </p:txBody>
      </p:sp>
      <p:sp>
        <p:nvSpPr>
          <p:cNvPr id="37" name="TextBox 36"/>
          <p:cNvSpPr txBox="1"/>
          <p:nvPr/>
        </p:nvSpPr>
        <p:spPr>
          <a:xfrm>
            <a:off x="4245864" y="5815584"/>
            <a:ext cx="3697223" cy="475488"/>
          </a:xfrm>
          <a:prstGeom prst="rect">
            <a:avLst/>
          </a:prstGeom>
          <a:noFill/>
        </p:spPr>
        <p:txBody>
          <a:bodyPr wrap="square" tIns="0" bIns="0" lIns="0" rIns="0">
            <a:spAutoFit/>
          </a:bodyPr>
          <a:lstStyle/>
          <a:p>
            <a:pPr algn="ctr"/>
            <a:r>
              <a:rPr sz="2500" b="1">
                <a:solidFill>
                  <a:srgbClr val="FFFFFF"/>
                </a:solidFill>
                <a:latin typeface="Helvetica"/>
              </a:rPr>
              <a:t>Under 5 minutes</a:t>
            </a:r>
          </a:p>
        </p:txBody>
      </p:sp>
      <p:sp>
        <p:nvSpPr>
          <p:cNvPr id="38" name="TextBox 37"/>
          <p:cNvSpPr txBox="1"/>
          <p:nvPr/>
        </p:nvSpPr>
        <p:spPr>
          <a:xfrm>
            <a:off x="4200144" y="6272784"/>
            <a:ext cx="3788664" cy="548640"/>
          </a:xfrm>
          <a:prstGeom prst="rect">
            <a:avLst/>
          </a:prstGeom>
          <a:noFill/>
        </p:spPr>
        <p:txBody>
          <a:bodyPr wrap="square" tIns="0" bIns="0" lIns="0" rIns="0">
            <a:spAutoFit/>
          </a:bodyPr>
          <a:lstStyle/>
          <a:p>
            <a:pPr algn="ctr"/>
            <a:r>
              <a:rPr sz="1200" b="0">
                <a:solidFill>
                  <a:srgbClr val="FFFFFF"/>
                </a:solidFill>
                <a:latin typeface="Helvetica"/>
              </a:rPr>
              <a:t>requirements input to complete, commercially governed project quote</a:t>
            </a:r>
          </a:p>
        </p:txBody>
      </p:sp>
      <p:sp>
        <p:nvSpPr>
          <p:cNvPr id="39" name="TextBox 38"/>
          <p:cNvSpPr txBox="1"/>
          <p:nvPr/>
        </p:nvSpPr>
        <p:spPr>
          <a:xfrm>
            <a:off x="8308847" y="5815584"/>
            <a:ext cx="3697223" cy="475488"/>
          </a:xfrm>
          <a:prstGeom prst="rect">
            <a:avLst/>
          </a:prstGeom>
          <a:noFill/>
        </p:spPr>
        <p:txBody>
          <a:bodyPr wrap="square" tIns="0" bIns="0" lIns="0" rIns="0">
            <a:spAutoFit/>
          </a:bodyPr>
          <a:lstStyle/>
          <a:p>
            <a:pPr algn="ctr"/>
            <a:r>
              <a:rPr sz="2500" b="1">
                <a:solidFill>
                  <a:srgbClr val="FFFFFF"/>
                </a:solidFill>
                <a:latin typeface="Helvetica"/>
              </a:rPr>
              <a:t>Pricing decisions</a:t>
            </a:r>
          </a:p>
        </p:txBody>
      </p:sp>
      <p:sp>
        <p:nvSpPr>
          <p:cNvPr id="40" name="TextBox 39"/>
          <p:cNvSpPr txBox="1"/>
          <p:nvPr/>
        </p:nvSpPr>
        <p:spPr>
          <a:xfrm>
            <a:off x="8263128" y="6272784"/>
            <a:ext cx="3788664" cy="548640"/>
          </a:xfrm>
          <a:prstGeom prst="rect">
            <a:avLst/>
          </a:prstGeom>
          <a:noFill/>
        </p:spPr>
        <p:txBody>
          <a:bodyPr wrap="square" tIns="0" bIns="0" lIns="0" rIns="0">
            <a:spAutoFit/>
          </a:bodyPr>
          <a:lstStyle/>
          <a:p>
            <a:pPr algn="ctr"/>
            <a:r>
              <a:rPr sz="1200" b="0">
                <a:solidFill>
                  <a:srgbClr val="FFFFFF"/>
                </a:solidFill>
                <a:latin typeface="Helvetica"/>
              </a:rPr>
              <a:t>shifted from individual judgment to evidence-based governance, reducing margin leakage across the portfolio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