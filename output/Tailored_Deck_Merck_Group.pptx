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0"/>
  </p:notesMasterIdLst>
  <p:sldIdLst>
    <p:sldId id="2147483328" r:id="rId2"/>
    <p:sldId id="2147483329" r:id="rId3"/>
    <p:sldId id="2147483327" r:id="rId5"/>
    <p:sldId id="2147483332" r:id="rId6"/>
    <p:sldId id="2147483331" r:id="rId7"/>
    <p:sldId id="2147483323" r:id="rId11"/>
    <p:sldId id="2147483416" r:id="rId12"/>
    <p:sldId id="2147483418" r:id="rId13"/>
    <p:sldId id="2147483431" r:id="rId21"/>
    <p:sldId id="2147483432" r:id="rId22"/>
    <p:sldId id="2147483433" r:id="rId20"/>
    <p:sldId id="2147483434" r:id="rId19"/>
    <p:sldId id="2147483435" r:id="rId18"/>
    <p:sldId id="2147483305" r:id="rId8"/>
    <p:sldId id="299" r:id="rId9"/>
    <p:sldId id="2147483436"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984CD-E0AE-483E-8716-12DE2F9F24C4}" v="3" dt="2026-06-22T11:16:53.6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11.xml"/><Relationship Id="rId9" Type="http://schemas.openxmlformats.org/officeDocument/2006/relationships/slide" Target="slides/slide12.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8" Type="http://schemas.openxmlformats.org/officeDocument/2006/relationships/slide" Target="slides/slide15.xml"/><Relationship Id="rId19" Type="http://schemas.openxmlformats.org/officeDocument/2006/relationships/slide" Target="slides/slide14.xml"/><Relationship Id="rId20" Type="http://schemas.openxmlformats.org/officeDocument/2006/relationships/slide" Target="slides/slide13.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6.xml"/><Relationship Id="rId140" Type="http://schemas.openxmlformats.org/officeDocument/2006/relationships/notesMaster" Target="notesMasters/notesMaster1.xml"/><Relationship Id="rId141" Type="http://schemas.openxmlformats.org/officeDocument/2006/relationships/presProps" Target="presProps.xml"/><Relationship Id="rId142" Type="http://schemas.openxmlformats.org/officeDocument/2006/relationships/viewProps" Target="viewProps.xml"/><Relationship Id="rId143" Type="http://schemas.openxmlformats.org/officeDocument/2006/relationships/theme" Target="theme/theme1.xml"/><Relationship Id="rId144" Type="http://schemas.openxmlformats.org/officeDocument/2006/relationships/tableStyles" Target="tableStyles.xml"/><Relationship Id="rId14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831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J2W_ID: CS01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88758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571011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CS08</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9551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CS18</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7733899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CS19</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2900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 Id="rId20" Type="http://schemas.openxmlformats.org/officeDocument/2006/relationships/image" Target="../media/image18.jpeg"/><Relationship Id="rId21" Type="http://schemas.openxmlformats.org/officeDocument/2006/relationships/image" Target="../media/image19.jpeg"/><Relationship Id="rId22" Type="http://schemas.openxmlformats.org/officeDocument/2006/relationships/image" Target="../media/image20.png"/><Relationship Id="rId23" Type="http://schemas.openxmlformats.org/officeDocument/2006/relationships/image" Target="../media/image21.png"/><Relationship Id="rId2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5.png"/><Relationship Id="rId12" Type="http://schemas.openxmlformats.org/officeDocument/2006/relationships/image" Target="../media/image4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png"/><Relationship Id="rId11" Type="http://schemas.openxmlformats.org/officeDocument/2006/relationships/image" Target="../media/image51.png"/><Relationship Id="rId12" Type="http://schemas.openxmlformats.org/officeDocument/2006/relationships/image" Target="../media/image5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image" Target="../media/image82.png"/><Relationship Id="rId7" Type="http://schemas.openxmlformats.org/officeDocument/2006/relationships/image" Target="../media/image83.png"/><Relationship Id="rId8" Type="http://schemas.openxmlformats.org/officeDocument/2006/relationships/image" Target="../media/image84.png"/><Relationship Id="rId9" Type="http://schemas.openxmlformats.org/officeDocument/2006/relationships/image" Target="../media/image85.png"/><Relationship Id="rId10" Type="http://schemas.openxmlformats.org/officeDocument/2006/relationships/image" Target="../media/image8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7.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88.png"/><Relationship Id="rId7" Type="http://schemas.openxmlformats.org/officeDocument/2006/relationships/image" Target="../media/image89.png"/><Relationship Id="rId8" Type="http://schemas.openxmlformats.org/officeDocument/2006/relationships/image" Target="../media/image9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69.png"/><Relationship Id="rId6" Type="http://schemas.openxmlformats.org/officeDocument/2006/relationships/image" Target="../media/image91.png"/><Relationship Id="rId7" Type="http://schemas.openxmlformats.org/officeDocument/2006/relationships/image" Target="../media/image92.png"/><Relationship Id="rId8" Type="http://schemas.openxmlformats.org/officeDocument/2006/relationships/image" Target="../media/image93.png"/><Relationship Id="rId9" Type="http://schemas.openxmlformats.org/officeDocument/2006/relationships/image" Target="../media/image94.png"/><Relationship Id="rId10" Type="http://schemas.openxmlformats.org/officeDocument/2006/relationships/image" Target="../media/image95.png"/><Relationship Id="rId11" Type="http://schemas.openxmlformats.org/officeDocument/2006/relationships/image" Target="../media/image9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132.png"/><Relationship Id="rId7" Type="http://schemas.openxmlformats.org/officeDocument/2006/relationships/image" Target="../media/image133.png"/><Relationship Id="rId8" Type="http://schemas.openxmlformats.org/officeDocument/2006/relationships/image" Target="../media/image134.png"/><Relationship Id="rId9" Type="http://schemas.openxmlformats.org/officeDocument/2006/relationships/image" Target="../media/image13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9.png"/><Relationship Id="rId4" Type="http://schemas.openxmlformats.org/officeDocument/2006/relationships/image" Target="../media/image136.png"/><Relationship Id="rId5" Type="http://schemas.openxmlformats.org/officeDocument/2006/relationships/image" Target="../media/image137.png"/><Relationship Id="rId6" Type="http://schemas.openxmlformats.org/officeDocument/2006/relationships/image" Target="../media/image138.png"/><Relationship Id="rId7" Type="http://schemas.openxmlformats.org/officeDocument/2006/relationships/image" Target="../media/image139.png"/><Relationship Id="rId8" Type="http://schemas.openxmlformats.org/officeDocument/2006/relationships/image" Target="../media/image140.png"/><Relationship Id="rId9" Type="http://schemas.openxmlformats.org/officeDocument/2006/relationships/image" Target="../media/image141.png"/><Relationship Id="rId10" Type="http://schemas.openxmlformats.org/officeDocument/2006/relationships/image" Target="../media/image142.png"/><Relationship Id="rId11" Type="http://schemas.openxmlformats.org/officeDocument/2006/relationships/image" Target="../media/image143.png"/><Relationship Id="rId12" Type="http://schemas.openxmlformats.org/officeDocument/2006/relationships/image" Target="../media/image144.png"/><Relationship Id="rId13" Type="http://schemas.openxmlformats.org/officeDocument/2006/relationships/image" Target="../media/image145.png"/><Relationship Id="rId14" Type="http://schemas.openxmlformats.org/officeDocument/2006/relationships/image" Target="../media/image34.png"/><Relationship Id="rId15" Type="http://schemas.openxmlformats.org/officeDocument/2006/relationships/image" Target="../media/image3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image" Target="../media/image61.png"/><Relationship Id="rId14" Type="http://schemas.openxmlformats.org/officeDocument/2006/relationships/image" Target="../media/image6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4.png"/><Relationship Id="rId6" Type="http://schemas.openxmlformats.org/officeDocument/2006/relationships/image" Target="../media/image63.png"/><Relationship Id="rId7" Type="http://schemas.openxmlformats.org/officeDocument/2006/relationships/image" Target="../media/image64.jpeg"/><Relationship Id="rId8" Type="http://schemas.openxmlformats.org/officeDocument/2006/relationships/image" Target="../media/image65.jpeg"/><Relationship Id="rId9" Type="http://schemas.openxmlformats.org/officeDocument/2006/relationships/image" Target="../media/image66.jpeg"/><Relationship Id="rId10" Type="http://schemas.openxmlformats.org/officeDocument/2006/relationships/image" Target="../media/image67.jpeg"/><Relationship Id="rId11" Type="http://schemas.openxmlformats.org/officeDocument/2006/relationships/image" Target="../media/image6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en-US"/>
          </a:p>
        </p:txBody>
      </p:sp>
      <p:sp>
        <p:nvSpPr>
          <p:cNvPr id="3" name="Shape 1"/>
          <p:cNvSpPr/>
          <p:nvPr/>
        </p:nvSpPr>
        <p:spPr>
          <a:xfrm>
            <a:off x="305" y="0"/>
            <a:ext cx="12191695" cy="6858000"/>
          </a:xfrm>
          <a:prstGeom prst="rect">
            <a:avLst/>
          </a:prstGeom>
          <a:solidFill>
            <a:srgbClr val="FFFFFF"/>
          </a:solidFill>
          <a:ln w="12700">
            <a:solidFill>
              <a:srgbClr val="FFFFFF">
                <a:alpha val="0"/>
              </a:srgbClr>
            </a:solidFill>
            <a:prstDash val="solid"/>
          </a:ln>
        </p:spPr>
        <p:txBody>
          <a:bodyPr/>
          <a:lstStyle/>
          <a:p>
            <a:pPr algn="ctr"/>
            <a:endParaRPr lang="en-US"/>
          </a:p>
        </p:txBody>
      </p:sp>
      <p:pic>
        <p:nvPicPr>
          <p:cNvPr id="4" name="Image 0" descr="preencoded.png"/>
          <p:cNvPicPr>
            <a:picLocks noChangeAspect="1"/>
          </p:cNvPicPr>
          <p:nvPr/>
        </p:nvPicPr>
        <p:blipFill>
          <a:blip r:embed="rId3"/>
          <a:srcRect/>
          <a:stretch/>
        </p:blipFill>
        <p:spPr>
          <a:xfrm>
            <a:off x="9334195" y="0"/>
            <a:ext cx="2857500" cy="2857500"/>
          </a:xfrm>
          <a:prstGeom prst="rect">
            <a:avLst/>
          </a:prstGeom>
        </p:spPr>
      </p:pic>
      <p:sp>
        <p:nvSpPr>
          <p:cNvPr id="5" name="Shape 2"/>
          <p:cNvSpPr/>
          <p:nvPr/>
        </p:nvSpPr>
        <p:spPr>
          <a:xfrm>
            <a:off x="0" y="5905195"/>
            <a:ext cx="3810305" cy="952805"/>
          </a:xfrm>
          <a:custGeom>
            <a:avLst/>
            <a:gdLst/>
            <a:ahLst/>
            <a:cxnLst/>
            <a:rect l="l" t="t" r="r" b="b"/>
            <a:pathLst>
              <a:path w="3810305" h="952805">
                <a:moveTo>
                  <a:pt x="0" y="952805"/>
                </a:moveTo>
                <a:lnTo>
                  <a:pt x="3810305" y="952805"/>
                </a:lnTo>
                <a:lnTo>
                  <a:pt x="0" y="0"/>
                </a:lnTo>
                <a:close/>
              </a:path>
            </a:pathLst>
          </a:custGeom>
          <a:solidFill>
            <a:srgbClr val="D62839">
              <a:alpha val="3000"/>
            </a:srgbClr>
          </a:solidFill>
          <a:ln/>
        </p:spPr>
        <p:txBody>
          <a:bodyPr/>
          <a:lstStyle/>
          <a:p>
            <a:endParaRPr lang="en-US"/>
          </a:p>
        </p:txBody>
      </p:sp>
      <p:pic>
        <p:nvPicPr>
          <p:cNvPr id="6" name="Image 1" descr="preencoded.png"/>
          <p:cNvPicPr>
            <a:picLocks noChangeAspect="1"/>
          </p:cNvPicPr>
          <p:nvPr/>
        </p:nvPicPr>
        <p:blipFill>
          <a:blip r:embed="rId4"/>
          <a:srcRect l="-202" r="-202"/>
          <a:stretch/>
        </p:blipFill>
        <p:spPr>
          <a:xfrm>
            <a:off x="0" y="0"/>
            <a:ext cx="8128102" cy="75895"/>
          </a:xfrm>
          <a:prstGeom prst="rect">
            <a:avLst/>
          </a:prstGeom>
        </p:spPr>
      </p:pic>
      <p:pic>
        <p:nvPicPr>
          <p:cNvPr id="7" name="Image 2" descr="preencoded.png"/>
          <p:cNvPicPr>
            <a:picLocks noChangeAspect="1"/>
          </p:cNvPicPr>
          <p:nvPr/>
        </p:nvPicPr>
        <p:blipFill>
          <a:blip r:embed="rId5"/>
          <a:srcRect l="-197" r="-197"/>
          <a:stretch/>
        </p:blipFill>
        <p:spPr>
          <a:xfrm>
            <a:off x="8128102" y="0"/>
            <a:ext cx="4063594" cy="75895"/>
          </a:xfrm>
          <a:prstGeom prst="rect">
            <a:avLst/>
          </a:prstGeom>
        </p:spPr>
      </p:pic>
      <p:sp>
        <p:nvSpPr>
          <p:cNvPr id="8" name="Text 3"/>
          <p:cNvSpPr txBox="1"/>
          <p:nvPr/>
        </p:nvSpPr>
        <p:spPr>
          <a:xfrm>
            <a:off x="2774290" y="3881628"/>
            <a:ext cx="6648602" cy="267005"/>
          </a:xfrm>
          <a:prstGeom prst="rect">
            <a:avLst/>
          </a:prstGeom>
          <a:noFill/>
          <a:ln/>
        </p:spPr>
        <p:txBody>
          <a:bodyPr wrap="square" lIns="0" tIns="0" rIns="0" bIns="0" rtlCol="0" anchor="ctr"/>
          <a:lstStyle/>
          <a:p>
            <a:pPr marL="0" indent="0" algn="ctr">
              <a:buNone/>
            </a:pPr>
            <a:r>
              <a:rPr lang="en-US" sz="1500" b="1">
                <a:solidFill>
                  <a:srgbClr val="4B5563"/>
                </a:solidFill>
                <a:latin typeface="Roboto Condensed" pitchFamily="34" charset="0"/>
                <a:ea typeface="Roboto Condensed" pitchFamily="34" charset="-122"/>
                <a:cs typeface="Roboto Condensed" pitchFamily="34" charset="-120"/>
              </a:rPr>
              <a:t>BUSINESS DRIVERS| TECHNOLOGY ACCELERATORS | GAME CHANGERS</a:t>
            </a:r>
            <a:endParaRPr lang="en-US" sz="1200"/>
          </a:p>
        </p:txBody>
      </p:sp>
      <p:sp>
        <p:nvSpPr>
          <p:cNvPr id="9" name="Text 4"/>
          <p:cNvSpPr txBox="1"/>
          <p:nvPr/>
        </p:nvSpPr>
        <p:spPr>
          <a:xfrm>
            <a:off x="4153205" y="4262933"/>
            <a:ext cx="3893515" cy="305410"/>
          </a:xfrm>
          <a:prstGeom prst="rect">
            <a:avLst/>
          </a:prstGeom>
          <a:noFill/>
          <a:ln/>
        </p:spPr>
        <p:txBody>
          <a:bodyPr wrap="square" lIns="0" tIns="0" rIns="0" bIns="0" rtlCol="0" anchor="ctr"/>
          <a:lstStyle/>
          <a:p>
            <a:pPr marL="0" indent="0" algn="ctr">
              <a:buNone/>
            </a:pPr>
            <a:r>
              <a:rPr lang="en-US" sz="1800" i="1">
                <a:solidFill>
                  <a:srgbClr val="D62839"/>
                </a:solidFill>
                <a:latin typeface="Raleway" pitchFamily="34" charset="0"/>
                <a:ea typeface="Raleway" pitchFamily="34" charset="-122"/>
                <a:cs typeface="Raleway" pitchFamily="34" charset="-120"/>
              </a:rPr>
              <a:t>Energy. Excellence. Innovation.</a:t>
            </a:r>
            <a:endParaRPr lang="en-US" sz="1800"/>
          </a:p>
        </p:txBody>
      </p:sp>
      <p:pic>
        <p:nvPicPr>
          <p:cNvPr id="10" name="Image 3" descr="preencoded.png"/>
          <p:cNvPicPr>
            <a:picLocks noChangeAspect="1"/>
          </p:cNvPicPr>
          <p:nvPr/>
        </p:nvPicPr>
        <p:blipFill>
          <a:blip r:embed="rId6"/>
          <a:srcRect l="141" r="141"/>
          <a:stretch/>
        </p:blipFill>
        <p:spPr>
          <a:xfrm>
            <a:off x="4629607" y="447142"/>
            <a:ext cx="2933395" cy="1419149"/>
          </a:xfrm>
          <a:prstGeom prst="rect">
            <a:avLst/>
          </a:prstGeom>
        </p:spPr>
      </p:pic>
      <p:sp>
        <p:nvSpPr>
          <p:cNvPr id="11" name="Text 5"/>
          <p:cNvSpPr txBox="1"/>
          <p:nvPr/>
        </p:nvSpPr>
        <p:spPr>
          <a:xfrm>
            <a:off x="1287018" y="2262226"/>
            <a:ext cx="9475927" cy="1143000"/>
          </a:xfrm>
          <a:prstGeom prst="rect">
            <a:avLst/>
          </a:prstGeom>
          <a:noFill/>
          <a:ln/>
        </p:spPr>
        <p:txBody>
          <a:bodyPr wrap="square" lIns="0" tIns="0" rIns="0" bIns="0" rtlCol="0" anchor="ctr"/>
          <a:lstStyle/>
          <a:p>
            <a:pPr marL="0" indent="0" algn="ctr">
              <a:buNone/>
            </a:pPr>
            <a:r>
              <a:rPr lang="en-US" sz="3600" b="1" dirty="0">
                <a:solidFill>
                  <a:srgbClr val="1F2937"/>
                </a:solidFill>
                <a:latin typeface="Oswald" pitchFamily="34" charset="0"/>
                <a:ea typeface="Oswald" pitchFamily="34" charset="-122"/>
                <a:cs typeface="Oswald" pitchFamily="34" charset="-120"/>
              </a:rPr>
              <a:t> Building the Enterprise Operating Model​</a:t>
            </a:r>
          </a:p>
          <a:p>
            <a:pPr marL="0" indent="0" algn="ctr">
              <a:buNone/>
            </a:pPr>
            <a:r>
              <a:rPr lang="en-US" sz="3600" b="1" dirty="0">
                <a:solidFill>
                  <a:srgbClr val="1F2937"/>
                </a:solidFill>
                <a:latin typeface="Oswald" pitchFamily="34" charset="0"/>
                <a:ea typeface="Oswald" pitchFamily="34" charset="-122"/>
                <a:cs typeface="Oswald" pitchFamily="34" charset="-120"/>
              </a:rPr>
              <a:t>for the Next Decade​</a:t>
            </a:r>
          </a:p>
        </p:txBody>
      </p:sp>
      <p:pic>
        <p:nvPicPr>
          <p:cNvPr id="12" name="Image 4" descr="preencoded.png"/>
          <p:cNvPicPr>
            <a:picLocks noChangeAspect="1"/>
          </p:cNvPicPr>
          <p:nvPr/>
        </p:nvPicPr>
        <p:blipFill>
          <a:blip r:embed="rId7"/>
          <a:srcRect t="-400" b="-400"/>
          <a:stretch/>
        </p:blipFill>
        <p:spPr>
          <a:xfrm>
            <a:off x="5639105" y="3596335"/>
            <a:ext cx="914400" cy="57607"/>
          </a:xfrm>
          <a:prstGeom prst="rect">
            <a:avLst/>
          </a:prstGeom>
        </p:spPr>
      </p:pic>
      <p:sp>
        <p:nvSpPr>
          <p:cNvPr id="13" name="Shape 6"/>
          <p:cNvSpPr/>
          <p:nvPr/>
        </p:nvSpPr>
        <p:spPr>
          <a:xfrm>
            <a:off x="0" y="5238598"/>
            <a:ext cx="12191695" cy="1619402"/>
          </a:xfrm>
          <a:prstGeom prst="rect">
            <a:avLst/>
          </a:prstGeom>
          <a:solidFill>
            <a:srgbClr val="F9FAFB"/>
          </a:solidFill>
          <a:ln/>
        </p:spPr>
        <p:txBody>
          <a:bodyPr/>
          <a:lstStyle/>
          <a:p>
            <a:endParaRPr lang="en-US"/>
          </a:p>
        </p:txBody>
      </p:sp>
      <p:sp>
        <p:nvSpPr>
          <p:cNvPr id="14" name="Shape 7"/>
          <p:cNvSpPr/>
          <p:nvPr/>
        </p:nvSpPr>
        <p:spPr>
          <a:xfrm>
            <a:off x="0" y="5238598"/>
            <a:ext cx="12191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15" name="Shape 8"/>
          <p:cNvSpPr/>
          <p:nvPr/>
        </p:nvSpPr>
        <p:spPr>
          <a:xfrm>
            <a:off x="10201961" y="5362956"/>
            <a:ext cx="9144" cy="1380744"/>
          </a:xfrm>
          <a:prstGeom prst="rect">
            <a:avLst/>
          </a:prstGeom>
          <a:solidFill>
            <a:srgbClr val="D1D5DB"/>
          </a:solidFill>
          <a:ln w="12700">
            <a:solidFill>
              <a:srgbClr val="D1D5DB">
                <a:alpha val="0"/>
              </a:srgbClr>
            </a:solidFill>
            <a:prstDash val="solid"/>
          </a:ln>
        </p:spPr>
        <p:txBody>
          <a:bodyPr/>
          <a:lstStyle/>
          <a:p>
            <a:endParaRPr lang="en-US"/>
          </a:p>
        </p:txBody>
      </p:sp>
      <p:sp>
        <p:nvSpPr>
          <p:cNvPr id="16" name="Text 9"/>
          <p:cNvSpPr txBox="1"/>
          <p:nvPr/>
        </p:nvSpPr>
        <p:spPr>
          <a:xfrm>
            <a:off x="457200" y="5362956"/>
            <a:ext cx="9630461" cy="191110"/>
          </a:xfrm>
          <a:prstGeom prst="rect">
            <a:avLst/>
          </a:prstGeom>
          <a:noFill/>
          <a:ln/>
        </p:spPr>
        <p:txBody>
          <a:bodyPr wrap="squar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Trusted by:</a:t>
            </a:r>
            <a:endParaRPr lang="en-US" sz="1000"/>
          </a:p>
        </p:txBody>
      </p:sp>
      <p:sp>
        <p:nvSpPr>
          <p:cNvPr id="17" name="Shape 10"/>
          <p:cNvSpPr/>
          <p:nvPr/>
        </p:nvSpPr>
        <p:spPr>
          <a:xfrm>
            <a:off x="10362895" y="560527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18" name="Image 5" descr="preencoded.png"/>
          <p:cNvPicPr>
            <a:picLocks noChangeAspect="1"/>
          </p:cNvPicPr>
          <p:nvPr/>
        </p:nvPicPr>
        <p:blipFill>
          <a:blip r:embed="rId8"/>
          <a:srcRect/>
          <a:stretch/>
        </p:blipFill>
        <p:spPr>
          <a:xfrm>
            <a:off x="10577779" y="5672023"/>
            <a:ext cx="114300" cy="114300"/>
          </a:xfrm>
          <a:prstGeom prst="rect">
            <a:avLst/>
          </a:prstGeom>
        </p:spPr>
      </p:pic>
      <p:sp>
        <p:nvSpPr>
          <p:cNvPr id="19" name="Text 11"/>
          <p:cNvSpPr txBox="1"/>
          <p:nvPr/>
        </p:nvSpPr>
        <p:spPr>
          <a:xfrm>
            <a:off x="10767974" y="5605272"/>
            <a:ext cx="8101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ISO 9001:2015</a:t>
            </a:r>
            <a:endParaRPr lang="en-US" sz="900"/>
          </a:p>
        </p:txBody>
      </p:sp>
      <p:sp>
        <p:nvSpPr>
          <p:cNvPr id="20" name="Shape 12"/>
          <p:cNvSpPr/>
          <p:nvPr/>
        </p:nvSpPr>
        <p:spPr>
          <a:xfrm>
            <a:off x="10362895" y="5928970"/>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1" name="Image 6" descr="preencoded.png"/>
          <p:cNvPicPr>
            <a:picLocks noChangeAspect="1"/>
          </p:cNvPicPr>
          <p:nvPr/>
        </p:nvPicPr>
        <p:blipFill>
          <a:blip r:embed="rId9"/>
          <a:srcRect/>
          <a:stretch/>
        </p:blipFill>
        <p:spPr>
          <a:xfrm>
            <a:off x="10554919" y="5995721"/>
            <a:ext cx="114300" cy="114300"/>
          </a:xfrm>
          <a:prstGeom prst="rect">
            <a:avLst/>
          </a:prstGeom>
        </p:spPr>
      </p:pic>
      <p:sp>
        <p:nvSpPr>
          <p:cNvPr id="22" name="Text 13"/>
          <p:cNvSpPr txBox="1"/>
          <p:nvPr/>
        </p:nvSpPr>
        <p:spPr>
          <a:xfrm>
            <a:off x="10745114" y="5928970"/>
            <a:ext cx="857707"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CMMI Certified</a:t>
            </a:r>
            <a:endParaRPr lang="en-US" sz="900"/>
          </a:p>
        </p:txBody>
      </p:sp>
      <p:sp>
        <p:nvSpPr>
          <p:cNvPr id="23" name="Shape 14"/>
          <p:cNvSpPr/>
          <p:nvPr/>
        </p:nvSpPr>
        <p:spPr>
          <a:xfrm>
            <a:off x="10362895" y="625358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4" name="Image 7" descr="preencoded.png"/>
          <p:cNvPicPr>
            <a:picLocks noChangeAspect="1"/>
          </p:cNvPicPr>
          <p:nvPr/>
        </p:nvPicPr>
        <p:blipFill>
          <a:blip r:embed="rId10"/>
          <a:srcRect l="-133" r="-133"/>
          <a:stretch/>
        </p:blipFill>
        <p:spPr>
          <a:xfrm>
            <a:off x="10537546" y="6319418"/>
            <a:ext cx="85954" cy="114300"/>
          </a:xfrm>
          <a:prstGeom prst="rect">
            <a:avLst/>
          </a:prstGeom>
        </p:spPr>
      </p:pic>
      <p:sp>
        <p:nvSpPr>
          <p:cNvPr id="25" name="Text 15"/>
          <p:cNvSpPr txBox="1"/>
          <p:nvPr/>
        </p:nvSpPr>
        <p:spPr>
          <a:xfrm>
            <a:off x="10699394" y="6253582"/>
            <a:ext cx="9244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Women-Owned</a:t>
            </a:r>
            <a:endParaRPr lang="en-US" sz="900"/>
          </a:p>
        </p:txBody>
      </p:sp>
      <p:pic>
        <p:nvPicPr>
          <p:cNvPr id="26" name="Image 8" descr="preencoded.png"/>
          <p:cNvPicPr>
            <a:picLocks noChangeAspect="1"/>
          </p:cNvPicPr>
          <p:nvPr/>
        </p:nvPicPr>
        <p:blipFill>
          <a:blip r:embed="rId11">
            <a:alphaModFix amt="90000"/>
          </a:blip>
          <a:srcRect/>
          <a:stretch/>
        </p:blipFill>
        <p:spPr>
          <a:xfrm>
            <a:off x="457200" y="5700370"/>
            <a:ext cx="428854" cy="428854"/>
          </a:xfrm>
          <a:prstGeom prst="rect">
            <a:avLst/>
          </a:prstGeom>
        </p:spPr>
      </p:pic>
      <p:pic>
        <p:nvPicPr>
          <p:cNvPr id="27" name="Image 9" descr="preencoded.png"/>
          <p:cNvPicPr>
            <a:picLocks noChangeAspect="1"/>
          </p:cNvPicPr>
          <p:nvPr/>
        </p:nvPicPr>
        <p:blipFill>
          <a:blip r:embed="rId12">
            <a:alphaModFix amt="90000"/>
          </a:blip>
          <a:srcRect l="2016" r="2016"/>
          <a:stretch/>
        </p:blipFill>
        <p:spPr>
          <a:xfrm>
            <a:off x="1578254" y="5805526"/>
            <a:ext cx="1143000" cy="228600"/>
          </a:xfrm>
          <a:prstGeom prst="rect">
            <a:avLst/>
          </a:prstGeom>
        </p:spPr>
      </p:pic>
      <p:pic>
        <p:nvPicPr>
          <p:cNvPr id="28" name="Image 10" descr="preencoded.png"/>
          <p:cNvPicPr>
            <a:picLocks noChangeAspect="1"/>
          </p:cNvPicPr>
          <p:nvPr/>
        </p:nvPicPr>
        <p:blipFill>
          <a:blip r:embed="rId13">
            <a:alphaModFix amt="90000"/>
          </a:blip>
          <a:srcRect t="569" b="569"/>
          <a:stretch/>
        </p:blipFill>
        <p:spPr>
          <a:xfrm>
            <a:off x="3413455" y="5639105"/>
            <a:ext cx="838505" cy="552298"/>
          </a:xfrm>
          <a:prstGeom prst="rect">
            <a:avLst/>
          </a:prstGeom>
        </p:spPr>
      </p:pic>
      <p:pic>
        <p:nvPicPr>
          <p:cNvPr id="29" name="Image 11" descr="preencoded.png"/>
          <p:cNvPicPr>
            <a:picLocks noChangeAspect="1"/>
          </p:cNvPicPr>
          <p:nvPr/>
        </p:nvPicPr>
        <p:blipFill>
          <a:blip r:embed="rId14">
            <a:alphaModFix amt="90000"/>
          </a:blip>
          <a:srcRect t="563" b="563"/>
          <a:stretch/>
        </p:blipFill>
        <p:spPr>
          <a:xfrm>
            <a:off x="4935017" y="5648249"/>
            <a:ext cx="809244" cy="533095"/>
          </a:xfrm>
          <a:prstGeom prst="rect">
            <a:avLst/>
          </a:prstGeom>
        </p:spPr>
      </p:pic>
      <p:pic>
        <p:nvPicPr>
          <p:cNvPr id="30" name="Image 12" descr="preencoded.png"/>
          <p:cNvPicPr>
            <a:picLocks noChangeAspect="1"/>
          </p:cNvPicPr>
          <p:nvPr/>
        </p:nvPicPr>
        <p:blipFill>
          <a:blip r:embed="rId15">
            <a:alphaModFix amt="90000"/>
          </a:blip>
          <a:srcRect t="267" b="267"/>
          <a:stretch/>
        </p:blipFill>
        <p:spPr>
          <a:xfrm>
            <a:off x="6427318" y="5648249"/>
            <a:ext cx="952805" cy="533095"/>
          </a:xfrm>
          <a:prstGeom prst="rect">
            <a:avLst/>
          </a:prstGeom>
        </p:spPr>
      </p:pic>
      <p:pic>
        <p:nvPicPr>
          <p:cNvPr id="31" name="Image 13" descr="preencoded.png"/>
          <p:cNvPicPr>
            <a:picLocks noChangeAspect="1"/>
          </p:cNvPicPr>
          <p:nvPr/>
        </p:nvPicPr>
        <p:blipFill>
          <a:blip r:embed="rId16">
            <a:alphaModFix amt="90000"/>
          </a:blip>
          <a:srcRect/>
          <a:stretch/>
        </p:blipFill>
        <p:spPr>
          <a:xfrm>
            <a:off x="8067751" y="5662879"/>
            <a:ext cx="504749" cy="504749"/>
          </a:xfrm>
          <a:prstGeom prst="rect">
            <a:avLst/>
          </a:prstGeom>
        </p:spPr>
      </p:pic>
      <p:pic>
        <p:nvPicPr>
          <p:cNvPr id="32" name="Image 14" descr="preencoded.png"/>
          <p:cNvPicPr>
            <a:picLocks noChangeAspect="1"/>
          </p:cNvPicPr>
          <p:nvPr/>
        </p:nvPicPr>
        <p:blipFill>
          <a:blip r:embed="rId17">
            <a:alphaModFix amt="90000"/>
          </a:blip>
          <a:srcRect t="525" b="525"/>
          <a:stretch/>
        </p:blipFill>
        <p:spPr>
          <a:xfrm>
            <a:off x="9265615" y="5662879"/>
            <a:ext cx="714146" cy="504749"/>
          </a:xfrm>
          <a:prstGeom prst="rect">
            <a:avLst/>
          </a:prstGeom>
        </p:spPr>
      </p:pic>
      <p:pic>
        <p:nvPicPr>
          <p:cNvPr id="33" name="Image 15" descr="preencoded.png"/>
          <p:cNvPicPr>
            <a:picLocks noChangeAspect="1"/>
          </p:cNvPicPr>
          <p:nvPr/>
        </p:nvPicPr>
        <p:blipFill>
          <a:blip r:embed="rId18">
            <a:alphaModFix amt="90000"/>
          </a:blip>
          <a:srcRect l="688" r="688"/>
          <a:stretch/>
        </p:blipFill>
        <p:spPr>
          <a:xfrm>
            <a:off x="457200" y="6445606"/>
            <a:ext cx="1067105" cy="190195"/>
          </a:xfrm>
          <a:prstGeom prst="rect">
            <a:avLst/>
          </a:prstGeom>
        </p:spPr>
      </p:pic>
      <p:pic>
        <p:nvPicPr>
          <p:cNvPr id="34" name="Image 16" descr="preencoded.png"/>
          <p:cNvPicPr>
            <a:picLocks noChangeAspect="1"/>
          </p:cNvPicPr>
          <p:nvPr/>
        </p:nvPicPr>
        <p:blipFill>
          <a:blip r:embed="rId19">
            <a:alphaModFix amt="90000"/>
          </a:blip>
          <a:srcRect l="960" r="960"/>
          <a:stretch/>
        </p:blipFill>
        <p:spPr>
          <a:xfrm>
            <a:off x="2056486" y="6390742"/>
            <a:ext cx="1466698" cy="304495"/>
          </a:xfrm>
          <a:prstGeom prst="rect">
            <a:avLst/>
          </a:prstGeom>
        </p:spPr>
      </p:pic>
      <p:pic>
        <p:nvPicPr>
          <p:cNvPr id="35" name="Image 17" descr="preencoded.png"/>
          <p:cNvPicPr>
            <a:picLocks noChangeAspect="1"/>
          </p:cNvPicPr>
          <p:nvPr/>
        </p:nvPicPr>
        <p:blipFill>
          <a:blip r:embed="rId20">
            <a:alphaModFix amt="90000"/>
          </a:blip>
          <a:srcRect t="311" b="311"/>
          <a:stretch/>
        </p:blipFill>
        <p:spPr>
          <a:xfrm>
            <a:off x="4055364" y="6325819"/>
            <a:ext cx="828446" cy="428854"/>
          </a:xfrm>
          <a:prstGeom prst="rect">
            <a:avLst/>
          </a:prstGeom>
        </p:spPr>
      </p:pic>
      <p:pic>
        <p:nvPicPr>
          <p:cNvPr id="36" name="Image 18" descr="preencoded.png"/>
          <p:cNvPicPr>
            <a:picLocks noChangeAspect="1"/>
          </p:cNvPicPr>
          <p:nvPr/>
        </p:nvPicPr>
        <p:blipFill>
          <a:blip r:embed="rId21">
            <a:alphaModFix amt="90000"/>
          </a:blip>
          <a:srcRect t="385" b="385"/>
          <a:stretch/>
        </p:blipFill>
        <p:spPr>
          <a:xfrm>
            <a:off x="5410505" y="6325819"/>
            <a:ext cx="771754" cy="428854"/>
          </a:xfrm>
          <a:prstGeom prst="rect">
            <a:avLst/>
          </a:prstGeom>
        </p:spPr>
      </p:pic>
      <p:pic>
        <p:nvPicPr>
          <p:cNvPr id="37" name="Image 19" descr="preencoded.png"/>
          <p:cNvPicPr>
            <a:picLocks noChangeAspect="1"/>
          </p:cNvPicPr>
          <p:nvPr/>
        </p:nvPicPr>
        <p:blipFill>
          <a:blip r:embed="rId22">
            <a:alphaModFix amt="90000"/>
          </a:blip>
          <a:srcRect/>
          <a:stretch/>
        </p:blipFill>
        <p:spPr>
          <a:xfrm>
            <a:off x="6708038" y="6325819"/>
            <a:ext cx="428854" cy="428854"/>
          </a:xfrm>
          <a:prstGeom prst="rect">
            <a:avLst/>
          </a:prstGeom>
        </p:spPr>
      </p:pic>
      <p:pic>
        <p:nvPicPr>
          <p:cNvPr id="38" name="Image 20" descr="preencoded.png"/>
          <p:cNvPicPr>
            <a:picLocks noChangeAspect="1"/>
          </p:cNvPicPr>
          <p:nvPr/>
        </p:nvPicPr>
        <p:blipFill>
          <a:blip r:embed="rId23">
            <a:alphaModFix amt="90000"/>
          </a:blip>
          <a:srcRect t="77" b="77"/>
          <a:stretch/>
        </p:blipFill>
        <p:spPr>
          <a:xfrm>
            <a:off x="7669073" y="6368796"/>
            <a:ext cx="629107" cy="342900"/>
          </a:xfrm>
          <a:prstGeom prst="rect">
            <a:avLst/>
          </a:prstGeom>
        </p:spPr>
      </p:pic>
      <p:pic>
        <p:nvPicPr>
          <p:cNvPr id="39" name="Image 21" descr="preencoded.png"/>
          <p:cNvPicPr>
            <a:picLocks noChangeAspect="1"/>
          </p:cNvPicPr>
          <p:nvPr/>
        </p:nvPicPr>
        <p:blipFill>
          <a:blip r:embed="rId24">
            <a:alphaModFix amt="90000"/>
          </a:blip>
          <a:srcRect l="1712" r="1712"/>
          <a:stretch/>
        </p:blipFill>
        <p:spPr>
          <a:xfrm>
            <a:off x="8829446" y="6420002"/>
            <a:ext cx="1143000" cy="2478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8953805" y="-571500"/>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8000"/>
          </a:blip>
          <a:srcRect/>
          <a:stretch/>
        </p:blipFill>
        <p:spPr>
          <a:xfrm>
            <a:off x="-381305" y="3715207"/>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513893"/>
            <a:ext cx="57607" cy="476402"/>
          </a:xfrm>
          <a:prstGeom prst="rect">
            <a:avLst/>
          </a:prstGeom>
        </p:spPr>
      </p:pic>
      <p:sp>
        <p:nvSpPr>
          <p:cNvPr id="9" name="Shape 3"/>
          <p:cNvSpPr/>
          <p:nvPr/>
        </p:nvSpPr>
        <p:spPr>
          <a:xfrm>
            <a:off x="609905" y="1387090"/>
            <a:ext cx="10972190" cy="1450129"/>
          </a:xfrm>
          <a:prstGeom prst="roundRect">
            <a:avLst>
              <a:gd name="adj" fmla="val 2853"/>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387090"/>
            <a:ext cx="47549" cy="1450129"/>
          </a:xfrm>
          <a:prstGeom prst="roundRect">
            <a:avLst>
              <a:gd name="adj" fmla="val 132625"/>
            </a:avLst>
          </a:prstGeom>
          <a:solidFill>
            <a:srgbClr val="111827"/>
          </a:solidFill>
          <a:ln w="12700">
            <a:solidFill>
              <a:srgbClr val="111827">
                <a:alpha val="0"/>
              </a:srgbClr>
            </a:solidFill>
            <a:prstDash val="solid"/>
          </a:ln>
        </p:spPr>
        <p:txBody>
          <a:bodyPr/>
          <a:lstStyle/>
          <a:p>
            <a:endParaRPr lang="en-US"/>
          </a:p>
        </p:txBody>
      </p:sp>
      <p:sp>
        <p:nvSpPr>
          <p:cNvPr id="11" name="Shape 5"/>
          <p:cNvSpPr/>
          <p:nvPr/>
        </p:nvSpPr>
        <p:spPr>
          <a:xfrm>
            <a:off x="609905"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2" name="Shape 6"/>
          <p:cNvSpPr/>
          <p:nvPr/>
        </p:nvSpPr>
        <p:spPr>
          <a:xfrm>
            <a:off x="4343400"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3" name="Shape 7"/>
          <p:cNvSpPr/>
          <p:nvPr/>
        </p:nvSpPr>
        <p:spPr>
          <a:xfrm>
            <a:off x="8076895" y="32388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4" name="Shape 8"/>
          <p:cNvSpPr/>
          <p:nvPr/>
        </p:nvSpPr>
        <p:spPr>
          <a:xfrm>
            <a:off x="609905"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5" name="Shape 9"/>
          <p:cNvSpPr/>
          <p:nvPr/>
        </p:nvSpPr>
        <p:spPr>
          <a:xfrm>
            <a:off x="4343400"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6" name="Shape 10"/>
          <p:cNvSpPr/>
          <p:nvPr/>
        </p:nvSpPr>
        <p:spPr>
          <a:xfrm>
            <a:off x="8076895" y="49533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7" name="Text 11"/>
          <p:cNvSpPr txBox="1"/>
          <p:nvPr/>
        </p:nvSpPr>
        <p:spPr>
          <a:xfrm>
            <a:off x="819302" y="466344"/>
            <a:ext cx="3810305" cy="342900"/>
          </a:xfrm>
          <a:prstGeom prst="rect">
            <a:avLst/>
          </a:prstGeom>
          <a:noFill/>
          <a:ln/>
        </p:spPr>
        <p:txBody>
          <a:bodyPr wrap="none" lIns="0" tIns="0" rIns="0" bIns="0" rtlCol="0" anchor="ctr"/>
          <a:lstStyle/>
          <a:p>
            <a:pPr marL="0" indent="0" algn="l">
              <a:buNone/>
            </a:pPr>
            <a:r>
              <a:rPr lang="en-US" sz="2400" b="1" dirty="0">
                <a:solidFill>
                  <a:srgbClr val="111827"/>
                </a:solidFill>
                <a:latin typeface="Oswald" pitchFamily="34" charset="0"/>
                <a:ea typeface="Oswald" pitchFamily="34" charset="-122"/>
                <a:cs typeface="Oswald" pitchFamily="34" charset="-120"/>
              </a:rPr>
              <a:t>WHO WE ARE</a:t>
            </a:r>
            <a:endParaRPr lang="en-US" sz="2400" dirty="0"/>
          </a:p>
        </p:txBody>
      </p:sp>
      <p:sp>
        <p:nvSpPr>
          <p:cNvPr id="18" name="Text 12"/>
          <p:cNvSpPr txBox="1"/>
          <p:nvPr/>
        </p:nvSpPr>
        <p:spPr>
          <a:xfrm>
            <a:off x="819302" y="858622"/>
            <a:ext cx="4496105" cy="152705"/>
          </a:xfrm>
          <a:prstGeom prst="rect">
            <a:avLst/>
          </a:prstGeom>
          <a:noFill/>
          <a:ln/>
        </p:spPr>
        <p:txBody>
          <a:bodyPr wrap="none" lIns="0" tIns="0" rIns="0" bIns="0" rtlCol="0" anchor="ctr"/>
          <a:lstStyle/>
          <a:p>
            <a:pPr marL="0" indent="0" algn="l">
              <a:buNone/>
            </a:pPr>
            <a:r>
              <a:rPr lang="en-US" sz="1500" b="1" kern="0" spc="52" dirty="0">
                <a:solidFill>
                  <a:srgbClr val="2A9D8F"/>
                </a:solidFill>
                <a:latin typeface="Roboto Condensed" pitchFamily="34" charset="0"/>
                <a:ea typeface="Roboto Condensed" pitchFamily="34" charset="-122"/>
                <a:cs typeface="Roboto Condensed" pitchFamily="34" charset="-120"/>
              </a:rPr>
              <a:t>The AI-native GCC platform - a decade in the making</a:t>
            </a:r>
            <a:endParaRPr lang="en-US" sz="1500" dirty="0"/>
          </a:p>
        </p:txBody>
      </p:sp>
      <p:sp>
        <p:nvSpPr>
          <p:cNvPr id="19" name="Text 13"/>
          <p:cNvSpPr txBox="1"/>
          <p:nvPr/>
        </p:nvSpPr>
        <p:spPr>
          <a:xfrm>
            <a:off x="990295" y="1465380"/>
            <a:ext cx="6967162" cy="648310"/>
          </a:xfrm>
          <a:prstGeom prst="rect">
            <a:avLst/>
          </a:prstGeom>
          <a:noFill/>
          <a:ln/>
        </p:spPr>
        <p:txBody>
          <a:bodyPr wrap="square" lIns="0" tIns="0" rIns="0" bIns="0" rtlCol="0" anchor="ctr"/>
          <a:lstStyle/>
          <a:p>
            <a:pPr marL="0" indent="0" algn="l">
              <a:buNone/>
            </a:pPr>
            <a:r>
              <a:rPr lang="en-US" sz="1900" b="1" dirty="0">
                <a:solidFill>
                  <a:srgbClr val="111827"/>
                </a:solidFill>
                <a:latin typeface="Oswald" pitchFamily="34" charset="0"/>
                <a:ea typeface="Oswald" pitchFamily="34" charset="-122"/>
                <a:cs typeface="Oswald" pitchFamily="34" charset="-120"/>
              </a:rPr>
              <a:t>J2W is the AI-native GCC platform for the Fortune 1000 and beyond.</a:t>
            </a:r>
            <a:endParaRPr lang="en-US" sz="1900" dirty="0"/>
          </a:p>
        </p:txBody>
      </p:sp>
      <p:sp>
        <p:nvSpPr>
          <p:cNvPr id="20" name="Text 14"/>
          <p:cNvSpPr txBox="1"/>
          <p:nvPr/>
        </p:nvSpPr>
        <p:spPr>
          <a:xfrm>
            <a:off x="990294" y="1977901"/>
            <a:ext cx="9144915" cy="685800"/>
          </a:xfrm>
          <a:prstGeom prst="rect">
            <a:avLst/>
          </a:prstGeom>
          <a:noFill/>
          <a:ln/>
        </p:spPr>
        <p:txBody>
          <a:bodyPr wrap="square" lIns="0" tIns="0" rIns="0" bIns="0" rtlCol="0" anchor="ctr"/>
          <a:lstStyle/>
          <a:p>
            <a:pPr marL="0" indent="0" algn="l">
              <a:buNone/>
            </a:pPr>
            <a:r>
              <a:rPr lang="en-US" sz="1100" dirty="0">
                <a:solidFill>
                  <a:srgbClr val="4B5563"/>
                </a:solidFill>
                <a:latin typeface="Raleway" pitchFamily="34" charset="0"/>
                <a:ea typeface="Raleway" pitchFamily="34" charset="-122"/>
                <a:cs typeface="Raleway" pitchFamily="34" charset="-120"/>
              </a:rPr>
              <a:t>Ten years building nothing but GCCs - so we solve the next problem before it shows up, deliver ROI in weeks where the industry takes quarters, and turn the GCC from a cost line into an innovation engine.</a:t>
            </a:r>
            <a:endParaRPr lang="en-US" sz="1100" dirty="0"/>
          </a:p>
        </p:txBody>
      </p:sp>
      <p:pic>
        <p:nvPicPr>
          <p:cNvPr id="21" name="Image 4" descr="gen-dedup-3d17221e8cd76f10a3e0815681bf2023.png"/>
          <p:cNvPicPr>
            <a:picLocks noChangeAspect="1"/>
          </p:cNvPicPr>
          <p:nvPr/>
        </p:nvPicPr>
        <p:blipFill>
          <a:blip r:embed="rId7"/>
          <a:srcRect l="-400" r="-400"/>
          <a:stretch/>
        </p:blipFill>
        <p:spPr>
          <a:xfrm>
            <a:off x="800100" y="3476549"/>
            <a:ext cx="38405" cy="571500"/>
          </a:xfrm>
          <a:prstGeom prst="rect">
            <a:avLst/>
          </a:prstGeom>
        </p:spPr>
      </p:pic>
      <p:sp>
        <p:nvSpPr>
          <p:cNvPr id="22" name="Text 15"/>
          <p:cNvSpPr txBox="1"/>
          <p:nvPr/>
        </p:nvSpPr>
        <p:spPr>
          <a:xfrm>
            <a:off x="990295" y="3476549"/>
            <a:ext cx="1552651"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10+</a:t>
            </a:r>
            <a:endParaRPr lang="en-US" sz="3100" dirty="0"/>
          </a:p>
        </p:txBody>
      </p:sp>
      <p:sp>
        <p:nvSpPr>
          <p:cNvPr id="23" name="Text 16"/>
          <p:cNvSpPr txBox="1"/>
          <p:nvPr/>
        </p:nvSpPr>
        <p:spPr>
          <a:xfrm>
            <a:off x="990295" y="3993185"/>
            <a:ext cx="1848002"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Years GCC leadership</a:t>
            </a:r>
            <a:endParaRPr lang="en-US" sz="1200" dirty="0"/>
          </a:p>
        </p:txBody>
      </p:sp>
      <p:pic>
        <p:nvPicPr>
          <p:cNvPr id="24" name="Image 5" descr="gen-dedup-32cd67bc95385c5507b78533d3bab6e6.png"/>
          <p:cNvPicPr>
            <a:picLocks noChangeAspect="1"/>
          </p:cNvPicPr>
          <p:nvPr/>
        </p:nvPicPr>
        <p:blipFill>
          <a:blip r:embed="rId8"/>
          <a:srcRect l="-400" r="-400"/>
          <a:stretch/>
        </p:blipFill>
        <p:spPr>
          <a:xfrm>
            <a:off x="4533595" y="3476549"/>
            <a:ext cx="38405" cy="571500"/>
          </a:xfrm>
          <a:prstGeom prst="rect">
            <a:avLst/>
          </a:prstGeom>
        </p:spPr>
      </p:pic>
      <p:sp>
        <p:nvSpPr>
          <p:cNvPr id="25" name="Text 17"/>
          <p:cNvSpPr txBox="1"/>
          <p:nvPr/>
        </p:nvSpPr>
        <p:spPr>
          <a:xfrm>
            <a:off x="4724705" y="3476549"/>
            <a:ext cx="17913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320+</a:t>
            </a:r>
            <a:endParaRPr lang="en-US" sz="3100" dirty="0"/>
          </a:p>
        </p:txBody>
      </p:sp>
      <p:sp>
        <p:nvSpPr>
          <p:cNvPr id="26" name="Text 18"/>
          <p:cNvSpPr txBox="1"/>
          <p:nvPr/>
        </p:nvSpPr>
        <p:spPr>
          <a:xfrm>
            <a:off x="4724705" y="3993185"/>
            <a:ext cx="2131466"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Enterprise clients served</a:t>
            </a:r>
            <a:endParaRPr lang="en-US" sz="1200" dirty="0"/>
          </a:p>
        </p:txBody>
      </p:sp>
      <p:pic>
        <p:nvPicPr>
          <p:cNvPr id="27" name="Image 6" descr="gen-dedup-3d17221e8cd76f10a3e0815681bf2023.png"/>
          <p:cNvPicPr>
            <a:picLocks noChangeAspect="1"/>
          </p:cNvPicPr>
          <p:nvPr/>
        </p:nvPicPr>
        <p:blipFill>
          <a:blip r:embed="rId7"/>
          <a:srcRect l="-400" r="-400"/>
          <a:stretch/>
        </p:blipFill>
        <p:spPr>
          <a:xfrm>
            <a:off x="8268005" y="3476549"/>
            <a:ext cx="38405" cy="571500"/>
          </a:xfrm>
          <a:prstGeom prst="rect">
            <a:avLst/>
          </a:prstGeom>
        </p:spPr>
      </p:pic>
      <p:sp>
        <p:nvSpPr>
          <p:cNvPr id="28" name="Text 19"/>
          <p:cNvSpPr txBox="1"/>
          <p:nvPr/>
        </p:nvSpPr>
        <p:spPr>
          <a:xfrm>
            <a:off x="8458200" y="3476549"/>
            <a:ext cx="2524658"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300+</a:t>
            </a:r>
            <a:endParaRPr lang="en-US" sz="3100" dirty="0"/>
          </a:p>
        </p:txBody>
      </p:sp>
      <p:sp>
        <p:nvSpPr>
          <p:cNvPr id="29" name="Text 20"/>
          <p:cNvSpPr txBox="1"/>
          <p:nvPr/>
        </p:nvSpPr>
        <p:spPr>
          <a:xfrm>
            <a:off x="8458200" y="3993185"/>
            <a:ext cx="300380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GCCs built: greenfield &amp; brownfield</a:t>
            </a:r>
            <a:endParaRPr lang="en-US" sz="1200" dirty="0"/>
          </a:p>
        </p:txBody>
      </p:sp>
      <p:pic>
        <p:nvPicPr>
          <p:cNvPr id="30" name="Image 7" descr="gen-dedup-32cd67bc95385c5507b78533d3bab6e6.png"/>
          <p:cNvPicPr>
            <a:picLocks noChangeAspect="1"/>
          </p:cNvPicPr>
          <p:nvPr/>
        </p:nvPicPr>
        <p:blipFill>
          <a:blip r:embed="rId8"/>
          <a:srcRect l="-400" r="-400"/>
          <a:stretch/>
        </p:blipFill>
        <p:spPr>
          <a:xfrm>
            <a:off x="800100" y="5191049"/>
            <a:ext cx="38405" cy="571500"/>
          </a:xfrm>
          <a:prstGeom prst="rect">
            <a:avLst/>
          </a:prstGeom>
        </p:spPr>
      </p:pic>
      <p:sp>
        <p:nvSpPr>
          <p:cNvPr id="31" name="Text 21"/>
          <p:cNvSpPr txBox="1"/>
          <p:nvPr/>
        </p:nvSpPr>
        <p:spPr>
          <a:xfrm>
            <a:off x="990295"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5,500+</a:t>
            </a:r>
            <a:endParaRPr lang="en-US" sz="3100" dirty="0"/>
          </a:p>
        </p:txBody>
      </p:sp>
      <p:sp>
        <p:nvSpPr>
          <p:cNvPr id="32" name="Text 22"/>
          <p:cNvSpPr txBox="1"/>
          <p:nvPr/>
        </p:nvSpPr>
        <p:spPr>
          <a:xfrm>
            <a:off x="990295"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Industry &amp; tech experts</a:t>
            </a:r>
            <a:endParaRPr lang="en-US" sz="1200" dirty="0"/>
          </a:p>
        </p:txBody>
      </p:sp>
      <p:pic>
        <p:nvPicPr>
          <p:cNvPr id="33" name="Image 8" descr="gen-dedup-3d17221e8cd76f10a3e0815681bf2023.png"/>
          <p:cNvPicPr>
            <a:picLocks noChangeAspect="1"/>
          </p:cNvPicPr>
          <p:nvPr/>
        </p:nvPicPr>
        <p:blipFill>
          <a:blip r:embed="rId7"/>
          <a:srcRect l="-400" r="-400"/>
          <a:stretch/>
        </p:blipFill>
        <p:spPr>
          <a:xfrm>
            <a:off x="4533595" y="5191049"/>
            <a:ext cx="38405" cy="571500"/>
          </a:xfrm>
          <a:prstGeom prst="rect">
            <a:avLst/>
          </a:prstGeom>
        </p:spPr>
      </p:pic>
      <p:sp>
        <p:nvSpPr>
          <p:cNvPr id="34" name="Text 23"/>
          <p:cNvSpPr txBox="1"/>
          <p:nvPr/>
        </p:nvSpPr>
        <p:spPr>
          <a:xfrm>
            <a:off x="4724705" y="5191049"/>
            <a:ext cx="1705356"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8</a:t>
            </a:r>
            <a:endParaRPr lang="en-US" sz="3100" dirty="0"/>
          </a:p>
        </p:txBody>
      </p:sp>
      <p:sp>
        <p:nvSpPr>
          <p:cNvPr id="35" name="Text 24"/>
          <p:cNvSpPr txBox="1"/>
          <p:nvPr/>
        </p:nvSpPr>
        <p:spPr>
          <a:xfrm>
            <a:off x="4724705" y="5707685"/>
            <a:ext cx="202905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Countries with footprint</a:t>
            </a:r>
            <a:endParaRPr lang="en-US" sz="1200" dirty="0"/>
          </a:p>
        </p:txBody>
      </p:sp>
      <p:pic>
        <p:nvPicPr>
          <p:cNvPr id="36" name="Image 9" descr="gen-dedup-32cd67bc95385c5507b78533d3bab6e6.png"/>
          <p:cNvPicPr>
            <a:picLocks noChangeAspect="1"/>
          </p:cNvPicPr>
          <p:nvPr/>
        </p:nvPicPr>
        <p:blipFill>
          <a:blip r:embed="rId8"/>
          <a:srcRect l="-400" r="-400"/>
          <a:stretch/>
        </p:blipFill>
        <p:spPr>
          <a:xfrm>
            <a:off x="8268005" y="5191049"/>
            <a:ext cx="38405" cy="571500"/>
          </a:xfrm>
          <a:prstGeom prst="rect">
            <a:avLst/>
          </a:prstGeom>
        </p:spPr>
      </p:pic>
      <p:sp>
        <p:nvSpPr>
          <p:cNvPr id="37" name="Text 25"/>
          <p:cNvSpPr txBox="1"/>
          <p:nvPr/>
        </p:nvSpPr>
        <p:spPr>
          <a:xfrm>
            <a:off x="8458200"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60+</a:t>
            </a:r>
            <a:endParaRPr lang="en-US" sz="3100" dirty="0"/>
          </a:p>
        </p:txBody>
      </p:sp>
      <p:sp>
        <p:nvSpPr>
          <p:cNvPr id="38" name="Text 26"/>
          <p:cNvSpPr txBox="1"/>
          <p:nvPr/>
        </p:nvSpPr>
        <p:spPr>
          <a:xfrm>
            <a:off x="8458200"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AI-enabled capabilities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b81d2082573e6d8de64df87af639bbf0.png"/>
          <p:cNvPicPr>
            <a:picLocks noChangeAspect="1"/>
          </p:cNvPicPr>
          <p:nvPr/>
        </p:nvPicPr>
        <p:blipFill>
          <a:blip r:embed="rId6"/>
          <a:srcRect l="-360" r="-360"/>
          <a:stretch/>
        </p:blipFill>
        <p:spPr>
          <a:xfrm>
            <a:off x="609905" y="533095"/>
            <a:ext cx="57607" cy="381305"/>
          </a:xfrm>
          <a:prstGeom prst="rect">
            <a:avLst/>
          </a:prstGeom>
        </p:spPr>
      </p:pic>
      <p:sp>
        <p:nvSpPr>
          <p:cNvPr id="9" name="Text 3"/>
          <p:cNvSpPr txBox="1"/>
          <p:nvPr/>
        </p:nvSpPr>
        <p:spPr>
          <a:xfrm>
            <a:off x="819302" y="381305"/>
            <a:ext cx="3871570" cy="381305"/>
          </a:xfrm>
          <a:prstGeom prst="rect">
            <a:avLst/>
          </a:prstGeom>
          <a:noFill/>
          <a:ln/>
        </p:spPr>
        <p:txBody>
          <a:bodyPr wrap="none" lIns="0" tIns="0" rIns="0" bIns="0" rtlCol="0" anchor="ctr"/>
          <a:lstStyle/>
          <a:p>
            <a:pPr marL="0" indent="0" algn="l">
              <a:buNone/>
            </a:pPr>
            <a:r>
              <a:rPr lang="en-US" sz="2700" b="1" kern="0" spc="-67" dirty="0">
                <a:solidFill>
                  <a:srgbClr val="111827"/>
                </a:solidFill>
                <a:latin typeface="Oswald" pitchFamily="34" charset="0"/>
                <a:ea typeface="Oswald" pitchFamily="34" charset="-122"/>
                <a:cs typeface="Oswald" pitchFamily="34" charset="-120"/>
              </a:rPr>
              <a:t>WHAT WE OFFER</a:t>
            </a:r>
            <a:endParaRPr lang="en-US" sz="2700" dirty="0"/>
          </a:p>
        </p:txBody>
      </p:sp>
      <p:sp>
        <p:nvSpPr>
          <p:cNvPr id="10" name="Text 4"/>
          <p:cNvSpPr txBox="1"/>
          <p:nvPr/>
        </p:nvSpPr>
        <p:spPr>
          <a:xfrm>
            <a:off x="819302" y="800100"/>
            <a:ext cx="4189781" cy="267005"/>
          </a:xfrm>
          <a:prstGeom prst="rect">
            <a:avLst/>
          </a:prstGeom>
          <a:noFill/>
          <a:ln/>
        </p:spPr>
        <p:txBody>
          <a:bodyPr wrap="none" lIns="0" tIns="0" rIns="0" bIns="0" rtlCol="0" anchor="ctr"/>
          <a:lstStyle/>
          <a:p>
            <a:pPr marL="0" indent="0" algn="l">
              <a:buNone/>
            </a:pPr>
            <a:r>
              <a:rPr lang="en-US" sz="1500" b="1" kern="0" spc="75" dirty="0">
                <a:solidFill>
                  <a:srgbClr val="2A9D8F"/>
                </a:solidFill>
                <a:latin typeface="Roboto Condensed" pitchFamily="34" charset="0"/>
                <a:ea typeface="Roboto Condensed" pitchFamily="34" charset="-122"/>
                <a:cs typeface="Roboto Condensed" pitchFamily="34" charset="-120"/>
              </a:rPr>
              <a:t>THREE INTERLOCKING REVENUE ENGINES</a:t>
            </a:r>
            <a:endParaRPr lang="en-US" sz="1500" dirty="0"/>
          </a:p>
        </p:txBody>
      </p:sp>
      <p:sp>
        <p:nvSpPr>
          <p:cNvPr id="11" name="Shape 5"/>
          <p:cNvSpPr/>
          <p:nvPr/>
        </p:nvSpPr>
        <p:spPr>
          <a:xfrm>
            <a:off x="60990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dirty="0"/>
          </a:p>
        </p:txBody>
      </p:sp>
      <p:sp>
        <p:nvSpPr>
          <p:cNvPr id="12" name="Shape 6"/>
          <p:cNvSpPr/>
          <p:nvPr/>
        </p:nvSpPr>
        <p:spPr>
          <a:xfrm>
            <a:off x="619049"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13" name="Text 7"/>
          <p:cNvSpPr txBox="1"/>
          <p:nvPr/>
        </p:nvSpPr>
        <p:spPr>
          <a:xfrm>
            <a:off x="1411834" y="2033626"/>
            <a:ext cx="173461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Workforce Solutions</a:t>
            </a:r>
            <a:endParaRPr lang="en-US" sz="1500" dirty="0"/>
          </a:p>
        </p:txBody>
      </p:sp>
      <p:sp>
        <p:nvSpPr>
          <p:cNvPr id="14" name="Text 8"/>
          <p:cNvSpPr txBox="1"/>
          <p:nvPr/>
        </p:nvSpPr>
        <p:spPr>
          <a:xfrm>
            <a:off x="819302" y="2691079"/>
            <a:ext cx="2934310" cy="300106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Domain-deep engineers - not generic coders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Verticals: IT and Cloud Computing · BFSI · more </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Deployed in 10 days or less </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Pod governance + sprint accountability</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Contract-to-hire flexibility</a:t>
            </a:r>
            <a:endParaRPr lang="en-US" sz="1400" dirty="0"/>
          </a:p>
        </p:txBody>
      </p:sp>
      <p:sp>
        <p:nvSpPr>
          <p:cNvPr id="21" name="Text 15"/>
          <p:cNvSpPr txBox="1"/>
          <p:nvPr/>
        </p:nvSpPr>
        <p:spPr>
          <a:xfrm>
            <a:off x="2116836" y="1652321"/>
            <a:ext cx="329184"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01</a:t>
            </a:r>
            <a:endParaRPr lang="en-US" sz="2200" dirty="0"/>
          </a:p>
        </p:txBody>
      </p:sp>
      <p:sp>
        <p:nvSpPr>
          <p:cNvPr id="22" name="Text 16"/>
          <p:cNvSpPr txBox="1"/>
          <p:nvPr/>
        </p:nvSpPr>
        <p:spPr>
          <a:xfrm>
            <a:off x="1570025" y="2309774"/>
            <a:ext cx="1420978"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Volume Engine</a:t>
            </a:r>
            <a:endParaRPr lang="en-US" sz="900" dirty="0"/>
          </a:p>
        </p:txBody>
      </p:sp>
      <p:sp>
        <p:nvSpPr>
          <p:cNvPr id="23" name="Shape 17"/>
          <p:cNvSpPr/>
          <p:nvPr/>
        </p:nvSpPr>
        <p:spPr>
          <a:xfrm>
            <a:off x="441929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24" name="Shape 18"/>
          <p:cNvSpPr/>
          <p:nvPr/>
        </p:nvSpPr>
        <p:spPr>
          <a:xfrm>
            <a:off x="4429354" y="1533449"/>
            <a:ext cx="3314700" cy="1047902"/>
          </a:xfrm>
          <a:prstGeom prst="rect">
            <a:avLst/>
          </a:prstGeom>
          <a:solidFill>
            <a:srgbClr val="D62839"/>
          </a:solidFill>
          <a:ln w="12700">
            <a:solidFill>
              <a:srgbClr val="FFFFFF">
                <a:alpha val="0"/>
              </a:srgbClr>
            </a:solidFill>
            <a:prstDash val="solid"/>
          </a:ln>
        </p:spPr>
        <p:txBody>
          <a:bodyPr/>
          <a:lstStyle/>
          <a:p>
            <a:endParaRPr lang="en-US"/>
          </a:p>
        </p:txBody>
      </p:sp>
      <p:sp>
        <p:nvSpPr>
          <p:cNvPr id="25" name="Text 19"/>
          <p:cNvSpPr txBox="1"/>
          <p:nvPr/>
        </p:nvSpPr>
        <p:spPr>
          <a:xfrm>
            <a:off x="5386730" y="2033626"/>
            <a:ext cx="140634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AI Pods</a:t>
            </a:r>
            <a:endParaRPr lang="en-US" sz="1500" dirty="0"/>
          </a:p>
        </p:txBody>
      </p:sp>
      <p:sp>
        <p:nvSpPr>
          <p:cNvPr id="26" name="Text 20"/>
          <p:cNvSpPr txBox="1"/>
          <p:nvPr/>
        </p:nvSpPr>
        <p:spPr>
          <a:xfrm>
            <a:off x="4619549" y="4204760"/>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AI-first engineering pods, embedded tech lead</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Every engineer AI-certified before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J2W AI Labs - continuous monthly upskilling</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AI-assisted code, test &amp; docs from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Compounding productivity, not static seats</a:t>
            </a:r>
            <a:endParaRPr lang="en-US" sz="1400" dirty="0"/>
          </a:p>
        </p:txBody>
      </p:sp>
      <p:sp>
        <p:nvSpPr>
          <p:cNvPr id="33" name="Text 27"/>
          <p:cNvSpPr txBox="1"/>
          <p:nvPr/>
        </p:nvSpPr>
        <p:spPr>
          <a:xfrm>
            <a:off x="5905195"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02</a:t>
            </a:r>
            <a:endParaRPr lang="en-US" sz="2200" dirty="0"/>
          </a:p>
        </p:txBody>
      </p:sp>
      <p:sp>
        <p:nvSpPr>
          <p:cNvPr id="34" name="Text 28"/>
          <p:cNvSpPr txBox="1"/>
          <p:nvPr/>
        </p:nvSpPr>
        <p:spPr>
          <a:xfrm>
            <a:off x="5079492" y="2309774"/>
            <a:ext cx="2018081"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Margin Expansion Engine</a:t>
            </a:r>
            <a:endParaRPr lang="en-US" sz="900" dirty="0"/>
          </a:p>
        </p:txBody>
      </p:sp>
      <p:sp>
        <p:nvSpPr>
          <p:cNvPr id="35" name="Shape 29"/>
          <p:cNvSpPr/>
          <p:nvPr/>
        </p:nvSpPr>
        <p:spPr>
          <a:xfrm>
            <a:off x="8229600"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36" name="Shape 30"/>
          <p:cNvSpPr/>
          <p:nvPr/>
        </p:nvSpPr>
        <p:spPr>
          <a:xfrm>
            <a:off x="8238744"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37" name="Text 31"/>
          <p:cNvSpPr txBox="1"/>
          <p:nvPr/>
        </p:nvSpPr>
        <p:spPr>
          <a:xfrm>
            <a:off x="8685886" y="2033626"/>
            <a:ext cx="2425903"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Managed Service Solutions</a:t>
            </a:r>
            <a:endParaRPr lang="en-US" sz="1500" dirty="0"/>
          </a:p>
        </p:txBody>
      </p:sp>
      <p:sp>
        <p:nvSpPr>
          <p:cNvPr id="38" name="Text 32"/>
          <p:cNvSpPr txBox="1"/>
          <p:nvPr/>
        </p:nvSpPr>
        <p:spPr>
          <a:xfrm>
            <a:off x="8429854" y="4158691"/>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Dedicated pods owning outcomes, not tasks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Operate to outcome-bound SLOs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60+ pre-built solution accelerators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On SAP, ServiceNow &amp; industry stacks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40% improvement threshold - our standard</a:t>
            </a:r>
            <a:endParaRPr lang="en-US" sz="1400" dirty="0"/>
          </a:p>
        </p:txBody>
      </p:sp>
      <p:sp>
        <p:nvSpPr>
          <p:cNvPr id="45" name="Text 39"/>
          <p:cNvSpPr txBox="1"/>
          <p:nvPr/>
        </p:nvSpPr>
        <p:spPr>
          <a:xfrm>
            <a:off x="9715500"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03</a:t>
            </a:r>
            <a:endParaRPr lang="en-US" sz="2200" dirty="0"/>
          </a:p>
        </p:txBody>
      </p:sp>
      <p:sp>
        <p:nvSpPr>
          <p:cNvPr id="46" name="Text 40"/>
          <p:cNvSpPr txBox="1"/>
          <p:nvPr/>
        </p:nvSpPr>
        <p:spPr>
          <a:xfrm>
            <a:off x="8956548" y="2309774"/>
            <a:ext cx="1881835"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Strategic Value Engine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198" r="-198"/>
          <a:stretch/>
        </p:blipFill>
        <p:spPr>
          <a:xfrm>
            <a:off x="0" y="0"/>
            <a:ext cx="8124444" cy="75895"/>
          </a:xfrm>
          <a:prstGeom prst="rect">
            <a:avLst/>
          </a:prstGeom>
        </p:spPr>
      </p:pic>
      <p:pic>
        <p:nvPicPr>
          <p:cNvPr id="5" name="Image 1" descr="gen-dedup-9663ecf744b06e35d4c2cebaab92a2ea.png"/>
          <p:cNvPicPr>
            <a:picLocks noChangeAspect="1"/>
          </p:cNvPicPr>
          <p:nvPr/>
        </p:nvPicPr>
        <p:blipFill>
          <a:blip r:embed="rId4"/>
          <a:srcRect l="-202" r="-202"/>
          <a:stretch/>
        </p:blipFill>
        <p:spPr>
          <a:xfrm>
            <a:off x="8124444" y="0"/>
            <a:ext cx="4067251" cy="75895"/>
          </a:xfrm>
          <a:prstGeom prst="rect">
            <a:avLst/>
          </a:prstGeom>
        </p:spPr>
      </p:pic>
      <p:sp>
        <p:nvSpPr>
          <p:cNvPr id="6" name="Shape 2"/>
          <p:cNvSpPr/>
          <p:nvPr/>
        </p:nvSpPr>
        <p:spPr>
          <a:xfrm>
            <a:off x="9525305" y="4762195"/>
            <a:ext cx="3810305" cy="3810305"/>
          </a:xfrm>
          <a:prstGeom prst="ellipse">
            <a:avLst/>
          </a:prstGeom>
          <a:noFill/>
          <a:ln w="508000">
            <a:solidFill>
              <a:srgbClr val="D62839">
                <a:alpha val="3000"/>
              </a:srgbClr>
            </a:solidFill>
            <a:prstDash val="solid"/>
          </a:ln>
        </p:spPr>
        <p:txBody>
          <a:bodyPr/>
          <a:lstStyle/>
          <a:p>
            <a:endParaRPr lang="en-US"/>
          </a:p>
        </p:txBody>
      </p:sp>
      <p:pic>
        <p:nvPicPr>
          <p:cNvPr id="7" name="Image 2" descr="gen-dedup-b81d2082573e6d8de64df87af639bbf0.png"/>
          <p:cNvPicPr>
            <a:picLocks noChangeAspect="1"/>
          </p:cNvPicPr>
          <p:nvPr/>
        </p:nvPicPr>
        <p:blipFill>
          <a:blip r:embed="rId5"/>
          <a:srcRect l="-360" r="-360"/>
          <a:stretch/>
        </p:blipFill>
        <p:spPr>
          <a:xfrm>
            <a:off x="609905" y="381305"/>
            <a:ext cx="57607" cy="381305"/>
          </a:xfrm>
          <a:prstGeom prst="rect">
            <a:avLst/>
          </a:prstGeom>
        </p:spPr>
      </p:pic>
      <p:sp>
        <p:nvSpPr>
          <p:cNvPr id="8" name="Shape 3"/>
          <p:cNvSpPr/>
          <p:nvPr/>
        </p:nvSpPr>
        <p:spPr>
          <a:xfrm>
            <a:off x="6099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4"/>
          <p:cNvSpPr/>
          <p:nvPr/>
        </p:nvSpPr>
        <p:spPr>
          <a:xfrm>
            <a:off x="60990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3429000"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1" name="Shape 6"/>
          <p:cNvSpPr/>
          <p:nvPr/>
        </p:nvSpPr>
        <p:spPr>
          <a:xfrm>
            <a:off x="3429000"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24809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3" name="Shape 8"/>
          <p:cNvSpPr/>
          <p:nvPr/>
        </p:nvSpPr>
        <p:spPr>
          <a:xfrm>
            <a:off x="624809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90681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5" name="Shape 10"/>
          <p:cNvSpPr/>
          <p:nvPr/>
        </p:nvSpPr>
        <p:spPr>
          <a:xfrm>
            <a:off x="9068105"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pic>
        <p:nvPicPr>
          <p:cNvPr id="16" name="Image 3" descr="gen-dedup-c79c8869390c39dd2ec5734755e72ead.png"/>
          <p:cNvPicPr>
            <a:picLocks noChangeAspect="1"/>
          </p:cNvPicPr>
          <p:nvPr/>
        </p:nvPicPr>
        <p:blipFill>
          <a:blip r:embed="rId6"/>
          <a:srcRect l="-2083" r="-2083"/>
          <a:stretch/>
        </p:blipFill>
        <p:spPr>
          <a:xfrm>
            <a:off x="609905" y="5715000"/>
            <a:ext cx="11011205" cy="9144"/>
          </a:xfrm>
          <a:prstGeom prst="rect">
            <a:avLst/>
          </a:prstGeom>
        </p:spPr>
      </p:pic>
      <p:sp>
        <p:nvSpPr>
          <p:cNvPr id="17" name="Shape 11"/>
          <p:cNvSpPr/>
          <p:nvPr/>
        </p:nvSpPr>
        <p:spPr>
          <a:xfrm>
            <a:off x="609905" y="5905195"/>
            <a:ext cx="11058754" cy="685800"/>
          </a:xfrm>
          <a:prstGeom prst="roundRect">
            <a:avLst>
              <a:gd name="adj" fmla="val 29630"/>
            </a:avLst>
          </a:prstGeom>
          <a:solidFill>
            <a:srgbClr val="2A9D8F">
              <a:alpha val="5000"/>
            </a:srgbClr>
          </a:solidFill>
          <a:ln w="12700">
            <a:solidFill>
              <a:srgbClr val="E5E7EB"/>
            </a:solidFill>
            <a:prstDash val="solid"/>
          </a:ln>
        </p:spPr>
        <p:txBody>
          <a:bodyPr/>
          <a:lstStyle/>
          <a:p>
            <a:endParaRPr lang="en-US"/>
          </a:p>
        </p:txBody>
      </p:sp>
      <p:sp>
        <p:nvSpPr>
          <p:cNvPr id="18" name="Shape 12"/>
          <p:cNvSpPr/>
          <p:nvPr/>
        </p:nvSpPr>
        <p:spPr>
          <a:xfrm>
            <a:off x="609905" y="5905195"/>
            <a:ext cx="38405" cy="685800"/>
          </a:xfrm>
          <a:prstGeom prst="roundRect">
            <a:avLst>
              <a:gd name="adj" fmla="val 529098"/>
            </a:avLst>
          </a:prstGeom>
          <a:solidFill>
            <a:srgbClr val="2A9D8F"/>
          </a:solidFill>
          <a:ln w="12700">
            <a:solidFill>
              <a:srgbClr val="2A9D8F">
                <a:alpha val="0"/>
              </a:srgbClr>
            </a:solidFill>
            <a:prstDash val="solid"/>
          </a:ln>
        </p:spPr>
        <p:txBody>
          <a:bodyPr/>
          <a:lstStyle/>
          <a:p>
            <a:endParaRPr lang="en-US"/>
          </a:p>
        </p:txBody>
      </p:sp>
      <p:pic>
        <p:nvPicPr>
          <p:cNvPr id="19" name="Image 4" descr="gen-dedup-1bf8b7c2ed0132a588bc6493359d36f7.png"/>
          <p:cNvPicPr>
            <a:picLocks noChangeAspect="1"/>
          </p:cNvPicPr>
          <p:nvPr/>
        </p:nvPicPr>
        <p:blipFill>
          <a:blip r:embed="rId7"/>
          <a:srcRect/>
          <a:stretch/>
        </p:blipFill>
        <p:spPr>
          <a:xfrm>
            <a:off x="3157460" y="3543605"/>
            <a:ext cx="323698" cy="323698"/>
          </a:xfrm>
          <a:prstGeom prst="rect">
            <a:avLst/>
          </a:prstGeom>
        </p:spPr>
      </p:pic>
      <p:pic>
        <p:nvPicPr>
          <p:cNvPr id="20" name="Image 5" descr="gen-dedup-4f3b576989a6b43ea9ecd09ca0f289b1.png"/>
          <p:cNvPicPr>
            <a:picLocks noChangeAspect="1"/>
          </p:cNvPicPr>
          <p:nvPr/>
        </p:nvPicPr>
        <p:blipFill>
          <a:blip r:embed="rId8"/>
          <a:srcRect t="-5544" b="-5544"/>
          <a:stretch/>
        </p:blipFill>
        <p:spPr>
          <a:xfrm>
            <a:off x="3266274" y="3638702"/>
            <a:ext cx="105156" cy="133502"/>
          </a:xfrm>
          <a:prstGeom prst="rect">
            <a:avLst/>
          </a:prstGeom>
        </p:spPr>
      </p:pic>
      <p:pic>
        <p:nvPicPr>
          <p:cNvPr id="21" name="Image 6" descr="gen-dedup-1bf8b7c2ed0132a588bc6493359d36f7.png"/>
          <p:cNvPicPr>
            <a:picLocks noChangeAspect="1"/>
          </p:cNvPicPr>
          <p:nvPr/>
        </p:nvPicPr>
        <p:blipFill>
          <a:blip r:embed="rId7"/>
          <a:srcRect/>
          <a:stretch/>
        </p:blipFill>
        <p:spPr>
          <a:xfrm>
            <a:off x="5976555" y="3543605"/>
            <a:ext cx="323698" cy="323698"/>
          </a:xfrm>
          <a:prstGeom prst="rect">
            <a:avLst/>
          </a:prstGeom>
        </p:spPr>
      </p:pic>
      <p:pic>
        <p:nvPicPr>
          <p:cNvPr id="22" name="Image 7" descr="gen-dedup-4f3b576989a6b43ea9ecd09ca0f289b1.png"/>
          <p:cNvPicPr>
            <a:picLocks noChangeAspect="1"/>
          </p:cNvPicPr>
          <p:nvPr/>
        </p:nvPicPr>
        <p:blipFill>
          <a:blip r:embed="rId8"/>
          <a:srcRect t="-5544" b="-5544"/>
          <a:stretch/>
        </p:blipFill>
        <p:spPr>
          <a:xfrm>
            <a:off x="6086283" y="3638702"/>
            <a:ext cx="105156" cy="133502"/>
          </a:xfrm>
          <a:prstGeom prst="rect">
            <a:avLst/>
          </a:prstGeom>
        </p:spPr>
      </p:pic>
      <p:pic>
        <p:nvPicPr>
          <p:cNvPr id="23" name="Image 8" descr="gen-dedup-1bf8b7c2ed0132a588bc6493359d36f7.png"/>
          <p:cNvPicPr>
            <a:picLocks noChangeAspect="1"/>
          </p:cNvPicPr>
          <p:nvPr/>
        </p:nvPicPr>
        <p:blipFill>
          <a:blip r:embed="rId7"/>
          <a:srcRect/>
          <a:stretch/>
        </p:blipFill>
        <p:spPr>
          <a:xfrm>
            <a:off x="8795651" y="3543605"/>
            <a:ext cx="323698" cy="323698"/>
          </a:xfrm>
          <a:prstGeom prst="rect">
            <a:avLst/>
          </a:prstGeom>
        </p:spPr>
      </p:pic>
      <p:pic>
        <p:nvPicPr>
          <p:cNvPr id="24" name="Image 9" descr="gen-dedup-4f3b576989a6b43ea9ecd09ca0f289b1.png"/>
          <p:cNvPicPr>
            <a:picLocks noChangeAspect="1"/>
          </p:cNvPicPr>
          <p:nvPr/>
        </p:nvPicPr>
        <p:blipFill>
          <a:blip r:embed="rId8"/>
          <a:srcRect t="-5544" b="-5544"/>
          <a:stretch/>
        </p:blipFill>
        <p:spPr>
          <a:xfrm>
            <a:off x="8905379" y="3638702"/>
            <a:ext cx="105156" cy="133502"/>
          </a:xfrm>
          <a:prstGeom prst="rect">
            <a:avLst/>
          </a:prstGeom>
        </p:spPr>
      </p:pic>
      <p:sp>
        <p:nvSpPr>
          <p:cNvPr id="25" name="Text 13"/>
          <p:cNvSpPr txBox="1"/>
          <p:nvPr/>
        </p:nvSpPr>
        <p:spPr>
          <a:xfrm>
            <a:off x="819302" y="304495"/>
            <a:ext cx="10478110" cy="419710"/>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THE J2W OPERATING MODEL</a:t>
            </a:r>
            <a:endParaRPr lang="en-US" sz="2700" dirty="0"/>
          </a:p>
        </p:txBody>
      </p:sp>
      <p:sp>
        <p:nvSpPr>
          <p:cNvPr id="26" name="Text 14"/>
          <p:cNvSpPr txBox="1"/>
          <p:nvPr/>
        </p:nvSpPr>
        <p:spPr>
          <a:xfrm>
            <a:off x="819302" y="792785"/>
            <a:ext cx="10478110" cy="181051"/>
          </a:xfrm>
          <a:prstGeom prst="rect">
            <a:avLst/>
          </a:prstGeom>
          <a:noFill/>
          <a:ln/>
        </p:spPr>
        <p:txBody>
          <a:bodyPr wrap="none" lIns="0" tIns="0" rIns="0" bIns="0" rtlCol="0" anchor="ctr"/>
          <a:lstStyle/>
          <a:p>
            <a:pPr marL="0" indent="0" algn="l">
              <a:buNone/>
            </a:pPr>
            <a:r>
              <a:rPr lang="en-US" sz="1500" dirty="0">
                <a:solidFill>
                  <a:srgbClr val="4B5563"/>
                </a:solidFill>
                <a:latin typeface="Raleway" pitchFamily="34" charset="0"/>
                <a:ea typeface="Raleway" pitchFamily="34" charset="-122"/>
                <a:cs typeface="Raleway" pitchFamily="34" charset="-120"/>
              </a:rPr>
              <a:t>We don't just deploy - we embed, align, and deliver measurable outcomes.</a:t>
            </a:r>
            <a:endParaRPr lang="en-US" sz="1500" dirty="0"/>
          </a:p>
        </p:txBody>
      </p:sp>
      <p:sp>
        <p:nvSpPr>
          <p:cNvPr id="27" name="Shape 15"/>
          <p:cNvSpPr/>
          <p:nvPr/>
        </p:nvSpPr>
        <p:spPr>
          <a:xfrm>
            <a:off x="163860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28" name="Image 10" descr="gen-dedup-ac1977dfe20a87d93b03eab8a85600aa.png"/>
          <p:cNvPicPr>
            <a:picLocks noChangeAspect="1"/>
          </p:cNvPicPr>
          <p:nvPr/>
        </p:nvPicPr>
        <p:blipFill>
          <a:blip r:embed="rId9"/>
          <a:srcRect t="-13131" b="-13131"/>
          <a:stretch/>
        </p:blipFill>
        <p:spPr>
          <a:xfrm>
            <a:off x="1814170" y="1971446"/>
            <a:ext cx="181051" cy="228600"/>
          </a:xfrm>
          <a:prstGeom prst="rect">
            <a:avLst/>
          </a:prstGeom>
        </p:spPr>
      </p:pic>
      <p:sp>
        <p:nvSpPr>
          <p:cNvPr id="29" name="Text 16"/>
          <p:cNvSpPr txBox="1"/>
          <p:nvPr/>
        </p:nvSpPr>
        <p:spPr>
          <a:xfrm>
            <a:off x="7050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Embed.</a:t>
            </a:r>
            <a:endParaRPr lang="en-US" sz="2000" dirty="0"/>
          </a:p>
        </p:txBody>
      </p:sp>
      <p:sp>
        <p:nvSpPr>
          <p:cNvPr id="30" name="Text 17"/>
          <p:cNvSpPr txBox="1"/>
          <p:nvPr/>
        </p:nvSpPr>
        <p:spPr>
          <a:xfrm>
            <a:off x="705002"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Days 1–14</a:t>
            </a:r>
            <a:endParaRPr lang="en-US" sz="1300" dirty="0"/>
          </a:p>
        </p:txBody>
      </p:sp>
      <p:sp>
        <p:nvSpPr>
          <p:cNvPr id="31" name="Text 18"/>
          <p:cNvSpPr txBox="1"/>
          <p:nvPr/>
        </p:nvSpPr>
        <p:spPr>
          <a:xfrm>
            <a:off x="705002" y="3018434"/>
            <a:ext cx="2309775" cy="1743761"/>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map your stakeholder reality before touching a single workflow — identifying the 80% we move within and the 20% that unlocks transformation.</a:t>
            </a:r>
            <a:endParaRPr lang="en-US" sz="1200" dirty="0"/>
          </a:p>
        </p:txBody>
      </p:sp>
      <p:sp>
        <p:nvSpPr>
          <p:cNvPr id="32" name="Text 19"/>
          <p:cNvSpPr txBox="1"/>
          <p:nvPr/>
        </p:nvSpPr>
        <p:spPr>
          <a:xfrm>
            <a:off x="2409444" y="1687137"/>
            <a:ext cx="601675"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01</a:t>
            </a:r>
            <a:endParaRPr lang="en-US" sz="3600" dirty="0"/>
          </a:p>
        </p:txBody>
      </p:sp>
      <p:sp>
        <p:nvSpPr>
          <p:cNvPr id="33" name="Shape 20"/>
          <p:cNvSpPr/>
          <p:nvPr/>
        </p:nvSpPr>
        <p:spPr>
          <a:xfrm>
            <a:off x="4457700"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34" name="Image 11" descr="gen-dedup-bb65f8a83efde23cd45884ce4e632f2a.png"/>
          <p:cNvPicPr>
            <a:picLocks noChangeAspect="1"/>
          </p:cNvPicPr>
          <p:nvPr/>
        </p:nvPicPr>
        <p:blipFill>
          <a:blip r:embed="rId10"/>
          <a:srcRect t="-13131" b="-13131"/>
          <a:stretch/>
        </p:blipFill>
        <p:spPr>
          <a:xfrm>
            <a:off x="4634179" y="1971446"/>
            <a:ext cx="181051" cy="228600"/>
          </a:xfrm>
          <a:prstGeom prst="rect">
            <a:avLst/>
          </a:prstGeom>
        </p:spPr>
      </p:pic>
      <p:sp>
        <p:nvSpPr>
          <p:cNvPr id="35" name="Text 21"/>
          <p:cNvSpPr txBox="1"/>
          <p:nvPr/>
        </p:nvSpPr>
        <p:spPr>
          <a:xfrm>
            <a:off x="3524098"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Build.</a:t>
            </a:r>
            <a:endParaRPr lang="en-US" sz="2000" dirty="0"/>
          </a:p>
        </p:txBody>
      </p:sp>
      <p:sp>
        <p:nvSpPr>
          <p:cNvPr id="36" name="Text 22"/>
          <p:cNvSpPr txBox="1"/>
          <p:nvPr/>
        </p:nvSpPr>
        <p:spPr>
          <a:xfrm>
            <a:off x="3524098"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Weeks 2–6</a:t>
            </a:r>
            <a:endParaRPr lang="en-US" sz="1300" dirty="0"/>
          </a:p>
        </p:txBody>
      </p:sp>
      <p:sp>
        <p:nvSpPr>
          <p:cNvPr id="37" name="Text 23"/>
          <p:cNvSpPr txBox="1"/>
          <p:nvPr/>
        </p:nvSpPr>
        <p:spPr>
          <a:xfrm>
            <a:off x="3524098" y="329793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deploy the closest-fit accelerator and customize where needed. Hundreds of prior engagements mean you inherit a head start, not a blank slate.</a:t>
            </a:r>
            <a:endParaRPr lang="en-US" sz="1200" dirty="0"/>
          </a:p>
        </p:txBody>
      </p:sp>
      <p:sp>
        <p:nvSpPr>
          <p:cNvPr id="38" name="Text 24"/>
          <p:cNvSpPr txBox="1"/>
          <p:nvPr/>
        </p:nvSpPr>
        <p:spPr>
          <a:xfrm>
            <a:off x="5231282"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02</a:t>
            </a:r>
            <a:endParaRPr lang="en-US" sz="3600" dirty="0"/>
          </a:p>
        </p:txBody>
      </p:sp>
      <p:sp>
        <p:nvSpPr>
          <p:cNvPr id="39" name="Shape 25"/>
          <p:cNvSpPr/>
          <p:nvPr/>
        </p:nvSpPr>
        <p:spPr>
          <a:xfrm>
            <a:off x="727679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40" name="Image 12" descr="gen-dedup-ec7913c77fa2db42f3e898c22d604bf4.png"/>
          <p:cNvPicPr>
            <a:picLocks noChangeAspect="1"/>
          </p:cNvPicPr>
          <p:nvPr/>
        </p:nvPicPr>
        <p:blipFill>
          <a:blip r:embed="rId11"/>
          <a:srcRect t="-28914" b="-28914"/>
          <a:stretch/>
        </p:blipFill>
        <p:spPr>
          <a:xfrm>
            <a:off x="7398844" y="1895244"/>
            <a:ext cx="289681" cy="365760"/>
          </a:xfrm>
          <a:prstGeom prst="rect">
            <a:avLst/>
          </a:prstGeom>
        </p:spPr>
      </p:pic>
      <p:sp>
        <p:nvSpPr>
          <p:cNvPr id="41" name="Text 26"/>
          <p:cNvSpPr txBox="1"/>
          <p:nvPr/>
        </p:nvSpPr>
        <p:spPr>
          <a:xfrm>
            <a:off x="6344107"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Operate.</a:t>
            </a:r>
            <a:endParaRPr lang="en-US" sz="2000" dirty="0"/>
          </a:p>
        </p:txBody>
      </p:sp>
      <p:sp>
        <p:nvSpPr>
          <p:cNvPr id="42" name="Text 27"/>
          <p:cNvSpPr txBox="1"/>
          <p:nvPr/>
        </p:nvSpPr>
        <p:spPr>
          <a:xfrm>
            <a:off x="6344107"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Month 2 onward</a:t>
            </a:r>
            <a:endParaRPr lang="en-US" sz="1300" dirty="0"/>
          </a:p>
        </p:txBody>
      </p:sp>
      <p:sp>
        <p:nvSpPr>
          <p:cNvPr id="43" name="Text 28"/>
          <p:cNvSpPr txBox="1"/>
          <p:nvPr/>
        </p:nvSpPr>
        <p:spPr>
          <a:xfrm>
            <a:off x="6344107" y="319572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Forward-deployed engineers run AI inside your enterprise and don't rotate off. The context, accountability, and institutional memory stay with you.</a:t>
            </a:r>
            <a:endParaRPr lang="en-US" sz="1200" dirty="0"/>
          </a:p>
        </p:txBody>
      </p:sp>
      <p:sp>
        <p:nvSpPr>
          <p:cNvPr id="44" name="Text 29"/>
          <p:cNvSpPr txBox="1"/>
          <p:nvPr/>
        </p:nvSpPr>
        <p:spPr>
          <a:xfrm>
            <a:off x="8051292" y="1687137"/>
            <a:ext cx="607162"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03</a:t>
            </a:r>
            <a:endParaRPr lang="en-US" sz="3600" dirty="0"/>
          </a:p>
        </p:txBody>
      </p:sp>
      <p:sp>
        <p:nvSpPr>
          <p:cNvPr id="45" name="Shape 30"/>
          <p:cNvSpPr/>
          <p:nvPr/>
        </p:nvSpPr>
        <p:spPr>
          <a:xfrm>
            <a:off x="10096805"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46" name="Image 13" descr="gen-dedup-9fd551ffaf14ed4b68fb6cf808d818cf.png"/>
          <p:cNvPicPr>
            <a:picLocks noChangeAspect="1"/>
          </p:cNvPicPr>
          <p:nvPr/>
        </p:nvPicPr>
        <p:blipFill>
          <a:blip r:embed="rId12"/>
          <a:srcRect t="-13131" b="-13131"/>
          <a:stretch/>
        </p:blipFill>
        <p:spPr>
          <a:xfrm>
            <a:off x="10272370" y="1971446"/>
            <a:ext cx="181051" cy="228600"/>
          </a:xfrm>
          <a:prstGeom prst="rect">
            <a:avLst/>
          </a:prstGeom>
        </p:spPr>
      </p:pic>
      <p:sp>
        <p:nvSpPr>
          <p:cNvPr id="47" name="Text 31"/>
          <p:cNvSpPr txBox="1"/>
          <p:nvPr/>
        </p:nvSpPr>
        <p:spPr>
          <a:xfrm>
            <a:off x="91632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Compound.</a:t>
            </a:r>
            <a:endParaRPr lang="en-US" sz="2000" dirty="0"/>
          </a:p>
        </p:txBody>
      </p:sp>
      <p:sp>
        <p:nvSpPr>
          <p:cNvPr id="48" name="Text 32"/>
          <p:cNvSpPr txBox="1"/>
          <p:nvPr/>
        </p:nvSpPr>
        <p:spPr>
          <a:xfrm>
            <a:off x="9163202"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Year one &amp; beyond</a:t>
            </a:r>
            <a:endParaRPr lang="en-US" sz="1300" dirty="0"/>
          </a:p>
        </p:txBody>
      </p:sp>
      <p:sp>
        <p:nvSpPr>
          <p:cNvPr id="49" name="Text 33"/>
          <p:cNvSpPr txBox="1"/>
          <p:nvPr/>
        </p:nvSpPr>
        <p:spPr>
          <a:xfrm>
            <a:off x="9163202" y="3285235"/>
            <a:ext cx="2309775" cy="1219810"/>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Every problem solved sharpens the platform. The system gets smarter as you scale — outcomes that compound while you sleep.</a:t>
            </a:r>
            <a:endParaRPr lang="en-US" sz="1200" dirty="0"/>
          </a:p>
        </p:txBody>
      </p:sp>
      <p:sp>
        <p:nvSpPr>
          <p:cNvPr id="50" name="Text 34"/>
          <p:cNvSpPr txBox="1"/>
          <p:nvPr/>
        </p:nvSpPr>
        <p:spPr>
          <a:xfrm>
            <a:off x="10865815"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04</a:t>
            </a:r>
            <a:endParaRPr lang="en-US" sz="3600" dirty="0"/>
          </a:p>
        </p:txBody>
      </p:sp>
      <p:sp>
        <p:nvSpPr>
          <p:cNvPr id="51" name="Text 35"/>
          <p:cNvSpPr txBox="1"/>
          <p:nvPr/>
        </p:nvSpPr>
        <p:spPr>
          <a:xfrm>
            <a:off x="914400" y="6048756"/>
            <a:ext cx="10401300" cy="428854"/>
          </a:xfrm>
          <a:prstGeom prst="rect">
            <a:avLst/>
          </a:prstGeom>
          <a:noFill/>
          <a:ln/>
        </p:spPr>
        <p:txBody>
          <a:bodyPr wrap="square" lIns="0" tIns="0" rIns="0" bIns="0" rtlCol="0" anchor="ctr"/>
          <a:lstStyle/>
          <a:p>
            <a:pPr marL="0" indent="0" algn="ctr">
              <a:buNone/>
            </a:pPr>
            <a:r>
              <a:rPr lang="en-US" sz="1300" b="1" dirty="0">
                <a:solidFill>
                  <a:srgbClr val="2A9D8F"/>
                </a:solidFill>
                <a:latin typeface="Raleway" pitchFamily="34" charset="0"/>
                <a:ea typeface="Raleway" pitchFamily="34" charset="-122"/>
                <a:cs typeface="Raleway" pitchFamily="34" charset="-120"/>
              </a:rPr>
              <a:t>Your business is our GTM.</a:t>
            </a:r>
            <a:r>
              <a:rPr lang="en-US" sz="1300" b="1" dirty="0">
                <a:solidFill>
                  <a:srgbClr val="1F2937"/>
                </a:solidFill>
                <a:latin typeface="Raleway" pitchFamily="34" charset="0"/>
                <a:ea typeface="Raleway" pitchFamily="34" charset="-122"/>
                <a:cs typeface="Raleway" pitchFamily="34" charset="-120"/>
              </a:rPr>
              <a:t> We build with you, so your teams actually adopt, use, and grow everything we create together - not just receive it.</a:t>
            </a:r>
            <a:endParaRPr lang="en-US" sz="1300" dirty="0"/>
          </a:p>
        </p:txBody>
      </p:sp>
    </p:spTree>
    <p:extLst>
      <p:ext uri="{BB962C8B-B14F-4D97-AF65-F5344CB8AC3E}">
        <p14:creationId xmlns:p14="http://schemas.microsoft.com/office/powerpoint/2010/main" val="177576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953805" y="-57150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5000"/>
          </a:blip>
          <a:srcRect/>
          <a:stretch/>
        </p:blipFill>
        <p:spPr>
          <a:xfrm>
            <a:off x="-381305" y="4095598"/>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743407"/>
            <a:ext cx="57607" cy="476402"/>
          </a:xfrm>
          <a:prstGeom prst="rect">
            <a:avLst/>
          </a:prstGeom>
        </p:spPr>
      </p:pic>
      <p:sp>
        <p:nvSpPr>
          <p:cNvPr id="9" name="Shape 3"/>
          <p:cNvSpPr/>
          <p:nvPr/>
        </p:nvSpPr>
        <p:spPr>
          <a:xfrm>
            <a:off x="6099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3818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2" name="Shape 6"/>
          <p:cNvSpPr/>
          <p:nvPr/>
        </p:nvSpPr>
        <p:spPr>
          <a:xfrm>
            <a:off x="4381805" y="1714500"/>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1537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4" name="Shape 8"/>
          <p:cNvSpPr/>
          <p:nvPr/>
        </p:nvSpPr>
        <p:spPr>
          <a:xfrm>
            <a:off x="81537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24953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6" name="Shape 10"/>
          <p:cNvSpPr/>
          <p:nvPr/>
        </p:nvSpPr>
        <p:spPr>
          <a:xfrm>
            <a:off x="2495398" y="3619195"/>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62672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8" name="Shape 12"/>
          <p:cNvSpPr/>
          <p:nvPr/>
        </p:nvSpPr>
        <p:spPr>
          <a:xfrm>
            <a:off x="6267298" y="3619195"/>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609905" y="5572354"/>
            <a:ext cx="10972800" cy="571500"/>
          </a:xfrm>
          <a:prstGeom prst="roundRect">
            <a:avLst>
              <a:gd name="adj" fmla="val 42667"/>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pic>
        <p:nvPicPr>
          <p:cNvPr id="20" name="Image 4" descr="gen-dedup-fcfcca745fa5c1c832fd66175382f504.png"/>
          <p:cNvPicPr>
            <a:picLocks noChangeAspect="1"/>
          </p:cNvPicPr>
          <p:nvPr/>
        </p:nvPicPr>
        <p:blipFill>
          <a:blip r:embed="rId7"/>
          <a:srcRect l="-2083" r="-2083"/>
          <a:stretch/>
        </p:blipFill>
        <p:spPr>
          <a:xfrm>
            <a:off x="609905" y="6286500"/>
            <a:ext cx="10972800" cy="9144"/>
          </a:xfrm>
          <a:prstGeom prst="rect">
            <a:avLst/>
          </a:prstGeom>
        </p:spPr>
      </p:pic>
      <p:sp>
        <p:nvSpPr>
          <p:cNvPr id="21" name="Text 14"/>
          <p:cNvSpPr txBox="1"/>
          <p:nvPr/>
        </p:nvSpPr>
        <p:spPr>
          <a:xfrm>
            <a:off x="819302" y="666598"/>
            <a:ext cx="5715000" cy="381305"/>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WHAT WE OWN</a:t>
            </a:r>
            <a:endParaRPr lang="en-US" sz="2700" dirty="0"/>
          </a:p>
        </p:txBody>
      </p:sp>
      <p:sp>
        <p:nvSpPr>
          <p:cNvPr id="22" name="Text 15"/>
          <p:cNvSpPr txBox="1"/>
          <p:nvPr/>
        </p:nvSpPr>
        <p:spPr>
          <a:xfrm>
            <a:off x="819302" y="1100938"/>
            <a:ext cx="5715000" cy="200254"/>
          </a:xfrm>
          <a:prstGeom prst="rect">
            <a:avLst/>
          </a:prstGeom>
          <a:noFill/>
          <a:ln/>
        </p:spPr>
        <p:txBody>
          <a:bodyPr wrap="none" lIns="0" tIns="0" rIns="0" bIns="0" rtlCol="0" anchor="ctr"/>
          <a:lstStyle/>
          <a:p>
            <a:pPr marL="0" indent="0" algn="l">
              <a:buNone/>
            </a:pPr>
            <a:r>
              <a:rPr lang="en-US" sz="1300" b="1" kern="0" spc="68" dirty="0">
                <a:solidFill>
                  <a:srgbClr val="2A9D8F"/>
                </a:solidFill>
                <a:latin typeface="Roboto Condensed" pitchFamily="34" charset="0"/>
                <a:ea typeface="Roboto Condensed" pitchFamily="34" charset="-122"/>
                <a:cs typeface="Roboto Condensed" pitchFamily="34" charset="-120"/>
              </a:rPr>
              <a:t>The proprietary stack - our moat</a:t>
            </a:r>
            <a:endParaRPr lang="en-US" sz="1300" dirty="0"/>
          </a:p>
        </p:txBody>
      </p:sp>
      <p:sp>
        <p:nvSpPr>
          <p:cNvPr id="23" name="Shape 16"/>
          <p:cNvSpPr/>
          <p:nvPr/>
        </p:nvSpPr>
        <p:spPr>
          <a:xfrm>
            <a:off x="8001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24" name="Image 5" descr="gen-dedup-354148c7dfe2ece024d9587c6b984377.png"/>
          <p:cNvPicPr>
            <a:picLocks noChangeAspect="1"/>
          </p:cNvPicPr>
          <p:nvPr/>
        </p:nvPicPr>
        <p:blipFill>
          <a:blip r:embed="rId8"/>
          <a:srcRect t="-16800" b="-16800"/>
          <a:stretch/>
        </p:blipFill>
        <p:spPr>
          <a:xfrm>
            <a:off x="895198" y="2029054"/>
            <a:ext cx="114300" cy="152705"/>
          </a:xfrm>
          <a:prstGeom prst="rect">
            <a:avLst/>
          </a:prstGeom>
        </p:spPr>
      </p:pic>
      <p:sp>
        <p:nvSpPr>
          <p:cNvPr id="25" name="Text 17"/>
          <p:cNvSpPr txBox="1"/>
          <p:nvPr/>
        </p:nvSpPr>
        <p:spPr>
          <a:xfrm>
            <a:off x="12380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Premier Lounge</a:t>
            </a:r>
            <a:endParaRPr lang="en-US" sz="1500" dirty="0"/>
          </a:p>
        </p:txBody>
      </p:sp>
      <p:sp>
        <p:nvSpPr>
          <p:cNvPr id="26" name="Text 18"/>
          <p:cNvSpPr txBox="1"/>
          <p:nvPr/>
        </p:nvSpPr>
        <p:spPr>
          <a:xfrm>
            <a:off x="8001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Curated network of vetted experts - instant access to scarce skills.</a:t>
            </a:r>
            <a:endParaRPr lang="en-US" sz="1200" dirty="0"/>
          </a:p>
        </p:txBody>
      </p:sp>
      <p:sp>
        <p:nvSpPr>
          <p:cNvPr id="27" name="Shape 19"/>
          <p:cNvSpPr/>
          <p:nvPr/>
        </p:nvSpPr>
        <p:spPr>
          <a:xfrm>
            <a:off x="4572000" y="195224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28" name="Image 6" descr="gen-dedup-8653d22c8fc2d1668da8a16f36629000.png"/>
          <p:cNvPicPr>
            <a:picLocks noChangeAspect="1"/>
          </p:cNvPicPr>
          <p:nvPr/>
        </p:nvPicPr>
        <p:blipFill>
          <a:blip r:embed="rId9"/>
          <a:srcRect t="-25150" b="-25150"/>
          <a:stretch/>
        </p:blipFill>
        <p:spPr>
          <a:xfrm>
            <a:off x="4667098" y="2029054"/>
            <a:ext cx="114300" cy="152705"/>
          </a:xfrm>
          <a:prstGeom prst="rect">
            <a:avLst/>
          </a:prstGeom>
        </p:spPr>
      </p:pic>
      <p:sp>
        <p:nvSpPr>
          <p:cNvPr id="29" name="Text 20"/>
          <p:cNvSpPr txBox="1"/>
          <p:nvPr/>
        </p:nvSpPr>
        <p:spPr>
          <a:xfrm>
            <a:off x="50099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OfferLetter</a:t>
            </a:r>
            <a:endParaRPr lang="en-US" sz="1500" dirty="0"/>
          </a:p>
        </p:txBody>
      </p:sp>
      <p:sp>
        <p:nvSpPr>
          <p:cNvPr id="30" name="Text 21"/>
          <p:cNvSpPr txBox="1"/>
          <p:nvPr/>
        </p:nvSpPr>
        <p:spPr>
          <a:xfrm>
            <a:off x="45720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AI-driven sourcing &amp; resume parsing - onboard one engineer an hour.</a:t>
            </a:r>
            <a:endParaRPr lang="en-US" sz="1200" dirty="0"/>
          </a:p>
        </p:txBody>
      </p:sp>
      <p:sp>
        <p:nvSpPr>
          <p:cNvPr id="31" name="Shape 22"/>
          <p:cNvSpPr/>
          <p:nvPr/>
        </p:nvSpPr>
        <p:spPr>
          <a:xfrm>
            <a:off x="83439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32" name="Image 7" descr="gen-dedup-fe8b3fc2b54c6cb2835c9e1123b7a343.png"/>
          <p:cNvPicPr>
            <a:picLocks noChangeAspect="1"/>
          </p:cNvPicPr>
          <p:nvPr/>
        </p:nvPicPr>
        <p:blipFill>
          <a:blip r:embed="rId10"/>
          <a:srcRect t="-25150" b="-25150"/>
          <a:stretch/>
        </p:blipFill>
        <p:spPr>
          <a:xfrm>
            <a:off x="8438998" y="2029054"/>
            <a:ext cx="114300" cy="152705"/>
          </a:xfrm>
          <a:prstGeom prst="rect">
            <a:avLst/>
          </a:prstGeom>
        </p:spPr>
      </p:pic>
      <p:sp>
        <p:nvSpPr>
          <p:cNvPr id="33" name="Text 23"/>
          <p:cNvSpPr txBox="1"/>
          <p:nvPr/>
        </p:nvSpPr>
        <p:spPr>
          <a:xfrm>
            <a:off x="8781898" y="1952244"/>
            <a:ext cx="2702052"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Data Abstraction Layer</a:t>
            </a:r>
            <a:endParaRPr lang="en-US" sz="1500" dirty="0"/>
          </a:p>
        </p:txBody>
      </p:sp>
      <p:sp>
        <p:nvSpPr>
          <p:cNvPr id="34" name="Text 24"/>
          <p:cNvSpPr txBox="1"/>
          <p:nvPr/>
        </p:nvSpPr>
        <p:spPr>
          <a:xfrm>
            <a:off x="83439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Unified API gateway + real-time ETL - a single pane of glass.</a:t>
            </a:r>
            <a:endParaRPr lang="en-US" sz="1200" dirty="0"/>
          </a:p>
        </p:txBody>
      </p:sp>
      <p:sp>
        <p:nvSpPr>
          <p:cNvPr id="35" name="Shape 25"/>
          <p:cNvSpPr/>
          <p:nvPr/>
        </p:nvSpPr>
        <p:spPr>
          <a:xfrm>
            <a:off x="2686507" y="385785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36" name="Image 8" descr="gen-dedup-e7d7166718140d8159b1663599725aa5.png"/>
          <p:cNvPicPr>
            <a:picLocks noChangeAspect="1"/>
          </p:cNvPicPr>
          <p:nvPr/>
        </p:nvPicPr>
        <p:blipFill>
          <a:blip r:embed="rId11"/>
          <a:srcRect t="-8450" b="-8450"/>
          <a:stretch/>
        </p:blipFill>
        <p:spPr>
          <a:xfrm>
            <a:off x="2781605" y="3933749"/>
            <a:ext cx="114300" cy="152705"/>
          </a:xfrm>
          <a:prstGeom prst="rect">
            <a:avLst/>
          </a:prstGeom>
        </p:spPr>
      </p:pic>
      <p:sp>
        <p:nvSpPr>
          <p:cNvPr id="37" name="Text 26"/>
          <p:cNvSpPr txBox="1"/>
          <p:nvPr/>
        </p:nvSpPr>
        <p:spPr>
          <a:xfrm>
            <a:off x="31245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AI Labs</a:t>
            </a:r>
            <a:endParaRPr lang="en-US" sz="1500" dirty="0"/>
          </a:p>
        </p:txBody>
      </p:sp>
      <p:sp>
        <p:nvSpPr>
          <p:cNvPr id="38" name="Text 27"/>
          <p:cNvSpPr txBox="1"/>
          <p:nvPr/>
        </p:nvSpPr>
        <p:spPr>
          <a:xfrm>
            <a:off x="26865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Internal AI engine - every engineer AI-certified before Day 1.</a:t>
            </a:r>
            <a:endParaRPr lang="en-US" sz="1200" dirty="0"/>
          </a:p>
        </p:txBody>
      </p:sp>
      <p:sp>
        <p:nvSpPr>
          <p:cNvPr id="39" name="Shape 28"/>
          <p:cNvSpPr/>
          <p:nvPr/>
        </p:nvSpPr>
        <p:spPr>
          <a:xfrm>
            <a:off x="6458407" y="385785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40" name="Image 9" descr="gen-dedup-a3d9bb31ae14fa9101e3246a3a64819e.png"/>
          <p:cNvPicPr>
            <a:picLocks noChangeAspect="1"/>
          </p:cNvPicPr>
          <p:nvPr/>
        </p:nvPicPr>
        <p:blipFill>
          <a:blip r:embed="rId12"/>
          <a:srcRect t="-8450" b="-8450"/>
          <a:stretch/>
        </p:blipFill>
        <p:spPr>
          <a:xfrm>
            <a:off x="6553505" y="3933749"/>
            <a:ext cx="114300" cy="152705"/>
          </a:xfrm>
          <a:prstGeom prst="rect">
            <a:avLst/>
          </a:prstGeom>
        </p:spPr>
      </p:pic>
      <p:sp>
        <p:nvSpPr>
          <p:cNvPr id="41" name="Text 29"/>
          <p:cNvSpPr txBox="1"/>
          <p:nvPr/>
        </p:nvSpPr>
        <p:spPr>
          <a:xfrm>
            <a:off x="68964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60+ Accelerators</a:t>
            </a:r>
            <a:endParaRPr lang="en-US" sz="1500" dirty="0"/>
          </a:p>
        </p:txBody>
      </p:sp>
      <p:sp>
        <p:nvSpPr>
          <p:cNvPr id="42" name="Text 30"/>
          <p:cNvSpPr txBox="1"/>
          <p:nvPr/>
        </p:nvSpPr>
        <p:spPr>
          <a:xfrm>
            <a:off x="64584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Pre-built solutions on SAP, ServiceNow &amp; industry stacks.</a:t>
            </a:r>
            <a:endParaRPr lang="en-US" sz="1200" dirty="0"/>
          </a:p>
        </p:txBody>
      </p:sp>
      <p:sp>
        <p:nvSpPr>
          <p:cNvPr id="43" name="Text 31"/>
          <p:cNvSpPr txBox="1"/>
          <p:nvPr/>
        </p:nvSpPr>
        <p:spPr>
          <a:xfrm>
            <a:off x="800100" y="5715000"/>
            <a:ext cx="10592410" cy="286207"/>
          </a:xfrm>
          <a:prstGeom prst="rect">
            <a:avLst/>
          </a:prstGeom>
          <a:noFill/>
          <a:ln/>
        </p:spPr>
        <p:txBody>
          <a:bodyPr wrap="none" lIns="0" tIns="0" rIns="0" bIns="0" rtlCol="0" anchor="ctr"/>
          <a:lstStyle/>
          <a:p>
            <a:pPr marL="0" indent="0" algn="ctr">
              <a:buNone/>
            </a:pPr>
            <a:r>
              <a:rPr lang="en-US" sz="1500" b="1" kern="0" spc="75" dirty="0">
                <a:solidFill>
                  <a:srgbClr val="9CA3AF"/>
                </a:solidFill>
                <a:latin typeface="Oswald" pitchFamily="34" charset="0"/>
                <a:ea typeface="Oswald" pitchFamily="34" charset="-122"/>
                <a:cs typeface="Oswald" pitchFamily="34" charset="-120"/>
              </a:rPr>
              <a:t>THE ARC FRAMEWORK</a:t>
            </a:r>
            <a:r>
              <a:rPr lang="en-US" sz="1500" b="1" kern="0" spc="75" dirty="0">
                <a:solidFill>
                  <a:srgbClr val="2A9D8F"/>
                </a:solidFill>
                <a:latin typeface="Oswald" pitchFamily="34" charset="0"/>
                <a:ea typeface="Oswald" pitchFamily="34" charset="-122"/>
                <a:cs typeface="Oswald" pitchFamily="34" charset="-120"/>
              </a:rPr>
              <a:t>Adaptive</a:t>
            </a:r>
            <a:r>
              <a:rPr lang="en-US" sz="1200" b="1" kern="0" spc="75" dirty="0">
                <a:solidFill>
                  <a:srgbClr val="CBD5E1"/>
                </a:solidFill>
                <a:latin typeface="Raleway" pitchFamily="34" charset="0"/>
                <a:ea typeface="Raleway" pitchFamily="34" charset="-122"/>
                <a:cs typeface="Raleway" pitchFamily="34" charset="-120"/>
              </a:rPr>
              <a:t>(Grow)</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D62839"/>
                </a:solidFill>
                <a:latin typeface="Oswald" pitchFamily="34" charset="0"/>
                <a:ea typeface="Oswald" pitchFamily="34" charset="-122"/>
                <a:cs typeface="Oswald" pitchFamily="34" charset="-120"/>
              </a:rPr>
              <a:t>Resilient</a:t>
            </a:r>
            <a:r>
              <a:rPr lang="en-US" sz="1200" b="1" kern="0" spc="75" dirty="0">
                <a:solidFill>
                  <a:srgbClr val="CBD5E1"/>
                </a:solidFill>
                <a:latin typeface="Raleway" pitchFamily="34" charset="0"/>
                <a:ea typeface="Raleway" pitchFamily="34" charset="-122"/>
                <a:cs typeface="Raleway" pitchFamily="34" charset="-120"/>
              </a:rPr>
              <a:t>(Mature)</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2A9D8F"/>
                </a:solidFill>
                <a:latin typeface="Oswald" pitchFamily="34" charset="0"/>
                <a:ea typeface="Oswald" pitchFamily="34" charset="-122"/>
                <a:cs typeface="Oswald" pitchFamily="34" charset="-120"/>
              </a:rPr>
              <a:t>Cognitive</a:t>
            </a:r>
            <a:r>
              <a:rPr lang="en-US" sz="1200" b="1" kern="0" spc="75" dirty="0">
                <a:solidFill>
                  <a:srgbClr val="CBD5E1"/>
                </a:solidFill>
                <a:latin typeface="Raleway" pitchFamily="34" charset="0"/>
                <a:ea typeface="Raleway" pitchFamily="34" charset="-122"/>
                <a:cs typeface="Raleway" pitchFamily="34" charset="-120"/>
              </a:rPr>
              <a:t>(Transform)</a:t>
            </a:r>
            <a:endParaRPr lang="en-US" sz="1500" dirty="0"/>
          </a:p>
        </p:txBody>
      </p:sp>
      <p:sp>
        <p:nvSpPr>
          <p:cNvPr id="44" name="Text 32"/>
          <p:cNvSpPr txBox="1"/>
          <p:nvPr/>
        </p:nvSpPr>
        <p:spPr>
          <a:xfrm>
            <a:off x="609905" y="6429146"/>
            <a:ext cx="10972800" cy="181051"/>
          </a:xfrm>
          <a:prstGeom prst="rect">
            <a:avLst/>
          </a:prstGeom>
          <a:noFill/>
          <a:ln/>
        </p:spPr>
        <p:txBody>
          <a:bodyPr wrap="none" lIns="0" tIns="0" rIns="0" bIns="0" rtlCol="0" anchor="ctr"/>
          <a:lstStyle/>
          <a:p>
            <a:pPr marL="0" indent="0" algn="ctr">
              <a:buNone/>
            </a:pPr>
            <a:r>
              <a:rPr lang="en-US" sz="1200" b="1" dirty="0">
                <a:solidFill>
                  <a:srgbClr val="374151"/>
                </a:solidFill>
                <a:latin typeface="Raleway" pitchFamily="34" charset="0"/>
                <a:ea typeface="Raleway" pitchFamily="34" charset="-122"/>
                <a:cs typeface="Raleway" pitchFamily="34" charset="-120"/>
              </a:rPr>
              <a:t>Transparent, scalable, and owned by us - </a:t>
            </a:r>
            <a:r>
              <a:rPr lang="en-US" sz="1200" b="1" dirty="0">
                <a:solidFill>
                  <a:srgbClr val="2A9D8F"/>
                </a:solidFill>
                <a:latin typeface="Raleway" pitchFamily="34" charset="0"/>
                <a:ea typeface="Raleway" pitchFamily="34" charset="-122"/>
                <a:cs typeface="Raleway" pitchFamily="34" charset="-120"/>
              </a:rPr>
              <a:t>your competitive moat, not a black box.</a:t>
            </a:r>
            <a:endParaRPr lang="en-US" sz="1200" dirty="0"/>
          </a:p>
        </p:txBody>
      </p:sp>
      <p:sp>
        <p:nvSpPr>
          <p:cNvPr id="45" name="TextBox 44">
            <a:extLst>
              <a:ext uri="{FF2B5EF4-FFF2-40B4-BE49-F238E27FC236}">
                <a16:creationId xmlns:a16="http://schemas.microsoft.com/office/drawing/2014/main" id="{25DD6EC7-8F41-58C5-8FE6-D76C9E660C2A}"/>
              </a:ext>
            </a:extLst>
          </p:cNvPr>
          <p:cNvSpPr txBox="1"/>
          <p:nvPr/>
        </p:nvSpPr>
        <p:spPr>
          <a:xfrm>
            <a:off x="3048000" y="3429000"/>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Tree>
    <p:extLst>
      <p:ext uri="{BB962C8B-B14F-4D97-AF65-F5344CB8AC3E}">
        <p14:creationId xmlns:p14="http://schemas.microsoft.com/office/powerpoint/2010/main" val="3821239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p:cNvSpPr/>
          <p:nvPr/>
        </p:nvSpPr>
        <p:spPr>
          <a:xfrm>
            <a:off x="219456" y="1182624"/>
            <a:ext cx="2779776" cy="60960"/>
          </a:xfrm>
          <a:prstGeom prst="rect">
            <a:avLst/>
          </a:prstGeom>
          <a:solidFill>
            <a:srgbClr val="0D9488"/>
          </a:solidFill>
          <a:ln w="12700">
            <a:solidFill>
              <a:srgbClr val="0D9488"/>
            </a:solidFill>
            <a:prstDash val="solid"/>
          </a:ln>
        </p:spPr>
        <p:txBody>
          <a:bodyPr/>
          <a:lstStyle/>
          <a:p>
            <a:endParaRPr lang="en-US" sz="2400"/>
          </a:p>
        </p:txBody>
      </p:sp>
      <p:sp>
        <p:nvSpPr>
          <p:cNvPr id="7" name="Shape 5"/>
          <p:cNvSpPr/>
          <p:nvPr/>
        </p:nvSpPr>
        <p:spPr>
          <a:xfrm>
            <a:off x="219456"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8" name="Image 0" descr="preencoded.png"/>
          <p:cNvPicPr>
            <a:picLocks noChangeAspect="1"/>
          </p:cNvPicPr>
          <p:nvPr/>
        </p:nvPicPr>
        <p:blipFill>
          <a:blip r:embed="rId3"/>
          <a:stretch>
            <a:fillRect/>
          </a:stretch>
        </p:blipFill>
        <p:spPr>
          <a:xfrm>
            <a:off x="390144" y="1341120"/>
            <a:ext cx="414528" cy="414528"/>
          </a:xfrm>
          <a:prstGeom prst="rect">
            <a:avLst/>
          </a:prstGeom>
        </p:spPr>
      </p:pic>
      <p:sp>
        <p:nvSpPr>
          <p:cNvPr id="9" name="Text 6"/>
          <p:cNvSpPr/>
          <p:nvPr/>
        </p:nvSpPr>
        <p:spPr>
          <a:xfrm>
            <a:off x="341376"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Sourcing Engine</a:t>
            </a:r>
            <a:endParaRPr lang="en-US" sz="1467">
              <a:latin typeface="Oswald" panose="00000500000000000000" pitchFamily="2" charset="0"/>
            </a:endParaRPr>
          </a:p>
        </p:txBody>
      </p:sp>
      <p:sp>
        <p:nvSpPr>
          <p:cNvPr id="10" name="Text 7"/>
          <p:cNvSpPr/>
          <p:nvPr/>
        </p:nvSpPr>
        <p:spPr>
          <a:xfrm>
            <a:off x="341376"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AI-driven talent matching across 8,500+ active consultants and 1,250+ skills - niche to mainstream.</a:t>
            </a:r>
            <a:endParaRPr lang="en-US" sz="1133">
              <a:latin typeface="Raleway" pitchFamily="2" charset="0"/>
            </a:endParaRPr>
          </a:p>
        </p:txBody>
      </p:sp>
      <p:sp>
        <p:nvSpPr>
          <p:cNvPr id="11" name="Shape 8"/>
          <p:cNvSpPr/>
          <p:nvPr/>
        </p:nvSpPr>
        <p:spPr>
          <a:xfrm>
            <a:off x="3108960" y="1182624"/>
            <a:ext cx="2779776" cy="60960"/>
          </a:xfrm>
          <a:prstGeom prst="rect">
            <a:avLst/>
          </a:prstGeom>
          <a:solidFill>
            <a:srgbClr val="C0392B"/>
          </a:solidFill>
          <a:ln w="12700">
            <a:solidFill>
              <a:srgbClr val="C0392B"/>
            </a:solidFill>
            <a:prstDash val="solid"/>
          </a:ln>
        </p:spPr>
        <p:txBody>
          <a:bodyPr/>
          <a:lstStyle/>
          <a:p>
            <a:endParaRPr lang="en-US" sz="2400"/>
          </a:p>
        </p:txBody>
      </p:sp>
      <p:sp>
        <p:nvSpPr>
          <p:cNvPr id="12" name="Shape 9"/>
          <p:cNvSpPr/>
          <p:nvPr/>
        </p:nvSpPr>
        <p:spPr>
          <a:xfrm>
            <a:off x="3108960"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13" name="Image 1" descr="preencoded.png"/>
          <p:cNvPicPr>
            <a:picLocks noChangeAspect="1"/>
          </p:cNvPicPr>
          <p:nvPr/>
        </p:nvPicPr>
        <p:blipFill>
          <a:blip r:embed="rId4"/>
          <a:stretch>
            <a:fillRect/>
          </a:stretch>
        </p:blipFill>
        <p:spPr>
          <a:xfrm>
            <a:off x="3279648" y="1341120"/>
            <a:ext cx="414528" cy="414528"/>
          </a:xfrm>
          <a:prstGeom prst="rect">
            <a:avLst/>
          </a:prstGeom>
        </p:spPr>
      </p:pic>
      <p:sp>
        <p:nvSpPr>
          <p:cNvPr id="14" name="Text 10"/>
          <p:cNvSpPr/>
          <p:nvPr/>
        </p:nvSpPr>
        <p:spPr>
          <a:xfrm>
            <a:off x="3230880"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Human + AI Teams</a:t>
            </a:r>
            <a:endParaRPr lang="en-US" sz="1467">
              <a:latin typeface="Oswald" panose="00000500000000000000" pitchFamily="2" charset="0"/>
            </a:endParaRPr>
          </a:p>
        </p:txBody>
      </p:sp>
      <p:sp>
        <p:nvSpPr>
          <p:cNvPr id="15" name="Text 11"/>
          <p:cNvSpPr/>
          <p:nvPr/>
        </p:nvSpPr>
        <p:spPr>
          <a:xfrm>
            <a:off x="3230880"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Blended delivery with AI productivity tools embedded from Day 1. Capability stacks over role pyramids.</a:t>
            </a:r>
            <a:endParaRPr lang="en-US" sz="1133">
              <a:latin typeface="Raleway" pitchFamily="2" charset="0"/>
            </a:endParaRPr>
          </a:p>
        </p:txBody>
      </p:sp>
      <p:sp>
        <p:nvSpPr>
          <p:cNvPr id="16" name="Shape 12"/>
          <p:cNvSpPr/>
          <p:nvPr/>
        </p:nvSpPr>
        <p:spPr>
          <a:xfrm>
            <a:off x="5998464" y="1182624"/>
            <a:ext cx="2779776" cy="60960"/>
          </a:xfrm>
          <a:prstGeom prst="rect">
            <a:avLst/>
          </a:prstGeom>
          <a:solidFill>
            <a:srgbClr val="0D9488"/>
          </a:solidFill>
          <a:ln w="12700">
            <a:solidFill>
              <a:srgbClr val="0D9488"/>
            </a:solidFill>
            <a:prstDash val="solid"/>
          </a:ln>
        </p:spPr>
        <p:txBody>
          <a:bodyPr/>
          <a:lstStyle/>
          <a:p>
            <a:endParaRPr lang="en-US" sz="2400"/>
          </a:p>
        </p:txBody>
      </p:sp>
      <p:sp>
        <p:nvSpPr>
          <p:cNvPr id="17" name="Shape 13"/>
          <p:cNvSpPr/>
          <p:nvPr/>
        </p:nvSpPr>
        <p:spPr>
          <a:xfrm>
            <a:off x="5998464"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18" name="Image 2" descr="preencoded.png"/>
          <p:cNvPicPr>
            <a:picLocks noChangeAspect="1"/>
          </p:cNvPicPr>
          <p:nvPr/>
        </p:nvPicPr>
        <p:blipFill>
          <a:blip r:embed="rId5"/>
          <a:stretch>
            <a:fillRect/>
          </a:stretch>
        </p:blipFill>
        <p:spPr>
          <a:xfrm>
            <a:off x="6169152" y="1341120"/>
            <a:ext cx="414528" cy="414528"/>
          </a:xfrm>
          <a:prstGeom prst="rect">
            <a:avLst/>
          </a:prstGeom>
        </p:spPr>
      </p:pic>
      <p:sp>
        <p:nvSpPr>
          <p:cNvPr id="19" name="Text 14"/>
          <p:cNvSpPr/>
          <p:nvPr/>
        </p:nvSpPr>
        <p:spPr>
          <a:xfrm>
            <a:off x="6120384"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Fully Managed</a:t>
            </a:r>
            <a:endParaRPr lang="en-US" sz="1467">
              <a:latin typeface="Oswald" panose="00000500000000000000" pitchFamily="2" charset="0"/>
            </a:endParaRPr>
          </a:p>
        </p:txBody>
      </p:sp>
      <p:sp>
        <p:nvSpPr>
          <p:cNvPr id="20" name="Text 15"/>
          <p:cNvSpPr/>
          <p:nvPr/>
        </p:nvSpPr>
        <p:spPr>
          <a:xfrm>
            <a:off x="6120384"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J2W owns payroll, compliance, onboarding and HR. Zero admin burden on the client side.</a:t>
            </a:r>
            <a:endParaRPr lang="en-US" sz="1133">
              <a:latin typeface="Raleway" pitchFamily="2" charset="0"/>
            </a:endParaRPr>
          </a:p>
        </p:txBody>
      </p:sp>
      <p:sp>
        <p:nvSpPr>
          <p:cNvPr id="21" name="Shape 16"/>
          <p:cNvSpPr/>
          <p:nvPr/>
        </p:nvSpPr>
        <p:spPr>
          <a:xfrm>
            <a:off x="8887968" y="1182624"/>
            <a:ext cx="2779776" cy="60960"/>
          </a:xfrm>
          <a:prstGeom prst="rect">
            <a:avLst/>
          </a:prstGeom>
          <a:solidFill>
            <a:srgbClr val="C0392B"/>
          </a:solidFill>
          <a:ln w="12700">
            <a:solidFill>
              <a:srgbClr val="C0392B"/>
            </a:solidFill>
            <a:prstDash val="solid"/>
          </a:ln>
        </p:spPr>
        <p:txBody>
          <a:bodyPr/>
          <a:lstStyle/>
          <a:p>
            <a:endParaRPr lang="en-US" sz="2400"/>
          </a:p>
        </p:txBody>
      </p:sp>
      <p:sp>
        <p:nvSpPr>
          <p:cNvPr id="22" name="Shape 17"/>
          <p:cNvSpPr/>
          <p:nvPr/>
        </p:nvSpPr>
        <p:spPr>
          <a:xfrm>
            <a:off x="8887968"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23" name="Image 3" descr="preencoded.png"/>
          <p:cNvPicPr>
            <a:picLocks noChangeAspect="1"/>
          </p:cNvPicPr>
          <p:nvPr/>
        </p:nvPicPr>
        <p:blipFill>
          <a:blip r:embed="rId6"/>
          <a:stretch>
            <a:fillRect/>
          </a:stretch>
        </p:blipFill>
        <p:spPr>
          <a:xfrm>
            <a:off x="9058656" y="1341120"/>
            <a:ext cx="414528" cy="414528"/>
          </a:xfrm>
          <a:prstGeom prst="rect">
            <a:avLst/>
          </a:prstGeom>
        </p:spPr>
      </p:pic>
      <p:sp>
        <p:nvSpPr>
          <p:cNvPr id="24" name="Text 18"/>
          <p:cNvSpPr/>
          <p:nvPr/>
        </p:nvSpPr>
        <p:spPr>
          <a:xfrm>
            <a:off x="9009888"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AI-First L&amp;D</a:t>
            </a:r>
            <a:endParaRPr lang="en-US" sz="1467">
              <a:latin typeface="Oswald" panose="00000500000000000000" pitchFamily="2" charset="0"/>
            </a:endParaRPr>
          </a:p>
        </p:txBody>
      </p:sp>
      <p:sp>
        <p:nvSpPr>
          <p:cNvPr id="25" name="Text 19"/>
          <p:cNvSpPr/>
          <p:nvPr/>
        </p:nvSpPr>
        <p:spPr>
          <a:xfrm>
            <a:off x="9009888"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Continuous upskilling via J2W </a:t>
            </a:r>
            <a:r>
              <a:rPr lang="en-US" sz="1133" err="1">
                <a:solidFill>
                  <a:srgbClr val="555555"/>
                </a:solidFill>
                <a:latin typeface="Raleway" pitchFamily="2" charset="0"/>
                <a:ea typeface="Calibri" pitchFamily="34" charset="-122"/>
                <a:cs typeface="Calibri" pitchFamily="34" charset="-120"/>
              </a:rPr>
              <a:t>CoE</a:t>
            </a:r>
            <a:r>
              <a:rPr lang="en-US" sz="1133">
                <a:solidFill>
                  <a:srgbClr val="555555"/>
                </a:solidFill>
                <a:latin typeface="Raleway" pitchFamily="2" charset="0"/>
                <a:ea typeface="Calibri" pitchFamily="34" charset="-122"/>
                <a:cs typeface="Calibri" pitchFamily="34" charset="-120"/>
              </a:rPr>
              <a:t> - contextual, hands-on AI training powered by Research Wing.</a:t>
            </a:r>
            <a:endParaRPr lang="en-US" sz="1133">
              <a:latin typeface="Raleway" pitchFamily="2" charset="0"/>
            </a:endParaRPr>
          </a:p>
        </p:txBody>
      </p:sp>
      <p:sp>
        <p:nvSpPr>
          <p:cNvPr id="26" name="Text 20"/>
          <p:cNvSpPr/>
          <p:nvPr/>
        </p:nvSpPr>
        <p:spPr>
          <a:xfrm>
            <a:off x="341376" y="3291840"/>
            <a:ext cx="2560320"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Dimension</a:t>
            </a:r>
            <a:endParaRPr lang="en-US" sz="1267">
              <a:latin typeface="Raleway" pitchFamily="2" charset="0"/>
            </a:endParaRPr>
          </a:p>
        </p:txBody>
      </p:sp>
      <p:sp>
        <p:nvSpPr>
          <p:cNvPr id="27" name="Text 21"/>
          <p:cNvSpPr/>
          <p:nvPr/>
        </p:nvSpPr>
        <p:spPr>
          <a:xfrm>
            <a:off x="2901696" y="3291840"/>
            <a:ext cx="4023360"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Traditional Staffing</a:t>
            </a:r>
            <a:endParaRPr lang="en-US" sz="1267">
              <a:latin typeface="Raleway" pitchFamily="2" charset="0"/>
            </a:endParaRPr>
          </a:p>
        </p:txBody>
      </p:sp>
      <p:sp>
        <p:nvSpPr>
          <p:cNvPr id="28" name="Text 22"/>
          <p:cNvSpPr/>
          <p:nvPr/>
        </p:nvSpPr>
        <p:spPr>
          <a:xfrm>
            <a:off x="6925056" y="3291840"/>
            <a:ext cx="4949952"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J2W Workforce</a:t>
            </a:r>
            <a:endParaRPr lang="en-US" sz="1267">
              <a:latin typeface="Raleway" pitchFamily="2" charset="0"/>
            </a:endParaRPr>
          </a:p>
        </p:txBody>
      </p:sp>
      <p:sp>
        <p:nvSpPr>
          <p:cNvPr id="29" name="Shape 23"/>
          <p:cNvSpPr/>
          <p:nvPr/>
        </p:nvSpPr>
        <p:spPr>
          <a:xfrm>
            <a:off x="219456" y="3681984"/>
            <a:ext cx="11533632" cy="0"/>
          </a:xfrm>
          <a:prstGeom prst="line">
            <a:avLst/>
          </a:prstGeom>
          <a:noFill/>
          <a:ln w="9525">
            <a:solidFill>
              <a:srgbClr val="0D9488"/>
            </a:solidFill>
            <a:prstDash val="solid"/>
          </a:ln>
        </p:spPr>
        <p:txBody>
          <a:bodyPr/>
          <a:lstStyle/>
          <a:p>
            <a:endParaRPr lang="en-US" sz="2400"/>
          </a:p>
        </p:txBody>
      </p:sp>
      <p:sp>
        <p:nvSpPr>
          <p:cNvPr id="30" name="Shape 24"/>
          <p:cNvSpPr/>
          <p:nvPr/>
        </p:nvSpPr>
        <p:spPr>
          <a:xfrm>
            <a:off x="219456" y="3681984"/>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31" name="Text 25"/>
          <p:cNvSpPr/>
          <p:nvPr/>
        </p:nvSpPr>
        <p:spPr>
          <a:xfrm>
            <a:off x="341376" y="3730752"/>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Speed to Deploy</a:t>
            </a:r>
            <a:endParaRPr lang="en-US" sz="1267">
              <a:latin typeface="Raleway" pitchFamily="2" charset="0"/>
            </a:endParaRPr>
          </a:p>
        </p:txBody>
      </p:sp>
      <p:sp>
        <p:nvSpPr>
          <p:cNvPr id="32" name="Text 26"/>
          <p:cNvSpPr/>
          <p:nvPr/>
        </p:nvSpPr>
        <p:spPr>
          <a:xfrm>
            <a:off x="2901696" y="3730752"/>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Weeks to months</a:t>
            </a:r>
            <a:endParaRPr lang="en-US" sz="1267">
              <a:latin typeface="Raleway" pitchFamily="2" charset="0"/>
            </a:endParaRPr>
          </a:p>
        </p:txBody>
      </p:sp>
      <p:pic>
        <p:nvPicPr>
          <p:cNvPr id="33" name="Image 4" descr="preencoded.png"/>
          <p:cNvPicPr>
            <a:picLocks noChangeAspect="1"/>
          </p:cNvPicPr>
          <p:nvPr/>
        </p:nvPicPr>
        <p:blipFill>
          <a:blip r:embed="rId7"/>
          <a:stretch>
            <a:fillRect/>
          </a:stretch>
        </p:blipFill>
        <p:spPr>
          <a:xfrm>
            <a:off x="6900672" y="3791712"/>
            <a:ext cx="219456" cy="219456"/>
          </a:xfrm>
          <a:prstGeom prst="rect">
            <a:avLst/>
          </a:prstGeom>
        </p:spPr>
      </p:pic>
      <p:sp>
        <p:nvSpPr>
          <p:cNvPr id="34" name="Text 27"/>
          <p:cNvSpPr/>
          <p:nvPr/>
        </p:nvSpPr>
        <p:spPr>
          <a:xfrm>
            <a:off x="7193280" y="3730752"/>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1 engineer onboarded per hour</a:t>
            </a:r>
            <a:endParaRPr lang="en-US" sz="1267">
              <a:latin typeface="Raleway" pitchFamily="2" charset="0"/>
            </a:endParaRPr>
          </a:p>
        </p:txBody>
      </p:sp>
      <p:sp>
        <p:nvSpPr>
          <p:cNvPr id="35" name="Shape 28"/>
          <p:cNvSpPr/>
          <p:nvPr/>
        </p:nvSpPr>
        <p:spPr>
          <a:xfrm>
            <a:off x="219456" y="4114800"/>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36" name="Text 29"/>
          <p:cNvSpPr/>
          <p:nvPr/>
        </p:nvSpPr>
        <p:spPr>
          <a:xfrm>
            <a:off x="341376" y="4163568"/>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Team Composition</a:t>
            </a:r>
            <a:endParaRPr lang="en-US" sz="1267">
              <a:latin typeface="Raleway" pitchFamily="2" charset="0"/>
            </a:endParaRPr>
          </a:p>
        </p:txBody>
      </p:sp>
      <p:sp>
        <p:nvSpPr>
          <p:cNvPr id="37" name="Text 30"/>
          <p:cNvSpPr/>
          <p:nvPr/>
        </p:nvSpPr>
        <p:spPr>
          <a:xfrm>
            <a:off x="2901696" y="4163568"/>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Single-role profile deployments</a:t>
            </a:r>
            <a:endParaRPr lang="en-US" sz="1267">
              <a:latin typeface="Raleway" pitchFamily="2" charset="0"/>
            </a:endParaRPr>
          </a:p>
        </p:txBody>
      </p:sp>
      <p:pic>
        <p:nvPicPr>
          <p:cNvPr id="38" name="Image 5" descr="preencoded.png"/>
          <p:cNvPicPr>
            <a:picLocks noChangeAspect="1"/>
          </p:cNvPicPr>
          <p:nvPr/>
        </p:nvPicPr>
        <p:blipFill>
          <a:blip r:embed="rId7"/>
          <a:stretch>
            <a:fillRect/>
          </a:stretch>
        </p:blipFill>
        <p:spPr>
          <a:xfrm>
            <a:off x="6900672" y="4224528"/>
            <a:ext cx="219456" cy="219456"/>
          </a:xfrm>
          <a:prstGeom prst="rect">
            <a:avLst/>
          </a:prstGeom>
        </p:spPr>
      </p:pic>
      <p:sp>
        <p:nvSpPr>
          <p:cNvPr id="39" name="Text 31"/>
          <p:cNvSpPr/>
          <p:nvPr/>
        </p:nvSpPr>
        <p:spPr>
          <a:xfrm>
            <a:off x="7193280" y="4163568"/>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Human + AI blended capability stacks</a:t>
            </a:r>
            <a:endParaRPr lang="en-US" sz="1267">
              <a:latin typeface="Raleway" pitchFamily="2" charset="0"/>
            </a:endParaRPr>
          </a:p>
        </p:txBody>
      </p:sp>
      <p:sp>
        <p:nvSpPr>
          <p:cNvPr id="40" name="Shape 32"/>
          <p:cNvSpPr/>
          <p:nvPr/>
        </p:nvSpPr>
        <p:spPr>
          <a:xfrm>
            <a:off x="219456" y="4547616"/>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41" name="Text 33"/>
          <p:cNvSpPr/>
          <p:nvPr/>
        </p:nvSpPr>
        <p:spPr>
          <a:xfrm>
            <a:off x="341376" y="4596384"/>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Governance</a:t>
            </a:r>
            <a:endParaRPr lang="en-US" sz="1267">
              <a:latin typeface="Raleway" pitchFamily="2" charset="0"/>
            </a:endParaRPr>
          </a:p>
        </p:txBody>
      </p:sp>
      <p:sp>
        <p:nvSpPr>
          <p:cNvPr id="42" name="Text 34"/>
          <p:cNvSpPr/>
          <p:nvPr/>
        </p:nvSpPr>
        <p:spPr>
          <a:xfrm>
            <a:off x="2901696" y="4596384"/>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Client's burden</a:t>
            </a:r>
            <a:endParaRPr lang="en-US" sz="1267">
              <a:latin typeface="Raleway" pitchFamily="2" charset="0"/>
            </a:endParaRPr>
          </a:p>
        </p:txBody>
      </p:sp>
      <p:pic>
        <p:nvPicPr>
          <p:cNvPr id="43" name="Image 6" descr="preencoded.png"/>
          <p:cNvPicPr>
            <a:picLocks noChangeAspect="1"/>
          </p:cNvPicPr>
          <p:nvPr/>
        </p:nvPicPr>
        <p:blipFill>
          <a:blip r:embed="rId7"/>
          <a:stretch>
            <a:fillRect/>
          </a:stretch>
        </p:blipFill>
        <p:spPr>
          <a:xfrm>
            <a:off x="6900672" y="4657344"/>
            <a:ext cx="219456" cy="219456"/>
          </a:xfrm>
          <a:prstGeom prst="rect">
            <a:avLst/>
          </a:prstGeom>
        </p:spPr>
      </p:pic>
      <p:sp>
        <p:nvSpPr>
          <p:cNvPr id="44" name="Text 35"/>
          <p:cNvSpPr/>
          <p:nvPr/>
        </p:nvSpPr>
        <p:spPr>
          <a:xfrm>
            <a:off x="7193280" y="4596384"/>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J2W-owned - HRBP implant at every site</a:t>
            </a:r>
            <a:endParaRPr lang="en-US" sz="1267">
              <a:latin typeface="Raleway" pitchFamily="2" charset="0"/>
            </a:endParaRPr>
          </a:p>
        </p:txBody>
      </p:sp>
      <p:sp>
        <p:nvSpPr>
          <p:cNvPr id="45" name="Shape 36"/>
          <p:cNvSpPr/>
          <p:nvPr/>
        </p:nvSpPr>
        <p:spPr>
          <a:xfrm>
            <a:off x="219456" y="4980432"/>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46" name="Text 37"/>
          <p:cNvSpPr/>
          <p:nvPr/>
        </p:nvSpPr>
        <p:spPr>
          <a:xfrm>
            <a:off x="341376" y="5029200"/>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Performance Issues</a:t>
            </a:r>
            <a:endParaRPr lang="en-US" sz="1267">
              <a:latin typeface="Raleway" pitchFamily="2" charset="0"/>
            </a:endParaRPr>
          </a:p>
        </p:txBody>
      </p:sp>
      <p:sp>
        <p:nvSpPr>
          <p:cNvPr id="47" name="Text 38"/>
          <p:cNvSpPr/>
          <p:nvPr/>
        </p:nvSpPr>
        <p:spPr>
          <a:xfrm>
            <a:off x="2901696" y="5029200"/>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Escalation after the fact</a:t>
            </a:r>
            <a:endParaRPr lang="en-US" sz="1267">
              <a:latin typeface="Raleway" pitchFamily="2" charset="0"/>
            </a:endParaRPr>
          </a:p>
        </p:txBody>
      </p:sp>
      <p:pic>
        <p:nvPicPr>
          <p:cNvPr id="48" name="Image 7" descr="preencoded.png"/>
          <p:cNvPicPr>
            <a:picLocks noChangeAspect="1"/>
          </p:cNvPicPr>
          <p:nvPr/>
        </p:nvPicPr>
        <p:blipFill>
          <a:blip r:embed="rId7"/>
          <a:stretch>
            <a:fillRect/>
          </a:stretch>
        </p:blipFill>
        <p:spPr>
          <a:xfrm>
            <a:off x="6900672" y="5090160"/>
            <a:ext cx="219456" cy="219456"/>
          </a:xfrm>
          <a:prstGeom prst="rect">
            <a:avLst/>
          </a:prstGeom>
        </p:spPr>
      </p:pic>
      <p:sp>
        <p:nvSpPr>
          <p:cNvPr id="49" name="Text 39"/>
          <p:cNvSpPr/>
          <p:nvPr/>
        </p:nvSpPr>
        <p:spPr>
          <a:xfrm>
            <a:off x="7193280" y="5029200"/>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Proactive monitoring &amp; intervention</a:t>
            </a:r>
            <a:endParaRPr lang="en-US" sz="1267">
              <a:latin typeface="Raleway" pitchFamily="2" charset="0"/>
            </a:endParaRPr>
          </a:p>
        </p:txBody>
      </p:sp>
      <p:sp>
        <p:nvSpPr>
          <p:cNvPr id="50" name="Shape 40"/>
          <p:cNvSpPr/>
          <p:nvPr/>
        </p:nvSpPr>
        <p:spPr>
          <a:xfrm>
            <a:off x="219456" y="5413248"/>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51" name="Text 41"/>
          <p:cNvSpPr/>
          <p:nvPr/>
        </p:nvSpPr>
        <p:spPr>
          <a:xfrm>
            <a:off x="341376" y="5462016"/>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Knowledge Retention</a:t>
            </a:r>
            <a:endParaRPr lang="en-US" sz="1267">
              <a:latin typeface="Raleway" pitchFamily="2" charset="0"/>
            </a:endParaRPr>
          </a:p>
        </p:txBody>
      </p:sp>
      <p:sp>
        <p:nvSpPr>
          <p:cNvPr id="52" name="Text 42"/>
          <p:cNvSpPr/>
          <p:nvPr/>
        </p:nvSpPr>
        <p:spPr>
          <a:xfrm>
            <a:off x="2901696" y="5462016"/>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Lost with attrition</a:t>
            </a:r>
            <a:endParaRPr lang="en-US" sz="1267">
              <a:latin typeface="Raleway" pitchFamily="2" charset="0"/>
            </a:endParaRPr>
          </a:p>
        </p:txBody>
      </p:sp>
      <p:pic>
        <p:nvPicPr>
          <p:cNvPr id="53" name="Image 8" descr="preencoded.png"/>
          <p:cNvPicPr>
            <a:picLocks noChangeAspect="1"/>
          </p:cNvPicPr>
          <p:nvPr/>
        </p:nvPicPr>
        <p:blipFill>
          <a:blip r:embed="rId7"/>
          <a:stretch>
            <a:fillRect/>
          </a:stretch>
        </p:blipFill>
        <p:spPr>
          <a:xfrm>
            <a:off x="6900672" y="5522976"/>
            <a:ext cx="219456" cy="219456"/>
          </a:xfrm>
          <a:prstGeom prst="rect">
            <a:avLst/>
          </a:prstGeom>
        </p:spPr>
      </p:pic>
      <p:sp>
        <p:nvSpPr>
          <p:cNvPr id="54" name="Text 43"/>
          <p:cNvSpPr/>
          <p:nvPr/>
        </p:nvSpPr>
        <p:spPr>
          <a:xfrm>
            <a:off x="7193280" y="5462016"/>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Captured in J2W Knowledge Repository</a:t>
            </a:r>
            <a:endParaRPr lang="en-US" sz="1267">
              <a:latin typeface="Raleway" pitchFamily="2" charset="0"/>
            </a:endParaRPr>
          </a:p>
        </p:txBody>
      </p:sp>
      <p:sp>
        <p:nvSpPr>
          <p:cNvPr id="55" name="Shape 44"/>
          <p:cNvSpPr/>
          <p:nvPr/>
        </p:nvSpPr>
        <p:spPr>
          <a:xfrm>
            <a:off x="219456" y="5846064"/>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56" name="Text 45"/>
          <p:cNvSpPr/>
          <p:nvPr/>
        </p:nvSpPr>
        <p:spPr>
          <a:xfrm>
            <a:off x="341376" y="5894832"/>
            <a:ext cx="2377440" cy="335280"/>
          </a:xfrm>
          <a:prstGeom prst="rect">
            <a:avLst/>
          </a:prstGeom>
          <a:noFill/>
          <a:ln/>
        </p:spPr>
        <p:txBody>
          <a:bodyPr wrap="square" lIns="0" tIns="0" rIns="0" bIns="0" rtlCol="0" anchor="ctr"/>
          <a:lstStyle/>
          <a:p>
            <a:r>
              <a:rPr lang="en-US" sz="1267" b="1">
                <a:solidFill>
                  <a:srgbClr val="1A1A2E"/>
                </a:solidFill>
                <a:latin typeface="Calibri" pitchFamily="34" charset="0"/>
                <a:ea typeface="Calibri" pitchFamily="34" charset="-122"/>
                <a:cs typeface="Calibri" pitchFamily="34" charset="-120"/>
              </a:rPr>
              <a:t>AI Readiness</a:t>
            </a:r>
            <a:endParaRPr lang="en-US" sz="1267"/>
          </a:p>
        </p:txBody>
      </p:sp>
      <p:sp>
        <p:nvSpPr>
          <p:cNvPr id="57" name="Text 46"/>
          <p:cNvSpPr/>
          <p:nvPr/>
        </p:nvSpPr>
        <p:spPr>
          <a:xfrm>
            <a:off x="2901696" y="5894832"/>
            <a:ext cx="3840480" cy="335280"/>
          </a:xfrm>
          <a:prstGeom prst="rect">
            <a:avLst/>
          </a:prstGeom>
          <a:noFill/>
          <a:ln/>
        </p:spPr>
        <p:txBody>
          <a:bodyPr wrap="square" lIns="0" tIns="0" rIns="0" bIns="0" rtlCol="0" anchor="ctr"/>
          <a:lstStyle/>
          <a:p>
            <a:r>
              <a:rPr lang="en-US" sz="1267">
                <a:solidFill>
                  <a:srgbClr val="888888"/>
                </a:solidFill>
                <a:latin typeface="Calibri" pitchFamily="34" charset="0"/>
                <a:ea typeface="Calibri" pitchFamily="34" charset="-122"/>
                <a:cs typeface="Calibri" pitchFamily="34" charset="-120"/>
              </a:rPr>
              <a:t>Ad hoc</a:t>
            </a:r>
            <a:endParaRPr lang="en-US" sz="1267"/>
          </a:p>
        </p:txBody>
      </p:sp>
      <p:pic>
        <p:nvPicPr>
          <p:cNvPr id="58" name="Image 9" descr="preencoded.png"/>
          <p:cNvPicPr>
            <a:picLocks noChangeAspect="1"/>
          </p:cNvPicPr>
          <p:nvPr/>
        </p:nvPicPr>
        <p:blipFill>
          <a:blip r:embed="rId7"/>
          <a:stretch>
            <a:fillRect/>
          </a:stretch>
        </p:blipFill>
        <p:spPr>
          <a:xfrm>
            <a:off x="6900672" y="5955792"/>
            <a:ext cx="219456" cy="219456"/>
          </a:xfrm>
          <a:prstGeom prst="rect">
            <a:avLst/>
          </a:prstGeom>
        </p:spPr>
      </p:pic>
      <p:sp>
        <p:nvSpPr>
          <p:cNvPr id="59" name="Text 47"/>
          <p:cNvSpPr/>
          <p:nvPr/>
        </p:nvSpPr>
        <p:spPr>
          <a:xfrm>
            <a:off x="7193280" y="5894832"/>
            <a:ext cx="4437888" cy="335280"/>
          </a:xfrm>
          <a:prstGeom prst="rect">
            <a:avLst/>
          </a:prstGeom>
          <a:noFill/>
          <a:ln/>
        </p:spPr>
        <p:txBody>
          <a:bodyPr wrap="square" lIns="0" tIns="0" rIns="0" bIns="0" rtlCol="0" anchor="ctr"/>
          <a:lstStyle/>
          <a:p>
            <a:r>
              <a:rPr lang="en-US" sz="1267" b="1">
                <a:solidFill>
                  <a:srgbClr val="C0392B"/>
                </a:solidFill>
                <a:latin typeface="Raleway" pitchFamily="2" charset="0"/>
                <a:ea typeface="Calibri" pitchFamily="34" charset="-122"/>
                <a:cs typeface="Calibri" pitchFamily="34" charset="-120"/>
              </a:rPr>
              <a:t>Embedded from Day 1</a:t>
            </a:r>
            <a:endParaRPr lang="en-US" sz="1267">
              <a:latin typeface="Raleway" pitchFamily="2" charset="0"/>
            </a:endParaRPr>
          </a:p>
        </p:txBody>
      </p:sp>
      <p:sp>
        <p:nvSpPr>
          <p:cNvPr id="60" name="Shape 48"/>
          <p:cNvSpPr/>
          <p:nvPr/>
        </p:nvSpPr>
        <p:spPr>
          <a:xfrm>
            <a:off x="0" y="6352032"/>
            <a:ext cx="12192000" cy="505968"/>
          </a:xfrm>
          <a:prstGeom prst="rect">
            <a:avLst/>
          </a:prstGeom>
          <a:solidFill>
            <a:srgbClr val="0D9488"/>
          </a:solidFill>
          <a:ln w="12700">
            <a:solidFill>
              <a:srgbClr val="0D9488"/>
            </a:solidFill>
            <a:prstDash val="solid"/>
          </a:ln>
        </p:spPr>
        <p:txBody>
          <a:bodyPr/>
          <a:lstStyle/>
          <a:p>
            <a:endParaRPr lang="en-US" sz="2400"/>
          </a:p>
        </p:txBody>
      </p:sp>
      <p:sp>
        <p:nvSpPr>
          <p:cNvPr id="61" name="Text 49"/>
          <p:cNvSpPr/>
          <p:nvPr/>
        </p:nvSpPr>
        <p:spPr>
          <a:xfrm>
            <a:off x="609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5,500+</a:t>
            </a:r>
            <a:endParaRPr lang="en-US" sz="1600"/>
          </a:p>
        </p:txBody>
      </p:sp>
      <p:sp>
        <p:nvSpPr>
          <p:cNvPr id="62" name="Text 50"/>
          <p:cNvSpPr/>
          <p:nvPr/>
        </p:nvSpPr>
        <p:spPr>
          <a:xfrm>
            <a:off x="609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Active Consultants</a:t>
            </a:r>
            <a:endParaRPr lang="en-US" sz="1000"/>
          </a:p>
        </p:txBody>
      </p:sp>
      <p:sp>
        <p:nvSpPr>
          <p:cNvPr id="63" name="Shape 51"/>
          <p:cNvSpPr/>
          <p:nvPr/>
        </p:nvSpPr>
        <p:spPr>
          <a:xfrm>
            <a:off x="2438400" y="6400800"/>
            <a:ext cx="0" cy="402336"/>
          </a:xfrm>
          <a:prstGeom prst="line">
            <a:avLst/>
          </a:prstGeom>
          <a:noFill/>
          <a:ln w="6350">
            <a:solidFill>
              <a:srgbClr val="FFFFFF">
                <a:alpha val="45000"/>
              </a:srgbClr>
            </a:solidFill>
            <a:prstDash val="solid"/>
          </a:ln>
        </p:spPr>
        <p:txBody>
          <a:bodyPr/>
          <a:lstStyle/>
          <a:p>
            <a:endParaRPr lang="en-US" sz="2400"/>
          </a:p>
        </p:txBody>
      </p:sp>
      <p:sp>
        <p:nvSpPr>
          <p:cNvPr id="64" name="Text 52"/>
          <p:cNvSpPr/>
          <p:nvPr/>
        </p:nvSpPr>
        <p:spPr>
          <a:xfrm>
            <a:off x="24993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1,250+</a:t>
            </a:r>
            <a:endParaRPr lang="en-US" sz="1600"/>
          </a:p>
        </p:txBody>
      </p:sp>
      <p:sp>
        <p:nvSpPr>
          <p:cNvPr id="65" name="Text 53"/>
          <p:cNvSpPr/>
          <p:nvPr/>
        </p:nvSpPr>
        <p:spPr>
          <a:xfrm>
            <a:off x="24993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Skills Covered</a:t>
            </a:r>
            <a:endParaRPr lang="en-US" sz="1000"/>
          </a:p>
        </p:txBody>
      </p:sp>
      <p:sp>
        <p:nvSpPr>
          <p:cNvPr id="66" name="Shape 54"/>
          <p:cNvSpPr/>
          <p:nvPr/>
        </p:nvSpPr>
        <p:spPr>
          <a:xfrm>
            <a:off x="4876800" y="6400800"/>
            <a:ext cx="0" cy="402336"/>
          </a:xfrm>
          <a:prstGeom prst="line">
            <a:avLst/>
          </a:prstGeom>
          <a:noFill/>
          <a:ln w="6350">
            <a:solidFill>
              <a:srgbClr val="FFFFFF">
                <a:alpha val="45000"/>
              </a:srgbClr>
            </a:solidFill>
            <a:prstDash val="solid"/>
          </a:ln>
        </p:spPr>
        <p:txBody>
          <a:bodyPr/>
          <a:lstStyle/>
          <a:p>
            <a:endParaRPr lang="en-US" sz="2400"/>
          </a:p>
        </p:txBody>
      </p:sp>
      <p:sp>
        <p:nvSpPr>
          <p:cNvPr id="67" name="Text 55"/>
          <p:cNvSpPr/>
          <p:nvPr/>
        </p:nvSpPr>
        <p:spPr>
          <a:xfrm>
            <a:off x="49377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320+</a:t>
            </a:r>
            <a:endParaRPr lang="en-US" sz="1600"/>
          </a:p>
        </p:txBody>
      </p:sp>
      <p:sp>
        <p:nvSpPr>
          <p:cNvPr id="68" name="Text 56"/>
          <p:cNvSpPr/>
          <p:nvPr/>
        </p:nvSpPr>
        <p:spPr>
          <a:xfrm>
            <a:off x="49377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Enterprise Clients</a:t>
            </a:r>
            <a:endParaRPr lang="en-US" sz="1000"/>
          </a:p>
        </p:txBody>
      </p:sp>
      <p:sp>
        <p:nvSpPr>
          <p:cNvPr id="69" name="Shape 57"/>
          <p:cNvSpPr/>
          <p:nvPr/>
        </p:nvSpPr>
        <p:spPr>
          <a:xfrm>
            <a:off x="7315200" y="6400800"/>
            <a:ext cx="0" cy="402336"/>
          </a:xfrm>
          <a:prstGeom prst="line">
            <a:avLst/>
          </a:prstGeom>
          <a:noFill/>
          <a:ln w="6350">
            <a:solidFill>
              <a:srgbClr val="FFFFFF">
                <a:alpha val="45000"/>
              </a:srgbClr>
            </a:solidFill>
            <a:prstDash val="solid"/>
          </a:ln>
        </p:spPr>
        <p:txBody>
          <a:bodyPr/>
          <a:lstStyle/>
          <a:p>
            <a:endParaRPr lang="en-US" sz="2400"/>
          </a:p>
        </p:txBody>
      </p:sp>
      <p:sp>
        <p:nvSpPr>
          <p:cNvPr id="70" name="Text 58"/>
          <p:cNvSpPr/>
          <p:nvPr/>
        </p:nvSpPr>
        <p:spPr>
          <a:xfrm>
            <a:off x="73761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0%</a:t>
            </a:r>
            <a:endParaRPr lang="en-US" sz="1600"/>
          </a:p>
        </p:txBody>
      </p:sp>
      <p:sp>
        <p:nvSpPr>
          <p:cNvPr id="71" name="Text 59"/>
          <p:cNvSpPr/>
          <p:nvPr/>
        </p:nvSpPr>
        <p:spPr>
          <a:xfrm>
            <a:off x="73761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Attrition (6-Mo Pilot)</a:t>
            </a:r>
            <a:endParaRPr lang="en-US" sz="1000"/>
          </a:p>
        </p:txBody>
      </p:sp>
      <p:sp>
        <p:nvSpPr>
          <p:cNvPr id="72" name="Shape 60"/>
          <p:cNvSpPr/>
          <p:nvPr/>
        </p:nvSpPr>
        <p:spPr>
          <a:xfrm>
            <a:off x="9753600" y="6400800"/>
            <a:ext cx="0" cy="402336"/>
          </a:xfrm>
          <a:prstGeom prst="line">
            <a:avLst/>
          </a:prstGeom>
          <a:noFill/>
          <a:ln w="6350">
            <a:solidFill>
              <a:srgbClr val="FFFFFF">
                <a:alpha val="45000"/>
              </a:srgbClr>
            </a:solidFill>
            <a:prstDash val="solid"/>
          </a:ln>
        </p:spPr>
        <p:txBody>
          <a:bodyPr/>
          <a:lstStyle/>
          <a:p>
            <a:endParaRPr lang="en-US" sz="2400"/>
          </a:p>
        </p:txBody>
      </p:sp>
      <p:sp>
        <p:nvSpPr>
          <p:cNvPr id="73" name="Text 61"/>
          <p:cNvSpPr/>
          <p:nvPr/>
        </p:nvSpPr>
        <p:spPr>
          <a:xfrm>
            <a:off x="98145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1/hr</a:t>
            </a:r>
            <a:endParaRPr lang="en-US" sz="1600"/>
          </a:p>
        </p:txBody>
      </p:sp>
      <p:sp>
        <p:nvSpPr>
          <p:cNvPr id="74" name="Text 62"/>
          <p:cNvSpPr/>
          <p:nvPr/>
        </p:nvSpPr>
        <p:spPr>
          <a:xfrm>
            <a:off x="98145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Engineers Onboarded</a:t>
            </a:r>
            <a:endParaRPr lang="en-US" sz="1000"/>
          </a:p>
        </p:txBody>
      </p:sp>
      <p:pic>
        <p:nvPicPr>
          <p:cNvPr id="75" name="Image 0" descr="preencoded.png">
            <a:extLst>
              <a:ext uri="{FF2B5EF4-FFF2-40B4-BE49-F238E27FC236}">
                <a16:creationId xmlns:a16="http://schemas.microsoft.com/office/drawing/2014/main" id="{FAFFF64B-DC76-00D4-DDA1-C18459247824}"/>
              </a:ext>
            </a:extLst>
          </p:cNvPr>
          <p:cNvPicPr>
            <a:picLocks noChangeAspect="1"/>
          </p:cNvPicPr>
          <p:nvPr/>
        </p:nvPicPr>
        <p:blipFill>
          <a:blip r:embed="rId8"/>
          <a:srcRect l="-207" r="-207"/>
          <a:stretch/>
        </p:blipFill>
        <p:spPr>
          <a:xfrm>
            <a:off x="0" y="0"/>
            <a:ext cx="4058107" cy="75895"/>
          </a:xfrm>
          <a:prstGeom prst="rect">
            <a:avLst/>
          </a:prstGeom>
        </p:spPr>
      </p:pic>
      <p:pic>
        <p:nvPicPr>
          <p:cNvPr id="76" name="Image 1" descr="preencoded.png">
            <a:extLst>
              <a:ext uri="{FF2B5EF4-FFF2-40B4-BE49-F238E27FC236}">
                <a16:creationId xmlns:a16="http://schemas.microsoft.com/office/drawing/2014/main" id="{F02F145E-4174-DB5B-12FC-B946B2BEFC21}"/>
              </a:ext>
            </a:extLst>
          </p:cNvPr>
          <p:cNvPicPr>
            <a:picLocks noChangeAspect="1"/>
          </p:cNvPicPr>
          <p:nvPr/>
        </p:nvPicPr>
        <p:blipFill>
          <a:blip r:embed="rId9"/>
          <a:srcRect l="-202" r="-202"/>
          <a:stretch/>
        </p:blipFill>
        <p:spPr>
          <a:xfrm>
            <a:off x="4058107" y="0"/>
            <a:ext cx="8134502" cy="75895"/>
          </a:xfrm>
          <a:prstGeom prst="rect">
            <a:avLst/>
          </a:prstGeom>
        </p:spPr>
      </p:pic>
      <p:sp>
        <p:nvSpPr>
          <p:cNvPr id="77" name="Shape 2">
            <a:extLst>
              <a:ext uri="{FF2B5EF4-FFF2-40B4-BE49-F238E27FC236}">
                <a16:creationId xmlns:a16="http://schemas.microsoft.com/office/drawing/2014/main" id="{C1C503D5-DE04-F879-CDE8-91C26E3173B8}"/>
              </a:ext>
            </a:extLst>
          </p:cNvPr>
          <p:cNvSpPr/>
          <p:nvPr/>
        </p:nvSpPr>
        <p:spPr>
          <a:xfrm>
            <a:off x="-1380897" y="-1256081"/>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8" name="Image 4" descr="preencoded.png">
            <a:extLst>
              <a:ext uri="{FF2B5EF4-FFF2-40B4-BE49-F238E27FC236}">
                <a16:creationId xmlns:a16="http://schemas.microsoft.com/office/drawing/2014/main" id="{3FB3B60C-A4FF-CE53-9131-90677B3706CF}"/>
              </a:ext>
            </a:extLst>
          </p:cNvPr>
          <p:cNvPicPr>
            <a:picLocks noChangeAspect="1"/>
          </p:cNvPicPr>
          <p:nvPr/>
        </p:nvPicPr>
        <p:blipFill>
          <a:blip r:embed="rId10"/>
          <a:srcRect l="-400" r="-400"/>
          <a:stretch/>
        </p:blipFill>
        <p:spPr>
          <a:xfrm>
            <a:off x="609905" y="457200"/>
            <a:ext cx="57607" cy="457200"/>
          </a:xfrm>
          <a:prstGeom prst="rect">
            <a:avLst/>
          </a:prstGeom>
        </p:spPr>
      </p:pic>
      <p:sp>
        <p:nvSpPr>
          <p:cNvPr id="79" name="Text 11">
            <a:extLst>
              <a:ext uri="{FF2B5EF4-FFF2-40B4-BE49-F238E27FC236}">
                <a16:creationId xmlns:a16="http://schemas.microsoft.com/office/drawing/2014/main" id="{65F3FFE0-7460-C049-BC83-7BC32616A4C0}"/>
              </a:ext>
            </a:extLst>
          </p:cNvPr>
          <p:cNvSpPr txBox="1"/>
          <p:nvPr/>
        </p:nvSpPr>
        <p:spPr>
          <a:xfrm>
            <a:off x="819302" y="228600"/>
            <a:ext cx="9715500" cy="428854"/>
          </a:xfrm>
          <a:prstGeom prst="rect">
            <a:avLst/>
          </a:prstGeom>
          <a:noFill/>
          <a:ln/>
        </p:spPr>
        <p:txBody>
          <a:bodyPr wrap="square" lIns="0" tIns="0" rIns="0" bIns="0" rtlCol="0" anchor="ctr"/>
          <a:lstStyle/>
          <a:p>
            <a:r>
              <a:rPr lang="en-US" sz="3200" b="1">
                <a:solidFill>
                  <a:srgbClr val="1A1A2E"/>
                </a:solidFill>
                <a:latin typeface="Oswald" panose="00000500000000000000" pitchFamily="2" charset="0"/>
                <a:ea typeface="Calibri" pitchFamily="34" charset="-122"/>
                <a:cs typeface="Calibri" pitchFamily="34" charset="-120"/>
              </a:rPr>
              <a:t>Workforce &amp; Talent Solutions</a:t>
            </a:r>
            <a:endParaRPr lang="en-US" sz="3200">
              <a:latin typeface="Oswald" panose="00000500000000000000" pitchFamily="2" charset="0"/>
            </a:endParaRPr>
          </a:p>
        </p:txBody>
      </p:sp>
      <p:sp>
        <p:nvSpPr>
          <p:cNvPr id="80" name="Text 12">
            <a:extLst>
              <a:ext uri="{FF2B5EF4-FFF2-40B4-BE49-F238E27FC236}">
                <a16:creationId xmlns:a16="http://schemas.microsoft.com/office/drawing/2014/main" id="{830CE162-47E2-FB62-8B99-806E90C454F1}"/>
              </a:ext>
            </a:extLst>
          </p:cNvPr>
          <p:cNvSpPr txBox="1"/>
          <p:nvPr/>
        </p:nvSpPr>
        <p:spPr>
          <a:xfrm>
            <a:off x="819302" y="758952"/>
            <a:ext cx="9639605" cy="200254"/>
          </a:xfrm>
          <a:prstGeom prst="rect">
            <a:avLst/>
          </a:prstGeom>
          <a:noFill/>
          <a:ln/>
        </p:spPr>
        <p:txBody>
          <a:bodyPr wrap="square" lIns="0" tIns="0" rIns="0" bIns="0" rtlCol="0" anchor="ctr"/>
          <a:lstStyle/>
          <a:p>
            <a:pPr marL="0" indent="0" algn="l">
              <a:buNone/>
            </a:pPr>
            <a:r>
              <a:rPr lang="en-US" sz="1300" b="1" kern="0" spc="68">
                <a:solidFill>
                  <a:srgbClr val="2A9D8F"/>
                </a:solidFill>
                <a:latin typeface="Roboto Condensed" pitchFamily="34" charset="0"/>
                <a:ea typeface="Roboto Condensed" pitchFamily="34" charset="-122"/>
                <a:cs typeface="Roboto Condensed" pitchFamily="34" charset="-120"/>
              </a:rPr>
              <a:t>A MANAGED, AI-DRIVEN WORKFORCE UNIT - NOT JUST STAFFING WITH A WRAPPER.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858707"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debd4e3596836e8640379be3057665ef.png"/>
          <p:cNvPicPr>
            <a:picLocks noChangeAspect="1"/>
          </p:cNvPicPr>
          <p:nvPr/>
        </p:nvPicPr>
        <p:blipFill>
          <a:blip r:embed="rId3">
            <a:alphaModFix amt="6000"/>
          </a:blip>
          <a:srcRect/>
          <a:stretch/>
        </p:blipFill>
        <p:spPr>
          <a:xfrm>
            <a:off x="-761695" y="4762195"/>
            <a:ext cx="2857500" cy="2857500"/>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b359e3fa59182a7dfb1cf9bffd3421a2.png"/>
          <p:cNvPicPr>
            <a:picLocks noChangeAspect="1"/>
          </p:cNvPicPr>
          <p:nvPr/>
        </p:nvPicPr>
        <p:blipFill>
          <a:blip r:embed="rId6"/>
          <a:srcRect l="-375" r="-375"/>
          <a:stretch/>
        </p:blipFill>
        <p:spPr>
          <a:xfrm>
            <a:off x="609905" y="457200"/>
            <a:ext cx="57607" cy="609905"/>
          </a:xfrm>
          <a:prstGeom prst="rect">
            <a:avLst/>
          </a:prstGeom>
        </p:spPr>
      </p:pic>
      <p:sp>
        <p:nvSpPr>
          <p:cNvPr id="9" name="Shape 3"/>
          <p:cNvSpPr/>
          <p:nvPr/>
        </p:nvSpPr>
        <p:spPr>
          <a:xfrm>
            <a:off x="609905"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4"/>
          <p:cNvSpPr/>
          <p:nvPr/>
        </p:nvSpPr>
        <p:spPr>
          <a:xfrm>
            <a:off x="609905"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476902"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6"/>
          <p:cNvSpPr/>
          <p:nvPr/>
        </p:nvSpPr>
        <p:spPr>
          <a:xfrm>
            <a:off x="4476902" y="1714500"/>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343900"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4" name="Shape 8"/>
          <p:cNvSpPr/>
          <p:nvPr/>
        </p:nvSpPr>
        <p:spPr>
          <a:xfrm>
            <a:off x="8343900"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6" name="Shape 10"/>
          <p:cNvSpPr/>
          <p:nvPr/>
        </p:nvSpPr>
        <p:spPr>
          <a:xfrm>
            <a:off x="609905"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4476902"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8" name="Shape 12"/>
          <p:cNvSpPr/>
          <p:nvPr/>
        </p:nvSpPr>
        <p:spPr>
          <a:xfrm>
            <a:off x="4476902" y="4190695"/>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8343900"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8343900"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23" name="Text 17"/>
          <p:cNvSpPr txBox="1"/>
          <p:nvPr/>
        </p:nvSpPr>
        <p:spPr>
          <a:xfrm>
            <a:off x="760780" y="577088"/>
            <a:ext cx="8438998" cy="409651"/>
          </a:xfrm>
          <a:prstGeom prst="rect">
            <a:avLst/>
          </a:prstGeom>
          <a:noFill/>
          <a:ln/>
        </p:spPr>
        <p:txBody>
          <a:bodyPr wrap="none" lIns="0" tIns="0" rIns="0" bIns="0" rtlCol="0" anchor="ctr"/>
          <a:lstStyle/>
          <a:p>
            <a:pPr marL="0" indent="0" algn="l">
              <a:buNone/>
            </a:pPr>
            <a:r>
              <a:rPr lang="en-US" sz="2500" b="1">
                <a:solidFill>
                  <a:srgbClr val="111827"/>
                </a:solidFill>
                <a:latin typeface="Oswald" pitchFamily="34" charset="0"/>
                <a:ea typeface="Oswald" pitchFamily="34" charset="-122"/>
                <a:cs typeface="Oswald" pitchFamily="34" charset="-120"/>
              </a:rPr>
              <a:t>WORKFORCE SOLUTIONS - HOW WE DELIVER</a:t>
            </a:r>
          </a:p>
        </p:txBody>
      </p:sp>
      <p:sp>
        <p:nvSpPr>
          <p:cNvPr id="24" name="Text 18"/>
          <p:cNvSpPr txBox="1"/>
          <p:nvPr/>
        </p:nvSpPr>
        <p:spPr>
          <a:xfrm>
            <a:off x="819302" y="822960"/>
            <a:ext cx="8097012" cy="181051"/>
          </a:xfrm>
          <a:prstGeom prst="rect">
            <a:avLst/>
          </a:prstGeom>
          <a:noFill/>
          <a:ln/>
        </p:spPr>
        <p:txBody>
          <a:bodyPr wrap="non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From sourcing to sprint governance - a structured operating model, not a staffing drop.</a:t>
            </a:r>
          </a:p>
        </p:txBody>
      </p:sp>
      <p:sp>
        <p:nvSpPr>
          <p:cNvPr id="25" name="Text 19"/>
          <p:cNvSpPr txBox="1"/>
          <p:nvPr/>
        </p:nvSpPr>
        <p:spPr>
          <a:xfrm>
            <a:off x="819302" y="1079906"/>
            <a:ext cx="8097012" cy="152705"/>
          </a:xfrm>
          <a:prstGeom prst="rect">
            <a:avLst/>
          </a:prstGeom>
          <a:noFill/>
          <a:ln/>
        </p:spPr>
        <p:txBody>
          <a:bodyPr wrap="none" lIns="0" tIns="0" rIns="0" bIns="0" rtlCol="0" anchor="ctr"/>
          <a:lstStyle/>
          <a:p>
            <a:pPr marL="0" indent="0" algn="l">
              <a:buNone/>
            </a:pPr>
            <a:endParaRPr lang="en-US" sz="1000"/>
          </a:p>
        </p:txBody>
      </p:sp>
      <p:sp>
        <p:nvSpPr>
          <p:cNvPr id="26" name="Text 20"/>
          <p:cNvSpPr txBox="1"/>
          <p:nvPr/>
        </p:nvSpPr>
        <p:spPr>
          <a:xfrm>
            <a:off x="838505" y="1981505"/>
            <a:ext cx="34015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01</a:t>
            </a:r>
            <a:endParaRPr lang="en-US" sz="2400"/>
          </a:p>
        </p:txBody>
      </p:sp>
      <p:sp>
        <p:nvSpPr>
          <p:cNvPr id="27" name="Text 21"/>
          <p:cNvSpPr txBox="1"/>
          <p:nvPr/>
        </p:nvSpPr>
        <p:spPr>
          <a:xfrm>
            <a:off x="1237183" y="1995424"/>
            <a:ext cx="1417320"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Scope &amp; Source</a:t>
            </a:r>
            <a:endParaRPr lang="en-US" sz="1600"/>
          </a:p>
        </p:txBody>
      </p:sp>
      <p:sp>
        <p:nvSpPr>
          <p:cNvPr id="28" name="Text 22"/>
          <p:cNvSpPr txBox="1"/>
          <p:nvPr/>
        </p:nvSpPr>
        <p:spPr>
          <a:xfrm>
            <a:off x="838505"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Role definition + domain-specific talent pool activation. TalentAI matching + voice-agent pre-screen. Shortlist in 72 hrs.</a:t>
            </a:r>
            <a:endParaRPr lang="en-US" sz="1000"/>
          </a:p>
        </p:txBody>
      </p:sp>
      <p:pic>
        <p:nvPicPr>
          <p:cNvPr id="29" name="Image 4" descr="gen-dedup-68afaceb726e7c14c8688760b973252d.png"/>
          <p:cNvPicPr>
            <a:picLocks noChangeAspect="1"/>
          </p:cNvPicPr>
          <p:nvPr/>
        </p:nvPicPr>
        <p:blipFill>
          <a:blip r:embed="rId7"/>
          <a:srcRect l="-13360" r="-13360"/>
          <a:stretch/>
        </p:blipFill>
        <p:spPr>
          <a:xfrm>
            <a:off x="4062679" y="2648102"/>
            <a:ext cx="181051" cy="228600"/>
          </a:xfrm>
          <a:prstGeom prst="rect">
            <a:avLst/>
          </a:prstGeom>
        </p:spPr>
      </p:pic>
      <p:sp>
        <p:nvSpPr>
          <p:cNvPr id="30" name="Text 23"/>
          <p:cNvSpPr txBox="1"/>
          <p:nvPr/>
        </p:nvSpPr>
        <p:spPr>
          <a:xfrm>
            <a:off x="4705502" y="1981505"/>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02</a:t>
            </a:r>
            <a:endParaRPr lang="en-US" sz="2400"/>
          </a:p>
        </p:txBody>
      </p:sp>
      <p:sp>
        <p:nvSpPr>
          <p:cNvPr id="31" name="Text 24"/>
          <p:cNvSpPr txBox="1"/>
          <p:nvPr/>
        </p:nvSpPr>
        <p:spPr>
          <a:xfrm>
            <a:off x="5144414" y="1995424"/>
            <a:ext cx="839419"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AI-Assess</a:t>
            </a:r>
            <a:endParaRPr lang="en-US" sz="1600"/>
          </a:p>
        </p:txBody>
      </p:sp>
      <p:sp>
        <p:nvSpPr>
          <p:cNvPr id="32" name="Text 25"/>
          <p:cNvSpPr txBox="1"/>
          <p:nvPr/>
        </p:nvSpPr>
        <p:spPr>
          <a:xfrm>
            <a:off x="4705502"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Live coding + domain scenario assessment via TalentSphere. Technical bar validated by J2W before client interview.</a:t>
            </a:r>
            <a:endParaRPr lang="en-US" sz="1000"/>
          </a:p>
        </p:txBody>
      </p:sp>
      <p:pic>
        <p:nvPicPr>
          <p:cNvPr id="33" name="Image 5" descr="gen-dedup-68afaceb726e7c14c8688760b973252d.png"/>
          <p:cNvPicPr>
            <a:picLocks noChangeAspect="1"/>
          </p:cNvPicPr>
          <p:nvPr/>
        </p:nvPicPr>
        <p:blipFill>
          <a:blip r:embed="rId7"/>
          <a:srcRect l="-13360" r="-13360"/>
          <a:stretch/>
        </p:blipFill>
        <p:spPr>
          <a:xfrm>
            <a:off x="7929677" y="2648102"/>
            <a:ext cx="181051" cy="228600"/>
          </a:xfrm>
          <a:prstGeom prst="rect">
            <a:avLst/>
          </a:prstGeom>
        </p:spPr>
      </p:pic>
      <p:sp>
        <p:nvSpPr>
          <p:cNvPr id="34" name="Text 26"/>
          <p:cNvSpPr txBox="1"/>
          <p:nvPr/>
        </p:nvSpPr>
        <p:spPr>
          <a:xfrm>
            <a:off x="8572500" y="1981505"/>
            <a:ext cx="391363"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03</a:t>
            </a:r>
            <a:endParaRPr lang="en-US" sz="2400"/>
          </a:p>
        </p:txBody>
      </p:sp>
      <p:sp>
        <p:nvSpPr>
          <p:cNvPr id="35" name="Text 27"/>
          <p:cNvSpPr txBox="1"/>
          <p:nvPr/>
        </p:nvSpPr>
        <p:spPr>
          <a:xfrm>
            <a:off x="9011412" y="1995424"/>
            <a:ext cx="1553566"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Deploy in 10 Days</a:t>
            </a:r>
            <a:endParaRPr lang="en-US" sz="1600"/>
          </a:p>
        </p:txBody>
      </p:sp>
      <p:sp>
        <p:nvSpPr>
          <p:cNvPr id="36" name="Text 28"/>
          <p:cNvSpPr txBox="1"/>
          <p:nvPr/>
        </p:nvSpPr>
        <p:spPr>
          <a:xfrm>
            <a:off x="8572500"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Offer → onboarding → Day-1 productivity. J2W payroll, compliance, IT provisioning - fully managed.</a:t>
            </a:r>
            <a:endParaRPr lang="en-US" sz="1000"/>
          </a:p>
        </p:txBody>
      </p:sp>
      <p:pic>
        <p:nvPicPr>
          <p:cNvPr id="37" name="Image 6" descr="gen-dedup-ff9a716cc6b1850cd75acb20aeb0dc17.png"/>
          <p:cNvPicPr>
            <a:picLocks noChangeAspect="1"/>
          </p:cNvPicPr>
          <p:nvPr/>
        </p:nvPicPr>
        <p:blipFill>
          <a:blip r:embed="rId8"/>
          <a:srcRect t="-13131" b="-13131"/>
          <a:stretch/>
        </p:blipFill>
        <p:spPr>
          <a:xfrm>
            <a:off x="9872777" y="3895344"/>
            <a:ext cx="181051" cy="228600"/>
          </a:xfrm>
          <a:prstGeom prst="rect">
            <a:avLst/>
          </a:prstGeom>
        </p:spPr>
      </p:pic>
      <p:sp>
        <p:nvSpPr>
          <p:cNvPr id="38" name="Text 29"/>
          <p:cNvSpPr txBox="1"/>
          <p:nvPr/>
        </p:nvSpPr>
        <p:spPr>
          <a:xfrm>
            <a:off x="838505"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04</a:t>
            </a:r>
            <a:endParaRPr lang="en-US" sz="2400"/>
          </a:p>
        </p:txBody>
      </p:sp>
      <p:sp>
        <p:nvSpPr>
          <p:cNvPr id="39" name="Text 30"/>
          <p:cNvSpPr txBox="1"/>
          <p:nvPr/>
        </p:nvSpPr>
        <p:spPr>
          <a:xfrm>
            <a:off x="1280160" y="4472534"/>
            <a:ext cx="1564538"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Govern &amp; Upskill</a:t>
            </a:r>
            <a:endParaRPr lang="en-US" sz="1600"/>
          </a:p>
        </p:txBody>
      </p:sp>
      <p:sp>
        <p:nvSpPr>
          <p:cNvPr id="40" name="Text 31"/>
          <p:cNvSpPr txBox="1"/>
          <p:nvPr/>
        </p:nvSpPr>
        <p:spPr>
          <a:xfrm>
            <a:off x="838505"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Sprint accountability via Pod Manager. Monthly AI upskilling in J2W Labs. Weekly performance telemetry.</a:t>
            </a:r>
            <a:endParaRPr lang="en-US" sz="1000"/>
          </a:p>
        </p:txBody>
      </p:sp>
      <p:pic>
        <p:nvPicPr>
          <p:cNvPr id="41" name="Image 7" descr="gen-dedup-68afaceb726e7c14c8688760b973252d.png"/>
          <p:cNvPicPr>
            <a:picLocks noChangeAspect="1"/>
          </p:cNvPicPr>
          <p:nvPr/>
        </p:nvPicPr>
        <p:blipFill>
          <a:blip r:embed="rId7"/>
          <a:srcRect l="-13360" r="-13360"/>
          <a:stretch/>
        </p:blipFill>
        <p:spPr>
          <a:xfrm>
            <a:off x="4062679" y="5124298"/>
            <a:ext cx="181051" cy="228600"/>
          </a:xfrm>
          <a:prstGeom prst="rect">
            <a:avLst/>
          </a:prstGeom>
        </p:spPr>
      </p:pic>
      <p:sp>
        <p:nvSpPr>
          <p:cNvPr id="42" name="Text 32"/>
          <p:cNvSpPr txBox="1"/>
          <p:nvPr/>
        </p:nvSpPr>
        <p:spPr>
          <a:xfrm>
            <a:off x="4705502" y="4457700"/>
            <a:ext cx="38587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05</a:t>
            </a:r>
            <a:endParaRPr lang="en-US" sz="2400"/>
          </a:p>
        </p:txBody>
      </p:sp>
      <p:sp>
        <p:nvSpPr>
          <p:cNvPr id="43" name="Text 33"/>
          <p:cNvSpPr txBox="1"/>
          <p:nvPr/>
        </p:nvSpPr>
        <p:spPr>
          <a:xfrm>
            <a:off x="5142586" y="4472534"/>
            <a:ext cx="201808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POFU - 90-Day Funnel</a:t>
            </a:r>
            <a:endParaRPr lang="en-US" sz="1600"/>
          </a:p>
        </p:txBody>
      </p:sp>
      <p:sp>
        <p:nvSpPr>
          <p:cNvPr id="44" name="Text 34"/>
          <p:cNvSpPr txBox="1"/>
          <p:nvPr/>
        </p:nvSpPr>
        <p:spPr>
          <a:xfrm>
            <a:off x="4705502" y="4905756"/>
            <a:ext cx="2781605" cy="800100"/>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Post-Offer Follow-Up: milestone touchpoints, counter-offer inoculation, manager connects. Dropout rate → single digits.</a:t>
            </a:r>
            <a:endParaRPr lang="en-US" sz="1000"/>
          </a:p>
        </p:txBody>
      </p:sp>
      <p:pic>
        <p:nvPicPr>
          <p:cNvPr id="45" name="Image 8" descr="gen-dedup-68afaceb726e7c14c8688760b973252d.png"/>
          <p:cNvPicPr>
            <a:picLocks noChangeAspect="1"/>
          </p:cNvPicPr>
          <p:nvPr/>
        </p:nvPicPr>
        <p:blipFill>
          <a:blip r:embed="rId7"/>
          <a:srcRect l="-13360" r="-13360"/>
          <a:stretch/>
        </p:blipFill>
        <p:spPr>
          <a:xfrm>
            <a:off x="7929677" y="5124298"/>
            <a:ext cx="181051" cy="228600"/>
          </a:xfrm>
          <a:prstGeom prst="rect">
            <a:avLst/>
          </a:prstGeom>
        </p:spPr>
      </p:pic>
      <p:sp>
        <p:nvSpPr>
          <p:cNvPr id="46" name="Text 35"/>
          <p:cNvSpPr txBox="1"/>
          <p:nvPr/>
        </p:nvSpPr>
        <p:spPr>
          <a:xfrm>
            <a:off x="8572500"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06</a:t>
            </a:r>
            <a:endParaRPr lang="en-US" sz="2400"/>
          </a:p>
        </p:txBody>
      </p:sp>
      <p:sp>
        <p:nvSpPr>
          <p:cNvPr id="47" name="Text 36"/>
          <p:cNvSpPr txBox="1"/>
          <p:nvPr/>
        </p:nvSpPr>
        <p:spPr>
          <a:xfrm>
            <a:off x="9018727" y="4472534"/>
            <a:ext cx="159837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Scale or Convert</a:t>
            </a:r>
            <a:endParaRPr lang="en-US" sz="1600"/>
          </a:p>
        </p:txBody>
      </p:sp>
      <p:sp>
        <p:nvSpPr>
          <p:cNvPr id="48" name="Text 37"/>
          <p:cNvSpPr txBox="1"/>
          <p:nvPr/>
        </p:nvSpPr>
        <p:spPr>
          <a:xfrm>
            <a:off x="8572500"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C2H → permanent conversion on Day 91. Scale the pod up or down. Quarterly Business Review with ROI data.</a:t>
            </a:r>
            <a:endParaRPr 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4ab2116e971fbb9400d0e99205bd0390.png"/>
          <p:cNvPicPr>
            <a:picLocks noChangeAspect="1"/>
          </p:cNvPicPr>
          <p:nvPr/>
        </p:nvPicPr>
        <p:blipFill>
          <a:blip r:embed="rId5">
            <a:alphaModFix amt="8000"/>
          </a:blip>
          <a:srcRect/>
          <a:stretch/>
        </p:blipFill>
        <p:spPr>
          <a:xfrm>
            <a:off x="-381305" y="4190695"/>
            <a:ext cx="1904695" cy="1904695"/>
          </a:xfrm>
          <a:prstGeom prst="rect">
            <a:avLst/>
          </a:prstGeom>
        </p:spPr>
      </p:pic>
      <p:sp>
        <p:nvSpPr>
          <p:cNvPr id="8" name="Shape 3"/>
          <p:cNvSpPr/>
          <p:nvPr/>
        </p:nvSpPr>
        <p:spPr>
          <a:xfrm>
            <a:off x="609905" y="2000707"/>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9" name="Shape 4"/>
          <p:cNvSpPr/>
          <p:nvPr/>
        </p:nvSpPr>
        <p:spPr>
          <a:xfrm>
            <a:off x="609905" y="2000707"/>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609905" y="2952598"/>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1" name="Shape 6"/>
          <p:cNvSpPr/>
          <p:nvPr/>
        </p:nvSpPr>
        <p:spPr>
          <a:xfrm>
            <a:off x="609905" y="2952598"/>
            <a:ext cx="57607" cy="857707"/>
          </a:xfrm>
          <a:prstGeom prst="roundRect">
            <a:avLst>
              <a:gd name="adj" fmla="val 66667"/>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09905" y="3905402"/>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3" name="Shape 8"/>
          <p:cNvSpPr/>
          <p:nvPr/>
        </p:nvSpPr>
        <p:spPr>
          <a:xfrm>
            <a:off x="609905" y="3905402"/>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609905" y="4858207"/>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5" name="Shape 10"/>
          <p:cNvSpPr/>
          <p:nvPr/>
        </p:nvSpPr>
        <p:spPr>
          <a:xfrm>
            <a:off x="609905" y="4858207"/>
            <a:ext cx="57607" cy="857707"/>
          </a:xfrm>
          <a:prstGeom prst="roundRect">
            <a:avLst>
              <a:gd name="adj" fmla="val 66667"/>
            </a:avLst>
          </a:prstGeom>
          <a:solidFill>
            <a:srgbClr val="D62839"/>
          </a:solidFill>
          <a:ln w="12700">
            <a:solidFill>
              <a:srgbClr val="D62839">
                <a:alpha val="0"/>
              </a:srgbClr>
            </a:solidFill>
            <a:prstDash val="solid"/>
          </a:ln>
        </p:spPr>
        <p:txBody>
          <a:bodyPr/>
          <a:lstStyle/>
          <a:p>
            <a:endParaRPr lang="en-US"/>
          </a:p>
        </p:txBody>
      </p:sp>
      <p:sp>
        <p:nvSpPr>
          <p:cNvPr id="16" name="Shape 11"/>
          <p:cNvSpPr/>
          <p:nvPr/>
        </p:nvSpPr>
        <p:spPr>
          <a:xfrm>
            <a:off x="609905" y="5810098"/>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7" name="Shape 12"/>
          <p:cNvSpPr/>
          <p:nvPr/>
        </p:nvSpPr>
        <p:spPr>
          <a:xfrm>
            <a:off x="609905" y="5810098"/>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pic>
        <p:nvPicPr>
          <p:cNvPr id="20" name="Image 3" descr="gen-dedup-f40e183725d285eac3acdddf8d8f823b.png"/>
          <p:cNvPicPr>
            <a:picLocks noChangeAspect="1"/>
          </p:cNvPicPr>
          <p:nvPr/>
        </p:nvPicPr>
        <p:blipFill>
          <a:blip r:embed="rId6"/>
          <a:srcRect l="-369" r="-369"/>
          <a:stretch/>
        </p:blipFill>
        <p:spPr>
          <a:xfrm>
            <a:off x="609905" y="448970"/>
            <a:ext cx="57607" cy="495605"/>
          </a:xfrm>
          <a:prstGeom prst="rect">
            <a:avLst/>
          </a:prstGeom>
        </p:spPr>
      </p:pic>
      <p:sp>
        <p:nvSpPr>
          <p:cNvPr id="21" name="Text 15"/>
          <p:cNvSpPr txBox="1"/>
          <p:nvPr/>
        </p:nvSpPr>
        <p:spPr>
          <a:xfrm>
            <a:off x="819302" y="381305"/>
            <a:ext cx="4499762" cy="409651"/>
          </a:xfrm>
          <a:prstGeom prst="rect">
            <a:avLst/>
          </a:prstGeom>
          <a:noFill/>
          <a:ln/>
        </p:spPr>
        <p:txBody>
          <a:bodyPr wrap="none" lIns="0" tIns="0" rIns="0" bIns="0" rtlCol="0" anchor="ctr"/>
          <a:lstStyle/>
          <a:p>
            <a:pPr marL="0" indent="0" algn="l">
              <a:buNone/>
            </a:pPr>
            <a:r>
              <a:rPr lang="en-US" sz="2800" b="1">
                <a:solidFill>
                  <a:srgbClr val="111827"/>
                </a:solidFill>
                <a:latin typeface="Oswald" pitchFamily="34" charset="0"/>
                <a:ea typeface="Oswald" pitchFamily="34" charset="-122"/>
                <a:cs typeface="Oswald" pitchFamily="34" charset="-120"/>
              </a:rPr>
              <a:t>STRUCTURAL DIFFERENTIATION</a:t>
            </a:r>
            <a:endParaRPr lang="en-US" sz="2800"/>
          </a:p>
        </p:txBody>
      </p:sp>
      <p:sp>
        <p:nvSpPr>
          <p:cNvPr id="22" name="Text 16"/>
          <p:cNvSpPr txBox="1"/>
          <p:nvPr/>
        </p:nvSpPr>
        <p:spPr>
          <a:xfrm>
            <a:off x="819302" y="821131"/>
            <a:ext cx="3610051" cy="191110"/>
          </a:xfrm>
          <a:prstGeom prst="rect">
            <a:avLst/>
          </a:prstGeom>
          <a:noFill/>
          <a:ln/>
        </p:spPr>
        <p:txBody>
          <a:bodyPr wrap="none" lIns="0" tIns="0" rIns="0" bIns="0" rtlCol="0" anchor="ctr"/>
          <a:lstStyle/>
          <a:p>
            <a:pPr marL="0" indent="0" algn="l">
              <a:buNone/>
            </a:pPr>
            <a:r>
              <a:rPr lang="en-US" sz="1300" b="1" kern="0" spc="66">
                <a:solidFill>
                  <a:srgbClr val="2A9D8F"/>
                </a:solidFill>
                <a:latin typeface="Roboto Condensed" pitchFamily="34" charset="0"/>
                <a:ea typeface="Roboto Condensed" pitchFamily="34" charset="-122"/>
                <a:cs typeface="Roboto Condensed" pitchFamily="34" charset="-120"/>
              </a:rPr>
              <a:t>WORKFORCE SOLUTIONS</a:t>
            </a:r>
          </a:p>
        </p:txBody>
      </p:sp>
      <p:sp>
        <p:nvSpPr>
          <p:cNvPr id="23" name="Text 17"/>
          <p:cNvSpPr txBox="1"/>
          <p:nvPr/>
        </p:nvSpPr>
        <p:spPr>
          <a:xfrm>
            <a:off x="609905" y="1380744"/>
            <a:ext cx="10972800" cy="267005"/>
          </a:xfrm>
          <a:prstGeom prst="rect">
            <a:avLst/>
          </a:prstGeom>
          <a:noFill/>
          <a:ln/>
        </p:spPr>
        <p:txBody>
          <a:bodyPr wrap="none" lIns="0" tIns="0" rIns="0" bIns="0" rtlCol="0" anchor="ctr"/>
          <a:lstStyle/>
          <a:p>
            <a:pPr marL="0" indent="0" algn="l">
              <a:buNone/>
            </a:pPr>
            <a:r>
              <a:rPr lang="en-US" sz="1500" b="1">
                <a:solidFill>
                  <a:srgbClr val="D62839"/>
                </a:solidFill>
                <a:latin typeface="Raleway" pitchFamily="34" charset="0"/>
                <a:ea typeface="Raleway" pitchFamily="34" charset="-122"/>
                <a:cs typeface="Raleway" pitchFamily="34" charset="-120"/>
              </a:rPr>
              <a:t>Five structural differences that change the engagement from transactional to transformational.</a:t>
            </a:r>
            <a:endParaRPr lang="en-US" sz="1500"/>
          </a:p>
        </p:txBody>
      </p:sp>
      <p:sp>
        <p:nvSpPr>
          <p:cNvPr id="24" name="Text 18"/>
          <p:cNvSpPr txBox="1"/>
          <p:nvPr/>
        </p:nvSpPr>
        <p:spPr>
          <a:xfrm>
            <a:off x="1037844" y="2148840"/>
            <a:ext cx="1904695"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No Subcontracting</a:t>
            </a:r>
            <a:endParaRPr lang="en-US" sz="1400"/>
          </a:p>
        </p:txBody>
      </p:sp>
      <p:sp>
        <p:nvSpPr>
          <p:cNvPr id="25" name="Text 19"/>
          <p:cNvSpPr txBox="1"/>
          <p:nvPr/>
        </p:nvSpPr>
        <p:spPr>
          <a:xfrm>
            <a:off x="800100" y="2491740"/>
            <a:ext cx="11278210" cy="219456"/>
          </a:xfrm>
          <a:prstGeom prst="rect">
            <a:avLst/>
          </a:prstGeom>
          <a:noFill/>
          <a:ln/>
        </p:spPr>
        <p:txBody>
          <a:bodyPr wrap="non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300+ in-house recruiters. 7,200+ professionals on J2W payroll. Zero subcontracting layer diluting quality, speed, or accountability.</a:t>
            </a:r>
            <a:endParaRPr lang="en-US" sz="1300"/>
          </a:p>
        </p:txBody>
      </p:sp>
      <p:pic>
        <p:nvPicPr>
          <p:cNvPr id="26" name="Image 4" descr="gen-dedup-928b248bf773cd1fca0141b5a5721735.png"/>
          <p:cNvPicPr>
            <a:picLocks noChangeAspect="1"/>
          </p:cNvPicPr>
          <p:nvPr/>
        </p:nvPicPr>
        <p:blipFill>
          <a:blip r:embed="rId7"/>
          <a:srcRect t="-6603" b="-6603"/>
          <a:stretch/>
        </p:blipFill>
        <p:spPr>
          <a:xfrm>
            <a:off x="800100" y="2211934"/>
            <a:ext cx="161849" cy="209398"/>
          </a:xfrm>
          <a:prstGeom prst="rect">
            <a:avLst/>
          </a:prstGeom>
        </p:spPr>
      </p:pic>
      <p:sp>
        <p:nvSpPr>
          <p:cNvPr id="27" name="Text 20"/>
          <p:cNvSpPr txBox="1"/>
          <p:nvPr/>
        </p:nvSpPr>
        <p:spPr>
          <a:xfrm>
            <a:off x="1037844" y="2991917"/>
            <a:ext cx="2414930" cy="305410"/>
          </a:xfrm>
          <a:prstGeom prst="rect">
            <a:avLst/>
          </a:prstGeom>
          <a:noFill/>
          <a:ln/>
        </p:spPr>
        <p:txBody>
          <a:bodyPr wrap="none" lIns="0" tIns="0" rIns="0" bIns="0" rtlCol="0" anchor="ctr"/>
          <a:lstStyle/>
          <a:p>
            <a:pPr marL="0" indent="0" algn="l">
              <a:buNone/>
            </a:pPr>
            <a:r>
              <a:rPr lang="en-US" sz="1400" b="1">
                <a:solidFill>
                  <a:srgbClr val="D62839"/>
                </a:solidFill>
                <a:latin typeface="Oswald" pitchFamily="34" charset="0"/>
                <a:ea typeface="Oswald" pitchFamily="34" charset="-122"/>
                <a:cs typeface="Oswald" pitchFamily="34" charset="-120"/>
              </a:rPr>
              <a:t>GCC-Native Intelligence</a:t>
            </a:r>
            <a:endParaRPr lang="en-US" sz="1400"/>
          </a:p>
        </p:txBody>
      </p:sp>
      <p:sp>
        <p:nvSpPr>
          <p:cNvPr id="28" name="Text 21"/>
          <p:cNvSpPr txBox="1"/>
          <p:nvPr/>
        </p:nvSpPr>
        <p:spPr>
          <a:xfrm>
            <a:off x="800100" y="3334817"/>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Forged through 300+ active GCC deployments. We see the next problem before it shows up because we have already solved it somewhere else.</a:t>
            </a:r>
            <a:endParaRPr lang="en-US" sz="1300"/>
          </a:p>
        </p:txBody>
      </p:sp>
      <p:pic>
        <p:nvPicPr>
          <p:cNvPr id="29" name="Image 5" descr="gen-dedup-0c58ce2f3d3941653435c84e3cc91c65.png"/>
          <p:cNvPicPr>
            <a:picLocks noChangeAspect="1"/>
          </p:cNvPicPr>
          <p:nvPr/>
        </p:nvPicPr>
        <p:blipFill>
          <a:blip r:embed="rId8"/>
          <a:srcRect t="-14689" b="-14689"/>
          <a:stretch/>
        </p:blipFill>
        <p:spPr>
          <a:xfrm>
            <a:off x="800100" y="3055925"/>
            <a:ext cx="161849" cy="209398"/>
          </a:xfrm>
          <a:prstGeom prst="rect">
            <a:avLst/>
          </a:prstGeom>
        </p:spPr>
      </p:pic>
      <p:sp>
        <p:nvSpPr>
          <p:cNvPr id="30" name="Text 22"/>
          <p:cNvSpPr txBox="1"/>
          <p:nvPr/>
        </p:nvSpPr>
        <p:spPr>
          <a:xfrm>
            <a:off x="1037844" y="3944722"/>
            <a:ext cx="1633118"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AI at Every Step</a:t>
            </a:r>
            <a:endParaRPr lang="en-US" sz="1400"/>
          </a:p>
        </p:txBody>
      </p:sp>
      <p:sp>
        <p:nvSpPr>
          <p:cNvPr id="31" name="Text 23"/>
          <p:cNvSpPr txBox="1"/>
          <p:nvPr/>
        </p:nvSpPr>
        <p:spPr>
          <a:xfrm>
            <a:off x="800100" y="4287622"/>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TalentAI + TalentSphere: AI-ranked pools, voice-agent screening, skill graphs, predictive placement. Every tool passed our 40% improvement gate internally.</a:t>
            </a:r>
            <a:endParaRPr lang="en-US" sz="1300"/>
          </a:p>
        </p:txBody>
      </p:sp>
      <p:pic>
        <p:nvPicPr>
          <p:cNvPr id="32" name="Image 6" descr="gen-dedup-da669e206ac26c7983b1f8612c832ea6.png"/>
          <p:cNvPicPr>
            <a:picLocks noChangeAspect="1"/>
          </p:cNvPicPr>
          <p:nvPr/>
        </p:nvPicPr>
        <p:blipFill>
          <a:blip r:embed="rId9"/>
          <a:srcRect t="-30861" b="-30861"/>
          <a:stretch/>
        </p:blipFill>
        <p:spPr>
          <a:xfrm>
            <a:off x="800100" y="4008730"/>
            <a:ext cx="161849" cy="209398"/>
          </a:xfrm>
          <a:prstGeom prst="rect">
            <a:avLst/>
          </a:prstGeom>
        </p:spPr>
      </p:pic>
      <p:sp>
        <p:nvSpPr>
          <p:cNvPr id="33" name="Text 24"/>
          <p:cNvSpPr txBox="1"/>
          <p:nvPr/>
        </p:nvSpPr>
        <p:spPr>
          <a:xfrm>
            <a:off x="1037844" y="4897526"/>
            <a:ext cx="2460650" cy="305410"/>
          </a:xfrm>
          <a:prstGeom prst="rect">
            <a:avLst/>
          </a:prstGeom>
          <a:noFill/>
          <a:ln/>
        </p:spPr>
        <p:txBody>
          <a:bodyPr wrap="none" lIns="0" tIns="0" rIns="0" bIns="0" rtlCol="0" anchor="ctr"/>
          <a:lstStyle/>
          <a:p>
            <a:pPr marL="0" indent="0" algn="l">
              <a:buNone/>
            </a:pPr>
            <a:r>
              <a:rPr lang="en-US" sz="1400" b="1">
                <a:solidFill>
                  <a:srgbClr val="D62839"/>
                </a:solidFill>
                <a:latin typeface="Oswald" pitchFamily="34" charset="0"/>
                <a:ea typeface="Oswald" pitchFamily="34" charset="-122"/>
                <a:cs typeface="Oswald" pitchFamily="34" charset="-120"/>
              </a:rPr>
              <a:t>Pod Governance Built In</a:t>
            </a:r>
            <a:endParaRPr lang="en-US" sz="1400"/>
          </a:p>
        </p:txBody>
      </p:sp>
      <p:sp>
        <p:nvSpPr>
          <p:cNvPr id="34" name="Text 25"/>
          <p:cNvSpPr txBox="1"/>
          <p:nvPr/>
        </p:nvSpPr>
        <p:spPr>
          <a:xfrm>
            <a:off x="800100" y="5240426"/>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A dedicated Pod Manager - not billed to client - owns sprint governance, performance tracking, and L&amp;D coordination. This is a pod, not a staffing drop.</a:t>
            </a:r>
            <a:endParaRPr lang="en-US" sz="1300"/>
          </a:p>
        </p:txBody>
      </p:sp>
      <p:pic>
        <p:nvPicPr>
          <p:cNvPr id="35" name="Image 7" descr="gen-dedup-5d8964838ee5ef7b6e1692b5297312cd.png"/>
          <p:cNvPicPr>
            <a:picLocks noChangeAspect="1"/>
          </p:cNvPicPr>
          <p:nvPr/>
        </p:nvPicPr>
        <p:blipFill>
          <a:blip r:embed="rId10"/>
          <a:srcRect t="-30861" b="-30861"/>
          <a:stretch/>
        </p:blipFill>
        <p:spPr>
          <a:xfrm>
            <a:off x="800100" y="4960620"/>
            <a:ext cx="161849" cy="209398"/>
          </a:xfrm>
          <a:prstGeom prst="rect">
            <a:avLst/>
          </a:prstGeom>
        </p:spPr>
      </p:pic>
      <p:sp>
        <p:nvSpPr>
          <p:cNvPr id="36" name="Text 26"/>
          <p:cNvSpPr txBox="1"/>
          <p:nvPr/>
        </p:nvSpPr>
        <p:spPr>
          <a:xfrm>
            <a:off x="1037844" y="5849417"/>
            <a:ext cx="2051914"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Validated Playbooks</a:t>
            </a:r>
            <a:endParaRPr lang="en-US" sz="1400"/>
          </a:p>
        </p:txBody>
      </p:sp>
      <p:sp>
        <p:nvSpPr>
          <p:cNvPr id="37" name="Text 27"/>
          <p:cNvSpPr txBox="1"/>
          <p:nvPr/>
        </p:nvSpPr>
        <p:spPr>
          <a:xfrm>
            <a:off x="800100" y="6192317"/>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Every tool, process, and accelerator has passed our internal 40% improvement gate. Clients benefit from completed learning - not our experimentation.</a:t>
            </a:r>
            <a:endParaRPr lang="en-US" sz="1300"/>
          </a:p>
        </p:txBody>
      </p:sp>
      <p:pic>
        <p:nvPicPr>
          <p:cNvPr id="38" name="Image 8" descr="gen-dedup-001fb79ce367df5df5f79805d3e188cd.png"/>
          <p:cNvPicPr>
            <a:picLocks noChangeAspect="1"/>
          </p:cNvPicPr>
          <p:nvPr/>
        </p:nvPicPr>
        <p:blipFill>
          <a:blip r:embed="rId11"/>
          <a:srcRect t="-22775" b="-22775"/>
          <a:stretch/>
        </p:blipFill>
        <p:spPr>
          <a:xfrm>
            <a:off x="800100" y="5913425"/>
            <a:ext cx="161849" cy="20939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202" r="-202"/>
          <a:stretch/>
        </p:blipFill>
        <p:spPr>
          <a:xfrm>
            <a:off x="0" y="0"/>
            <a:ext cx="8127187" cy="75895"/>
          </a:xfrm>
          <a:prstGeom prst="rect">
            <a:avLst/>
          </a:prstGeom>
        </p:spPr>
      </p:pic>
      <p:pic>
        <p:nvPicPr>
          <p:cNvPr id="5" name="Image 1" descr="gen-dedup-64882feb7a832238af77b962fc7a8538.png"/>
          <p:cNvPicPr>
            <a:picLocks noChangeAspect="1"/>
          </p:cNvPicPr>
          <p:nvPr/>
        </p:nvPicPr>
        <p:blipFill>
          <a:blip r:embed="rId4"/>
          <a:srcRect l="-203" r="-203"/>
          <a:stretch/>
        </p:blipFill>
        <p:spPr>
          <a:xfrm>
            <a:off x="8127187"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c72c85b07e3f177762516dd89615ea68.png"/>
          <p:cNvPicPr>
            <a:picLocks noChangeAspect="1"/>
          </p:cNvPicPr>
          <p:nvPr/>
        </p:nvPicPr>
        <p:blipFill>
          <a:blip r:embed="rId6"/>
          <a:srcRect t="-217" b="-217"/>
          <a:stretch/>
        </p:blipFill>
        <p:spPr>
          <a:xfrm>
            <a:off x="609905" y="544982"/>
            <a:ext cx="75895" cy="476402"/>
          </a:xfrm>
          <a:prstGeom prst="rect">
            <a:avLst/>
          </a:prstGeom>
        </p:spPr>
      </p:pic>
      <p:sp>
        <p:nvSpPr>
          <p:cNvPr id="9" name="Text 3"/>
          <p:cNvSpPr txBox="1"/>
          <p:nvPr/>
        </p:nvSpPr>
        <p:spPr>
          <a:xfrm>
            <a:off x="875995" y="381305"/>
            <a:ext cx="7105802" cy="467258"/>
          </a:xfrm>
          <a:prstGeom prst="rect">
            <a:avLst/>
          </a:prstGeom>
          <a:noFill/>
          <a:ln/>
        </p:spPr>
        <p:txBody>
          <a:bodyPr wrap="none" lIns="0" tIns="0" rIns="0" bIns="0" rtlCol="0" anchor="ctr"/>
          <a:lstStyle/>
          <a:p>
            <a:pPr marL="0" indent="0" algn="l">
              <a:buNone/>
            </a:pPr>
            <a:r>
              <a:rPr lang="en-US" sz="3300" b="1" kern="0" spc="-82">
                <a:solidFill>
                  <a:srgbClr val="111827"/>
                </a:solidFill>
                <a:latin typeface="Oswald" pitchFamily="34" charset="0"/>
                <a:ea typeface="Oswald" pitchFamily="34" charset="-122"/>
                <a:cs typeface="Oswald" pitchFamily="34" charset="-120"/>
              </a:rPr>
              <a:t>Managed Service Solutions</a:t>
            </a:r>
            <a:endParaRPr lang="en-US" sz="3300"/>
          </a:p>
        </p:txBody>
      </p:sp>
      <p:sp>
        <p:nvSpPr>
          <p:cNvPr id="10" name="Text 4"/>
          <p:cNvSpPr txBox="1"/>
          <p:nvPr/>
        </p:nvSpPr>
        <p:spPr>
          <a:xfrm>
            <a:off x="875995" y="898855"/>
            <a:ext cx="7791602" cy="286207"/>
          </a:xfrm>
          <a:prstGeom prst="rect">
            <a:avLst/>
          </a:prstGeom>
          <a:noFill/>
          <a:ln/>
        </p:spPr>
        <p:txBody>
          <a:bodyPr wrap="non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OUTCOME-BOUND DELIVERY - NOT JUST A VENDOR WITH A STATEMENT OF WORK.</a:t>
            </a:r>
            <a:endParaRPr lang="en-US" sz="1500"/>
          </a:p>
        </p:txBody>
      </p:sp>
      <p:sp>
        <p:nvSpPr>
          <p:cNvPr id="11" name="Shape 5"/>
          <p:cNvSpPr/>
          <p:nvPr/>
        </p:nvSpPr>
        <p:spPr>
          <a:xfrm>
            <a:off x="609905" y="1524305"/>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2" name="Shape 6"/>
          <p:cNvSpPr/>
          <p:nvPr/>
        </p:nvSpPr>
        <p:spPr>
          <a:xfrm>
            <a:off x="609905" y="1524305"/>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2699308"/>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6" name="Shape 10"/>
          <p:cNvSpPr/>
          <p:nvPr/>
        </p:nvSpPr>
        <p:spPr>
          <a:xfrm>
            <a:off x="609905" y="2699308"/>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7" name="Shape 11"/>
          <p:cNvSpPr/>
          <p:nvPr/>
        </p:nvSpPr>
        <p:spPr>
          <a:xfrm>
            <a:off x="609905" y="3823105"/>
            <a:ext cx="5524805" cy="1162202"/>
          </a:xfrm>
          <a:prstGeom prst="roundRect">
            <a:avLst>
              <a:gd name="adj" fmla="val 10318"/>
            </a:avLst>
          </a:prstGeom>
          <a:solidFill>
            <a:srgbClr val="FFFFFF"/>
          </a:solidFill>
          <a:ln w="12700">
            <a:solidFill>
              <a:srgbClr val="E5E7EB"/>
            </a:solidFill>
            <a:prstDash val="solid"/>
          </a:ln>
        </p:spPr>
        <p:txBody>
          <a:bodyPr/>
          <a:lstStyle/>
          <a:p>
            <a:endParaRPr lang="en-US"/>
          </a:p>
        </p:txBody>
      </p:sp>
      <p:sp>
        <p:nvSpPr>
          <p:cNvPr id="18" name="Shape 12"/>
          <p:cNvSpPr/>
          <p:nvPr/>
        </p:nvSpPr>
        <p:spPr>
          <a:xfrm>
            <a:off x="609905" y="3823105"/>
            <a:ext cx="38405" cy="1162202"/>
          </a:xfrm>
          <a:prstGeom prst="roundRect">
            <a:avLst>
              <a:gd name="adj" fmla="val 312254"/>
            </a:avLst>
          </a:prstGeom>
          <a:solidFill>
            <a:srgbClr val="D62839"/>
          </a:solidFill>
          <a:ln w="12700">
            <a:solidFill>
              <a:srgbClr val="D62839">
                <a:alpha val="0"/>
              </a:srgbClr>
            </a:solidFill>
            <a:prstDash val="solid"/>
          </a:ln>
        </p:spPr>
        <p:txBody>
          <a:bodyPr/>
          <a:lstStyle/>
          <a:p>
            <a:endParaRPr lang="en-US"/>
          </a:p>
        </p:txBody>
      </p:sp>
      <p:sp>
        <p:nvSpPr>
          <p:cNvPr id="19" name="Shape 13"/>
          <p:cNvSpPr/>
          <p:nvPr/>
        </p:nvSpPr>
        <p:spPr>
          <a:xfrm>
            <a:off x="6381598" y="1524305"/>
            <a:ext cx="5201107" cy="4572000"/>
          </a:xfrm>
          <a:prstGeom prst="roundRect">
            <a:avLst>
              <a:gd name="adj" fmla="val 667"/>
            </a:avLst>
          </a:prstGeom>
          <a:solidFill>
            <a:srgbClr val="F8FAFC"/>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6391656" y="1533449"/>
            <a:ext cx="5181905" cy="552298"/>
          </a:xfrm>
          <a:prstGeom prst="roundRect">
            <a:avLst>
              <a:gd name="adj" fmla="val 45672"/>
            </a:avLst>
          </a:prstGeom>
          <a:solidFill>
            <a:srgbClr val="1F2937"/>
          </a:solidFill>
          <a:ln w="12700">
            <a:solidFill>
              <a:srgbClr val="FFFFFF">
                <a:alpha val="0"/>
              </a:srgbClr>
            </a:solidFill>
            <a:prstDash val="solid"/>
          </a:ln>
        </p:spPr>
        <p:txBody>
          <a:bodyPr/>
          <a:lstStyle/>
          <a:p>
            <a:endParaRPr lang="en-US"/>
          </a:p>
        </p:txBody>
      </p:sp>
      <p:sp>
        <p:nvSpPr>
          <p:cNvPr id="21" name="Text 15"/>
          <p:cNvSpPr txBox="1"/>
          <p:nvPr/>
        </p:nvSpPr>
        <p:spPr>
          <a:xfrm>
            <a:off x="6543446" y="1593692"/>
            <a:ext cx="4877410" cy="324612"/>
          </a:xfrm>
          <a:prstGeom prst="rect">
            <a:avLst/>
          </a:prstGeom>
          <a:noFill/>
          <a:ln/>
        </p:spPr>
        <p:txBody>
          <a:bodyPr wrap="none" lIns="0" tIns="0" rIns="0" bIns="0" rtlCol="0" anchor="ctr"/>
          <a:lstStyle/>
          <a:p>
            <a:pPr marL="0" indent="0" algn="ctr">
              <a:buNone/>
            </a:pPr>
            <a:r>
              <a:rPr lang="en-US" sz="1100">
                <a:solidFill>
                  <a:srgbClr val="FFFFFF"/>
                </a:solidFill>
                <a:latin typeface="Oswald" pitchFamily="34" charset="0"/>
                <a:ea typeface="Oswald" pitchFamily="34" charset="-122"/>
                <a:cs typeface="Oswald" pitchFamily="34" charset="-120"/>
              </a:rPr>
              <a:t>Service Model Comparison</a:t>
            </a:r>
            <a:endParaRPr lang="en-US" sz="1100"/>
          </a:p>
        </p:txBody>
      </p:sp>
      <p:sp>
        <p:nvSpPr>
          <p:cNvPr id="22" name="Shape 16"/>
          <p:cNvSpPr/>
          <p:nvPr/>
        </p:nvSpPr>
        <p:spPr>
          <a:xfrm>
            <a:off x="609905" y="6229807"/>
            <a:ext cx="10972800" cy="437998"/>
          </a:xfrm>
          <a:prstGeom prst="roundRect">
            <a:avLst>
              <a:gd name="adj" fmla="val 36307"/>
            </a:avLst>
          </a:prstGeom>
          <a:solidFill>
            <a:srgbClr val="F8FAFC"/>
          </a:solidFill>
          <a:ln/>
        </p:spPr>
        <p:txBody>
          <a:bodyPr/>
          <a:lstStyle/>
          <a:p>
            <a:endParaRPr lang="en-US"/>
          </a:p>
        </p:txBody>
      </p:sp>
      <p:sp>
        <p:nvSpPr>
          <p:cNvPr id="23" name="Shape 17"/>
          <p:cNvSpPr/>
          <p:nvPr/>
        </p:nvSpPr>
        <p:spPr>
          <a:xfrm>
            <a:off x="609905" y="6229807"/>
            <a:ext cx="38405" cy="437998"/>
          </a:xfrm>
          <a:prstGeom prst="roundRect">
            <a:avLst>
              <a:gd name="adj" fmla="val 414077"/>
            </a:avLst>
          </a:prstGeom>
          <a:solidFill>
            <a:srgbClr val="111827"/>
          </a:solidFill>
          <a:ln w="12700">
            <a:solidFill>
              <a:srgbClr val="111827">
                <a:alpha val="0"/>
              </a:srgbClr>
            </a:solidFill>
            <a:prstDash val="solid"/>
          </a:ln>
        </p:spPr>
        <p:txBody>
          <a:bodyPr/>
          <a:lstStyle/>
          <a:p>
            <a:endParaRPr lang="en-US"/>
          </a:p>
        </p:txBody>
      </p:sp>
      <p:sp>
        <p:nvSpPr>
          <p:cNvPr id="24" name="Text 18"/>
          <p:cNvSpPr txBox="1"/>
          <p:nvPr/>
        </p:nvSpPr>
        <p:spPr>
          <a:xfrm>
            <a:off x="981151" y="16386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Solution Accelerators</a:t>
            </a:r>
            <a:endParaRPr lang="en-US" sz="1400"/>
          </a:p>
        </p:txBody>
      </p:sp>
      <p:sp>
        <p:nvSpPr>
          <p:cNvPr id="25" name="Text 19"/>
          <p:cNvSpPr txBox="1"/>
          <p:nvPr/>
        </p:nvSpPr>
        <p:spPr>
          <a:xfrm>
            <a:off x="761695" y="1950415"/>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60+ pre-built accelerators across SAP, ServiceNow, Salesforce, and industry stacks - deployed fast, customized to fit, never forced.</a:t>
            </a:r>
            <a:endParaRPr lang="en-US" sz="1100"/>
          </a:p>
        </p:txBody>
      </p:sp>
      <p:pic>
        <p:nvPicPr>
          <p:cNvPr id="26" name="Image 4" descr="gen-dedup-aaaf743a9627457c5a8ecc39eba03c50.png"/>
          <p:cNvPicPr>
            <a:picLocks noChangeAspect="1"/>
          </p:cNvPicPr>
          <p:nvPr/>
        </p:nvPicPr>
        <p:blipFill>
          <a:blip r:embed="rId7"/>
          <a:srcRect t="-13462" b="-13462"/>
          <a:stretch/>
        </p:blipFill>
        <p:spPr>
          <a:xfrm>
            <a:off x="761695" y="1689811"/>
            <a:ext cx="142646" cy="181051"/>
          </a:xfrm>
          <a:prstGeom prst="rect">
            <a:avLst/>
          </a:prstGeom>
        </p:spPr>
      </p:pic>
      <p:sp>
        <p:nvSpPr>
          <p:cNvPr id="30" name="Text 22"/>
          <p:cNvSpPr txBox="1"/>
          <p:nvPr/>
        </p:nvSpPr>
        <p:spPr>
          <a:xfrm>
            <a:off x="981151" y="2813608"/>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Cross-Function Coverage</a:t>
            </a:r>
            <a:endParaRPr lang="en-US" sz="1400"/>
          </a:p>
        </p:txBody>
      </p:sp>
      <p:sp>
        <p:nvSpPr>
          <p:cNvPr id="31" name="Text 23"/>
          <p:cNvSpPr txBox="1"/>
          <p:nvPr/>
        </p:nvSpPr>
        <p:spPr>
          <a:xfrm>
            <a:off x="761695" y="3125418"/>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From AI CoE and Data CoE to Digital Engineering, Quality, and Cybersecurity - we operate across the full enterprise function map, not just the easy wins.</a:t>
            </a:r>
            <a:endParaRPr lang="en-US" sz="1100"/>
          </a:p>
        </p:txBody>
      </p:sp>
      <p:pic>
        <p:nvPicPr>
          <p:cNvPr id="32" name="Image 6" descr="gen-dedup-f27d894a2aa16499d7ef79199ddd11dd.png"/>
          <p:cNvPicPr>
            <a:picLocks noChangeAspect="1"/>
          </p:cNvPicPr>
          <p:nvPr/>
        </p:nvPicPr>
        <p:blipFill>
          <a:blip r:embed="rId8"/>
          <a:srcRect t="-21395" b="-21395"/>
          <a:stretch/>
        </p:blipFill>
        <p:spPr>
          <a:xfrm>
            <a:off x="761695" y="2864814"/>
            <a:ext cx="142646" cy="181051"/>
          </a:xfrm>
          <a:prstGeom prst="rect">
            <a:avLst/>
          </a:prstGeom>
        </p:spPr>
      </p:pic>
      <p:sp>
        <p:nvSpPr>
          <p:cNvPr id="33" name="Text 24"/>
          <p:cNvSpPr txBox="1"/>
          <p:nvPr/>
        </p:nvSpPr>
        <p:spPr>
          <a:xfrm>
            <a:off x="981151" y="39374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Proven ROI, Not Projections</a:t>
            </a:r>
            <a:endParaRPr lang="en-US" sz="1400"/>
          </a:p>
        </p:txBody>
      </p:sp>
      <p:sp>
        <p:nvSpPr>
          <p:cNvPr id="34" name="Text 25"/>
          <p:cNvSpPr txBox="1"/>
          <p:nvPr/>
        </p:nvSpPr>
        <p:spPr>
          <a:xfrm>
            <a:off x="761695" y="4249216"/>
            <a:ext cx="5220310" cy="581558"/>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Every accelerator comes with a benchmark from prior deployments. 80% reduction in reporting effort. 55% faster month-end close. 65% faster testing cycles. Numbers you inherit, not numbers we promise.</a:t>
            </a:r>
            <a:endParaRPr lang="en-US" sz="1100"/>
          </a:p>
        </p:txBody>
      </p:sp>
      <p:pic>
        <p:nvPicPr>
          <p:cNvPr id="35" name="Image 7" descr="gen-dedup-0d12da8ebc0b959d48949b1e6044d332.png"/>
          <p:cNvPicPr>
            <a:picLocks noChangeAspect="1"/>
          </p:cNvPicPr>
          <p:nvPr/>
        </p:nvPicPr>
        <p:blipFill>
          <a:blip r:embed="rId9"/>
          <a:srcRect t="-13462" b="-13462"/>
          <a:stretch/>
        </p:blipFill>
        <p:spPr>
          <a:xfrm>
            <a:off x="761695" y="3988612"/>
            <a:ext cx="142646" cy="181051"/>
          </a:xfrm>
          <a:prstGeom prst="rect">
            <a:avLst/>
          </a:prstGeom>
        </p:spPr>
      </p:pic>
      <p:sp>
        <p:nvSpPr>
          <p:cNvPr id="36" name="Shape 26"/>
          <p:cNvSpPr/>
          <p:nvPr/>
        </p:nvSpPr>
        <p:spPr>
          <a:xfrm>
            <a:off x="6381598" y="1952244"/>
            <a:ext cx="5201107" cy="599846"/>
          </a:xfrm>
          <a:prstGeom prst="rect">
            <a:avLst/>
          </a:prstGeom>
          <a:solidFill>
            <a:srgbClr val="F1F5F9"/>
          </a:solidFill>
          <a:ln/>
        </p:spPr>
        <p:txBody>
          <a:bodyPr/>
          <a:lstStyle/>
          <a:p>
            <a:endParaRPr lang="en-US"/>
          </a:p>
        </p:txBody>
      </p:sp>
      <p:sp>
        <p:nvSpPr>
          <p:cNvPr id="37" name="Shape 27"/>
          <p:cNvSpPr/>
          <p:nvPr/>
        </p:nvSpPr>
        <p:spPr>
          <a:xfrm>
            <a:off x="6381598" y="2532888"/>
            <a:ext cx="5201107" cy="19202"/>
          </a:xfrm>
          <a:prstGeom prst="rect">
            <a:avLst/>
          </a:prstGeom>
          <a:solidFill>
            <a:srgbClr val="E5E7EB"/>
          </a:solidFill>
          <a:ln w="12700">
            <a:solidFill>
              <a:srgbClr val="E5E7EB">
                <a:alpha val="0"/>
              </a:srgbClr>
            </a:solidFill>
            <a:prstDash val="solid"/>
          </a:ln>
        </p:spPr>
        <p:txBody>
          <a:bodyPr/>
          <a:lstStyle/>
          <a:p>
            <a:endParaRPr lang="en-US"/>
          </a:p>
        </p:txBody>
      </p:sp>
      <p:sp>
        <p:nvSpPr>
          <p:cNvPr id="38" name="Text 28"/>
          <p:cNvSpPr txBox="1"/>
          <p:nvPr/>
        </p:nvSpPr>
        <p:spPr>
          <a:xfrm>
            <a:off x="6534302" y="2048256"/>
            <a:ext cx="1228954" cy="391363"/>
          </a:xfrm>
          <a:prstGeom prst="rect">
            <a:avLst/>
          </a:prstGeom>
          <a:noFill/>
          <a:ln/>
        </p:spPr>
        <p:txBody>
          <a:bodyPr wrap="square" lIns="0" tIns="0" rIns="0" bIns="0" rtlCol="0" anchor="ctr"/>
          <a:lstStyle/>
          <a:p>
            <a:pPr marL="0" indent="0" algn="l">
              <a:buNone/>
            </a:pPr>
            <a:r>
              <a:rPr lang="en-US" sz="1000" b="1">
                <a:solidFill>
                  <a:srgbClr val="4B5563"/>
                </a:solidFill>
                <a:latin typeface="Roboto Condensed" pitchFamily="34" charset="0"/>
                <a:ea typeface="Roboto Condensed" pitchFamily="34" charset="-122"/>
                <a:cs typeface="Roboto Condensed" pitchFamily="34" charset="-120"/>
              </a:rPr>
              <a:t>Dimension</a:t>
            </a:r>
            <a:endParaRPr lang="en-US" sz="1000"/>
          </a:p>
        </p:txBody>
      </p:sp>
      <p:sp>
        <p:nvSpPr>
          <p:cNvPr id="39" name="Text 29"/>
          <p:cNvSpPr txBox="1"/>
          <p:nvPr/>
        </p:nvSpPr>
        <p:spPr>
          <a:xfrm>
            <a:off x="7757770" y="2048256"/>
            <a:ext cx="1714500" cy="391363"/>
          </a:xfrm>
          <a:prstGeom prst="rect">
            <a:avLst/>
          </a:prstGeom>
          <a:noFill/>
          <a:ln/>
        </p:spPr>
        <p:txBody>
          <a:bodyPr wrap="square" lIns="0" tIns="0" rIns="0" bIns="0" rtlCol="0" anchor="ctr"/>
          <a:lstStyle/>
          <a:p>
            <a:pPr marL="0" indent="0" algn="l">
              <a:buNone/>
            </a:pPr>
            <a:r>
              <a:rPr lang="en-US" sz="1000" b="1">
                <a:solidFill>
                  <a:srgbClr val="D62839"/>
                </a:solidFill>
                <a:latin typeface="Roboto Condensed" pitchFamily="34" charset="0"/>
                <a:ea typeface="Roboto Condensed" pitchFamily="34" charset="-122"/>
                <a:cs typeface="Roboto Condensed" pitchFamily="34" charset="-120"/>
              </a:rPr>
              <a:t>Traditional Managed Services</a:t>
            </a:r>
            <a:endParaRPr lang="en-US" sz="1000"/>
          </a:p>
        </p:txBody>
      </p:sp>
      <p:sp>
        <p:nvSpPr>
          <p:cNvPr id="40" name="Text 30"/>
          <p:cNvSpPr txBox="1"/>
          <p:nvPr/>
        </p:nvSpPr>
        <p:spPr>
          <a:xfrm>
            <a:off x="9471355" y="2048256"/>
            <a:ext cx="1962302" cy="391363"/>
          </a:xfrm>
          <a:prstGeom prst="rect">
            <a:avLst/>
          </a:prstGeom>
          <a:noFill/>
          <a:ln/>
        </p:spPr>
        <p:txBody>
          <a:bodyPr wrap="square" lIns="0" tIns="0" rIns="0" bIns="0" rtlCol="0" anchor="ctr"/>
          <a:lstStyle/>
          <a:p>
            <a:pPr marL="0" indent="0" algn="l">
              <a:buNone/>
            </a:pPr>
            <a:r>
              <a:rPr lang="en-US" sz="1000" b="1">
                <a:solidFill>
                  <a:srgbClr val="2A9D8F"/>
                </a:solidFill>
                <a:latin typeface="Roboto Condensed" pitchFamily="34" charset="0"/>
                <a:ea typeface="Roboto Condensed" pitchFamily="34" charset="-122"/>
                <a:cs typeface="Roboto Condensed" pitchFamily="34" charset="-120"/>
              </a:rPr>
              <a:t>J2W Managed Solutions</a:t>
            </a:r>
            <a:endParaRPr lang="en-US" sz="1000"/>
          </a:p>
        </p:txBody>
      </p:sp>
      <p:sp>
        <p:nvSpPr>
          <p:cNvPr id="41" name="Shape 31"/>
          <p:cNvSpPr/>
          <p:nvPr/>
        </p:nvSpPr>
        <p:spPr>
          <a:xfrm>
            <a:off x="6381598" y="3134563"/>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2" name="Text 32"/>
          <p:cNvSpPr txBox="1"/>
          <p:nvPr/>
        </p:nvSpPr>
        <p:spPr>
          <a:xfrm>
            <a:off x="6534302" y="266730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Engagement </a:t>
            </a:r>
          </a:p>
          <a:p>
            <a:pPr marL="0" indent="0" algn="l">
              <a:buNone/>
            </a:pPr>
            <a:r>
              <a:rPr lang="en-US" sz="1000" b="1">
                <a:solidFill>
                  <a:srgbClr val="374151"/>
                </a:solidFill>
                <a:latin typeface="Raleway" pitchFamily="34" charset="0"/>
                <a:ea typeface="Raleway" pitchFamily="34" charset="-122"/>
                <a:cs typeface="Raleway" pitchFamily="34" charset="-120"/>
              </a:rPr>
              <a:t>Model</a:t>
            </a:r>
            <a:endParaRPr lang="en-US" sz="1000"/>
          </a:p>
        </p:txBody>
      </p:sp>
      <p:sp>
        <p:nvSpPr>
          <p:cNvPr id="43" name="Text 33"/>
          <p:cNvSpPr txBox="1"/>
          <p:nvPr/>
        </p:nvSpPr>
        <p:spPr>
          <a:xfrm>
            <a:off x="7757770" y="266730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SOW-based, scope-</a:t>
            </a:r>
          </a:p>
          <a:p>
            <a:pPr marL="0" indent="0" algn="l">
              <a:buNone/>
            </a:pPr>
            <a:r>
              <a:rPr lang="en-US" sz="1000">
                <a:solidFill>
                  <a:srgbClr val="6B7280"/>
                </a:solidFill>
                <a:latin typeface="Raleway" pitchFamily="34" charset="0"/>
                <a:ea typeface="Raleway" pitchFamily="34" charset="-122"/>
                <a:cs typeface="Raleway" pitchFamily="34" charset="-120"/>
              </a:rPr>
              <a:t>locked</a:t>
            </a:r>
            <a:endParaRPr lang="en-US" sz="1000"/>
          </a:p>
        </p:txBody>
      </p:sp>
      <p:sp>
        <p:nvSpPr>
          <p:cNvPr id="44" name="Text 34"/>
          <p:cNvSpPr txBox="1"/>
          <p:nvPr/>
        </p:nvSpPr>
        <p:spPr>
          <a:xfrm>
            <a:off x="9471355" y="266730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Outcome-bound, SLO-governed</a:t>
            </a:r>
            <a:endParaRPr lang="en-US" sz="1000"/>
          </a:p>
        </p:txBody>
      </p:sp>
      <p:sp>
        <p:nvSpPr>
          <p:cNvPr id="45" name="Shape 35"/>
          <p:cNvSpPr/>
          <p:nvPr/>
        </p:nvSpPr>
        <p:spPr>
          <a:xfrm>
            <a:off x="6381598" y="3143707"/>
            <a:ext cx="5201107" cy="590702"/>
          </a:xfrm>
          <a:prstGeom prst="rect">
            <a:avLst/>
          </a:prstGeom>
          <a:solidFill>
            <a:srgbClr val="2A9D8F">
              <a:alpha val="3000"/>
            </a:srgbClr>
          </a:solidFill>
          <a:ln/>
        </p:spPr>
        <p:txBody>
          <a:bodyPr/>
          <a:lstStyle/>
          <a:p>
            <a:endParaRPr lang="en-US"/>
          </a:p>
        </p:txBody>
      </p:sp>
      <p:sp>
        <p:nvSpPr>
          <p:cNvPr id="46" name="Shape 36"/>
          <p:cNvSpPr/>
          <p:nvPr/>
        </p:nvSpPr>
        <p:spPr>
          <a:xfrm>
            <a:off x="6381598" y="372526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7" name="Text 37"/>
          <p:cNvSpPr txBox="1"/>
          <p:nvPr/>
        </p:nvSpPr>
        <p:spPr>
          <a:xfrm>
            <a:off x="6534302" y="3258007"/>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Starting Point</a:t>
            </a:r>
            <a:endParaRPr lang="en-US" sz="1000"/>
          </a:p>
        </p:txBody>
      </p:sp>
      <p:sp>
        <p:nvSpPr>
          <p:cNvPr id="48" name="Text 38"/>
          <p:cNvSpPr txBox="1"/>
          <p:nvPr/>
        </p:nvSpPr>
        <p:spPr>
          <a:xfrm>
            <a:off x="7757770" y="3258007"/>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Build from scratch</a:t>
            </a:r>
            <a:endParaRPr lang="en-US" sz="1000"/>
          </a:p>
        </p:txBody>
      </p:sp>
      <p:sp>
        <p:nvSpPr>
          <p:cNvPr id="49" name="Text 39"/>
          <p:cNvSpPr txBox="1"/>
          <p:nvPr/>
        </p:nvSpPr>
        <p:spPr>
          <a:xfrm>
            <a:off x="9471355" y="3258007"/>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60+ accelerators, deploy in weeks</a:t>
            </a:r>
            <a:endParaRPr lang="en-US" sz="1000"/>
          </a:p>
        </p:txBody>
      </p:sp>
      <p:sp>
        <p:nvSpPr>
          <p:cNvPr id="50" name="Shape 40"/>
          <p:cNvSpPr/>
          <p:nvPr/>
        </p:nvSpPr>
        <p:spPr>
          <a:xfrm>
            <a:off x="6381598" y="4315054"/>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1" name="Text 41"/>
          <p:cNvSpPr txBox="1"/>
          <p:nvPr/>
        </p:nvSpPr>
        <p:spPr>
          <a:xfrm>
            <a:off x="6534302" y="384779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Performance Standard</a:t>
            </a:r>
            <a:endParaRPr lang="en-US" sz="1000"/>
          </a:p>
        </p:txBody>
      </p:sp>
      <p:sp>
        <p:nvSpPr>
          <p:cNvPr id="52" name="Text 42"/>
          <p:cNvSpPr txBox="1"/>
          <p:nvPr/>
        </p:nvSpPr>
        <p:spPr>
          <a:xfrm>
            <a:off x="7757770" y="384779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Contractual minimums</a:t>
            </a:r>
            <a:endParaRPr lang="en-US" sz="1000"/>
          </a:p>
        </p:txBody>
      </p:sp>
      <p:sp>
        <p:nvSpPr>
          <p:cNvPr id="53" name="Text 43"/>
          <p:cNvSpPr txBox="1"/>
          <p:nvPr/>
        </p:nvSpPr>
        <p:spPr>
          <a:xfrm>
            <a:off x="9471355" y="384779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40% improvement threshold</a:t>
            </a:r>
            <a:endParaRPr lang="en-US" sz="1000"/>
          </a:p>
        </p:txBody>
      </p:sp>
      <p:sp>
        <p:nvSpPr>
          <p:cNvPr id="54" name="Shape 44"/>
          <p:cNvSpPr/>
          <p:nvPr/>
        </p:nvSpPr>
        <p:spPr>
          <a:xfrm>
            <a:off x="6381598" y="4324198"/>
            <a:ext cx="5201107" cy="590702"/>
          </a:xfrm>
          <a:prstGeom prst="rect">
            <a:avLst/>
          </a:prstGeom>
          <a:solidFill>
            <a:srgbClr val="2A9D8F">
              <a:alpha val="3000"/>
            </a:srgbClr>
          </a:solidFill>
          <a:ln/>
        </p:spPr>
        <p:txBody>
          <a:bodyPr/>
          <a:lstStyle/>
          <a:p>
            <a:endParaRPr lang="en-US"/>
          </a:p>
        </p:txBody>
      </p:sp>
      <p:sp>
        <p:nvSpPr>
          <p:cNvPr id="55" name="Shape 45"/>
          <p:cNvSpPr/>
          <p:nvPr/>
        </p:nvSpPr>
        <p:spPr>
          <a:xfrm>
            <a:off x="6381598" y="490575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6" name="Text 46"/>
          <p:cNvSpPr txBox="1"/>
          <p:nvPr/>
        </p:nvSpPr>
        <p:spPr>
          <a:xfrm>
            <a:off x="6534302" y="4438498"/>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Coverage</a:t>
            </a:r>
            <a:endParaRPr lang="en-US" sz="1000"/>
          </a:p>
        </p:txBody>
      </p:sp>
      <p:sp>
        <p:nvSpPr>
          <p:cNvPr id="57" name="Text 47"/>
          <p:cNvSpPr txBox="1"/>
          <p:nvPr/>
        </p:nvSpPr>
        <p:spPr>
          <a:xfrm>
            <a:off x="7757770" y="4438498"/>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Single-function specialization</a:t>
            </a:r>
            <a:endParaRPr lang="en-US" sz="1000"/>
          </a:p>
        </p:txBody>
      </p:sp>
      <p:sp>
        <p:nvSpPr>
          <p:cNvPr id="58" name="Text 48"/>
          <p:cNvSpPr txBox="1"/>
          <p:nvPr/>
        </p:nvSpPr>
        <p:spPr>
          <a:xfrm>
            <a:off x="9471355" y="4438498"/>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Cross-stack: SAP, ServiceNow, Salesforce + more</a:t>
            </a:r>
            <a:endParaRPr lang="en-US" sz="1000"/>
          </a:p>
        </p:txBody>
      </p:sp>
      <p:sp>
        <p:nvSpPr>
          <p:cNvPr id="59" name="Shape 49"/>
          <p:cNvSpPr/>
          <p:nvPr/>
        </p:nvSpPr>
        <p:spPr>
          <a:xfrm>
            <a:off x="6381598" y="5496458"/>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60" name="Text 50"/>
          <p:cNvSpPr txBox="1"/>
          <p:nvPr/>
        </p:nvSpPr>
        <p:spPr>
          <a:xfrm>
            <a:off x="6534302" y="5029200"/>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Knowledge Retention</a:t>
            </a:r>
            <a:endParaRPr lang="en-US" sz="1000"/>
          </a:p>
        </p:txBody>
      </p:sp>
      <p:sp>
        <p:nvSpPr>
          <p:cNvPr id="61" name="Text 51"/>
          <p:cNvSpPr txBox="1"/>
          <p:nvPr/>
        </p:nvSpPr>
        <p:spPr>
          <a:xfrm>
            <a:off x="7757770" y="5029200"/>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Exits with the team</a:t>
            </a:r>
            <a:endParaRPr lang="en-US" sz="1000"/>
          </a:p>
        </p:txBody>
      </p:sp>
      <p:sp>
        <p:nvSpPr>
          <p:cNvPr id="62" name="Text 52"/>
          <p:cNvSpPr txBox="1"/>
          <p:nvPr/>
        </p:nvSpPr>
        <p:spPr>
          <a:xfrm>
            <a:off x="9471355" y="5029200"/>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Captured, compounding, stays with you</a:t>
            </a:r>
            <a:endParaRPr lang="en-US" sz="1000"/>
          </a:p>
        </p:txBody>
      </p:sp>
      <p:sp>
        <p:nvSpPr>
          <p:cNvPr id="63" name="Shape 53"/>
          <p:cNvSpPr/>
          <p:nvPr/>
        </p:nvSpPr>
        <p:spPr>
          <a:xfrm>
            <a:off x="6381598" y="5505602"/>
            <a:ext cx="5201107" cy="590702"/>
          </a:xfrm>
          <a:prstGeom prst="rect">
            <a:avLst/>
          </a:prstGeom>
          <a:solidFill>
            <a:srgbClr val="2A9D8F">
              <a:alpha val="3000"/>
            </a:srgbClr>
          </a:solidFill>
          <a:ln w="12700">
            <a:solidFill>
              <a:srgbClr val="FFFFFF">
                <a:alpha val="0"/>
              </a:srgbClr>
            </a:solidFill>
            <a:prstDash val="solid"/>
          </a:ln>
        </p:spPr>
        <p:txBody>
          <a:bodyPr/>
          <a:lstStyle/>
          <a:p>
            <a:endParaRPr lang="en-US"/>
          </a:p>
        </p:txBody>
      </p:sp>
      <p:sp>
        <p:nvSpPr>
          <p:cNvPr id="64" name="Text 54"/>
          <p:cNvSpPr txBox="1"/>
          <p:nvPr/>
        </p:nvSpPr>
        <p:spPr>
          <a:xfrm>
            <a:off x="6534302" y="5619902"/>
            <a:ext cx="1228954" cy="362102"/>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AI Readiness</a:t>
            </a:r>
            <a:endParaRPr lang="en-US" sz="1000"/>
          </a:p>
        </p:txBody>
      </p:sp>
      <p:sp>
        <p:nvSpPr>
          <p:cNvPr id="65" name="Text 55"/>
          <p:cNvSpPr txBox="1"/>
          <p:nvPr/>
        </p:nvSpPr>
        <p:spPr>
          <a:xfrm>
            <a:off x="7757770" y="5619902"/>
            <a:ext cx="1714500" cy="362102"/>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Optional add-on</a:t>
            </a:r>
            <a:endParaRPr lang="en-US" sz="1000"/>
          </a:p>
        </p:txBody>
      </p:sp>
      <p:sp>
        <p:nvSpPr>
          <p:cNvPr id="66" name="Text 56"/>
          <p:cNvSpPr txBox="1"/>
          <p:nvPr/>
        </p:nvSpPr>
        <p:spPr>
          <a:xfrm>
            <a:off x="9471355" y="5619902"/>
            <a:ext cx="1962302" cy="362102"/>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Embedded from Day 1</a:t>
            </a:r>
            <a:endParaRPr lang="en-US" sz="1000"/>
          </a:p>
        </p:txBody>
      </p:sp>
      <p:sp>
        <p:nvSpPr>
          <p:cNvPr id="67" name="Text 57"/>
          <p:cNvSpPr txBox="1"/>
          <p:nvPr/>
        </p:nvSpPr>
        <p:spPr>
          <a:xfrm>
            <a:off x="800100" y="6245352"/>
            <a:ext cx="10592410" cy="409651"/>
          </a:xfrm>
          <a:prstGeom prst="rect">
            <a:avLst/>
          </a:prstGeom>
          <a:noFill/>
          <a:ln/>
        </p:spPr>
        <p:txBody>
          <a:bodyPr wrap="square" lIns="0" tIns="0" rIns="0" bIns="0" rtlCol="0" anchor="ctr"/>
          <a:lstStyle/>
          <a:p>
            <a:pPr marL="0" indent="0" algn="ctr">
              <a:buNone/>
            </a:pPr>
            <a:r>
              <a:rPr lang="en-US" sz="800" b="1">
                <a:solidFill>
                  <a:srgbClr val="111827"/>
                </a:solidFill>
                <a:latin typeface="Raleway" pitchFamily="34" charset="0"/>
                <a:ea typeface="Raleway" pitchFamily="34" charset="-122"/>
                <a:cs typeface="Raleway" pitchFamily="34" charset="-120"/>
              </a:rPr>
              <a:t>From scattered pilots to governed programs. From manual reporting to real-time intelligence. From legacy stacks to modernized platforms. </a:t>
            </a:r>
            <a:r>
              <a:rPr lang="en-US" sz="1100" b="1">
                <a:solidFill>
                  <a:srgbClr val="2A9D8F"/>
                </a:solidFill>
                <a:latin typeface="Raleway" pitchFamily="34" charset="0"/>
                <a:ea typeface="Raleway" pitchFamily="34" charset="-122"/>
                <a:cs typeface="Raleway" pitchFamily="34" charset="-120"/>
              </a:rPr>
              <a:t>J2W Managed Solutions operate until the outcome is real - then keep compounding.</a:t>
            </a:r>
            <a:endParaRPr lang="en-US" sz="1100"/>
          </a:p>
        </p:txBody>
      </p:sp>
    </p:spTree>
    <p:extLst>
      <p:ext uri="{BB962C8B-B14F-4D97-AF65-F5344CB8AC3E}">
        <p14:creationId xmlns:p14="http://schemas.microsoft.com/office/powerpoint/2010/main" val="3743683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noFill/>
          <a:ln w="508000">
            <a:solidFill>
              <a:srgbClr val="D62839">
                <a:alpha val="3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rcRect l="-360" r="-360"/>
          <a:stretch/>
        </p:blipFill>
        <p:spPr>
          <a:xfrm>
            <a:off x="609905" y="514807"/>
            <a:ext cx="57607" cy="381305"/>
          </a:xfrm>
          <a:prstGeom prst="rect">
            <a:avLst/>
          </a:prstGeom>
        </p:spPr>
      </p:pic>
      <p:sp>
        <p:nvSpPr>
          <p:cNvPr id="6" name="Text 3"/>
          <p:cNvSpPr txBox="1"/>
          <p:nvPr/>
        </p:nvSpPr>
        <p:spPr>
          <a:xfrm>
            <a:off x="819302" y="381305"/>
            <a:ext cx="6010351"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56" normalizeH="0" baseline="0" noProof="0">
                <a:ln>
                  <a:noFill/>
                </a:ln>
                <a:solidFill>
                  <a:srgbClr val="111827"/>
                </a:solidFill>
                <a:effectLst/>
                <a:uLnTx/>
                <a:uFillTx/>
                <a:latin typeface="Oswald" pitchFamily="34" charset="0"/>
                <a:ea typeface="Oswald" pitchFamily="34" charset="-122"/>
                <a:cs typeface="Oswald" pitchFamily="34" charset="-120"/>
              </a:rPr>
              <a:t>Strategic Managed Services Offerings</a:t>
            </a:r>
            <a:endParaRPr kumimoji="0" lang="en-US" sz="2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txBox="1"/>
          <p:nvPr/>
        </p:nvSpPr>
        <p:spPr>
          <a:xfrm>
            <a:off x="819302" y="761695"/>
            <a:ext cx="6010351" cy="26700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68" normalizeH="0" baseline="0" noProof="0">
                <a:ln>
                  <a:noFill/>
                </a:ln>
                <a:solidFill>
                  <a:srgbClr val="2A9D8F"/>
                </a:solidFill>
                <a:effectLst/>
                <a:uLnTx/>
                <a:uFillTx/>
                <a:latin typeface="Roboto Condensed" pitchFamily="34" charset="0"/>
                <a:ea typeface="Roboto Condensed" pitchFamily="34" charset="-122"/>
                <a:cs typeface="Roboto Condensed" pitchFamily="34" charset="-120"/>
              </a:rPr>
              <a:t>COMPREHENSIVE CAPABILITIES DRIVING DIGITAL TRANSFORMATION</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p:cNvSpPr/>
          <p:nvPr/>
        </p:nvSpPr>
        <p:spPr>
          <a:xfrm>
            <a:off x="6099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6"/>
          <p:cNvSpPr/>
          <p:nvPr/>
        </p:nvSpPr>
        <p:spPr>
          <a:xfrm>
            <a:off x="609905" y="12573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790956" y="13807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1" descr="preencoded.png"/>
          <p:cNvPicPr>
            <a:picLocks noChangeAspect="1"/>
          </p:cNvPicPr>
          <p:nvPr/>
        </p:nvPicPr>
        <p:blipFill>
          <a:blip r:embed="rId4"/>
          <a:srcRect/>
          <a:stretch/>
        </p:blipFill>
        <p:spPr>
          <a:xfrm>
            <a:off x="905256" y="1495044"/>
            <a:ext cx="171907" cy="171907"/>
          </a:xfrm>
          <a:prstGeom prst="rect">
            <a:avLst/>
          </a:prstGeom>
        </p:spPr>
      </p:pic>
      <p:sp>
        <p:nvSpPr>
          <p:cNvPr id="12" name="Text 8"/>
          <p:cNvSpPr txBox="1"/>
          <p:nvPr/>
        </p:nvSpPr>
        <p:spPr>
          <a:xfrm>
            <a:off x="926287" y="181965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01</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9"/>
          <p:cNvSpPr txBox="1"/>
          <p:nvPr/>
        </p:nvSpPr>
        <p:spPr>
          <a:xfrm>
            <a:off x="13716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AI Solutions (AI CoE)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0"/>
          <p:cNvSpPr txBox="1"/>
          <p:nvPr/>
        </p:nvSpPr>
        <p:spPr>
          <a:xfrm>
            <a:off x="13716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GenAI strategies, agents, LLM workflows, predictive models, knowledge bots, and enterprise-grade AI governance &amp; value realization frameworks.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1"/>
          <p:cNvSpPr/>
          <p:nvPr/>
        </p:nvSpPr>
        <p:spPr>
          <a:xfrm>
            <a:off x="62106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p:cNvSpPr/>
          <p:nvPr/>
        </p:nvSpPr>
        <p:spPr>
          <a:xfrm>
            <a:off x="6210605" y="12573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6391656" y="13807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rcRect/>
          <a:stretch/>
        </p:blipFill>
        <p:spPr>
          <a:xfrm>
            <a:off x="6505956" y="1495044"/>
            <a:ext cx="171907" cy="171907"/>
          </a:xfrm>
          <a:prstGeom prst="rect">
            <a:avLst/>
          </a:prstGeom>
        </p:spPr>
      </p:pic>
      <p:sp>
        <p:nvSpPr>
          <p:cNvPr id="19" name="Text 14"/>
          <p:cNvSpPr txBox="1"/>
          <p:nvPr/>
        </p:nvSpPr>
        <p:spPr>
          <a:xfrm>
            <a:off x="6516929" y="18196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06</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5"/>
          <p:cNvSpPr txBox="1"/>
          <p:nvPr/>
        </p:nvSpPr>
        <p:spPr>
          <a:xfrm>
            <a:off x="69723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Quality Engineering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6"/>
          <p:cNvSpPr txBox="1"/>
          <p:nvPr/>
        </p:nvSpPr>
        <p:spPr>
          <a:xfrm>
            <a:off x="69723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Intelligent QA and Test Automation at scale - covering functional, performance, security, CI/CD pipelines, and TaaS delivery pods.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6099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8"/>
          <p:cNvSpPr/>
          <p:nvPr/>
        </p:nvSpPr>
        <p:spPr>
          <a:xfrm>
            <a:off x="609905" y="23244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19"/>
          <p:cNvSpPr/>
          <p:nvPr/>
        </p:nvSpPr>
        <p:spPr>
          <a:xfrm>
            <a:off x="790956" y="24478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Image 3" descr="preencoded.png"/>
          <p:cNvPicPr>
            <a:picLocks noChangeAspect="1"/>
          </p:cNvPicPr>
          <p:nvPr/>
        </p:nvPicPr>
        <p:blipFill>
          <a:blip r:embed="rId6"/>
          <a:srcRect t="-2725" b="-2725"/>
          <a:stretch/>
        </p:blipFill>
        <p:spPr>
          <a:xfrm>
            <a:off x="918972" y="2562149"/>
            <a:ext cx="142646" cy="171907"/>
          </a:xfrm>
          <a:prstGeom prst="rect">
            <a:avLst/>
          </a:prstGeom>
        </p:spPr>
      </p:pic>
      <p:sp>
        <p:nvSpPr>
          <p:cNvPr id="26" name="Text 20"/>
          <p:cNvSpPr txBox="1"/>
          <p:nvPr/>
        </p:nvSpPr>
        <p:spPr>
          <a:xfrm>
            <a:off x="918058" y="28858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02</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1"/>
          <p:cNvSpPr txBox="1"/>
          <p:nvPr/>
        </p:nvSpPr>
        <p:spPr>
          <a:xfrm>
            <a:off x="13716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Migration &amp; Infra Support</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2"/>
          <p:cNvSpPr txBox="1"/>
          <p:nvPr/>
        </p:nvSpPr>
        <p:spPr>
          <a:xfrm>
            <a:off x="13716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Seamless migration across on-prem &amp; cloud, with data quality, cleansing, secure pipelines, infra ops, and cloud governance across AWS/Azure/GCP.</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3"/>
          <p:cNvSpPr/>
          <p:nvPr/>
        </p:nvSpPr>
        <p:spPr>
          <a:xfrm>
            <a:off x="62106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4"/>
          <p:cNvSpPr/>
          <p:nvPr/>
        </p:nvSpPr>
        <p:spPr>
          <a:xfrm>
            <a:off x="6210605" y="23244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5"/>
          <p:cNvSpPr/>
          <p:nvPr/>
        </p:nvSpPr>
        <p:spPr>
          <a:xfrm>
            <a:off x="6391656" y="24478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2" name="Image 4" descr="preencoded.png"/>
          <p:cNvPicPr>
            <a:picLocks noChangeAspect="1"/>
          </p:cNvPicPr>
          <p:nvPr/>
        </p:nvPicPr>
        <p:blipFill>
          <a:blip r:embed="rId7"/>
          <a:srcRect/>
          <a:stretch/>
        </p:blipFill>
        <p:spPr>
          <a:xfrm>
            <a:off x="6505956" y="2562149"/>
            <a:ext cx="171907" cy="171907"/>
          </a:xfrm>
          <a:prstGeom prst="rect">
            <a:avLst/>
          </a:prstGeom>
        </p:spPr>
      </p:pic>
      <p:sp>
        <p:nvSpPr>
          <p:cNvPr id="33" name="Text 26"/>
          <p:cNvSpPr txBox="1"/>
          <p:nvPr/>
        </p:nvSpPr>
        <p:spPr>
          <a:xfrm>
            <a:off x="6523330" y="2885846"/>
            <a:ext cx="219456"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07</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27"/>
          <p:cNvSpPr txBox="1"/>
          <p:nvPr/>
        </p:nvSpPr>
        <p:spPr>
          <a:xfrm>
            <a:off x="69723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Call Centre Optimization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28"/>
          <p:cNvSpPr txBox="1"/>
          <p:nvPr/>
        </p:nvSpPr>
        <p:spPr>
          <a:xfrm>
            <a:off x="69723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Transforming contact centers through operational assessment, workforce analytics, real-time dashboards, agent assist AI, and IVA-based automation.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29"/>
          <p:cNvSpPr/>
          <p:nvPr/>
        </p:nvSpPr>
        <p:spPr>
          <a:xfrm>
            <a:off x="6099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0"/>
          <p:cNvSpPr/>
          <p:nvPr/>
        </p:nvSpPr>
        <p:spPr>
          <a:xfrm>
            <a:off x="609905" y="339059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1"/>
          <p:cNvSpPr/>
          <p:nvPr/>
        </p:nvSpPr>
        <p:spPr>
          <a:xfrm>
            <a:off x="790956" y="351495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 name="Image 5" descr="preencoded.png"/>
          <p:cNvPicPr>
            <a:picLocks noChangeAspect="1"/>
          </p:cNvPicPr>
          <p:nvPr/>
        </p:nvPicPr>
        <p:blipFill>
          <a:blip r:embed="rId8"/>
          <a:srcRect/>
          <a:stretch/>
        </p:blipFill>
        <p:spPr>
          <a:xfrm>
            <a:off x="905256" y="3629254"/>
            <a:ext cx="171907" cy="171907"/>
          </a:xfrm>
          <a:prstGeom prst="rect">
            <a:avLst/>
          </a:prstGeom>
        </p:spPr>
      </p:pic>
      <p:sp>
        <p:nvSpPr>
          <p:cNvPr id="40" name="Text 32"/>
          <p:cNvSpPr txBox="1"/>
          <p:nvPr/>
        </p:nvSpPr>
        <p:spPr>
          <a:xfrm>
            <a:off x="918058"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03</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3"/>
          <p:cNvSpPr txBox="1"/>
          <p:nvPr/>
        </p:nvSpPr>
        <p:spPr>
          <a:xfrm>
            <a:off x="13716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Cybersecurity</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34"/>
          <p:cNvSpPr txBox="1"/>
          <p:nvPr/>
        </p:nvSpPr>
        <p:spPr>
          <a:xfrm>
            <a:off x="13716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Full-spectrum security including assessment, red-team, cloud security, managed SOC/MDR, compliance (ISO, PCI, RBI), incident response &amp; digital forensics.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35"/>
          <p:cNvSpPr/>
          <p:nvPr/>
        </p:nvSpPr>
        <p:spPr>
          <a:xfrm>
            <a:off x="62106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36"/>
          <p:cNvSpPr/>
          <p:nvPr/>
        </p:nvSpPr>
        <p:spPr>
          <a:xfrm>
            <a:off x="6210605" y="339059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37"/>
          <p:cNvSpPr/>
          <p:nvPr/>
        </p:nvSpPr>
        <p:spPr>
          <a:xfrm>
            <a:off x="6391656" y="351495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6" name="Image 6" descr="preencoded.png"/>
          <p:cNvPicPr>
            <a:picLocks noChangeAspect="1"/>
          </p:cNvPicPr>
          <p:nvPr/>
        </p:nvPicPr>
        <p:blipFill>
          <a:blip r:embed="rId9"/>
          <a:srcRect t="-2725" b="-2725"/>
          <a:stretch/>
        </p:blipFill>
        <p:spPr>
          <a:xfrm>
            <a:off x="6519672" y="3629254"/>
            <a:ext cx="142646" cy="171907"/>
          </a:xfrm>
          <a:prstGeom prst="rect">
            <a:avLst/>
          </a:prstGeom>
        </p:spPr>
      </p:pic>
      <p:sp>
        <p:nvSpPr>
          <p:cNvPr id="47" name="Text 38"/>
          <p:cNvSpPr txBox="1"/>
          <p:nvPr/>
        </p:nvSpPr>
        <p:spPr>
          <a:xfrm>
            <a:off x="6517843"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08</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39"/>
          <p:cNvSpPr txBox="1"/>
          <p:nvPr/>
        </p:nvSpPr>
        <p:spPr>
          <a:xfrm>
            <a:off x="69723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SAP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40"/>
          <p:cNvSpPr txBox="1"/>
          <p:nvPr/>
        </p:nvSpPr>
        <p:spPr>
          <a:xfrm>
            <a:off x="69723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SAP modernization - from S/4HANA migrations to BTP, Fiori, SuccessFactors, and enterprise-wide rollout with managed SAP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1"/>
          <p:cNvSpPr/>
          <p:nvPr/>
        </p:nvSpPr>
        <p:spPr>
          <a:xfrm>
            <a:off x="6099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2"/>
          <p:cNvSpPr/>
          <p:nvPr/>
        </p:nvSpPr>
        <p:spPr>
          <a:xfrm>
            <a:off x="609905" y="44577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43"/>
          <p:cNvSpPr/>
          <p:nvPr/>
        </p:nvSpPr>
        <p:spPr>
          <a:xfrm>
            <a:off x="790956" y="45811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3" name="Image 7" descr="preencoded.png"/>
          <p:cNvPicPr>
            <a:picLocks noChangeAspect="1"/>
          </p:cNvPicPr>
          <p:nvPr/>
        </p:nvPicPr>
        <p:blipFill>
          <a:blip r:embed="rId10"/>
          <a:srcRect t="-1310" b="-1310"/>
          <a:stretch/>
        </p:blipFill>
        <p:spPr>
          <a:xfrm>
            <a:off x="886054" y="4695444"/>
            <a:ext cx="209398" cy="171907"/>
          </a:xfrm>
          <a:prstGeom prst="rect">
            <a:avLst/>
          </a:prstGeom>
        </p:spPr>
      </p:pic>
      <p:sp>
        <p:nvSpPr>
          <p:cNvPr id="54" name="Text 44"/>
          <p:cNvSpPr txBox="1"/>
          <p:nvPr/>
        </p:nvSpPr>
        <p:spPr>
          <a:xfrm>
            <a:off x="917143"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04</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45"/>
          <p:cNvSpPr txBox="1"/>
          <p:nvPr/>
        </p:nvSpPr>
        <p:spPr>
          <a:xfrm>
            <a:off x="13716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Digital Engineering &amp; Automation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 46"/>
          <p:cNvSpPr txBox="1"/>
          <p:nvPr/>
        </p:nvSpPr>
        <p:spPr>
          <a:xfrm>
            <a:off x="13716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Spanning full-stack &amp; UI/UX development, intelligent automation, AI-augmented RPA, and end-to-end process orchestration.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47"/>
          <p:cNvSpPr/>
          <p:nvPr/>
        </p:nvSpPr>
        <p:spPr>
          <a:xfrm>
            <a:off x="62106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48"/>
          <p:cNvSpPr/>
          <p:nvPr/>
        </p:nvSpPr>
        <p:spPr>
          <a:xfrm>
            <a:off x="6210605" y="44577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49"/>
          <p:cNvSpPr/>
          <p:nvPr/>
        </p:nvSpPr>
        <p:spPr>
          <a:xfrm>
            <a:off x="6391656" y="45811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0" name="Image 8" descr="preencoded.png"/>
          <p:cNvPicPr>
            <a:picLocks noChangeAspect="1"/>
          </p:cNvPicPr>
          <p:nvPr/>
        </p:nvPicPr>
        <p:blipFill>
          <a:blip r:embed="rId11"/>
          <a:srcRect t="-1310" b="-1310"/>
          <a:stretch/>
        </p:blipFill>
        <p:spPr>
          <a:xfrm>
            <a:off x="6486754" y="4695444"/>
            <a:ext cx="209398" cy="171907"/>
          </a:xfrm>
          <a:prstGeom prst="rect">
            <a:avLst/>
          </a:prstGeom>
        </p:spPr>
      </p:pic>
      <p:sp>
        <p:nvSpPr>
          <p:cNvPr id="61" name="Text 50"/>
          <p:cNvSpPr txBox="1"/>
          <p:nvPr/>
        </p:nvSpPr>
        <p:spPr>
          <a:xfrm>
            <a:off x="6516929"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09</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Text 51"/>
          <p:cNvSpPr txBox="1"/>
          <p:nvPr/>
        </p:nvSpPr>
        <p:spPr>
          <a:xfrm>
            <a:off x="69723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Salesforce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52"/>
          <p:cNvSpPr txBox="1"/>
          <p:nvPr/>
        </p:nvSpPr>
        <p:spPr>
          <a:xfrm>
            <a:off x="69723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Complete Salesforce transformation across Sales, Service, Marketing, Financial Services Cloud, and MuleSoft - backed by org audits and managed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53"/>
          <p:cNvSpPr/>
          <p:nvPr/>
        </p:nvSpPr>
        <p:spPr>
          <a:xfrm>
            <a:off x="6099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54"/>
          <p:cNvSpPr/>
          <p:nvPr/>
        </p:nvSpPr>
        <p:spPr>
          <a:xfrm>
            <a:off x="609905" y="55248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55"/>
          <p:cNvSpPr/>
          <p:nvPr/>
        </p:nvSpPr>
        <p:spPr>
          <a:xfrm>
            <a:off x="790956" y="56482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7" name="Image 9" descr="preencoded.png"/>
          <p:cNvPicPr>
            <a:picLocks noChangeAspect="1"/>
          </p:cNvPicPr>
          <p:nvPr/>
        </p:nvPicPr>
        <p:blipFill>
          <a:blip r:embed="rId12"/>
          <a:srcRect/>
          <a:stretch/>
        </p:blipFill>
        <p:spPr>
          <a:xfrm>
            <a:off x="905256" y="5762549"/>
            <a:ext cx="171907" cy="171907"/>
          </a:xfrm>
          <a:prstGeom prst="rect">
            <a:avLst/>
          </a:prstGeom>
        </p:spPr>
      </p:pic>
      <p:sp>
        <p:nvSpPr>
          <p:cNvPr id="68" name="Text 56"/>
          <p:cNvSpPr txBox="1"/>
          <p:nvPr/>
        </p:nvSpPr>
        <p:spPr>
          <a:xfrm>
            <a:off x="918058" y="60862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05</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Text 57"/>
          <p:cNvSpPr txBox="1"/>
          <p:nvPr/>
        </p:nvSpPr>
        <p:spPr>
          <a:xfrm>
            <a:off x="13716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Analytics &amp; Dashboarding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Text 58"/>
          <p:cNvSpPr txBox="1"/>
          <p:nvPr/>
        </p:nvSpPr>
        <p:spPr>
          <a:xfrm>
            <a:off x="13716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Interactive dashboards across Power BI, Tableau, and Qlik - enabling real-time operational, financial, and leadership insights.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59"/>
          <p:cNvSpPr/>
          <p:nvPr/>
        </p:nvSpPr>
        <p:spPr>
          <a:xfrm>
            <a:off x="62106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60"/>
          <p:cNvSpPr/>
          <p:nvPr/>
        </p:nvSpPr>
        <p:spPr>
          <a:xfrm>
            <a:off x="6210605" y="55248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61"/>
          <p:cNvSpPr/>
          <p:nvPr/>
        </p:nvSpPr>
        <p:spPr>
          <a:xfrm>
            <a:off x="6391656" y="56482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4" name="Image 10" descr="preencoded.png"/>
          <p:cNvPicPr>
            <a:picLocks noChangeAspect="1"/>
          </p:cNvPicPr>
          <p:nvPr/>
        </p:nvPicPr>
        <p:blipFill>
          <a:blip r:embed="rId13"/>
          <a:srcRect/>
          <a:stretch/>
        </p:blipFill>
        <p:spPr>
          <a:xfrm>
            <a:off x="6505956" y="5762549"/>
            <a:ext cx="171907" cy="171907"/>
          </a:xfrm>
          <a:prstGeom prst="rect">
            <a:avLst/>
          </a:prstGeom>
        </p:spPr>
      </p:pic>
      <p:sp>
        <p:nvSpPr>
          <p:cNvPr id="75" name="Text 62"/>
          <p:cNvSpPr txBox="1"/>
          <p:nvPr/>
        </p:nvSpPr>
        <p:spPr>
          <a:xfrm>
            <a:off x="6526987" y="608624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10</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Text 63"/>
          <p:cNvSpPr txBox="1"/>
          <p:nvPr/>
        </p:nvSpPr>
        <p:spPr>
          <a:xfrm>
            <a:off x="69723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ServiceNow</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Text 64"/>
          <p:cNvSpPr txBox="1"/>
          <p:nvPr/>
        </p:nvSpPr>
        <p:spPr>
          <a:xfrm>
            <a:off x="69723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ServiceNow enablement across ITSM, ITOM, CSM, CMDB, automation workflows, and CoE setup for scalable, multi-instance operations.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8" name="Image 11" descr="preencoded.png"/>
          <p:cNvPicPr>
            <a:picLocks noChangeAspect="1"/>
          </p:cNvPicPr>
          <p:nvPr/>
        </p:nvPicPr>
        <p:blipFill>
          <a:blip r:embed="rId14"/>
          <a:srcRect l="-202" r="-202"/>
          <a:stretch/>
        </p:blipFill>
        <p:spPr>
          <a:xfrm>
            <a:off x="0" y="0"/>
            <a:ext cx="8128102" cy="75895"/>
          </a:xfrm>
          <a:prstGeom prst="rect">
            <a:avLst/>
          </a:prstGeom>
        </p:spPr>
      </p:pic>
      <p:pic>
        <p:nvPicPr>
          <p:cNvPr id="79" name="Image 12" descr="preencoded.png"/>
          <p:cNvPicPr>
            <a:picLocks noChangeAspect="1"/>
          </p:cNvPicPr>
          <p:nvPr/>
        </p:nvPicPr>
        <p:blipFill>
          <a:blip r:embed="rId15"/>
          <a:srcRect l="-197" r="-197"/>
          <a:stretch/>
        </p:blipFill>
        <p:spPr>
          <a:xfrm>
            <a:off x="8128102" y="0"/>
            <a:ext cx="4063594" cy="75895"/>
          </a:xfrm>
          <a:prstGeom prst="rect">
            <a:avLst/>
          </a:prstGeom>
        </p:spPr>
      </p:pic>
    </p:spTree>
    <p:extLst>
      <p:ext uri="{BB962C8B-B14F-4D97-AF65-F5344CB8AC3E}">
        <p14:creationId xmlns:p14="http://schemas.microsoft.com/office/powerpoint/2010/main" val="504767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9663ecf744b06e35d4c2cebaab92a2ea.png"/>
          <p:cNvPicPr>
            <a:picLocks noChangeAspect="1"/>
          </p:cNvPicPr>
          <p:nvPr/>
        </p:nvPicPr>
        <p:blipFill>
          <a:blip r:embed="rId3"/>
          <a:srcRect l="-202" r="-202"/>
          <a:stretch/>
        </p:blipFill>
        <p:spPr>
          <a:xfrm>
            <a:off x="0" y="0"/>
            <a:ext cx="4067251" cy="75895"/>
          </a:xfrm>
          <a:prstGeom prst="rect">
            <a:avLst/>
          </a:prstGeom>
        </p:spPr>
      </p:pic>
      <p:pic>
        <p:nvPicPr>
          <p:cNvPr id="5" name="Image 1" descr="gen-dedup-323228122ff92d2332e711a84ca3b40c.png"/>
          <p:cNvPicPr>
            <a:picLocks noChangeAspect="1"/>
          </p:cNvPicPr>
          <p:nvPr/>
        </p:nvPicPr>
        <p:blipFill>
          <a:blip r:embed="rId4"/>
          <a:srcRect l="-198" r="-198"/>
          <a:stretch/>
        </p:blipFill>
        <p:spPr>
          <a:xfrm>
            <a:off x="4067251" y="0"/>
            <a:ext cx="8124444" cy="75895"/>
          </a:xfrm>
          <a:prstGeom prst="rect">
            <a:avLst/>
          </a:prstGeom>
        </p:spPr>
      </p:pic>
      <p:sp>
        <p:nvSpPr>
          <p:cNvPr id="6" name="Shape 2"/>
          <p:cNvSpPr/>
          <p:nvPr/>
        </p:nvSpPr>
        <p:spPr>
          <a:xfrm>
            <a:off x="9334195" y="-476402"/>
            <a:ext cx="3810305" cy="3810305"/>
          </a:xfrm>
          <a:prstGeom prst="ellipse">
            <a:avLst/>
          </a:prstGeom>
          <a:solidFill>
            <a:srgbClr val="2A9D8F">
              <a:alpha val="2000"/>
            </a:srgbClr>
          </a:solidFill>
          <a:ln w="12700">
            <a:solidFill>
              <a:srgbClr val="FFFFFF">
                <a:alpha val="0"/>
              </a:srgbClr>
            </a:solidFill>
            <a:prstDash val="solid"/>
          </a:ln>
        </p:spPr>
        <p:txBody>
          <a:bodyPr/>
          <a:lstStyle/>
          <a:p>
            <a:endParaRPr lang="en-US"/>
          </a:p>
        </p:txBody>
      </p:sp>
      <p:sp>
        <p:nvSpPr>
          <p:cNvPr id="7" name="Shape 3"/>
          <p:cNvSpPr/>
          <p:nvPr/>
        </p:nvSpPr>
        <p:spPr>
          <a:xfrm>
            <a:off x="-1429207" y="3047695"/>
            <a:ext cx="3333902" cy="3333902"/>
          </a:xfrm>
          <a:prstGeom prst="ellipse">
            <a:avLst/>
          </a:prstGeom>
          <a:solidFill>
            <a:srgbClr val="D62839">
              <a:alpha val="2000"/>
            </a:srgbClr>
          </a:solidFill>
          <a:ln w="12700">
            <a:solidFill>
              <a:srgbClr val="FFFFFF">
                <a:alpha val="0"/>
              </a:srgbClr>
            </a:solidFill>
            <a:prstDash val="solid"/>
          </a:ln>
        </p:spPr>
        <p:txBody>
          <a:bodyPr/>
          <a:lstStyle/>
          <a:p>
            <a:endParaRPr lang="en-US"/>
          </a:p>
        </p:txBody>
      </p:sp>
      <p:sp>
        <p:nvSpPr>
          <p:cNvPr id="8" name="Shape 4"/>
          <p:cNvSpPr/>
          <p:nvPr/>
        </p:nvSpPr>
        <p:spPr>
          <a:xfrm>
            <a:off x="647395" y="4619549"/>
            <a:ext cx="10916107" cy="1781251"/>
          </a:xfrm>
          <a:prstGeom prst="roundRect">
            <a:avLst>
              <a:gd name="adj" fmla="val 4392"/>
            </a:avLst>
          </a:prstGeom>
          <a:solidFill>
            <a:srgbClr val="F8FAFC"/>
          </a:solidFill>
          <a:ln w="12700">
            <a:solidFill>
              <a:srgbClr val="E2E8F0"/>
            </a:solidFill>
            <a:prstDash val="solid"/>
          </a:ln>
        </p:spPr>
        <p:txBody>
          <a:bodyPr/>
          <a:lstStyle/>
          <a:p>
            <a:endParaRPr lang="en-US"/>
          </a:p>
        </p:txBody>
      </p:sp>
      <p:sp>
        <p:nvSpPr>
          <p:cNvPr id="9" name="Shape 5"/>
          <p:cNvSpPr/>
          <p:nvPr/>
        </p:nvSpPr>
        <p:spPr>
          <a:xfrm>
            <a:off x="64739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0" name="Shape 6"/>
          <p:cNvSpPr/>
          <p:nvPr/>
        </p:nvSpPr>
        <p:spPr>
          <a:xfrm>
            <a:off x="647395" y="1571854"/>
            <a:ext cx="3524098" cy="38405"/>
          </a:xfrm>
          <a:prstGeom prst="roundRect">
            <a:avLst>
              <a:gd name="adj" fmla="val 96852"/>
            </a:avLst>
          </a:prstGeom>
          <a:solidFill>
            <a:srgbClr val="2A9D8F"/>
          </a:solidFill>
          <a:ln w="12700">
            <a:solidFill>
              <a:srgbClr val="2A9D8F">
                <a:alpha val="0"/>
              </a:srgbClr>
            </a:solidFill>
            <a:prstDash val="solid"/>
          </a:ln>
        </p:spPr>
        <p:txBody>
          <a:bodyPr/>
          <a:lstStyle/>
          <a:p>
            <a:endParaRPr lang="en-US"/>
          </a:p>
        </p:txBody>
      </p:sp>
      <p:sp>
        <p:nvSpPr>
          <p:cNvPr id="11" name="Shape 7"/>
          <p:cNvSpPr/>
          <p:nvPr/>
        </p:nvSpPr>
        <p:spPr>
          <a:xfrm>
            <a:off x="4343400"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2" name="Shape 8"/>
          <p:cNvSpPr/>
          <p:nvPr/>
        </p:nvSpPr>
        <p:spPr>
          <a:xfrm>
            <a:off x="4343400" y="1571854"/>
            <a:ext cx="3524098" cy="38405"/>
          </a:xfrm>
          <a:prstGeom prst="roundRect">
            <a:avLst>
              <a:gd name="adj" fmla="val 96852"/>
            </a:avLst>
          </a:prstGeom>
          <a:solidFill>
            <a:srgbClr val="D62839"/>
          </a:solidFill>
          <a:ln w="12700">
            <a:solidFill>
              <a:srgbClr val="D62839">
                <a:alpha val="0"/>
              </a:srgbClr>
            </a:solidFill>
            <a:prstDash val="solid"/>
          </a:ln>
        </p:spPr>
        <p:txBody>
          <a:bodyPr/>
          <a:lstStyle/>
          <a:p>
            <a:endParaRPr lang="en-US"/>
          </a:p>
        </p:txBody>
      </p:sp>
      <p:sp>
        <p:nvSpPr>
          <p:cNvPr id="13" name="Shape 9"/>
          <p:cNvSpPr/>
          <p:nvPr/>
        </p:nvSpPr>
        <p:spPr>
          <a:xfrm>
            <a:off x="803940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4" name="Shape 10"/>
          <p:cNvSpPr/>
          <p:nvPr/>
        </p:nvSpPr>
        <p:spPr>
          <a:xfrm>
            <a:off x="8039405" y="1571854"/>
            <a:ext cx="3524098" cy="38405"/>
          </a:xfrm>
          <a:prstGeom prst="roundRect">
            <a:avLst>
              <a:gd name="adj" fmla="val 96852"/>
            </a:avLst>
          </a:prstGeom>
          <a:solidFill>
            <a:srgbClr val="111827"/>
          </a:solidFill>
          <a:ln w="12700">
            <a:solidFill>
              <a:srgbClr val="111827">
                <a:alpha val="0"/>
              </a:srgbClr>
            </a:solidFill>
            <a:prstDash val="solid"/>
          </a:ln>
        </p:spPr>
        <p:txBody>
          <a:bodyPr/>
          <a:lstStyle/>
          <a:p>
            <a:endParaRPr lang="en-US"/>
          </a:p>
        </p:txBody>
      </p:sp>
      <p:sp>
        <p:nvSpPr>
          <p:cNvPr id="15" name="Shape 11"/>
          <p:cNvSpPr/>
          <p:nvPr/>
        </p:nvSpPr>
        <p:spPr>
          <a:xfrm>
            <a:off x="90525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6" name="Shape 12"/>
          <p:cNvSpPr/>
          <p:nvPr/>
        </p:nvSpPr>
        <p:spPr>
          <a:xfrm>
            <a:off x="3666744"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7" name="Shape 13"/>
          <p:cNvSpPr/>
          <p:nvPr/>
        </p:nvSpPr>
        <p:spPr>
          <a:xfrm>
            <a:off x="642914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8" name="Shape 14"/>
          <p:cNvSpPr/>
          <p:nvPr/>
        </p:nvSpPr>
        <p:spPr>
          <a:xfrm>
            <a:off x="9191549" y="5143500"/>
            <a:ext cx="2180844"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pic>
        <p:nvPicPr>
          <p:cNvPr id="19" name="Image 2" descr="gen-dedup-06e3d16aa0e9246458a784af17ea21a8.png"/>
          <p:cNvPicPr>
            <a:picLocks noChangeAspect="1"/>
          </p:cNvPicPr>
          <p:nvPr/>
        </p:nvPicPr>
        <p:blipFill>
          <a:blip r:embed="rId5"/>
          <a:srcRect l="-437" r="-437"/>
          <a:stretch/>
        </p:blipFill>
        <p:spPr>
          <a:xfrm>
            <a:off x="647395" y="743407"/>
            <a:ext cx="57607" cy="418795"/>
          </a:xfrm>
          <a:prstGeom prst="rect">
            <a:avLst/>
          </a:prstGeom>
        </p:spPr>
      </p:pic>
      <p:sp>
        <p:nvSpPr>
          <p:cNvPr id="20" name="Text 15"/>
          <p:cNvSpPr txBox="1"/>
          <p:nvPr/>
        </p:nvSpPr>
        <p:spPr>
          <a:xfrm>
            <a:off x="857707" y="685800"/>
            <a:ext cx="10478110" cy="419710"/>
          </a:xfrm>
          <a:prstGeom prst="rect">
            <a:avLst/>
          </a:prstGeom>
          <a:noFill/>
          <a:ln/>
        </p:spPr>
        <p:txBody>
          <a:bodyPr wrap="square" lIns="0" tIns="0" rIns="0" bIns="0" rtlCol="0" anchor="ctr"/>
          <a:lstStyle/>
          <a:p>
            <a:pPr marL="0" indent="0" algn="l">
              <a:buNone/>
            </a:pPr>
            <a:r>
              <a:rPr lang="en-US" sz="3000" b="1" dirty="0">
                <a:solidFill>
                  <a:srgbClr val="111827"/>
                </a:solidFill>
                <a:latin typeface="Oswald" pitchFamily="34" charset="0"/>
                <a:ea typeface="Oswald" pitchFamily="34" charset="-122"/>
                <a:cs typeface="Oswald" pitchFamily="34" charset="-120"/>
              </a:rPr>
              <a:t>NEXT STEPS</a:t>
            </a:r>
            <a:endParaRPr lang="en-US" sz="3000" dirty="0"/>
          </a:p>
        </p:txBody>
      </p:sp>
      <p:sp>
        <p:nvSpPr>
          <p:cNvPr id="21" name="Text 16"/>
          <p:cNvSpPr txBox="1"/>
          <p:nvPr/>
        </p:nvSpPr>
        <p:spPr>
          <a:xfrm>
            <a:off x="857707" y="1143000"/>
            <a:ext cx="10478110" cy="181051"/>
          </a:xfrm>
          <a:prstGeom prst="rect">
            <a:avLst/>
          </a:prstGeom>
          <a:noFill/>
          <a:ln/>
        </p:spPr>
        <p:txBody>
          <a:bodyPr wrap="square" lIns="0" tIns="0" rIns="0" bIns="0" rtlCol="0" anchor="ctr"/>
          <a:lstStyle/>
          <a:p>
            <a:pPr marL="0" indent="0" algn="l">
              <a:buNone/>
            </a:pPr>
            <a:r>
              <a:rPr lang="en-US" sz="1200" b="1" kern="0" spc="60" dirty="0">
                <a:solidFill>
                  <a:srgbClr val="2A9D8F"/>
                </a:solidFill>
                <a:latin typeface="Roboto Condensed" pitchFamily="34" charset="0"/>
                <a:ea typeface="Roboto Condensed" pitchFamily="34" charset="-122"/>
                <a:cs typeface="Roboto Condensed" pitchFamily="34" charset="-120"/>
              </a:rPr>
              <a:t>FLEXIBLE ENGAGEMENT MODELS TAILORED TO YOUR THREE-YEAR ROADMAP</a:t>
            </a:r>
            <a:endParaRPr lang="en-US" sz="1200" dirty="0"/>
          </a:p>
        </p:txBody>
      </p:sp>
      <p:sp>
        <p:nvSpPr>
          <p:cNvPr id="22" name="Shape 17"/>
          <p:cNvSpPr/>
          <p:nvPr/>
        </p:nvSpPr>
        <p:spPr>
          <a:xfrm>
            <a:off x="838505" y="1762049"/>
            <a:ext cx="457200" cy="457200"/>
          </a:xfrm>
          <a:prstGeom prst="roundRect">
            <a:avLst>
              <a:gd name="adj" fmla="val 66667"/>
            </a:avLst>
          </a:prstGeom>
          <a:solidFill>
            <a:srgbClr val="E6F3F1"/>
          </a:solidFill>
          <a:ln w="12700">
            <a:solidFill>
              <a:srgbClr val="FFFFFF">
                <a:alpha val="0"/>
              </a:srgbClr>
            </a:solidFill>
            <a:prstDash val="solid"/>
          </a:ln>
        </p:spPr>
        <p:txBody>
          <a:bodyPr/>
          <a:lstStyle/>
          <a:p>
            <a:endParaRPr lang="en-US"/>
          </a:p>
        </p:txBody>
      </p:sp>
      <p:pic>
        <p:nvPicPr>
          <p:cNvPr id="23" name="Image 3" descr="gen-dedup-fa5d0b435e79f3035aaec6593bf7cfb3.png"/>
          <p:cNvPicPr>
            <a:picLocks noChangeAspect="1"/>
          </p:cNvPicPr>
          <p:nvPr/>
        </p:nvPicPr>
        <p:blipFill>
          <a:blip r:embed="rId6"/>
          <a:srcRect l="-3526" r="-3526"/>
          <a:stretch/>
        </p:blipFill>
        <p:spPr>
          <a:xfrm>
            <a:off x="990295" y="1895551"/>
            <a:ext cx="152705" cy="190195"/>
          </a:xfrm>
          <a:prstGeom prst="rect">
            <a:avLst/>
          </a:prstGeom>
        </p:spPr>
      </p:pic>
      <p:sp>
        <p:nvSpPr>
          <p:cNvPr id="24" name="Text 18"/>
          <p:cNvSpPr txBox="1"/>
          <p:nvPr/>
        </p:nvSpPr>
        <p:spPr>
          <a:xfrm>
            <a:off x="1447495" y="1794967"/>
            <a:ext cx="1995221"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Discovery Workshop</a:t>
            </a:r>
            <a:endParaRPr lang="en-US" sz="1600"/>
          </a:p>
        </p:txBody>
      </p:sp>
      <p:sp>
        <p:nvSpPr>
          <p:cNvPr id="25" name="Text 19"/>
          <p:cNvSpPr txBox="1"/>
          <p:nvPr/>
        </p:nvSpPr>
        <p:spPr>
          <a:xfrm>
            <a:off x="1447495" y="2043684"/>
            <a:ext cx="1677010"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~90 Minutes</a:t>
            </a:r>
            <a:endParaRPr lang="en-US" sz="900"/>
          </a:p>
        </p:txBody>
      </p:sp>
      <p:sp>
        <p:nvSpPr>
          <p:cNvPr id="26" name="Shape 20"/>
          <p:cNvSpPr/>
          <p:nvPr/>
        </p:nvSpPr>
        <p:spPr>
          <a:xfrm>
            <a:off x="3259836" y="1762049"/>
            <a:ext cx="705002" cy="256946"/>
          </a:xfrm>
          <a:prstGeom prst="roundRect">
            <a:avLst>
              <a:gd name="adj" fmla="val 316331"/>
            </a:avLst>
          </a:prstGeom>
          <a:solidFill>
            <a:srgbClr val="E6F3F1"/>
          </a:solidFill>
          <a:ln w="12700">
            <a:solidFill>
              <a:srgbClr val="FFFFFF">
                <a:alpha val="0"/>
              </a:srgbClr>
            </a:solidFill>
            <a:prstDash val="solid"/>
          </a:ln>
        </p:spPr>
        <p:txBody>
          <a:bodyPr/>
          <a:lstStyle/>
          <a:p>
            <a:endParaRPr lang="en-US"/>
          </a:p>
        </p:txBody>
      </p:sp>
      <p:sp>
        <p:nvSpPr>
          <p:cNvPr id="27" name="Text 21"/>
          <p:cNvSpPr txBox="1"/>
          <p:nvPr/>
        </p:nvSpPr>
        <p:spPr>
          <a:xfrm>
            <a:off x="83850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28" name="Image 4" descr="gen-dedup-2910efa1624004b251a6644ba5a6ae47.png"/>
          <p:cNvPicPr>
            <a:picLocks noChangeAspect="1"/>
          </p:cNvPicPr>
          <p:nvPr/>
        </p:nvPicPr>
        <p:blipFill>
          <a:blip r:embed="rId7"/>
          <a:srcRect t="-27726" b="-27726"/>
          <a:stretch/>
        </p:blipFill>
        <p:spPr>
          <a:xfrm>
            <a:off x="838505" y="2734056"/>
            <a:ext cx="85954" cy="152705"/>
          </a:xfrm>
          <a:prstGeom prst="rect">
            <a:avLst/>
          </a:prstGeom>
        </p:spPr>
      </p:pic>
      <p:sp>
        <p:nvSpPr>
          <p:cNvPr id="29" name="Text 22"/>
          <p:cNvSpPr txBox="1"/>
          <p:nvPr/>
        </p:nvSpPr>
        <p:spPr>
          <a:xfrm>
            <a:off x="1019556" y="2695651"/>
            <a:ext cx="2732227"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Use case identification &amp; prioritization</a:t>
            </a:r>
            <a:endParaRPr lang="en-US" sz="1000"/>
          </a:p>
        </p:txBody>
      </p:sp>
      <p:pic>
        <p:nvPicPr>
          <p:cNvPr id="30" name="Image 5" descr="gen-dedup-2910efa1624004b251a6644ba5a6ae47.png"/>
          <p:cNvPicPr>
            <a:picLocks noChangeAspect="1"/>
          </p:cNvPicPr>
          <p:nvPr/>
        </p:nvPicPr>
        <p:blipFill>
          <a:blip r:embed="rId7"/>
          <a:srcRect t="-27726" b="-27726"/>
          <a:stretch/>
        </p:blipFill>
        <p:spPr>
          <a:xfrm>
            <a:off x="838505" y="3019349"/>
            <a:ext cx="85954" cy="152705"/>
          </a:xfrm>
          <a:prstGeom prst="rect">
            <a:avLst/>
          </a:prstGeom>
        </p:spPr>
      </p:pic>
      <p:sp>
        <p:nvSpPr>
          <p:cNvPr id="31" name="Text 23"/>
          <p:cNvSpPr txBox="1"/>
          <p:nvPr/>
        </p:nvSpPr>
        <p:spPr>
          <a:xfrm>
            <a:off x="1019556" y="2980944"/>
            <a:ext cx="1972361"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Value hypothesis definition</a:t>
            </a:r>
            <a:endParaRPr lang="en-US" sz="1000"/>
          </a:p>
        </p:txBody>
      </p:sp>
      <p:pic>
        <p:nvPicPr>
          <p:cNvPr id="32" name="Image 6" descr="gen-dedup-2910efa1624004b251a6644ba5a6ae47.png"/>
          <p:cNvPicPr>
            <a:picLocks noChangeAspect="1"/>
          </p:cNvPicPr>
          <p:nvPr/>
        </p:nvPicPr>
        <p:blipFill>
          <a:blip r:embed="rId7"/>
          <a:srcRect t="-27726" b="-27726"/>
          <a:stretch/>
        </p:blipFill>
        <p:spPr>
          <a:xfrm>
            <a:off x="838505" y="3305556"/>
            <a:ext cx="85954" cy="152705"/>
          </a:xfrm>
          <a:prstGeom prst="rect">
            <a:avLst/>
          </a:prstGeom>
        </p:spPr>
      </p:pic>
      <p:sp>
        <p:nvSpPr>
          <p:cNvPr id="33" name="Text 24"/>
          <p:cNvSpPr txBox="1"/>
          <p:nvPr/>
        </p:nvSpPr>
        <p:spPr>
          <a:xfrm>
            <a:off x="1019556" y="3267151"/>
            <a:ext cx="3377794"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High-level roadmap aligned to 70/30 strategy</a:t>
            </a:r>
            <a:endParaRPr lang="en-US" sz="1000"/>
          </a:p>
        </p:txBody>
      </p:sp>
      <p:sp>
        <p:nvSpPr>
          <p:cNvPr id="34" name="Text 25"/>
          <p:cNvSpPr txBox="1"/>
          <p:nvPr/>
        </p:nvSpPr>
        <p:spPr>
          <a:xfrm>
            <a:off x="3354934" y="1848002"/>
            <a:ext cx="662026" cy="124358"/>
          </a:xfrm>
          <a:prstGeom prst="rect">
            <a:avLst/>
          </a:prstGeom>
          <a:noFill/>
          <a:ln/>
        </p:spPr>
        <p:txBody>
          <a:bodyPr wrap="square" lIns="0" tIns="0" rIns="0" bIns="0" rtlCol="0" anchor="ctr"/>
          <a:lstStyle/>
          <a:p>
            <a:pPr marL="0" indent="0" algn="l">
              <a:buNone/>
            </a:pPr>
            <a:r>
              <a:rPr lang="en-US" sz="800" b="1">
                <a:solidFill>
                  <a:srgbClr val="2A9D8F"/>
                </a:solidFill>
                <a:latin typeface="Roboto Condensed" pitchFamily="34" charset="0"/>
                <a:ea typeface="Roboto Condensed" pitchFamily="34" charset="-122"/>
                <a:cs typeface="Roboto Condensed" pitchFamily="34" charset="-120"/>
              </a:rPr>
              <a:t>LOW TOUCH</a:t>
            </a:r>
            <a:endParaRPr lang="en-US" sz="800"/>
          </a:p>
        </p:txBody>
      </p:sp>
      <p:sp>
        <p:nvSpPr>
          <p:cNvPr id="35" name="Shape 26"/>
          <p:cNvSpPr/>
          <p:nvPr/>
        </p:nvSpPr>
        <p:spPr>
          <a:xfrm>
            <a:off x="4533595" y="1762049"/>
            <a:ext cx="457200" cy="457200"/>
          </a:xfrm>
          <a:prstGeom prst="roundRect">
            <a:avLst>
              <a:gd name="adj" fmla="val 66667"/>
            </a:avLst>
          </a:prstGeom>
          <a:solidFill>
            <a:srgbClr val="FBE6E8"/>
          </a:solidFill>
          <a:ln w="12700">
            <a:solidFill>
              <a:srgbClr val="FFFFFF">
                <a:alpha val="0"/>
              </a:srgbClr>
            </a:solidFill>
            <a:prstDash val="solid"/>
          </a:ln>
        </p:spPr>
        <p:txBody>
          <a:bodyPr/>
          <a:lstStyle/>
          <a:p>
            <a:endParaRPr lang="en-US"/>
          </a:p>
        </p:txBody>
      </p:sp>
      <p:pic>
        <p:nvPicPr>
          <p:cNvPr id="36" name="Image 7" descr="gen-dedup-302cf04975ca72dffec5134ed5b99fbe.png"/>
          <p:cNvPicPr>
            <a:picLocks noChangeAspect="1"/>
          </p:cNvPicPr>
          <p:nvPr/>
        </p:nvPicPr>
        <p:blipFill>
          <a:blip r:embed="rId8"/>
          <a:srcRect t="-4491" b="-4491"/>
          <a:stretch/>
        </p:blipFill>
        <p:spPr>
          <a:xfrm>
            <a:off x="4686300" y="1895551"/>
            <a:ext cx="152705" cy="190195"/>
          </a:xfrm>
          <a:prstGeom prst="rect">
            <a:avLst/>
          </a:prstGeom>
        </p:spPr>
      </p:pic>
      <p:sp>
        <p:nvSpPr>
          <p:cNvPr id="37" name="Text 27"/>
          <p:cNvSpPr txBox="1"/>
          <p:nvPr/>
        </p:nvSpPr>
        <p:spPr>
          <a:xfrm>
            <a:off x="5143500" y="1794967"/>
            <a:ext cx="1825142"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Assessment &amp; PoC</a:t>
            </a:r>
            <a:endParaRPr lang="en-US" sz="1600"/>
          </a:p>
        </p:txBody>
      </p:sp>
      <p:sp>
        <p:nvSpPr>
          <p:cNvPr id="38" name="Text 28"/>
          <p:cNvSpPr txBox="1"/>
          <p:nvPr/>
        </p:nvSpPr>
        <p:spPr>
          <a:xfrm>
            <a:off x="5143500" y="2043684"/>
            <a:ext cx="1534363"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4 Weeks</a:t>
            </a:r>
            <a:endParaRPr lang="en-US" sz="900"/>
          </a:p>
        </p:txBody>
      </p:sp>
      <p:sp>
        <p:nvSpPr>
          <p:cNvPr id="39" name="Shape 29"/>
          <p:cNvSpPr/>
          <p:nvPr/>
        </p:nvSpPr>
        <p:spPr>
          <a:xfrm>
            <a:off x="6982358" y="1762049"/>
            <a:ext cx="676656" cy="256946"/>
          </a:xfrm>
          <a:prstGeom prst="roundRect">
            <a:avLst>
              <a:gd name="adj" fmla="val 316331"/>
            </a:avLst>
          </a:prstGeom>
          <a:solidFill>
            <a:srgbClr val="FBE6E8"/>
          </a:solidFill>
          <a:ln w="12700">
            <a:solidFill>
              <a:srgbClr val="FFFFFF">
                <a:alpha val="0"/>
              </a:srgbClr>
            </a:solidFill>
            <a:prstDash val="solid"/>
          </a:ln>
        </p:spPr>
        <p:txBody>
          <a:bodyPr/>
          <a:lstStyle/>
          <a:p>
            <a:endParaRPr lang="en-US"/>
          </a:p>
        </p:txBody>
      </p:sp>
      <p:sp>
        <p:nvSpPr>
          <p:cNvPr id="40" name="Text 30"/>
          <p:cNvSpPr txBox="1"/>
          <p:nvPr/>
        </p:nvSpPr>
        <p:spPr>
          <a:xfrm>
            <a:off x="453359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41" name="Image 8" descr="gen-dedup-3f480c66afa147b2245dea2610bb3896.png"/>
          <p:cNvPicPr>
            <a:picLocks noChangeAspect="1"/>
          </p:cNvPicPr>
          <p:nvPr/>
        </p:nvPicPr>
        <p:blipFill>
          <a:blip r:embed="rId9"/>
          <a:srcRect t="-12832" b="-12832"/>
          <a:stretch/>
        </p:blipFill>
        <p:spPr>
          <a:xfrm>
            <a:off x="4533595" y="2734056"/>
            <a:ext cx="85954" cy="123444"/>
          </a:xfrm>
          <a:prstGeom prst="rect">
            <a:avLst/>
          </a:prstGeom>
        </p:spPr>
      </p:pic>
      <p:sp>
        <p:nvSpPr>
          <p:cNvPr id="42" name="Text 31"/>
          <p:cNvSpPr txBox="1"/>
          <p:nvPr/>
        </p:nvSpPr>
        <p:spPr>
          <a:xfrm>
            <a:off x="4714646" y="2695651"/>
            <a:ext cx="215432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Target state architecture design</a:t>
            </a:r>
            <a:endParaRPr lang="en-US" sz="900"/>
          </a:p>
        </p:txBody>
      </p:sp>
      <p:pic>
        <p:nvPicPr>
          <p:cNvPr id="43" name="Image 9" descr="gen-dedup-3f480c66afa147b2245dea2610bb3896.png"/>
          <p:cNvPicPr>
            <a:picLocks noChangeAspect="1"/>
          </p:cNvPicPr>
          <p:nvPr/>
        </p:nvPicPr>
        <p:blipFill>
          <a:blip r:embed="rId9"/>
          <a:srcRect t="-12832" b="-12832"/>
          <a:stretch/>
        </p:blipFill>
        <p:spPr>
          <a:xfrm>
            <a:off x="4533595" y="2971800"/>
            <a:ext cx="85954" cy="123444"/>
          </a:xfrm>
          <a:prstGeom prst="rect">
            <a:avLst/>
          </a:prstGeom>
        </p:spPr>
      </p:pic>
      <p:sp>
        <p:nvSpPr>
          <p:cNvPr id="44" name="Text 32"/>
          <p:cNvSpPr txBox="1"/>
          <p:nvPr/>
        </p:nvSpPr>
        <p:spPr>
          <a:xfrm>
            <a:off x="4714646" y="2933395"/>
            <a:ext cx="250545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Working pilot / MVP implementation</a:t>
            </a:r>
            <a:endParaRPr lang="en-US" sz="900"/>
          </a:p>
        </p:txBody>
      </p:sp>
      <p:pic>
        <p:nvPicPr>
          <p:cNvPr id="45" name="Image 10" descr="gen-dedup-3f480c66afa147b2245dea2610bb3896.png"/>
          <p:cNvPicPr>
            <a:picLocks noChangeAspect="1"/>
          </p:cNvPicPr>
          <p:nvPr/>
        </p:nvPicPr>
        <p:blipFill>
          <a:blip r:embed="rId9"/>
          <a:srcRect t="-12832" b="-12832"/>
          <a:stretch/>
        </p:blipFill>
        <p:spPr>
          <a:xfrm>
            <a:off x="4533595" y="3209544"/>
            <a:ext cx="85954" cy="123444"/>
          </a:xfrm>
          <a:prstGeom prst="rect">
            <a:avLst/>
          </a:prstGeom>
        </p:spPr>
      </p:pic>
      <p:sp>
        <p:nvSpPr>
          <p:cNvPr id="46" name="Text 33"/>
          <p:cNvSpPr txBox="1"/>
          <p:nvPr/>
        </p:nvSpPr>
        <p:spPr>
          <a:xfrm>
            <a:off x="4714646" y="3172054"/>
            <a:ext cx="2278685"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Detailed ROI model &amp; rollout plan</a:t>
            </a:r>
            <a:endParaRPr lang="en-US" sz="900"/>
          </a:p>
        </p:txBody>
      </p:sp>
      <p:pic>
        <p:nvPicPr>
          <p:cNvPr id="47" name="Image 11" descr="gen-dedup-3f480c66afa147b2245dea2610bb3896.png"/>
          <p:cNvPicPr>
            <a:picLocks noChangeAspect="1"/>
          </p:cNvPicPr>
          <p:nvPr/>
        </p:nvPicPr>
        <p:blipFill>
          <a:blip r:embed="rId9"/>
          <a:srcRect t="-12832" b="-12832"/>
          <a:stretch/>
        </p:blipFill>
        <p:spPr>
          <a:xfrm>
            <a:off x="4533595" y="3448202"/>
            <a:ext cx="85954" cy="123444"/>
          </a:xfrm>
          <a:prstGeom prst="rect">
            <a:avLst/>
          </a:prstGeom>
        </p:spPr>
      </p:pic>
      <p:sp>
        <p:nvSpPr>
          <p:cNvPr id="48" name="Text 34"/>
          <p:cNvSpPr txBox="1"/>
          <p:nvPr/>
        </p:nvSpPr>
        <p:spPr>
          <a:xfrm>
            <a:off x="4714646" y="3409798"/>
            <a:ext cx="210860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Vendor integration assessment</a:t>
            </a:r>
            <a:endParaRPr lang="en-US" sz="900"/>
          </a:p>
        </p:txBody>
      </p:sp>
      <p:sp>
        <p:nvSpPr>
          <p:cNvPr id="49" name="Text 35"/>
          <p:cNvSpPr txBox="1"/>
          <p:nvPr/>
        </p:nvSpPr>
        <p:spPr>
          <a:xfrm>
            <a:off x="7077456" y="1848002"/>
            <a:ext cx="658368" cy="124358"/>
          </a:xfrm>
          <a:prstGeom prst="rect">
            <a:avLst/>
          </a:prstGeom>
          <a:noFill/>
          <a:ln/>
        </p:spPr>
        <p:txBody>
          <a:bodyPr wrap="square" lIns="0" tIns="0" rIns="0" bIns="0" rtlCol="0" anchor="ctr"/>
          <a:lstStyle/>
          <a:p>
            <a:pPr marL="0" indent="0" algn="l">
              <a:buNone/>
            </a:pPr>
            <a:r>
              <a:rPr lang="en-US" sz="800" b="1">
                <a:solidFill>
                  <a:srgbClr val="D62839"/>
                </a:solidFill>
                <a:latin typeface="Roboto Condensed" pitchFamily="34" charset="0"/>
                <a:ea typeface="Roboto Condensed" pitchFamily="34" charset="-122"/>
                <a:cs typeface="Roboto Condensed" pitchFamily="34" charset="-120"/>
              </a:rPr>
              <a:t>STRATEGIC</a:t>
            </a:r>
            <a:endParaRPr lang="en-US" sz="800"/>
          </a:p>
        </p:txBody>
      </p:sp>
      <p:sp>
        <p:nvSpPr>
          <p:cNvPr id="50" name="Shape 36"/>
          <p:cNvSpPr/>
          <p:nvPr/>
        </p:nvSpPr>
        <p:spPr>
          <a:xfrm>
            <a:off x="8229600" y="1762049"/>
            <a:ext cx="457200" cy="457200"/>
          </a:xfrm>
          <a:prstGeom prst="roundRect">
            <a:avLst>
              <a:gd name="adj" fmla="val 66667"/>
            </a:avLst>
          </a:prstGeom>
          <a:solidFill>
            <a:srgbClr val="F1F5F9"/>
          </a:solidFill>
          <a:ln w="12700">
            <a:solidFill>
              <a:srgbClr val="FFFFFF">
                <a:alpha val="0"/>
              </a:srgbClr>
            </a:solidFill>
            <a:prstDash val="solid"/>
          </a:ln>
        </p:spPr>
        <p:txBody>
          <a:bodyPr/>
          <a:lstStyle/>
          <a:p>
            <a:endParaRPr lang="en-US"/>
          </a:p>
        </p:txBody>
      </p:sp>
      <p:pic>
        <p:nvPicPr>
          <p:cNvPr id="51" name="Image 12" descr="gen-dedup-e104b6e838315a11dc2d3bf260faf00b.png"/>
          <p:cNvPicPr>
            <a:picLocks noChangeAspect="1"/>
          </p:cNvPicPr>
          <p:nvPr/>
        </p:nvPicPr>
        <p:blipFill>
          <a:blip r:embed="rId10"/>
          <a:srcRect t="-27844" b="-27844"/>
          <a:stretch/>
        </p:blipFill>
        <p:spPr>
          <a:xfrm>
            <a:off x="8382305" y="1895551"/>
            <a:ext cx="152705" cy="190195"/>
          </a:xfrm>
          <a:prstGeom prst="rect">
            <a:avLst/>
          </a:prstGeom>
        </p:spPr>
      </p:pic>
      <p:sp>
        <p:nvSpPr>
          <p:cNvPr id="52" name="Text 37"/>
          <p:cNvSpPr txBox="1"/>
          <p:nvPr/>
        </p:nvSpPr>
        <p:spPr>
          <a:xfrm>
            <a:off x="8839505" y="1794967"/>
            <a:ext cx="1938528"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Build &amp; Run Models</a:t>
            </a:r>
            <a:endParaRPr lang="en-US" sz="1600"/>
          </a:p>
        </p:txBody>
      </p:sp>
      <p:sp>
        <p:nvSpPr>
          <p:cNvPr id="53" name="Text 38"/>
          <p:cNvSpPr txBox="1"/>
          <p:nvPr/>
        </p:nvSpPr>
        <p:spPr>
          <a:xfrm>
            <a:off x="8839505" y="2043684"/>
            <a:ext cx="1629461"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Multi-Year</a:t>
            </a:r>
            <a:endParaRPr lang="en-US" sz="900"/>
          </a:p>
        </p:txBody>
      </p:sp>
      <p:sp>
        <p:nvSpPr>
          <p:cNvPr id="54" name="Shape 39"/>
          <p:cNvSpPr/>
          <p:nvPr/>
        </p:nvSpPr>
        <p:spPr>
          <a:xfrm>
            <a:off x="10555834" y="1762049"/>
            <a:ext cx="800100" cy="256946"/>
          </a:xfrm>
          <a:prstGeom prst="roundRect">
            <a:avLst>
              <a:gd name="adj" fmla="val 316331"/>
            </a:avLst>
          </a:prstGeom>
          <a:solidFill>
            <a:srgbClr val="F1F5F9"/>
          </a:solidFill>
          <a:ln w="12700">
            <a:solidFill>
              <a:srgbClr val="FFFFFF">
                <a:alpha val="0"/>
              </a:srgbClr>
            </a:solidFill>
            <a:prstDash val="solid"/>
          </a:ln>
        </p:spPr>
        <p:txBody>
          <a:bodyPr/>
          <a:lstStyle/>
          <a:p>
            <a:endParaRPr lang="en-US"/>
          </a:p>
        </p:txBody>
      </p:sp>
      <p:sp>
        <p:nvSpPr>
          <p:cNvPr id="55" name="Text 40"/>
          <p:cNvSpPr txBox="1"/>
          <p:nvPr/>
        </p:nvSpPr>
        <p:spPr>
          <a:xfrm>
            <a:off x="8229600"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COMMERCIAL MODELS</a:t>
            </a:r>
            <a:endParaRPr lang="en-US" sz="900"/>
          </a:p>
        </p:txBody>
      </p:sp>
      <p:pic>
        <p:nvPicPr>
          <p:cNvPr id="56" name="Image 13" descr="gen-dedup-06c19e2f143b52e69c4653630769d291.png"/>
          <p:cNvPicPr>
            <a:picLocks noChangeAspect="1"/>
          </p:cNvPicPr>
          <p:nvPr/>
        </p:nvPicPr>
        <p:blipFill>
          <a:blip r:embed="rId11"/>
          <a:srcRect t="-27726" b="-27726"/>
          <a:stretch/>
        </p:blipFill>
        <p:spPr>
          <a:xfrm>
            <a:off x="8229600" y="2734056"/>
            <a:ext cx="85954" cy="152705"/>
          </a:xfrm>
          <a:prstGeom prst="rect">
            <a:avLst/>
          </a:prstGeom>
        </p:spPr>
      </p:pic>
      <p:sp>
        <p:nvSpPr>
          <p:cNvPr id="57" name="Text 41"/>
          <p:cNvSpPr txBox="1"/>
          <p:nvPr/>
        </p:nvSpPr>
        <p:spPr>
          <a:xfrm>
            <a:off x="8410651" y="2695651"/>
            <a:ext cx="2879446"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Fixed Scope:</a:t>
            </a:r>
            <a:r>
              <a:rPr lang="en-US" sz="1000">
                <a:solidFill>
                  <a:srgbClr val="475569"/>
                </a:solidFill>
                <a:latin typeface="Raleway" pitchFamily="34" charset="0"/>
                <a:ea typeface="Raleway" pitchFamily="34" charset="-122"/>
                <a:cs typeface="Raleway" pitchFamily="34" charset="-120"/>
              </a:rPr>
              <a:t> For defined project builds</a:t>
            </a:r>
            <a:endParaRPr lang="en-US" sz="1000"/>
          </a:p>
        </p:txBody>
      </p:sp>
      <p:pic>
        <p:nvPicPr>
          <p:cNvPr id="58" name="Image 14" descr="gen-dedup-06c19e2f143b52e69c4653630769d291.png"/>
          <p:cNvPicPr>
            <a:picLocks noChangeAspect="1"/>
          </p:cNvPicPr>
          <p:nvPr/>
        </p:nvPicPr>
        <p:blipFill>
          <a:blip r:embed="rId11"/>
          <a:srcRect t="-27726" b="-27726"/>
          <a:stretch/>
        </p:blipFill>
        <p:spPr>
          <a:xfrm>
            <a:off x="8229600" y="3038551"/>
            <a:ext cx="85954" cy="152705"/>
          </a:xfrm>
          <a:prstGeom prst="rect">
            <a:avLst/>
          </a:prstGeom>
        </p:spPr>
      </p:pic>
      <p:sp>
        <p:nvSpPr>
          <p:cNvPr id="59" name="Text 42"/>
          <p:cNvSpPr txBox="1"/>
          <p:nvPr/>
        </p:nvSpPr>
        <p:spPr>
          <a:xfrm>
            <a:off x="8410651" y="3000146"/>
            <a:ext cx="3038551"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Managed Service:</a:t>
            </a:r>
            <a:r>
              <a:rPr lang="en-US" sz="1000">
                <a:solidFill>
                  <a:srgbClr val="475569"/>
                </a:solidFill>
                <a:latin typeface="Raleway" pitchFamily="34" charset="0"/>
                <a:ea typeface="Raleway" pitchFamily="34" charset="-122"/>
                <a:cs typeface="Raleway" pitchFamily="34" charset="-120"/>
              </a:rPr>
              <a:t> SLA-driven operations</a:t>
            </a:r>
            <a:endParaRPr lang="en-US" sz="1000"/>
          </a:p>
        </p:txBody>
      </p:sp>
      <p:pic>
        <p:nvPicPr>
          <p:cNvPr id="60" name="Image 15" descr="gen-dedup-3678629b4a5ad6139a7cc5dcf1ee97ee.png"/>
          <p:cNvPicPr>
            <a:picLocks noChangeAspect="1"/>
          </p:cNvPicPr>
          <p:nvPr/>
        </p:nvPicPr>
        <p:blipFill>
          <a:blip r:embed="rId12"/>
          <a:srcRect t="-119879" b="-119879"/>
          <a:stretch/>
        </p:blipFill>
        <p:spPr>
          <a:xfrm>
            <a:off x="8229600" y="3343046"/>
            <a:ext cx="85954" cy="333756"/>
          </a:xfrm>
          <a:prstGeom prst="rect">
            <a:avLst/>
          </a:prstGeom>
        </p:spPr>
      </p:pic>
      <p:sp>
        <p:nvSpPr>
          <p:cNvPr id="61" name="Text 43"/>
          <p:cNvSpPr txBox="1"/>
          <p:nvPr/>
        </p:nvSpPr>
        <p:spPr>
          <a:xfrm>
            <a:off x="8410651" y="3305556"/>
            <a:ext cx="2943454" cy="381305"/>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Outcome-Based:</a:t>
            </a:r>
            <a:r>
              <a:rPr lang="en-US" sz="1000">
                <a:solidFill>
                  <a:srgbClr val="475569"/>
                </a:solidFill>
                <a:latin typeface="Raleway" pitchFamily="34" charset="0"/>
                <a:ea typeface="Raleway" pitchFamily="34" charset="-122"/>
                <a:cs typeface="Raleway" pitchFamily="34" charset="-120"/>
              </a:rPr>
              <a:t> Gain-share pricing tied to value</a:t>
            </a:r>
            <a:endParaRPr lang="en-US" sz="1000"/>
          </a:p>
        </p:txBody>
      </p:sp>
      <p:sp>
        <p:nvSpPr>
          <p:cNvPr id="62" name="Text 44"/>
          <p:cNvSpPr txBox="1"/>
          <p:nvPr/>
        </p:nvSpPr>
        <p:spPr>
          <a:xfrm>
            <a:off x="10650931" y="1848002"/>
            <a:ext cx="806501" cy="124358"/>
          </a:xfrm>
          <a:prstGeom prst="rect">
            <a:avLst/>
          </a:prstGeom>
          <a:noFill/>
          <a:ln/>
        </p:spPr>
        <p:txBody>
          <a:bodyPr wrap="square" lIns="0" tIns="0" rIns="0" bIns="0" rtlCol="0" anchor="ctr"/>
          <a:lstStyle/>
          <a:p>
            <a:pPr marL="0" indent="0" algn="l">
              <a:buNone/>
            </a:pPr>
            <a:r>
              <a:rPr lang="en-US" sz="800" b="1">
                <a:solidFill>
                  <a:srgbClr val="334155"/>
                </a:solidFill>
                <a:latin typeface="Roboto Condensed" pitchFamily="34" charset="0"/>
                <a:ea typeface="Roboto Condensed" pitchFamily="34" charset="-122"/>
                <a:cs typeface="Roboto Condensed" pitchFamily="34" charset="-120"/>
              </a:rPr>
              <a:t>PARTNERSHIP</a:t>
            </a:r>
            <a:endParaRPr lang="en-US" sz="800"/>
          </a:p>
        </p:txBody>
      </p:sp>
      <p:pic>
        <p:nvPicPr>
          <p:cNvPr id="63" name="Image 16" descr="gen-dedup-a2699a036d9634824b4953ceddf6835e.png"/>
          <p:cNvPicPr>
            <a:picLocks noChangeAspect="1"/>
          </p:cNvPicPr>
          <p:nvPr/>
        </p:nvPicPr>
        <p:blipFill>
          <a:blip r:embed="rId13"/>
          <a:srcRect t="-16800" b="-16800"/>
          <a:stretch/>
        </p:blipFill>
        <p:spPr>
          <a:xfrm>
            <a:off x="905256" y="4809744"/>
            <a:ext cx="114300" cy="152705"/>
          </a:xfrm>
          <a:prstGeom prst="rect">
            <a:avLst/>
          </a:prstGeom>
        </p:spPr>
      </p:pic>
      <p:sp>
        <p:nvSpPr>
          <p:cNvPr id="64" name="Text 45"/>
          <p:cNvSpPr txBox="1"/>
          <p:nvPr/>
        </p:nvSpPr>
        <p:spPr>
          <a:xfrm>
            <a:off x="1114654" y="4762195"/>
            <a:ext cx="3151937" cy="247802"/>
          </a:xfrm>
          <a:prstGeom prst="rect">
            <a:avLst/>
          </a:prstGeom>
          <a:noFill/>
          <a:ln/>
        </p:spPr>
        <p:txBody>
          <a:bodyPr wrap="square" lIns="0" tIns="0" rIns="0" bIns="0" rtlCol="0" anchor="ctr"/>
          <a:lstStyle/>
          <a:p>
            <a:pPr marL="0" indent="0" algn="l">
              <a:buNone/>
            </a:pPr>
            <a:r>
              <a:rPr lang="en-US" sz="1300" b="1" kern="0" spc="27">
                <a:solidFill>
                  <a:srgbClr val="1E293B"/>
                </a:solidFill>
                <a:latin typeface="Oswald" pitchFamily="34" charset="0"/>
                <a:ea typeface="Oswald" pitchFamily="34" charset="-122"/>
                <a:cs typeface="Oswald" pitchFamily="34" charset="-120"/>
              </a:rPr>
              <a:t>SAMPLE IMPLEMENTATION ROADMAP</a:t>
            </a:r>
            <a:endParaRPr lang="en-US" sz="1300"/>
          </a:p>
        </p:txBody>
      </p:sp>
      <p:sp>
        <p:nvSpPr>
          <p:cNvPr id="65" name="Text 46"/>
          <p:cNvSpPr txBox="1"/>
          <p:nvPr/>
        </p:nvSpPr>
        <p:spPr>
          <a:xfrm>
            <a:off x="1047902" y="5315407"/>
            <a:ext cx="719633" cy="133502"/>
          </a:xfrm>
          <a:prstGeom prst="rect">
            <a:avLst/>
          </a:prstGeom>
          <a:noFill/>
          <a:ln/>
        </p:spPr>
        <p:txBody>
          <a:bodyPr wrap="square" lIns="0" tIns="0" rIns="0" bIns="0" rtlCol="0" anchor="ctr"/>
          <a:lstStyle/>
          <a:p>
            <a:pPr marL="0" indent="0" algn="l">
              <a:buNone/>
            </a:pPr>
            <a:r>
              <a:rPr lang="en-US" sz="900" b="1">
                <a:solidFill>
                  <a:srgbClr val="2A9D8F"/>
                </a:solidFill>
                <a:latin typeface="Roboto Condensed" pitchFamily="34" charset="0"/>
                <a:ea typeface="Roboto Condensed" pitchFamily="34" charset="-122"/>
                <a:cs typeface="Roboto Condensed" pitchFamily="34" charset="-120"/>
              </a:rPr>
              <a:t>DISCOVERY</a:t>
            </a:r>
            <a:endParaRPr lang="en-US" sz="900"/>
          </a:p>
        </p:txBody>
      </p:sp>
      <p:sp>
        <p:nvSpPr>
          <p:cNvPr id="66" name="Text 47"/>
          <p:cNvSpPr txBox="1"/>
          <p:nvPr/>
        </p:nvSpPr>
        <p:spPr>
          <a:xfrm>
            <a:off x="3063240" y="5238598"/>
            <a:ext cx="18196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Q1</a:t>
            </a:r>
            <a:endParaRPr lang="en-US" sz="1200"/>
          </a:p>
        </p:txBody>
      </p:sp>
      <p:sp>
        <p:nvSpPr>
          <p:cNvPr id="67" name="Text 48"/>
          <p:cNvSpPr txBox="1"/>
          <p:nvPr/>
        </p:nvSpPr>
        <p:spPr>
          <a:xfrm>
            <a:off x="1047902"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Assess readiness, define scope, select initial use cases</a:t>
            </a:r>
            <a:endParaRPr lang="en-US" sz="900"/>
          </a:p>
        </p:txBody>
      </p:sp>
      <p:sp>
        <p:nvSpPr>
          <p:cNvPr id="68" name="Shape 49"/>
          <p:cNvSpPr/>
          <p:nvPr/>
        </p:nvSpPr>
        <p:spPr>
          <a:xfrm>
            <a:off x="1047902" y="6117336"/>
            <a:ext cx="562356" cy="9144"/>
          </a:xfrm>
          <a:prstGeom prst="rect">
            <a:avLst/>
          </a:prstGeom>
          <a:solidFill>
            <a:srgbClr val="E6F3F1"/>
          </a:solidFill>
          <a:ln w="12700">
            <a:solidFill>
              <a:srgbClr val="E6F3F1">
                <a:alpha val="0"/>
              </a:srgbClr>
            </a:solidFill>
            <a:prstDash val="solid"/>
          </a:ln>
        </p:spPr>
        <p:txBody>
          <a:bodyPr/>
          <a:lstStyle/>
          <a:p>
            <a:endParaRPr lang="en-US"/>
          </a:p>
        </p:txBody>
      </p:sp>
      <p:sp>
        <p:nvSpPr>
          <p:cNvPr id="69" name="Text 50"/>
          <p:cNvSpPr txBox="1"/>
          <p:nvPr/>
        </p:nvSpPr>
        <p:spPr>
          <a:xfrm>
            <a:off x="1104595" y="5964631"/>
            <a:ext cx="716890" cy="124358"/>
          </a:xfrm>
          <a:prstGeom prst="rect">
            <a:avLst/>
          </a:prstGeom>
          <a:noFill/>
          <a:ln/>
        </p:spPr>
        <p:txBody>
          <a:bodyPr wrap="squar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Initiation</a:t>
            </a:r>
            <a:endParaRPr lang="en-US" sz="800"/>
          </a:p>
        </p:txBody>
      </p:sp>
      <p:pic>
        <p:nvPicPr>
          <p:cNvPr id="70" name="Image 17" descr="gen-dedup-6bab9f986820d248c4d42c53288c0e5d.png"/>
          <p:cNvPicPr>
            <a:picLocks noChangeAspect="1"/>
          </p:cNvPicPr>
          <p:nvPr/>
        </p:nvPicPr>
        <p:blipFill>
          <a:blip r:embed="rId14"/>
          <a:srcRect t="-5544" b="-5544"/>
          <a:stretch/>
        </p:blipFill>
        <p:spPr>
          <a:xfrm>
            <a:off x="3452774" y="5627218"/>
            <a:ext cx="105156" cy="133502"/>
          </a:xfrm>
          <a:prstGeom prst="rect">
            <a:avLst/>
          </a:prstGeom>
        </p:spPr>
      </p:pic>
      <p:sp>
        <p:nvSpPr>
          <p:cNvPr id="71" name="Text 51"/>
          <p:cNvSpPr txBox="1"/>
          <p:nvPr/>
        </p:nvSpPr>
        <p:spPr>
          <a:xfrm>
            <a:off x="3810305" y="5315407"/>
            <a:ext cx="864108" cy="133502"/>
          </a:xfrm>
          <a:prstGeom prst="rect">
            <a:avLst/>
          </a:prstGeom>
          <a:noFill/>
          <a:ln/>
        </p:spPr>
        <p:txBody>
          <a:bodyPr wrap="square" lIns="0" tIns="0" rIns="0" bIns="0" rtlCol="0" anchor="ctr"/>
          <a:lstStyle/>
          <a:p>
            <a:pPr marL="0" indent="0" algn="l">
              <a:buNone/>
            </a:pPr>
            <a:r>
              <a:rPr lang="en-US" sz="900" b="1">
                <a:solidFill>
                  <a:srgbClr val="D62839"/>
                </a:solidFill>
                <a:latin typeface="Roboto Condensed" pitchFamily="34" charset="0"/>
                <a:ea typeface="Roboto Condensed" pitchFamily="34" charset="-122"/>
                <a:cs typeface="Roboto Condensed" pitchFamily="34" charset="-120"/>
              </a:rPr>
              <a:t>PILOT / POC</a:t>
            </a:r>
            <a:endParaRPr lang="en-US" sz="900"/>
          </a:p>
        </p:txBody>
      </p:sp>
      <p:sp>
        <p:nvSpPr>
          <p:cNvPr id="72" name="Text 52"/>
          <p:cNvSpPr txBox="1"/>
          <p:nvPr/>
        </p:nvSpPr>
        <p:spPr>
          <a:xfrm>
            <a:off x="5807354"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Q2</a:t>
            </a:r>
            <a:endParaRPr lang="en-US" sz="1200"/>
          </a:p>
        </p:txBody>
      </p:sp>
      <p:sp>
        <p:nvSpPr>
          <p:cNvPr id="73" name="Text 53"/>
          <p:cNvSpPr txBox="1"/>
          <p:nvPr/>
        </p:nvSpPr>
        <p:spPr>
          <a:xfrm>
            <a:off x="3810305"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MVP build, user testing, architecture validation</a:t>
            </a:r>
            <a:endParaRPr lang="en-US" sz="900"/>
          </a:p>
        </p:txBody>
      </p:sp>
      <p:sp>
        <p:nvSpPr>
          <p:cNvPr id="74" name="Shape 54"/>
          <p:cNvSpPr/>
          <p:nvPr/>
        </p:nvSpPr>
        <p:spPr>
          <a:xfrm>
            <a:off x="3810305" y="5897880"/>
            <a:ext cx="629107" cy="219456"/>
          </a:xfrm>
          <a:prstGeom prst="roundRect">
            <a:avLst>
              <a:gd name="adj" fmla="val 144928"/>
            </a:avLst>
          </a:prstGeom>
          <a:solidFill>
            <a:srgbClr val="FEF2F2"/>
          </a:solidFill>
          <a:ln w="12700">
            <a:solidFill>
              <a:srgbClr val="FFFFFF">
                <a:alpha val="0"/>
              </a:srgbClr>
            </a:solidFill>
            <a:prstDash val="solid"/>
          </a:ln>
        </p:spPr>
        <p:txBody>
          <a:bodyPr/>
          <a:lstStyle/>
          <a:p>
            <a:endParaRPr lang="en-US"/>
          </a:p>
        </p:txBody>
      </p:sp>
      <p:sp>
        <p:nvSpPr>
          <p:cNvPr id="75" name="Text 55"/>
          <p:cNvSpPr txBox="1"/>
          <p:nvPr/>
        </p:nvSpPr>
        <p:spPr>
          <a:xfrm>
            <a:off x="3866998" y="5964631"/>
            <a:ext cx="726948" cy="124358"/>
          </a:xfrm>
          <a:prstGeom prst="rect">
            <a:avLst/>
          </a:prstGeom>
          <a:noFill/>
          <a:ln/>
        </p:spPr>
        <p:txBody>
          <a:bodyPr wrap="square" lIns="0" tIns="0" rIns="0" bIns="0" rtlCol="0" anchor="ctr"/>
          <a:lstStyle/>
          <a:p>
            <a:pPr marL="0" indent="0" algn="l">
              <a:buNone/>
            </a:pPr>
            <a:r>
              <a:rPr lang="en-US" sz="800" b="1">
                <a:solidFill>
                  <a:srgbClr val="D62839"/>
                </a:solidFill>
                <a:latin typeface="Raleway" pitchFamily="34" charset="0"/>
                <a:ea typeface="Raleway" pitchFamily="34" charset="-122"/>
                <a:cs typeface="Raleway" pitchFamily="34" charset="-120"/>
              </a:rPr>
              <a:t>Validation</a:t>
            </a:r>
            <a:endParaRPr lang="en-US" sz="800"/>
          </a:p>
        </p:txBody>
      </p:sp>
      <p:pic>
        <p:nvPicPr>
          <p:cNvPr id="76" name="Image 18" descr="gen-dedup-6bab9f986820d248c4d42c53288c0e5d.png"/>
          <p:cNvPicPr>
            <a:picLocks noChangeAspect="1"/>
          </p:cNvPicPr>
          <p:nvPr/>
        </p:nvPicPr>
        <p:blipFill>
          <a:blip r:embed="rId14"/>
          <a:srcRect t="-5544" b="-5544"/>
          <a:stretch/>
        </p:blipFill>
        <p:spPr>
          <a:xfrm>
            <a:off x="6215177" y="5627218"/>
            <a:ext cx="105156" cy="133502"/>
          </a:xfrm>
          <a:prstGeom prst="rect">
            <a:avLst/>
          </a:prstGeom>
        </p:spPr>
      </p:pic>
      <p:sp>
        <p:nvSpPr>
          <p:cNvPr id="77" name="Text 56"/>
          <p:cNvSpPr txBox="1"/>
          <p:nvPr/>
        </p:nvSpPr>
        <p:spPr>
          <a:xfrm>
            <a:off x="6572707" y="5315407"/>
            <a:ext cx="402336"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SCALE</a:t>
            </a:r>
            <a:endParaRPr lang="en-US" sz="900"/>
          </a:p>
        </p:txBody>
      </p:sp>
      <p:sp>
        <p:nvSpPr>
          <p:cNvPr id="78" name="Text 57"/>
          <p:cNvSpPr txBox="1"/>
          <p:nvPr/>
        </p:nvSpPr>
        <p:spPr>
          <a:xfrm>
            <a:off x="8569757"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Q3</a:t>
            </a:r>
            <a:endParaRPr lang="en-US" sz="1200"/>
          </a:p>
        </p:txBody>
      </p:sp>
      <p:sp>
        <p:nvSpPr>
          <p:cNvPr id="79" name="Text 58"/>
          <p:cNvSpPr txBox="1"/>
          <p:nvPr/>
        </p:nvSpPr>
        <p:spPr>
          <a:xfrm>
            <a:off x="6572707"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Production deployment, integration, vendor onboarding</a:t>
            </a:r>
            <a:endParaRPr lang="en-US" sz="900"/>
          </a:p>
        </p:txBody>
      </p:sp>
      <p:sp>
        <p:nvSpPr>
          <p:cNvPr id="80" name="Shape 59"/>
          <p:cNvSpPr/>
          <p:nvPr/>
        </p:nvSpPr>
        <p:spPr>
          <a:xfrm>
            <a:off x="6572707" y="5897880"/>
            <a:ext cx="619049" cy="219456"/>
          </a:xfrm>
          <a:prstGeom prst="roundRect">
            <a:avLst>
              <a:gd name="adj" fmla="val 144928"/>
            </a:avLst>
          </a:prstGeom>
          <a:solidFill>
            <a:srgbClr val="F1F5F9"/>
          </a:solidFill>
          <a:ln w="12700">
            <a:solidFill>
              <a:srgbClr val="FFFFFF">
                <a:alpha val="0"/>
              </a:srgbClr>
            </a:solidFill>
            <a:prstDash val="solid"/>
          </a:ln>
        </p:spPr>
        <p:txBody>
          <a:bodyPr/>
          <a:lstStyle/>
          <a:p>
            <a:endParaRPr lang="en-US"/>
          </a:p>
        </p:txBody>
      </p:sp>
      <p:sp>
        <p:nvSpPr>
          <p:cNvPr id="81" name="Text 60"/>
          <p:cNvSpPr txBox="1"/>
          <p:nvPr/>
        </p:nvSpPr>
        <p:spPr>
          <a:xfrm>
            <a:off x="6629400" y="5964631"/>
            <a:ext cx="661111" cy="124358"/>
          </a:xfrm>
          <a:prstGeom prst="rect">
            <a:avLst/>
          </a:prstGeom>
          <a:noFill/>
          <a:ln/>
        </p:spPr>
        <p:txBody>
          <a:bodyPr wrap="square" lIns="0" tIns="0" rIns="0" bIns="0" rtlCol="0" anchor="ctr"/>
          <a:lstStyle/>
          <a:p>
            <a:pPr marL="0" indent="0" algn="l">
              <a:buNone/>
            </a:pPr>
            <a:r>
              <a:rPr lang="en-US" sz="800" b="1">
                <a:solidFill>
                  <a:srgbClr val="475569"/>
                </a:solidFill>
                <a:latin typeface="Raleway" pitchFamily="34" charset="0"/>
                <a:ea typeface="Raleway" pitchFamily="34" charset="-122"/>
                <a:cs typeface="Raleway" pitchFamily="34" charset="-120"/>
              </a:rPr>
              <a:t>Execution</a:t>
            </a:r>
            <a:endParaRPr lang="en-US" sz="800"/>
          </a:p>
        </p:txBody>
      </p:sp>
      <p:pic>
        <p:nvPicPr>
          <p:cNvPr id="82" name="Image 19" descr="gen-dedup-6bab9f986820d248c4d42c53288c0e5d.png"/>
          <p:cNvPicPr>
            <a:picLocks noChangeAspect="1"/>
          </p:cNvPicPr>
          <p:nvPr/>
        </p:nvPicPr>
        <p:blipFill>
          <a:blip r:embed="rId14"/>
          <a:srcRect t="-5544" b="-5544"/>
          <a:stretch/>
        </p:blipFill>
        <p:spPr>
          <a:xfrm>
            <a:off x="8977579" y="5627218"/>
            <a:ext cx="105156" cy="133502"/>
          </a:xfrm>
          <a:prstGeom prst="rect">
            <a:avLst/>
          </a:prstGeom>
        </p:spPr>
      </p:pic>
      <p:sp>
        <p:nvSpPr>
          <p:cNvPr id="83" name="Text 61"/>
          <p:cNvSpPr txBox="1"/>
          <p:nvPr/>
        </p:nvSpPr>
        <p:spPr>
          <a:xfrm>
            <a:off x="9334195" y="5315407"/>
            <a:ext cx="637337"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OPTIMIZE</a:t>
            </a:r>
            <a:endParaRPr lang="en-US" sz="900"/>
          </a:p>
        </p:txBody>
      </p:sp>
      <p:sp>
        <p:nvSpPr>
          <p:cNvPr id="84" name="Text 62"/>
          <p:cNvSpPr txBox="1"/>
          <p:nvPr/>
        </p:nvSpPr>
        <p:spPr>
          <a:xfrm>
            <a:off x="11044123"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Q4</a:t>
            </a:r>
            <a:endParaRPr lang="en-US" sz="1200"/>
          </a:p>
        </p:txBody>
      </p:sp>
      <p:sp>
        <p:nvSpPr>
          <p:cNvPr id="85" name="Text 63"/>
          <p:cNvSpPr txBox="1"/>
          <p:nvPr/>
        </p:nvSpPr>
        <p:spPr>
          <a:xfrm>
            <a:off x="9334195" y="5505602"/>
            <a:ext cx="1877263"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Run ops, process tuning, continuous improvement</a:t>
            </a:r>
            <a:endParaRPr lang="en-US" sz="900"/>
          </a:p>
        </p:txBody>
      </p:sp>
      <p:sp>
        <p:nvSpPr>
          <p:cNvPr id="86" name="Text 64"/>
          <p:cNvSpPr txBox="1"/>
          <p:nvPr/>
        </p:nvSpPr>
        <p:spPr>
          <a:xfrm>
            <a:off x="9391802" y="5964631"/>
            <a:ext cx="737006" cy="124358"/>
          </a:xfrm>
          <a:prstGeom prst="rect">
            <a:avLst/>
          </a:prstGeom>
          <a:noFill/>
          <a:ln/>
        </p:spPr>
        <p:txBody>
          <a:bodyPr wrap="square" lIns="0" tIns="0" rIns="0" bIns="0" rtlCol="0" anchor="ctr"/>
          <a:lstStyle/>
          <a:p>
            <a:pPr marL="0" indent="0" algn="l">
              <a:buNone/>
            </a:pPr>
            <a:r>
              <a:rPr lang="en-US" sz="800" b="1">
                <a:solidFill>
                  <a:srgbClr val="64748B"/>
                </a:solidFill>
                <a:latin typeface="Raleway" pitchFamily="34" charset="0"/>
                <a:ea typeface="Raleway" pitchFamily="34" charset="-122"/>
                <a:cs typeface="Raleway" pitchFamily="34" charset="-120"/>
              </a:rPr>
              <a:t>Refinement</a:t>
            </a:r>
            <a:endParaRPr lang="en-US" sz="800"/>
          </a:p>
        </p:txBody>
      </p:sp>
    </p:spTree>
    <p:extLst>
      <p:ext uri="{BB962C8B-B14F-4D97-AF65-F5344CB8AC3E}">
        <p14:creationId xmlns:p14="http://schemas.microsoft.com/office/powerpoint/2010/main" val="115305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solidFill>
            <a:srgbClr val="2A9D8F">
              <a:alpha val="3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52805" y="4476902"/>
            <a:ext cx="3810305" cy="3810305"/>
          </a:xfrm>
          <a:prstGeom prst="ellipse">
            <a:avLst/>
          </a:prstGeom>
          <a:solidFill>
            <a:srgbClr val="D62839">
              <a:alpha val="2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rcRect l="-202" r="-202"/>
          <a:stretch/>
        </p:blipFill>
        <p:spPr>
          <a:xfrm>
            <a:off x="0" y="6782105"/>
            <a:ext cx="8128102" cy="75895"/>
          </a:xfrm>
          <a:prstGeom prst="rect">
            <a:avLst/>
          </a:prstGeom>
        </p:spPr>
      </p:pic>
      <p:pic>
        <p:nvPicPr>
          <p:cNvPr id="7" name="Image 1" descr="preencoded.png"/>
          <p:cNvPicPr>
            <a:picLocks noChangeAspect="1"/>
          </p:cNvPicPr>
          <p:nvPr/>
        </p:nvPicPr>
        <p:blipFill>
          <a:blip r:embed="rId4"/>
          <a:srcRect l="-197" r="-197"/>
          <a:stretch/>
        </p:blipFill>
        <p:spPr>
          <a:xfrm>
            <a:off x="8128102" y="6782105"/>
            <a:ext cx="4063594" cy="75895"/>
          </a:xfrm>
          <a:prstGeom prst="rect">
            <a:avLst/>
          </a:prstGeom>
        </p:spPr>
      </p:pic>
      <p:pic>
        <p:nvPicPr>
          <p:cNvPr id="8" name="Image 2" descr="preencoded.png"/>
          <p:cNvPicPr>
            <a:picLocks noChangeAspect="1"/>
          </p:cNvPicPr>
          <p:nvPr/>
        </p:nvPicPr>
        <p:blipFill>
          <a:blip r:embed="rId5"/>
          <a:srcRect t="60" b="60"/>
          <a:stretch/>
        </p:blipFill>
        <p:spPr>
          <a:xfrm>
            <a:off x="4121201" y="914400"/>
            <a:ext cx="3952951" cy="1904695"/>
          </a:xfrm>
          <a:prstGeom prst="rect">
            <a:avLst/>
          </a:prstGeom>
        </p:spPr>
      </p:pic>
      <p:pic>
        <p:nvPicPr>
          <p:cNvPr id="9" name="Image 3" descr="preencoded.png"/>
          <p:cNvPicPr>
            <a:picLocks noChangeAspect="1"/>
          </p:cNvPicPr>
          <p:nvPr/>
        </p:nvPicPr>
        <p:blipFill>
          <a:blip r:embed="rId6"/>
          <a:srcRect t="-420" b="-420"/>
          <a:stretch/>
        </p:blipFill>
        <p:spPr>
          <a:xfrm>
            <a:off x="5715000" y="3276295"/>
            <a:ext cx="761695" cy="38405"/>
          </a:xfrm>
          <a:prstGeom prst="rect">
            <a:avLst/>
          </a:prstGeom>
        </p:spPr>
      </p:pic>
      <p:sp>
        <p:nvSpPr>
          <p:cNvPr id="10" name="Text 4"/>
          <p:cNvSpPr txBox="1"/>
          <p:nvPr/>
        </p:nvSpPr>
        <p:spPr>
          <a:xfrm>
            <a:off x="3536899" y="3619195"/>
            <a:ext cx="5125212" cy="5715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1" u="none" strike="noStrike" kern="0" cap="none" spc="150" normalizeH="0" baseline="0" noProof="0">
                <a:ln>
                  <a:noFill/>
                </a:ln>
                <a:solidFill>
                  <a:srgbClr val="4B5563"/>
                </a:solidFill>
                <a:effectLst/>
                <a:uLnTx/>
                <a:uFillTx/>
                <a:latin typeface="Raleway" pitchFamily="34" charset="0"/>
                <a:ea typeface="Raleway" pitchFamily="34" charset="-122"/>
                <a:cs typeface="Raleway" pitchFamily="34" charset="-120"/>
              </a:rPr>
              <a:t>"Let's win together"</a:t>
            </a:r>
            <a:endParaRPr kumimoji="0" lang="en-US" sz="30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4" descr="preencoded.png"/>
          <p:cNvPicPr>
            <a:picLocks noChangeAspect="1"/>
          </p:cNvPicPr>
          <p:nvPr/>
        </p:nvPicPr>
        <p:blipFill>
          <a:blip r:embed="rId7"/>
          <a:srcRect/>
          <a:stretch/>
        </p:blipFill>
        <p:spPr>
          <a:xfrm>
            <a:off x="761695" y="5410505"/>
            <a:ext cx="761695" cy="761695"/>
          </a:xfrm>
          <a:prstGeom prst="rect">
            <a:avLst/>
          </a:prstGeom>
        </p:spPr>
      </p:pic>
      <p:pic>
        <p:nvPicPr>
          <p:cNvPr id="12" name="Image 5" descr="preencoded.png"/>
          <p:cNvPicPr>
            <a:picLocks noChangeAspect="1"/>
          </p:cNvPicPr>
          <p:nvPr/>
        </p:nvPicPr>
        <p:blipFill>
          <a:blip r:embed="rId8"/>
          <a:srcRect l="81" r="81"/>
          <a:stretch/>
        </p:blipFill>
        <p:spPr>
          <a:xfrm>
            <a:off x="3189427" y="5658307"/>
            <a:ext cx="809244" cy="267005"/>
          </a:xfrm>
          <a:prstGeom prst="rect">
            <a:avLst/>
          </a:prstGeom>
        </p:spPr>
      </p:pic>
      <p:pic>
        <p:nvPicPr>
          <p:cNvPr id="13" name="Image 6" descr="preencoded.png"/>
          <p:cNvPicPr>
            <a:picLocks noChangeAspect="1"/>
          </p:cNvPicPr>
          <p:nvPr/>
        </p:nvPicPr>
        <p:blipFill>
          <a:blip r:embed="rId9"/>
          <a:srcRect l="7" r="7"/>
          <a:stretch/>
        </p:blipFill>
        <p:spPr>
          <a:xfrm>
            <a:off x="5665622" y="5453482"/>
            <a:ext cx="724205" cy="676656"/>
          </a:xfrm>
          <a:prstGeom prst="rect">
            <a:avLst/>
          </a:prstGeom>
        </p:spPr>
      </p:pic>
      <p:pic>
        <p:nvPicPr>
          <p:cNvPr id="14" name="Image 7" descr="preencoded.png"/>
          <p:cNvPicPr>
            <a:picLocks noChangeAspect="1"/>
          </p:cNvPicPr>
          <p:nvPr/>
        </p:nvPicPr>
        <p:blipFill>
          <a:blip r:embed="rId10"/>
          <a:srcRect t="236" b="236"/>
          <a:stretch/>
        </p:blipFill>
        <p:spPr>
          <a:xfrm>
            <a:off x="8054950" y="5410505"/>
            <a:ext cx="1257300" cy="761695"/>
          </a:xfrm>
          <a:prstGeom prst="rect">
            <a:avLst/>
          </a:prstGeom>
        </p:spPr>
      </p:pic>
      <p:pic>
        <p:nvPicPr>
          <p:cNvPr id="15" name="Image 8" descr="preencoded.png"/>
          <p:cNvPicPr>
            <a:picLocks noChangeAspect="1"/>
          </p:cNvPicPr>
          <p:nvPr/>
        </p:nvPicPr>
        <p:blipFill>
          <a:blip r:embed="rId11"/>
          <a:srcRect t="23" b="24"/>
          <a:stretch/>
        </p:blipFill>
        <p:spPr>
          <a:xfrm>
            <a:off x="10972800" y="5548579"/>
            <a:ext cx="457200" cy="485546"/>
          </a:xfrm>
          <a:prstGeom prst="rect">
            <a:avLst/>
          </a:prstGeom>
        </p:spPr>
      </p:pic>
      <p:pic>
        <p:nvPicPr>
          <p:cNvPr id="16" name="Image 9" descr="preencoded.png"/>
          <p:cNvPicPr>
            <a:picLocks noChangeAspect="1"/>
          </p:cNvPicPr>
          <p:nvPr/>
        </p:nvPicPr>
        <p:blipFill>
          <a:blip r:embed="rId4"/>
          <a:srcRect l="-197" r="-197"/>
          <a:stretch/>
        </p:blipFill>
        <p:spPr>
          <a:xfrm>
            <a:off x="0" y="0"/>
            <a:ext cx="4063594" cy="75895"/>
          </a:xfrm>
          <a:prstGeom prst="rect">
            <a:avLst/>
          </a:prstGeom>
        </p:spPr>
      </p:pic>
      <p:pic>
        <p:nvPicPr>
          <p:cNvPr id="17" name="Image 10" descr="preencoded.png"/>
          <p:cNvPicPr>
            <a:picLocks noChangeAspect="1"/>
          </p:cNvPicPr>
          <p:nvPr/>
        </p:nvPicPr>
        <p:blipFill>
          <a:blip r:embed="rId3"/>
          <a:srcRect l="-202" r="-202"/>
          <a:stretch/>
        </p:blipFill>
        <p:spPr>
          <a:xfrm>
            <a:off x="4063594" y="0"/>
            <a:ext cx="8128102" cy="75895"/>
          </a:xfrm>
          <a:prstGeom prst="rect">
            <a:avLst/>
          </a:prstGeom>
        </p:spPr>
      </p:pic>
    </p:spTree>
    <p:extLst>
      <p:ext uri="{BB962C8B-B14F-4D97-AF65-F5344CB8AC3E}">
        <p14:creationId xmlns:p14="http://schemas.microsoft.com/office/powerpoint/2010/main" val="2467474755"/>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A leading Japanese multinational GCC STRATEGY AND DISCOVERY FRAMEWORK</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Professional Services Enterprise  |  DOMAIN: Professional Services</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leading Japanese multinational needed a structured, question-driven GCC strategy to align corporate goals with India's GCC landscape across 5 critical dimensions: Strategic Objectives, Functional Scope, Financial Model, Operating Model, and Growth and Talent. The challenge was moving from intent to a precisely tailored roadmap covering location selection, investment planning, and governance grounded in real outcomes from Japanese multinational GCC examples.</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Discovery Framework using targeted questionnaires and Japanese multinational case studies was deployed to define the client's optimal GCC archetype. Location strategy matched function mix to city archetypes including Innovation Hubs, Balanced Centers, and Tier-2 cities. A financial blueprint for investment scale, ROI timelines, and incentives was developed alongside a scalable talent and technology roadmap.</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GCC Discovery Framework</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5-dimension structured questionnaire covering objectives, scope, financial model, operating model, and growth strategy.</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Location Strategy Matching</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City archetype matching aligning Innovation, Balanced, or Transactional center selection to cost and talent goals.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Financial Blueprint</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Investment scale options, ROI and break-even timelines, automation targets, and tax incentive utilization roadmap.</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Operating Model Design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Centralized and hybrid service center designs with governance and cultural integration frameworks.</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AI and ML Integration Roadmap</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Proprietary predictive models and ML dashboards targeting up to 40% process time reduction.</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Scalability and Talent Roadmap</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Expansion planning, upskilling pipelines, campus partnerships, and ESG alignment built into the plan.</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330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or more GCCs enabled globally through the J2W playbook</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40%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reduction in process times through AI and ML integration</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42%</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automation targets achieved across deployed programs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PRE &amp; POST CONTRACT INTELLIGENCE</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Construction Enterprise  |  DOMAIN: Construction</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large EPC contractor managing multi-year infrastructure contracts had no integrated system connecting bid preparation to post-award execution. Proposals were drafted manually across separate teams for scope, milestones, commercials, and compliance, with no benchmark against past contract performance. Contractor selection relied on relationships rather than delivery data. Scope deviations during execution went undetected until cost overruns and schedule slippage were already visible in the numbers.</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An AI-embedded contract intelligence layer was deployed across the full contract lifecycle, from pre-bid proposal generation through post-award execution governance. Multi-agent frameworks handle scope, milestones, commercials, and compliance in parallel, referencing historical contracts and pricing benchmarks to calibrate every bid. Once a contract is awarded, the system extracts project structure directly from contract documents and continuously monitors execution against it, auto-regenerating delivery plans when scope shifts occur.</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Multi-Agent Proposal Generation</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Dedicated agents assemble scope, milestones, commercials, and compliance documentation in parallel with risk-weighted inputs.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Historical Intelligence and Benchmarking</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References past contracts, clause libraries, and pricing benchmarks to calibrate proposal accuracy.</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Capability-Based Contractor Selection</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Evaluates contractors on historical performance and deviation trends rather than relationship-based judgment.</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Contract Intelligence Reader</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Extracts project structure, including buildings, materials, resources, and timelines, from released contracts into execution-ready data.</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Agent-Based Recalibration</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Auto-generates SOWs and delivery plans when scope shifts occur, keeping milestones aligned to real-time constraints.</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Anomaly Detection and Risk Governance</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Flags deviations and compliance gaps across active contracts before they compound into overruns.</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15</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25% reduction in bid preparation time</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15</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25% reduction in commercial leakage</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30</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40% faster contract-to-execution conversion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PROCUREMENT CYCLE COMPRESSION</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Manufacturing Enterprise  |  DOMAIN: Manufacturing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manufacturing company in active scale-up was running its entire procurement operation on calls, emails, and spreadsheets maintained by individual buyers. Vendor quotes arrived in different formats, approval chains had no single owner, and PO status existed only in people's heads. Fragmentation was invisible until production timelines started slipping, not because of supply failures, but because internal procurement had become the bottleneck. A missed approval or untracked PO became a line stoppage.</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fully digitized procure-to-pay system replaced the manual chain from indent to payment. Vendors receive structured RFQs through WhatsApp and respond in a format the system reads directly. Approval routing executes against the client's actual hierarchy without chasing. Every PO moves through a tracked lifecycle with real-time visibility at each stage. The procurement team now operates from one platform instead of a scatter of inboxes and files.</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End-to-End Procurement Execution</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Covers the full cycle from requisition to final payment on one platform, eliminating handoff gaps between steps.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Vendor Quote Collection via WhatsApp</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Sends structured RFQs to suppliers and captures responses in a standard format, removing manual collation.</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Automated Approval Routing</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Configurable chains trigger and escalate automatically by value, category, and department, with no follow-up required.</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Purchase Order Lifecycle Tracking</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Real-time visibility from PO creation to goods receipt, so delays surface before they hit the line.</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Vendor Performance Scoring</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Tracks delivery reliability, quality, and pricing trends per supplier to inform future sourcing decisions.</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Spend and Savings Analytics</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Aggregates procurement data into spend analysis and vendor comparisons, making cost patterns visible for the first time.</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70%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reduction in procurement cycle time</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Automated</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approval workflows with zero manual chasing</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Single platform</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indent-to-payment visibility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HYBRID BOT-CAAS R&amp;D HUB FOR GLOBAL MEDTECH LEADER</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Healthcare Technology Enterprise  |  DOMAIN: Healthcare Technology</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global MedTech leader needed a regulated R&amp;D hub that could move fast without cutting corners - accelerating device development across 25 countries, maintaining 100% compliance, and facilitating FDA approvals all under a flexible, zero-CapEx structure designed for safety-critical R&amp;D work.</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hybrid BOT-CaaS model was deployed, combining Build-Operate-Transfer flexibility with CaaS zero-CapEx advantages. Domain-deep engineering talent was embedded across multiple cities, compressing device development by 40%. Compliance was built into every workflow from the start, enabling 20 or more FDA approvals without a single compliance breach.</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Hybrid BOT-CaaS Model</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Purpose-built structure combining BOT flexibility and CaaS zero-CapEx advantages designed for safety-critical R&amp;D.</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Device Development Acceleration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40% faster device development through deeply embedded domain engineering and optimized R&amp;D workflows.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Regulatory Compliance at Scale</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100% regulatory compliance maintained across 25 countries with compliance built into every workflow.</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FDA Approval Facilitation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Structured compliance and documentation practices facilitating 20 or more FDA approvals from the hub.</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Multi-City Talent Architecture</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300 or more professionals sourced, onboarded, and operationalized across multiple cities under unified governance.</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Zero-CapEx Structure</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Full R&amp;D hub established and operated without client capital expenditure commitment.</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300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or more professionals across a multi-city hub</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40%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faster device development</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100%</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regulatory compliance across 25 countries and 20 or more FDA approvals facilitated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32819</Words>
  <Application>Microsoft Office PowerPoint</Application>
  <PresentationFormat>Widescreen</PresentationFormat>
  <Paragraphs>3575</Paragraphs>
  <Slides>138</Slides>
  <Notes>138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138</vt:i4>
      </vt:variant>
    </vt:vector>
  </HeadingPairs>
  <TitlesOfParts>
    <vt:vector size="145" baseType="lpstr">
      <vt:lpstr>Aptos</vt:lpstr>
      <vt:lpstr>Arial</vt:lpstr>
      <vt:lpstr>Calibri</vt:lpstr>
      <vt:lpstr>Oswald</vt:lpstr>
      <vt:lpstr>Raleway</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Case Study Portfolio</dc:title>
  <dc:subject>PptxGenJS Presentation</dc:subject>
  <dc:creator>J2W</dc:creator>
  <cp:lastModifiedBy>Athithia Krishna</cp:lastModifiedBy>
  <cp:revision>5</cp:revision>
  <dcterms:created xsi:type="dcterms:W3CDTF">2026-06-22T10:46:20Z</dcterms:created>
  <dcterms:modified xsi:type="dcterms:W3CDTF">2026-06-24T11:39:04Z</dcterms:modified>
</cp:coreProperties>
</file>